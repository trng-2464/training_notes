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90" r:id="rId1"/>
  </p:sldMasterIdLst>
  <p:notesMasterIdLst>
    <p:notesMasterId r:id="rId41"/>
  </p:notesMasterIdLst>
  <p:handoutMasterIdLst>
    <p:handoutMasterId r:id="rId42"/>
  </p:handoutMasterIdLst>
  <p:sldIdLst>
    <p:sldId id="256" r:id="rId2"/>
    <p:sldId id="286" r:id="rId3"/>
    <p:sldId id="360" r:id="rId4"/>
    <p:sldId id="273" r:id="rId5"/>
    <p:sldId id="274" r:id="rId6"/>
    <p:sldId id="361" r:id="rId7"/>
    <p:sldId id="380" r:id="rId8"/>
    <p:sldId id="375" r:id="rId9"/>
    <p:sldId id="372" r:id="rId10"/>
    <p:sldId id="373" r:id="rId11"/>
    <p:sldId id="374" r:id="rId12"/>
    <p:sldId id="379" r:id="rId13"/>
    <p:sldId id="276" r:id="rId14"/>
    <p:sldId id="277" r:id="rId15"/>
    <p:sldId id="278" r:id="rId16"/>
    <p:sldId id="364" r:id="rId17"/>
    <p:sldId id="381" r:id="rId18"/>
    <p:sldId id="362" r:id="rId19"/>
    <p:sldId id="378" r:id="rId20"/>
    <p:sldId id="377" r:id="rId21"/>
    <p:sldId id="376" r:id="rId22"/>
    <p:sldId id="279" r:id="rId23"/>
    <p:sldId id="280" r:id="rId24"/>
    <p:sldId id="366" r:id="rId25"/>
    <p:sldId id="367" r:id="rId26"/>
    <p:sldId id="382" r:id="rId27"/>
    <p:sldId id="383" r:id="rId28"/>
    <p:sldId id="385" r:id="rId29"/>
    <p:sldId id="387" r:id="rId30"/>
    <p:sldId id="388" r:id="rId31"/>
    <p:sldId id="389" r:id="rId32"/>
    <p:sldId id="390" r:id="rId33"/>
    <p:sldId id="392" r:id="rId34"/>
    <p:sldId id="393" r:id="rId35"/>
    <p:sldId id="394" r:id="rId36"/>
    <p:sldId id="395" r:id="rId37"/>
    <p:sldId id="396" r:id="rId38"/>
    <p:sldId id="397" r:id="rId39"/>
    <p:sldId id="258" r:id="rId40"/>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userDrawn="1">
          <p15:clr>
            <a:srgbClr val="A4A3A4"/>
          </p15:clr>
        </p15:guide>
        <p15:guide id="2" pos="2282" userDrawn="1">
          <p15:clr>
            <a:srgbClr val="A4A3A4"/>
          </p15:clr>
        </p15:guide>
        <p15:guide id="3" orient="horz" pos="2928" userDrawn="1">
          <p15:clr>
            <a:srgbClr val="A4A3A4"/>
          </p15:clr>
        </p15:guide>
        <p15:guide id="4"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g" initials="G" lastIdx="13" clrIdx="0"/>
  <p:cmAuthor id="1" name="Tatiana" initials="T"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C55"/>
    <a:srgbClr val="669A91"/>
    <a:srgbClr val="9171A7"/>
    <a:srgbClr val="CCCC00"/>
    <a:srgbClr val="B07750"/>
    <a:srgbClr val="AC545C"/>
    <a:srgbClr val="33CCCC"/>
    <a:srgbClr val="9966FF"/>
    <a:srgbClr val="616875"/>
    <a:srgbClr val="CFD1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6389" autoAdjust="0"/>
  </p:normalViewPr>
  <p:slideViewPr>
    <p:cSldViewPr snapToGrid="0">
      <p:cViewPr varScale="1">
        <p:scale>
          <a:sx n="59" d="100"/>
          <a:sy n="59" d="100"/>
        </p:scale>
        <p:origin x="1698" y="72"/>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outlineViewPr>
    <p:cViewPr>
      <p:scale>
        <a:sx n="33" d="100"/>
        <a:sy n="33" d="100"/>
      </p:scale>
      <p:origin x="0" y="-8900"/>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00" d="100"/>
          <a:sy n="100" d="100"/>
        </p:scale>
        <p:origin x="-1956" y="1242"/>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59" tIns="46579" rIns="93159" bIns="46579" rtlCol="0"/>
          <a:lstStyle>
            <a:lvl1pPr algn="r">
              <a:defRPr sz="1200"/>
            </a:lvl1pPr>
          </a:lstStyle>
          <a:p>
            <a:fld id="{CA869C63-99CE-7C40-A7E9-3930C61B23AB}" type="datetimeFigureOut">
              <a:t>8/11/2026</a:t>
            </a:fld>
            <a:endParaRPr lang="en-US" dirty="0"/>
          </a:p>
        </p:txBody>
      </p:sp>
      <p:sp>
        <p:nvSpPr>
          <p:cNvPr id="4" name="Footer Placeholder 3"/>
          <p:cNvSpPr>
            <a:spLocks noGrp="1"/>
          </p:cNvSpPr>
          <p:nvPr>
            <p:ph type="ftr" sz="quarter" idx="2"/>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5"/>
            <a:ext cx="3037840" cy="464820"/>
          </a:xfrm>
          <a:prstGeom prst="rect">
            <a:avLst/>
          </a:prstGeom>
        </p:spPr>
        <p:txBody>
          <a:bodyPr vert="horz" lIns="93159" tIns="46579" rIns="93159" bIns="46579" rtlCol="0" anchor="b"/>
          <a:lstStyle>
            <a:lvl1pPr algn="r">
              <a:defRPr sz="1200"/>
            </a:lvl1pPr>
          </a:lstStyle>
          <a:p>
            <a:fld id="{155B6EDB-6C4A-2346-91D8-76F2620B19F2}" type="slidenum">
              <a:t>‹#›</a:t>
            </a:fld>
            <a:endParaRPr lang="en-US" dirty="0"/>
          </a:p>
        </p:txBody>
      </p:sp>
    </p:spTree>
    <p:extLst>
      <p:ext uri="{BB962C8B-B14F-4D97-AF65-F5344CB8AC3E}">
        <p14:creationId xmlns:p14="http://schemas.microsoft.com/office/powerpoint/2010/main" val="3686524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59" tIns="46579" rIns="93159" bIns="46579" rtlCol="0"/>
          <a:lstStyle>
            <a:lvl1pPr algn="r">
              <a:defRPr sz="1200"/>
            </a:lvl1pPr>
          </a:lstStyle>
          <a:p>
            <a:fld id="{E3E59D94-626A-4CE8-9932-5221A04BF234}" type="datetimeFigureOut">
              <a:rPr lang="en-US" smtClean="0"/>
              <a:t>8/11/2026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59" tIns="46579" rIns="93159" bIns="4657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59" tIns="46579" rIns="93159" bIns="465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5"/>
            <a:ext cx="3037840" cy="464820"/>
          </a:xfrm>
          <a:prstGeom prst="rect">
            <a:avLst/>
          </a:prstGeom>
        </p:spPr>
        <p:txBody>
          <a:bodyPr vert="horz" lIns="93159" tIns="46579" rIns="93159" bIns="46579" rtlCol="0" anchor="b"/>
          <a:lstStyle>
            <a:lvl1pPr algn="r">
              <a:defRPr sz="1200"/>
            </a:lvl1pPr>
          </a:lstStyle>
          <a:p>
            <a:fld id="{043CB7BC-4AFB-4847-AC93-5F4E37C870A2}" type="slidenum">
              <a:rPr lang="en-US" smtClean="0"/>
              <a:t>‹#›</a:t>
            </a:fld>
            <a:endParaRPr lang="en-US" dirty="0"/>
          </a:p>
        </p:txBody>
      </p:sp>
    </p:spTree>
    <p:extLst>
      <p:ext uri="{BB962C8B-B14F-4D97-AF65-F5344CB8AC3E}">
        <p14:creationId xmlns:p14="http://schemas.microsoft.com/office/powerpoint/2010/main" val="18079140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3CB7BC-4AFB-4847-AC93-5F4E37C870A2}" type="slidenum">
              <a:rPr lang="en-US" smtClean="0"/>
              <a:t>22</a:t>
            </a:fld>
            <a:endParaRPr lang="en-US" dirty="0"/>
          </a:p>
        </p:txBody>
      </p:sp>
    </p:spTree>
    <p:extLst>
      <p:ext uri="{BB962C8B-B14F-4D97-AF65-F5344CB8AC3E}">
        <p14:creationId xmlns:p14="http://schemas.microsoft.com/office/powerpoint/2010/main" val="40803309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33848" b="649"/>
          <a:stretch/>
        </p:blipFill>
        <p:spPr>
          <a:xfrm>
            <a:off x="-1" y="0"/>
            <a:ext cx="9144002"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accent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496176" y="2924299"/>
            <a:ext cx="6814614" cy="1752600"/>
          </a:xfrm>
        </p:spPr>
        <p:txBody>
          <a:bodyPr/>
          <a:lstStyle>
            <a:lvl1pPr marL="0" indent="0" algn="l">
              <a:buNone/>
              <a:defRPr b="1" baseline="0">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7113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86" b="1379"/>
          <a:stretch/>
        </p:blipFill>
        <p:spPr>
          <a:xfrm flipV="1">
            <a:off x="0" y="0"/>
            <a:ext cx="9144000"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bg1"/>
                </a:solidFill>
                <a:latin typeface="Arial" panose="020B0604020202020204" pitchFamily="34" charset="0"/>
                <a:cs typeface="Arial" panose="020B0604020202020204" pitchFamily="34" charset="0"/>
              </a:defRPr>
            </a:lvl1pPr>
          </a:lstStyle>
          <a:p>
            <a:r>
              <a:rPr lang="en-US" dirty="0"/>
              <a:t>Click to edit master</a:t>
            </a:r>
          </a:p>
        </p:txBody>
      </p:sp>
      <p:sp>
        <p:nvSpPr>
          <p:cNvPr id="3" name="Subtitle 2"/>
          <p:cNvSpPr>
            <a:spLocks noGrp="1"/>
          </p:cNvSpPr>
          <p:nvPr>
            <p:ph type="subTitle" idx="1"/>
          </p:nvPr>
        </p:nvSpPr>
        <p:spPr>
          <a:xfrm>
            <a:off x="496176" y="2924299"/>
            <a:ext cx="6814614" cy="1752600"/>
          </a:xfrm>
        </p:spPr>
        <p:txBody>
          <a:bodyPr/>
          <a:lstStyle>
            <a:lvl1pPr marL="0" indent="0" algn="l">
              <a:buNone/>
              <a:defRPr baseline="0">
                <a:solidFill>
                  <a:schemeClr val="tx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2161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67499" b="6701"/>
          <a:stretch/>
        </p:blipFill>
        <p:spPr>
          <a:xfrm flipV="1">
            <a:off x="0" y="1740436"/>
            <a:ext cx="9144000" cy="1502227"/>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24620" b="16130"/>
          <a:stretch/>
        </p:blipFill>
        <p:spPr>
          <a:xfrm flipH="1">
            <a:off x="2766" y="3242663"/>
            <a:ext cx="9144000" cy="3615334"/>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272890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ppt_x"/>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pic>
        <p:nvPicPr>
          <p:cNvPr id="53" name="Picture 52"/>
          <p:cNvPicPr>
            <a:picLocks noChangeAspect="1"/>
          </p:cNvPicPr>
          <p:nvPr userDrawn="1"/>
        </p:nvPicPr>
        <p:blipFill rotWithShape="1">
          <a:blip r:embed="rId2" cstate="print">
            <a:extLst>
              <a:ext uri="{28A0092B-C50C-407E-A947-70E740481C1C}">
                <a14:useLocalDpi xmlns:a14="http://schemas.microsoft.com/office/drawing/2010/main" val="0"/>
              </a:ext>
            </a:extLst>
          </a:blip>
          <a:srcRect l="6615" t="2065" r="80083" b="1471"/>
          <a:stretch/>
        </p:blipFill>
        <p:spPr>
          <a:xfrm rot="5400000">
            <a:off x="3820885" y="-2080448"/>
            <a:ext cx="1502227" cy="9143997"/>
          </a:xfrm>
          <a:prstGeom prst="rect">
            <a:avLst/>
          </a:prstGeom>
        </p:spPr>
      </p:pic>
      <p:pic>
        <p:nvPicPr>
          <p:cNvPr id="54" name="Picture 53"/>
          <p:cNvPicPr>
            <a:picLocks noChangeAspect="1"/>
          </p:cNvPicPr>
          <p:nvPr userDrawn="1"/>
        </p:nvPicPr>
        <p:blipFill rotWithShape="1">
          <a:blip r:embed="rId3" cstate="print">
            <a:extLst>
              <a:ext uri="{28A0092B-C50C-407E-A947-70E740481C1C}">
                <a14:useLocalDpi xmlns:a14="http://schemas.microsoft.com/office/drawing/2010/main" val="0"/>
              </a:ext>
            </a:extLst>
          </a:blip>
          <a:srcRect t="20282" b="20282"/>
          <a:stretch/>
        </p:blipFill>
        <p:spPr>
          <a:xfrm>
            <a:off x="0" y="3242662"/>
            <a:ext cx="9144000" cy="3623223"/>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140989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ppt_x"/>
                                          </p:val>
                                        </p:tav>
                                        <p:tav tm="100000">
                                          <p:val>
                                            <p:strVal val="#ppt_x"/>
                                          </p:val>
                                        </p:tav>
                                      </p:tavLst>
                                    </p:anim>
                                    <p:anim calcmode="lin" valueType="num">
                                      <p:cBhvr additive="base">
                                        <p:cTn id="8" dur="750" fill="hold"/>
                                        <p:tgtEl>
                                          <p:spTgt spid="5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3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750" fill="hold"/>
                                        <p:tgtEl>
                                          <p:spTgt spid="54"/>
                                        </p:tgtEl>
                                        <p:attrNameLst>
                                          <p:attrName>ppt_x</p:attrName>
                                        </p:attrNameLst>
                                      </p:cBhvr>
                                      <p:tavLst>
                                        <p:tav tm="0">
                                          <p:val>
                                            <p:strVal val="0-#ppt_w/2"/>
                                          </p:val>
                                        </p:tav>
                                        <p:tav tm="100000">
                                          <p:val>
                                            <p:strVal val="#ppt_x"/>
                                          </p:val>
                                        </p:tav>
                                      </p:tavLst>
                                    </p:anim>
                                    <p:anim calcmode="lin" valueType="num">
                                      <p:cBhvr additive="base">
                                        <p:cTn id="12"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82070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8001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1">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7" name="Content Placeholder 2"/>
          <p:cNvSpPr>
            <a:spLocks noGrp="1"/>
          </p:cNvSpPr>
          <p:nvPr>
            <p:ph idx="13"/>
          </p:nvPr>
        </p:nvSpPr>
        <p:spPr>
          <a:xfrm>
            <a:off x="464444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722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8" name="Content Placeholder 5"/>
          <p:cNvSpPr>
            <a:spLocks noGrp="1"/>
          </p:cNvSpPr>
          <p:nvPr>
            <p:ph sz="quarter" idx="16" hasCustomPrompt="1"/>
          </p:nvPr>
        </p:nvSpPr>
        <p:spPr>
          <a:xfrm>
            <a:off x="4708408" y="153883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9" name="Content Placeholder 5"/>
          <p:cNvSpPr>
            <a:spLocks noGrp="1"/>
          </p:cNvSpPr>
          <p:nvPr>
            <p:ph sz="quarter" idx="17"/>
          </p:nvPr>
        </p:nvSpPr>
        <p:spPr>
          <a:xfrm>
            <a:off x="351116" y="154035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
        <p:nvSpPr>
          <p:cNvPr id="12" name="Content Placeholder 5"/>
          <p:cNvSpPr>
            <a:spLocks noGrp="1"/>
          </p:cNvSpPr>
          <p:nvPr>
            <p:ph sz="quarter" idx="18" hasCustomPrompt="1"/>
          </p:nvPr>
        </p:nvSpPr>
        <p:spPr>
          <a:xfrm>
            <a:off x="4708408" y="409915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13" name="Content Placeholder 5"/>
          <p:cNvSpPr>
            <a:spLocks noGrp="1"/>
          </p:cNvSpPr>
          <p:nvPr>
            <p:ph sz="quarter" idx="19"/>
          </p:nvPr>
        </p:nvSpPr>
        <p:spPr>
          <a:xfrm>
            <a:off x="351116" y="410067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Tree>
    <p:extLst>
      <p:ext uri="{BB962C8B-B14F-4D97-AF65-F5344CB8AC3E}">
        <p14:creationId xmlns:p14="http://schemas.microsoft.com/office/powerpoint/2010/main" val="135267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46" name="Content Placeholder 45"/>
          <p:cNvSpPr>
            <a:spLocks noGrp="1"/>
          </p:cNvSpPr>
          <p:nvPr>
            <p:ph sz="quarter" idx="13"/>
          </p:nvPr>
        </p:nvSpPr>
        <p:spPr>
          <a:xfrm>
            <a:off x="157163" y="133350"/>
            <a:ext cx="8826500" cy="5951538"/>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62681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4" name="Rectangle 3"/>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7" name="Group 6"/>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6413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3" name="SmartArt Placeholder 2"/>
          <p:cNvSpPr>
            <a:spLocks noGrp="1"/>
          </p:cNvSpPr>
          <p:nvPr>
            <p:ph type="dgm" sz="quarter" idx="13"/>
          </p:nvPr>
        </p:nvSpPr>
        <p:spPr>
          <a:xfrm>
            <a:off x="133350" y="125413"/>
            <a:ext cx="8850313" cy="6008687"/>
          </a:xfrm>
        </p:spPr>
        <p:txBody>
          <a:bodyPr/>
          <a:lstStyle/>
          <a:p>
            <a:r>
              <a:rPr lang="en-US"/>
              <a:t>Click icon to add SmartArt graphic</a:t>
            </a:r>
          </a:p>
        </p:txBody>
      </p:sp>
    </p:spTree>
    <p:extLst>
      <p:ext uri="{BB962C8B-B14F-4D97-AF65-F5344CB8AC3E}">
        <p14:creationId xmlns:p14="http://schemas.microsoft.com/office/powerpoint/2010/main" val="299856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2" name="Rectangle 1"/>
          <p:cNvSpPr/>
          <p:nvPr userDrawn="1"/>
        </p:nvSpPr>
        <p:spPr>
          <a:xfrm>
            <a:off x="0" y="6251171"/>
            <a:ext cx="9144000" cy="606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7765" y="6367323"/>
            <a:ext cx="1260213" cy="394766"/>
          </a:xfrm>
          <a:prstGeom prst="rect">
            <a:avLst/>
          </a:prstGeom>
        </p:spPr>
      </p:pic>
      <p:sp>
        <p:nvSpPr>
          <p:cNvPr id="7" name="Title 1"/>
          <p:cNvSpPr>
            <a:spLocks noGrp="1"/>
          </p:cNvSpPr>
          <p:nvPr>
            <p:ph type="title"/>
          </p:nvPr>
        </p:nvSpPr>
        <p:spPr>
          <a:xfrm>
            <a:off x="380010" y="-4950"/>
            <a:ext cx="8383980" cy="844535"/>
          </a:xfrm>
        </p:spPr>
        <p:txBody>
          <a:bodyPr/>
          <a:lstStyle>
            <a:lvl1pPr>
              <a:defRPr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Content Placeholder 2"/>
          <p:cNvSpPr>
            <a:spLocks noGrp="1"/>
          </p:cNvSpPr>
          <p:nvPr>
            <p:ph idx="1"/>
          </p:nvPr>
        </p:nvSpPr>
        <p:spPr>
          <a:xfrm>
            <a:off x="380010" y="1097280"/>
            <a:ext cx="8383980" cy="4910129"/>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0251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4" name="Rectangle 3"/>
          <p:cNvSpPr/>
          <p:nvPr userDrawn="1"/>
        </p:nvSpPr>
        <p:spPr>
          <a:xfrm flipV="1">
            <a:off x="0" y="1219200"/>
            <a:ext cx="9144000" cy="563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tx2"/>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3" name="Group 2"/>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853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725119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Only">
  <p:cSld name="4_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311990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21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userDrawn="1"/>
        </p:nvGrpSpPr>
        <p:grpSpPr>
          <a:xfrm>
            <a:off x="7264458" y="365740"/>
            <a:ext cx="1553307" cy="487719"/>
            <a:chOff x="166688" y="-3240088"/>
            <a:chExt cx="9136063" cy="2868613"/>
          </a:xfrm>
        </p:grpSpPr>
        <p:sp>
          <p:nvSpPr>
            <p:cNvPr id="12" name="Freeform 6"/>
            <p:cNvSpPr>
              <a:spLocks noEditPoints="1"/>
            </p:cNvSpPr>
            <p:nvPr userDrawn="1"/>
          </p:nvSpPr>
          <p:spPr bwMode="auto">
            <a:xfrm>
              <a:off x="166688" y="-1244600"/>
              <a:ext cx="876300" cy="850900"/>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userDrawn="1"/>
          </p:nvSpPr>
          <p:spPr bwMode="auto">
            <a:xfrm>
              <a:off x="1258888" y="-1244600"/>
              <a:ext cx="774700" cy="850900"/>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userDrawn="1"/>
          </p:nvSpPr>
          <p:spPr bwMode="auto">
            <a:xfrm>
              <a:off x="2219326" y="-1244600"/>
              <a:ext cx="906463" cy="850900"/>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noEditPoints="1"/>
            </p:cNvSpPr>
            <p:nvPr userDrawn="1"/>
          </p:nvSpPr>
          <p:spPr bwMode="auto">
            <a:xfrm>
              <a:off x="3125788" y="-1244600"/>
              <a:ext cx="1017588" cy="850900"/>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userDrawn="1"/>
          </p:nvSpPr>
          <p:spPr bwMode="auto">
            <a:xfrm>
              <a:off x="4106863" y="-1244600"/>
              <a:ext cx="928688" cy="850900"/>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p:cNvSpPr>
            <p:nvPr userDrawn="1"/>
          </p:nvSpPr>
          <p:spPr bwMode="auto">
            <a:xfrm>
              <a:off x="5214938" y="-1244600"/>
              <a:ext cx="906463" cy="873125"/>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noEditPoints="1"/>
            </p:cNvSpPr>
            <p:nvPr userDrawn="1"/>
          </p:nvSpPr>
          <p:spPr bwMode="auto">
            <a:xfrm>
              <a:off x="6384926" y="-1244600"/>
              <a:ext cx="873125" cy="850900"/>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p:cNvSpPr>
            <p:nvPr userDrawn="1"/>
          </p:nvSpPr>
          <p:spPr bwMode="auto">
            <a:xfrm>
              <a:off x="7477126" y="-1244600"/>
              <a:ext cx="774700" cy="850900"/>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p:cNvSpPr>
            <p:nvPr userDrawn="1"/>
          </p:nvSpPr>
          <p:spPr bwMode="auto">
            <a:xfrm>
              <a:off x="3233738" y="-1751013"/>
              <a:ext cx="152400" cy="146050"/>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p:cNvSpPr>
            <p:nvPr userDrawn="1"/>
          </p:nvSpPr>
          <p:spPr bwMode="auto">
            <a:xfrm>
              <a:off x="3719513" y="-2219325"/>
              <a:ext cx="219075" cy="263525"/>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userDrawn="1"/>
          </p:nvSpPr>
          <p:spPr bwMode="auto">
            <a:xfrm>
              <a:off x="4289426" y="-2582863"/>
              <a:ext cx="222250" cy="407988"/>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userDrawn="1"/>
          </p:nvSpPr>
          <p:spPr bwMode="auto">
            <a:xfrm>
              <a:off x="4910138" y="-2876550"/>
              <a:ext cx="188913" cy="561975"/>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p:cNvSpPr>
            <p:nvPr userDrawn="1"/>
          </p:nvSpPr>
          <p:spPr bwMode="auto">
            <a:xfrm>
              <a:off x="5541963" y="-3081338"/>
              <a:ext cx="174625" cy="70326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userDrawn="1"/>
          </p:nvSpPr>
          <p:spPr bwMode="auto">
            <a:xfrm>
              <a:off x="6140451" y="-3203575"/>
              <a:ext cx="271463" cy="83185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userDrawn="1"/>
          </p:nvSpPr>
          <p:spPr bwMode="auto">
            <a:xfrm>
              <a:off x="6724651" y="-3240088"/>
              <a:ext cx="404813" cy="95091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userDrawn="1"/>
          </p:nvSpPr>
          <p:spPr bwMode="auto">
            <a:xfrm>
              <a:off x="7299326" y="-3173413"/>
              <a:ext cx="558800" cy="1039813"/>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userDrawn="1"/>
          </p:nvSpPr>
          <p:spPr bwMode="auto">
            <a:xfrm>
              <a:off x="7864476" y="-3006725"/>
              <a:ext cx="720725" cy="1103313"/>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userDrawn="1"/>
          </p:nvSpPr>
          <p:spPr bwMode="auto">
            <a:xfrm>
              <a:off x="8393113" y="-2740025"/>
              <a:ext cx="909638" cy="1138238"/>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Text Placeholder 2"/>
          <p:cNvSpPr>
            <a:spLocks noGrp="1"/>
          </p:cNvSpPr>
          <p:nvPr userDrawn="1">
            <p:ph type="body" idx="1"/>
          </p:nvPr>
        </p:nvSpPr>
        <p:spPr>
          <a:xfrm>
            <a:off x="380010" y="1481446"/>
            <a:ext cx="838398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userDrawn="1">
            <p:ph type="sldNum" sz="quarter" idx="4"/>
          </p:nvPr>
        </p:nvSpPr>
        <p:spPr>
          <a:xfrm>
            <a:off x="8122757" y="6363712"/>
            <a:ext cx="861671" cy="365125"/>
          </a:xfrm>
          <a:prstGeom prst="rect">
            <a:avLst/>
          </a:prstGeom>
        </p:spPr>
        <p:txBody>
          <a:bodyPr vert="horz" lIns="91440" tIns="45720" rIns="91440" bIns="45720" rtlCol="0" anchor="ctr"/>
          <a:lstStyle>
            <a:lvl1pPr algn="r">
              <a:defRPr sz="1200" b="0">
                <a:solidFill>
                  <a:schemeClr val="accent2"/>
                </a:solidFill>
              </a:defRPr>
            </a:lvl1pPr>
          </a:lstStyle>
          <a:p>
            <a:fld id="{F6728BC2-ACA3-447C-A909-F3F49211C066}" type="slidenum">
              <a:rPr lang="en-US" smtClean="0"/>
              <a:pPr/>
              <a:t>‹#›</a:t>
            </a:fld>
            <a:endParaRPr lang="en-US" dirty="0"/>
          </a:p>
        </p:txBody>
      </p:sp>
      <p:sp>
        <p:nvSpPr>
          <p:cNvPr id="2" name="Title Placeholder 1"/>
          <p:cNvSpPr>
            <a:spLocks noGrp="1"/>
          </p:cNvSpPr>
          <p:nvPr userDrawn="1">
            <p:ph type="title"/>
          </p:nvPr>
        </p:nvSpPr>
        <p:spPr>
          <a:xfrm>
            <a:off x="380010" y="-4950"/>
            <a:ext cx="6222671" cy="1224150"/>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14600464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704" r:id="rId3"/>
    <p:sldLayoutId id="2147483705" r:id="rId4"/>
    <p:sldLayoutId id="2147483694" r:id="rId5"/>
    <p:sldLayoutId id="2147483698" r:id="rId6"/>
    <p:sldLayoutId id="2147483699" r:id="rId7"/>
    <p:sldLayoutId id="2147483695" r:id="rId8"/>
    <p:sldLayoutId id="2147483703" r:id="rId9"/>
    <p:sldLayoutId id="2147483701" r:id="rId10"/>
    <p:sldLayoutId id="2147483702" r:id="rId11"/>
    <p:sldLayoutId id="2147483696" r:id="rId12"/>
    <p:sldLayoutId id="2147483697" r:id="rId13"/>
    <p:sldLayoutId id="2147483706" r:id="rId14"/>
  </p:sldLayoutIdLst>
  <p:hf hdr="0" ftr="0" dt="0"/>
  <p:txStyles>
    <p:titleStyle>
      <a:lvl1pPr algn="l" defTabSz="914400" rtl="0" eaLnBrk="1" latinLnBrk="0" hangingPunct="1">
        <a:spcBef>
          <a:spcPct val="0"/>
        </a:spcBef>
        <a:buNone/>
        <a:defRPr sz="2400" b="1" kern="1200" spc="100" baseline="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hyperlink" Target="https://developer.mozilla.org/en-US/docs/Web/CSS/Reference/Selectors" TargetMode="Externa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hyperlink" Target="https://developer.mozilla.org/en-US/docs/Web/CSS/Reference/Properties" TargetMode="Externa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hyperlink" Target="https://developer.mozilla.org/en-US/docs/Web/CSS/Guides/Media_queries" TargetMode="Externa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hyperlink" Target="https://developer.mozilla.org/en-US/docs/Web/CSS/Guides/Flexible_box_layout" TargetMode="Externa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hyperlink" Target="https://developer.mozilla.org/en-US/docs/Web/CSS/Guides/Grid_layout" TargetMode="Externa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hyperlink" Target="https://www.bootstrapcdn.com/" TargetMode="External"/><Relationship Id="rId2" Type="http://schemas.openxmlformats.org/officeDocument/2006/relationships/hyperlink" Target="https://getbootstrap.com/" TargetMode="External"/><Relationship Id="rId1" Type="http://schemas.openxmlformats.org/officeDocument/2006/relationships/slideLayout" Target="../slideLayouts/slideLayout5.xml"/><Relationship Id="rId4" Type="http://schemas.openxmlformats.org/officeDocument/2006/relationships/hyperlink" Target="https://getbootstrap.com/docs/5.3/getting-started/introduction/"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hyperlink" Target="https://getbootstrap.com/docs/5.3/forms/overview/" TargetMode="External"/><Relationship Id="rId7" Type="http://schemas.openxmlformats.org/officeDocument/2006/relationships/hyperlink" Target="https://getbootstrap.com/docs/5.3/helpers/color-background/" TargetMode="External"/><Relationship Id="rId2" Type="http://schemas.openxmlformats.org/officeDocument/2006/relationships/hyperlink" Target="https://getbootstrap.com/docs/5.3/content/tables/" TargetMode="External"/><Relationship Id="rId1" Type="http://schemas.openxmlformats.org/officeDocument/2006/relationships/slideLayout" Target="../slideLayouts/slideLayout5.xml"/><Relationship Id="rId6" Type="http://schemas.openxmlformats.org/officeDocument/2006/relationships/hyperlink" Target="https://getbootstrap.com/docs/5.3/components/navbar/" TargetMode="External"/><Relationship Id="rId5" Type="http://schemas.openxmlformats.org/officeDocument/2006/relationships/hyperlink" Target="https://getbootstrap.com/docs/5.3/components/alerts/" TargetMode="External"/><Relationship Id="rId4" Type="http://schemas.openxmlformats.org/officeDocument/2006/relationships/hyperlink" Target="https://getbootstrap.com/docs/5.3/components/buttons/"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9379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728BC2-ACA3-447C-A909-F3F49211C066}" type="slidenum">
              <a:rPr lang="en-US" smtClean="0"/>
              <a:pPr/>
              <a:t>1</a:t>
            </a:fld>
            <a:endParaRPr lang="en-US" dirty="0"/>
          </a:p>
        </p:txBody>
      </p:sp>
      <p:sp>
        <p:nvSpPr>
          <p:cNvPr id="8" name="Title 7">
            <a:extLst>
              <a:ext uri="{FF2B5EF4-FFF2-40B4-BE49-F238E27FC236}">
                <a16:creationId xmlns:a16="http://schemas.microsoft.com/office/drawing/2014/main" id="{5C8A36B9-6DAA-9178-3579-608F2BF2314F}"/>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2FB6D359-271F-7BC2-20B4-ACE4AE76B86F}"/>
              </a:ext>
            </a:extLst>
          </p:cNvPr>
          <p:cNvSpPr>
            <a:spLocks noGrp="1"/>
          </p:cNvSpPr>
          <p:nvPr>
            <p:ph idx="1"/>
          </p:nvPr>
        </p:nvSpPr>
        <p:spPr/>
        <p:txBody>
          <a:bodyPr>
            <a:normAutofit/>
          </a:bodyPr>
          <a:lstStyle/>
          <a:p>
            <a:r>
              <a:rPr lang="en-US" dirty="0"/>
              <a:t>Absolute vs Relative</a:t>
            </a:r>
          </a:p>
          <a:p>
            <a:r>
              <a:rPr lang="en-US" dirty="0"/>
              <a:t>Intro to CSS</a:t>
            </a:r>
          </a:p>
          <a:p>
            <a:r>
              <a:rPr lang="en-US" dirty="0"/>
              <a:t>Stylesheets &amp; Selectors</a:t>
            </a:r>
          </a:p>
          <a:p>
            <a:r>
              <a:rPr lang="en-US" dirty="0"/>
              <a:t>CSS Properties</a:t>
            </a:r>
          </a:p>
          <a:p>
            <a:r>
              <a:rPr lang="en-US" dirty="0"/>
              <a:t>CSS Specificity</a:t>
            </a:r>
          </a:p>
          <a:p>
            <a:r>
              <a:rPr lang="en-US" dirty="0"/>
              <a:t>Responsive Web Design</a:t>
            </a:r>
          </a:p>
          <a:p>
            <a:endParaRPr lang="en-US" dirty="0"/>
          </a:p>
          <a:p>
            <a:endParaRPr lang="en-US" dirty="0"/>
          </a:p>
        </p:txBody>
      </p:sp>
    </p:spTree>
    <p:extLst>
      <p:ext uri="{BB962C8B-B14F-4D97-AF65-F5344CB8AC3E}">
        <p14:creationId xmlns:p14="http://schemas.microsoft.com/office/powerpoint/2010/main" val="2950208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C186E-C12A-C487-A617-E9E5B4D6E45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F7C041-C952-8505-C1D6-A799573827B0}"/>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64C61AE8-CE9A-8B23-083A-16D11EE286F9}"/>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Absolute vs Relative</a:t>
            </a:r>
          </a:p>
        </p:txBody>
      </p:sp>
      <p:pic>
        <p:nvPicPr>
          <p:cNvPr id="6" name="Picture 5">
            <a:extLst>
              <a:ext uri="{FF2B5EF4-FFF2-40B4-BE49-F238E27FC236}">
                <a16:creationId xmlns:a16="http://schemas.microsoft.com/office/drawing/2014/main" id="{9DC455B7-20BF-37AC-6F65-18726B299FDB}"/>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4100532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0C18A-C730-463B-8C77-41387B14480D}"/>
              </a:ext>
            </a:extLst>
          </p:cNvPr>
          <p:cNvSpPr>
            <a:spLocks noGrp="1"/>
          </p:cNvSpPr>
          <p:nvPr>
            <p:ph type="title"/>
          </p:nvPr>
        </p:nvSpPr>
        <p:spPr/>
        <p:txBody>
          <a:bodyPr/>
          <a:lstStyle/>
          <a:p>
            <a:r>
              <a:rPr lang="en-US" dirty="0"/>
              <a:t>Absolute and Relative Paths</a:t>
            </a:r>
          </a:p>
        </p:txBody>
      </p:sp>
      <p:sp>
        <p:nvSpPr>
          <p:cNvPr id="3" name="Content Placeholder 2">
            <a:extLst>
              <a:ext uri="{FF2B5EF4-FFF2-40B4-BE49-F238E27FC236}">
                <a16:creationId xmlns:a16="http://schemas.microsoft.com/office/drawing/2014/main" id="{1DFAE63A-01D3-44FF-B81E-DD258884043D}"/>
              </a:ext>
            </a:extLst>
          </p:cNvPr>
          <p:cNvSpPr>
            <a:spLocks noGrp="1"/>
          </p:cNvSpPr>
          <p:nvPr>
            <p:ph idx="1"/>
          </p:nvPr>
        </p:nvSpPr>
        <p:spPr>
          <a:xfrm>
            <a:off x="380010" y="1481446"/>
            <a:ext cx="8383980" cy="4882266"/>
          </a:xfrm>
        </p:spPr>
        <p:txBody>
          <a:bodyPr>
            <a:normAutofit/>
          </a:bodyPr>
          <a:lstStyle/>
          <a:p>
            <a:r>
              <a:rPr lang="en-US" dirty="0"/>
              <a:t>When structure can be represented as a tree, like a file system, you can express the location of something in that structure with a </a:t>
            </a:r>
            <a:r>
              <a:rPr lang="en-US" i="1" dirty="0"/>
              <a:t>path</a:t>
            </a:r>
            <a:r>
              <a:rPr lang="en-US" dirty="0"/>
              <a:t>.</a:t>
            </a:r>
          </a:p>
          <a:p>
            <a:r>
              <a:rPr lang="en-US" dirty="0"/>
              <a:t>Absolute: path is “measured” from a root or globally fixed point</a:t>
            </a:r>
          </a:p>
          <a:p>
            <a:pPr lvl="1"/>
            <a:r>
              <a:rPr lang="en-US" dirty="0"/>
              <a:t>C:\Programs\Web\helloWorld.html</a:t>
            </a:r>
          </a:p>
          <a:p>
            <a:pPr lvl="1"/>
            <a:r>
              <a:rPr lang="en-US" dirty="0"/>
              <a:t>/Users/</a:t>
            </a:r>
            <a:r>
              <a:rPr lang="en-US" dirty="0" err="1"/>
              <a:t>UserName</a:t>
            </a:r>
            <a:r>
              <a:rPr lang="en-US" dirty="0"/>
              <a:t>/home/Documents/file.txt</a:t>
            </a:r>
          </a:p>
          <a:p>
            <a:r>
              <a:rPr lang="en-US" dirty="0"/>
              <a:t>Relative: measured from the location of another file or directory</a:t>
            </a:r>
          </a:p>
          <a:p>
            <a:pPr lvl="1"/>
            <a:r>
              <a:rPr lang="en-US" dirty="0"/>
              <a:t>../styles/stylesheet.css</a:t>
            </a:r>
          </a:p>
        </p:txBody>
      </p:sp>
      <p:sp>
        <p:nvSpPr>
          <p:cNvPr id="4" name="Slide Number Placeholder 3">
            <a:extLst>
              <a:ext uri="{FF2B5EF4-FFF2-40B4-BE49-F238E27FC236}">
                <a16:creationId xmlns:a16="http://schemas.microsoft.com/office/drawing/2014/main" id="{70027B83-31A7-46F0-8D1F-9719EF6642C1}"/>
              </a:ext>
            </a:extLst>
          </p:cNvPr>
          <p:cNvSpPr>
            <a:spLocks noGrp="1"/>
          </p:cNvSpPr>
          <p:nvPr>
            <p:ph type="sldNum" sz="quarter" idx="12"/>
          </p:nvPr>
        </p:nvSpPr>
        <p:spPr/>
        <p:txBody>
          <a:bodyPr/>
          <a:lstStyle/>
          <a:p>
            <a:fld id="{F6728BC2-ACA3-447C-A909-F3F49211C066}" type="slidenum">
              <a:rPr lang="en-US" smtClean="0"/>
              <a:pPr/>
              <a:t>3</a:t>
            </a:fld>
            <a:endParaRPr lang="en-US" dirty="0"/>
          </a:p>
        </p:txBody>
      </p:sp>
    </p:spTree>
    <p:extLst>
      <p:ext uri="{BB962C8B-B14F-4D97-AF65-F5344CB8AC3E}">
        <p14:creationId xmlns:p14="http://schemas.microsoft.com/office/powerpoint/2010/main" val="1287501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7A356-CA23-4F5A-B0A8-484FD0B64231}"/>
              </a:ext>
            </a:extLst>
          </p:cNvPr>
          <p:cNvSpPr>
            <a:spLocks noGrp="1"/>
          </p:cNvSpPr>
          <p:nvPr>
            <p:ph type="title"/>
          </p:nvPr>
        </p:nvSpPr>
        <p:spPr/>
        <p:txBody>
          <a:bodyPr/>
          <a:lstStyle/>
          <a:p>
            <a:r>
              <a:rPr lang="en-US" dirty="0"/>
              <a:t>Relative vs. Absolute Measurements</a:t>
            </a:r>
          </a:p>
        </p:txBody>
      </p:sp>
      <p:sp>
        <p:nvSpPr>
          <p:cNvPr id="3" name="Content Placeholder 2">
            <a:extLst>
              <a:ext uri="{FF2B5EF4-FFF2-40B4-BE49-F238E27FC236}">
                <a16:creationId xmlns:a16="http://schemas.microsoft.com/office/drawing/2014/main" id="{9E91B69A-E12E-402C-B154-48DB86FEB305}"/>
              </a:ext>
            </a:extLst>
          </p:cNvPr>
          <p:cNvSpPr>
            <a:spLocks noGrp="1"/>
          </p:cNvSpPr>
          <p:nvPr>
            <p:ph idx="1"/>
          </p:nvPr>
        </p:nvSpPr>
        <p:spPr>
          <a:xfrm>
            <a:off x="380010" y="1481446"/>
            <a:ext cx="8383980" cy="5247391"/>
          </a:xfrm>
        </p:spPr>
        <p:txBody>
          <a:bodyPr>
            <a:normAutofit lnSpcReduction="10000"/>
          </a:bodyPr>
          <a:lstStyle/>
          <a:p>
            <a:r>
              <a:rPr lang="en-US" dirty="0"/>
              <a:t>Relative measurements define size in relation to some other fixed point</a:t>
            </a:r>
          </a:p>
          <a:p>
            <a:pPr lvl="1"/>
            <a:r>
              <a:rPr lang="en-US" dirty="0"/>
              <a:t>Can adjust in </a:t>
            </a:r>
            <a:r>
              <a:rPr lang="en-US" i="1" dirty="0"/>
              <a:t>absolute</a:t>
            </a:r>
            <a:r>
              <a:rPr lang="en-US" dirty="0"/>
              <a:t> size if their reference point changes</a:t>
            </a:r>
          </a:p>
          <a:p>
            <a:r>
              <a:rPr lang="en-US" dirty="0"/>
              <a:t>Absolute measurements are always the same.</a:t>
            </a:r>
          </a:p>
          <a:p>
            <a:endParaRPr lang="en-US" dirty="0"/>
          </a:p>
          <a:p>
            <a:endParaRPr lang="en-US" dirty="0"/>
          </a:p>
          <a:p>
            <a:endParaRPr lang="en-US" dirty="0"/>
          </a:p>
          <a:p>
            <a:endParaRPr lang="en-US" dirty="0"/>
          </a:p>
          <a:p>
            <a:endParaRPr lang="en-US" dirty="0"/>
          </a:p>
          <a:p>
            <a:r>
              <a:rPr lang="en-US" dirty="0"/>
              <a:t>Pixels are relative to the viewing device.</a:t>
            </a:r>
          </a:p>
          <a:p>
            <a:pPr marL="0" indent="0">
              <a:buNone/>
            </a:pPr>
            <a:endParaRPr lang="en-US" dirty="0"/>
          </a:p>
        </p:txBody>
      </p:sp>
      <p:sp>
        <p:nvSpPr>
          <p:cNvPr id="4" name="Slide Number Placeholder 3">
            <a:extLst>
              <a:ext uri="{FF2B5EF4-FFF2-40B4-BE49-F238E27FC236}">
                <a16:creationId xmlns:a16="http://schemas.microsoft.com/office/drawing/2014/main" id="{61804FB1-4A8A-4A7E-AC8B-A9286B88114F}"/>
              </a:ext>
            </a:extLst>
          </p:cNvPr>
          <p:cNvSpPr>
            <a:spLocks noGrp="1"/>
          </p:cNvSpPr>
          <p:nvPr>
            <p:ph type="sldNum" sz="quarter" idx="12"/>
          </p:nvPr>
        </p:nvSpPr>
        <p:spPr/>
        <p:txBody>
          <a:bodyPr/>
          <a:lstStyle/>
          <a:p>
            <a:fld id="{F6728BC2-ACA3-447C-A909-F3F49211C066}" type="slidenum">
              <a:rPr lang="en-US" smtClean="0"/>
              <a:pPr/>
              <a:t>4</a:t>
            </a:fld>
            <a:endParaRPr lang="en-US" dirty="0"/>
          </a:p>
        </p:txBody>
      </p:sp>
      <p:graphicFrame>
        <p:nvGraphicFramePr>
          <p:cNvPr id="5" name="Table 4">
            <a:extLst>
              <a:ext uri="{FF2B5EF4-FFF2-40B4-BE49-F238E27FC236}">
                <a16:creationId xmlns:a16="http://schemas.microsoft.com/office/drawing/2014/main" id="{C85FDAA2-4870-4790-A3B6-65EE4BE189C8}"/>
              </a:ext>
            </a:extLst>
          </p:cNvPr>
          <p:cNvGraphicFramePr>
            <a:graphicFrameLocks noGrp="1"/>
          </p:cNvGraphicFramePr>
          <p:nvPr/>
        </p:nvGraphicFramePr>
        <p:xfrm>
          <a:off x="1524000" y="3800987"/>
          <a:ext cx="6096000" cy="18542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427770397"/>
                    </a:ext>
                  </a:extLst>
                </a:gridCol>
                <a:gridCol w="3048000">
                  <a:extLst>
                    <a:ext uri="{9D8B030D-6E8A-4147-A177-3AD203B41FA5}">
                      <a16:colId xmlns:a16="http://schemas.microsoft.com/office/drawing/2014/main" val="3320055192"/>
                    </a:ext>
                  </a:extLst>
                </a:gridCol>
              </a:tblGrid>
              <a:tr h="370840">
                <a:tc>
                  <a:txBody>
                    <a:bodyPr/>
                    <a:lstStyle/>
                    <a:p>
                      <a:pPr algn="ctr"/>
                      <a:r>
                        <a:rPr lang="en-US" dirty="0"/>
                        <a:t>Relative</a:t>
                      </a:r>
                    </a:p>
                  </a:txBody>
                  <a:tcPr/>
                </a:tc>
                <a:tc>
                  <a:txBody>
                    <a:bodyPr/>
                    <a:lstStyle/>
                    <a:p>
                      <a:pPr algn="ctr"/>
                      <a:r>
                        <a:rPr lang="en-US" dirty="0"/>
                        <a:t>Absolute</a:t>
                      </a:r>
                    </a:p>
                  </a:txBody>
                  <a:tcPr/>
                </a:tc>
                <a:extLst>
                  <a:ext uri="{0D108BD9-81ED-4DB2-BD59-A6C34878D82A}">
                    <a16:rowId xmlns:a16="http://schemas.microsoft.com/office/drawing/2014/main" val="1076205708"/>
                  </a:ext>
                </a:extLst>
              </a:tr>
              <a:tr h="370840">
                <a:tc>
                  <a:txBody>
                    <a:bodyPr/>
                    <a:lstStyle/>
                    <a:p>
                      <a:pPr algn="ctr"/>
                      <a:r>
                        <a:rPr lang="en-US" dirty="0"/>
                        <a:t>1em = current font size</a:t>
                      </a:r>
                    </a:p>
                  </a:txBody>
                  <a:tcPr/>
                </a:tc>
                <a:tc>
                  <a:txBody>
                    <a:bodyPr/>
                    <a:lstStyle/>
                    <a:p>
                      <a:pPr algn="ctr"/>
                      <a:r>
                        <a:rPr lang="en-US" dirty="0" err="1"/>
                        <a:t>px</a:t>
                      </a:r>
                      <a:r>
                        <a:rPr lang="en-US" dirty="0"/>
                        <a:t> = pixels</a:t>
                      </a:r>
                    </a:p>
                  </a:txBody>
                  <a:tcPr/>
                </a:tc>
                <a:extLst>
                  <a:ext uri="{0D108BD9-81ED-4DB2-BD59-A6C34878D82A}">
                    <a16:rowId xmlns:a16="http://schemas.microsoft.com/office/drawing/2014/main" val="3207823573"/>
                  </a:ext>
                </a:extLst>
              </a:tr>
              <a:tr h="370840">
                <a:tc>
                  <a:txBody>
                    <a:bodyPr/>
                    <a:lstStyle/>
                    <a:p>
                      <a:pPr algn="ctr"/>
                      <a:r>
                        <a:rPr lang="en-US" dirty="0"/>
                        <a:t>% (percent of boundary)</a:t>
                      </a:r>
                    </a:p>
                  </a:txBody>
                  <a:tcPr/>
                </a:tc>
                <a:tc>
                  <a:txBody>
                    <a:bodyPr/>
                    <a:lstStyle/>
                    <a:p>
                      <a:pPr algn="ctr"/>
                      <a:r>
                        <a:rPr lang="en-US" dirty="0"/>
                        <a:t>in = inches (96px)</a:t>
                      </a:r>
                    </a:p>
                  </a:txBody>
                  <a:tcPr/>
                </a:tc>
                <a:extLst>
                  <a:ext uri="{0D108BD9-81ED-4DB2-BD59-A6C34878D82A}">
                    <a16:rowId xmlns:a16="http://schemas.microsoft.com/office/drawing/2014/main" val="499264363"/>
                  </a:ext>
                </a:extLst>
              </a:tr>
              <a:tr h="370840">
                <a:tc>
                  <a:txBody>
                    <a:bodyPr/>
                    <a:lstStyle/>
                    <a:p>
                      <a:pPr algn="ctr"/>
                      <a:r>
                        <a:rPr lang="en-US" dirty="0"/>
                        <a:t>1vh = 1% of window height</a:t>
                      </a:r>
                    </a:p>
                  </a:txBody>
                  <a:tcPr/>
                </a:tc>
                <a:tc>
                  <a:txBody>
                    <a:bodyPr/>
                    <a:lstStyle/>
                    <a:p>
                      <a:pPr algn="ctr"/>
                      <a:r>
                        <a:rPr lang="en-US" dirty="0" err="1"/>
                        <a:t>pt</a:t>
                      </a:r>
                      <a:r>
                        <a:rPr lang="en-US" dirty="0"/>
                        <a:t> = points (1/72 in)</a:t>
                      </a:r>
                    </a:p>
                  </a:txBody>
                  <a:tcPr/>
                </a:tc>
                <a:extLst>
                  <a:ext uri="{0D108BD9-81ED-4DB2-BD59-A6C34878D82A}">
                    <a16:rowId xmlns:a16="http://schemas.microsoft.com/office/drawing/2014/main" val="869489926"/>
                  </a:ext>
                </a:extLst>
              </a:tr>
              <a:tr h="370840">
                <a:tc>
                  <a:txBody>
                    <a:bodyPr/>
                    <a:lstStyle/>
                    <a:p>
                      <a:pPr algn="ctr"/>
                      <a:r>
                        <a:rPr lang="en-US" dirty="0"/>
                        <a:t>1vw = 1% of window width</a:t>
                      </a:r>
                    </a:p>
                  </a:txBody>
                  <a:tcPr/>
                </a:tc>
                <a:tc>
                  <a:txBody>
                    <a:bodyPr/>
                    <a:lstStyle/>
                    <a:p>
                      <a:pPr algn="ctr"/>
                      <a:r>
                        <a:rPr lang="en-US" dirty="0"/>
                        <a:t>pc = picas (12pt)</a:t>
                      </a:r>
                    </a:p>
                  </a:txBody>
                  <a:tcPr/>
                </a:tc>
                <a:extLst>
                  <a:ext uri="{0D108BD9-81ED-4DB2-BD59-A6C34878D82A}">
                    <a16:rowId xmlns:a16="http://schemas.microsoft.com/office/drawing/2014/main" val="2349952172"/>
                  </a:ext>
                </a:extLst>
              </a:tr>
            </a:tbl>
          </a:graphicData>
        </a:graphic>
      </p:graphicFrame>
    </p:spTree>
    <p:extLst>
      <p:ext uri="{BB962C8B-B14F-4D97-AF65-F5344CB8AC3E}">
        <p14:creationId xmlns:p14="http://schemas.microsoft.com/office/powerpoint/2010/main" val="2329135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35F01-E5C4-3C92-F1D7-33FF7DE7E5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7DAF90-FA85-F069-5490-5893F3E63493}"/>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5</a:t>
            </a:fld>
            <a:endParaRPr lang="en-US"/>
          </a:p>
        </p:txBody>
      </p:sp>
      <p:sp>
        <p:nvSpPr>
          <p:cNvPr id="4" name="Google Shape;212;p15">
            <a:extLst>
              <a:ext uri="{FF2B5EF4-FFF2-40B4-BE49-F238E27FC236}">
                <a16:creationId xmlns:a16="http://schemas.microsoft.com/office/drawing/2014/main" id="{A9C34557-DF56-16F1-AE2C-3E658F5C5CCF}"/>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dirty="0">
                <a:solidFill>
                  <a:schemeClr val="dk2"/>
                </a:solidFill>
              </a:rPr>
              <a:t>Intro to CSS</a:t>
            </a:r>
            <a:endParaRPr lang="en-US" sz="4000" b="0" i="0" u="none" strike="noStrike" cap="none" dirty="0">
              <a:solidFill>
                <a:schemeClr val="dk2"/>
              </a:solidFill>
              <a:latin typeface="Arial"/>
              <a:ea typeface="Arial"/>
              <a:cs typeface="Arial"/>
              <a:sym typeface="Arial"/>
            </a:endParaRPr>
          </a:p>
        </p:txBody>
      </p:sp>
      <p:pic>
        <p:nvPicPr>
          <p:cNvPr id="6" name="Picture 5">
            <a:extLst>
              <a:ext uri="{FF2B5EF4-FFF2-40B4-BE49-F238E27FC236}">
                <a16:creationId xmlns:a16="http://schemas.microsoft.com/office/drawing/2014/main" id="{8785CCD2-CA1E-F3C4-C90F-7C2213EBB877}"/>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863166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93011-A615-89C5-2973-27614B76C8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285441-F240-2579-AD92-4EDD77A0A1F1}"/>
              </a:ext>
            </a:extLst>
          </p:cNvPr>
          <p:cNvSpPr>
            <a:spLocks noGrp="1"/>
          </p:cNvSpPr>
          <p:nvPr>
            <p:ph type="title"/>
          </p:nvPr>
        </p:nvSpPr>
        <p:spPr/>
        <p:txBody>
          <a:bodyPr/>
          <a:lstStyle/>
          <a:p>
            <a:r>
              <a:rPr lang="en-US" dirty="0"/>
              <a:t>CSS Intro</a:t>
            </a:r>
          </a:p>
        </p:txBody>
      </p:sp>
      <p:sp>
        <p:nvSpPr>
          <p:cNvPr id="3" name="Content Placeholder 2">
            <a:extLst>
              <a:ext uri="{FF2B5EF4-FFF2-40B4-BE49-F238E27FC236}">
                <a16:creationId xmlns:a16="http://schemas.microsoft.com/office/drawing/2014/main" id="{45E882AD-6DB7-D04D-7FBF-0C2936956042}"/>
              </a:ext>
            </a:extLst>
          </p:cNvPr>
          <p:cNvSpPr>
            <a:spLocks noGrp="1"/>
          </p:cNvSpPr>
          <p:nvPr>
            <p:ph idx="1"/>
          </p:nvPr>
        </p:nvSpPr>
        <p:spPr>
          <a:xfrm>
            <a:off x="380010" y="1481446"/>
            <a:ext cx="8432394" cy="4882266"/>
          </a:xfrm>
        </p:spPr>
        <p:txBody>
          <a:bodyPr>
            <a:normAutofit/>
          </a:bodyPr>
          <a:lstStyle/>
          <a:p>
            <a:r>
              <a:rPr lang="en-US" dirty="0"/>
              <a:t>CSS stands for </a:t>
            </a:r>
            <a:r>
              <a:rPr lang="en-US" b="1" i="1" dirty="0"/>
              <a:t>Cascading Style Sheets</a:t>
            </a:r>
            <a:r>
              <a:rPr lang="en-US" i="1" dirty="0"/>
              <a:t>.</a:t>
            </a:r>
          </a:p>
          <a:p>
            <a:r>
              <a:rPr lang="en-US" dirty="0"/>
              <a:t>It is a language for styling HTML documents by specifying certain </a:t>
            </a:r>
            <a:r>
              <a:rPr lang="en-US" b="1" i="1" dirty="0"/>
              <a:t>CSS rules </a:t>
            </a:r>
            <a:r>
              <a:rPr lang="en-US" dirty="0"/>
              <a:t>for layout and display using key/value pairs.</a:t>
            </a:r>
          </a:p>
          <a:p>
            <a:r>
              <a:rPr lang="en-US" dirty="0"/>
              <a:t>Stylesheets are simple and powerful methods to attach rendering information to HTML documents.</a:t>
            </a:r>
          </a:p>
          <a:p>
            <a:r>
              <a:rPr lang="en-US" dirty="0"/>
              <a:t>CSS is used to style webpages by setting background-color, font color, font size, borders, font family and much more.</a:t>
            </a:r>
          </a:p>
          <a:p>
            <a:pPr lvl="1"/>
            <a:r>
              <a:rPr lang="en-US" dirty="0"/>
              <a:t>These settings are the </a:t>
            </a:r>
            <a:r>
              <a:rPr lang="en-US" b="1" i="1" dirty="0"/>
              <a:t>CSS Properties</a:t>
            </a:r>
          </a:p>
        </p:txBody>
      </p:sp>
      <p:sp>
        <p:nvSpPr>
          <p:cNvPr id="4" name="Slide Number Placeholder 3">
            <a:extLst>
              <a:ext uri="{FF2B5EF4-FFF2-40B4-BE49-F238E27FC236}">
                <a16:creationId xmlns:a16="http://schemas.microsoft.com/office/drawing/2014/main" id="{C31595F8-DAD3-2F8E-D476-C6D5376228A2}"/>
              </a:ext>
            </a:extLst>
          </p:cNvPr>
          <p:cNvSpPr>
            <a:spLocks noGrp="1"/>
          </p:cNvSpPr>
          <p:nvPr>
            <p:ph type="sldNum" sz="quarter" idx="12"/>
          </p:nvPr>
        </p:nvSpPr>
        <p:spPr/>
        <p:txBody>
          <a:bodyPr/>
          <a:lstStyle/>
          <a:p>
            <a:fld id="{F6728BC2-ACA3-447C-A909-F3F49211C066}" type="slidenum">
              <a:rPr lang="en-US" smtClean="0"/>
              <a:pPr/>
              <a:t>6</a:t>
            </a:fld>
            <a:endParaRPr lang="en-US" dirty="0"/>
          </a:p>
        </p:txBody>
      </p:sp>
    </p:spTree>
    <p:extLst>
      <p:ext uri="{BB962C8B-B14F-4D97-AF65-F5344CB8AC3E}">
        <p14:creationId xmlns:p14="http://schemas.microsoft.com/office/powerpoint/2010/main" val="2881528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C7248-A336-EF56-397F-E5ADFD03434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A05A29-92A1-1AF6-392A-6E8036B9E8D3}"/>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7</a:t>
            </a:fld>
            <a:endParaRPr lang="en-US"/>
          </a:p>
        </p:txBody>
      </p:sp>
      <p:sp>
        <p:nvSpPr>
          <p:cNvPr id="4" name="Google Shape;212;p15">
            <a:extLst>
              <a:ext uri="{FF2B5EF4-FFF2-40B4-BE49-F238E27FC236}">
                <a16:creationId xmlns:a16="http://schemas.microsoft.com/office/drawing/2014/main" id="{64A13AD1-B6D7-67FF-F878-9C4161686B6B}"/>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dirty="0">
                <a:solidFill>
                  <a:schemeClr val="dk2"/>
                </a:solidFill>
              </a:rPr>
              <a:t>Stylesheets &amp; Selectors</a:t>
            </a:r>
            <a:endParaRPr lang="en-US" sz="4000" b="0" i="0" u="none" strike="noStrike" cap="none" dirty="0">
              <a:solidFill>
                <a:schemeClr val="dk2"/>
              </a:solidFill>
              <a:latin typeface="Arial"/>
              <a:ea typeface="Arial"/>
              <a:cs typeface="Arial"/>
              <a:sym typeface="Arial"/>
            </a:endParaRPr>
          </a:p>
        </p:txBody>
      </p:sp>
      <p:pic>
        <p:nvPicPr>
          <p:cNvPr id="6" name="Picture 5">
            <a:extLst>
              <a:ext uri="{FF2B5EF4-FFF2-40B4-BE49-F238E27FC236}">
                <a16:creationId xmlns:a16="http://schemas.microsoft.com/office/drawing/2014/main" id="{03B8C379-CA75-3143-137E-AA5CAD7E8BA6}"/>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4151536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A289F-59FC-AF66-AADE-3B4D68268E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28F51-8699-A709-7DAD-B602B7249F4A}"/>
              </a:ext>
            </a:extLst>
          </p:cNvPr>
          <p:cNvSpPr>
            <a:spLocks noGrp="1"/>
          </p:cNvSpPr>
          <p:nvPr>
            <p:ph type="title"/>
          </p:nvPr>
        </p:nvSpPr>
        <p:spPr/>
        <p:txBody>
          <a:bodyPr/>
          <a:lstStyle/>
          <a:p>
            <a:r>
              <a:rPr lang="en-US" dirty="0"/>
              <a:t>Inline Styling</a:t>
            </a:r>
          </a:p>
        </p:txBody>
      </p:sp>
      <p:sp>
        <p:nvSpPr>
          <p:cNvPr id="3" name="Content Placeholder 2">
            <a:extLst>
              <a:ext uri="{FF2B5EF4-FFF2-40B4-BE49-F238E27FC236}">
                <a16:creationId xmlns:a16="http://schemas.microsoft.com/office/drawing/2014/main" id="{EE24DB29-48B3-DC5F-AD96-A7D34DAB3D2C}"/>
              </a:ext>
            </a:extLst>
          </p:cNvPr>
          <p:cNvSpPr>
            <a:spLocks noGrp="1"/>
          </p:cNvSpPr>
          <p:nvPr>
            <p:ph idx="1"/>
          </p:nvPr>
        </p:nvSpPr>
        <p:spPr>
          <a:xfrm>
            <a:off x="380010" y="1481446"/>
            <a:ext cx="4835183" cy="4882266"/>
          </a:xfrm>
        </p:spPr>
        <p:txBody>
          <a:bodyPr>
            <a:normAutofit fontScale="92500" lnSpcReduction="20000"/>
          </a:bodyPr>
          <a:lstStyle/>
          <a:p>
            <a:r>
              <a:rPr lang="en-US" dirty="0"/>
              <a:t>There are three (3) methods in which you can include CSS rules in your HTML document.</a:t>
            </a:r>
          </a:p>
          <a:p>
            <a:r>
              <a:rPr lang="en-US" dirty="0"/>
              <a:t>Inline: CSS rules are contained within the associated HTML tag using the ‘style’ attribute.</a:t>
            </a:r>
          </a:p>
          <a:p>
            <a:r>
              <a:rPr lang="en-US" dirty="0"/>
              <a:t>Inline CSS is inflexible and not re-usable, but will overrule any other CSS styling method, so it can be used for very specific style requirements.</a:t>
            </a:r>
          </a:p>
        </p:txBody>
      </p:sp>
      <p:sp>
        <p:nvSpPr>
          <p:cNvPr id="4" name="Slide Number Placeholder 3">
            <a:extLst>
              <a:ext uri="{FF2B5EF4-FFF2-40B4-BE49-F238E27FC236}">
                <a16:creationId xmlns:a16="http://schemas.microsoft.com/office/drawing/2014/main" id="{1F9C3720-2116-19BA-1293-901254197265}"/>
              </a:ext>
            </a:extLst>
          </p:cNvPr>
          <p:cNvSpPr>
            <a:spLocks noGrp="1"/>
          </p:cNvSpPr>
          <p:nvPr>
            <p:ph type="sldNum" sz="quarter" idx="12"/>
          </p:nvPr>
        </p:nvSpPr>
        <p:spPr/>
        <p:txBody>
          <a:bodyPr/>
          <a:lstStyle/>
          <a:p>
            <a:fld id="{F6728BC2-ACA3-447C-A909-F3F49211C066}" type="slidenum">
              <a:rPr lang="en-US" smtClean="0"/>
              <a:pPr/>
              <a:t>8</a:t>
            </a:fld>
            <a:endParaRPr lang="en-US" dirty="0"/>
          </a:p>
        </p:txBody>
      </p:sp>
      <p:pic>
        <p:nvPicPr>
          <p:cNvPr id="5" name="Picture 2">
            <a:extLst>
              <a:ext uri="{FF2B5EF4-FFF2-40B4-BE49-F238E27FC236}">
                <a16:creationId xmlns:a16="http://schemas.microsoft.com/office/drawing/2014/main" id="{222A865D-85BE-67B5-3475-F7BA178D1A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5193" y="2131879"/>
            <a:ext cx="3769235"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6819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9D1EE-31EB-46A6-CFF6-294A2D605D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477C9-699A-E602-4F81-E218E39DE0F1}"/>
              </a:ext>
            </a:extLst>
          </p:cNvPr>
          <p:cNvSpPr>
            <a:spLocks noGrp="1"/>
          </p:cNvSpPr>
          <p:nvPr>
            <p:ph type="title"/>
          </p:nvPr>
        </p:nvSpPr>
        <p:spPr/>
        <p:txBody>
          <a:bodyPr/>
          <a:lstStyle/>
          <a:p>
            <a:r>
              <a:rPr lang="en-US" dirty="0"/>
              <a:t>Internal Stylesheets</a:t>
            </a:r>
          </a:p>
        </p:txBody>
      </p:sp>
      <p:sp>
        <p:nvSpPr>
          <p:cNvPr id="3" name="Content Placeholder 2">
            <a:extLst>
              <a:ext uri="{FF2B5EF4-FFF2-40B4-BE49-F238E27FC236}">
                <a16:creationId xmlns:a16="http://schemas.microsoft.com/office/drawing/2014/main" id="{5D2E5F9A-6220-667E-E002-01D26ED1E175}"/>
              </a:ext>
            </a:extLst>
          </p:cNvPr>
          <p:cNvSpPr>
            <a:spLocks noGrp="1"/>
          </p:cNvSpPr>
          <p:nvPr>
            <p:ph idx="1"/>
          </p:nvPr>
        </p:nvSpPr>
        <p:spPr>
          <a:xfrm>
            <a:off x="380010" y="1481445"/>
            <a:ext cx="5046100" cy="5247391"/>
          </a:xfrm>
        </p:spPr>
        <p:txBody>
          <a:bodyPr>
            <a:normAutofit fontScale="85000" lnSpcReduction="20000"/>
          </a:bodyPr>
          <a:lstStyle/>
          <a:p>
            <a:r>
              <a:rPr lang="en-US" dirty="0"/>
              <a:t>Internal/Embedded stylesheets are styling rules which are contained in the </a:t>
            </a:r>
            <a:r>
              <a:rPr lang="en-US" i="1" dirty="0"/>
              <a:t>head</a:t>
            </a:r>
            <a:r>
              <a:rPr lang="en-US" dirty="0"/>
              <a:t> section of your HTML file.</a:t>
            </a:r>
          </a:p>
          <a:p>
            <a:r>
              <a:rPr lang="en-US" dirty="0"/>
              <a:t>Internal stylesheets require the use of CSS selectors to determine which element(s) the rules apply to.</a:t>
            </a:r>
          </a:p>
          <a:p>
            <a:r>
              <a:rPr lang="en-US" dirty="0"/>
              <a:t>Internal Stylesheets are more manageable (you do not need to duplicate the same styles for multiple elements), but they are still not reusable.</a:t>
            </a:r>
          </a:p>
          <a:p>
            <a:r>
              <a:rPr lang="en-US" dirty="0"/>
              <a:t>These can be used when there are </a:t>
            </a:r>
            <a:r>
              <a:rPr lang="en-US" b="1" dirty="0"/>
              <a:t>unique styling rules for a single HTML document</a:t>
            </a:r>
            <a:r>
              <a:rPr lang="en-US" dirty="0"/>
              <a:t>.</a:t>
            </a:r>
          </a:p>
        </p:txBody>
      </p:sp>
      <p:sp>
        <p:nvSpPr>
          <p:cNvPr id="4" name="Slide Number Placeholder 3">
            <a:extLst>
              <a:ext uri="{FF2B5EF4-FFF2-40B4-BE49-F238E27FC236}">
                <a16:creationId xmlns:a16="http://schemas.microsoft.com/office/drawing/2014/main" id="{49E8C059-9F2D-6AC8-F5CC-ED1327A62EFC}"/>
              </a:ext>
            </a:extLst>
          </p:cNvPr>
          <p:cNvSpPr>
            <a:spLocks noGrp="1"/>
          </p:cNvSpPr>
          <p:nvPr>
            <p:ph type="sldNum" sz="quarter" idx="12"/>
          </p:nvPr>
        </p:nvSpPr>
        <p:spPr/>
        <p:txBody>
          <a:bodyPr/>
          <a:lstStyle/>
          <a:p>
            <a:fld id="{F6728BC2-ACA3-447C-A909-F3F49211C066}" type="slidenum">
              <a:rPr lang="en-US" smtClean="0"/>
              <a:pPr/>
              <a:t>9</a:t>
            </a:fld>
            <a:endParaRPr lang="en-US" dirty="0"/>
          </a:p>
        </p:txBody>
      </p:sp>
      <p:pic>
        <p:nvPicPr>
          <p:cNvPr id="6" name="Picture 3">
            <a:extLst>
              <a:ext uri="{FF2B5EF4-FFF2-40B4-BE49-F238E27FC236}">
                <a16:creationId xmlns:a16="http://schemas.microsoft.com/office/drawing/2014/main" id="{7D270F9B-E430-BB22-537A-02A485C60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4795" y="4948225"/>
            <a:ext cx="3489205" cy="1866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a:extLst>
              <a:ext uri="{FF2B5EF4-FFF2-40B4-BE49-F238E27FC236}">
                <a16:creationId xmlns:a16="http://schemas.microsoft.com/office/drawing/2014/main" id="{1319B2CC-A96A-BB39-0356-2C6746F34B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2617" y="1367488"/>
            <a:ext cx="3211373" cy="3580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213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DE32D-240E-0421-598B-C648951367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88165C-0183-5477-BAE3-69B8197312F6}"/>
              </a:ext>
            </a:extLst>
          </p:cNvPr>
          <p:cNvSpPr>
            <a:spLocks noGrp="1"/>
          </p:cNvSpPr>
          <p:nvPr>
            <p:ph type="title"/>
          </p:nvPr>
        </p:nvSpPr>
        <p:spPr/>
        <p:txBody>
          <a:bodyPr/>
          <a:lstStyle/>
          <a:p>
            <a:r>
              <a:rPr lang="en-US" dirty="0"/>
              <a:t>External Stylesheets</a:t>
            </a:r>
          </a:p>
        </p:txBody>
      </p:sp>
      <p:sp>
        <p:nvSpPr>
          <p:cNvPr id="3" name="Content Placeholder 2">
            <a:extLst>
              <a:ext uri="{FF2B5EF4-FFF2-40B4-BE49-F238E27FC236}">
                <a16:creationId xmlns:a16="http://schemas.microsoft.com/office/drawing/2014/main" id="{53FAC7A0-8106-2460-5399-2064E15F5B3C}"/>
              </a:ext>
            </a:extLst>
          </p:cNvPr>
          <p:cNvSpPr>
            <a:spLocks noGrp="1"/>
          </p:cNvSpPr>
          <p:nvPr>
            <p:ph idx="1"/>
          </p:nvPr>
        </p:nvSpPr>
        <p:spPr>
          <a:xfrm>
            <a:off x="380010" y="1481445"/>
            <a:ext cx="8201282" cy="5247391"/>
          </a:xfrm>
        </p:spPr>
        <p:txBody>
          <a:bodyPr>
            <a:normAutofit fontScale="92500" lnSpcReduction="20000"/>
          </a:bodyPr>
          <a:lstStyle/>
          <a:p>
            <a:r>
              <a:rPr lang="en-US" dirty="0"/>
              <a:t>External Stylesheets are separate files using the ‘.</a:t>
            </a:r>
            <a:r>
              <a:rPr lang="en-US" dirty="0" err="1"/>
              <a:t>cs’</a:t>
            </a:r>
            <a:r>
              <a:rPr lang="en-US" dirty="0"/>
              <a:t> or ‘.</a:t>
            </a:r>
            <a:r>
              <a:rPr lang="en-US" dirty="0" err="1"/>
              <a:t>css</a:t>
            </a:r>
            <a:r>
              <a:rPr lang="en-US" dirty="0"/>
              <a:t>’ extension, which contain only styling rules.</a:t>
            </a:r>
          </a:p>
          <a:p>
            <a:r>
              <a:rPr lang="en-US" dirty="0"/>
              <a:t>Like internal stylesheets, external stylesheets require the use of CSS selectors.</a:t>
            </a:r>
          </a:p>
          <a:p>
            <a:r>
              <a:rPr lang="en-US" dirty="0"/>
              <a:t>External stylesheets are the standard method when styling webpages. The styles can be re-used across multiple HTML documents, offering consistency, maintainability and modularity.</a:t>
            </a:r>
          </a:p>
          <a:p>
            <a:r>
              <a:rPr lang="en-US" dirty="0"/>
              <a:t>An external stylesheet is referenced within an HTML document using the &lt;link&gt; element with a ‘</a:t>
            </a:r>
            <a:r>
              <a:rPr lang="en-US" dirty="0" err="1"/>
              <a:t>rel</a:t>
            </a:r>
            <a:r>
              <a:rPr lang="en-US" dirty="0"/>
              <a:t>’ (relationship) and ‘</a:t>
            </a:r>
            <a:r>
              <a:rPr lang="en-US" dirty="0" err="1"/>
              <a:t>href</a:t>
            </a:r>
            <a:r>
              <a:rPr lang="en-US" dirty="0"/>
              <a:t>’ attributes.</a:t>
            </a:r>
          </a:p>
          <a:p>
            <a:pPr lvl="1"/>
            <a:r>
              <a:rPr lang="en-US" dirty="0"/>
              <a:t>The value of </a:t>
            </a:r>
            <a:r>
              <a:rPr lang="en-US" i="1" dirty="0" err="1"/>
              <a:t>rel</a:t>
            </a:r>
            <a:r>
              <a:rPr lang="en-US" i="1" dirty="0"/>
              <a:t> </a:t>
            </a:r>
            <a:r>
              <a:rPr lang="en-US" dirty="0"/>
              <a:t>should be ‘stylesheet’</a:t>
            </a:r>
          </a:p>
          <a:p>
            <a:pPr lvl="1"/>
            <a:r>
              <a:rPr lang="en-US" dirty="0"/>
              <a:t>The value of </a:t>
            </a:r>
            <a:r>
              <a:rPr lang="en-US" i="1" dirty="0" err="1"/>
              <a:t>href</a:t>
            </a:r>
            <a:r>
              <a:rPr lang="en-US" i="1" dirty="0"/>
              <a:t> </a:t>
            </a:r>
            <a:r>
              <a:rPr lang="en-US" dirty="0"/>
              <a:t>should be a </a:t>
            </a:r>
            <a:r>
              <a:rPr lang="en-US" dirty="0" err="1"/>
              <a:t>url</a:t>
            </a:r>
            <a:r>
              <a:rPr lang="en-US" dirty="0"/>
              <a:t>/path to the stylesheet file.</a:t>
            </a:r>
          </a:p>
        </p:txBody>
      </p:sp>
      <p:sp>
        <p:nvSpPr>
          <p:cNvPr id="4" name="Slide Number Placeholder 3">
            <a:extLst>
              <a:ext uri="{FF2B5EF4-FFF2-40B4-BE49-F238E27FC236}">
                <a16:creationId xmlns:a16="http://schemas.microsoft.com/office/drawing/2014/main" id="{B6317969-43E4-E0B6-353D-50C7467A3D0B}"/>
              </a:ext>
            </a:extLst>
          </p:cNvPr>
          <p:cNvSpPr>
            <a:spLocks noGrp="1"/>
          </p:cNvSpPr>
          <p:nvPr>
            <p:ph type="sldNum" sz="quarter" idx="12"/>
          </p:nvPr>
        </p:nvSpPr>
        <p:spPr/>
        <p:txBody>
          <a:bodyPr/>
          <a:lstStyle/>
          <a:p>
            <a:fld id="{F6728BC2-ACA3-447C-A909-F3F49211C066}" type="slidenum">
              <a:rPr lang="en-US" smtClean="0"/>
              <a:pPr/>
              <a:t>10</a:t>
            </a:fld>
            <a:endParaRPr lang="en-US" dirty="0"/>
          </a:p>
        </p:txBody>
      </p:sp>
    </p:spTree>
    <p:extLst>
      <p:ext uri="{BB962C8B-B14F-4D97-AF65-F5344CB8AC3E}">
        <p14:creationId xmlns:p14="http://schemas.microsoft.com/office/powerpoint/2010/main" val="2393700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B7136-38F6-953F-7969-2CA0EBFC02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244B66-700A-AAF1-3E60-1D30FE9B5F20}"/>
              </a:ext>
            </a:extLst>
          </p:cNvPr>
          <p:cNvSpPr>
            <a:spLocks noGrp="1"/>
          </p:cNvSpPr>
          <p:nvPr>
            <p:ph type="title"/>
          </p:nvPr>
        </p:nvSpPr>
        <p:spPr/>
        <p:txBody>
          <a:bodyPr/>
          <a:lstStyle/>
          <a:p>
            <a:r>
              <a:rPr lang="en-US" dirty="0"/>
              <a:t>External Stylesheets</a:t>
            </a:r>
          </a:p>
        </p:txBody>
      </p:sp>
      <p:sp>
        <p:nvSpPr>
          <p:cNvPr id="4" name="Slide Number Placeholder 3">
            <a:extLst>
              <a:ext uri="{FF2B5EF4-FFF2-40B4-BE49-F238E27FC236}">
                <a16:creationId xmlns:a16="http://schemas.microsoft.com/office/drawing/2014/main" id="{CB6A9E0F-8E75-0172-94D3-F8334E6AE223}"/>
              </a:ext>
            </a:extLst>
          </p:cNvPr>
          <p:cNvSpPr>
            <a:spLocks noGrp="1"/>
          </p:cNvSpPr>
          <p:nvPr>
            <p:ph type="sldNum" sz="quarter" idx="12"/>
          </p:nvPr>
        </p:nvSpPr>
        <p:spPr/>
        <p:txBody>
          <a:bodyPr/>
          <a:lstStyle/>
          <a:p>
            <a:fld id="{F6728BC2-ACA3-447C-A909-F3F49211C066}" type="slidenum">
              <a:rPr lang="en-US" smtClean="0"/>
              <a:pPr/>
              <a:t>11</a:t>
            </a:fld>
            <a:endParaRPr lang="en-US" dirty="0"/>
          </a:p>
        </p:txBody>
      </p:sp>
      <p:pic>
        <p:nvPicPr>
          <p:cNvPr id="5" name="Picture 2">
            <a:extLst>
              <a:ext uri="{FF2B5EF4-FFF2-40B4-BE49-F238E27FC236}">
                <a16:creationId xmlns:a16="http://schemas.microsoft.com/office/drawing/2014/main" id="{7DF21E5E-B55F-2FA9-630E-1836161FC9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650" y="2485151"/>
            <a:ext cx="3327206" cy="329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a:extLst>
              <a:ext uri="{FF2B5EF4-FFF2-40B4-BE49-F238E27FC236}">
                <a16:creationId xmlns:a16="http://schemas.microsoft.com/office/drawing/2014/main" id="{68834071-9CBB-D6A2-90CF-AE3398135A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3548" y="2485151"/>
            <a:ext cx="3658802" cy="3292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a:extLst>
              <a:ext uri="{FF2B5EF4-FFF2-40B4-BE49-F238E27FC236}">
                <a16:creationId xmlns:a16="http://schemas.microsoft.com/office/drawing/2014/main" id="{4D9B013F-538C-F215-CFE4-A91D76525D21}"/>
              </a:ext>
            </a:extLst>
          </p:cNvPr>
          <p:cNvSpPr txBox="1"/>
          <p:nvPr/>
        </p:nvSpPr>
        <p:spPr>
          <a:xfrm>
            <a:off x="1540955" y="2115819"/>
            <a:ext cx="1428596" cy="369332"/>
          </a:xfrm>
          <a:prstGeom prst="rect">
            <a:avLst/>
          </a:prstGeom>
          <a:noFill/>
        </p:spPr>
        <p:txBody>
          <a:bodyPr wrap="none" rtlCol="0">
            <a:spAutoFit/>
          </a:bodyPr>
          <a:lstStyle/>
          <a:p>
            <a:r>
              <a:rPr lang="en-US" dirty="0"/>
              <a:t>style.css file</a:t>
            </a:r>
          </a:p>
        </p:txBody>
      </p:sp>
      <p:sp>
        <p:nvSpPr>
          <p:cNvPr id="10" name="TextBox 9">
            <a:extLst>
              <a:ext uri="{FF2B5EF4-FFF2-40B4-BE49-F238E27FC236}">
                <a16:creationId xmlns:a16="http://schemas.microsoft.com/office/drawing/2014/main" id="{6ECD60F8-1411-3A93-001F-CFBCE50BE732}"/>
              </a:ext>
            </a:extLst>
          </p:cNvPr>
          <p:cNvSpPr txBox="1"/>
          <p:nvPr/>
        </p:nvSpPr>
        <p:spPr>
          <a:xfrm>
            <a:off x="5925294" y="2115819"/>
            <a:ext cx="1595309" cy="369332"/>
          </a:xfrm>
          <a:prstGeom prst="rect">
            <a:avLst/>
          </a:prstGeom>
          <a:noFill/>
        </p:spPr>
        <p:txBody>
          <a:bodyPr wrap="none" rtlCol="0">
            <a:spAutoFit/>
          </a:bodyPr>
          <a:lstStyle/>
          <a:p>
            <a:r>
              <a:rPr lang="en-US" dirty="0"/>
              <a:t>index.html file</a:t>
            </a:r>
          </a:p>
        </p:txBody>
      </p:sp>
    </p:spTree>
    <p:extLst>
      <p:ext uri="{BB962C8B-B14F-4D97-AF65-F5344CB8AC3E}">
        <p14:creationId xmlns:p14="http://schemas.microsoft.com/office/powerpoint/2010/main" val="3081025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1D8E0-0B36-4448-8288-4B7E79DDF0C1}"/>
              </a:ext>
            </a:extLst>
          </p:cNvPr>
          <p:cNvSpPr>
            <a:spLocks noGrp="1"/>
          </p:cNvSpPr>
          <p:nvPr>
            <p:ph type="title"/>
          </p:nvPr>
        </p:nvSpPr>
        <p:spPr/>
        <p:txBody>
          <a:bodyPr/>
          <a:lstStyle/>
          <a:p>
            <a:r>
              <a:rPr lang="en-US" dirty="0"/>
              <a:t>CSS Selectors: Elements</a:t>
            </a:r>
          </a:p>
        </p:txBody>
      </p:sp>
      <p:sp>
        <p:nvSpPr>
          <p:cNvPr id="3" name="Content Placeholder 2">
            <a:extLst>
              <a:ext uri="{FF2B5EF4-FFF2-40B4-BE49-F238E27FC236}">
                <a16:creationId xmlns:a16="http://schemas.microsoft.com/office/drawing/2014/main" id="{B1AD4661-3FD5-411D-9949-2B980D48639F}"/>
              </a:ext>
            </a:extLst>
          </p:cNvPr>
          <p:cNvSpPr>
            <a:spLocks noGrp="1"/>
          </p:cNvSpPr>
          <p:nvPr>
            <p:ph idx="1"/>
          </p:nvPr>
        </p:nvSpPr>
        <p:spPr>
          <a:xfrm>
            <a:off x="380010" y="1481447"/>
            <a:ext cx="8383980" cy="1173866"/>
          </a:xfrm>
        </p:spPr>
        <p:txBody>
          <a:bodyPr>
            <a:normAutofit fontScale="92500" lnSpcReduction="20000"/>
          </a:bodyPr>
          <a:lstStyle/>
          <a:p>
            <a:r>
              <a:rPr lang="en-US" dirty="0"/>
              <a:t>CSS selectors “select”.</a:t>
            </a:r>
          </a:p>
          <a:p>
            <a:r>
              <a:rPr lang="en-US" dirty="0"/>
              <a:t>They are used to determine on which elements your styling should apply</a:t>
            </a:r>
          </a:p>
          <a:p>
            <a:endParaRPr lang="en-US" dirty="0"/>
          </a:p>
        </p:txBody>
      </p:sp>
      <p:sp>
        <p:nvSpPr>
          <p:cNvPr id="4" name="Slide Number Placeholder 3">
            <a:extLst>
              <a:ext uri="{FF2B5EF4-FFF2-40B4-BE49-F238E27FC236}">
                <a16:creationId xmlns:a16="http://schemas.microsoft.com/office/drawing/2014/main" id="{168941FA-D943-4F16-AABC-CAC8E9F425E1}"/>
              </a:ext>
            </a:extLst>
          </p:cNvPr>
          <p:cNvSpPr>
            <a:spLocks noGrp="1"/>
          </p:cNvSpPr>
          <p:nvPr>
            <p:ph type="sldNum" sz="quarter" idx="12"/>
          </p:nvPr>
        </p:nvSpPr>
        <p:spPr/>
        <p:txBody>
          <a:bodyPr/>
          <a:lstStyle/>
          <a:p>
            <a:fld id="{F6728BC2-ACA3-447C-A909-F3F49211C066}" type="slidenum">
              <a:rPr lang="en-US" smtClean="0"/>
              <a:pPr/>
              <a:t>12</a:t>
            </a:fld>
            <a:endParaRPr lang="en-US" dirty="0"/>
          </a:p>
        </p:txBody>
      </p:sp>
      <p:graphicFrame>
        <p:nvGraphicFramePr>
          <p:cNvPr id="5" name="Table 4">
            <a:extLst>
              <a:ext uri="{FF2B5EF4-FFF2-40B4-BE49-F238E27FC236}">
                <a16:creationId xmlns:a16="http://schemas.microsoft.com/office/drawing/2014/main" id="{0A85CDE2-C8C4-4B2F-A620-831920559B2E}"/>
              </a:ext>
            </a:extLst>
          </p:cNvPr>
          <p:cNvGraphicFramePr>
            <a:graphicFrameLocks noGrp="1"/>
          </p:cNvGraphicFramePr>
          <p:nvPr>
            <p:extLst>
              <p:ext uri="{D42A27DB-BD31-4B8C-83A1-F6EECF244321}">
                <p14:modId xmlns:p14="http://schemas.microsoft.com/office/powerpoint/2010/main" val="53721295"/>
              </p:ext>
            </p:extLst>
          </p:nvPr>
        </p:nvGraphicFramePr>
        <p:xfrm>
          <a:off x="833284" y="2810277"/>
          <a:ext cx="7477431" cy="3708400"/>
        </p:xfrm>
        <a:graphic>
          <a:graphicData uri="http://schemas.openxmlformats.org/drawingml/2006/table">
            <a:tbl>
              <a:tblPr firstRow="1" bandRow="1">
                <a:tableStyleId>{5C22544A-7EE6-4342-B048-85BDC9FD1C3A}</a:tableStyleId>
              </a:tblPr>
              <a:tblGrid>
                <a:gridCol w="1531668">
                  <a:extLst>
                    <a:ext uri="{9D8B030D-6E8A-4147-A177-3AD203B41FA5}">
                      <a16:colId xmlns:a16="http://schemas.microsoft.com/office/drawing/2014/main" val="2609031368"/>
                    </a:ext>
                  </a:extLst>
                </a:gridCol>
                <a:gridCol w="5945763">
                  <a:extLst>
                    <a:ext uri="{9D8B030D-6E8A-4147-A177-3AD203B41FA5}">
                      <a16:colId xmlns:a16="http://schemas.microsoft.com/office/drawing/2014/main" val="1047527874"/>
                    </a:ext>
                  </a:extLst>
                </a:gridCol>
              </a:tblGrid>
              <a:tr h="370840">
                <a:tc>
                  <a:txBody>
                    <a:bodyPr/>
                    <a:lstStyle/>
                    <a:p>
                      <a:pPr algn="ctr"/>
                      <a:r>
                        <a:rPr lang="en-US" dirty="0"/>
                        <a:t>Selector</a:t>
                      </a:r>
                    </a:p>
                  </a:txBody>
                  <a:tcPr/>
                </a:tc>
                <a:tc>
                  <a:txBody>
                    <a:bodyPr/>
                    <a:lstStyle/>
                    <a:p>
                      <a:pPr algn="ctr"/>
                      <a:r>
                        <a:rPr lang="en-US" dirty="0"/>
                        <a:t>Description</a:t>
                      </a:r>
                    </a:p>
                  </a:txBody>
                  <a:tcPr/>
                </a:tc>
                <a:extLst>
                  <a:ext uri="{0D108BD9-81ED-4DB2-BD59-A6C34878D82A}">
                    <a16:rowId xmlns:a16="http://schemas.microsoft.com/office/drawing/2014/main" val="3558295839"/>
                  </a:ext>
                </a:extLst>
              </a:tr>
              <a:tr h="370840">
                <a:tc>
                  <a:txBody>
                    <a:bodyPr/>
                    <a:lstStyle/>
                    <a:p>
                      <a:pPr algn="ctr"/>
                      <a:r>
                        <a:rPr lang="en-US" dirty="0">
                          <a:latin typeface="Courier New" panose="02070309020205020404" pitchFamily="49" charset="0"/>
                          <a:cs typeface="Courier New" panose="02070309020205020404" pitchFamily="49" charset="0"/>
                        </a:rPr>
                        <a:t>*</a:t>
                      </a:r>
                    </a:p>
                  </a:txBody>
                  <a:tcPr/>
                </a:tc>
                <a:tc>
                  <a:txBody>
                    <a:bodyPr/>
                    <a:lstStyle/>
                    <a:p>
                      <a:r>
                        <a:rPr lang="en-US" dirty="0"/>
                        <a:t>All elements</a:t>
                      </a:r>
                    </a:p>
                  </a:txBody>
                  <a:tcPr/>
                </a:tc>
                <a:extLst>
                  <a:ext uri="{0D108BD9-81ED-4DB2-BD59-A6C34878D82A}">
                    <a16:rowId xmlns:a16="http://schemas.microsoft.com/office/drawing/2014/main" val="1665973507"/>
                  </a:ext>
                </a:extLst>
              </a:tr>
              <a:tr h="370840">
                <a:tc>
                  <a:txBody>
                    <a:bodyPr/>
                    <a:lstStyle/>
                    <a:p>
                      <a:pPr algn="ctr"/>
                      <a:r>
                        <a:rPr lang="en-US" dirty="0">
                          <a:latin typeface="Courier New" panose="02070309020205020404" pitchFamily="49" charset="0"/>
                          <a:cs typeface="Courier New" panose="02070309020205020404" pitchFamily="49" charset="0"/>
                        </a:rPr>
                        <a:t>x</a:t>
                      </a:r>
                    </a:p>
                  </a:txBody>
                  <a:tcPr/>
                </a:tc>
                <a:tc>
                  <a:txBody>
                    <a:bodyPr/>
                    <a:lstStyle/>
                    <a:p>
                      <a:r>
                        <a:rPr lang="en-US" dirty="0"/>
                        <a:t>All &lt;x&gt; elements</a:t>
                      </a:r>
                    </a:p>
                  </a:txBody>
                  <a:tcPr/>
                </a:tc>
                <a:extLst>
                  <a:ext uri="{0D108BD9-81ED-4DB2-BD59-A6C34878D82A}">
                    <a16:rowId xmlns:a16="http://schemas.microsoft.com/office/drawing/2014/main" val="2640191210"/>
                  </a:ext>
                </a:extLst>
              </a:tr>
              <a:tr h="370840">
                <a:tc>
                  <a:txBody>
                    <a:bodyPr/>
                    <a:lstStyle/>
                    <a:p>
                      <a:pPr algn="ctr"/>
                      <a:r>
                        <a:rPr lang="en-US" dirty="0">
                          <a:latin typeface="Courier New" panose="02070309020205020404" pitchFamily="49" charset="0"/>
                          <a:cs typeface="Courier New" panose="02070309020205020404" pitchFamily="49" charset="0"/>
                        </a:rPr>
                        <a:t>.x</a:t>
                      </a:r>
                    </a:p>
                  </a:txBody>
                  <a:tcPr/>
                </a:tc>
                <a:tc>
                  <a:txBody>
                    <a:bodyPr/>
                    <a:lstStyle/>
                    <a:p>
                      <a:r>
                        <a:rPr lang="en-US" dirty="0"/>
                        <a:t>All elements where class=“x”</a:t>
                      </a:r>
                    </a:p>
                  </a:txBody>
                  <a:tcPr/>
                </a:tc>
                <a:extLst>
                  <a:ext uri="{0D108BD9-81ED-4DB2-BD59-A6C34878D82A}">
                    <a16:rowId xmlns:a16="http://schemas.microsoft.com/office/drawing/2014/main" val="1777324368"/>
                  </a:ext>
                </a:extLst>
              </a:tr>
              <a:tr h="370840">
                <a:tc>
                  <a:txBody>
                    <a:bodyPr/>
                    <a:lstStyle/>
                    <a:p>
                      <a:pPr algn="ctr"/>
                      <a:r>
                        <a:rPr lang="en-US" dirty="0">
                          <a:latin typeface="Courier New" panose="02070309020205020404" pitchFamily="49" charset="0"/>
                          <a:cs typeface="Courier New" panose="02070309020205020404" pitchFamily="49" charset="0"/>
                        </a:rPr>
                        <a:t>#x</a:t>
                      </a:r>
                    </a:p>
                  </a:txBody>
                  <a:tcPr/>
                </a:tc>
                <a:tc>
                  <a:txBody>
                    <a:bodyPr/>
                    <a:lstStyle/>
                    <a:p>
                      <a:r>
                        <a:rPr lang="en-US" dirty="0"/>
                        <a:t>All elements with the id=“x”</a:t>
                      </a:r>
                    </a:p>
                  </a:txBody>
                  <a:tcPr/>
                </a:tc>
                <a:extLst>
                  <a:ext uri="{0D108BD9-81ED-4DB2-BD59-A6C34878D82A}">
                    <a16:rowId xmlns:a16="http://schemas.microsoft.com/office/drawing/2014/main" val="3497124175"/>
                  </a:ext>
                </a:extLst>
              </a:tr>
              <a:tr h="370840">
                <a:tc>
                  <a:txBody>
                    <a:bodyPr/>
                    <a:lstStyle/>
                    <a:p>
                      <a:pPr algn="ctr"/>
                      <a:r>
                        <a:rPr lang="en-US" dirty="0">
                          <a:latin typeface="Courier New" panose="02070309020205020404" pitchFamily="49" charset="0"/>
                          <a:cs typeface="Courier New" panose="02070309020205020404" pitchFamily="49" charset="0"/>
                        </a:rPr>
                        <a:t>x, y</a:t>
                      </a:r>
                    </a:p>
                  </a:txBody>
                  <a:tcPr/>
                </a:tc>
                <a:tc>
                  <a:txBody>
                    <a:bodyPr/>
                    <a:lstStyle/>
                    <a:p>
                      <a:r>
                        <a:rPr lang="en-US" dirty="0"/>
                        <a:t>All &lt;x&gt; and &lt;y&gt; elements</a:t>
                      </a:r>
                    </a:p>
                  </a:txBody>
                  <a:tcPr/>
                </a:tc>
                <a:extLst>
                  <a:ext uri="{0D108BD9-81ED-4DB2-BD59-A6C34878D82A}">
                    <a16:rowId xmlns:a16="http://schemas.microsoft.com/office/drawing/2014/main" val="925245695"/>
                  </a:ext>
                </a:extLst>
              </a:tr>
              <a:tr h="370840">
                <a:tc>
                  <a:txBody>
                    <a:bodyPr/>
                    <a:lstStyle/>
                    <a:p>
                      <a:pPr algn="ctr"/>
                      <a:r>
                        <a:rPr lang="en-US" dirty="0">
                          <a:latin typeface="Courier New" panose="02070309020205020404" pitchFamily="49" charset="0"/>
                          <a:cs typeface="Courier New" panose="02070309020205020404" pitchFamily="49" charset="0"/>
                        </a:rPr>
                        <a:t>x y</a:t>
                      </a:r>
                    </a:p>
                  </a:txBody>
                  <a:tcPr/>
                </a:tc>
                <a:tc>
                  <a:txBody>
                    <a:bodyPr/>
                    <a:lstStyle/>
                    <a:p>
                      <a:r>
                        <a:rPr lang="en-US" dirty="0"/>
                        <a:t>All &lt;y&gt; elements nested in an &lt;x&gt; element</a:t>
                      </a:r>
                    </a:p>
                  </a:txBody>
                  <a:tcPr/>
                </a:tc>
                <a:extLst>
                  <a:ext uri="{0D108BD9-81ED-4DB2-BD59-A6C34878D82A}">
                    <a16:rowId xmlns:a16="http://schemas.microsoft.com/office/drawing/2014/main" val="4203617607"/>
                  </a:ext>
                </a:extLst>
              </a:tr>
              <a:tr h="370840">
                <a:tc>
                  <a:txBody>
                    <a:bodyPr/>
                    <a:lstStyle/>
                    <a:p>
                      <a:pPr algn="ctr"/>
                      <a:r>
                        <a:rPr lang="en-US" dirty="0">
                          <a:latin typeface="Courier New" panose="02070309020205020404" pitchFamily="49" charset="0"/>
                          <a:cs typeface="Courier New" panose="02070309020205020404" pitchFamily="49" charset="0"/>
                        </a:rPr>
                        <a:t>x&gt;y</a:t>
                      </a:r>
                    </a:p>
                  </a:txBody>
                  <a:tcPr/>
                </a:tc>
                <a:tc>
                  <a:txBody>
                    <a:bodyPr/>
                    <a:lstStyle/>
                    <a:p>
                      <a:r>
                        <a:rPr lang="en-US" dirty="0"/>
                        <a:t>All &lt;y&gt; elements where &lt;x&gt; is the immediate parent</a:t>
                      </a:r>
                    </a:p>
                  </a:txBody>
                  <a:tcPr/>
                </a:tc>
                <a:extLst>
                  <a:ext uri="{0D108BD9-81ED-4DB2-BD59-A6C34878D82A}">
                    <a16:rowId xmlns:a16="http://schemas.microsoft.com/office/drawing/2014/main" val="2965594618"/>
                  </a:ext>
                </a:extLst>
              </a:tr>
              <a:tr h="370840">
                <a:tc>
                  <a:txBody>
                    <a:bodyPr/>
                    <a:lstStyle/>
                    <a:p>
                      <a:pPr algn="ctr"/>
                      <a:r>
                        <a:rPr lang="en-US" dirty="0" err="1">
                          <a:latin typeface="Courier New" panose="02070309020205020404" pitchFamily="49" charset="0"/>
                          <a:cs typeface="Courier New" panose="02070309020205020404" pitchFamily="49" charset="0"/>
                        </a:rPr>
                        <a:t>x+y</a:t>
                      </a:r>
                      <a:endParaRPr lang="en-US" dirty="0">
                        <a:latin typeface="Courier New" panose="02070309020205020404" pitchFamily="49" charset="0"/>
                        <a:cs typeface="Courier New" panose="02070309020205020404" pitchFamily="49" charset="0"/>
                      </a:endParaRPr>
                    </a:p>
                  </a:txBody>
                  <a:tcPr/>
                </a:tc>
                <a:tc>
                  <a:txBody>
                    <a:bodyPr/>
                    <a:lstStyle/>
                    <a:p>
                      <a:r>
                        <a:rPr lang="en-US" dirty="0"/>
                        <a:t>All &lt;y&gt; elements immediately after a sibling &lt;x&gt; element</a:t>
                      </a:r>
                    </a:p>
                  </a:txBody>
                  <a:tcPr/>
                </a:tc>
                <a:extLst>
                  <a:ext uri="{0D108BD9-81ED-4DB2-BD59-A6C34878D82A}">
                    <a16:rowId xmlns:a16="http://schemas.microsoft.com/office/drawing/2014/main" val="164475705"/>
                  </a:ext>
                </a:extLst>
              </a:tr>
              <a:tr h="370840">
                <a:tc>
                  <a:txBody>
                    <a:bodyPr/>
                    <a:lstStyle/>
                    <a:p>
                      <a:pPr algn="ctr"/>
                      <a:r>
                        <a:rPr lang="en-US" dirty="0" err="1">
                          <a:latin typeface="Courier New" panose="02070309020205020404" pitchFamily="49" charset="0"/>
                          <a:cs typeface="Courier New" panose="02070309020205020404" pitchFamily="49" charset="0"/>
                        </a:rPr>
                        <a:t>x~y</a:t>
                      </a:r>
                      <a:endParaRPr lang="en-US" dirty="0">
                        <a:latin typeface="Courier New" panose="02070309020205020404" pitchFamily="49" charset="0"/>
                        <a:cs typeface="Courier New" panose="02070309020205020404" pitchFamily="49" charset="0"/>
                      </a:endParaRPr>
                    </a:p>
                  </a:txBody>
                  <a:tcPr/>
                </a:tc>
                <a:tc>
                  <a:txBody>
                    <a:bodyPr/>
                    <a:lstStyle/>
                    <a:p>
                      <a:r>
                        <a:rPr lang="en-US" dirty="0"/>
                        <a:t>All &lt;y&gt; elements after a sibling &lt;x&gt; element</a:t>
                      </a:r>
                    </a:p>
                  </a:txBody>
                  <a:tcPr/>
                </a:tc>
                <a:extLst>
                  <a:ext uri="{0D108BD9-81ED-4DB2-BD59-A6C34878D82A}">
                    <a16:rowId xmlns:a16="http://schemas.microsoft.com/office/drawing/2014/main" val="2076158986"/>
                  </a:ext>
                </a:extLst>
              </a:tr>
            </a:tbl>
          </a:graphicData>
        </a:graphic>
      </p:graphicFrame>
    </p:spTree>
    <p:extLst>
      <p:ext uri="{BB962C8B-B14F-4D97-AF65-F5344CB8AC3E}">
        <p14:creationId xmlns:p14="http://schemas.microsoft.com/office/powerpoint/2010/main" val="4104249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A6D0C-1BD1-44AD-B37F-226771B402AB}"/>
              </a:ext>
            </a:extLst>
          </p:cNvPr>
          <p:cNvSpPr>
            <a:spLocks noGrp="1"/>
          </p:cNvSpPr>
          <p:nvPr>
            <p:ph type="title"/>
          </p:nvPr>
        </p:nvSpPr>
        <p:spPr/>
        <p:txBody>
          <a:bodyPr/>
          <a:lstStyle/>
          <a:p>
            <a:r>
              <a:rPr lang="en-US" dirty="0"/>
              <a:t>CSS Selectors: Attributes</a:t>
            </a:r>
          </a:p>
        </p:txBody>
      </p:sp>
      <p:sp>
        <p:nvSpPr>
          <p:cNvPr id="3" name="Content Placeholder 2">
            <a:extLst>
              <a:ext uri="{FF2B5EF4-FFF2-40B4-BE49-F238E27FC236}">
                <a16:creationId xmlns:a16="http://schemas.microsoft.com/office/drawing/2014/main" id="{C61DDC58-F486-4356-AEAF-A310DBDAEDF9}"/>
              </a:ext>
            </a:extLst>
          </p:cNvPr>
          <p:cNvSpPr>
            <a:spLocks noGrp="1"/>
          </p:cNvSpPr>
          <p:nvPr>
            <p:ph idx="1"/>
          </p:nvPr>
        </p:nvSpPr>
        <p:spPr/>
        <p:txBody>
          <a:bodyPr/>
          <a:lstStyle/>
          <a:p>
            <a:r>
              <a:rPr lang="en-US" dirty="0"/>
              <a:t>Selecting elements with matching attributes…</a:t>
            </a:r>
          </a:p>
          <a:p>
            <a:endParaRPr lang="en-US" dirty="0"/>
          </a:p>
          <a:p>
            <a:endParaRPr lang="en-US" dirty="0"/>
          </a:p>
        </p:txBody>
      </p:sp>
      <p:sp>
        <p:nvSpPr>
          <p:cNvPr id="4" name="Slide Number Placeholder 3">
            <a:extLst>
              <a:ext uri="{FF2B5EF4-FFF2-40B4-BE49-F238E27FC236}">
                <a16:creationId xmlns:a16="http://schemas.microsoft.com/office/drawing/2014/main" id="{3A7C03E9-5527-4AC5-B6D2-0166A59655C6}"/>
              </a:ext>
            </a:extLst>
          </p:cNvPr>
          <p:cNvSpPr>
            <a:spLocks noGrp="1"/>
          </p:cNvSpPr>
          <p:nvPr>
            <p:ph type="sldNum" sz="quarter" idx="12"/>
          </p:nvPr>
        </p:nvSpPr>
        <p:spPr/>
        <p:txBody>
          <a:bodyPr/>
          <a:lstStyle/>
          <a:p>
            <a:fld id="{F6728BC2-ACA3-447C-A909-F3F49211C066}" type="slidenum">
              <a:rPr lang="en-US" smtClean="0"/>
              <a:pPr/>
              <a:t>13</a:t>
            </a:fld>
            <a:endParaRPr lang="en-US" dirty="0"/>
          </a:p>
        </p:txBody>
      </p:sp>
      <p:graphicFrame>
        <p:nvGraphicFramePr>
          <p:cNvPr id="5" name="Table 4">
            <a:extLst>
              <a:ext uri="{FF2B5EF4-FFF2-40B4-BE49-F238E27FC236}">
                <a16:creationId xmlns:a16="http://schemas.microsoft.com/office/drawing/2014/main" id="{0BD89C8C-6FC8-41C2-AFF8-666A6651DBC5}"/>
              </a:ext>
            </a:extLst>
          </p:cNvPr>
          <p:cNvGraphicFramePr>
            <a:graphicFrameLocks noGrp="1"/>
          </p:cNvGraphicFramePr>
          <p:nvPr>
            <p:extLst>
              <p:ext uri="{D42A27DB-BD31-4B8C-83A1-F6EECF244321}">
                <p14:modId xmlns:p14="http://schemas.microsoft.com/office/powerpoint/2010/main" val="2011156666"/>
              </p:ext>
            </p:extLst>
          </p:nvPr>
        </p:nvGraphicFramePr>
        <p:xfrm>
          <a:off x="1238865" y="2299009"/>
          <a:ext cx="6636774" cy="4312920"/>
        </p:xfrm>
        <a:graphic>
          <a:graphicData uri="http://schemas.openxmlformats.org/drawingml/2006/table">
            <a:tbl>
              <a:tblPr firstRow="1" bandRow="1">
                <a:tableStyleId>{5C22544A-7EE6-4342-B048-85BDC9FD1C3A}</a:tableStyleId>
              </a:tblPr>
              <a:tblGrid>
                <a:gridCol w="1359468">
                  <a:extLst>
                    <a:ext uri="{9D8B030D-6E8A-4147-A177-3AD203B41FA5}">
                      <a16:colId xmlns:a16="http://schemas.microsoft.com/office/drawing/2014/main" val="2609031368"/>
                    </a:ext>
                  </a:extLst>
                </a:gridCol>
                <a:gridCol w="5277306">
                  <a:extLst>
                    <a:ext uri="{9D8B030D-6E8A-4147-A177-3AD203B41FA5}">
                      <a16:colId xmlns:a16="http://schemas.microsoft.com/office/drawing/2014/main" val="1047527874"/>
                    </a:ext>
                  </a:extLst>
                </a:gridCol>
              </a:tblGrid>
              <a:tr h="370840">
                <a:tc>
                  <a:txBody>
                    <a:bodyPr/>
                    <a:lstStyle/>
                    <a:p>
                      <a:pPr algn="ctr"/>
                      <a:r>
                        <a:rPr lang="en-US" dirty="0"/>
                        <a:t>Selector</a:t>
                      </a:r>
                    </a:p>
                  </a:txBody>
                  <a:tcPr/>
                </a:tc>
                <a:tc>
                  <a:txBody>
                    <a:bodyPr/>
                    <a:lstStyle/>
                    <a:p>
                      <a:pPr algn="ctr"/>
                      <a:r>
                        <a:rPr lang="en-US" dirty="0"/>
                        <a:t>Description</a:t>
                      </a:r>
                    </a:p>
                  </a:txBody>
                  <a:tcPr/>
                </a:tc>
                <a:extLst>
                  <a:ext uri="{0D108BD9-81ED-4DB2-BD59-A6C34878D82A}">
                    <a16:rowId xmlns:a16="http://schemas.microsoft.com/office/drawing/2014/main" val="3558295839"/>
                  </a:ext>
                </a:extLst>
              </a:tr>
              <a:tr h="370840">
                <a:tc>
                  <a:txBody>
                    <a:bodyPr/>
                    <a:lstStyle/>
                    <a:p>
                      <a:pPr algn="ctr"/>
                      <a:r>
                        <a:rPr lang="en-US" dirty="0">
                          <a:latin typeface="Courier New" panose="02070309020205020404" pitchFamily="49" charset="0"/>
                          <a:cs typeface="Courier New" panose="02070309020205020404" pitchFamily="49" charset="0"/>
                        </a:rPr>
                        <a:t>[x]</a:t>
                      </a:r>
                    </a:p>
                  </a:txBody>
                  <a:tcPr anchor="ctr"/>
                </a:tc>
                <a:tc>
                  <a:txBody>
                    <a:bodyPr/>
                    <a:lstStyle/>
                    <a:p>
                      <a:r>
                        <a:rPr lang="en-US" dirty="0"/>
                        <a:t>All elements with the “x” attribute</a:t>
                      </a:r>
                    </a:p>
                  </a:txBody>
                  <a:tcPr/>
                </a:tc>
                <a:extLst>
                  <a:ext uri="{0D108BD9-81ED-4DB2-BD59-A6C34878D82A}">
                    <a16:rowId xmlns:a16="http://schemas.microsoft.com/office/drawing/2014/main" val="1665973507"/>
                  </a:ext>
                </a:extLst>
              </a:tr>
              <a:tr h="370840">
                <a:tc>
                  <a:txBody>
                    <a:bodyPr/>
                    <a:lstStyle/>
                    <a:p>
                      <a:pPr algn="ctr"/>
                      <a:r>
                        <a:rPr lang="en-US" dirty="0">
                          <a:latin typeface="Courier New" panose="02070309020205020404" pitchFamily="49" charset="0"/>
                          <a:cs typeface="Courier New" panose="02070309020205020404" pitchFamily="49" charset="0"/>
                        </a:rPr>
                        <a:t>[x=y]</a:t>
                      </a:r>
                    </a:p>
                  </a:txBody>
                  <a:tcPr anchor="ctr"/>
                </a:tc>
                <a:tc>
                  <a:txBody>
                    <a:bodyPr/>
                    <a:lstStyle/>
                    <a:p>
                      <a:r>
                        <a:rPr lang="en-US" dirty="0"/>
                        <a:t>All elements where the attribute x has the value y</a:t>
                      </a:r>
                    </a:p>
                  </a:txBody>
                  <a:tcPr/>
                </a:tc>
                <a:extLst>
                  <a:ext uri="{0D108BD9-81ED-4DB2-BD59-A6C34878D82A}">
                    <a16:rowId xmlns:a16="http://schemas.microsoft.com/office/drawing/2014/main" val="2640191210"/>
                  </a:ext>
                </a:extLst>
              </a:tr>
              <a:tr h="370840">
                <a:tc>
                  <a:txBody>
                    <a:bodyPr/>
                    <a:lstStyle/>
                    <a:p>
                      <a:pPr algn="ctr"/>
                      <a:r>
                        <a:rPr lang="en-US" dirty="0">
                          <a:latin typeface="Courier New" panose="02070309020205020404" pitchFamily="49" charset="0"/>
                          <a:cs typeface="Courier New" panose="02070309020205020404" pitchFamily="49" charset="0"/>
                        </a:rPr>
                        <a:t>[x~=y]</a:t>
                      </a:r>
                    </a:p>
                  </a:txBody>
                  <a:tcPr anchor="ctr"/>
                </a:tc>
                <a:tc>
                  <a:txBody>
                    <a:bodyPr/>
                    <a:lstStyle/>
                    <a:p>
                      <a:r>
                        <a:rPr lang="en-US" dirty="0"/>
                        <a:t>All elements where the attribute x’s value contains the phrase y</a:t>
                      </a:r>
                    </a:p>
                  </a:txBody>
                  <a:tcPr/>
                </a:tc>
                <a:extLst>
                  <a:ext uri="{0D108BD9-81ED-4DB2-BD59-A6C34878D82A}">
                    <a16:rowId xmlns:a16="http://schemas.microsoft.com/office/drawing/2014/main" val="1777324368"/>
                  </a:ext>
                </a:extLst>
              </a:tr>
              <a:tr h="370840">
                <a:tc>
                  <a:txBody>
                    <a:bodyPr/>
                    <a:lstStyle/>
                    <a:p>
                      <a:pPr algn="ctr"/>
                      <a:r>
                        <a:rPr lang="en-US" dirty="0">
                          <a:latin typeface="Courier New" panose="02070309020205020404" pitchFamily="49" charset="0"/>
                          <a:cs typeface="Courier New" panose="02070309020205020404" pitchFamily="49" charset="0"/>
                        </a:rPr>
                        <a:t>[x|=y]</a:t>
                      </a:r>
                    </a:p>
                  </a:txBody>
                  <a:tcPr anchor="ctr"/>
                </a:tc>
                <a:tc>
                  <a:txBody>
                    <a:bodyPr/>
                    <a:lstStyle/>
                    <a:p>
                      <a:r>
                        <a:rPr lang="en-US" dirty="0"/>
                        <a:t>All elements where the attribute x’s value is a hyphen-separated list starting with y</a:t>
                      </a:r>
                    </a:p>
                  </a:txBody>
                  <a:tcPr/>
                </a:tc>
                <a:extLst>
                  <a:ext uri="{0D108BD9-81ED-4DB2-BD59-A6C34878D82A}">
                    <a16:rowId xmlns:a16="http://schemas.microsoft.com/office/drawing/2014/main" val="3497124175"/>
                  </a:ext>
                </a:extLst>
              </a:tr>
              <a:tr h="370840">
                <a:tc>
                  <a:txBody>
                    <a:bodyPr/>
                    <a:lstStyle/>
                    <a:p>
                      <a:pPr algn="ctr"/>
                      <a:r>
                        <a:rPr lang="en-US" dirty="0">
                          <a:latin typeface="Courier New" panose="02070309020205020404" pitchFamily="49" charset="0"/>
                          <a:cs typeface="Courier New" panose="02070309020205020404" pitchFamily="49" charset="0"/>
                        </a:rPr>
                        <a:t>[x^=y]</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All elements where the attribute x’s value is a string starting with y</a:t>
                      </a:r>
                    </a:p>
                  </a:txBody>
                  <a:tcPr/>
                </a:tc>
                <a:extLst>
                  <a:ext uri="{0D108BD9-81ED-4DB2-BD59-A6C34878D82A}">
                    <a16:rowId xmlns:a16="http://schemas.microsoft.com/office/drawing/2014/main" val="925245695"/>
                  </a:ext>
                </a:extLst>
              </a:tr>
              <a:tr h="370840">
                <a:tc>
                  <a:txBody>
                    <a:bodyPr/>
                    <a:lstStyle/>
                    <a:p>
                      <a:pPr algn="ctr"/>
                      <a:r>
                        <a:rPr lang="en-US" dirty="0">
                          <a:latin typeface="Courier New" panose="02070309020205020404" pitchFamily="49" charset="0"/>
                          <a:cs typeface="Courier New" panose="02070309020205020404" pitchFamily="49" charset="0"/>
                        </a:rPr>
                        <a:t>[x$=y]</a:t>
                      </a:r>
                    </a:p>
                  </a:txBody>
                  <a:tcPr anchor="ctr"/>
                </a:tc>
                <a:tc>
                  <a:txBody>
                    <a:bodyPr/>
                    <a:lstStyle/>
                    <a:p>
                      <a:r>
                        <a:rPr lang="en-US" dirty="0"/>
                        <a:t>All elements where the attribute x’s value is a string ending with y</a:t>
                      </a:r>
                    </a:p>
                  </a:txBody>
                  <a:tcPr/>
                </a:tc>
                <a:extLst>
                  <a:ext uri="{0D108BD9-81ED-4DB2-BD59-A6C34878D82A}">
                    <a16:rowId xmlns:a16="http://schemas.microsoft.com/office/drawing/2014/main" val="4203617607"/>
                  </a:ext>
                </a:extLst>
              </a:tr>
              <a:tr h="370840">
                <a:tc>
                  <a:txBody>
                    <a:bodyPr/>
                    <a:lstStyle/>
                    <a:p>
                      <a:pPr algn="ctr"/>
                      <a:r>
                        <a:rPr lang="en-US" dirty="0">
                          <a:latin typeface="Courier New" panose="02070309020205020404" pitchFamily="49" charset="0"/>
                          <a:cs typeface="Courier New" panose="02070309020205020404" pitchFamily="49" charset="0"/>
                        </a:rPr>
                        <a:t>[x*=y]</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All elements where the attribute x’s value is a string containing y</a:t>
                      </a:r>
                    </a:p>
                  </a:txBody>
                  <a:tcPr/>
                </a:tc>
                <a:extLst>
                  <a:ext uri="{0D108BD9-81ED-4DB2-BD59-A6C34878D82A}">
                    <a16:rowId xmlns:a16="http://schemas.microsoft.com/office/drawing/2014/main" val="2965594618"/>
                  </a:ext>
                </a:extLst>
              </a:tr>
            </a:tbl>
          </a:graphicData>
        </a:graphic>
      </p:graphicFrame>
    </p:spTree>
    <p:extLst>
      <p:ext uri="{BB962C8B-B14F-4D97-AF65-F5344CB8AC3E}">
        <p14:creationId xmlns:p14="http://schemas.microsoft.com/office/powerpoint/2010/main" val="1770296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B5E9E-333B-4435-8A6A-FFA5ECBEBB19}"/>
              </a:ext>
            </a:extLst>
          </p:cNvPr>
          <p:cNvSpPr>
            <a:spLocks noGrp="1"/>
          </p:cNvSpPr>
          <p:nvPr>
            <p:ph type="title"/>
          </p:nvPr>
        </p:nvSpPr>
        <p:spPr/>
        <p:txBody>
          <a:bodyPr/>
          <a:lstStyle/>
          <a:p>
            <a:r>
              <a:rPr lang="en-US" dirty="0"/>
              <a:t>CSS Selectors: Interactive</a:t>
            </a:r>
          </a:p>
        </p:txBody>
      </p:sp>
      <p:sp>
        <p:nvSpPr>
          <p:cNvPr id="3" name="Content Placeholder 2">
            <a:extLst>
              <a:ext uri="{FF2B5EF4-FFF2-40B4-BE49-F238E27FC236}">
                <a16:creationId xmlns:a16="http://schemas.microsoft.com/office/drawing/2014/main" id="{6FE97064-F66C-409C-A798-4376E778A60C}"/>
              </a:ext>
            </a:extLst>
          </p:cNvPr>
          <p:cNvSpPr>
            <a:spLocks noGrp="1"/>
          </p:cNvSpPr>
          <p:nvPr>
            <p:ph idx="1"/>
          </p:nvPr>
        </p:nvSpPr>
        <p:spPr>
          <a:xfrm>
            <a:off x="380010" y="1481446"/>
            <a:ext cx="8383980" cy="5247391"/>
          </a:xfrm>
        </p:spPr>
        <p:txBody>
          <a:bodyPr/>
          <a:lstStyle/>
          <a:p>
            <a:r>
              <a:rPr lang="en-US" dirty="0"/>
              <a:t>CSS Selectors that are applied dynamically…</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dirty="0"/>
              <a:t>And more! - </a:t>
            </a:r>
            <a:r>
              <a:rPr lang="en-US" dirty="0">
                <a:hlinkClick r:id="rId2"/>
              </a:rPr>
              <a:t>CSS selectors - CSS | MDN</a:t>
            </a:r>
            <a:endParaRPr lang="en-US" dirty="0"/>
          </a:p>
          <a:p>
            <a:endParaRPr lang="en-US" dirty="0"/>
          </a:p>
        </p:txBody>
      </p:sp>
      <p:sp>
        <p:nvSpPr>
          <p:cNvPr id="4" name="Slide Number Placeholder 3">
            <a:extLst>
              <a:ext uri="{FF2B5EF4-FFF2-40B4-BE49-F238E27FC236}">
                <a16:creationId xmlns:a16="http://schemas.microsoft.com/office/drawing/2014/main" id="{D2695B4F-7579-4A03-B952-5E9BA1812BF1}"/>
              </a:ext>
            </a:extLst>
          </p:cNvPr>
          <p:cNvSpPr>
            <a:spLocks noGrp="1"/>
          </p:cNvSpPr>
          <p:nvPr>
            <p:ph type="sldNum" sz="quarter" idx="12"/>
          </p:nvPr>
        </p:nvSpPr>
        <p:spPr/>
        <p:txBody>
          <a:bodyPr/>
          <a:lstStyle/>
          <a:p>
            <a:fld id="{F6728BC2-ACA3-447C-A909-F3F49211C066}" type="slidenum">
              <a:rPr lang="en-US" smtClean="0"/>
              <a:pPr/>
              <a:t>14</a:t>
            </a:fld>
            <a:endParaRPr lang="en-US" dirty="0"/>
          </a:p>
        </p:txBody>
      </p:sp>
      <p:graphicFrame>
        <p:nvGraphicFramePr>
          <p:cNvPr id="5" name="Table 4">
            <a:extLst>
              <a:ext uri="{FF2B5EF4-FFF2-40B4-BE49-F238E27FC236}">
                <a16:creationId xmlns:a16="http://schemas.microsoft.com/office/drawing/2014/main" id="{61818612-0D62-4E7C-BFB3-7B0157E2B2FA}"/>
              </a:ext>
            </a:extLst>
          </p:cNvPr>
          <p:cNvGraphicFramePr>
            <a:graphicFrameLocks noGrp="1"/>
          </p:cNvGraphicFramePr>
          <p:nvPr>
            <p:extLst>
              <p:ext uri="{D42A27DB-BD31-4B8C-83A1-F6EECF244321}">
                <p14:modId xmlns:p14="http://schemas.microsoft.com/office/powerpoint/2010/main" val="536116878"/>
              </p:ext>
            </p:extLst>
          </p:nvPr>
        </p:nvGraphicFramePr>
        <p:xfrm>
          <a:off x="693174" y="2477161"/>
          <a:ext cx="7617541" cy="3230880"/>
        </p:xfrm>
        <a:graphic>
          <a:graphicData uri="http://schemas.openxmlformats.org/drawingml/2006/table">
            <a:tbl>
              <a:tblPr firstRow="1" bandRow="1">
                <a:tableStyleId>{5C22544A-7EE6-4342-B048-85BDC9FD1C3A}</a:tableStyleId>
              </a:tblPr>
              <a:tblGrid>
                <a:gridCol w="1560368">
                  <a:extLst>
                    <a:ext uri="{9D8B030D-6E8A-4147-A177-3AD203B41FA5}">
                      <a16:colId xmlns:a16="http://schemas.microsoft.com/office/drawing/2014/main" val="2609031368"/>
                    </a:ext>
                  </a:extLst>
                </a:gridCol>
                <a:gridCol w="6057173">
                  <a:extLst>
                    <a:ext uri="{9D8B030D-6E8A-4147-A177-3AD203B41FA5}">
                      <a16:colId xmlns:a16="http://schemas.microsoft.com/office/drawing/2014/main" val="1047527874"/>
                    </a:ext>
                  </a:extLst>
                </a:gridCol>
              </a:tblGrid>
              <a:tr h="370840">
                <a:tc>
                  <a:txBody>
                    <a:bodyPr/>
                    <a:lstStyle/>
                    <a:p>
                      <a:pPr algn="ctr"/>
                      <a:r>
                        <a:rPr lang="en-US" dirty="0"/>
                        <a:t>Selector</a:t>
                      </a:r>
                    </a:p>
                  </a:txBody>
                  <a:tcPr/>
                </a:tc>
                <a:tc>
                  <a:txBody>
                    <a:bodyPr/>
                    <a:lstStyle/>
                    <a:p>
                      <a:pPr algn="ctr"/>
                      <a:r>
                        <a:rPr lang="en-US" dirty="0"/>
                        <a:t>Description</a:t>
                      </a:r>
                    </a:p>
                  </a:txBody>
                  <a:tcPr/>
                </a:tc>
                <a:extLst>
                  <a:ext uri="{0D108BD9-81ED-4DB2-BD59-A6C34878D82A}">
                    <a16:rowId xmlns:a16="http://schemas.microsoft.com/office/drawing/2014/main" val="3558295839"/>
                  </a:ext>
                </a:extLst>
              </a:tr>
              <a:tr h="370840">
                <a:tc>
                  <a:txBody>
                    <a:bodyPr/>
                    <a:lstStyle/>
                    <a:p>
                      <a:pPr algn="ctr"/>
                      <a:r>
                        <a:rPr lang="en-US" dirty="0">
                          <a:latin typeface="Courier New" panose="02070309020205020404" pitchFamily="49" charset="0"/>
                          <a:cs typeface="Courier New" panose="02070309020205020404" pitchFamily="49" charset="0"/>
                        </a:rPr>
                        <a:t>x:active</a:t>
                      </a:r>
                    </a:p>
                  </a:txBody>
                  <a:tcPr/>
                </a:tc>
                <a:tc>
                  <a:txBody>
                    <a:bodyPr/>
                    <a:lstStyle/>
                    <a:p>
                      <a:r>
                        <a:rPr lang="en-US" dirty="0"/>
                        <a:t>Styles the “active” &lt;x&gt; element (last clicked-on)</a:t>
                      </a:r>
                    </a:p>
                  </a:txBody>
                  <a:tcPr/>
                </a:tc>
                <a:extLst>
                  <a:ext uri="{0D108BD9-81ED-4DB2-BD59-A6C34878D82A}">
                    <a16:rowId xmlns:a16="http://schemas.microsoft.com/office/drawing/2014/main" val="1665973507"/>
                  </a:ext>
                </a:extLst>
              </a:tr>
              <a:tr h="302572">
                <a:tc>
                  <a:txBody>
                    <a:bodyPr/>
                    <a:lstStyle/>
                    <a:p>
                      <a:pPr algn="ctr"/>
                      <a:r>
                        <a:rPr lang="en-US" dirty="0">
                          <a:latin typeface="Courier New" panose="02070309020205020404" pitchFamily="49" charset="0"/>
                          <a:cs typeface="Courier New" panose="02070309020205020404" pitchFamily="49" charset="0"/>
                        </a:rPr>
                        <a:t>x:hover</a:t>
                      </a:r>
                    </a:p>
                  </a:txBody>
                  <a:tcPr/>
                </a:tc>
                <a:tc>
                  <a:txBody>
                    <a:bodyPr/>
                    <a:lstStyle/>
                    <a:p>
                      <a:r>
                        <a:rPr lang="en-US" dirty="0"/>
                        <a:t>Styles the &lt;x&gt; element you are currently hovering over</a:t>
                      </a:r>
                    </a:p>
                  </a:txBody>
                  <a:tcPr/>
                </a:tc>
                <a:extLst>
                  <a:ext uri="{0D108BD9-81ED-4DB2-BD59-A6C34878D82A}">
                    <a16:rowId xmlns:a16="http://schemas.microsoft.com/office/drawing/2014/main" val="2640191210"/>
                  </a:ext>
                </a:extLst>
              </a:tr>
              <a:tr h="370840">
                <a:tc>
                  <a:txBody>
                    <a:bodyPr/>
                    <a:lstStyle/>
                    <a:p>
                      <a:pPr algn="ctr"/>
                      <a:r>
                        <a:rPr lang="en-US" dirty="0">
                          <a:latin typeface="Courier New" panose="02070309020205020404" pitchFamily="49" charset="0"/>
                          <a:cs typeface="Courier New" panose="02070309020205020404" pitchFamily="49" charset="0"/>
                        </a:rPr>
                        <a:t>a:link</a:t>
                      </a:r>
                    </a:p>
                  </a:txBody>
                  <a:tcPr/>
                </a:tc>
                <a:tc>
                  <a:txBody>
                    <a:bodyPr/>
                    <a:lstStyle/>
                    <a:p>
                      <a:r>
                        <a:rPr lang="en-US" dirty="0"/>
                        <a:t>Styles all unvisited links</a:t>
                      </a:r>
                    </a:p>
                  </a:txBody>
                  <a:tcPr/>
                </a:tc>
                <a:extLst>
                  <a:ext uri="{0D108BD9-81ED-4DB2-BD59-A6C34878D82A}">
                    <a16:rowId xmlns:a16="http://schemas.microsoft.com/office/drawing/2014/main" val="3395716123"/>
                  </a:ext>
                </a:extLst>
              </a:tr>
              <a:tr h="370840">
                <a:tc>
                  <a:txBody>
                    <a:bodyPr/>
                    <a:lstStyle/>
                    <a:p>
                      <a:pPr algn="ctr"/>
                      <a:r>
                        <a:rPr lang="en-US" dirty="0">
                          <a:latin typeface="Courier New" panose="02070309020205020404" pitchFamily="49" charset="0"/>
                          <a:cs typeface="Courier New" panose="02070309020205020404" pitchFamily="49" charset="0"/>
                        </a:rPr>
                        <a:t>a:visited</a:t>
                      </a:r>
                    </a:p>
                  </a:txBody>
                  <a:tcPr/>
                </a:tc>
                <a:tc>
                  <a:txBody>
                    <a:bodyPr/>
                    <a:lstStyle/>
                    <a:p>
                      <a:r>
                        <a:rPr lang="en-US" dirty="0"/>
                        <a:t>Styles all visited links</a:t>
                      </a:r>
                    </a:p>
                  </a:txBody>
                  <a:tcPr/>
                </a:tc>
                <a:extLst>
                  <a:ext uri="{0D108BD9-81ED-4DB2-BD59-A6C34878D82A}">
                    <a16:rowId xmlns:a16="http://schemas.microsoft.com/office/drawing/2014/main" val="1659797338"/>
                  </a:ext>
                </a:extLst>
              </a:tr>
              <a:tr h="370840">
                <a:tc>
                  <a:txBody>
                    <a:bodyPr/>
                    <a:lstStyle/>
                    <a:p>
                      <a:pPr algn="ctr"/>
                      <a:r>
                        <a:rPr lang="en-US" dirty="0">
                          <a:latin typeface="Courier New" panose="02070309020205020404" pitchFamily="49" charset="0"/>
                          <a:cs typeface="Courier New" panose="02070309020205020404" pitchFamily="49" charset="0"/>
                        </a:rPr>
                        <a:t>x:checked</a:t>
                      </a:r>
                    </a:p>
                  </a:txBody>
                  <a:tcPr/>
                </a:tc>
                <a:tc>
                  <a:txBody>
                    <a:bodyPr/>
                    <a:lstStyle/>
                    <a:p>
                      <a:r>
                        <a:rPr lang="en-US" dirty="0"/>
                        <a:t>Styles a checkbox, radio button, or dropdown option currently selected</a:t>
                      </a:r>
                    </a:p>
                  </a:txBody>
                  <a:tcPr/>
                </a:tc>
                <a:extLst>
                  <a:ext uri="{0D108BD9-81ED-4DB2-BD59-A6C34878D82A}">
                    <a16:rowId xmlns:a16="http://schemas.microsoft.com/office/drawing/2014/main" val="1777324368"/>
                  </a:ext>
                </a:extLst>
              </a:tr>
              <a:tr h="370840">
                <a:tc>
                  <a:txBody>
                    <a:bodyPr/>
                    <a:lstStyle/>
                    <a:p>
                      <a:pPr algn="ctr"/>
                      <a:r>
                        <a:rPr lang="en-US" dirty="0">
                          <a:latin typeface="Courier New" panose="02070309020205020404" pitchFamily="49" charset="0"/>
                          <a:cs typeface="Courier New" panose="02070309020205020404" pitchFamily="49" charset="0"/>
                        </a:rPr>
                        <a:t>x:optional</a:t>
                      </a:r>
                    </a:p>
                  </a:txBody>
                  <a:tcPr/>
                </a:tc>
                <a:tc>
                  <a:txBody>
                    <a:bodyPr/>
                    <a:lstStyle/>
                    <a:p>
                      <a:r>
                        <a:rPr lang="en-US" dirty="0"/>
                        <a:t>Styles all elements without a “required” attribute</a:t>
                      </a:r>
                    </a:p>
                  </a:txBody>
                  <a:tcPr/>
                </a:tc>
                <a:extLst>
                  <a:ext uri="{0D108BD9-81ED-4DB2-BD59-A6C34878D82A}">
                    <a16:rowId xmlns:a16="http://schemas.microsoft.com/office/drawing/2014/main" val="3497124175"/>
                  </a:ext>
                </a:extLst>
              </a:tr>
              <a:tr h="370840">
                <a:tc>
                  <a:txBody>
                    <a:bodyPr/>
                    <a:lstStyle/>
                    <a:p>
                      <a:pPr algn="ctr"/>
                      <a:r>
                        <a:rPr lang="en-US" dirty="0">
                          <a:latin typeface="Courier New" panose="02070309020205020404" pitchFamily="49" charset="0"/>
                          <a:cs typeface="Courier New" panose="02070309020205020404" pitchFamily="49" charset="0"/>
                        </a:rPr>
                        <a:t>x:required</a:t>
                      </a:r>
                    </a:p>
                  </a:txBody>
                  <a:tcPr/>
                </a:tc>
                <a:tc>
                  <a:txBody>
                    <a:bodyPr/>
                    <a:lstStyle/>
                    <a:p>
                      <a:r>
                        <a:rPr lang="en-US" dirty="0"/>
                        <a:t>Styles all elements with a “required” attribute</a:t>
                      </a:r>
                    </a:p>
                  </a:txBody>
                  <a:tcPr/>
                </a:tc>
                <a:extLst>
                  <a:ext uri="{0D108BD9-81ED-4DB2-BD59-A6C34878D82A}">
                    <a16:rowId xmlns:a16="http://schemas.microsoft.com/office/drawing/2014/main" val="925245695"/>
                  </a:ext>
                </a:extLst>
              </a:tr>
            </a:tbl>
          </a:graphicData>
        </a:graphic>
      </p:graphicFrame>
    </p:spTree>
    <p:extLst>
      <p:ext uri="{BB962C8B-B14F-4D97-AF65-F5344CB8AC3E}">
        <p14:creationId xmlns:p14="http://schemas.microsoft.com/office/powerpoint/2010/main" val="1992778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0FAED-A9E6-0295-5A25-FB604E638A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D31CB-0E89-4BBF-D709-18A5C5FA6DCE}"/>
              </a:ext>
            </a:extLst>
          </p:cNvPr>
          <p:cNvSpPr>
            <a:spLocks noGrp="1"/>
          </p:cNvSpPr>
          <p:nvPr>
            <p:ph type="title"/>
          </p:nvPr>
        </p:nvSpPr>
        <p:spPr/>
        <p:txBody>
          <a:bodyPr/>
          <a:lstStyle/>
          <a:p>
            <a:r>
              <a:rPr lang="en-US" dirty="0"/>
              <a:t>The Box Model</a:t>
            </a:r>
          </a:p>
        </p:txBody>
      </p:sp>
      <p:sp>
        <p:nvSpPr>
          <p:cNvPr id="3" name="Content Placeholder 2">
            <a:extLst>
              <a:ext uri="{FF2B5EF4-FFF2-40B4-BE49-F238E27FC236}">
                <a16:creationId xmlns:a16="http://schemas.microsoft.com/office/drawing/2014/main" id="{A9A29D94-48D8-C7F8-DFFF-DEEDB1D0A5C7}"/>
              </a:ext>
            </a:extLst>
          </p:cNvPr>
          <p:cNvSpPr>
            <a:spLocks noGrp="1"/>
          </p:cNvSpPr>
          <p:nvPr>
            <p:ph idx="1"/>
          </p:nvPr>
        </p:nvSpPr>
        <p:spPr>
          <a:xfrm>
            <a:off x="380010" y="1481446"/>
            <a:ext cx="4191990" cy="4882266"/>
          </a:xfrm>
        </p:spPr>
        <p:txBody>
          <a:bodyPr>
            <a:normAutofit fontScale="70000" lnSpcReduction="20000"/>
          </a:bodyPr>
          <a:lstStyle/>
          <a:p>
            <a:r>
              <a:rPr lang="en-US" dirty="0"/>
              <a:t>Box Model: every HTML element exists in a “box”.</a:t>
            </a:r>
          </a:p>
          <a:p>
            <a:pPr lvl="1"/>
            <a:r>
              <a:rPr lang="en-US" b="1" dirty="0"/>
              <a:t>Margin</a:t>
            </a:r>
            <a:r>
              <a:rPr lang="en-US" dirty="0"/>
              <a:t>: The space between borders – used to separate an element from its neighbor</a:t>
            </a:r>
          </a:p>
          <a:p>
            <a:pPr lvl="1"/>
            <a:r>
              <a:rPr lang="en-US" b="1" dirty="0"/>
              <a:t>Border</a:t>
            </a:r>
            <a:r>
              <a:rPr lang="en-US" dirty="0"/>
              <a:t>: Area between padding and margin – can be styled to provide a visual container for an element</a:t>
            </a:r>
          </a:p>
          <a:p>
            <a:pPr lvl="1"/>
            <a:r>
              <a:rPr lang="en-US" b="1" dirty="0"/>
              <a:t>Padding</a:t>
            </a:r>
            <a:r>
              <a:rPr lang="en-US" dirty="0"/>
              <a:t>: space between the content and border of the element.</a:t>
            </a:r>
          </a:p>
          <a:p>
            <a:pPr lvl="1"/>
            <a:r>
              <a:rPr lang="en-US" b="1" dirty="0"/>
              <a:t>Content</a:t>
            </a:r>
            <a:r>
              <a:rPr lang="en-US" dirty="0"/>
              <a:t>: the rendered content (text, images, etc…).</a:t>
            </a:r>
          </a:p>
          <a:p>
            <a:r>
              <a:rPr lang="en-US" dirty="0"/>
              <a:t>All box measurements can be changed to move content around within boxes</a:t>
            </a:r>
          </a:p>
          <a:p>
            <a:r>
              <a:rPr lang="en-US" dirty="0"/>
              <a:t>&lt;div&gt; and &lt;span&gt; elements arrange boxes on a page</a:t>
            </a:r>
          </a:p>
        </p:txBody>
      </p:sp>
      <p:sp>
        <p:nvSpPr>
          <p:cNvPr id="4" name="Slide Number Placeholder 3">
            <a:extLst>
              <a:ext uri="{FF2B5EF4-FFF2-40B4-BE49-F238E27FC236}">
                <a16:creationId xmlns:a16="http://schemas.microsoft.com/office/drawing/2014/main" id="{5062646F-060A-2765-B6EC-EC8EE8ED9322}"/>
              </a:ext>
            </a:extLst>
          </p:cNvPr>
          <p:cNvSpPr>
            <a:spLocks noGrp="1"/>
          </p:cNvSpPr>
          <p:nvPr>
            <p:ph type="sldNum" sz="quarter" idx="12"/>
          </p:nvPr>
        </p:nvSpPr>
        <p:spPr/>
        <p:txBody>
          <a:bodyPr/>
          <a:lstStyle/>
          <a:p>
            <a:fld id="{F6728BC2-ACA3-447C-A909-F3F49211C066}" type="slidenum">
              <a:rPr lang="en-US" smtClean="0"/>
              <a:pPr/>
              <a:t>15</a:t>
            </a:fld>
            <a:endParaRPr lang="en-US" dirty="0"/>
          </a:p>
        </p:txBody>
      </p:sp>
      <p:pic>
        <p:nvPicPr>
          <p:cNvPr id="1026" name="Picture 2" descr="Margin vs Padding (Difference and Usage) - SiteGround KB">
            <a:extLst>
              <a:ext uri="{FF2B5EF4-FFF2-40B4-BE49-F238E27FC236}">
                <a16:creationId xmlns:a16="http://schemas.microsoft.com/office/drawing/2014/main" id="{C3DF17FA-C6DB-4DFB-87D9-42D4E2478A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1500" y="2237311"/>
            <a:ext cx="4132928" cy="3433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7900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E4093-E29E-0086-1CA0-D543F44EC977}"/>
              </a:ext>
            </a:extLst>
          </p:cNvPr>
          <p:cNvSpPr>
            <a:spLocks noGrp="1"/>
          </p:cNvSpPr>
          <p:nvPr>
            <p:ph type="title"/>
          </p:nvPr>
        </p:nvSpPr>
        <p:spPr/>
        <p:txBody>
          <a:bodyPr/>
          <a:lstStyle/>
          <a:p>
            <a:r>
              <a:rPr lang="en-US" dirty="0"/>
              <a:t>Box Model Sizing</a:t>
            </a:r>
          </a:p>
        </p:txBody>
      </p:sp>
      <p:sp>
        <p:nvSpPr>
          <p:cNvPr id="4" name="Slide Number Placeholder 3">
            <a:extLst>
              <a:ext uri="{FF2B5EF4-FFF2-40B4-BE49-F238E27FC236}">
                <a16:creationId xmlns:a16="http://schemas.microsoft.com/office/drawing/2014/main" id="{48DF67EF-41EA-DDDE-0217-4C32113E0A4F}"/>
              </a:ext>
            </a:extLst>
          </p:cNvPr>
          <p:cNvSpPr>
            <a:spLocks noGrp="1"/>
          </p:cNvSpPr>
          <p:nvPr>
            <p:ph type="sldNum" sz="quarter" idx="12"/>
          </p:nvPr>
        </p:nvSpPr>
        <p:spPr/>
        <p:txBody>
          <a:bodyPr/>
          <a:lstStyle/>
          <a:p>
            <a:fld id="{F6728BC2-ACA3-447C-A909-F3F49211C066}" type="slidenum">
              <a:rPr lang="en-US" smtClean="0"/>
              <a:pPr/>
              <a:t>16</a:t>
            </a:fld>
            <a:endParaRPr lang="en-US" dirty="0"/>
          </a:p>
        </p:txBody>
      </p:sp>
      <p:graphicFrame>
        <p:nvGraphicFramePr>
          <p:cNvPr id="5" name="Content Placeholder 4">
            <a:extLst>
              <a:ext uri="{FF2B5EF4-FFF2-40B4-BE49-F238E27FC236}">
                <a16:creationId xmlns:a16="http://schemas.microsoft.com/office/drawing/2014/main" id="{129160F0-CB91-5784-514A-87DCFE09A69E}"/>
              </a:ext>
            </a:extLst>
          </p:cNvPr>
          <p:cNvGraphicFramePr>
            <a:graphicFrameLocks/>
          </p:cNvGraphicFramePr>
          <p:nvPr>
            <p:extLst>
              <p:ext uri="{D42A27DB-BD31-4B8C-83A1-F6EECF244321}">
                <p14:modId xmlns:p14="http://schemas.microsoft.com/office/powerpoint/2010/main" val="745548952"/>
              </p:ext>
            </p:extLst>
          </p:nvPr>
        </p:nvGraphicFramePr>
        <p:xfrm>
          <a:off x="457200" y="3278494"/>
          <a:ext cx="8229600" cy="2870200"/>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370840">
                <a:tc>
                  <a:txBody>
                    <a:bodyPr/>
                    <a:lstStyle/>
                    <a:p>
                      <a:pPr algn="ctr"/>
                      <a:r>
                        <a:rPr lang="en-US" dirty="0"/>
                        <a:t>Examples</a:t>
                      </a:r>
                    </a:p>
                  </a:txBody>
                  <a:tcPr anchor="ctr"/>
                </a:tc>
                <a:tc>
                  <a:txBody>
                    <a:bodyPr/>
                    <a:lstStyle/>
                    <a:p>
                      <a:pPr algn="ctr"/>
                      <a:r>
                        <a:rPr lang="en-US" dirty="0"/>
                        <a:t>Explanation</a:t>
                      </a:r>
                    </a:p>
                  </a:txBody>
                  <a:tcPr anchor="ctr"/>
                </a:tc>
                <a:extLst>
                  <a:ext uri="{0D108BD9-81ED-4DB2-BD59-A6C34878D82A}">
                    <a16:rowId xmlns:a16="http://schemas.microsoft.com/office/drawing/2014/main" val="10000"/>
                  </a:ext>
                </a:extLst>
              </a:tr>
              <a:tr h="370840">
                <a:tc>
                  <a:txBody>
                    <a:bodyPr/>
                    <a:lstStyle/>
                    <a:p>
                      <a:r>
                        <a:rPr lang="en-US" sz="1400"/>
                        <a:t>p { padding: 70px; }</a:t>
                      </a:r>
                    </a:p>
                  </a:txBody>
                  <a:tcPr anchor="ctr"/>
                </a:tc>
                <a:tc>
                  <a:txBody>
                    <a:bodyPr/>
                    <a:lstStyle/>
                    <a:p>
                      <a:r>
                        <a:rPr lang="en-US" sz="1400"/>
                        <a:t>Sets the padding for an &lt;p&gt; element to 70 pixels for all four sides</a:t>
                      </a:r>
                    </a:p>
                  </a:txBody>
                  <a:tcPr anchor="ctr"/>
                </a:tc>
                <a:extLst>
                  <a:ext uri="{0D108BD9-81ED-4DB2-BD59-A6C34878D82A}">
                    <a16:rowId xmlns:a16="http://schemas.microsoft.com/office/drawing/2014/main" val="10001"/>
                  </a:ext>
                </a:extLst>
              </a:tr>
              <a:tr h="370840">
                <a:tc>
                  <a:txBody>
                    <a:bodyPr/>
                    <a:lstStyle/>
                    <a:p>
                      <a:r>
                        <a:rPr lang="en-US" sz="1400" dirty="0"/>
                        <a:t>p { padding: 35px 70px; }</a:t>
                      </a:r>
                    </a:p>
                  </a:txBody>
                  <a:tcPr anchor="ctr"/>
                </a:tc>
                <a:tc>
                  <a:txBody>
                    <a:bodyPr/>
                    <a:lstStyle/>
                    <a:p>
                      <a:r>
                        <a:rPr lang="en-US" sz="1400" dirty="0"/>
                        <a:t>Sets the padding for an &lt;p&gt; element to 35 pixels for top and bottom and 70 pixels for right and left sides.</a:t>
                      </a:r>
                    </a:p>
                  </a:txBody>
                  <a:tcPr anchor="ctr"/>
                </a:tc>
                <a:extLst>
                  <a:ext uri="{0D108BD9-81ED-4DB2-BD59-A6C34878D82A}">
                    <a16:rowId xmlns:a16="http://schemas.microsoft.com/office/drawing/2014/main" val="10002"/>
                  </a:ext>
                </a:extLst>
              </a:tr>
              <a:tr h="370840">
                <a:tc>
                  <a:txBody>
                    <a:bodyPr/>
                    <a:lstStyle/>
                    <a:p>
                      <a:r>
                        <a:rPr lang="en-US" sz="1400"/>
                        <a:t>p { padding: 35px 70px 40px; }</a:t>
                      </a:r>
                    </a:p>
                  </a:txBody>
                  <a:tcPr anchor="ctr"/>
                </a:tc>
                <a:tc>
                  <a:txBody>
                    <a:bodyPr/>
                    <a:lstStyle/>
                    <a:p>
                      <a:r>
                        <a:rPr lang="en-US" sz="1400"/>
                        <a:t>Sets the padding for an &lt;p&gt; element to 35 pixels for the top, 70 pixels for the left and right side and 40 pixels for the bottom.</a:t>
                      </a:r>
                    </a:p>
                  </a:txBody>
                  <a:tcPr anchor="ctr"/>
                </a:tc>
                <a:extLst>
                  <a:ext uri="{0D108BD9-81ED-4DB2-BD59-A6C34878D82A}">
                    <a16:rowId xmlns:a16="http://schemas.microsoft.com/office/drawing/2014/main" val="10003"/>
                  </a:ext>
                </a:extLst>
              </a:tr>
              <a:tr h="370840">
                <a:tc>
                  <a:txBody>
                    <a:bodyPr/>
                    <a:lstStyle/>
                    <a:p>
                      <a:r>
                        <a:rPr lang="en-US" sz="1400"/>
                        <a:t>p { padding: 35px 70px 40px 80px; }</a:t>
                      </a:r>
                    </a:p>
                  </a:txBody>
                  <a:tcPr anchor="ctr"/>
                </a:tc>
                <a:tc>
                  <a:txBody>
                    <a:bodyPr/>
                    <a:lstStyle/>
                    <a:p>
                      <a:r>
                        <a:rPr lang="en-US" sz="1400" dirty="0"/>
                        <a:t>Sets the padding for an &lt;p&gt; element to 35 pixels for the top, 70 pixels for the right side, 40 pixels for the bottom and 80 pixels for the left side.</a:t>
                      </a:r>
                    </a:p>
                  </a:txBody>
                  <a:tcPr anchor="ctr"/>
                </a:tc>
                <a:extLst>
                  <a:ext uri="{0D108BD9-81ED-4DB2-BD59-A6C34878D82A}">
                    <a16:rowId xmlns:a16="http://schemas.microsoft.com/office/drawing/2014/main" val="10004"/>
                  </a:ext>
                </a:extLst>
              </a:tr>
            </a:tbl>
          </a:graphicData>
        </a:graphic>
      </p:graphicFrame>
      <p:sp>
        <p:nvSpPr>
          <p:cNvPr id="6" name="Content Placeholder 2">
            <a:extLst>
              <a:ext uri="{FF2B5EF4-FFF2-40B4-BE49-F238E27FC236}">
                <a16:creationId xmlns:a16="http://schemas.microsoft.com/office/drawing/2014/main" id="{1F6FA57A-EA97-AF9A-ECE1-0553A54A4831}"/>
              </a:ext>
            </a:extLst>
          </p:cNvPr>
          <p:cNvSpPr>
            <a:spLocks noGrp="1"/>
          </p:cNvSpPr>
          <p:nvPr>
            <p:ph idx="1"/>
          </p:nvPr>
        </p:nvSpPr>
        <p:spPr>
          <a:xfrm>
            <a:off x="380010" y="1481446"/>
            <a:ext cx="8306790" cy="1653640"/>
          </a:xfrm>
        </p:spPr>
        <p:txBody>
          <a:bodyPr>
            <a:normAutofit fontScale="62500" lnSpcReduction="20000"/>
          </a:bodyPr>
          <a:lstStyle/>
          <a:p>
            <a:r>
              <a:rPr lang="en-US" dirty="0"/>
              <a:t>When sizing box-model properties, you can provide 1 to 4 values.</a:t>
            </a:r>
          </a:p>
          <a:p>
            <a:r>
              <a:rPr lang="en-US" b="1" dirty="0"/>
              <a:t>Based on the number of values given</a:t>
            </a:r>
            <a:r>
              <a:rPr lang="en-US" dirty="0"/>
              <a:t>, the size of the top, right, bottom and left of the styled box-model property will either </a:t>
            </a:r>
            <a:r>
              <a:rPr lang="en-US" b="1" i="1" dirty="0"/>
              <a:t>share</a:t>
            </a:r>
            <a:r>
              <a:rPr lang="en-US" dirty="0"/>
              <a:t> a given value or have a </a:t>
            </a:r>
            <a:r>
              <a:rPr lang="en-US" b="1" i="1" dirty="0"/>
              <a:t>unique</a:t>
            </a:r>
            <a:r>
              <a:rPr lang="en-US" dirty="0"/>
              <a:t> value.</a:t>
            </a:r>
          </a:p>
          <a:p>
            <a:r>
              <a:rPr lang="en-US" dirty="0"/>
              <a:t>The example below explains how this works for border, padding and margin sizes.</a:t>
            </a:r>
          </a:p>
        </p:txBody>
      </p:sp>
    </p:spTree>
    <p:extLst>
      <p:ext uri="{BB962C8B-B14F-4D97-AF65-F5344CB8AC3E}">
        <p14:creationId xmlns:p14="http://schemas.microsoft.com/office/powerpoint/2010/main" val="2451177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A2F1B-EA3D-1C98-E82B-B1347F6EA71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B34A64-B992-37C3-2747-55463D5EEFC1}"/>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17</a:t>
            </a:fld>
            <a:endParaRPr lang="en-US"/>
          </a:p>
        </p:txBody>
      </p:sp>
      <p:sp>
        <p:nvSpPr>
          <p:cNvPr id="4" name="Google Shape;212;p15">
            <a:extLst>
              <a:ext uri="{FF2B5EF4-FFF2-40B4-BE49-F238E27FC236}">
                <a16:creationId xmlns:a16="http://schemas.microsoft.com/office/drawing/2014/main" id="{B97E4402-3ADC-9A75-2292-33AA180ED851}"/>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CSS Properties</a:t>
            </a:r>
          </a:p>
        </p:txBody>
      </p:sp>
      <p:pic>
        <p:nvPicPr>
          <p:cNvPr id="6" name="Picture 5">
            <a:extLst>
              <a:ext uri="{FF2B5EF4-FFF2-40B4-BE49-F238E27FC236}">
                <a16:creationId xmlns:a16="http://schemas.microsoft.com/office/drawing/2014/main" id="{CB8ACBFD-4490-7B05-F112-4ECD306BA3DB}"/>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990989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DF432-BF6A-1469-C346-C0EB555FD5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62E9E-2954-F89B-3934-15587B3473DD}"/>
              </a:ext>
            </a:extLst>
          </p:cNvPr>
          <p:cNvSpPr>
            <a:spLocks noGrp="1"/>
          </p:cNvSpPr>
          <p:nvPr>
            <p:ph type="title"/>
          </p:nvPr>
        </p:nvSpPr>
        <p:spPr/>
        <p:txBody>
          <a:bodyPr/>
          <a:lstStyle/>
          <a:p>
            <a:r>
              <a:rPr lang="en-US" dirty="0"/>
              <a:t>CSS Properties</a:t>
            </a:r>
          </a:p>
        </p:txBody>
      </p:sp>
      <p:sp>
        <p:nvSpPr>
          <p:cNvPr id="3" name="Content Placeholder 2">
            <a:extLst>
              <a:ext uri="{FF2B5EF4-FFF2-40B4-BE49-F238E27FC236}">
                <a16:creationId xmlns:a16="http://schemas.microsoft.com/office/drawing/2014/main" id="{5A0A264B-796A-079A-6412-D7FE1EE27F94}"/>
              </a:ext>
            </a:extLst>
          </p:cNvPr>
          <p:cNvSpPr>
            <a:spLocks noGrp="1"/>
          </p:cNvSpPr>
          <p:nvPr>
            <p:ph idx="1"/>
          </p:nvPr>
        </p:nvSpPr>
        <p:spPr/>
        <p:txBody>
          <a:bodyPr/>
          <a:lstStyle/>
          <a:p>
            <a:r>
              <a:rPr lang="en-US" dirty="0"/>
              <a:t>As previously stated, there are numerous CSS properties which can be used to style webpages.</a:t>
            </a:r>
          </a:p>
          <a:p>
            <a:r>
              <a:rPr lang="en-US" dirty="0"/>
              <a:t>A full list of properties can be found here: </a:t>
            </a:r>
            <a:r>
              <a:rPr lang="en-US" dirty="0">
                <a:hlinkClick r:id="rId2"/>
              </a:rPr>
              <a:t>CSS properties - CSS | MDN</a:t>
            </a: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490015E5-B6D1-35A4-CB57-CF595C1BE7A6}"/>
              </a:ext>
            </a:extLst>
          </p:cNvPr>
          <p:cNvSpPr>
            <a:spLocks noGrp="1"/>
          </p:cNvSpPr>
          <p:nvPr>
            <p:ph type="sldNum" sz="quarter" idx="12"/>
          </p:nvPr>
        </p:nvSpPr>
        <p:spPr/>
        <p:txBody>
          <a:bodyPr/>
          <a:lstStyle/>
          <a:p>
            <a:fld id="{F6728BC2-ACA3-447C-A909-F3F49211C066}" type="slidenum">
              <a:rPr lang="en-US" smtClean="0"/>
              <a:pPr/>
              <a:t>18</a:t>
            </a:fld>
            <a:endParaRPr lang="en-US" dirty="0"/>
          </a:p>
        </p:txBody>
      </p:sp>
      <p:graphicFrame>
        <p:nvGraphicFramePr>
          <p:cNvPr id="5" name="Table 4">
            <a:extLst>
              <a:ext uri="{FF2B5EF4-FFF2-40B4-BE49-F238E27FC236}">
                <a16:creationId xmlns:a16="http://schemas.microsoft.com/office/drawing/2014/main" id="{994CDE2A-FB02-5547-7AF8-4177068FB858}"/>
              </a:ext>
            </a:extLst>
          </p:cNvPr>
          <p:cNvGraphicFramePr>
            <a:graphicFrameLocks noGrp="1"/>
          </p:cNvGraphicFramePr>
          <p:nvPr>
            <p:extLst>
              <p:ext uri="{D42A27DB-BD31-4B8C-83A1-F6EECF244321}">
                <p14:modId xmlns:p14="http://schemas.microsoft.com/office/powerpoint/2010/main" val="1666107266"/>
              </p:ext>
            </p:extLst>
          </p:nvPr>
        </p:nvGraphicFramePr>
        <p:xfrm>
          <a:off x="320634" y="3744427"/>
          <a:ext cx="8502732" cy="2733040"/>
        </p:xfrm>
        <a:graphic>
          <a:graphicData uri="http://schemas.openxmlformats.org/drawingml/2006/table">
            <a:tbl>
              <a:tblPr firstRow="1" bandRow="1">
                <a:tableStyleId>{5C22544A-7EE6-4342-B048-85BDC9FD1C3A}</a:tableStyleId>
              </a:tblPr>
              <a:tblGrid>
                <a:gridCol w="1664044">
                  <a:extLst>
                    <a:ext uri="{9D8B030D-6E8A-4147-A177-3AD203B41FA5}">
                      <a16:colId xmlns:a16="http://schemas.microsoft.com/office/drawing/2014/main" val="2609031368"/>
                    </a:ext>
                  </a:extLst>
                </a:gridCol>
                <a:gridCol w="2386355">
                  <a:extLst>
                    <a:ext uri="{9D8B030D-6E8A-4147-A177-3AD203B41FA5}">
                      <a16:colId xmlns:a16="http://schemas.microsoft.com/office/drawing/2014/main" val="15015628"/>
                    </a:ext>
                  </a:extLst>
                </a:gridCol>
                <a:gridCol w="4452333">
                  <a:extLst>
                    <a:ext uri="{9D8B030D-6E8A-4147-A177-3AD203B41FA5}">
                      <a16:colId xmlns:a16="http://schemas.microsoft.com/office/drawing/2014/main" val="1047527874"/>
                    </a:ext>
                  </a:extLst>
                </a:gridCol>
              </a:tblGrid>
              <a:tr h="370840">
                <a:tc>
                  <a:txBody>
                    <a:bodyPr/>
                    <a:lstStyle/>
                    <a:p>
                      <a:pPr algn="ctr"/>
                      <a:r>
                        <a:rPr lang="en-US" dirty="0"/>
                        <a:t>Property</a:t>
                      </a:r>
                    </a:p>
                  </a:txBody>
                  <a:tcPr/>
                </a:tc>
                <a:tc>
                  <a:txBody>
                    <a:bodyPr/>
                    <a:lstStyle/>
                    <a:p>
                      <a:pPr algn="ctr"/>
                      <a:r>
                        <a:rPr lang="en-US" dirty="0"/>
                        <a:t>Example Values</a:t>
                      </a:r>
                    </a:p>
                  </a:txBody>
                  <a:tcPr/>
                </a:tc>
                <a:tc>
                  <a:txBody>
                    <a:bodyPr/>
                    <a:lstStyle/>
                    <a:p>
                      <a:pPr algn="ctr"/>
                      <a:r>
                        <a:rPr lang="en-US" dirty="0"/>
                        <a:t>Description</a:t>
                      </a:r>
                    </a:p>
                  </a:txBody>
                  <a:tcPr/>
                </a:tc>
                <a:extLst>
                  <a:ext uri="{0D108BD9-81ED-4DB2-BD59-A6C34878D82A}">
                    <a16:rowId xmlns:a16="http://schemas.microsoft.com/office/drawing/2014/main" val="3558295839"/>
                  </a:ext>
                </a:extLst>
              </a:tr>
              <a:tr h="370840">
                <a:tc>
                  <a:txBody>
                    <a:bodyPr/>
                    <a:lstStyle/>
                    <a:p>
                      <a:pPr algn="ctr"/>
                      <a:r>
                        <a:rPr lang="en-US" sz="1400" dirty="0">
                          <a:latin typeface="Courier New" panose="02070309020205020404" pitchFamily="49" charset="0"/>
                          <a:cs typeface="Courier New" panose="02070309020205020404" pitchFamily="49" charset="0"/>
                        </a:rPr>
                        <a:t>border-width</a:t>
                      </a:r>
                    </a:p>
                  </a:txBody>
                  <a:tcPr anchor="ctr"/>
                </a:tc>
                <a:tc>
                  <a:txBody>
                    <a:bodyPr/>
                    <a:lstStyle/>
                    <a:p>
                      <a:pPr algn="ctr"/>
                      <a:r>
                        <a:rPr lang="en-US" sz="1400" dirty="0"/>
                        <a:t>medium, thin, thick, # </a:t>
                      </a:r>
                      <a:r>
                        <a:rPr lang="en-US" sz="1400" dirty="0" err="1"/>
                        <a:t>px</a:t>
                      </a:r>
                      <a:endParaRPr lang="en-US" sz="1400" dirty="0"/>
                    </a:p>
                  </a:txBody>
                  <a:tcPr anchor="ctr"/>
                </a:tc>
                <a:tc>
                  <a:txBody>
                    <a:bodyPr/>
                    <a:lstStyle/>
                    <a:p>
                      <a:r>
                        <a:rPr lang="en-US" sz="1400" dirty="0"/>
                        <a:t>Defines the border area of a box. Sets the top, bottom, left and right, based on the number of values provided. </a:t>
                      </a:r>
                    </a:p>
                  </a:txBody>
                  <a:tcPr/>
                </a:tc>
                <a:extLst>
                  <a:ext uri="{0D108BD9-81ED-4DB2-BD59-A6C34878D82A}">
                    <a16:rowId xmlns:a16="http://schemas.microsoft.com/office/drawing/2014/main" val="1665973507"/>
                  </a:ext>
                </a:extLst>
              </a:tr>
              <a:tr h="370840">
                <a:tc>
                  <a:txBody>
                    <a:bodyPr/>
                    <a:lstStyle/>
                    <a:p>
                      <a:pPr algn="ctr"/>
                      <a:r>
                        <a:rPr lang="en-US" sz="1400" dirty="0">
                          <a:latin typeface="Courier New" panose="02070309020205020404" pitchFamily="49" charset="0"/>
                          <a:cs typeface="Courier New" panose="02070309020205020404" pitchFamily="49" charset="0"/>
                        </a:rPr>
                        <a:t>border-style</a:t>
                      </a:r>
                    </a:p>
                  </a:txBody>
                  <a:tcPr anchor="ctr"/>
                </a:tc>
                <a:tc>
                  <a:txBody>
                    <a:bodyPr/>
                    <a:lstStyle/>
                    <a:p>
                      <a:pPr algn="ctr"/>
                      <a:r>
                        <a:rPr lang="en-US" sz="1400" dirty="0"/>
                        <a:t>none, hidden, dashed, dotted, double, solid</a:t>
                      </a:r>
                    </a:p>
                  </a:txBody>
                  <a:tcPr anchor="ctr"/>
                </a:tc>
                <a:tc>
                  <a:txBody>
                    <a:bodyPr/>
                    <a:lstStyle/>
                    <a:p>
                      <a:r>
                        <a:rPr lang="en-US" sz="1400" dirty="0"/>
                        <a:t>Sets the style of a box’s border.</a:t>
                      </a:r>
                    </a:p>
                  </a:txBody>
                  <a:tcPr/>
                </a:tc>
                <a:extLst>
                  <a:ext uri="{0D108BD9-81ED-4DB2-BD59-A6C34878D82A}">
                    <a16:rowId xmlns:a16="http://schemas.microsoft.com/office/drawing/2014/main" val="2640191210"/>
                  </a:ext>
                </a:extLst>
              </a:tr>
              <a:tr h="370840">
                <a:tc>
                  <a:txBody>
                    <a:bodyPr/>
                    <a:lstStyle/>
                    <a:p>
                      <a:pPr algn="ctr"/>
                      <a:r>
                        <a:rPr lang="en-US" sz="1400" dirty="0">
                          <a:latin typeface="Courier New" panose="02070309020205020404" pitchFamily="49" charset="0"/>
                          <a:cs typeface="Courier New" panose="02070309020205020404" pitchFamily="49" charset="0"/>
                        </a:rPr>
                        <a:t>border-color</a:t>
                      </a:r>
                    </a:p>
                  </a:txBody>
                  <a:tcPr anchor="ctr"/>
                </a:tc>
                <a:tc>
                  <a:txBody>
                    <a:bodyPr/>
                    <a:lstStyle/>
                    <a:p>
                      <a:pPr algn="ctr"/>
                      <a:r>
                        <a:rPr lang="en-US" sz="1400" dirty="0"/>
                        <a:t>hex-value for color</a:t>
                      </a:r>
                    </a:p>
                  </a:txBody>
                  <a:tcPr anchor="ctr"/>
                </a:tc>
                <a:tc>
                  <a:txBody>
                    <a:bodyPr/>
                    <a:lstStyle/>
                    <a:p>
                      <a:r>
                        <a:rPr lang="en-US" sz="1400" dirty="0"/>
                        <a:t>Specifies the color of a box’s border</a:t>
                      </a:r>
                    </a:p>
                  </a:txBody>
                  <a:tcPr/>
                </a:tc>
                <a:extLst>
                  <a:ext uri="{0D108BD9-81ED-4DB2-BD59-A6C34878D82A}">
                    <a16:rowId xmlns:a16="http://schemas.microsoft.com/office/drawing/2014/main" val="1777324368"/>
                  </a:ext>
                </a:extLst>
              </a:tr>
              <a:tr h="370840">
                <a:tc>
                  <a:txBody>
                    <a:bodyPr/>
                    <a:lstStyle/>
                    <a:p>
                      <a:pPr algn="ctr"/>
                      <a:r>
                        <a:rPr lang="en-US" sz="1400" dirty="0">
                          <a:latin typeface="Courier New" panose="02070309020205020404" pitchFamily="49" charset="0"/>
                          <a:cs typeface="Courier New" panose="02070309020205020404" pitchFamily="49" charset="0"/>
                        </a:rPr>
                        <a:t>padding</a:t>
                      </a:r>
                    </a:p>
                  </a:txBody>
                  <a:tcPr anchor="ctr"/>
                </a:tc>
                <a:tc>
                  <a:txBody>
                    <a:bodyPr/>
                    <a:lstStyle/>
                    <a:p>
                      <a:pPr algn="ctr"/>
                      <a:r>
                        <a:rPr lang="en-US" sz="1400" dirty="0"/>
                        <a:t>medium, thin, thick, # </a:t>
                      </a:r>
                      <a:r>
                        <a:rPr lang="en-US" sz="1400" dirty="0" err="1"/>
                        <a:t>px</a:t>
                      </a:r>
                      <a:endParaRPr lang="en-US" sz="1400" dirty="0"/>
                    </a:p>
                  </a:txBody>
                  <a:tcPr anchor="ctr"/>
                </a:tc>
                <a:tc>
                  <a:txBody>
                    <a:bodyPr/>
                    <a:lstStyle/>
                    <a:p>
                      <a:r>
                        <a:rPr lang="en-US" sz="1400" dirty="0"/>
                        <a:t>Sets the size of the padding for the element. </a:t>
                      </a:r>
                    </a:p>
                  </a:txBody>
                  <a:tcPr/>
                </a:tc>
                <a:extLst>
                  <a:ext uri="{0D108BD9-81ED-4DB2-BD59-A6C34878D82A}">
                    <a16:rowId xmlns:a16="http://schemas.microsoft.com/office/drawing/2014/main" val="4202675545"/>
                  </a:ext>
                </a:extLst>
              </a:tr>
              <a:tr h="370840">
                <a:tc>
                  <a:txBody>
                    <a:bodyPr/>
                    <a:lstStyle/>
                    <a:p>
                      <a:pPr algn="ctr"/>
                      <a:r>
                        <a:rPr lang="en-US" sz="1400" dirty="0">
                          <a:latin typeface="Courier New" panose="02070309020205020404" pitchFamily="49" charset="0"/>
                          <a:cs typeface="Courier New" panose="02070309020205020404" pitchFamily="49" charset="0"/>
                        </a:rPr>
                        <a:t>margin</a:t>
                      </a:r>
                    </a:p>
                  </a:txBody>
                  <a:tcPr anchor="ctr"/>
                </a:tc>
                <a:tc>
                  <a:txBody>
                    <a:bodyPr/>
                    <a:lstStyle/>
                    <a:p>
                      <a:pPr algn="ctr"/>
                      <a:r>
                        <a:rPr lang="en-US" sz="1400" dirty="0"/>
                        <a:t>medium, thin, thick, # </a:t>
                      </a:r>
                      <a:r>
                        <a:rPr lang="en-US" sz="1400" dirty="0" err="1"/>
                        <a:t>px</a:t>
                      </a:r>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Sets the size of the margins for the element.</a:t>
                      </a:r>
                    </a:p>
                  </a:txBody>
                  <a:tcPr/>
                </a:tc>
                <a:extLst>
                  <a:ext uri="{0D108BD9-81ED-4DB2-BD59-A6C34878D82A}">
                    <a16:rowId xmlns:a16="http://schemas.microsoft.com/office/drawing/2014/main" val="3471479359"/>
                  </a:ext>
                </a:extLst>
              </a:tr>
            </a:tbl>
          </a:graphicData>
        </a:graphic>
      </p:graphicFrame>
    </p:spTree>
    <p:extLst>
      <p:ext uri="{BB962C8B-B14F-4D97-AF65-F5344CB8AC3E}">
        <p14:creationId xmlns:p14="http://schemas.microsoft.com/office/powerpoint/2010/main" val="3055718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003BC-2ED8-B07F-C4D8-0F0A46194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9430A2-A031-806D-1023-7B802C21EEB5}"/>
              </a:ext>
            </a:extLst>
          </p:cNvPr>
          <p:cNvSpPr>
            <a:spLocks noGrp="1"/>
          </p:cNvSpPr>
          <p:nvPr>
            <p:ph type="title"/>
          </p:nvPr>
        </p:nvSpPr>
        <p:spPr/>
        <p:txBody>
          <a:bodyPr/>
          <a:lstStyle/>
          <a:p>
            <a:r>
              <a:rPr lang="en-US" dirty="0"/>
              <a:t>More CSS Properties</a:t>
            </a:r>
          </a:p>
        </p:txBody>
      </p:sp>
      <p:sp>
        <p:nvSpPr>
          <p:cNvPr id="4" name="Slide Number Placeholder 3">
            <a:extLst>
              <a:ext uri="{FF2B5EF4-FFF2-40B4-BE49-F238E27FC236}">
                <a16:creationId xmlns:a16="http://schemas.microsoft.com/office/drawing/2014/main" id="{57965735-E027-820F-8DC2-71381EA67BCB}"/>
              </a:ext>
            </a:extLst>
          </p:cNvPr>
          <p:cNvSpPr>
            <a:spLocks noGrp="1"/>
          </p:cNvSpPr>
          <p:nvPr>
            <p:ph type="sldNum" sz="quarter" idx="12"/>
          </p:nvPr>
        </p:nvSpPr>
        <p:spPr/>
        <p:txBody>
          <a:bodyPr/>
          <a:lstStyle/>
          <a:p>
            <a:fld id="{F6728BC2-ACA3-447C-A909-F3F49211C066}" type="slidenum">
              <a:rPr lang="en-US" smtClean="0"/>
              <a:pPr/>
              <a:t>19</a:t>
            </a:fld>
            <a:endParaRPr lang="en-US" dirty="0"/>
          </a:p>
        </p:txBody>
      </p:sp>
      <p:graphicFrame>
        <p:nvGraphicFramePr>
          <p:cNvPr id="8" name="Table 7">
            <a:extLst>
              <a:ext uri="{FF2B5EF4-FFF2-40B4-BE49-F238E27FC236}">
                <a16:creationId xmlns:a16="http://schemas.microsoft.com/office/drawing/2014/main" id="{437A7961-390E-97B2-0398-D160F1AE970A}"/>
              </a:ext>
            </a:extLst>
          </p:cNvPr>
          <p:cNvGraphicFramePr>
            <a:graphicFrameLocks noGrp="1"/>
          </p:cNvGraphicFramePr>
          <p:nvPr>
            <p:extLst>
              <p:ext uri="{D42A27DB-BD31-4B8C-83A1-F6EECF244321}">
                <p14:modId xmlns:p14="http://schemas.microsoft.com/office/powerpoint/2010/main" val="273656971"/>
              </p:ext>
            </p:extLst>
          </p:nvPr>
        </p:nvGraphicFramePr>
        <p:xfrm>
          <a:off x="320634" y="1453061"/>
          <a:ext cx="8502732" cy="4861560"/>
        </p:xfrm>
        <a:graphic>
          <a:graphicData uri="http://schemas.openxmlformats.org/drawingml/2006/table">
            <a:tbl>
              <a:tblPr firstRow="1" bandRow="1">
                <a:tableStyleId>{5C22544A-7EE6-4342-B048-85BDC9FD1C3A}</a:tableStyleId>
              </a:tblPr>
              <a:tblGrid>
                <a:gridCol w="1664044">
                  <a:extLst>
                    <a:ext uri="{9D8B030D-6E8A-4147-A177-3AD203B41FA5}">
                      <a16:colId xmlns:a16="http://schemas.microsoft.com/office/drawing/2014/main" val="2609031368"/>
                    </a:ext>
                  </a:extLst>
                </a:gridCol>
                <a:gridCol w="2386355">
                  <a:extLst>
                    <a:ext uri="{9D8B030D-6E8A-4147-A177-3AD203B41FA5}">
                      <a16:colId xmlns:a16="http://schemas.microsoft.com/office/drawing/2014/main" val="15015628"/>
                    </a:ext>
                  </a:extLst>
                </a:gridCol>
                <a:gridCol w="4452333">
                  <a:extLst>
                    <a:ext uri="{9D8B030D-6E8A-4147-A177-3AD203B41FA5}">
                      <a16:colId xmlns:a16="http://schemas.microsoft.com/office/drawing/2014/main" val="1047527874"/>
                    </a:ext>
                  </a:extLst>
                </a:gridCol>
              </a:tblGrid>
              <a:tr h="370840">
                <a:tc>
                  <a:txBody>
                    <a:bodyPr/>
                    <a:lstStyle/>
                    <a:p>
                      <a:pPr algn="ctr"/>
                      <a:r>
                        <a:rPr lang="en-US" dirty="0"/>
                        <a:t>Property</a:t>
                      </a:r>
                    </a:p>
                  </a:txBody>
                  <a:tcPr/>
                </a:tc>
                <a:tc>
                  <a:txBody>
                    <a:bodyPr/>
                    <a:lstStyle/>
                    <a:p>
                      <a:pPr algn="ctr"/>
                      <a:r>
                        <a:rPr lang="en-US" dirty="0"/>
                        <a:t>Example Values</a:t>
                      </a:r>
                    </a:p>
                  </a:txBody>
                  <a:tcPr/>
                </a:tc>
                <a:tc>
                  <a:txBody>
                    <a:bodyPr/>
                    <a:lstStyle/>
                    <a:p>
                      <a:pPr algn="ctr"/>
                      <a:r>
                        <a:rPr lang="en-US" dirty="0"/>
                        <a:t>Description</a:t>
                      </a:r>
                    </a:p>
                  </a:txBody>
                  <a:tcPr/>
                </a:tc>
                <a:extLst>
                  <a:ext uri="{0D108BD9-81ED-4DB2-BD59-A6C34878D82A}">
                    <a16:rowId xmlns:a16="http://schemas.microsoft.com/office/drawing/2014/main" val="3558295839"/>
                  </a:ext>
                </a:extLst>
              </a:tr>
              <a:tr h="370840">
                <a:tc>
                  <a:txBody>
                    <a:bodyPr/>
                    <a:lstStyle/>
                    <a:p>
                      <a:pPr algn="ctr"/>
                      <a:r>
                        <a:rPr lang="en-US" sz="1400" dirty="0">
                          <a:latin typeface="Courier New" panose="02070309020205020404" pitchFamily="49" charset="0"/>
                          <a:cs typeface="Courier New" panose="02070309020205020404" pitchFamily="49" charset="0"/>
                        </a:rPr>
                        <a:t>color</a:t>
                      </a:r>
                    </a:p>
                  </a:txBody>
                  <a:tcPr anchor="ctr"/>
                </a:tc>
                <a:tc>
                  <a:txBody>
                    <a:bodyPr/>
                    <a:lstStyle/>
                    <a:p>
                      <a:pPr algn="ctr"/>
                      <a:r>
                        <a:rPr lang="en-US" sz="1400" dirty="0"/>
                        <a:t>color name (ex: red), color hex value</a:t>
                      </a:r>
                    </a:p>
                  </a:txBody>
                  <a:tcPr anchor="ctr"/>
                </a:tc>
                <a:tc>
                  <a:txBody>
                    <a:bodyPr/>
                    <a:lstStyle/>
                    <a:p>
                      <a:r>
                        <a:rPr lang="en-US" sz="1400" dirty="0"/>
                        <a:t>Sets the color of the element’s text content</a:t>
                      </a:r>
                    </a:p>
                  </a:txBody>
                  <a:tcPr/>
                </a:tc>
                <a:extLst>
                  <a:ext uri="{0D108BD9-81ED-4DB2-BD59-A6C34878D82A}">
                    <a16:rowId xmlns:a16="http://schemas.microsoft.com/office/drawing/2014/main" val="1665973507"/>
                  </a:ext>
                </a:extLst>
              </a:tr>
              <a:tr h="370840">
                <a:tc>
                  <a:txBody>
                    <a:bodyPr/>
                    <a:lstStyle/>
                    <a:p>
                      <a:pPr algn="ctr"/>
                      <a:r>
                        <a:rPr lang="en-US" sz="1400" dirty="0">
                          <a:latin typeface="Courier New" panose="02070309020205020404" pitchFamily="49" charset="0"/>
                          <a:cs typeface="Courier New" panose="02070309020205020404" pitchFamily="49" charset="0"/>
                        </a:rPr>
                        <a:t>background-color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color name (ex: red), color hex value</a:t>
                      </a:r>
                    </a:p>
                  </a:txBody>
                  <a:tcPr anchor="ctr"/>
                </a:tc>
                <a:tc>
                  <a:txBody>
                    <a:bodyPr/>
                    <a:lstStyle/>
                    <a:p>
                      <a:r>
                        <a:rPr lang="en-US" sz="1400" dirty="0"/>
                        <a:t>Sets the color of the background of the content area for an element</a:t>
                      </a:r>
                    </a:p>
                  </a:txBody>
                  <a:tcPr/>
                </a:tc>
                <a:extLst>
                  <a:ext uri="{0D108BD9-81ED-4DB2-BD59-A6C34878D82A}">
                    <a16:rowId xmlns:a16="http://schemas.microsoft.com/office/drawing/2014/main" val="2640191210"/>
                  </a:ext>
                </a:extLst>
              </a:tr>
              <a:tr h="370840">
                <a:tc>
                  <a:txBody>
                    <a:bodyPr/>
                    <a:lstStyle/>
                    <a:p>
                      <a:pPr algn="ctr"/>
                      <a:r>
                        <a:rPr lang="en-US" sz="1400" dirty="0">
                          <a:latin typeface="Courier New" panose="02070309020205020404" pitchFamily="49" charset="0"/>
                          <a:cs typeface="Courier New" panose="02070309020205020404" pitchFamily="49" charset="0"/>
                        </a:rPr>
                        <a:t>font-family</a:t>
                      </a:r>
                    </a:p>
                  </a:txBody>
                  <a:tcPr anchor="ctr"/>
                </a:tc>
                <a:tc>
                  <a:txBody>
                    <a:bodyPr/>
                    <a:lstStyle/>
                    <a:p>
                      <a:pPr algn="ctr"/>
                      <a:r>
                        <a:rPr lang="en-US" sz="1400" dirty="0"/>
                        <a:t>named font (ex: “arial”)</a:t>
                      </a:r>
                    </a:p>
                  </a:txBody>
                  <a:tcPr anchor="ctr"/>
                </a:tc>
                <a:tc>
                  <a:txBody>
                    <a:bodyPr/>
                    <a:lstStyle/>
                    <a:p>
                      <a:r>
                        <a:rPr lang="en-US" sz="1400" dirty="0"/>
                        <a:t>Sets the type of font for the element’s text content</a:t>
                      </a:r>
                    </a:p>
                  </a:txBody>
                  <a:tcPr/>
                </a:tc>
                <a:extLst>
                  <a:ext uri="{0D108BD9-81ED-4DB2-BD59-A6C34878D82A}">
                    <a16:rowId xmlns:a16="http://schemas.microsoft.com/office/drawing/2014/main" val="1777324368"/>
                  </a:ext>
                </a:extLst>
              </a:tr>
              <a:tr h="370840">
                <a:tc>
                  <a:txBody>
                    <a:bodyPr/>
                    <a:lstStyle/>
                    <a:p>
                      <a:pPr algn="ctr"/>
                      <a:r>
                        <a:rPr lang="en-US" sz="1400" dirty="0">
                          <a:latin typeface="Courier New" panose="02070309020205020404" pitchFamily="49" charset="0"/>
                          <a:cs typeface="Courier New" panose="02070309020205020404" pitchFamily="49" charset="0"/>
                        </a:rPr>
                        <a:t>font-size</a:t>
                      </a:r>
                    </a:p>
                  </a:txBody>
                  <a:tcPr anchor="ctr"/>
                </a:tc>
                <a:tc>
                  <a:txBody>
                    <a:bodyPr/>
                    <a:lstStyle/>
                    <a:p>
                      <a:pPr algn="ctr"/>
                      <a:r>
                        <a:rPr lang="en-US" sz="1400" dirty="0"/>
                        <a:t>x-small, small, medium, large, # </a:t>
                      </a:r>
                      <a:r>
                        <a:rPr lang="en-US" sz="1400" dirty="0" err="1"/>
                        <a:t>px</a:t>
                      </a:r>
                      <a:r>
                        <a:rPr lang="en-US" sz="1400" dirty="0"/>
                        <a:t>, %</a:t>
                      </a:r>
                    </a:p>
                  </a:txBody>
                  <a:tcPr anchor="ctr"/>
                </a:tc>
                <a:tc>
                  <a:txBody>
                    <a:bodyPr/>
                    <a:lstStyle/>
                    <a:p>
                      <a:r>
                        <a:rPr lang="en-US" sz="1400" dirty="0"/>
                        <a:t>Sets the size of the element’s text content</a:t>
                      </a:r>
                    </a:p>
                  </a:txBody>
                  <a:tcPr/>
                </a:tc>
                <a:extLst>
                  <a:ext uri="{0D108BD9-81ED-4DB2-BD59-A6C34878D82A}">
                    <a16:rowId xmlns:a16="http://schemas.microsoft.com/office/drawing/2014/main" val="3497124175"/>
                  </a:ext>
                </a:extLst>
              </a:tr>
              <a:tr h="370840">
                <a:tc>
                  <a:txBody>
                    <a:bodyPr/>
                    <a:lstStyle/>
                    <a:p>
                      <a:pPr algn="ctr"/>
                      <a:r>
                        <a:rPr lang="en-US" sz="1400" dirty="0">
                          <a:latin typeface="Courier New" panose="02070309020205020404" pitchFamily="49" charset="0"/>
                          <a:cs typeface="Courier New" panose="02070309020205020404" pitchFamily="49" charset="0"/>
                        </a:rPr>
                        <a:t>text-align</a:t>
                      </a:r>
                    </a:p>
                  </a:txBody>
                  <a:tcPr anchor="ctr"/>
                </a:tc>
                <a:tc>
                  <a:txBody>
                    <a:bodyPr/>
                    <a:lstStyle/>
                    <a:p>
                      <a:pPr algn="ctr"/>
                      <a:r>
                        <a:rPr lang="en-US" sz="1400" dirty="0"/>
                        <a:t>left, right, justify, center</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Aligns the text of the element’s content</a:t>
                      </a:r>
                    </a:p>
                  </a:txBody>
                  <a:tcPr/>
                </a:tc>
                <a:extLst>
                  <a:ext uri="{0D108BD9-81ED-4DB2-BD59-A6C34878D82A}">
                    <a16:rowId xmlns:a16="http://schemas.microsoft.com/office/drawing/2014/main" val="925245695"/>
                  </a:ext>
                </a:extLst>
              </a:tr>
              <a:tr h="370840">
                <a:tc>
                  <a:txBody>
                    <a:bodyPr/>
                    <a:lstStyle/>
                    <a:p>
                      <a:pPr algn="ctr"/>
                      <a:r>
                        <a:rPr lang="en-US" sz="1400" dirty="0">
                          <a:latin typeface="Courier New" panose="02070309020205020404" pitchFamily="49" charset="0"/>
                          <a:cs typeface="Courier New" panose="02070309020205020404" pitchFamily="49" charset="0"/>
                        </a:rPr>
                        <a:t>position</a:t>
                      </a:r>
                    </a:p>
                  </a:txBody>
                  <a:tcPr anchor="ctr"/>
                </a:tc>
                <a:tc>
                  <a:txBody>
                    <a:bodyPr/>
                    <a:lstStyle/>
                    <a:p>
                      <a:pPr algn="ctr"/>
                      <a:r>
                        <a:rPr lang="en-US" sz="1400" dirty="0"/>
                        <a:t>static, relative, absolute, sticky</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Positions an element on the page, either relative to surrounding elements, based on the document, or based on the viewing window</a:t>
                      </a:r>
                    </a:p>
                  </a:txBody>
                  <a:tcPr/>
                </a:tc>
                <a:extLst>
                  <a:ext uri="{0D108BD9-81ED-4DB2-BD59-A6C34878D82A}">
                    <a16:rowId xmlns:a16="http://schemas.microsoft.com/office/drawing/2014/main" val="3786776785"/>
                  </a:ext>
                </a:extLst>
              </a:tr>
              <a:tr h="370840">
                <a:tc>
                  <a:txBody>
                    <a:bodyPr/>
                    <a:lstStyle/>
                    <a:p>
                      <a:pPr algn="ctr"/>
                      <a:r>
                        <a:rPr lang="en-US" sz="1400" dirty="0">
                          <a:latin typeface="Courier New" panose="02070309020205020404" pitchFamily="49" charset="0"/>
                          <a:cs typeface="Courier New" panose="02070309020205020404" pitchFamily="49" charset="0"/>
                        </a:rPr>
                        <a:t>width</a:t>
                      </a:r>
                    </a:p>
                  </a:txBody>
                  <a:tcPr anchor="ctr"/>
                </a:tc>
                <a:tc>
                  <a:txBody>
                    <a:bodyPr/>
                    <a:lstStyle/>
                    <a:p>
                      <a:pPr algn="ctr"/>
                      <a:r>
                        <a:rPr lang="en-US" sz="1400" dirty="0"/>
                        <a:t># </a:t>
                      </a:r>
                      <a:r>
                        <a:rPr lang="en-US" sz="1400" dirty="0" err="1"/>
                        <a:t>px</a:t>
                      </a:r>
                      <a:r>
                        <a:rPr lang="en-US" sz="1400" dirty="0"/>
                        <a:t>, %, auto</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Sets the height of an element. Defines the size of either the content area, or the up to the border when combined with the ‘box-sizing’ property</a:t>
                      </a:r>
                    </a:p>
                  </a:txBody>
                  <a:tcPr/>
                </a:tc>
                <a:extLst>
                  <a:ext uri="{0D108BD9-81ED-4DB2-BD59-A6C34878D82A}">
                    <a16:rowId xmlns:a16="http://schemas.microsoft.com/office/drawing/2014/main" val="3321537294"/>
                  </a:ext>
                </a:extLst>
              </a:tr>
              <a:tr h="370840">
                <a:tc>
                  <a:txBody>
                    <a:bodyPr/>
                    <a:lstStyle/>
                    <a:p>
                      <a:pPr algn="ctr"/>
                      <a:r>
                        <a:rPr lang="en-US" sz="1400" dirty="0">
                          <a:latin typeface="Courier New" panose="02070309020205020404" pitchFamily="49" charset="0"/>
                          <a:cs typeface="Courier New" panose="02070309020205020404" pitchFamily="49" charset="0"/>
                        </a:rPr>
                        <a:t>height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 </a:t>
                      </a:r>
                      <a:r>
                        <a:rPr lang="en-US" sz="1400" dirty="0" err="1"/>
                        <a:t>px</a:t>
                      </a:r>
                      <a:r>
                        <a:rPr lang="en-US" sz="1400" dirty="0"/>
                        <a:t>, %, auto</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Sets the width of an element. Defines the size of either the content area, or the up to the border when combined with the ‘box-sizing’ property</a:t>
                      </a:r>
                    </a:p>
                  </a:txBody>
                  <a:tcPr/>
                </a:tc>
                <a:extLst>
                  <a:ext uri="{0D108BD9-81ED-4DB2-BD59-A6C34878D82A}">
                    <a16:rowId xmlns:a16="http://schemas.microsoft.com/office/drawing/2014/main" val="2086131341"/>
                  </a:ext>
                </a:extLst>
              </a:tr>
            </a:tbl>
          </a:graphicData>
        </a:graphic>
      </p:graphicFrame>
    </p:spTree>
    <p:extLst>
      <p:ext uri="{BB962C8B-B14F-4D97-AF65-F5344CB8AC3E}">
        <p14:creationId xmlns:p14="http://schemas.microsoft.com/office/powerpoint/2010/main" val="2107687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47800-7CF3-7055-4E69-2CA51D8B2E0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015DEF-F6D0-D40E-3A61-F1D4CEEBA3C2}"/>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20</a:t>
            </a:fld>
            <a:endParaRPr lang="en-US"/>
          </a:p>
        </p:txBody>
      </p:sp>
      <p:sp>
        <p:nvSpPr>
          <p:cNvPr id="4" name="Google Shape;212;p15">
            <a:extLst>
              <a:ext uri="{FF2B5EF4-FFF2-40B4-BE49-F238E27FC236}">
                <a16:creationId xmlns:a16="http://schemas.microsoft.com/office/drawing/2014/main" id="{1680380F-394B-859D-7EEB-EC9C580B2C88}"/>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CSS Specificity</a:t>
            </a:r>
          </a:p>
        </p:txBody>
      </p:sp>
      <p:pic>
        <p:nvPicPr>
          <p:cNvPr id="6" name="Picture 5">
            <a:extLst>
              <a:ext uri="{FF2B5EF4-FFF2-40B4-BE49-F238E27FC236}">
                <a16:creationId xmlns:a16="http://schemas.microsoft.com/office/drawing/2014/main" id="{B18C74F1-B1D0-EA59-D269-35F29C5E80E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537540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Cascading Styles</a:t>
            </a:r>
          </a:p>
        </p:txBody>
      </p:sp>
      <p:sp>
        <p:nvSpPr>
          <p:cNvPr id="3" name="Content Placeholder 2"/>
          <p:cNvSpPr>
            <a:spLocks noGrp="1"/>
          </p:cNvSpPr>
          <p:nvPr>
            <p:ph idx="1"/>
          </p:nvPr>
        </p:nvSpPr>
        <p:spPr>
          <a:xfrm>
            <a:off x="380010" y="1481446"/>
            <a:ext cx="8383980" cy="4882266"/>
          </a:xfrm>
        </p:spPr>
        <p:txBody>
          <a:bodyPr>
            <a:normAutofit lnSpcReduction="10000"/>
          </a:bodyPr>
          <a:lstStyle/>
          <a:p>
            <a:r>
              <a:rPr lang="en-US" dirty="0"/>
              <a:t>Why do we say style sheets “cascade”?</a:t>
            </a:r>
          </a:p>
          <a:p>
            <a:pPr lvl="1"/>
            <a:r>
              <a:rPr lang="en-US" dirty="0"/>
              <a:t>If multiple CSS selectors apply to a single element, they will all apply their properties.</a:t>
            </a:r>
          </a:p>
          <a:p>
            <a:pPr lvl="1"/>
            <a:r>
              <a:rPr lang="en-US" dirty="0">
                <a:latin typeface="Courier New" panose="02070309020205020404" pitchFamily="49" charset="0"/>
                <a:cs typeface="Courier New" panose="02070309020205020404" pitchFamily="49" charset="0"/>
              </a:rPr>
              <a:t>p { color: green;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.test { font-family: monospaced; }</a:t>
            </a:r>
            <a:br>
              <a:rPr lang="en-US" dirty="0">
                <a:latin typeface="Courier New" panose="02070309020205020404" pitchFamily="49" charset="0"/>
                <a:cs typeface="Courier New" panose="02070309020205020404" pitchFamily="49" charset="0"/>
              </a:rPr>
            </a:b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&lt;p class=“test”&gt;This is a test!&lt;/p&gt;</a:t>
            </a:r>
          </a:p>
          <a:p>
            <a:pPr lvl="1"/>
            <a:endParaRPr lang="en-US" dirty="0"/>
          </a:p>
          <a:p>
            <a:r>
              <a:rPr lang="en-US" dirty="0"/>
              <a:t>What about when two properties conflict?</a:t>
            </a:r>
          </a:p>
          <a:p>
            <a:pPr lvl="1"/>
            <a:r>
              <a:rPr lang="en-US" dirty="0">
                <a:latin typeface="Courier New" panose="02070309020205020404" pitchFamily="49" charset="0"/>
                <a:cs typeface="Courier New" panose="02070309020205020404" pitchFamily="49" charset="0"/>
              </a:rPr>
              <a:t>p { color: green;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.test { color: red; }</a:t>
            </a:r>
          </a:p>
          <a:p>
            <a:pPr lvl="1"/>
            <a:r>
              <a:rPr lang="en-US" dirty="0"/>
              <a:t>The most specific selector wins…</a:t>
            </a:r>
          </a:p>
        </p:txBody>
      </p:sp>
      <p:sp>
        <p:nvSpPr>
          <p:cNvPr id="4" name="Slide Number Placeholder 3"/>
          <p:cNvSpPr>
            <a:spLocks noGrp="1"/>
          </p:cNvSpPr>
          <p:nvPr>
            <p:ph type="sldNum" sz="quarter" idx="12"/>
          </p:nvPr>
        </p:nvSpPr>
        <p:spPr/>
        <p:txBody>
          <a:bodyPr/>
          <a:lstStyle/>
          <a:p>
            <a:fld id="{F6728BC2-ACA3-447C-A909-F3F49211C066}" type="slidenum">
              <a:rPr lang="en-US" smtClean="0"/>
              <a:pPr/>
              <a:t>21</a:t>
            </a:fld>
            <a:endParaRPr lang="en-US" dirty="0"/>
          </a:p>
        </p:txBody>
      </p:sp>
    </p:spTree>
    <p:extLst>
      <p:ext uri="{BB962C8B-B14F-4D97-AF65-F5344CB8AC3E}">
        <p14:creationId xmlns:p14="http://schemas.microsoft.com/office/powerpoint/2010/main" val="3034001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5623C-2B73-4773-9BFC-46C3AAD4C6BD}"/>
              </a:ext>
            </a:extLst>
          </p:cNvPr>
          <p:cNvSpPr>
            <a:spLocks noGrp="1"/>
          </p:cNvSpPr>
          <p:nvPr>
            <p:ph type="title"/>
          </p:nvPr>
        </p:nvSpPr>
        <p:spPr/>
        <p:txBody>
          <a:bodyPr/>
          <a:lstStyle/>
          <a:p>
            <a:r>
              <a:rPr lang="en-US" dirty="0"/>
              <a:t>CSS Specificity</a:t>
            </a:r>
          </a:p>
        </p:txBody>
      </p:sp>
      <p:sp>
        <p:nvSpPr>
          <p:cNvPr id="3" name="Content Placeholder 2">
            <a:extLst>
              <a:ext uri="{FF2B5EF4-FFF2-40B4-BE49-F238E27FC236}">
                <a16:creationId xmlns:a16="http://schemas.microsoft.com/office/drawing/2014/main" id="{4F7D29E7-19FE-4353-B01C-4B32C361B6EA}"/>
              </a:ext>
            </a:extLst>
          </p:cNvPr>
          <p:cNvSpPr>
            <a:spLocks noGrp="1"/>
          </p:cNvSpPr>
          <p:nvPr>
            <p:ph idx="1"/>
          </p:nvPr>
        </p:nvSpPr>
        <p:spPr>
          <a:xfrm>
            <a:off x="380010" y="1481446"/>
            <a:ext cx="8383980" cy="4882266"/>
          </a:xfrm>
        </p:spPr>
        <p:txBody>
          <a:bodyPr>
            <a:normAutofit fontScale="92500" lnSpcReduction="10000"/>
          </a:bodyPr>
          <a:lstStyle/>
          <a:p>
            <a:r>
              <a:rPr lang="en-US" dirty="0"/>
              <a:t>CSS properties are assigned a weight based on how specific their selectors are:</a:t>
            </a:r>
          </a:p>
          <a:p>
            <a:pPr lvl="1"/>
            <a:r>
              <a:rPr lang="en-US" dirty="0"/>
              <a:t>Elements: 1pt</a:t>
            </a:r>
          </a:p>
          <a:p>
            <a:pPr lvl="1"/>
            <a:r>
              <a:rPr lang="en-US" dirty="0"/>
              <a:t>Classes: 10pts</a:t>
            </a:r>
          </a:p>
          <a:p>
            <a:pPr lvl="1"/>
            <a:r>
              <a:rPr lang="en-US" dirty="0"/>
              <a:t>IDs: 100pts</a:t>
            </a:r>
          </a:p>
          <a:p>
            <a:pPr lvl="1"/>
            <a:r>
              <a:rPr lang="en-US" dirty="0"/>
              <a:t>If the property is in the style attribute: 1000pts</a:t>
            </a:r>
          </a:p>
          <a:p>
            <a:pPr lvl="1"/>
            <a:endParaRPr lang="en-US" dirty="0"/>
          </a:p>
          <a:p>
            <a:pPr marL="457200" lvl="1" indent="0">
              <a:buNone/>
            </a:pPr>
            <a:r>
              <a:rPr lang="en-US" dirty="0"/>
              <a:t>p { … }        : 1pt</a:t>
            </a:r>
            <a:br>
              <a:rPr lang="en-US" dirty="0"/>
            </a:br>
            <a:r>
              <a:rPr lang="en-US" dirty="0"/>
              <a:t>.test { … }   : 10pts</a:t>
            </a:r>
            <a:br>
              <a:rPr lang="en-US" dirty="0"/>
            </a:br>
            <a:r>
              <a:rPr lang="en-US" dirty="0" err="1"/>
              <a:t>p.test</a:t>
            </a:r>
            <a:r>
              <a:rPr lang="en-US" dirty="0"/>
              <a:t> { … } : 11pts</a:t>
            </a:r>
            <a:br>
              <a:rPr lang="en-US" dirty="0"/>
            </a:br>
            <a:r>
              <a:rPr lang="en-US" dirty="0"/>
              <a:t>&lt;p style=“…”&gt; : 1000pts</a:t>
            </a:r>
          </a:p>
          <a:p>
            <a:pPr marL="457200" lvl="1" indent="0">
              <a:buNone/>
            </a:pPr>
            <a:endParaRPr lang="en-US" dirty="0"/>
          </a:p>
          <a:p>
            <a:pPr marL="457200" lvl="1" indent="0">
              <a:buNone/>
            </a:pPr>
            <a:r>
              <a:rPr lang="en-US" dirty="0"/>
              <a:t>Almost all overlaps can be resolved in this way.</a:t>
            </a:r>
          </a:p>
        </p:txBody>
      </p:sp>
      <p:sp>
        <p:nvSpPr>
          <p:cNvPr id="4" name="Slide Number Placeholder 3">
            <a:extLst>
              <a:ext uri="{FF2B5EF4-FFF2-40B4-BE49-F238E27FC236}">
                <a16:creationId xmlns:a16="http://schemas.microsoft.com/office/drawing/2014/main" id="{BD229167-E08C-49D4-BC3A-E935221F8F31}"/>
              </a:ext>
            </a:extLst>
          </p:cNvPr>
          <p:cNvSpPr>
            <a:spLocks noGrp="1"/>
          </p:cNvSpPr>
          <p:nvPr>
            <p:ph type="sldNum" sz="quarter" idx="12"/>
          </p:nvPr>
        </p:nvSpPr>
        <p:spPr/>
        <p:txBody>
          <a:bodyPr/>
          <a:lstStyle/>
          <a:p>
            <a:fld id="{F6728BC2-ACA3-447C-A909-F3F49211C066}" type="slidenum">
              <a:rPr lang="en-US" smtClean="0"/>
              <a:pPr/>
              <a:t>22</a:t>
            </a:fld>
            <a:endParaRPr lang="en-US" dirty="0"/>
          </a:p>
        </p:txBody>
      </p:sp>
    </p:spTree>
    <p:extLst>
      <p:ext uri="{BB962C8B-B14F-4D97-AF65-F5344CB8AC3E}">
        <p14:creationId xmlns:p14="http://schemas.microsoft.com/office/powerpoint/2010/main" val="1394283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AB1A2-7CEF-9214-F1E8-E8BAD241F2D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5DE122-01CC-86EF-5434-83483AA622D5}"/>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23</a:t>
            </a:fld>
            <a:endParaRPr lang="en-US"/>
          </a:p>
        </p:txBody>
      </p:sp>
      <p:sp>
        <p:nvSpPr>
          <p:cNvPr id="4" name="Google Shape;212;p15">
            <a:extLst>
              <a:ext uri="{FF2B5EF4-FFF2-40B4-BE49-F238E27FC236}">
                <a16:creationId xmlns:a16="http://schemas.microsoft.com/office/drawing/2014/main" id="{3620A5AC-9D32-47FB-66EB-F99B606B40C3}"/>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Responsive Web Design</a:t>
            </a:r>
          </a:p>
        </p:txBody>
      </p:sp>
      <p:pic>
        <p:nvPicPr>
          <p:cNvPr id="6" name="Picture 5">
            <a:extLst>
              <a:ext uri="{FF2B5EF4-FFF2-40B4-BE49-F238E27FC236}">
                <a16:creationId xmlns:a16="http://schemas.microsoft.com/office/drawing/2014/main" id="{7352518F-0F45-1E74-CA58-1C5CFCCE7E65}"/>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7396340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368DA-5670-C94E-15DF-9C8C56091C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40A26C-C655-4FC2-FB14-8FC5027717AD}"/>
              </a:ext>
            </a:extLst>
          </p:cNvPr>
          <p:cNvSpPr>
            <a:spLocks noGrp="1"/>
          </p:cNvSpPr>
          <p:nvPr>
            <p:ph type="title"/>
          </p:nvPr>
        </p:nvSpPr>
        <p:spPr/>
        <p:txBody>
          <a:bodyPr/>
          <a:lstStyle/>
          <a:p>
            <a:r>
              <a:rPr lang="en-US" dirty="0"/>
              <a:t>Responsive Web Design</a:t>
            </a:r>
          </a:p>
        </p:txBody>
      </p:sp>
      <p:sp>
        <p:nvSpPr>
          <p:cNvPr id="3" name="Content Placeholder 2">
            <a:extLst>
              <a:ext uri="{FF2B5EF4-FFF2-40B4-BE49-F238E27FC236}">
                <a16:creationId xmlns:a16="http://schemas.microsoft.com/office/drawing/2014/main" id="{81E9BB1D-52F5-E3F5-76FA-FCB33CC47D39}"/>
              </a:ext>
            </a:extLst>
          </p:cNvPr>
          <p:cNvSpPr>
            <a:spLocks noGrp="1"/>
          </p:cNvSpPr>
          <p:nvPr>
            <p:ph idx="1"/>
          </p:nvPr>
        </p:nvSpPr>
        <p:spPr>
          <a:xfrm>
            <a:off x="380010" y="1481445"/>
            <a:ext cx="8383980" cy="5247391"/>
          </a:xfrm>
        </p:spPr>
        <p:txBody>
          <a:bodyPr>
            <a:normAutofit fontScale="85000" lnSpcReduction="20000"/>
          </a:bodyPr>
          <a:lstStyle/>
          <a:p>
            <a:r>
              <a:rPr lang="en-US" dirty="0"/>
              <a:t>Responsive Web design is the approach that allows websites and pages to render (or display) on all devices and screen sizes by automatically adapting to the screen, whether it’s a desktop, laptop, tablet, or smartphone.</a:t>
            </a:r>
          </a:p>
          <a:p>
            <a:r>
              <a:rPr lang="en-US" dirty="0"/>
              <a:t>Responsive web design works through CSS, using various settings to serve different style properties depending on the screen size, orientation, resolution, color capability, and other characteristics of the user’s device</a:t>
            </a:r>
          </a:p>
          <a:p>
            <a:r>
              <a:rPr lang="en-US" dirty="0"/>
              <a:t>It is a combination of flexible grids, flex boxes, flexible images, and media queries.</a:t>
            </a:r>
          </a:p>
          <a:p>
            <a:r>
              <a:rPr lang="en-US" dirty="0"/>
              <a:t>Modern CSS supports responsive web design, all kinds of transitions, transformations, and animations, and provides box-sizing tools that enable the user to adjust the size of any element without changing the dimensions or padding of the element.</a:t>
            </a:r>
          </a:p>
        </p:txBody>
      </p:sp>
      <p:sp>
        <p:nvSpPr>
          <p:cNvPr id="4" name="Slide Number Placeholder 3">
            <a:extLst>
              <a:ext uri="{FF2B5EF4-FFF2-40B4-BE49-F238E27FC236}">
                <a16:creationId xmlns:a16="http://schemas.microsoft.com/office/drawing/2014/main" id="{C575B762-F621-94A7-594B-D6A84D46DCCD}"/>
              </a:ext>
            </a:extLst>
          </p:cNvPr>
          <p:cNvSpPr>
            <a:spLocks noGrp="1"/>
          </p:cNvSpPr>
          <p:nvPr>
            <p:ph type="sldNum" sz="quarter" idx="12"/>
          </p:nvPr>
        </p:nvSpPr>
        <p:spPr/>
        <p:txBody>
          <a:bodyPr/>
          <a:lstStyle/>
          <a:p>
            <a:fld id="{F6728BC2-ACA3-447C-A909-F3F49211C066}" type="slidenum">
              <a:rPr lang="en-US" smtClean="0"/>
              <a:pPr/>
              <a:t>24</a:t>
            </a:fld>
            <a:endParaRPr lang="en-US" dirty="0"/>
          </a:p>
        </p:txBody>
      </p:sp>
    </p:spTree>
    <p:extLst>
      <p:ext uri="{BB962C8B-B14F-4D97-AF65-F5344CB8AC3E}">
        <p14:creationId xmlns:p14="http://schemas.microsoft.com/office/powerpoint/2010/main" val="1390393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C9F25-4619-DA49-544B-3CCE89F47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BE54D8-3E03-B1AA-BC76-4AFD5C557B68}"/>
              </a:ext>
            </a:extLst>
          </p:cNvPr>
          <p:cNvSpPr>
            <a:spLocks noGrp="1"/>
          </p:cNvSpPr>
          <p:nvPr>
            <p:ph type="title"/>
          </p:nvPr>
        </p:nvSpPr>
        <p:spPr/>
        <p:txBody>
          <a:bodyPr/>
          <a:lstStyle/>
          <a:p>
            <a:r>
              <a:rPr lang="en-US" dirty="0"/>
              <a:t>Responsive Web Design</a:t>
            </a:r>
          </a:p>
        </p:txBody>
      </p:sp>
      <p:sp>
        <p:nvSpPr>
          <p:cNvPr id="4" name="Slide Number Placeholder 3">
            <a:extLst>
              <a:ext uri="{FF2B5EF4-FFF2-40B4-BE49-F238E27FC236}">
                <a16:creationId xmlns:a16="http://schemas.microsoft.com/office/drawing/2014/main" id="{2081352C-AE89-4A84-9D5C-0E6EFF405DCE}"/>
              </a:ext>
            </a:extLst>
          </p:cNvPr>
          <p:cNvSpPr>
            <a:spLocks noGrp="1"/>
          </p:cNvSpPr>
          <p:nvPr>
            <p:ph type="sldNum" sz="quarter" idx="12"/>
          </p:nvPr>
        </p:nvSpPr>
        <p:spPr/>
        <p:txBody>
          <a:bodyPr/>
          <a:lstStyle/>
          <a:p>
            <a:fld id="{F6728BC2-ACA3-447C-A909-F3F49211C066}" type="slidenum">
              <a:rPr lang="en-US" smtClean="0"/>
              <a:pPr/>
              <a:t>25</a:t>
            </a:fld>
            <a:endParaRPr lang="en-US" dirty="0"/>
          </a:p>
        </p:txBody>
      </p:sp>
      <p:pic>
        <p:nvPicPr>
          <p:cNvPr id="7" name="Content Placeholder 4">
            <a:extLst>
              <a:ext uri="{FF2B5EF4-FFF2-40B4-BE49-F238E27FC236}">
                <a16:creationId xmlns:a16="http://schemas.microsoft.com/office/drawing/2014/main" id="{4D1E3F42-3FBB-2F5A-5F7E-F2F0750A199F}"/>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13217" r="20221" b="74036"/>
          <a:stretch/>
        </p:blipFill>
        <p:spPr>
          <a:xfrm>
            <a:off x="907700" y="1696330"/>
            <a:ext cx="2820237" cy="2098653"/>
          </a:xfrm>
        </p:spPr>
      </p:pic>
      <p:pic>
        <p:nvPicPr>
          <p:cNvPr id="8" name="Content Placeholder 4">
            <a:extLst>
              <a:ext uri="{FF2B5EF4-FFF2-40B4-BE49-F238E27FC236}">
                <a16:creationId xmlns:a16="http://schemas.microsoft.com/office/drawing/2014/main" id="{6E1F346D-32DA-D7C1-0BBE-55B03D0D23B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27692" b="36538"/>
          <a:stretch/>
        </p:blipFill>
        <p:spPr bwMode="auto">
          <a:xfrm>
            <a:off x="4961282" y="1656467"/>
            <a:ext cx="3592310" cy="2138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Content Placeholder 4">
            <a:extLst>
              <a:ext uri="{FF2B5EF4-FFF2-40B4-BE49-F238E27FC236}">
                <a16:creationId xmlns:a16="http://schemas.microsoft.com/office/drawing/2014/main" id="{D7068668-B392-B081-FDC8-D4A023A3DA3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412" t="62536" r="9088"/>
          <a:stretch/>
        </p:blipFill>
        <p:spPr bwMode="auto">
          <a:xfrm>
            <a:off x="3018693" y="4232251"/>
            <a:ext cx="2919884" cy="2146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7049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59A01-056E-A417-D620-0B16861445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4D956B-1C60-D144-5CFB-1A55C5D5A6E7}"/>
              </a:ext>
            </a:extLst>
          </p:cNvPr>
          <p:cNvSpPr>
            <a:spLocks noGrp="1"/>
          </p:cNvSpPr>
          <p:nvPr>
            <p:ph type="title"/>
          </p:nvPr>
        </p:nvSpPr>
        <p:spPr/>
        <p:txBody>
          <a:bodyPr/>
          <a:lstStyle/>
          <a:p>
            <a:r>
              <a:rPr lang="en-US" dirty="0"/>
              <a:t>Media Queries</a:t>
            </a:r>
          </a:p>
        </p:txBody>
      </p:sp>
      <p:sp>
        <p:nvSpPr>
          <p:cNvPr id="3" name="Content Placeholder 2">
            <a:extLst>
              <a:ext uri="{FF2B5EF4-FFF2-40B4-BE49-F238E27FC236}">
                <a16:creationId xmlns:a16="http://schemas.microsoft.com/office/drawing/2014/main" id="{7DD709CD-4B0B-B3F3-B1E4-0CB1E20BD025}"/>
              </a:ext>
            </a:extLst>
          </p:cNvPr>
          <p:cNvSpPr>
            <a:spLocks noGrp="1"/>
          </p:cNvSpPr>
          <p:nvPr>
            <p:ph idx="1"/>
          </p:nvPr>
        </p:nvSpPr>
        <p:spPr>
          <a:xfrm>
            <a:off x="380010" y="1481446"/>
            <a:ext cx="8383980" cy="4882266"/>
          </a:xfrm>
        </p:spPr>
        <p:txBody>
          <a:bodyPr>
            <a:normAutofit lnSpcReduction="10000"/>
          </a:bodyPr>
          <a:lstStyle/>
          <a:p>
            <a:r>
              <a:rPr lang="en-US" dirty="0"/>
              <a:t>Media queries allow you to customize the presentation of your web pages for a specific range of devices, like mobile phones, tablets, desktops, etc… without any change in markups</a:t>
            </a:r>
          </a:p>
          <a:p>
            <a:r>
              <a:rPr lang="en-US" dirty="0"/>
              <a:t>Media queries are composed of an optional media type and expressions that check for the conditions of particular media features</a:t>
            </a:r>
          </a:p>
          <a:p>
            <a:r>
              <a:rPr lang="en-US" dirty="0"/>
              <a:t>Media queries may also be combined in various ways by using logical operator expressions.</a:t>
            </a:r>
          </a:p>
          <a:p>
            <a:r>
              <a:rPr lang="en-US" dirty="0"/>
              <a:t>More information regarding Media queries can be found here: </a:t>
            </a:r>
            <a:r>
              <a:rPr lang="es-ES" dirty="0">
                <a:hlinkClick r:id="rId2"/>
              </a:rPr>
              <a:t>CSS media </a:t>
            </a:r>
            <a:r>
              <a:rPr lang="es-ES" dirty="0" err="1">
                <a:hlinkClick r:id="rId2"/>
              </a:rPr>
              <a:t>queries</a:t>
            </a:r>
            <a:r>
              <a:rPr lang="es-ES" dirty="0">
                <a:hlinkClick r:id="rId2"/>
              </a:rPr>
              <a:t> - CSS | MDN</a:t>
            </a: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218530D8-E872-BA36-83FC-15C9A5221D58}"/>
              </a:ext>
            </a:extLst>
          </p:cNvPr>
          <p:cNvSpPr>
            <a:spLocks noGrp="1"/>
          </p:cNvSpPr>
          <p:nvPr>
            <p:ph type="sldNum" sz="quarter" idx="12"/>
          </p:nvPr>
        </p:nvSpPr>
        <p:spPr/>
        <p:txBody>
          <a:bodyPr/>
          <a:lstStyle/>
          <a:p>
            <a:fld id="{F6728BC2-ACA3-447C-A909-F3F49211C066}" type="slidenum">
              <a:rPr lang="en-US" smtClean="0"/>
              <a:pPr/>
              <a:t>26</a:t>
            </a:fld>
            <a:endParaRPr lang="en-US" dirty="0"/>
          </a:p>
        </p:txBody>
      </p:sp>
    </p:spTree>
    <p:extLst>
      <p:ext uri="{BB962C8B-B14F-4D97-AF65-F5344CB8AC3E}">
        <p14:creationId xmlns:p14="http://schemas.microsoft.com/office/powerpoint/2010/main" val="1136624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C4A44-0188-0BCE-FE45-FDC3887D43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E667A-52A7-1AC8-D59F-79D4D68FBB98}"/>
              </a:ext>
            </a:extLst>
          </p:cNvPr>
          <p:cNvSpPr>
            <a:spLocks noGrp="1"/>
          </p:cNvSpPr>
          <p:nvPr>
            <p:ph type="title"/>
          </p:nvPr>
        </p:nvSpPr>
        <p:spPr/>
        <p:txBody>
          <a:bodyPr/>
          <a:lstStyle/>
          <a:p>
            <a:r>
              <a:rPr lang="en-US" dirty="0"/>
              <a:t>Media Queries | Example</a:t>
            </a:r>
          </a:p>
        </p:txBody>
      </p:sp>
      <p:sp>
        <p:nvSpPr>
          <p:cNvPr id="4" name="Slide Number Placeholder 3">
            <a:extLst>
              <a:ext uri="{FF2B5EF4-FFF2-40B4-BE49-F238E27FC236}">
                <a16:creationId xmlns:a16="http://schemas.microsoft.com/office/drawing/2014/main" id="{854CFF8A-E924-4E5E-52AD-ED946C249CA2}"/>
              </a:ext>
            </a:extLst>
          </p:cNvPr>
          <p:cNvSpPr>
            <a:spLocks noGrp="1"/>
          </p:cNvSpPr>
          <p:nvPr>
            <p:ph type="sldNum" sz="quarter" idx="12"/>
          </p:nvPr>
        </p:nvSpPr>
        <p:spPr/>
        <p:txBody>
          <a:bodyPr/>
          <a:lstStyle/>
          <a:p>
            <a:fld id="{F6728BC2-ACA3-447C-A909-F3F49211C066}" type="slidenum">
              <a:rPr lang="en-US" smtClean="0"/>
              <a:pPr/>
              <a:t>27</a:t>
            </a:fld>
            <a:endParaRPr lang="en-US" dirty="0"/>
          </a:p>
        </p:txBody>
      </p:sp>
      <p:pic>
        <p:nvPicPr>
          <p:cNvPr id="9" name="Picture 2">
            <a:extLst>
              <a:ext uri="{FF2B5EF4-FFF2-40B4-BE49-F238E27FC236}">
                <a16:creationId xmlns:a16="http://schemas.microsoft.com/office/drawing/2014/main" id="{A7F6C3CF-6377-1FA5-62FF-3FBD607341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3568002"/>
            <a:ext cx="6172200" cy="2430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Content Placeholder 2">
            <a:extLst>
              <a:ext uri="{FF2B5EF4-FFF2-40B4-BE49-F238E27FC236}">
                <a16:creationId xmlns:a16="http://schemas.microsoft.com/office/drawing/2014/main" id="{07AD9BAD-C08F-314A-336C-9FE807807F98}"/>
              </a:ext>
            </a:extLst>
          </p:cNvPr>
          <p:cNvSpPr>
            <a:spLocks noGrp="1"/>
          </p:cNvSpPr>
          <p:nvPr>
            <p:ph idx="1"/>
          </p:nvPr>
        </p:nvSpPr>
        <p:spPr>
          <a:xfrm>
            <a:off x="457200" y="1436915"/>
            <a:ext cx="8229600" cy="1992086"/>
          </a:xfrm>
        </p:spPr>
        <p:txBody>
          <a:bodyPr/>
          <a:lstStyle/>
          <a:p>
            <a:r>
              <a:rPr lang="en-US" sz="2600" dirty="0"/>
              <a:t>The following example changes the background color of the &lt;body&gt; element to "red" and the font style to "Arial" when the browser window is 600px wide or less.</a:t>
            </a:r>
          </a:p>
        </p:txBody>
      </p:sp>
    </p:spTree>
    <p:extLst>
      <p:ext uri="{BB962C8B-B14F-4D97-AF65-F5344CB8AC3E}">
        <p14:creationId xmlns:p14="http://schemas.microsoft.com/office/powerpoint/2010/main" val="3313793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2AA91-9BB7-4D6E-83AA-9A12D7A6BB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3F6EAD-1305-C12F-7266-3DA13BA0C9D6}"/>
              </a:ext>
            </a:extLst>
          </p:cNvPr>
          <p:cNvSpPr>
            <a:spLocks noGrp="1"/>
          </p:cNvSpPr>
          <p:nvPr>
            <p:ph type="title"/>
          </p:nvPr>
        </p:nvSpPr>
        <p:spPr/>
        <p:txBody>
          <a:bodyPr/>
          <a:lstStyle/>
          <a:p>
            <a:r>
              <a:rPr lang="en-US" dirty="0"/>
              <a:t>Flexbox</a:t>
            </a:r>
          </a:p>
        </p:txBody>
      </p:sp>
      <p:sp>
        <p:nvSpPr>
          <p:cNvPr id="3" name="Content Placeholder 2">
            <a:extLst>
              <a:ext uri="{FF2B5EF4-FFF2-40B4-BE49-F238E27FC236}">
                <a16:creationId xmlns:a16="http://schemas.microsoft.com/office/drawing/2014/main" id="{5C19AE38-5ED7-9DDE-ED32-2474FAEAA219}"/>
              </a:ext>
            </a:extLst>
          </p:cNvPr>
          <p:cNvSpPr>
            <a:spLocks noGrp="1"/>
          </p:cNvSpPr>
          <p:nvPr>
            <p:ph idx="1"/>
          </p:nvPr>
        </p:nvSpPr>
        <p:spPr>
          <a:xfrm>
            <a:off x="380010" y="1481446"/>
            <a:ext cx="8383980" cy="4882266"/>
          </a:xfrm>
        </p:spPr>
        <p:txBody>
          <a:bodyPr>
            <a:normAutofit fontScale="92500"/>
          </a:bodyPr>
          <a:lstStyle/>
          <a:p>
            <a:r>
              <a:rPr lang="en-US" sz="2200" b="1" dirty="0"/>
              <a:t>Flexbox</a:t>
            </a:r>
            <a:r>
              <a:rPr lang="en-US" sz="2200" dirty="0"/>
              <a:t>, short for “Flexible Box Layout”, is a CSS layout module that provides a flexible and efficient way to arrange and align elements within a container.</a:t>
            </a:r>
          </a:p>
          <a:p>
            <a:r>
              <a:rPr lang="en-US" sz="2200" dirty="0"/>
              <a:t>Flexbox introduces a one-dimensional layout model, allowing you to align items along a single axis (either horizontally or vertically).</a:t>
            </a:r>
          </a:p>
          <a:p>
            <a:r>
              <a:rPr lang="en-US" sz="2200" dirty="0"/>
              <a:t>The main idea behind flexbox is to distribute available space within the container and control the alignment and positioning of its child elements, also known as flex items</a:t>
            </a:r>
          </a:p>
          <a:p>
            <a:r>
              <a:rPr lang="en-US" sz="2200" dirty="0"/>
              <a:t>When working with any flexbox layout, the first step is to create a </a:t>
            </a:r>
            <a:r>
              <a:rPr lang="en-US" sz="2200" b="1" i="1" dirty="0"/>
              <a:t>flex container</a:t>
            </a:r>
            <a:r>
              <a:rPr lang="en-US" sz="2200" dirty="0"/>
              <a:t> by </a:t>
            </a:r>
            <a:r>
              <a:rPr lang="en-US" sz="2200" i="1" dirty="0"/>
              <a:t>setting the element’s </a:t>
            </a:r>
            <a:r>
              <a:rPr lang="en-US" sz="2200" b="1" i="1" dirty="0"/>
              <a:t>display property </a:t>
            </a:r>
            <a:r>
              <a:rPr lang="en-US" sz="2200" i="1" dirty="0"/>
              <a:t>to </a:t>
            </a:r>
            <a:r>
              <a:rPr lang="en-US" sz="2200" b="1" i="1" dirty="0"/>
              <a:t>flex</a:t>
            </a:r>
            <a:r>
              <a:rPr lang="en-US" sz="2200" dirty="0"/>
              <a:t> or </a:t>
            </a:r>
            <a:r>
              <a:rPr lang="en-US" sz="2200" b="1" i="1" dirty="0"/>
              <a:t>inline-flex</a:t>
            </a:r>
            <a:endParaRPr lang="en-US" sz="2200" dirty="0"/>
          </a:p>
          <a:p>
            <a:r>
              <a:rPr lang="en-US" sz="2200" dirty="0"/>
              <a:t>The direct children of the flex container are called flex items.</a:t>
            </a:r>
          </a:p>
          <a:p>
            <a:r>
              <a:rPr lang="en-US" sz="2200" dirty="0"/>
              <a:t>See the documentation for more information on Flexbox: </a:t>
            </a:r>
            <a:r>
              <a:rPr lang="en-US" sz="2200" dirty="0">
                <a:hlinkClick r:id="rId2"/>
              </a:rPr>
              <a:t>CSS flexible box layout - CSS | MDN</a:t>
            </a:r>
            <a:endParaRPr lang="en-US" dirty="0"/>
          </a:p>
          <a:p>
            <a:endParaRPr lang="en-US" dirty="0"/>
          </a:p>
        </p:txBody>
      </p:sp>
      <p:sp>
        <p:nvSpPr>
          <p:cNvPr id="4" name="Slide Number Placeholder 3">
            <a:extLst>
              <a:ext uri="{FF2B5EF4-FFF2-40B4-BE49-F238E27FC236}">
                <a16:creationId xmlns:a16="http://schemas.microsoft.com/office/drawing/2014/main" id="{2265EA1D-A2DE-49CB-F4AF-8D306530E6C8}"/>
              </a:ext>
            </a:extLst>
          </p:cNvPr>
          <p:cNvSpPr>
            <a:spLocks noGrp="1"/>
          </p:cNvSpPr>
          <p:nvPr>
            <p:ph type="sldNum" sz="quarter" idx="12"/>
          </p:nvPr>
        </p:nvSpPr>
        <p:spPr/>
        <p:txBody>
          <a:bodyPr/>
          <a:lstStyle/>
          <a:p>
            <a:fld id="{F6728BC2-ACA3-447C-A909-F3F49211C066}" type="slidenum">
              <a:rPr lang="en-US" smtClean="0"/>
              <a:pPr/>
              <a:t>28</a:t>
            </a:fld>
            <a:endParaRPr lang="en-US" dirty="0"/>
          </a:p>
        </p:txBody>
      </p:sp>
    </p:spTree>
    <p:extLst>
      <p:ext uri="{BB962C8B-B14F-4D97-AF65-F5344CB8AC3E}">
        <p14:creationId xmlns:p14="http://schemas.microsoft.com/office/powerpoint/2010/main" val="3670644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1C411-FF2B-FC7B-6F46-418042F3E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A75A31-8E02-8578-9784-5F9C1E209A25}"/>
              </a:ext>
            </a:extLst>
          </p:cNvPr>
          <p:cNvSpPr>
            <a:spLocks noGrp="1"/>
          </p:cNvSpPr>
          <p:nvPr>
            <p:ph type="title"/>
          </p:nvPr>
        </p:nvSpPr>
        <p:spPr/>
        <p:txBody>
          <a:bodyPr/>
          <a:lstStyle/>
          <a:p>
            <a:r>
              <a:rPr lang="en-US" dirty="0"/>
              <a:t>CSS Grid</a:t>
            </a:r>
          </a:p>
        </p:txBody>
      </p:sp>
      <p:sp>
        <p:nvSpPr>
          <p:cNvPr id="3" name="Content Placeholder 2">
            <a:extLst>
              <a:ext uri="{FF2B5EF4-FFF2-40B4-BE49-F238E27FC236}">
                <a16:creationId xmlns:a16="http://schemas.microsoft.com/office/drawing/2014/main" id="{8EC266B9-9A4C-581A-E94A-0F4865D7B8A7}"/>
              </a:ext>
            </a:extLst>
          </p:cNvPr>
          <p:cNvSpPr>
            <a:spLocks noGrp="1"/>
          </p:cNvSpPr>
          <p:nvPr>
            <p:ph idx="1"/>
          </p:nvPr>
        </p:nvSpPr>
        <p:spPr>
          <a:xfrm>
            <a:off x="380010" y="1481446"/>
            <a:ext cx="8383980" cy="4882266"/>
          </a:xfrm>
        </p:spPr>
        <p:txBody>
          <a:bodyPr>
            <a:normAutofit/>
          </a:bodyPr>
          <a:lstStyle/>
          <a:p>
            <a:r>
              <a:rPr lang="en-US" sz="2200" b="1" dirty="0"/>
              <a:t>CSS Grid Layout</a:t>
            </a:r>
            <a:r>
              <a:rPr lang="en-US" sz="2200" i="1" dirty="0"/>
              <a:t> </a:t>
            </a:r>
            <a:r>
              <a:rPr lang="en-US" sz="2200" dirty="0"/>
              <a:t>brings a 2D grid system to CSS, unlike flexbox which is 1D</a:t>
            </a:r>
          </a:p>
          <a:p>
            <a:r>
              <a:rPr lang="en-US" sz="2200" dirty="0"/>
              <a:t>A grid is comprised of columns and rows in which we can place our items</a:t>
            </a:r>
          </a:p>
          <a:p>
            <a:r>
              <a:rPr lang="en-US" sz="2200" dirty="0"/>
              <a:t>Items can be positioned on the grid explicitly using numbers</a:t>
            </a:r>
          </a:p>
          <a:p>
            <a:r>
              <a:rPr lang="en-US" sz="2200" dirty="0"/>
              <a:t>CSS Grid will also calculate where items go when they are not given specific positions.</a:t>
            </a:r>
          </a:p>
          <a:p>
            <a:r>
              <a:rPr lang="en-US" sz="2200" dirty="0"/>
              <a:t>By setting the </a:t>
            </a:r>
            <a:r>
              <a:rPr lang="en-US" sz="2200" b="1" i="1" dirty="0"/>
              <a:t>display</a:t>
            </a:r>
            <a:r>
              <a:rPr lang="en-US" sz="2200" dirty="0"/>
              <a:t> property of an HTML element to </a:t>
            </a:r>
            <a:r>
              <a:rPr lang="en-US" sz="2200" b="1" i="1" dirty="0"/>
              <a:t>grid</a:t>
            </a:r>
            <a:r>
              <a:rPr lang="en-US" sz="2200" dirty="0"/>
              <a:t> or </a:t>
            </a:r>
            <a:r>
              <a:rPr lang="en-US" sz="2200" b="1" i="1" dirty="0"/>
              <a:t>inline-grid</a:t>
            </a:r>
            <a:r>
              <a:rPr lang="en-US" sz="2200" dirty="0"/>
              <a:t>, we turn that element in a grid container, all direct children of the grid container are grid items.</a:t>
            </a:r>
          </a:p>
          <a:p>
            <a:r>
              <a:rPr lang="en-US" sz="2200" dirty="0"/>
              <a:t>For more information, see the documentation:</a:t>
            </a:r>
            <a:r>
              <a:rPr lang="en-US" sz="2000" dirty="0"/>
              <a:t> </a:t>
            </a:r>
            <a:r>
              <a:rPr lang="en-US" sz="2200" dirty="0">
                <a:hlinkClick r:id="rId2"/>
              </a:rPr>
              <a:t>CSS grid layout - CSS | MDN</a:t>
            </a:r>
            <a:endParaRPr lang="en-US" sz="2200" dirty="0"/>
          </a:p>
        </p:txBody>
      </p:sp>
      <p:sp>
        <p:nvSpPr>
          <p:cNvPr id="4" name="Slide Number Placeholder 3">
            <a:extLst>
              <a:ext uri="{FF2B5EF4-FFF2-40B4-BE49-F238E27FC236}">
                <a16:creationId xmlns:a16="http://schemas.microsoft.com/office/drawing/2014/main" id="{F3E456BF-F78E-4ED6-7226-2E938DB58545}"/>
              </a:ext>
            </a:extLst>
          </p:cNvPr>
          <p:cNvSpPr>
            <a:spLocks noGrp="1"/>
          </p:cNvSpPr>
          <p:nvPr>
            <p:ph type="sldNum" sz="quarter" idx="12"/>
          </p:nvPr>
        </p:nvSpPr>
        <p:spPr/>
        <p:txBody>
          <a:bodyPr/>
          <a:lstStyle/>
          <a:p>
            <a:fld id="{F6728BC2-ACA3-447C-A909-F3F49211C066}" type="slidenum">
              <a:rPr lang="en-US" smtClean="0"/>
              <a:pPr/>
              <a:t>29</a:t>
            </a:fld>
            <a:endParaRPr lang="en-US" dirty="0"/>
          </a:p>
        </p:txBody>
      </p:sp>
    </p:spTree>
    <p:extLst>
      <p:ext uri="{BB962C8B-B14F-4D97-AF65-F5344CB8AC3E}">
        <p14:creationId xmlns:p14="http://schemas.microsoft.com/office/powerpoint/2010/main" val="289142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6DA5E-3F5B-1FAA-40B3-7BABDD974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E36F8-F746-0DB8-36F7-93D286E0A08A}"/>
              </a:ext>
            </a:extLst>
          </p:cNvPr>
          <p:cNvSpPr>
            <a:spLocks noGrp="1"/>
          </p:cNvSpPr>
          <p:nvPr>
            <p:ph type="title"/>
          </p:nvPr>
        </p:nvSpPr>
        <p:spPr/>
        <p:txBody>
          <a:bodyPr/>
          <a:lstStyle/>
          <a:p>
            <a:r>
              <a:rPr lang="en-US" dirty="0"/>
              <a:t>CSS Variables</a:t>
            </a:r>
          </a:p>
        </p:txBody>
      </p:sp>
      <p:sp>
        <p:nvSpPr>
          <p:cNvPr id="3" name="Content Placeholder 2">
            <a:extLst>
              <a:ext uri="{FF2B5EF4-FFF2-40B4-BE49-F238E27FC236}">
                <a16:creationId xmlns:a16="http://schemas.microsoft.com/office/drawing/2014/main" id="{4A5E3003-6464-514E-55AA-6EF71C4EEEAF}"/>
              </a:ext>
            </a:extLst>
          </p:cNvPr>
          <p:cNvSpPr>
            <a:spLocks noGrp="1"/>
          </p:cNvSpPr>
          <p:nvPr>
            <p:ph idx="1"/>
          </p:nvPr>
        </p:nvSpPr>
        <p:spPr>
          <a:xfrm>
            <a:off x="380010" y="1481445"/>
            <a:ext cx="8383980" cy="5247391"/>
          </a:xfrm>
        </p:spPr>
        <p:txBody>
          <a:bodyPr>
            <a:normAutofit lnSpcReduction="10000"/>
          </a:bodyPr>
          <a:lstStyle/>
          <a:p>
            <a:r>
              <a:rPr lang="en-US" sz="2200" dirty="0"/>
              <a:t>Custom Properties in CSS are property names prefixed with a double dash. (i.e. </a:t>
            </a:r>
            <a:r>
              <a:rPr lang="en-US" sz="2200" dirty="0">
                <a:latin typeface="Courier New" panose="02070309020205020404" pitchFamily="49" charset="0"/>
                <a:cs typeface="Courier New" panose="02070309020205020404" pitchFamily="49" charset="0"/>
              </a:rPr>
              <a:t>--my-custom-color</a:t>
            </a:r>
            <a:r>
              <a:rPr lang="en-US" sz="2200" dirty="0"/>
              <a:t>)</a:t>
            </a:r>
          </a:p>
          <a:p>
            <a:pPr lvl="1"/>
            <a:r>
              <a:rPr lang="en-US" sz="1800" dirty="0"/>
              <a:t>Note: By convention, multiple-words for CSS properties should be separated with a dash.</a:t>
            </a:r>
          </a:p>
          <a:p>
            <a:r>
              <a:rPr lang="en-US" sz="2200" dirty="0"/>
              <a:t>The </a:t>
            </a:r>
            <a:r>
              <a:rPr lang="en-US" sz="2200" dirty="0">
                <a:latin typeface="Courier New" panose="02070309020205020404" pitchFamily="49" charset="0"/>
                <a:cs typeface="Courier New" panose="02070309020205020404" pitchFamily="49" charset="0"/>
              </a:rPr>
              <a:t>var() </a:t>
            </a:r>
            <a:r>
              <a:rPr lang="en-US" sz="2200" dirty="0"/>
              <a:t>function is used to insert the value of a </a:t>
            </a:r>
            <a:r>
              <a:rPr lang="en-US" sz="2200" i="1" dirty="0"/>
              <a:t>custom property</a:t>
            </a:r>
            <a:r>
              <a:rPr lang="en-US" sz="2200" dirty="0"/>
              <a:t>.</a:t>
            </a:r>
          </a:p>
          <a:p>
            <a:pPr lvl="1"/>
            <a:r>
              <a:rPr lang="en-US" sz="1800" dirty="0"/>
              <a:t>E.g. </a:t>
            </a:r>
            <a:r>
              <a:rPr lang="en-US" sz="1800" dirty="0">
                <a:latin typeface="Courier New" panose="02070309020205020404" pitchFamily="49" charset="0"/>
                <a:cs typeface="Courier New" panose="02070309020205020404" pitchFamily="49" charset="0"/>
              </a:rPr>
              <a:t>color: var(--my-custom-color)</a:t>
            </a:r>
          </a:p>
          <a:p>
            <a:r>
              <a:rPr lang="en-US" sz="2200" dirty="0"/>
              <a:t>CSS variables have access to the DOM, which means that you can create variables with local or global scope, change the variables with JavaScript, and change the variables based on media queries.</a:t>
            </a:r>
          </a:p>
          <a:p>
            <a:r>
              <a:rPr lang="en-US" sz="2200" dirty="0"/>
              <a:t>A good way to use CSS variables is when it comes to the colors of your design.</a:t>
            </a:r>
          </a:p>
          <a:p>
            <a:r>
              <a:rPr lang="en-US" sz="2200" dirty="0"/>
              <a:t>CSS variables allow designers and developers to reuse values for better consistency and maintainability of styles in your stylesheets.</a:t>
            </a:r>
          </a:p>
          <a:p>
            <a:endParaRPr lang="en-US" sz="2200" dirty="0"/>
          </a:p>
          <a:p>
            <a:endParaRPr lang="en-US" sz="2200" dirty="0"/>
          </a:p>
        </p:txBody>
      </p:sp>
      <p:sp>
        <p:nvSpPr>
          <p:cNvPr id="4" name="Slide Number Placeholder 3">
            <a:extLst>
              <a:ext uri="{FF2B5EF4-FFF2-40B4-BE49-F238E27FC236}">
                <a16:creationId xmlns:a16="http://schemas.microsoft.com/office/drawing/2014/main" id="{86127657-7926-7593-5332-38E54610CBA8}"/>
              </a:ext>
            </a:extLst>
          </p:cNvPr>
          <p:cNvSpPr>
            <a:spLocks noGrp="1"/>
          </p:cNvSpPr>
          <p:nvPr>
            <p:ph type="sldNum" sz="quarter" idx="12"/>
          </p:nvPr>
        </p:nvSpPr>
        <p:spPr/>
        <p:txBody>
          <a:bodyPr/>
          <a:lstStyle/>
          <a:p>
            <a:fld id="{F6728BC2-ACA3-447C-A909-F3F49211C066}" type="slidenum">
              <a:rPr lang="en-US" smtClean="0"/>
              <a:pPr/>
              <a:t>30</a:t>
            </a:fld>
            <a:endParaRPr lang="en-US" dirty="0"/>
          </a:p>
        </p:txBody>
      </p:sp>
    </p:spTree>
    <p:extLst>
      <p:ext uri="{BB962C8B-B14F-4D97-AF65-F5344CB8AC3E}">
        <p14:creationId xmlns:p14="http://schemas.microsoft.com/office/powerpoint/2010/main" val="3641810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27BE0-748D-5C1B-CC46-F103B35081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846B4-E7E5-430C-F4DD-1C776E9966E4}"/>
              </a:ext>
            </a:extLst>
          </p:cNvPr>
          <p:cNvSpPr>
            <a:spLocks noGrp="1"/>
          </p:cNvSpPr>
          <p:nvPr>
            <p:ph type="title"/>
          </p:nvPr>
        </p:nvSpPr>
        <p:spPr/>
        <p:txBody>
          <a:bodyPr/>
          <a:lstStyle/>
          <a:p>
            <a:r>
              <a:rPr lang="en-US" dirty="0"/>
              <a:t>CSS Variables | var() syntax</a:t>
            </a:r>
          </a:p>
        </p:txBody>
      </p:sp>
      <p:sp>
        <p:nvSpPr>
          <p:cNvPr id="4" name="Slide Number Placeholder 3">
            <a:extLst>
              <a:ext uri="{FF2B5EF4-FFF2-40B4-BE49-F238E27FC236}">
                <a16:creationId xmlns:a16="http://schemas.microsoft.com/office/drawing/2014/main" id="{5FCA7BFD-59E8-D6AC-5196-CAF3B2033A3C}"/>
              </a:ext>
            </a:extLst>
          </p:cNvPr>
          <p:cNvSpPr>
            <a:spLocks noGrp="1"/>
          </p:cNvSpPr>
          <p:nvPr>
            <p:ph type="sldNum" sz="quarter" idx="12"/>
          </p:nvPr>
        </p:nvSpPr>
        <p:spPr/>
        <p:txBody>
          <a:bodyPr/>
          <a:lstStyle/>
          <a:p>
            <a:fld id="{F6728BC2-ACA3-447C-A909-F3F49211C066}" type="slidenum">
              <a:rPr lang="en-US" smtClean="0"/>
              <a:pPr/>
              <a:t>31</a:t>
            </a:fld>
            <a:endParaRPr lang="en-US" dirty="0"/>
          </a:p>
        </p:txBody>
      </p:sp>
      <p:pic>
        <p:nvPicPr>
          <p:cNvPr id="5" name="Content Placeholder 5">
            <a:extLst>
              <a:ext uri="{FF2B5EF4-FFF2-40B4-BE49-F238E27FC236}">
                <a16:creationId xmlns:a16="http://schemas.microsoft.com/office/drawing/2014/main" id="{E1278DFD-A642-FE09-8E18-A75918927036}"/>
              </a:ext>
            </a:extLst>
          </p:cNvPr>
          <p:cNvPicPr>
            <a:picLocks noChangeAspect="1"/>
          </p:cNvPicPr>
          <p:nvPr/>
        </p:nvPicPr>
        <p:blipFill>
          <a:blip r:embed="rId2"/>
          <a:stretch>
            <a:fillRect/>
          </a:stretch>
        </p:blipFill>
        <p:spPr>
          <a:xfrm>
            <a:off x="457200" y="1865271"/>
            <a:ext cx="8229600" cy="3858388"/>
          </a:xfrm>
          <a:prstGeom prst="rect">
            <a:avLst/>
          </a:prstGeom>
        </p:spPr>
      </p:pic>
    </p:spTree>
    <p:extLst>
      <p:ext uri="{BB962C8B-B14F-4D97-AF65-F5344CB8AC3E}">
        <p14:creationId xmlns:p14="http://schemas.microsoft.com/office/powerpoint/2010/main" val="17786262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33134-EACD-50C3-BE1B-AB39289FC1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691E03-3E50-8602-4B1C-0E5EFA1AC073}"/>
              </a:ext>
            </a:extLst>
          </p:cNvPr>
          <p:cNvSpPr>
            <a:spLocks noGrp="1"/>
          </p:cNvSpPr>
          <p:nvPr>
            <p:ph type="title"/>
          </p:nvPr>
        </p:nvSpPr>
        <p:spPr/>
        <p:txBody>
          <a:bodyPr/>
          <a:lstStyle/>
          <a:p>
            <a:r>
              <a:rPr lang="en-US" dirty="0"/>
              <a:t>CSS Variables</a:t>
            </a:r>
          </a:p>
        </p:txBody>
      </p:sp>
      <p:sp>
        <p:nvSpPr>
          <p:cNvPr id="3" name="Content Placeholder 2">
            <a:extLst>
              <a:ext uri="{FF2B5EF4-FFF2-40B4-BE49-F238E27FC236}">
                <a16:creationId xmlns:a16="http://schemas.microsoft.com/office/drawing/2014/main" id="{9767D032-F291-8257-0CBB-38CA04FE4398}"/>
              </a:ext>
            </a:extLst>
          </p:cNvPr>
          <p:cNvSpPr>
            <a:spLocks noGrp="1"/>
          </p:cNvSpPr>
          <p:nvPr>
            <p:ph idx="1"/>
          </p:nvPr>
        </p:nvSpPr>
        <p:spPr>
          <a:xfrm>
            <a:off x="380010" y="1481446"/>
            <a:ext cx="8383980" cy="4882266"/>
          </a:xfrm>
        </p:spPr>
        <p:txBody>
          <a:bodyPr>
            <a:normAutofit lnSpcReduction="10000"/>
          </a:bodyPr>
          <a:lstStyle/>
          <a:p>
            <a:r>
              <a:rPr lang="en-US" sz="2200" dirty="0"/>
              <a:t>CSS variables can have a global or local scope.</a:t>
            </a:r>
          </a:p>
          <a:p>
            <a:r>
              <a:rPr lang="en-US" sz="2200" dirty="0"/>
              <a:t>Global variables can be accessed/used through the entire document, while local variables can be used only inside the selector where it is declared.</a:t>
            </a:r>
          </a:p>
          <a:p>
            <a:r>
              <a:rPr lang="en-US" sz="2200" dirty="0"/>
              <a:t>To create a variable with global scope, declare it inside the </a:t>
            </a:r>
            <a:r>
              <a:rPr lang="en-US" sz="2200" dirty="0">
                <a:highlight>
                  <a:srgbClr val="FFFF00"/>
                </a:highlight>
              </a:rPr>
              <a:t>:root</a:t>
            </a:r>
            <a:r>
              <a:rPr lang="en-US" sz="2200" dirty="0"/>
              <a:t> selector. The :root selector matches the document's root element.</a:t>
            </a:r>
          </a:p>
          <a:p>
            <a:r>
              <a:rPr lang="en-US" sz="2200" dirty="0"/>
              <a:t>To create a variable with local scope, declare it inside the selector that is going to use it.</a:t>
            </a:r>
          </a:p>
          <a:p>
            <a:r>
              <a:rPr lang="en-US" sz="2200" dirty="0"/>
              <a:t>In the following example (next slide), two global variables are created </a:t>
            </a:r>
          </a:p>
          <a:p>
            <a:r>
              <a:rPr lang="en-US" sz="2200" dirty="0"/>
              <a:t>(</a:t>
            </a:r>
            <a:r>
              <a:rPr lang="en-US" sz="2200" dirty="0">
                <a:latin typeface="Courier New" panose="02070309020205020404" pitchFamily="49" charset="0"/>
                <a:cs typeface="Courier New" panose="02070309020205020404" pitchFamily="49" charset="0"/>
              </a:rPr>
              <a:t>--blue</a:t>
            </a:r>
            <a:r>
              <a:rPr lang="en-US" sz="2200" dirty="0"/>
              <a:t> and </a:t>
            </a:r>
            <a:r>
              <a:rPr lang="en-US" sz="2200" dirty="0">
                <a:latin typeface="Courier New" panose="02070309020205020404" pitchFamily="49" charset="0"/>
                <a:cs typeface="Courier New" panose="02070309020205020404" pitchFamily="49" charset="0"/>
              </a:rPr>
              <a:t>--white</a:t>
            </a:r>
            <a:r>
              <a:rPr lang="en-US" sz="2200" dirty="0"/>
              <a:t>)</a:t>
            </a:r>
          </a:p>
          <a:p>
            <a:r>
              <a:rPr lang="en-US" sz="2200" dirty="0"/>
              <a:t>The </a:t>
            </a:r>
            <a:r>
              <a:rPr lang="en-US" sz="2200" dirty="0">
                <a:latin typeface="Courier New" panose="02070309020205020404" pitchFamily="49" charset="0"/>
                <a:cs typeface="Courier New" panose="02070309020205020404" pitchFamily="49" charset="0"/>
              </a:rPr>
              <a:t>var()</a:t>
            </a:r>
            <a:r>
              <a:rPr lang="en-US" sz="2200" dirty="0"/>
              <a:t> function is used to insert the value of those variables later in the stylesheet.</a:t>
            </a:r>
          </a:p>
          <a:p>
            <a:endParaRPr lang="en-US" sz="2200" dirty="0"/>
          </a:p>
          <a:p>
            <a:endParaRPr lang="en-US" sz="2200" dirty="0"/>
          </a:p>
        </p:txBody>
      </p:sp>
      <p:sp>
        <p:nvSpPr>
          <p:cNvPr id="4" name="Slide Number Placeholder 3">
            <a:extLst>
              <a:ext uri="{FF2B5EF4-FFF2-40B4-BE49-F238E27FC236}">
                <a16:creationId xmlns:a16="http://schemas.microsoft.com/office/drawing/2014/main" id="{B8419FBB-D2D5-407A-8107-DC37997D3DD2}"/>
              </a:ext>
            </a:extLst>
          </p:cNvPr>
          <p:cNvSpPr>
            <a:spLocks noGrp="1"/>
          </p:cNvSpPr>
          <p:nvPr>
            <p:ph type="sldNum" sz="quarter" idx="12"/>
          </p:nvPr>
        </p:nvSpPr>
        <p:spPr/>
        <p:txBody>
          <a:bodyPr/>
          <a:lstStyle/>
          <a:p>
            <a:fld id="{F6728BC2-ACA3-447C-A909-F3F49211C066}" type="slidenum">
              <a:rPr lang="en-US" smtClean="0"/>
              <a:pPr/>
              <a:t>32</a:t>
            </a:fld>
            <a:endParaRPr lang="en-US" dirty="0"/>
          </a:p>
        </p:txBody>
      </p:sp>
    </p:spTree>
    <p:extLst>
      <p:ext uri="{BB962C8B-B14F-4D97-AF65-F5344CB8AC3E}">
        <p14:creationId xmlns:p14="http://schemas.microsoft.com/office/powerpoint/2010/main" val="3366221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BF055-77BF-EE9A-6E0F-EF5EAA6708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E2E1E1-2B6F-E0B1-8DD1-676AA7E5D48D}"/>
              </a:ext>
            </a:extLst>
          </p:cNvPr>
          <p:cNvSpPr>
            <a:spLocks noGrp="1"/>
          </p:cNvSpPr>
          <p:nvPr>
            <p:ph type="title"/>
          </p:nvPr>
        </p:nvSpPr>
        <p:spPr/>
        <p:txBody>
          <a:bodyPr/>
          <a:lstStyle/>
          <a:p>
            <a:r>
              <a:rPr lang="en-US" dirty="0"/>
              <a:t>CSS Variables</a:t>
            </a:r>
          </a:p>
        </p:txBody>
      </p:sp>
      <p:sp>
        <p:nvSpPr>
          <p:cNvPr id="4" name="Slide Number Placeholder 3">
            <a:extLst>
              <a:ext uri="{FF2B5EF4-FFF2-40B4-BE49-F238E27FC236}">
                <a16:creationId xmlns:a16="http://schemas.microsoft.com/office/drawing/2014/main" id="{25F5A2DD-60C9-47B4-550A-D61FF6DA2AEE}"/>
              </a:ext>
            </a:extLst>
          </p:cNvPr>
          <p:cNvSpPr>
            <a:spLocks noGrp="1"/>
          </p:cNvSpPr>
          <p:nvPr>
            <p:ph type="sldNum" sz="quarter" idx="12"/>
          </p:nvPr>
        </p:nvSpPr>
        <p:spPr/>
        <p:txBody>
          <a:bodyPr/>
          <a:lstStyle/>
          <a:p>
            <a:fld id="{F6728BC2-ACA3-447C-A909-F3F49211C066}" type="slidenum">
              <a:rPr lang="en-US" smtClean="0"/>
              <a:pPr/>
              <a:t>33</a:t>
            </a:fld>
            <a:endParaRPr lang="en-US" dirty="0"/>
          </a:p>
        </p:txBody>
      </p:sp>
      <p:pic>
        <p:nvPicPr>
          <p:cNvPr id="5" name="Content Placeholder 5">
            <a:extLst>
              <a:ext uri="{FF2B5EF4-FFF2-40B4-BE49-F238E27FC236}">
                <a16:creationId xmlns:a16="http://schemas.microsoft.com/office/drawing/2014/main" id="{71A5A125-F5DD-23D2-CEA4-BFF654F02012}"/>
              </a:ext>
            </a:extLst>
          </p:cNvPr>
          <p:cNvPicPr>
            <a:picLocks noChangeAspect="1"/>
          </p:cNvPicPr>
          <p:nvPr/>
        </p:nvPicPr>
        <p:blipFill>
          <a:blip r:embed="rId2"/>
          <a:stretch>
            <a:fillRect/>
          </a:stretch>
        </p:blipFill>
        <p:spPr>
          <a:xfrm>
            <a:off x="380010" y="1863307"/>
            <a:ext cx="4123944" cy="4411662"/>
          </a:xfrm>
          <a:prstGeom prst="rect">
            <a:avLst/>
          </a:prstGeom>
        </p:spPr>
      </p:pic>
      <p:pic>
        <p:nvPicPr>
          <p:cNvPr id="6" name="Picture 5">
            <a:extLst>
              <a:ext uri="{FF2B5EF4-FFF2-40B4-BE49-F238E27FC236}">
                <a16:creationId xmlns:a16="http://schemas.microsoft.com/office/drawing/2014/main" id="{BE6EB74A-66F6-ABED-9667-2E2404EB759C}"/>
              </a:ext>
            </a:extLst>
          </p:cNvPr>
          <p:cNvPicPr>
            <a:picLocks noChangeAspect="1"/>
          </p:cNvPicPr>
          <p:nvPr/>
        </p:nvPicPr>
        <p:blipFill>
          <a:blip r:embed="rId3"/>
          <a:stretch>
            <a:fillRect/>
          </a:stretch>
        </p:blipFill>
        <p:spPr>
          <a:xfrm>
            <a:off x="4881428" y="1600201"/>
            <a:ext cx="3814516" cy="5105400"/>
          </a:xfrm>
          <a:prstGeom prst="rect">
            <a:avLst/>
          </a:prstGeom>
          <a:ln w="38100">
            <a:solidFill>
              <a:srgbClr val="00B050"/>
            </a:solidFill>
          </a:ln>
        </p:spPr>
      </p:pic>
    </p:spTree>
    <p:extLst>
      <p:ext uri="{BB962C8B-B14F-4D97-AF65-F5344CB8AC3E}">
        <p14:creationId xmlns:p14="http://schemas.microsoft.com/office/powerpoint/2010/main" val="42609863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93B6F-0BEA-C8AB-254D-71059EE4A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332F76-DA40-F708-B96C-FB9E1E5B95F6}"/>
              </a:ext>
            </a:extLst>
          </p:cNvPr>
          <p:cNvSpPr>
            <a:spLocks noGrp="1"/>
          </p:cNvSpPr>
          <p:nvPr>
            <p:ph type="title"/>
          </p:nvPr>
        </p:nvSpPr>
        <p:spPr/>
        <p:txBody>
          <a:bodyPr/>
          <a:lstStyle/>
          <a:p>
            <a:r>
              <a:rPr lang="en-US" dirty="0"/>
              <a:t>Bootstrap</a:t>
            </a:r>
          </a:p>
        </p:txBody>
      </p:sp>
      <p:sp>
        <p:nvSpPr>
          <p:cNvPr id="3" name="Content Placeholder 2">
            <a:extLst>
              <a:ext uri="{FF2B5EF4-FFF2-40B4-BE49-F238E27FC236}">
                <a16:creationId xmlns:a16="http://schemas.microsoft.com/office/drawing/2014/main" id="{C03BA442-405F-B74F-3629-084BC521F274}"/>
              </a:ext>
            </a:extLst>
          </p:cNvPr>
          <p:cNvSpPr>
            <a:spLocks noGrp="1"/>
          </p:cNvSpPr>
          <p:nvPr>
            <p:ph idx="1"/>
          </p:nvPr>
        </p:nvSpPr>
        <p:spPr>
          <a:xfrm>
            <a:off x="380010" y="1481446"/>
            <a:ext cx="8383980" cy="4882266"/>
          </a:xfrm>
        </p:spPr>
        <p:txBody>
          <a:bodyPr>
            <a:normAutofit fontScale="85000" lnSpcReduction="20000"/>
          </a:bodyPr>
          <a:lstStyle/>
          <a:p>
            <a:r>
              <a:rPr lang="en-US" dirty="0"/>
              <a:t>Bootstrap is an open-source, front-end framework and mobile-first approach for developing responsive websites, which supports HTML and CSS.</a:t>
            </a:r>
          </a:p>
          <a:p>
            <a:r>
              <a:rPr lang="en-US" dirty="0"/>
              <a:t>To use bootstrap you can either download Bootstrap from: </a:t>
            </a:r>
            <a:r>
              <a:rPr lang="en-US" dirty="0">
                <a:hlinkClick r:id="rId2"/>
              </a:rPr>
              <a:t>getbootstrap.com</a:t>
            </a:r>
            <a:r>
              <a:rPr lang="en-US" dirty="0"/>
              <a:t>. </a:t>
            </a:r>
          </a:p>
          <a:p>
            <a:r>
              <a:rPr lang="en-US" dirty="0"/>
              <a:t>Alternatively, you can include Bootstrap by using the links here: </a:t>
            </a:r>
            <a:r>
              <a:rPr lang="en-US" dirty="0" err="1">
                <a:hlinkClick r:id="rId3"/>
              </a:rPr>
              <a:t>BootstrapCDN</a:t>
            </a:r>
            <a:r>
              <a:rPr lang="en-US" dirty="0"/>
              <a:t>.</a:t>
            </a:r>
          </a:p>
          <a:p>
            <a:r>
              <a:rPr lang="en-US" dirty="0"/>
              <a:t>By downloading (or linking to) bootstrap, you gain access to various container classes you essentially gain access to a large library of custom variables and pre-configured, responsive class property rules that you can apply to your own HTML elements quickly and easily.</a:t>
            </a:r>
          </a:p>
          <a:p>
            <a:r>
              <a:rPr lang="en-US" dirty="0"/>
              <a:t>See the Bootstrap documentation for more information: </a:t>
            </a:r>
            <a:r>
              <a:rPr lang="en-US" dirty="0">
                <a:hlinkClick r:id="rId4"/>
              </a:rPr>
              <a:t>Get started with Bootstrap · Bootstrap v5.3</a:t>
            </a:r>
            <a:endParaRPr lang="en-US" dirty="0"/>
          </a:p>
          <a:p>
            <a:endParaRPr lang="en-US" dirty="0"/>
          </a:p>
        </p:txBody>
      </p:sp>
      <p:sp>
        <p:nvSpPr>
          <p:cNvPr id="4" name="Slide Number Placeholder 3">
            <a:extLst>
              <a:ext uri="{FF2B5EF4-FFF2-40B4-BE49-F238E27FC236}">
                <a16:creationId xmlns:a16="http://schemas.microsoft.com/office/drawing/2014/main" id="{F6DC36E8-5996-636E-00DF-6DA59BDB557D}"/>
              </a:ext>
            </a:extLst>
          </p:cNvPr>
          <p:cNvSpPr>
            <a:spLocks noGrp="1"/>
          </p:cNvSpPr>
          <p:nvPr>
            <p:ph type="sldNum" sz="quarter" idx="12"/>
          </p:nvPr>
        </p:nvSpPr>
        <p:spPr/>
        <p:txBody>
          <a:bodyPr/>
          <a:lstStyle/>
          <a:p>
            <a:fld id="{F6728BC2-ACA3-447C-A909-F3F49211C066}" type="slidenum">
              <a:rPr lang="en-US" smtClean="0"/>
              <a:pPr/>
              <a:t>34</a:t>
            </a:fld>
            <a:endParaRPr lang="en-US" dirty="0"/>
          </a:p>
        </p:txBody>
      </p:sp>
    </p:spTree>
    <p:extLst>
      <p:ext uri="{BB962C8B-B14F-4D97-AF65-F5344CB8AC3E}">
        <p14:creationId xmlns:p14="http://schemas.microsoft.com/office/powerpoint/2010/main" val="3016471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9C17B-E153-C237-A27C-AD90CFF89E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2E760E-8B54-EB0F-83EE-D31F67A3C113}"/>
              </a:ext>
            </a:extLst>
          </p:cNvPr>
          <p:cNvSpPr>
            <a:spLocks noGrp="1"/>
          </p:cNvSpPr>
          <p:nvPr>
            <p:ph type="title"/>
          </p:nvPr>
        </p:nvSpPr>
        <p:spPr/>
        <p:txBody>
          <a:bodyPr/>
          <a:lstStyle/>
          <a:p>
            <a:r>
              <a:rPr lang="en-US" dirty="0"/>
              <a:t>Bootstrap</a:t>
            </a:r>
          </a:p>
        </p:txBody>
      </p:sp>
      <p:sp>
        <p:nvSpPr>
          <p:cNvPr id="3" name="Content Placeholder 2">
            <a:extLst>
              <a:ext uri="{FF2B5EF4-FFF2-40B4-BE49-F238E27FC236}">
                <a16:creationId xmlns:a16="http://schemas.microsoft.com/office/drawing/2014/main" id="{B3EB6885-2326-826B-466C-EDB168BE5147}"/>
              </a:ext>
            </a:extLst>
          </p:cNvPr>
          <p:cNvSpPr>
            <a:spLocks noGrp="1"/>
          </p:cNvSpPr>
          <p:nvPr>
            <p:ph idx="1"/>
          </p:nvPr>
        </p:nvSpPr>
        <p:spPr>
          <a:xfrm>
            <a:off x="380010" y="1481446"/>
            <a:ext cx="8383980" cy="4882266"/>
          </a:xfrm>
        </p:spPr>
        <p:txBody>
          <a:bodyPr>
            <a:normAutofit lnSpcReduction="10000"/>
          </a:bodyPr>
          <a:lstStyle/>
          <a:p>
            <a:r>
              <a:rPr lang="en-US" dirty="0"/>
              <a:t>Bootstrap uses a grid system, which consists of a series of containers, rows and columns to built the layout of your webpage and align content</a:t>
            </a:r>
          </a:p>
          <a:p>
            <a:r>
              <a:rPr lang="en-US" dirty="0"/>
              <a:t>Bootstrap creates a responsive layout using the grid and flexboxes of CSS.</a:t>
            </a:r>
          </a:p>
          <a:p>
            <a:r>
              <a:rPr lang="en-US" dirty="0"/>
              <a:t>As a screen or viewport changes sizes, a </a:t>
            </a:r>
            <a:r>
              <a:rPr lang="en-US" b="1" i="1" dirty="0"/>
              <a:t>breakpoint</a:t>
            </a:r>
            <a:r>
              <a:rPr lang="en-US" dirty="0"/>
              <a:t> is used to determine the transition between the various screen sizes.</a:t>
            </a:r>
          </a:p>
          <a:p>
            <a:r>
              <a:rPr lang="en-US" dirty="0"/>
              <a:t>When an element exceeds the dimensions for a breakpoint, new styling rules/container sizes, etc… are dynamically applied.</a:t>
            </a:r>
          </a:p>
          <a:p>
            <a:endParaRPr lang="en-US" dirty="0"/>
          </a:p>
          <a:p>
            <a:endParaRPr lang="en-US" dirty="0"/>
          </a:p>
        </p:txBody>
      </p:sp>
      <p:sp>
        <p:nvSpPr>
          <p:cNvPr id="4" name="Slide Number Placeholder 3">
            <a:extLst>
              <a:ext uri="{FF2B5EF4-FFF2-40B4-BE49-F238E27FC236}">
                <a16:creationId xmlns:a16="http://schemas.microsoft.com/office/drawing/2014/main" id="{A5B44A41-5E34-D7BD-2A6D-E212C9929429}"/>
              </a:ext>
            </a:extLst>
          </p:cNvPr>
          <p:cNvSpPr>
            <a:spLocks noGrp="1"/>
          </p:cNvSpPr>
          <p:nvPr>
            <p:ph type="sldNum" sz="quarter" idx="12"/>
          </p:nvPr>
        </p:nvSpPr>
        <p:spPr/>
        <p:txBody>
          <a:bodyPr/>
          <a:lstStyle/>
          <a:p>
            <a:fld id="{F6728BC2-ACA3-447C-A909-F3F49211C066}" type="slidenum">
              <a:rPr lang="en-US" smtClean="0"/>
              <a:pPr/>
              <a:t>35</a:t>
            </a:fld>
            <a:endParaRPr lang="en-US" dirty="0"/>
          </a:p>
        </p:txBody>
      </p:sp>
    </p:spTree>
    <p:extLst>
      <p:ext uri="{BB962C8B-B14F-4D97-AF65-F5344CB8AC3E}">
        <p14:creationId xmlns:p14="http://schemas.microsoft.com/office/powerpoint/2010/main" val="2352715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1562D-E015-E544-0F52-7ED2DDAF4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0C8C4-40EC-407D-AF68-B1B8CD046C59}"/>
              </a:ext>
            </a:extLst>
          </p:cNvPr>
          <p:cNvSpPr>
            <a:spLocks noGrp="1"/>
          </p:cNvSpPr>
          <p:nvPr>
            <p:ph type="title"/>
          </p:nvPr>
        </p:nvSpPr>
        <p:spPr/>
        <p:txBody>
          <a:bodyPr/>
          <a:lstStyle/>
          <a:p>
            <a:r>
              <a:rPr lang="en-US" dirty="0"/>
              <a:t>Bootstrap</a:t>
            </a:r>
          </a:p>
        </p:txBody>
      </p:sp>
      <p:sp>
        <p:nvSpPr>
          <p:cNvPr id="3" name="Content Placeholder 2">
            <a:extLst>
              <a:ext uri="{FF2B5EF4-FFF2-40B4-BE49-F238E27FC236}">
                <a16:creationId xmlns:a16="http://schemas.microsoft.com/office/drawing/2014/main" id="{8063656B-80C8-4C8B-2FF5-B071AC89322E}"/>
              </a:ext>
            </a:extLst>
          </p:cNvPr>
          <p:cNvSpPr>
            <a:spLocks noGrp="1"/>
          </p:cNvSpPr>
          <p:nvPr>
            <p:ph idx="1"/>
          </p:nvPr>
        </p:nvSpPr>
        <p:spPr>
          <a:xfrm>
            <a:off x="380010" y="1481446"/>
            <a:ext cx="8383980" cy="1932228"/>
          </a:xfrm>
        </p:spPr>
        <p:txBody>
          <a:bodyPr>
            <a:normAutofit fontScale="62500" lnSpcReduction="20000"/>
          </a:bodyPr>
          <a:lstStyle/>
          <a:p>
            <a:r>
              <a:rPr lang="en-US" dirty="0"/>
              <a:t>Containers act as the fundamental building block of Bootstrap, which contain, pad and align your content.</a:t>
            </a:r>
          </a:p>
          <a:p>
            <a:r>
              <a:rPr lang="en-US" dirty="0"/>
              <a:t>Bootstrap provides three (3) container classes:</a:t>
            </a:r>
          </a:p>
          <a:p>
            <a:pPr lvl="1"/>
            <a:r>
              <a:rPr lang="en-US" dirty="0">
                <a:latin typeface="Courier New" panose="02070309020205020404" pitchFamily="49" charset="0"/>
                <a:cs typeface="Courier New" panose="02070309020205020404" pitchFamily="49" charset="0"/>
              </a:rPr>
              <a:t>.container</a:t>
            </a:r>
            <a:r>
              <a:rPr lang="en-US" dirty="0"/>
              <a:t>: max-width at each responsive breakpoint</a:t>
            </a:r>
          </a:p>
          <a:p>
            <a:pPr lvl="1"/>
            <a:r>
              <a:rPr lang="en-US" dirty="0">
                <a:latin typeface="Courier New" panose="02070309020205020404" pitchFamily="49" charset="0"/>
                <a:cs typeface="Courier New" panose="02070309020205020404" pitchFamily="49" charset="0"/>
              </a:rPr>
              <a:t>.container-{breakpoint}</a:t>
            </a:r>
            <a:r>
              <a:rPr lang="en-US" dirty="0"/>
              <a:t>: width is 100% until the specified breakpoint</a:t>
            </a:r>
          </a:p>
          <a:p>
            <a:pPr lvl="1"/>
            <a:r>
              <a:rPr lang="en-US" dirty="0">
                <a:latin typeface="Courier New" panose="02070309020205020404" pitchFamily="49" charset="0"/>
                <a:cs typeface="Courier New" panose="02070309020205020404" pitchFamily="49" charset="0"/>
              </a:rPr>
              <a:t>.container-fluid</a:t>
            </a:r>
            <a:r>
              <a:rPr lang="en-US" dirty="0"/>
              <a:t>: width is 100% at all breakpoints</a:t>
            </a:r>
          </a:p>
          <a:p>
            <a:r>
              <a:rPr lang="en-US" dirty="0"/>
              <a:t>The table below shows these container classes, and their pixel breakpoints</a:t>
            </a:r>
          </a:p>
          <a:p>
            <a:endParaRPr lang="en-US" dirty="0"/>
          </a:p>
          <a:p>
            <a:endParaRPr lang="en-US" dirty="0"/>
          </a:p>
        </p:txBody>
      </p:sp>
      <p:sp>
        <p:nvSpPr>
          <p:cNvPr id="4" name="Slide Number Placeholder 3">
            <a:extLst>
              <a:ext uri="{FF2B5EF4-FFF2-40B4-BE49-F238E27FC236}">
                <a16:creationId xmlns:a16="http://schemas.microsoft.com/office/drawing/2014/main" id="{2888B7F2-995B-0B1D-EE6D-7145A49AF059}"/>
              </a:ext>
            </a:extLst>
          </p:cNvPr>
          <p:cNvSpPr>
            <a:spLocks noGrp="1"/>
          </p:cNvSpPr>
          <p:nvPr>
            <p:ph type="sldNum" sz="quarter" idx="12"/>
          </p:nvPr>
        </p:nvSpPr>
        <p:spPr/>
        <p:txBody>
          <a:bodyPr/>
          <a:lstStyle/>
          <a:p>
            <a:fld id="{F6728BC2-ACA3-447C-A909-F3F49211C066}" type="slidenum">
              <a:rPr lang="en-US" smtClean="0"/>
              <a:pPr/>
              <a:t>36</a:t>
            </a:fld>
            <a:endParaRPr lang="en-US" dirty="0"/>
          </a:p>
        </p:txBody>
      </p:sp>
      <p:pic>
        <p:nvPicPr>
          <p:cNvPr id="6" name="Picture 5">
            <a:extLst>
              <a:ext uri="{FF2B5EF4-FFF2-40B4-BE49-F238E27FC236}">
                <a16:creationId xmlns:a16="http://schemas.microsoft.com/office/drawing/2014/main" id="{E0EF3F18-BA3A-379F-6678-51D3F570432B}"/>
              </a:ext>
            </a:extLst>
          </p:cNvPr>
          <p:cNvPicPr>
            <a:picLocks noChangeAspect="1"/>
          </p:cNvPicPr>
          <p:nvPr/>
        </p:nvPicPr>
        <p:blipFill>
          <a:blip r:embed="rId2"/>
          <a:stretch>
            <a:fillRect/>
          </a:stretch>
        </p:blipFill>
        <p:spPr>
          <a:xfrm>
            <a:off x="666205" y="3413674"/>
            <a:ext cx="7811590" cy="3315163"/>
          </a:xfrm>
          <a:prstGeom prst="rect">
            <a:avLst/>
          </a:prstGeom>
        </p:spPr>
      </p:pic>
    </p:spTree>
    <p:extLst>
      <p:ext uri="{BB962C8B-B14F-4D97-AF65-F5344CB8AC3E}">
        <p14:creationId xmlns:p14="http://schemas.microsoft.com/office/powerpoint/2010/main" val="1263839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B27F7-1260-0403-F08C-A5C1F7542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6237DF-4090-4892-C9F3-8E2475F1FD65}"/>
              </a:ext>
            </a:extLst>
          </p:cNvPr>
          <p:cNvSpPr>
            <a:spLocks noGrp="1"/>
          </p:cNvSpPr>
          <p:nvPr>
            <p:ph type="title"/>
          </p:nvPr>
        </p:nvSpPr>
        <p:spPr/>
        <p:txBody>
          <a:bodyPr/>
          <a:lstStyle/>
          <a:p>
            <a:r>
              <a:rPr lang="en-US" dirty="0"/>
              <a:t>Bootstrap</a:t>
            </a:r>
          </a:p>
        </p:txBody>
      </p:sp>
      <p:sp>
        <p:nvSpPr>
          <p:cNvPr id="3" name="Content Placeholder 2">
            <a:extLst>
              <a:ext uri="{FF2B5EF4-FFF2-40B4-BE49-F238E27FC236}">
                <a16:creationId xmlns:a16="http://schemas.microsoft.com/office/drawing/2014/main" id="{4DE1748A-4A63-5D3F-3EE1-DFD7CA4F01B7}"/>
              </a:ext>
            </a:extLst>
          </p:cNvPr>
          <p:cNvSpPr>
            <a:spLocks noGrp="1"/>
          </p:cNvSpPr>
          <p:nvPr>
            <p:ph idx="1"/>
          </p:nvPr>
        </p:nvSpPr>
        <p:spPr>
          <a:xfrm>
            <a:off x="380010" y="1481446"/>
            <a:ext cx="8383980" cy="4882266"/>
          </a:xfrm>
        </p:spPr>
        <p:txBody>
          <a:bodyPr>
            <a:normAutofit/>
          </a:bodyPr>
          <a:lstStyle/>
          <a:p>
            <a:r>
              <a:rPr lang="en-US" dirty="0"/>
              <a:t>Bootstrap also has pre-configured styling rules for:</a:t>
            </a:r>
          </a:p>
          <a:p>
            <a:pPr lvl="1"/>
            <a:r>
              <a:rPr lang="en-US" dirty="0"/>
              <a:t>Tables: </a:t>
            </a:r>
            <a:r>
              <a:rPr lang="en-US" dirty="0">
                <a:hlinkClick r:id="rId2"/>
              </a:rPr>
              <a:t>Tables · Bootstrap v5.3</a:t>
            </a:r>
            <a:endParaRPr lang="en-US" dirty="0"/>
          </a:p>
          <a:p>
            <a:pPr lvl="1"/>
            <a:r>
              <a:rPr lang="en-US" dirty="0"/>
              <a:t>Forms &amp; Form Elements: </a:t>
            </a:r>
            <a:r>
              <a:rPr lang="en-US" dirty="0">
                <a:hlinkClick r:id="rId3"/>
              </a:rPr>
              <a:t>Forms · Bootstrap v5.3</a:t>
            </a:r>
            <a:endParaRPr lang="en-US" dirty="0"/>
          </a:p>
          <a:p>
            <a:pPr lvl="1"/>
            <a:r>
              <a:rPr lang="en-US" dirty="0"/>
              <a:t>Buttons: </a:t>
            </a:r>
            <a:r>
              <a:rPr lang="en-US" dirty="0">
                <a:hlinkClick r:id="rId4"/>
              </a:rPr>
              <a:t>Buttons · Bootstrap v5.3</a:t>
            </a:r>
            <a:endParaRPr lang="en-US" dirty="0"/>
          </a:p>
          <a:p>
            <a:pPr lvl="1"/>
            <a:r>
              <a:rPr lang="en-US" dirty="0"/>
              <a:t>Alert Messages: </a:t>
            </a:r>
            <a:r>
              <a:rPr lang="en-US" dirty="0">
                <a:hlinkClick r:id="rId5"/>
              </a:rPr>
              <a:t>Alerts · Bootstrap v5.3</a:t>
            </a:r>
            <a:endParaRPr lang="en-US" dirty="0"/>
          </a:p>
          <a:p>
            <a:pPr lvl="1"/>
            <a:r>
              <a:rPr lang="en-US" dirty="0"/>
              <a:t>Navbars: </a:t>
            </a:r>
            <a:r>
              <a:rPr lang="en-US" dirty="0">
                <a:hlinkClick r:id="rId6"/>
              </a:rPr>
              <a:t>Navbar · Bootstrap v5.3</a:t>
            </a:r>
            <a:endParaRPr lang="en-US" dirty="0"/>
          </a:p>
          <a:p>
            <a:pPr lvl="1"/>
            <a:r>
              <a:rPr lang="en-US" dirty="0"/>
              <a:t>And basic text and background colors: </a:t>
            </a:r>
            <a:r>
              <a:rPr lang="en-US" dirty="0">
                <a:hlinkClick r:id="rId7"/>
              </a:rPr>
              <a:t>Color and background · Bootstrap v5.3</a:t>
            </a: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A5D824D-452F-1144-0932-3ACCB368805F}"/>
              </a:ext>
            </a:extLst>
          </p:cNvPr>
          <p:cNvSpPr>
            <a:spLocks noGrp="1"/>
          </p:cNvSpPr>
          <p:nvPr>
            <p:ph type="sldNum" sz="quarter" idx="12"/>
          </p:nvPr>
        </p:nvSpPr>
        <p:spPr/>
        <p:txBody>
          <a:bodyPr/>
          <a:lstStyle/>
          <a:p>
            <a:fld id="{F6728BC2-ACA3-447C-A909-F3F49211C066}" type="slidenum">
              <a:rPr lang="en-US" smtClean="0"/>
              <a:pPr/>
              <a:t>37</a:t>
            </a:fld>
            <a:endParaRPr lang="en-US" dirty="0"/>
          </a:p>
        </p:txBody>
      </p:sp>
    </p:spTree>
    <p:extLst>
      <p:ext uri="{BB962C8B-B14F-4D97-AF65-F5344CB8AC3E}">
        <p14:creationId xmlns:p14="http://schemas.microsoft.com/office/powerpoint/2010/main" val="16954158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4F324A5-21DE-4DF5-A0AD-939F79912186}"/>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AF8ACFE5-69E9-479F-8087-1E1259452493}"/>
              </a:ext>
            </a:extLst>
          </p:cNvPr>
          <p:cNvSpPr>
            <a:spLocks noGrp="1"/>
          </p:cNvSpPr>
          <p:nvPr>
            <p:ph type="sldNum" sz="quarter" idx="12"/>
          </p:nvPr>
        </p:nvSpPr>
        <p:spPr/>
        <p:txBody>
          <a:bodyPr/>
          <a:lstStyle/>
          <a:p>
            <a:fld id="{F6728BC2-ACA3-447C-A909-F3F49211C066}" type="slidenum">
              <a:rPr lang="en-US" smtClean="0"/>
              <a:pPr/>
              <a:t>38</a:t>
            </a:fld>
            <a:endParaRPr lang="en-US" dirty="0"/>
          </a:p>
        </p:txBody>
      </p:sp>
    </p:spTree>
    <p:extLst>
      <p:ext uri="{BB962C8B-B14F-4D97-AF65-F5344CB8AC3E}">
        <p14:creationId xmlns:p14="http://schemas.microsoft.com/office/powerpoint/2010/main" val="4241723103"/>
      </p:ext>
    </p:extLst>
  </p:cSld>
  <p:clrMapOvr>
    <a:masterClrMapping/>
  </p:clrMapOvr>
</p:sld>
</file>

<file path=ppt/theme/theme1.xml><?xml version="1.0" encoding="utf-8"?>
<a:theme xmlns:a="http://schemas.openxmlformats.org/drawingml/2006/main" name="2_Custom Design">
  <a:themeElements>
    <a:clrScheme name="Revature">
      <a:dk1>
        <a:sysClr val="windowText" lastClr="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vature Template  101416" id="{E7AE9B54-ECDF-468C-BAC8-D7E5033F34EC}" vid="{F6400A2A-47B1-4620-B2AC-EFF1DCD88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Revature Template  101416</Template>
  <TotalTime>6286</TotalTime>
  <Words>2889</Words>
  <Application>Microsoft Office PowerPoint</Application>
  <PresentationFormat>On-screen Show (4:3)</PresentationFormat>
  <Paragraphs>334</Paragraphs>
  <Slides>39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Courier New</vt:lpstr>
      <vt:lpstr>2_Custom Design</vt:lpstr>
      <vt:lpstr>CSS</vt:lpstr>
      <vt:lpstr>Outline</vt:lpstr>
      <vt:lpstr>PowerPoint Presentation</vt:lpstr>
      <vt:lpstr>Absolute and Relative Paths</vt:lpstr>
      <vt:lpstr>Relative vs. Absolute Measurements</vt:lpstr>
      <vt:lpstr>PowerPoint Presentation</vt:lpstr>
      <vt:lpstr>CSS Intro</vt:lpstr>
      <vt:lpstr>PowerPoint Presentation</vt:lpstr>
      <vt:lpstr>Inline Styling</vt:lpstr>
      <vt:lpstr>Internal Stylesheets</vt:lpstr>
      <vt:lpstr>External Stylesheets</vt:lpstr>
      <vt:lpstr>External Stylesheets</vt:lpstr>
      <vt:lpstr>CSS Selectors: Elements</vt:lpstr>
      <vt:lpstr>CSS Selectors: Attributes</vt:lpstr>
      <vt:lpstr>CSS Selectors: Interactive</vt:lpstr>
      <vt:lpstr>The Box Model</vt:lpstr>
      <vt:lpstr>Box Model Sizing</vt:lpstr>
      <vt:lpstr>PowerPoint Presentation</vt:lpstr>
      <vt:lpstr>CSS Properties</vt:lpstr>
      <vt:lpstr>More CSS Properties</vt:lpstr>
      <vt:lpstr>PowerPoint Presentation</vt:lpstr>
      <vt:lpstr>Cascading Styles</vt:lpstr>
      <vt:lpstr>CSS Specificity</vt:lpstr>
      <vt:lpstr>PowerPoint Presentation</vt:lpstr>
      <vt:lpstr>Responsive Web Design</vt:lpstr>
      <vt:lpstr>Responsive Web Design</vt:lpstr>
      <vt:lpstr>Media Queries</vt:lpstr>
      <vt:lpstr>Media Queries | Example</vt:lpstr>
      <vt:lpstr>Flexbox</vt:lpstr>
      <vt:lpstr>CSS Grid</vt:lpstr>
      <vt:lpstr>CSS Variables</vt:lpstr>
      <vt:lpstr>CSS Variables | var() syntax</vt:lpstr>
      <vt:lpstr>CSS Variables</vt:lpstr>
      <vt:lpstr>CSS Variables</vt:lpstr>
      <vt:lpstr>Bootstrap</vt:lpstr>
      <vt:lpstr>Bootstrap</vt:lpstr>
      <vt:lpstr>Bootstrap</vt:lpstr>
      <vt:lpstr>Bootstrap</vt:lpstr>
      <vt:lpstr>PowerPoint Presentation</vt:lpstr>
    </vt:vector>
  </TitlesOfParts>
  <Company>Persistence Holdings, LLC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account 10</dc:creator>
  <cp:lastModifiedBy>Joseph Highe</cp:lastModifiedBy>
  <cp:revision>25</cp:revision>
  <cp:lastPrinted>2016-06-20T20:58:50Z</cp:lastPrinted>
  <dcterms:created xsi:type="dcterms:W3CDTF">2016-11-09T18:19:08Z</dcterms:created>
  <dcterms:modified xsi:type="dcterms:W3CDTF">2026-08-11T19:19:17Z</dcterms:modified>
</cp:coreProperties>
</file>