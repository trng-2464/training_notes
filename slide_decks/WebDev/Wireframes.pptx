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357" r:id="rId4"/>
    <p:sldId id="343" r:id="rId5"/>
    <p:sldId id="449" r:id="rId6"/>
    <p:sldId id="443" r:id="rId7"/>
    <p:sldId id="450" r:id="rId8"/>
    <p:sldId id="458" r:id="rId9"/>
    <p:sldId id="453" r:id="rId10"/>
    <p:sldId id="455" r:id="rId11"/>
    <p:sldId id="452" r:id="rId12"/>
    <p:sldId id="454" r:id="rId13"/>
    <p:sldId id="456" r:id="rId14"/>
    <p:sldId id="451" r:id="rId15"/>
    <p:sldId id="444" r:id="rId16"/>
    <p:sldId id="457" r:id="rId17"/>
    <p:sldId id="445" r:id="rId18"/>
    <p:sldId id="446" r:id="rId19"/>
    <p:sldId id="358" r:id="rId20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173459"/>
    <a:srgbClr val="F5CDCD"/>
    <a:srgbClr val="006600"/>
    <a:srgbClr val="474C55"/>
    <a:srgbClr val="669A91"/>
    <a:srgbClr val="9171A7"/>
    <a:srgbClr val="CCCC00"/>
    <a:srgbClr val="B07750"/>
    <a:srgbClr val="AC54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389" autoAdjust="0"/>
  </p:normalViewPr>
  <p:slideViewPr>
    <p:cSldViewPr snapToGrid="0">
      <p:cViewPr varScale="1">
        <p:scale>
          <a:sx n="59" d="100"/>
          <a:sy n="59" d="100"/>
        </p:scale>
        <p:origin x="1698" y="72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8/11/2026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A1EBCD-4831-59E4-AF54-61F13329B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Wireframes</a:t>
            </a:r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C8A36B9-6DAA-9178-3579-608F2B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D359-271F-7BC2-20B4-ACE4AE76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Wireframes</a:t>
            </a:r>
          </a:p>
          <a:p>
            <a:r>
              <a:rPr lang="en-US" dirty="0"/>
              <a:t>Fidelity (Low | Medium | High)</a:t>
            </a:r>
          </a:p>
          <a:p>
            <a:r>
              <a:rPr lang="en-US" dirty="0"/>
              <a:t>Best Practices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 to Wireframes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44B04-2EA6-FCF4-5F43-ABE166F4F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87930"/>
            <a:ext cx="8383980" cy="547007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</a:t>
            </a:r>
            <a:r>
              <a:rPr lang="en-US" b="1" i="1" dirty="0"/>
              <a:t>wireframe</a:t>
            </a:r>
            <a:r>
              <a:rPr lang="en-US" dirty="0"/>
              <a:t> is a simplified, low-detail visual representation of a page or a screen’s layout</a:t>
            </a:r>
          </a:p>
          <a:p>
            <a:r>
              <a:rPr lang="en-US" dirty="0"/>
              <a:t>Wireframes show the structure and placement of a page’s layout and elements, rather than showing a final visual design</a:t>
            </a:r>
          </a:p>
          <a:p>
            <a:pPr lvl="1"/>
            <a:r>
              <a:rPr lang="en-US" dirty="0"/>
              <a:t>Wireframes answer the question “</a:t>
            </a:r>
            <a:r>
              <a:rPr lang="en-US" b="1" i="1" dirty="0"/>
              <a:t>What goes where, and why?</a:t>
            </a:r>
            <a:r>
              <a:rPr lang="en-US" dirty="0"/>
              <a:t>”</a:t>
            </a:r>
          </a:p>
          <a:p>
            <a:r>
              <a:rPr lang="en-US" dirty="0"/>
              <a:t>Wireframes should focus on </a:t>
            </a:r>
            <a:r>
              <a:rPr lang="en-US" b="1" i="1" dirty="0"/>
              <a:t>content hierarchy</a:t>
            </a:r>
            <a:r>
              <a:rPr lang="en-US" dirty="0"/>
              <a:t>, </a:t>
            </a:r>
            <a:r>
              <a:rPr lang="en-US" b="1" i="1" dirty="0"/>
              <a:t>layout</a:t>
            </a:r>
            <a:r>
              <a:rPr lang="en-US" dirty="0"/>
              <a:t> and </a:t>
            </a:r>
            <a:r>
              <a:rPr lang="en-US" b="1" i="1" dirty="0"/>
              <a:t>functionality</a:t>
            </a:r>
            <a:r>
              <a:rPr lang="en-US" dirty="0"/>
              <a:t> – not colors, fonts or images</a:t>
            </a:r>
          </a:p>
          <a:p>
            <a:r>
              <a:rPr lang="en-US" dirty="0"/>
              <a:t>Typically, wireframes are created early in the design process before mockups (styles visuals) and prototypes (interactive versions).</a:t>
            </a:r>
          </a:p>
          <a:p>
            <a:r>
              <a:rPr lang="en-US" dirty="0"/>
              <a:t>Wireframes are commonly used to sketch out a new feature, plan pages before layout development, and align stakeholders on structure before investing in visual design.</a:t>
            </a:r>
          </a:p>
          <a:p>
            <a:r>
              <a:rPr lang="en-US" dirty="0"/>
              <a:t>A wireframe acts as an early blueprint for developers that reduces ambiguity before code is written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96D22E-EB01-37C9-6E05-231DE113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Wireframes</a:t>
            </a:r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5EBF0-199E-5C44-548B-EBF7A1FCB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F66E7-9238-39DA-EB09-D9B21A29B4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00C397-9D1A-29D2-5EDC-E3D321347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87930"/>
            <a:ext cx="8383980" cy="547007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Wireframing tools range from </a:t>
            </a:r>
            <a:r>
              <a:rPr lang="en-US" b="1" i="1" dirty="0"/>
              <a:t>digital design software</a:t>
            </a:r>
            <a:r>
              <a:rPr lang="en-US" dirty="0"/>
              <a:t> to simple </a:t>
            </a:r>
            <a:r>
              <a:rPr lang="en-US" b="1" i="1" dirty="0"/>
              <a:t>pen-and-paper sketching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right tool depends on the speed needed, fidelity, and team collaboration requirements</a:t>
            </a:r>
          </a:p>
          <a:p>
            <a:r>
              <a:rPr lang="en-US" dirty="0"/>
              <a:t>Popular digital tools include: </a:t>
            </a:r>
            <a:r>
              <a:rPr lang="en-US" b="1" dirty="0"/>
              <a:t>Figma</a:t>
            </a:r>
            <a:r>
              <a:rPr lang="en-US" dirty="0"/>
              <a:t>, </a:t>
            </a:r>
            <a:r>
              <a:rPr lang="en-US" b="1" dirty="0"/>
              <a:t>Balsamiq</a:t>
            </a:r>
            <a:r>
              <a:rPr lang="en-US" dirty="0"/>
              <a:t>, </a:t>
            </a:r>
            <a:r>
              <a:rPr lang="en-US" b="1" dirty="0"/>
              <a:t>Miro,</a:t>
            </a:r>
            <a:r>
              <a:rPr lang="en-US" dirty="0"/>
              <a:t> and </a:t>
            </a:r>
            <a:r>
              <a:rPr lang="en-US" b="1" dirty="0"/>
              <a:t>Adobe XD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Each tool has different strengths and considerations</a:t>
            </a:r>
          </a:p>
          <a:p>
            <a:r>
              <a:rPr lang="en-US" dirty="0"/>
              <a:t>As a developer, knowing your team’s wireframing tool matters, because some tools (like </a:t>
            </a:r>
            <a:r>
              <a:rPr lang="en-US" dirty="0" err="1"/>
              <a:t>figma</a:t>
            </a:r>
            <a:r>
              <a:rPr lang="en-US" dirty="0"/>
              <a:t>) allow you to </a:t>
            </a:r>
            <a:r>
              <a:rPr lang="en-US" b="1" i="1" dirty="0"/>
              <a:t>inspect elements</a:t>
            </a:r>
            <a:r>
              <a:rPr lang="en-US" dirty="0"/>
              <a:t> for spacing, sizing and layout details directly, which can speed up the development handoff</a:t>
            </a:r>
          </a:p>
          <a:p>
            <a:r>
              <a:rPr lang="en-US" dirty="0"/>
              <a:t>Note: The choice of tool often shifts as fidelity increases. A team might sketch on paper for low-fi, then move to Figma or another tool for mid- and high-fidelity work.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85ACAF-8AF0-09F9-A40A-F5E89B960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Wireframing Tools</a:t>
            </a:r>
          </a:p>
        </p:txBody>
      </p:sp>
    </p:spTree>
    <p:extLst>
      <p:ext uri="{BB962C8B-B14F-4D97-AF65-F5344CB8AC3E}">
        <p14:creationId xmlns:p14="http://schemas.microsoft.com/office/powerpoint/2010/main" val="1190311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45CF2-9E2C-CB0B-D82C-D1C096057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6B9022-971C-B2F6-3099-DD75275CE51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A72FD8E2-EFAC-F79D-4661-93DD617BE081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Fidelity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8D2ADD-D7B8-29B7-985A-7149E3209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284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B7FDD-FB8C-385C-47F3-40A217914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32201-743F-A760-438F-7B82CBEFB0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2F5BC-8EBF-F71D-7D3D-2B134FD3C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b="1" dirty="0"/>
              <a:t>Fidelity</a:t>
            </a:r>
            <a:r>
              <a:rPr lang="en-US" dirty="0"/>
              <a:t> is a term used to describe the level of precision / detail that is shown in a wireframe or design mockup.</a:t>
            </a:r>
          </a:p>
          <a:p>
            <a:r>
              <a:rPr lang="en-US" dirty="0"/>
              <a:t>There are three levels of fidelity:</a:t>
            </a:r>
          </a:p>
          <a:p>
            <a:pPr lvl="1"/>
            <a:r>
              <a:rPr lang="en-US" b="1" dirty="0"/>
              <a:t>Low-fi</a:t>
            </a:r>
            <a:r>
              <a:rPr lang="en-US" dirty="0"/>
              <a:t>: Used to show a rough outline of a structural or design concept.</a:t>
            </a:r>
          </a:p>
          <a:p>
            <a:pPr lvl="1"/>
            <a:r>
              <a:rPr lang="en-US" b="1" dirty="0"/>
              <a:t>Mid-fi</a:t>
            </a:r>
            <a:r>
              <a:rPr lang="en-US" dirty="0"/>
              <a:t>: Used to show potential design directions with overall page design or layout.</a:t>
            </a:r>
          </a:p>
          <a:p>
            <a:pPr lvl="1"/>
            <a:r>
              <a:rPr lang="en-US" b="1" dirty="0"/>
              <a:t>High-fi</a:t>
            </a:r>
            <a:r>
              <a:rPr lang="en-US" dirty="0"/>
              <a:t>: Used as a final template that can be easily converted to detailed design mockups to showcase visual style or used with prototyping functionality.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CEC05D1-06FC-FD8D-89EC-97EE2947C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Fidelity</a:t>
            </a:r>
          </a:p>
        </p:txBody>
      </p:sp>
    </p:spTree>
    <p:extLst>
      <p:ext uri="{BB962C8B-B14F-4D97-AF65-F5344CB8AC3E}">
        <p14:creationId xmlns:p14="http://schemas.microsoft.com/office/powerpoint/2010/main" val="1093234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BA8D4-6B6F-351B-52C8-E8A8E38A1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CBF3F-D869-396E-AC7D-3783DEE6D2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C2CF04-BA5C-9A7B-042D-295424E63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/>
          </a:bodyPr>
          <a:lstStyle/>
          <a:p>
            <a:r>
              <a:rPr lang="en-US" b="1" i="1" dirty="0"/>
              <a:t>Low-fidelity</a:t>
            </a:r>
            <a:r>
              <a:rPr lang="en-US" dirty="0"/>
              <a:t> wireframes are the roughest form of wireframe – simple shapes, placeholder test (often shown as lines or “Lorem ipsum”) and no real content or styling</a:t>
            </a:r>
          </a:p>
          <a:p>
            <a:r>
              <a:rPr lang="en-US" dirty="0"/>
              <a:t>Common conventions include boxes with an X through them to represent images, straight lines represent text, and simple rectangles represent button in input fields.</a:t>
            </a:r>
          </a:p>
          <a:p>
            <a:r>
              <a:rPr lang="en-US" b="1" dirty="0"/>
              <a:t>Purpose</a:t>
            </a:r>
            <a:r>
              <a:rPr lang="en-US" dirty="0"/>
              <a:t>: Communicate layout and structure only.</a:t>
            </a:r>
          </a:p>
          <a:p>
            <a:r>
              <a:rPr lang="en-US" dirty="0"/>
              <a:t>Often created on paper, whiteboards or using simple digital tools (like </a:t>
            </a:r>
            <a:r>
              <a:rPr lang="en-US" b="1" dirty="0"/>
              <a:t>Balsamiq</a:t>
            </a:r>
            <a:r>
              <a:rPr lang="en-US" dirty="0"/>
              <a:t>) within a couple of minutes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7687F14-A2AA-8964-847B-AB2DDCB19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Low-fidelity Wireframes</a:t>
            </a:r>
          </a:p>
        </p:txBody>
      </p:sp>
    </p:spTree>
    <p:extLst>
      <p:ext uri="{BB962C8B-B14F-4D97-AF65-F5344CB8AC3E}">
        <p14:creationId xmlns:p14="http://schemas.microsoft.com/office/powerpoint/2010/main" val="287212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8368-1AAD-13E7-77DC-4689DD87F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EB9E56-76EC-3507-1EB2-8FFDF463BABB}"/>
              </a:ext>
            </a:extLst>
          </p:cNvPr>
          <p:cNvSpPr/>
          <p:nvPr/>
        </p:nvSpPr>
        <p:spPr>
          <a:xfrm>
            <a:off x="0" y="1219200"/>
            <a:ext cx="9144000" cy="563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9C6E7-C787-8BD7-F093-FF600769E1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60C466E-B337-802B-8FB7-5AC093862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Low-fidelity Examples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2F9AA3-0CD9-E4B3-D0B4-520672E91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98" y="1219200"/>
            <a:ext cx="8425792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091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AC6A9-225D-5F83-89A1-15070B9F7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CF77A-F82C-95A3-2115-2C8E4664B4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E866E2-1D51-1C1F-7892-90C3C7DBE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Since low-fi wireframes are quick and cheap to produce, they are ideal for testing multiple layout designs before committing to one direction</a:t>
            </a:r>
          </a:p>
          <a:p>
            <a:r>
              <a:rPr lang="en-US" dirty="0"/>
              <a:t>Feedback during this stage focuses on </a:t>
            </a:r>
            <a:r>
              <a:rPr lang="en-US" b="1" dirty="0"/>
              <a:t>structure and flow</a:t>
            </a:r>
            <a:r>
              <a:rPr lang="en-US" dirty="0"/>
              <a:t> not visual details</a:t>
            </a:r>
          </a:p>
          <a:p>
            <a:r>
              <a:rPr lang="en-US" dirty="0"/>
              <a:t>Low-fi wireframes are </a:t>
            </a:r>
            <a:r>
              <a:rPr lang="en-US" b="1" i="1" dirty="0"/>
              <a:t>not meant to be built</a:t>
            </a:r>
            <a:r>
              <a:rPr lang="en-US" dirty="0"/>
              <a:t> – they are a conversation starting point, not part of a design spec.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2C45D23-A7EF-8E4D-3987-C0775D6DC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Low-fidelity Wireframes</a:t>
            </a:r>
          </a:p>
        </p:txBody>
      </p:sp>
    </p:spTree>
    <p:extLst>
      <p:ext uri="{BB962C8B-B14F-4D97-AF65-F5344CB8AC3E}">
        <p14:creationId xmlns:p14="http://schemas.microsoft.com/office/powerpoint/2010/main" val="76869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4199B-8E0B-C2B1-F64F-B9FB7CAC3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38DCE-8E80-FF57-A984-7A480F7E28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B994F1-D45C-E197-AEBA-EF5281B2A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b="1" i="1" dirty="0"/>
              <a:t>Mid-fidelity</a:t>
            </a:r>
            <a:r>
              <a:rPr lang="en-US" dirty="0"/>
              <a:t> wireframes add more structure and precision than low-fi wireframes, while still avoiding real visual styling, like color, branding or imagery.</a:t>
            </a:r>
          </a:p>
          <a:p>
            <a:r>
              <a:rPr lang="en-US" dirty="0"/>
              <a:t>Elements become more clearly defined: buttons look like buttons, navigation items are labeled, and spacing starts to reflect intended proportions.</a:t>
            </a:r>
          </a:p>
          <a:p>
            <a:r>
              <a:rPr lang="en-US" dirty="0"/>
              <a:t>Text is often represented with </a:t>
            </a:r>
            <a:r>
              <a:rPr lang="en-US" b="1" i="1" dirty="0"/>
              <a:t>realistic placeholder copies</a:t>
            </a:r>
            <a:r>
              <a:rPr lang="en-US" dirty="0"/>
              <a:t> (like “Lorem ipsum” or approximate headline lengths), rather than plain lines</a:t>
            </a:r>
          </a:p>
          <a:p>
            <a:r>
              <a:rPr lang="en-US" dirty="0"/>
              <a:t>Layout grids, columns, and component boundaries are usually visible and consistent, giving a clearer sense of alignment.</a:t>
            </a:r>
          </a:p>
          <a:p>
            <a:r>
              <a:rPr lang="en-US" b="1" dirty="0"/>
              <a:t>Purpose:</a:t>
            </a:r>
            <a:r>
              <a:rPr lang="en-US" dirty="0"/>
              <a:t> Showcase potential layout options to funnel the project direction &amp; determine overall scope.</a:t>
            </a:r>
            <a:endParaRPr lang="en-US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7A89C00-050C-DB47-F6D0-F6F96F19E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Mid-Fidelity Wireframes</a:t>
            </a:r>
          </a:p>
        </p:txBody>
      </p:sp>
    </p:spTree>
    <p:extLst>
      <p:ext uri="{BB962C8B-B14F-4D97-AF65-F5344CB8AC3E}">
        <p14:creationId xmlns:p14="http://schemas.microsoft.com/office/powerpoint/2010/main" val="2394694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1224F-C737-0DC7-B2DC-8B38A4BF7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43DB1-C2A2-CD58-27FC-21F67254D3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2CA6C1-49E9-49C5-47CE-9970A0A43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Mid-Fidelity Example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8579D6-22E4-CC29-16B0-B9C832C7C3F4}"/>
              </a:ext>
            </a:extLst>
          </p:cNvPr>
          <p:cNvSpPr/>
          <p:nvPr/>
        </p:nvSpPr>
        <p:spPr>
          <a:xfrm>
            <a:off x="0" y="1219200"/>
            <a:ext cx="9144000" cy="5638800"/>
          </a:xfrm>
          <a:prstGeom prst="rect">
            <a:avLst/>
          </a:prstGeom>
          <a:solidFill>
            <a:srgbClr val="1734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8D9A79-1D2E-0CED-B346-2CD41083C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6277"/>
            <a:ext cx="9144000" cy="524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359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0BDF1-AE92-2323-6CDE-8BD0A271C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B2625-A018-3A07-9A50-DB16725A29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FB41D6-9238-754A-AF20-59EF791D6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Mid-fi wireframes are typically created once a general direction has been agreed upon, and the team is refining the structure before visual designing begins</a:t>
            </a:r>
          </a:p>
          <a:p>
            <a:r>
              <a:rPr lang="en-US" dirty="0"/>
              <a:t>This stage is often when </a:t>
            </a:r>
            <a:r>
              <a:rPr lang="en-US" b="1" i="1" dirty="0"/>
              <a:t>developers start getting involved</a:t>
            </a:r>
            <a:r>
              <a:rPr lang="en-US" dirty="0"/>
              <a:t> in discussions</a:t>
            </a:r>
          </a:p>
          <a:p>
            <a:pPr lvl="1"/>
            <a:r>
              <a:rPr lang="en-US" dirty="0"/>
              <a:t>Spacing, component behavior and content structure are concrete enough to plan for</a:t>
            </a:r>
          </a:p>
          <a:p>
            <a:pPr lvl="1"/>
            <a:r>
              <a:rPr lang="en-US" dirty="0"/>
              <a:t>Typically, this is the role of senior, or experienced </a:t>
            </a:r>
            <a:r>
              <a:rPr lang="en-US" dirty="0" err="1"/>
              <a:t>devs</a:t>
            </a:r>
            <a:endParaRPr lang="en-US" dirty="0"/>
          </a:p>
          <a:p>
            <a:r>
              <a:rPr lang="en-US" dirty="0"/>
              <a:t>Mid-fi wireframes still avoid final colors/fonts – the focus remains on </a:t>
            </a:r>
            <a:r>
              <a:rPr lang="en-US" b="1" i="1" dirty="0"/>
              <a:t>function and structure</a:t>
            </a:r>
            <a:r>
              <a:rPr lang="en-US" i="1" dirty="0"/>
              <a:t>.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7465CB-0056-E301-0528-D09C81148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Mid-Fidelity Wireframes</a:t>
            </a:r>
          </a:p>
        </p:txBody>
      </p:sp>
    </p:spTree>
    <p:extLst>
      <p:ext uri="{BB962C8B-B14F-4D97-AF65-F5344CB8AC3E}">
        <p14:creationId xmlns:p14="http://schemas.microsoft.com/office/powerpoint/2010/main" val="3564855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D442F-63A3-FB46-2C5E-FA0D0193B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20462-342A-FC32-0DEA-5F964E0396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AD514D-6B1C-EED5-A05C-B85AC2EC9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High-fidelity</a:t>
            </a:r>
            <a:r>
              <a:rPr lang="en-US" i="1" dirty="0"/>
              <a:t> </a:t>
            </a:r>
            <a:r>
              <a:rPr lang="en-US" dirty="0"/>
              <a:t>wireframes are the most detailed and precise stage of wireframing, closely resembling the final layout in terms of spacing, sizing, and content structure</a:t>
            </a:r>
          </a:p>
          <a:p>
            <a:r>
              <a:rPr lang="en-US" dirty="0"/>
              <a:t>Often includes real or near-final copy (accurate content lengths, specific UI states – like form validation messages or empty states)</a:t>
            </a:r>
          </a:p>
          <a:p>
            <a:r>
              <a:rPr lang="en-US" dirty="0"/>
              <a:t>High-fidelity wireframes might resemble early product mockups, including some visual design elements but functionality is still missing. </a:t>
            </a:r>
          </a:p>
          <a:p>
            <a:pPr lvl="1"/>
            <a:r>
              <a:rPr lang="en-US" dirty="0"/>
              <a:t>These </a:t>
            </a:r>
            <a:r>
              <a:rPr lang="en-US" i="1" dirty="0"/>
              <a:t>might</a:t>
            </a:r>
            <a:r>
              <a:rPr lang="en-US" dirty="0"/>
              <a:t> include branding, colors and fonts but often will still just focus on structure</a:t>
            </a:r>
          </a:p>
          <a:p>
            <a:r>
              <a:rPr lang="en-US" b="1" dirty="0"/>
              <a:t>Purpose</a:t>
            </a:r>
            <a:r>
              <a:rPr lang="en-US" dirty="0"/>
              <a:t>: Act as a final structural template that can be included in hand-off conversations to design/dev teams for Mockup generation, or prototyping.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50EE1B2-E999-695E-6F46-B2C629538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High-Fidelity Wireframes</a:t>
            </a:r>
          </a:p>
        </p:txBody>
      </p:sp>
    </p:spTree>
    <p:extLst>
      <p:ext uri="{BB962C8B-B14F-4D97-AF65-F5344CB8AC3E}">
        <p14:creationId xmlns:p14="http://schemas.microsoft.com/office/powerpoint/2010/main" val="1353675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888AE-4D70-E81C-D5E6-1E8033D8D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98DB4A0-8887-33C7-AF2F-5E1BE051A3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19200"/>
            <a:ext cx="9144000" cy="5638800"/>
          </a:xfrm>
          <a:prstGeom prst="rect">
            <a:avLst/>
          </a:prstGeom>
          <a:solidFill>
            <a:srgbClr val="F5CD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5DF9B-E805-54B3-83B5-051C49D11C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36F1990-9ADB-F309-5525-C46BA1081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High-Fidelity Example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F8AA00-3FA9-B5E3-7F6A-5EDAA2F1E89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861" y="1219200"/>
            <a:ext cx="7522277" cy="564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15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C05FE-0625-04F4-0F7B-B18D0C633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FA53F-1DC7-C6B2-F4B2-D2BCE332A3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CD6536-2164-4B82-6451-8F49752AB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Due to the level of detail, high-fidelity wireframes are useful for identifying </a:t>
            </a:r>
            <a:r>
              <a:rPr lang="en-US" b="1" dirty="0"/>
              <a:t>edge-cases</a:t>
            </a:r>
            <a:r>
              <a:rPr lang="en-US" dirty="0"/>
              <a:t> (what happens when a text field is empty or a list has no items?)</a:t>
            </a:r>
          </a:p>
          <a:p>
            <a:r>
              <a:rPr lang="en-US" dirty="0"/>
              <a:t>High-fidelity wireframes are often the artifact developers receive </a:t>
            </a:r>
            <a:r>
              <a:rPr lang="en-US" i="1" dirty="0"/>
              <a:t>immediately before or alongside</a:t>
            </a:r>
            <a:r>
              <a:rPr lang="en-US" b="1" i="1" dirty="0"/>
              <a:t> </a:t>
            </a:r>
            <a:r>
              <a:rPr lang="en-US" dirty="0"/>
              <a:t>visual mockups</a:t>
            </a:r>
          </a:p>
          <a:p>
            <a:r>
              <a:rPr lang="en-US" dirty="0"/>
              <a:t>They act as a key reference point for structural accuracy in the development of the UI.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1F6453A-F655-9869-CADF-709B31002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High-Fidelity Wireframes</a:t>
            </a:r>
          </a:p>
        </p:txBody>
      </p:sp>
    </p:spTree>
    <p:extLst>
      <p:ext uri="{BB962C8B-B14F-4D97-AF65-F5344CB8AC3E}">
        <p14:creationId xmlns:p14="http://schemas.microsoft.com/office/powerpoint/2010/main" val="1888227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9649A-E2AA-1CE5-32E7-F71D945C1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FEC701-AF8B-26C4-7354-BCFC4C8A3A3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4FDA58F4-74EB-367E-5EBF-B3F0BF81A78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Best Practices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B4F01D-F66E-9EF4-A632-4FABB12D6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204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EE5C8-4C45-C00A-A182-B85B12D3F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BABF1-58ED-684B-966F-F3B35333D5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3FE982-B2A2-70A2-B36F-CE7C5F74B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Keep fidelity intentional</a:t>
            </a:r>
            <a:r>
              <a:rPr lang="en-US" dirty="0"/>
              <a:t>: The level of detail should match the stage of a project.</a:t>
            </a:r>
          </a:p>
          <a:p>
            <a:r>
              <a:rPr lang="en-US" b="1" dirty="0"/>
              <a:t>Prioritize content and structure over decoration</a:t>
            </a:r>
            <a:r>
              <a:rPr lang="en-US" dirty="0"/>
              <a:t>: Wireframes should always answer “what goes where?”, not “what does it look like?”</a:t>
            </a:r>
          </a:p>
          <a:p>
            <a:r>
              <a:rPr lang="en-US" b="1" dirty="0"/>
              <a:t>Maintain consistency</a:t>
            </a:r>
            <a:r>
              <a:rPr lang="en-US" dirty="0"/>
              <a:t>: in spacing, alignment, component patterns. Inconsistent wireframes can create confusion for developers.</a:t>
            </a:r>
          </a:p>
          <a:p>
            <a:r>
              <a:rPr lang="en-US" b="1" dirty="0"/>
              <a:t>Involve developers early</a:t>
            </a:r>
            <a:r>
              <a:rPr lang="en-US" dirty="0"/>
              <a:t>: especially by the mid-fidelity stage, to catch technical constraints or edge cases before they become expensive to fix.</a:t>
            </a:r>
          </a:p>
          <a:p>
            <a:r>
              <a:rPr lang="en-US" b="1" dirty="0"/>
              <a:t>Use realistic content lengths where possible</a:t>
            </a:r>
            <a:r>
              <a:rPr lang="en-US" dirty="0"/>
              <a:t>: Be mindful of layouts that only work with “ideal”, short placeholder text.</a:t>
            </a:r>
            <a:endParaRPr lang="en-US" b="1" dirty="0"/>
          </a:p>
          <a:p>
            <a:r>
              <a:rPr lang="en-US" b="1" dirty="0"/>
              <a:t>Clearly label and annotate wireframes</a:t>
            </a:r>
            <a:r>
              <a:rPr lang="en-US" dirty="0"/>
              <a:t>: Don’t assume every viewer will interpret an unlabeled box the same way.</a:t>
            </a:r>
            <a:endParaRPr lang="en-US" b="1" dirty="0"/>
          </a:p>
          <a:p>
            <a:r>
              <a:rPr lang="en-US" b="1" dirty="0"/>
              <a:t>Treat wireframes as a living, iterative artifact</a:t>
            </a:r>
            <a:r>
              <a:rPr lang="en-US" dirty="0"/>
              <a:t>: Expect revisions based on feedback.</a:t>
            </a:r>
            <a:endParaRPr lang="en-US" b="1" dirty="0"/>
          </a:p>
          <a:p>
            <a:r>
              <a:rPr lang="en-US" b="1" dirty="0"/>
              <a:t>Avoid scope creep into visual design</a:t>
            </a:r>
            <a:r>
              <a:rPr lang="en-US" dirty="0"/>
              <a:t>: Resist the urge to add color, imagery or branding before the structural conversation is finished.</a:t>
            </a:r>
            <a:endParaRPr lang="en-US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04718BE-FC85-53AE-0E8B-20BC5CCB0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Wireframe Best Practices</a:t>
            </a:r>
          </a:p>
        </p:txBody>
      </p:sp>
    </p:spTree>
    <p:extLst>
      <p:ext uri="{BB962C8B-B14F-4D97-AF65-F5344CB8AC3E}">
        <p14:creationId xmlns:p14="http://schemas.microsoft.com/office/powerpoint/2010/main" val="1912576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A9EDF-382F-EE1C-A7CA-CC9FC3F7B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088C61-DF83-CB44-918B-A450204E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401793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8209</TotalTime>
  <Words>1071</Words>
  <Application>Microsoft Office PowerPoint</Application>
  <PresentationFormat>On-screen Show (4:3)</PresentationFormat>
  <Paragraphs>90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2_Custom Design</vt:lpstr>
      <vt:lpstr>Wireframes</vt:lpstr>
      <vt:lpstr>Outline</vt:lpstr>
      <vt:lpstr>PowerPoint Presentation</vt:lpstr>
      <vt:lpstr>Introduction to Wireframes</vt:lpstr>
      <vt:lpstr>Wireframing Tools</vt:lpstr>
      <vt:lpstr>PowerPoint Presentation</vt:lpstr>
      <vt:lpstr>Fidelity</vt:lpstr>
      <vt:lpstr>Low-fidelity Wireframes</vt:lpstr>
      <vt:lpstr>Low-fidelity Examples</vt:lpstr>
      <vt:lpstr>Low-fidelity Wireframes</vt:lpstr>
      <vt:lpstr>Mid-Fidelity Wireframes</vt:lpstr>
      <vt:lpstr>Mid-Fidelity Example</vt:lpstr>
      <vt:lpstr>Mid-Fidelity Wireframes</vt:lpstr>
      <vt:lpstr>High-Fidelity Wireframes</vt:lpstr>
      <vt:lpstr>High-Fidelity Example</vt:lpstr>
      <vt:lpstr>High-Fidelity Wireframes</vt:lpstr>
      <vt:lpstr>PowerPoint Presentation</vt:lpstr>
      <vt:lpstr>Wireframe Best Practices</vt:lpstr>
      <vt:lpstr>PowerPoint Presentation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15</cp:revision>
  <cp:lastPrinted>2016-06-20T20:58:50Z</cp:lastPrinted>
  <dcterms:created xsi:type="dcterms:W3CDTF">2016-11-09T18:19:08Z</dcterms:created>
  <dcterms:modified xsi:type="dcterms:W3CDTF">2026-08-11T15:24:28Z</dcterms:modified>
</cp:coreProperties>
</file>