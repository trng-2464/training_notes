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86" r:id="rId3"/>
    <p:sldId id="357" r:id="rId4"/>
    <p:sldId id="257" r:id="rId5"/>
    <p:sldId id="261" r:id="rId6"/>
    <p:sldId id="365" r:id="rId7"/>
    <p:sldId id="259" r:id="rId8"/>
    <p:sldId id="369" r:id="rId9"/>
    <p:sldId id="368" r:id="rId10"/>
    <p:sldId id="282" r:id="rId11"/>
    <p:sldId id="260" r:id="rId12"/>
    <p:sldId id="370" r:id="rId13"/>
    <p:sldId id="358" r:id="rId14"/>
    <p:sldId id="371" r:id="rId15"/>
    <p:sldId id="269" r:id="rId16"/>
    <p:sldId id="270" r:id="rId17"/>
    <p:sldId id="268" r:id="rId18"/>
    <p:sldId id="271" r:id="rId19"/>
    <p:sldId id="272" r:id="rId20"/>
    <p:sldId id="283" r:id="rId21"/>
    <p:sldId id="359" r:id="rId22"/>
    <p:sldId id="285" r:id="rId23"/>
    <p:sldId id="258" r:id="rId2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C55"/>
    <a:srgbClr val="669A91"/>
    <a:srgbClr val="9171A7"/>
    <a:srgbClr val="CCCC00"/>
    <a:srgbClr val="B07750"/>
    <a:srgbClr val="AC545C"/>
    <a:srgbClr val="33CCCC"/>
    <a:srgbClr val="9966FF"/>
    <a:srgbClr val="616875"/>
    <a:srgbClr val="CFD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956" y="1242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36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1990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ML" TargetMode="External"/><Relationship Id="rId2" Type="http://schemas.openxmlformats.org/officeDocument/2006/relationships/hyperlink" Target="https://www.w3schools.com/html/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HTML/Reference/Elements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HTML/Reference/Attributes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ML/Reference/Elements/input" TargetMode="External"/><Relationship Id="rId2" Type="http://schemas.openxmlformats.org/officeDocument/2006/relationships/hyperlink" Target="https://developer.mozilla.org/en-US/docs/Web/HTML/Reference/Elements/form" TargetMode="Externa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ML/Reference/Elements#embedded_content" TargetMode="External"/><Relationship Id="rId2" Type="http://schemas.openxmlformats.org/officeDocument/2006/relationships/hyperlink" Target="https://developer.mozilla.org/en-US/docs/Web/HTML/Reference/Elements#image_and_multimedia" TargetMode="Externa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&amp; HTTP Intro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 to HTML</a:t>
            </a:r>
          </a:p>
          <a:p>
            <a:r>
              <a:rPr lang="en-US" dirty="0"/>
              <a:t>HTTP Intro &amp; HTML Forms</a:t>
            </a:r>
          </a:p>
          <a:p>
            <a:r>
              <a:rPr lang="en-US" dirty="0"/>
              <a:t>HTML Multimedia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208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HTML stands for </a:t>
            </a:r>
            <a:r>
              <a:rPr lang="en-US" b="1" dirty="0"/>
              <a:t>H</a:t>
            </a:r>
            <a:r>
              <a:rPr lang="en-US" dirty="0"/>
              <a:t>yper</a:t>
            </a:r>
            <a:r>
              <a:rPr lang="en-US" b="1" dirty="0"/>
              <a:t>t</a:t>
            </a:r>
            <a:r>
              <a:rPr lang="en-US" dirty="0"/>
              <a:t>ext </a:t>
            </a:r>
            <a:r>
              <a:rPr lang="en-US" b="1" dirty="0"/>
              <a:t>M</a:t>
            </a:r>
            <a:r>
              <a:rPr lang="en-US" dirty="0"/>
              <a:t>arkup </a:t>
            </a:r>
            <a:r>
              <a:rPr lang="en-US" b="1" dirty="0"/>
              <a:t>L</a:t>
            </a:r>
            <a:r>
              <a:rPr lang="en-US" dirty="0"/>
              <a:t>anguage.</a:t>
            </a:r>
          </a:p>
          <a:p>
            <a:r>
              <a:rPr lang="en-US" dirty="0"/>
              <a:t>It is a markup language for creating web pages and applications</a:t>
            </a:r>
          </a:p>
          <a:p>
            <a:pPr lvl="1"/>
            <a:r>
              <a:rPr lang="en-US" dirty="0"/>
              <a:t>Note: Markup languages are ‘structural formatting’ languages, which present context to the text in the document to dictate how it should be displayed, or otherwise interpreted.</a:t>
            </a:r>
          </a:p>
          <a:p>
            <a:pPr lvl="1"/>
            <a:r>
              <a:rPr lang="en-US" dirty="0"/>
              <a:t>Markup languages are most commonly used for web pages or configuration file</a:t>
            </a:r>
          </a:p>
          <a:p>
            <a:r>
              <a:rPr lang="en-US" dirty="0"/>
              <a:t>HTML contains a particular syntax, named </a:t>
            </a:r>
            <a:r>
              <a:rPr lang="en-US" b="1" i="1" dirty="0"/>
              <a:t>elements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i="1" dirty="0"/>
              <a:t>attributes</a:t>
            </a:r>
            <a:r>
              <a:rPr lang="en-US" dirty="0"/>
              <a:t>.</a:t>
            </a:r>
          </a:p>
          <a:p>
            <a:r>
              <a:rPr lang="en-US" dirty="0"/>
              <a:t>Web browsers parse the elements and their attributes to determine how to render content of the webpage.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3DF2-CBA8-4081-8082-8A99964DF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HTML, CSS, and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E3E18-4B13-4C03-A793-F2F984DA3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sets the structure of web pages.</a:t>
            </a:r>
          </a:p>
          <a:p>
            <a:endParaRPr lang="en-US" dirty="0"/>
          </a:p>
          <a:p>
            <a:r>
              <a:rPr lang="en-US" dirty="0"/>
              <a:t>CSS sets the style/appearance of web pages</a:t>
            </a:r>
          </a:p>
          <a:p>
            <a:endParaRPr lang="en-US" dirty="0"/>
          </a:p>
          <a:p>
            <a:r>
              <a:rPr lang="en-US" dirty="0"/>
              <a:t>JavaScript implements interactive functionality of a web page.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79AF8-0CC5-4A07-95DC-78E37B1F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58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8836-3D1D-B95C-8391-CC818408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FC87A-69C3-2FBE-2CBF-E9797A607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86DEA-A20C-5F63-9315-18D901BE3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is one of the simplest languages to learn and test.</a:t>
            </a:r>
          </a:p>
          <a:p>
            <a:r>
              <a:rPr lang="en-US" dirty="0"/>
              <a:t>You can write HTML code in any text editor</a:t>
            </a:r>
          </a:p>
          <a:p>
            <a:r>
              <a:rPr lang="en-US" dirty="0"/>
              <a:t>You can run HTML code in any web browser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See these resources:</a:t>
            </a:r>
          </a:p>
          <a:p>
            <a:r>
              <a:rPr lang="en-US" dirty="0">
                <a:hlinkClick r:id="rId2"/>
              </a:rPr>
              <a:t>https://www.w3schools.com/html/</a:t>
            </a:r>
            <a:endParaRPr lang="en-US" dirty="0"/>
          </a:p>
          <a:p>
            <a:r>
              <a:rPr lang="en-US" dirty="0">
                <a:hlinkClick r:id="rId3"/>
              </a:rPr>
              <a:t>https://developer.mozilla.org/en-US/docs/Web/HTML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5744D-BE59-8440-509C-713052E2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3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8FA9-2016-4BEB-929D-E21AAEDA8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D11AB-25E2-4D6A-BECD-C6E335F3D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66576"/>
            <a:ext cx="8383980" cy="297472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HTML elements are denoted with </a:t>
            </a:r>
            <a:r>
              <a:rPr lang="en-US" b="1" i="1" dirty="0"/>
              <a:t>tags</a:t>
            </a:r>
            <a:r>
              <a:rPr lang="en-US" dirty="0"/>
              <a:t>. </a:t>
            </a:r>
          </a:p>
          <a:p>
            <a:r>
              <a:rPr lang="en-US" dirty="0"/>
              <a:t>A </a:t>
            </a:r>
            <a:r>
              <a:rPr lang="en-US" b="1" i="1" dirty="0"/>
              <a:t>tag</a:t>
            </a:r>
            <a:r>
              <a:rPr lang="en-US" dirty="0"/>
              <a:t> is enclosed within angle brackets:</a:t>
            </a:r>
          </a:p>
          <a:p>
            <a:pPr lvl="1"/>
            <a:r>
              <a:rPr lang="en-US" dirty="0"/>
              <a:t>Ex: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</a:p>
          <a:p>
            <a:r>
              <a:rPr lang="en-US" dirty="0"/>
              <a:t>Most elements have closing tags, which define the end of the element. These closing tags are denoted using a backslash:</a:t>
            </a:r>
          </a:p>
          <a:p>
            <a:pPr lvl="1"/>
            <a:r>
              <a:rPr lang="en-US" dirty="0"/>
              <a:t>The closing “div” tag looks like this: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r>
              <a:rPr lang="en-US" dirty="0"/>
              <a:t>The content between the open the closing tags are known as the HTML element content.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4F4F6-8747-4563-B4DD-01F1BE070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EC51E3-32CD-647B-CB7F-17EEEFAE3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470" y="4470465"/>
            <a:ext cx="6039059" cy="238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20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76CAC-E2E2-A4BC-7A22-38F791248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05EF-8025-8E75-C3A2-160B6CAA5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9BFEB-5B4F-6291-D032-D63950051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 elements are ‘self-closing’. Meaning the element </a:t>
            </a:r>
            <a:r>
              <a:rPr lang="en-US" b="1" i="1" dirty="0"/>
              <a:t>does not have content or a closing tag</a:t>
            </a:r>
            <a:endParaRPr lang="en-US" dirty="0"/>
          </a:p>
          <a:p>
            <a:pPr lvl="1"/>
            <a:r>
              <a:rPr lang="en-US" dirty="0"/>
              <a:t>Self-closing tags can be represented using the ‘closing tag’ syntax - &lt;tag-name /&gt;</a:t>
            </a:r>
          </a:p>
          <a:p>
            <a:pPr lvl="1"/>
            <a:r>
              <a:rPr lang="en-US" dirty="0"/>
              <a:t>i.e. &lt;tag /&gt;</a:t>
            </a:r>
          </a:p>
          <a:p>
            <a:r>
              <a:rPr lang="en-US" dirty="0"/>
              <a:t>These elements typically represent some functionality or meta-data but not related to its own rendered content.</a:t>
            </a:r>
          </a:p>
          <a:p>
            <a:r>
              <a:rPr lang="en-US" dirty="0"/>
              <a:t>For instance, the &lt;</a:t>
            </a:r>
            <a:r>
              <a:rPr lang="en-US" dirty="0" err="1"/>
              <a:t>br</a:t>
            </a:r>
            <a:r>
              <a:rPr lang="en-US" dirty="0"/>
              <a:t>&gt; element is used to indicate a ‘line break’, moving any following text to the next line on the webpage.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1F654-1431-DEFA-0971-1AB4E896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29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459F0-2CE9-5662-6C00-B996908C9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FB70-5880-83F2-BCF7-AE1C62B4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Mandatory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803D8-6477-1DB2-2134-EDC86FE7B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Every HTML page must have these 5 elements to be “valid”:</a:t>
            </a:r>
          </a:p>
          <a:p>
            <a:pPr lvl="1"/>
            <a:r>
              <a:rPr lang="en-US" dirty="0"/>
              <a:t>&lt;!DOCTYPE&gt;</a:t>
            </a:r>
          </a:p>
          <a:p>
            <a:pPr lvl="1"/>
            <a:r>
              <a:rPr lang="en-US" dirty="0"/>
              <a:t>&lt;html&gt;</a:t>
            </a:r>
          </a:p>
          <a:p>
            <a:pPr lvl="1"/>
            <a:r>
              <a:rPr lang="en-US" dirty="0"/>
              <a:t>&lt;head&gt;</a:t>
            </a:r>
          </a:p>
          <a:p>
            <a:pPr lvl="1"/>
            <a:r>
              <a:rPr lang="en-US" dirty="0"/>
              <a:t>&lt;title&gt;</a:t>
            </a:r>
          </a:p>
          <a:p>
            <a:pPr lvl="1"/>
            <a:r>
              <a:rPr lang="en-US" dirty="0"/>
              <a:t>&lt;body&gt;</a:t>
            </a:r>
          </a:p>
          <a:p>
            <a:r>
              <a:rPr lang="en-US" dirty="0"/>
              <a:t>Technically, these were only required in HTML4. HTML5 allows &lt;html&gt;, &lt;head&gt;, and &lt;body&gt; to be omitted under certain conditions, but this can break some tools and introduces ambiguity.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95165-6675-3DBC-0C09-C91F8B37A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12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26F20-E2A4-D2CF-1AC2-57595924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3A2B8-EEFF-CB2B-90B4-01336CCD7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HTML Elements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31406-0D80-6128-EC69-568CA7D2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B557C0-EF98-513C-9297-D08E01E09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329246"/>
              </p:ext>
            </p:extLst>
          </p:nvPr>
        </p:nvGraphicFramePr>
        <p:xfrm>
          <a:off x="214681" y="1262554"/>
          <a:ext cx="8714638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598">
                  <a:extLst>
                    <a:ext uri="{9D8B030D-6E8A-4147-A177-3AD203B41FA5}">
                      <a16:colId xmlns:a16="http://schemas.microsoft.com/office/drawing/2014/main" val="3786995015"/>
                    </a:ext>
                  </a:extLst>
                </a:gridCol>
                <a:gridCol w="6744040">
                  <a:extLst>
                    <a:ext uri="{9D8B030D-6E8A-4147-A177-3AD203B41FA5}">
                      <a16:colId xmlns:a16="http://schemas.microsoft.com/office/drawing/2014/main" val="2515466385"/>
                    </a:ext>
                  </a:extLst>
                </a:gridCol>
              </a:tblGrid>
              <a:tr h="180485">
                <a:tc>
                  <a:txBody>
                    <a:bodyPr/>
                    <a:lstStyle/>
                    <a:p>
                      <a:r>
                        <a:rPr lang="en-US" dirty="0"/>
                        <a:t>HTML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905578"/>
                  </a:ext>
                </a:extLst>
              </a:tr>
              <a:tr h="315848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&lt;p&gt;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Paragraph – displays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425156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&lt;div&gt;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Division – common element to section content – useful for controlling styling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334354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Line break – self-closing element used to display text on the following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559717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&lt;a&gt;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Anchor – used with ‘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href</a:t>
                      </a:r>
                      <a:r>
                        <a:rPr lang="en-US" sz="1500" dirty="0"/>
                        <a:t>’ attribute to link to some other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56326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Ordered list – used with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&lt;li&gt; </a:t>
                      </a:r>
                      <a:r>
                        <a:rPr lang="en-US" sz="1500" dirty="0"/>
                        <a:t>to create a numbered list of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838592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&lt;ul&gt;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Unordered list – used with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&lt;li&gt;</a:t>
                      </a:r>
                      <a:r>
                        <a:rPr lang="en-US" sz="1500" dirty="0"/>
                        <a:t> to create a bulleted list of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280735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&lt;li&gt;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List Item – nested within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ol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  <a:r>
                        <a:rPr lang="en-US" sz="1500" dirty="0"/>
                        <a:t> or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&lt;ul&gt;.</a:t>
                      </a:r>
                      <a:r>
                        <a:rPr lang="en-US" sz="1500" dirty="0"/>
                        <a:t> Indicates a single item in a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936795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&lt;table&gt;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Table – represents a 2D (rows and columns) tabular data set. Used with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thead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&gt;, &lt;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tbody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&gt;, &lt;tr&gt;</a:t>
                      </a:r>
                      <a:r>
                        <a:rPr lang="en-US" sz="1500" dirty="0"/>
                        <a:t> and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&lt;td&gt;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333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thead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Table head – indicates the “head” (first row) of a table. Should encapsulate multiple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&lt;td&gt;</a:t>
                      </a:r>
                      <a:r>
                        <a:rPr lang="en-US" sz="1500" dirty="0"/>
                        <a:t> elements.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342128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tbody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Table body – encapsulates the rows (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&lt;tr&gt;</a:t>
                      </a:r>
                      <a:r>
                        <a:rPr lang="en-US" sz="1500" dirty="0"/>
                        <a:t>) of a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477270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&lt;tr&gt;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Table row – represents a row of a table. Should encapsulate multiple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&lt;td&gt;</a:t>
                      </a:r>
                      <a:r>
                        <a:rPr lang="en-US" sz="1500" dirty="0"/>
                        <a:t> elements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855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&lt;td&gt;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Table data – represents a single value in a table row (including </a:t>
                      </a:r>
                      <a:r>
                        <a:rPr lang="en-US" sz="1500" dirty="0" err="1"/>
                        <a:t>thead</a:t>
                      </a:r>
                      <a:r>
                        <a:rPr lang="en-US" sz="15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551622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FBEB89-C6D4-D7A6-683E-D81AEB59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681" y="6425642"/>
            <a:ext cx="8383980" cy="3651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dirty="0"/>
              <a:t>A full list of HTML Elements can be found here: </a:t>
            </a:r>
            <a:r>
              <a:rPr lang="en-US" sz="2000" dirty="0">
                <a:hlinkClick r:id="rId2"/>
              </a:rPr>
              <a:t>HTML elements reference - HTML | MDN</a:t>
            </a:r>
            <a:endParaRPr lang="en-US" sz="2000" dirty="0"/>
          </a:p>
          <a:p>
            <a:pPr marL="45720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30744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D0A9-2F17-431D-A6E4-59287B3D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2A0A5-0527-402A-8E6E-B53D80D33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HTML elements can also have </a:t>
            </a:r>
            <a:r>
              <a:rPr lang="en-US" b="1" i="1" dirty="0"/>
              <a:t>attributes</a:t>
            </a:r>
            <a:r>
              <a:rPr lang="en-US" dirty="0"/>
              <a:t> defined within the tag. </a:t>
            </a:r>
          </a:p>
          <a:p>
            <a:r>
              <a:rPr lang="en-US" dirty="0"/>
              <a:t>Attributes are key/value pairs that give metadata about the tag, which provide important context to the web browser.</a:t>
            </a:r>
          </a:p>
          <a:p>
            <a:pPr lvl="1"/>
            <a:r>
              <a:rPr lang="en-US" dirty="0"/>
              <a:t>Note: the ‘key’ of an attribute represents the actual attribute and the ‘value’ represents the meta-data information of that attribute.</a:t>
            </a:r>
          </a:p>
          <a:p>
            <a:r>
              <a:rPr lang="en-US" dirty="0"/>
              <a:t>An example of an attribute is the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dirty="0"/>
              <a:t>’ attribute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&lt;a&gt;</a:t>
            </a:r>
            <a:r>
              <a:rPr lang="en-US" dirty="0"/>
              <a:t> (anchor) elements. This attribute provides the source of a link.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=“https://www.google.com”&gt;Go to Google&lt;/a&gt;</a:t>
            </a:r>
          </a:p>
          <a:p>
            <a:r>
              <a:rPr lang="en-US" dirty="0"/>
              <a:t>Most attributes are context sensitive, meaning that using the same attribute in the wrong HTML element will either have no effect, or may even cause confusions/errors in your program.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D26B6-1CF7-4C4A-9967-B04AC177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13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234AD-8E7C-C856-C29C-F4D46B2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8FDE-6F16-15CC-2CE6-9C77771B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HTML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904B-A26F-CD75-7440-88D65DC67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Some attributes are usable by every HTML element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id=“value”</a:t>
            </a:r>
            <a:r>
              <a:rPr lang="en-US" b="1" dirty="0"/>
              <a:t> </a:t>
            </a:r>
            <a:r>
              <a:rPr lang="en-US" dirty="0"/>
              <a:t>: used to give a unique ID to a single element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class=“value”</a:t>
            </a:r>
            <a:r>
              <a:rPr lang="en-US" b="1" dirty="0"/>
              <a:t> : </a:t>
            </a:r>
            <a:r>
              <a:rPr lang="en-US" dirty="0"/>
              <a:t>used to group elements for styling or scripting purposes. Can have multiple values separated by spaces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style=“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key:value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;”</a:t>
            </a:r>
            <a:r>
              <a:rPr lang="en-US" b="1" dirty="0"/>
              <a:t> </a:t>
            </a:r>
            <a:r>
              <a:rPr lang="en-US" dirty="0"/>
              <a:t>: used to set styling directly on an element. Can have multiple </a:t>
            </a:r>
            <a:r>
              <a:rPr lang="en-US" dirty="0" err="1"/>
              <a:t>key:value</a:t>
            </a:r>
            <a:r>
              <a:rPr lang="en-US" dirty="0"/>
              <a:t> pairs, separated by semicolons (;)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=“value”</a:t>
            </a:r>
            <a:r>
              <a:rPr lang="en-US" b="1" dirty="0"/>
              <a:t> :</a:t>
            </a:r>
            <a:r>
              <a:rPr lang="en-US" dirty="0"/>
              <a:t> used to indicate the resource associated with a link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&lt;a&gt;</a:t>
            </a:r>
            <a:r>
              <a:rPr lang="en-US" dirty="0"/>
              <a:t> element).</a:t>
            </a:r>
          </a:p>
          <a:p>
            <a:r>
              <a:rPr lang="en-US" dirty="0"/>
              <a:t>See this link for more information about attributes: </a:t>
            </a:r>
            <a:r>
              <a:rPr lang="en-US" dirty="0">
                <a:hlinkClick r:id="rId2"/>
              </a:rPr>
              <a:t>HTML attribute reference - HTML | MDN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FD173-5E92-0408-5B4C-997D2AAF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69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18961-69E1-B8D7-C4C1-93F5105E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56AD9A-E374-E2EF-E95F-E65DB830A66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B93ABFD-7CFE-F782-467C-E2FC731C639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 Intro &amp; HTML Forms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A80AEF-4EA6-8ABD-16C6-1B1C8D5FA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11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76AF-5D71-00E3-8F68-E1AF0667B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D567B-C080-F007-3FF7-868D6C9A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Internet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1450A-216E-2BE9-3402-6044DC1B1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Browsers and servers generally do not keep “open connections” to each other.</a:t>
            </a:r>
          </a:p>
          <a:p>
            <a:pPr lvl="1"/>
            <a:r>
              <a:rPr lang="en-US" dirty="0"/>
              <a:t>Browser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 Request  </a:t>
            </a:r>
            <a:r>
              <a:rPr lang="en-US" dirty="0">
                <a:sym typeface="Wingdings" panose="05000000000000000000" pitchFamily="2" charset="2"/>
              </a:rPr>
              <a:t>  Server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Browser    Response    Server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Connection is closed</a:t>
            </a:r>
          </a:p>
          <a:p>
            <a:r>
              <a:rPr lang="en-US" dirty="0">
                <a:sym typeface="Wingdings" panose="05000000000000000000" pitchFamily="2" charset="2"/>
              </a:rPr>
              <a:t>HTTP is a protocol. It defines how communication happens.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Other protocols: FTP, SMTP, HTTPS, Telnet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Browser sends HTTP request to URL.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HTTP request arrives at server.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Server finds requested resource (page, file, or program). Server may forward request to program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Server returns requested resource in HTTP response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Browser renders (draws) response to screen, or downloads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A5E61-2862-BC53-4F9B-9699A97D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74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B575-EFE2-4897-B81A-45EB7D687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HTTP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69B17-BC32-412E-AF30-724D74507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Two flavors: GET and POST</a:t>
            </a:r>
          </a:p>
          <a:p>
            <a:pPr lvl="1"/>
            <a:r>
              <a:rPr lang="en-US" dirty="0"/>
              <a:t>Technically also PUT, DELETE, OPTION, TRACE, and more, but these are only used by applications, not browsers.</a:t>
            </a:r>
          </a:p>
          <a:p>
            <a:pPr lvl="1"/>
            <a:r>
              <a:rPr lang="en-US" dirty="0"/>
              <a:t>Also called “HTTP methods”.</a:t>
            </a:r>
          </a:p>
          <a:p>
            <a:pPr lvl="1"/>
            <a:endParaRPr lang="en-US" dirty="0"/>
          </a:p>
          <a:p>
            <a:r>
              <a:rPr lang="en-US" dirty="0"/>
              <a:t>GET requests:</a:t>
            </a:r>
          </a:p>
          <a:p>
            <a:pPr lvl="1"/>
            <a:r>
              <a:rPr lang="en-US" dirty="0"/>
              <a:t>Used to “retrieve” data from the server</a:t>
            </a:r>
          </a:p>
          <a:p>
            <a:pPr lvl="1"/>
            <a:r>
              <a:rPr lang="en-US" dirty="0"/>
              <a:t>Parameters will be included in the URL after ‘?’</a:t>
            </a:r>
          </a:p>
          <a:p>
            <a:pPr lvl="1"/>
            <a:r>
              <a:rPr lang="en-US" dirty="0"/>
              <a:t>Whenever an HTTP request is generated from typing a URL into an address bar, or clicking a link, it’s a GET request.</a:t>
            </a:r>
          </a:p>
          <a:p>
            <a:pPr lvl="1"/>
            <a:r>
              <a:rPr lang="en-US" dirty="0"/>
              <a:t>URLs typically have a character limit depending on browser and server settings. Generally &lt; 2000 characters is safe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98E6D-C9FE-4B3A-9A89-86441B206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91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FFC3-0255-47C5-ADF1-8A2DF339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HTTP Request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A7DC9-AD33-4B10-85FC-09824E133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 requests:</a:t>
            </a:r>
          </a:p>
          <a:p>
            <a:pPr lvl="1"/>
            <a:r>
              <a:rPr lang="en-US" dirty="0"/>
              <a:t>Used to send data to a server</a:t>
            </a:r>
          </a:p>
          <a:p>
            <a:pPr lvl="1"/>
            <a:r>
              <a:rPr lang="en-US" dirty="0"/>
              <a:t>Parameters are only in the “body” of the request, do not appear in URL</a:t>
            </a:r>
          </a:p>
          <a:p>
            <a:pPr lvl="1"/>
            <a:r>
              <a:rPr lang="en-US" dirty="0"/>
              <a:t>Data is sent as key-value pairs</a:t>
            </a:r>
          </a:p>
          <a:p>
            <a:pPr lvl="1"/>
            <a:r>
              <a:rPr lang="en-US" dirty="0"/>
              <a:t>HTTP POST requests typically have a maximum size depending on the server configuration (~2-10 MB)</a:t>
            </a:r>
          </a:p>
          <a:p>
            <a:pPr lvl="2"/>
            <a:r>
              <a:rPr lang="en-US" dirty="0"/>
              <a:t>What if I need to send a bigger file?</a:t>
            </a:r>
          </a:p>
          <a:p>
            <a:pPr lvl="2"/>
            <a:r>
              <a:rPr lang="en-US" dirty="0"/>
              <a:t>Multipart POST requests: used to break data up across multiple requests to respect size limits.</a:t>
            </a:r>
          </a:p>
          <a:p>
            <a:pPr lvl="2"/>
            <a:r>
              <a:rPr lang="en-US" dirty="0"/>
              <a:t>Server must be configured to accept multipart requests.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57F96-6539-4D2E-8A75-83C1E64E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65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CE0C7-C4CB-480B-A65C-1DA753DC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59FDE-5698-442E-9415-1CE6DAA6E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i="1" dirty="0"/>
              <a:t>HTML form </a:t>
            </a:r>
            <a:r>
              <a:rPr lang="en-US" dirty="0"/>
              <a:t>is a section of an html document that contains controls, such as text fields, password fields, checkboxes, radio buttons, etc… which are used to collect information from a user.</a:t>
            </a:r>
          </a:p>
          <a:p>
            <a:r>
              <a:rPr lang="en-US" dirty="0">
                <a:sym typeface="Wingdings" panose="05000000000000000000" pitchFamily="2" charset="2"/>
              </a:rPr>
              <a:t>When ‘</a:t>
            </a:r>
            <a:r>
              <a:rPr lang="en-US" i="1" dirty="0">
                <a:sym typeface="Wingdings" panose="05000000000000000000" pitchFamily="2" charset="2"/>
              </a:rPr>
              <a:t>submitted</a:t>
            </a:r>
            <a:r>
              <a:rPr lang="en-US" dirty="0">
                <a:sym typeface="Wingdings" panose="05000000000000000000" pitchFamily="2" charset="2"/>
              </a:rPr>
              <a:t>’ the collected information is submitted to a web server, as a </a:t>
            </a:r>
            <a:r>
              <a:rPr lang="en-US" b="1" i="1" dirty="0">
                <a:sym typeface="Wingdings" panose="05000000000000000000" pitchFamily="2" charset="2"/>
              </a:rPr>
              <a:t>request</a:t>
            </a:r>
            <a:r>
              <a:rPr lang="en-US" dirty="0">
                <a:sym typeface="Wingdings" panose="05000000000000000000" pitchFamily="2" charset="2"/>
              </a:rPr>
              <a:t>, and the server will provide a </a:t>
            </a:r>
            <a:r>
              <a:rPr lang="en-US" b="1" i="1" dirty="0">
                <a:sym typeface="Wingdings" panose="05000000000000000000" pitchFamily="2" charset="2"/>
              </a:rPr>
              <a:t>response</a:t>
            </a:r>
          </a:p>
          <a:p>
            <a:r>
              <a:rPr lang="en-US" dirty="0">
                <a:sym typeface="Wingdings" panose="05000000000000000000" pitchFamily="2" charset="2"/>
              </a:rPr>
              <a:t>To create a form, you use the ‘form’ tag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07AC5-F15C-44CC-A6D7-F57DE9A9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92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2909-8048-4973-B1CB-D9C621C1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Forms and HTTP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83379-4B2E-41A8-9F2E-0EFF6099B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dirty="0"/>
              <a:t> attribute of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&lt;form&gt;</a:t>
            </a:r>
            <a:r>
              <a:rPr lang="en-US" dirty="0"/>
              <a:t> element determines the HTTP request used to send form data (GET or POST)</a:t>
            </a:r>
          </a:p>
          <a:p>
            <a:r>
              <a:rPr lang="en-US" dirty="0"/>
              <a:t>GET:</a:t>
            </a:r>
          </a:p>
          <a:p>
            <a:pPr lvl="1"/>
            <a:r>
              <a:rPr lang="en-US" dirty="0"/>
              <a:t>Form data will appear in the URL</a:t>
            </a:r>
          </a:p>
          <a:p>
            <a:pPr lvl="1"/>
            <a:r>
              <a:rPr lang="en-US" dirty="0"/>
              <a:t>http://website.com/destination?key1=value1;key2=...</a:t>
            </a:r>
          </a:p>
          <a:p>
            <a:pPr lvl="1"/>
            <a:r>
              <a:rPr lang="en-US" dirty="0"/>
              <a:t>Subject to URL length limits</a:t>
            </a:r>
          </a:p>
          <a:p>
            <a:pPr lvl="1"/>
            <a:r>
              <a:rPr lang="en-US" dirty="0"/>
              <a:t>DO NOT USE FOR CONFIDENTIAL INFORMATION</a:t>
            </a:r>
          </a:p>
          <a:p>
            <a:r>
              <a:rPr lang="en-US" dirty="0"/>
              <a:t>POST:</a:t>
            </a:r>
          </a:p>
          <a:p>
            <a:pPr lvl="1"/>
            <a:r>
              <a:rPr lang="en-US" dirty="0"/>
              <a:t>Form data will be in HTTP request body, and thus hidden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 attribute of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&lt;input&gt; </a:t>
            </a:r>
            <a:r>
              <a:rPr lang="en-US" dirty="0"/>
              <a:t>element becomes the name of the key for the value. The value is the value of the input.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27C0B-193B-48FC-A7EC-3E610D1C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00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7B7F-27F1-417B-A9AF-3B601410B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HTTP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71418-CB55-4A74-9B27-7741EF970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12583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HTTP Requests have a head (filled with “headers”) and a body</a:t>
            </a:r>
            <a:br>
              <a:rPr lang="en-US" dirty="0"/>
            </a:br>
            <a:r>
              <a:rPr lang="en-US" dirty="0"/>
              <a:t>www.test101.com/doc/test.html?bookId=12345&amp;author</a:t>
            </a:r>
            <a:r>
              <a:rPr lang="en-US" sz="2100" dirty="0"/>
              <a:t>=Tan+Ah+Teck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Request Line: method, path, protocol</a:t>
            </a:r>
          </a:p>
          <a:p>
            <a:r>
              <a:rPr lang="en-US" dirty="0"/>
              <a:t>“Accept” headers: What types of data can be in the response. Restrictive. No match: no response/404.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3CD85-D0CA-4E98-81EF-CEBD9220D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026" name="Picture 2" descr="Image result for HTTP request">
            <a:extLst>
              <a:ext uri="{FF2B5EF4-FFF2-40B4-BE49-F238E27FC236}">
                <a16:creationId xmlns:a16="http://schemas.microsoft.com/office/drawing/2014/main" id="{08F600C9-1D5B-43CD-BF31-18AFC2FFF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55" y="2701005"/>
            <a:ext cx="7036090" cy="237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0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7C188-A7C7-1396-11D6-578D9A9D5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18CD-72DA-12E5-4702-7390A19A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Form Elements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B2301-71EC-B7C4-95F9-1C7B2A37A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E97CD7A-B746-FF27-BD0F-10337FABA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681" y="6229978"/>
            <a:ext cx="8383980" cy="56078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dirty="0"/>
              <a:t>More information of Form element can be found here: </a:t>
            </a:r>
            <a:r>
              <a:rPr lang="en-US" sz="2000" dirty="0">
                <a:hlinkClick r:id="rId2"/>
              </a:rPr>
              <a:t>&lt;form&gt;: The Form element - HTML | MDN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Additionally, see the ‘input’ element reference here: </a:t>
            </a:r>
            <a:r>
              <a:rPr lang="en-US" sz="2000" dirty="0">
                <a:hlinkClick r:id="rId3"/>
              </a:rPr>
              <a:t>&lt;input&gt;: The HTML Input element - HTML | MDN</a:t>
            </a:r>
            <a:endParaRPr lang="en-US" sz="20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FA42DD-43CC-D37D-1604-D1C1BEE9B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287246"/>
              </p:ext>
            </p:extLst>
          </p:nvPr>
        </p:nvGraphicFramePr>
        <p:xfrm>
          <a:off x="214681" y="1453473"/>
          <a:ext cx="8714638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598">
                  <a:extLst>
                    <a:ext uri="{9D8B030D-6E8A-4147-A177-3AD203B41FA5}">
                      <a16:colId xmlns:a16="http://schemas.microsoft.com/office/drawing/2014/main" val="3786995015"/>
                    </a:ext>
                  </a:extLst>
                </a:gridCol>
                <a:gridCol w="6744040">
                  <a:extLst>
                    <a:ext uri="{9D8B030D-6E8A-4147-A177-3AD203B41FA5}">
                      <a16:colId xmlns:a16="http://schemas.microsoft.com/office/drawing/2014/main" val="2515466385"/>
                    </a:ext>
                  </a:extLst>
                </a:gridCol>
              </a:tblGrid>
              <a:tr h="180485">
                <a:tc>
                  <a:txBody>
                    <a:bodyPr/>
                    <a:lstStyle/>
                    <a:p>
                      <a:r>
                        <a:rPr lang="en-US" dirty="0"/>
                        <a:t>HTML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905578"/>
                  </a:ext>
                </a:extLst>
              </a:tr>
              <a:tr h="315848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&lt;form&gt;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Represents the section containing interactive controls for submitting information (a web form)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425156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&lt;button&gt;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An interactive element that can be clicked on to perform an action (such as form submission, or calling a </a:t>
                      </a:r>
                      <a:r>
                        <a:rPr lang="en-US" sz="1500" dirty="0" err="1"/>
                        <a:t>javascript</a:t>
                      </a:r>
                      <a:r>
                        <a:rPr lang="en-US" sz="1500" dirty="0"/>
                        <a:t> function)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334354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&lt;label&gt;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Represents a caption for an item in a web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559717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&lt;input&gt;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Incredibly versatile elements. Used with a variety of attributes and other elements to create different, complex information gathering mechanisms for a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75180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&lt;select&gt;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Represents a control element that provides a menu of options. Used with the &lt;option&gt; element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56326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&lt;option&gt;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Represents a single item within a &lt;select&gt;, &lt;</a:t>
                      </a:r>
                      <a:r>
                        <a:rPr lang="en-US" sz="1500" dirty="0" err="1"/>
                        <a:t>optgroup</a:t>
                      </a:r>
                      <a:r>
                        <a:rPr lang="en-US" sz="1500" dirty="0"/>
                        <a:t>&gt; or &lt;</a:t>
                      </a:r>
                      <a:r>
                        <a:rPr lang="en-US" sz="1500" dirty="0" err="1"/>
                        <a:t>datalist</a:t>
                      </a:r>
                      <a:r>
                        <a:rPr lang="en-US" sz="1500" dirty="0"/>
                        <a:t>&gt; element. Can be used with the ‘value’ attribute to bind representative data to the option element display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838592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textarea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Represents a multi-line, plain text area where users can provide free-form text.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280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917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7E960-E3D1-DAB3-0457-F47D9E0C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98DF58-31BD-B83E-5EF7-9670CDA1A1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B9EFA45E-0636-3DD8-2F42-2AF64C875E5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HTML Multimedia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51EB4B-4E44-E078-B108-AF7D45FEB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47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C2B67-01C1-03B4-0A73-D500603FF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12F21-9B6F-863C-4E97-5908DFEC1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Multimedia Elements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917A8-313A-F6F1-F999-6E2FDCAA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95D8C17-3625-9E10-8936-A1331E684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681" y="6209880"/>
            <a:ext cx="8383980" cy="5808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dirty="0"/>
              <a:t>More information of Multi-media elements can be found in the following links:</a:t>
            </a:r>
          </a:p>
          <a:p>
            <a:pPr marL="0" indent="0">
              <a:buNone/>
            </a:pPr>
            <a:r>
              <a:rPr lang="en-US" sz="1800" dirty="0">
                <a:hlinkClick r:id="rId2"/>
              </a:rPr>
              <a:t>HTML elements reference - Image &amp; Multimedia</a:t>
            </a:r>
            <a:r>
              <a:rPr lang="en-US" sz="1800" dirty="0"/>
              <a:t> | </a:t>
            </a:r>
            <a:r>
              <a:rPr lang="en-US" sz="1800" dirty="0">
                <a:hlinkClick r:id="rId3"/>
              </a:rPr>
              <a:t>HTML elements reference - Embedded Content</a:t>
            </a:r>
            <a:endParaRPr lang="en-US" sz="18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BF6A21-1302-B1B8-B8CA-2AEE99E51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304468"/>
              </p:ext>
            </p:extLst>
          </p:nvPr>
        </p:nvGraphicFramePr>
        <p:xfrm>
          <a:off x="214681" y="1262554"/>
          <a:ext cx="8714638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598">
                  <a:extLst>
                    <a:ext uri="{9D8B030D-6E8A-4147-A177-3AD203B41FA5}">
                      <a16:colId xmlns:a16="http://schemas.microsoft.com/office/drawing/2014/main" val="3786995015"/>
                    </a:ext>
                  </a:extLst>
                </a:gridCol>
                <a:gridCol w="6744040">
                  <a:extLst>
                    <a:ext uri="{9D8B030D-6E8A-4147-A177-3AD203B41FA5}">
                      <a16:colId xmlns:a16="http://schemas.microsoft.com/office/drawing/2014/main" val="2515466385"/>
                    </a:ext>
                  </a:extLst>
                </a:gridCol>
              </a:tblGrid>
              <a:tr h="180485">
                <a:tc>
                  <a:txBody>
                    <a:bodyPr/>
                    <a:lstStyle/>
                    <a:p>
                      <a:r>
                        <a:rPr lang="en-US" dirty="0"/>
                        <a:t>HTML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905578"/>
                  </a:ext>
                </a:extLst>
              </a:tr>
              <a:tr h="315848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&lt;audio&gt;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Used to embed sound content in an HTML document. The audio source is represented using the ‘</a:t>
                      </a:r>
                      <a:r>
                        <a:rPr lang="en-US" sz="1500" dirty="0" err="1"/>
                        <a:t>src</a:t>
                      </a:r>
                      <a:r>
                        <a:rPr lang="en-US" sz="1500" dirty="0"/>
                        <a:t>’ (source) attribute or a nested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&lt;source&gt;</a:t>
                      </a:r>
                      <a:r>
                        <a:rPr lang="en-US" sz="1500" dirty="0"/>
                        <a:t> element.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425156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Embeds an image into a document. The image source is represented using the ‘</a:t>
                      </a:r>
                      <a:r>
                        <a:rPr lang="en-US" sz="1500" dirty="0" err="1"/>
                        <a:t>src</a:t>
                      </a:r>
                      <a:r>
                        <a:rPr lang="en-US" sz="1500" dirty="0"/>
                        <a:t>’ (source) attribute.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334354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&lt;picture&gt;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Embeds an image into a document, and provides a bit more flexibility than just the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  <a:r>
                        <a:rPr lang="en-US" sz="1500" dirty="0"/>
                        <a:t> element. Can contain multiple image sources with nested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&lt;source&gt;</a:t>
                      </a:r>
                      <a:r>
                        <a:rPr lang="en-US" sz="1500" dirty="0"/>
                        <a:t> elements and a single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  <a:r>
                        <a:rPr lang="en-US" sz="15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213382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&lt;video&gt;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Embeds a video player which supports video playback. The video source is represented using the ‘</a:t>
                      </a:r>
                      <a:r>
                        <a:rPr lang="en-US" sz="1500" dirty="0" err="1"/>
                        <a:t>src</a:t>
                      </a:r>
                      <a:r>
                        <a:rPr lang="en-US" sz="1500" dirty="0"/>
                        <a:t>’ (source) attribute, or a nested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&lt;source&gt;</a:t>
                      </a:r>
                      <a:r>
                        <a:rPr lang="en-US" sz="1500" dirty="0"/>
                        <a:t> element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559717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&lt;embed&gt;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Used to embed external content (content from other webpages) at a specified point in the html document.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56326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5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iframe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Represents a nested browsing context (i.e. another HTML page) within the current HTML document.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838592"/>
                  </a:ext>
                </a:extLst>
              </a:tr>
              <a:tr h="18048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&lt;source&gt;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Self-closing element which specifies one or more media resources for a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&lt;picture&gt;, &lt;audio&gt;</a:t>
                      </a:r>
                      <a:r>
                        <a:rPr lang="en-US" sz="1500" dirty="0"/>
                        <a:t> or </a:t>
                      </a:r>
                      <a:r>
                        <a:rPr lang="en-US" sz="15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&lt;video&gt;</a:t>
                      </a:r>
                      <a:r>
                        <a:rPr lang="en-US" sz="1500" dirty="0"/>
                        <a:t> element.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280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254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F324A5-21DE-4DF5-A0AD-939F7991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ACFE5-69E9-479F-8087-1E125945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72310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6367</TotalTime>
  <Words>1973</Words>
  <Application>Microsoft Office PowerPoint</Application>
  <PresentationFormat>On-screen Show (4:3)</PresentationFormat>
  <Paragraphs>210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Courier New</vt:lpstr>
      <vt:lpstr>Wingdings</vt:lpstr>
      <vt:lpstr>2_Custom Design</vt:lpstr>
      <vt:lpstr>HTML &amp; HTTP Intro</vt:lpstr>
      <vt:lpstr>Outline</vt:lpstr>
      <vt:lpstr>PowerPoint Presentation</vt:lpstr>
      <vt:lpstr>HTML Intro</vt:lpstr>
      <vt:lpstr>HTML, CSS, and JavaScript</vt:lpstr>
      <vt:lpstr>HTML Resources</vt:lpstr>
      <vt:lpstr>HTML Elements</vt:lpstr>
      <vt:lpstr>HTML Elements</vt:lpstr>
      <vt:lpstr>Mandatory Elements</vt:lpstr>
      <vt:lpstr>Common HTML Elements</vt:lpstr>
      <vt:lpstr>HTML Attributes</vt:lpstr>
      <vt:lpstr>Common HTML Attributes</vt:lpstr>
      <vt:lpstr>PowerPoint Presentation</vt:lpstr>
      <vt:lpstr>How the Internet Works</vt:lpstr>
      <vt:lpstr>Types of HTTP Request</vt:lpstr>
      <vt:lpstr>Types of HTTP Request Cont.</vt:lpstr>
      <vt:lpstr>HTML Forms</vt:lpstr>
      <vt:lpstr>HTML Forms and HTTP Methods</vt:lpstr>
      <vt:lpstr>Structure of HTTP Requests</vt:lpstr>
      <vt:lpstr>HTML Form Elements</vt:lpstr>
      <vt:lpstr>PowerPoint Presentation</vt:lpstr>
      <vt:lpstr>HTML Multimedia Elements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22</cp:revision>
  <cp:lastPrinted>2016-06-20T20:58:50Z</cp:lastPrinted>
  <dcterms:created xsi:type="dcterms:W3CDTF">2016-11-09T18:19:08Z</dcterms:created>
  <dcterms:modified xsi:type="dcterms:W3CDTF">2026-08-10T19:56:43Z</dcterms:modified>
</cp:coreProperties>
</file>