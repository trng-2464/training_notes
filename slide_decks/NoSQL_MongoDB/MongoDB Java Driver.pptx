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1" r:id="rId1"/>
  </p:sldMasterIdLst>
  <p:notesMasterIdLst>
    <p:notesMasterId r:id="rId16"/>
  </p:notesMasterIdLst>
  <p:sldIdLst>
    <p:sldId id="256" r:id="rId2"/>
    <p:sldId id="352" r:id="rId3"/>
    <p:sldId id="357" r:id="rId4"/>
    <p:sldId id="324" r:id="rId5"/>
    <p:sldId id="348" r:id="rId6"/>
    <p:sldId id="358" r:id="rId7"/>
    <p:sldId id="359" r:id="rId8"/>
    <p:sldId id="360" r:id="rId9"/>
    <p:sldId id="361" r:id="rId10"/>
    <p:sldId id="364" r:id="rId11"/>
    <p:sldId id="365" r:id="rId12"/>
    <p:sldId id="362" r:id="rId13"/>
    <p:sldId id="363" r:id="rId14"/>
    <p:sldId id="270" r:id="rId15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60"/>
  </p:normalViewPr>
  <p:slideViewPr>
    <p:cSldViewPr snapToGrid="0">
      <p:cViewPr varScale="1">
        <p:scale>
          <a:sx n="69" d="100"/>
          <a:sy n="69" d="100"/>
        </p:scale>
        <p:origin x="1416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0938" y="0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t" anchorCtr="0"/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50" tIns="46575" rIns="93150" bIns="465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50" tIns="46575" rIns="93150" bIns="46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2"/>
          <p:cNvPicPr preferRelativeResize="0"/>
          <p:nvPr/>
        </p:nvPicPr>
        <p:blipFill rotWithShape="1">
          <a:blip r:embed="rId2">
            <a:alphaModFix/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" name="Google Shape;35;p2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36" name="Google Shape;36;p2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2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  <a:defRPr sz="44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Only" type="titleOnly">
  <p:cSld name="TITLE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/>
          <p:nvPr/>
        </p:nvSpPr>
        <p:spPr>
          <a:xfrm rot="10800000" flipH="1">
            <a:off x="0" y="1219200"/>
            <a:ext cx="9144000" cy="563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4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65" name="Google Shape;65;p4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66" name="Google Shape;66;p4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4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4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4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4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4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4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4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4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5"/>
          <p:cNvPicPr preferRelativeResize="0"/>
          <p:nvPr/>
        </p:nvPicPr>
        <p:blipFill rotWithShape="1">
          <a:blip r:embed="rId2">
            <a:alphaModFix/>
          </a:blip>
          <a:srcRect t="33085" b="1379"/>
          <a:stretch/>
        </p:blipFill>
        <p:spPr>
          <a:xfrm rot="10800000" flipH="1">
            <a:off x="0" y="0"/>
            <a:ext cx="9144000" cy="50300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6" name="Google Shape;86;p5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87" name="Google Shape;87;p5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" name="Google Shape;105;p5"/>
          <p:cNvSpPr txBox="1">
            <a:spLocks noGrp="1"/>
          </p:cNvSpPr>
          <p:nvPr>
            <p:ph type="ctrTitle"/>
          </p:nvPr>
        </p:nvSpPr>
        <p:spPr>
          <a:xfrm>
            <a:off x="496177" y="320634"/>
            <a:ext cx="6807148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5"/>
          <p:cNvSpPr txBox="1"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l">
              <a:spcBef>
                <a:spcPts val="560"/>
              </a:spcBef>
              <a:spcAft>
                <a:spcPts val="0"/>
              </a:spcAft>
              <a:buSzPts val="2800"/>
              <a:buNone/>
              <a:defRPr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spcBef>
                <a:spcPts val="48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>
  <p:cSld name="section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6"/>
          <p:cNvPicPr preferRelativeResize="0"/>
          <p:nvPr/>
        </p:nvPicPr>
        <p:blipFill rotWithShape="1">
          <a:blip r:embed="rId2">
            <a:alphaModFix/>
          </a:blip>
          <a:srcRect t="67499" b="6701"/>
          <a:stretch/>
        </p:blipFill>
        <p:spPr>
          <a:xfrm rot="10800000" flipH="1">
            <a:off x="0" y="1740436"/>
            <a:ext cx="9144000" cy="1502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6"/>
          <p:cNvPicPr preferRelativeResize="0"/>
          <p:nvPr/>
        </p:nvPicPr>
        <p:blipFill rotWithShape="1">
          <a:blip r:embed="rId3">
            <a:alphaModFix/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6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" name="Google Shape;112;p6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3" name="Google Shape;113;p6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2">
  <p:cSld name="section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7"/>
          <p:cNvPicPr preferRelativeResize="0"/>
          <p:nvPr/>
        </p:nvPicPr>
        <p:blipFill rotWithShape="1">
          <a:blip r:embed="rId2">
            <a:alphaModFix/>
          </a:blip>
          <a:srcRect l="6614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/>
          <p:cNvPicPr preferRelativeResize="0"/>
          <p:nvPr/>
        </p:nvPicPr>
        <p:blipFill rotWithShape="1">
          <a:blip r:embed="rId3">
            <a:alphaModFix/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6" name="Google Shape;136;p7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37" name="Google Shape;137;p7"/>
            <p:cNvSpPr/>
            <p:nvPr/>
          </p:nvSpPr>
          <p:spPr>
            <a:xfrm>
              <a:off x="2814452" y="5818063"/>
              <a:ext cx="523694" cy="508514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7"/>
            <p:cNvSpPr/>
            <p:nvPr/>
          </p:nvSpPr>
          <p:spPr>
            <a:xfrm>
              <a:off x="346717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7"/>
            <p:cNvSpPr/>
            <p:nvPr/>
          </p:nvSpPr>
          <p:spPr>
            <a:xfrm>
              <a:off x="4041148" y="5818063"/>
              <a:ext cx="541720" cy="508514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7"/>
            <p:cNvSpPr/>
            <p:nvPr/>
          </p:nvSpPr>
          <p:spPr>
            <a:xfrm>
              <a:off x="4582868" y="5818063"/>
              <a:ext cx="608130" cy="508514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7"/>
            <p:cNvSpPr/>
            <p:nvPr/>
          </p:nvSpPr>
          <p:spPr>
            <a:xfrm>
              <a:off x="5169177" y="5818063"/>
              <a:ext cx="555002" cy="508514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7"/>
            <p:cNvSpPr/>
            <p:nvPr/>
          </p:nvSpPr>
          <p:spPr>
            <a:xfrm>
              <a:off x="5831384" y="5818063"/>
              <a:ext cx="541720" cy="521796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7"/>
            <p:cNvSpPr/>
            <p:nvPr/>
          </p:nvSpPr>
          <p:spPr>
            <a:xfrm>
              <a:off x="6530592" y="5818063"/>
              <a:ext cx="521796" cy="508514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7"/>
            <p:cNvSpPr/>
            <p:nvPr/>
          </p:nvSpPr>
          <p:spPr>
            <a:xfrm>
              <a:off x="7183312" y="5818063"/>
              <a:ext cx="462976" cy="508514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7"/>
            <p:cNvSpPr/>
            <p:nvPr/>
          </p:nvSpPr>
          <p:spPr>
            <a:xfrm>
              <a:off x="4647381" y="5515421"/>
              <a:ext cx="91077" cy="87282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7"/>
            <p:cNvSpPr/>
            <p:nvPr/>
          </p:nvSpPr>
          <p:spPr>
            <a:xfrm>
              <a:off x="4937689" y="5235549"/>
              <a:ext cx="130923" cy="157487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7"/>
            <p:cNvSpPr/>
            <p:nvPr/>
          </p:nvSpPr>
          <p:spPr>
            <a:xfrm>
              <a:off x="5278280" y="5018292"/>
              <a:ext cx="132821" cy="243821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5649230" y="4842779"/>
              <a:ext cx="112898" cy="335847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7"/>
            <p:cNvSpPr/>
            <p:nvPr/>
          </p:nvSpPr>
          <p:spPr>
            <a:xfrm>
              <a:off x="6026821" y="4720394"/>
              <a:ext cx="104359" cy="42028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7"/>
            <p:cNvSpPr/>
            <p:nvPr/>
          </p:nvSpPr>
          <p:spPr>
            <a:xfrm>
              <a:off x="6384489" y="4647343"/>
              <a:ext cx="162232" cy="497129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7"/>
            <p:cNvSpPr/>
            <p:nvPr/>
          </p:nvSpPr>
          <p:spPr>
            <a:xfrm>
              <a:off x="6733618" y="4625522"/>
              <a:ext cx="241924" cy="56828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7"/>
            <p:cNvSpPr/>
            <p:nvPr/>
          </p:nvSpPr>
          <p:spPr>
            <a:xfrm>
              <a:off x="7077055" y="4665368"/>
              <a:ext cx="333950" cy="621412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7414800" y="4764984"/>
              <a:ext cx="430719" cy="659361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7730724" y="4924369"/>
              <a:ext cx="543617" cy="68023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7"/>
          <p:cNvSpPr txBox="1">
            <a:spLocks noGrp="1"/>
          </p:cNvSpPr>
          <p:nvPr>
            <p:ph type="body" idx="1"/>
          </p:nvPr>
        </p:nvSpPr>
        <p:spPr>
          <a:xfrm>
            <a:off x="323135" y="1846263"/>
            <a:ext cx="8441453" cy="1241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L="457200" lvl="0" indent="-228600" algn="l">
              <a:spcBef>
                <a:spcPts val="80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white">
  <p:cSld name="title only - white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6" name="Google Shape;176;p11"/>
          <p:cNvGrpSpPr/>
          <p:nvPr/>
        </p:nvGrpSpPr>
        <p:grpSpPr>
          <a:xfrm>
            <a:off x="7264458" y="365740"/>
            <a:ext cx="1553308" cy="487719"/>
            <a:chOff x="7264458" y="365740"/>
            <a:chExt cx="1553308" cy="487719"/>
          </a:xfrm>
        </p:grpSpPr>
        <p:sp>
          <p:nvSpPr>
            <p:cNvPr id="177" name="Google Shape;177;p11"/>
            <p:cNvSpPr/>
            <p:nvPr/>
          </p:nvSpPr>
          <p:spPr>
            <a:xfrm>
              <a:off x="7264458" y="705011"/>
              <a:ext cx="148988" cy="144669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1"/>
            <p:cNvSpPr/>
            <p:nvPr/>
          </p:nvSpPr>
          <p:spPr>
            <a:xfrm>
              <a:off x="7450153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1"/>
            <p:cNvSpPr/>
            <p:nvPr/>
          </p:nvSpPr>
          <p:spPr>
            <a:xfrm>
              <a:off x="7613446" y="705011"/>
              <a:ext cx="154116" cy="144669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1"/>
            <p:cNvSpPr/>
            <p:nvPr/>
          </p:nvSpPr>
          <p:spPr>
            <a:xfrm>
              <a:off x="7767562" y="705011"/>
              <a:ext cx="173010" cy="144669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1"/>
            <p:cNvSpPr/>
            <p:nvPr/>
          </p:nvSpPr>
          <p:spPr>
            <a:xfrm>
              <a:off x="7934364" y="705011"/>
              <a:ext cx="157895" cy="144669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1"/>
            <p:cNvSpPr/>
            <p:nvPr/>
          </p:nvSpPr>
          <p:spPr>
            <a:xfrm>
              <a:off x="8122758" y="705011"/>
              <a:ext cx="154116" cy="148448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1"/>
            <p:cNvSpPr/>
            <p:nvPr/>
          </p:nvSpPr>
          <p:spPr>
            <a:xfrm>
              <a:off x="8321678" y="705011"/>
              <a:ext cx="148448" cy="144669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1"/>
            <p:cNvSpPr/>
            <p:nvPr/>
          </p:nvSpPr>
          <p:spPr>
            <a:xfrm>
              <a:off x="8507374" y="705011"/>
              <a:ext cx="131714" cy="144669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7785916" y="618911"/>
              <a:ext cx="25911" cy="24831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1"/>
            <p:cNvSpPr/>
            <p:nvPr/>
          </p:nvSpPr>
          <p:spPr>
            <a:xfrm>
              <a:off x="7868507" y="539289"/>
              <a:ext cx="37247" cy="44804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7965403" y="477481"/>
              <a:ext cx="37787" cy="69366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1"/>
            <p:cNvSpPr/>
            <p:nvPr/>
          </p:nvSpPr>
          <p:spPr>
            <a:xfrm>
              <a:off x="8070936" y="427548"/>
              <a:ext cx="32119" cy="95546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>
              <a:off x="8178358" y="392731"/>
              <a:ext cx="29690" cy="119568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8280113" y="371948"/>
              <a:ext cx="46154" cy="14143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1"/>
            <p:cNvSpPr/>
            <p:nvPr/>
          </p:nvSpPr>
          <p:spPr>
            <a:xfrm>
              <a:off x="8379438" y="365740"/>
              <a:ext cx="68826" cy="16167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8477144" y="377076"/>
              <a:ext cx="95007" cy="176788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1"/>
            <p:cNvSpPr/>
            <p:nvPr/>
          </p:nvSpPr>
          <p:spPr>
            <a:xfrm>
              <a:off x="8573230" y="405416"/>
              <a:ext cx="122537" cy="187584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8663109" y="450760"/>
              <a:ext cx="154656" cy="193522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Title Only">
  <p:cSld name="3_Title Only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12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2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12"/>
          <p:cNvSpPr>
            <a:spLocks noGrp="1"/>
          </p:cNvSpPr>
          <p:nvPr>
            <p:ph type="dgm" idx="2"/>
          </p:nvPr>
        </p:nvSpPr>
        <p:spPr>
          <a:xfrm>
            <a:off x="133350" y="125413"/>
            <a:ext cx="8850313" cy="6008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Title Only">
  <p:cSld name="2_Title Only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3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1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2" name="Google Shape;202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27765" y="6367323"/>
            <a:ext cx="1260213" cy="39476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body" idx="1"/>
          </p:nvPr>
        </p:nvSpPr>
        <p:spPr>
          <a:xfrm>
            <a:off x="380010" y="1097280"/>
            <a:ext cx="8383980" cy="49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4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3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9808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1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Google Shape;12;p1"/>
            <p:cNvSpPr/>
            <p:nvPr/>
          </p:nvSpPr>
          <p:spPr>
            <a:xfrm>
              <a:off x="166688" y="-1244600"/>
              <a:ext cx="876300" cy="850900"/>
            </a:xfrm>
            <a:custGeom>
              <a:avLst/>
              <a:gdLst/>
              <a:ahLst/>
              <a:cxnLst/>
              <a:rect l="l" t="t" r="r" b="b"/>
              <a:pathLst>
                <a:path w="552" h="536" extrusionOk="0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1258888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2219326" y="-1244600"/>
              <a:ext cx="906463" cy="850900"/>
            </a:xfrm>
            <a:custGeom>
              <a:avLst/>
              <a:gdLst/>
              <a:ahLst/>
              <a:cxnLst/>
              <a:rect l="l" t="t" r="r" b="b"/>
              <a:pathLst>
                <a:path w="571" h="536" extrusionOk="0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125788" y="-1244600"/>
              <a:ext cx="1017588" cy="850900"/>
            </a:xfrm>
            <a:custGeom>
              <a:avLst/>
              <a:gdLst/>
              <a:ahLst/>
              <a:cxnLst/>
              <a:rect l="l" t="t" r="r" b="b"/>
              <a:pathLst>
                <a:path w="641" h="536" extrusionOk="0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4106863" y="-1244600"/>
              <a:ext cx="928688" cy="850900"/>
            </a:xfrm>
            <a:custGeom>
              <a:avLst/>
              <a:gdLst/>
              <a:ahLst/>
              <a:cxnLst/>
              <a:rect l="l" t="t" r="r" b="b"/>
              <a:pathLst>
                <a:path w="585" h="536" extrusionOk="0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5214938" y="-1244600"/>
              <a:ext cx="906463" cy="873125"/>
            </a:xfrm>
            <a:custGeom>
              <a:avLst/>
              <a:gdLst/>
              <a:ahLst/>
              <a:cxnLst/>
              <a:rect l="l" t="t" r="r" b="b"/>
              <a:pathLst>
                <a:path w="571" h="550" extrusionOk="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6384926" y="-1244600"/>
              <a:ext cx="873125" cy="850900"/>
            </a:xfrm>
            <a:custGeom>
              <a:avLst/>
              <a:gdLst/>
              <a:ahLst/>
              <a:cxnLst/>
              <a:rect l="l" t="t" r="r" b="b"/>
              <a:pathLst>
                <a:path w="550" h="536" extrusionOk="0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7477126" y="-1244600"/>
              <a:ext cx="774700" cy="850900"/>
            </a:xfrm>
            <a:custGeom>
              <a:avLst/>
              <a:gdLst/>
              <a:ahLst/>
              <a:cxnLst/>
              <a:rect l="l" t="t" r="r" b="b"/>
              <a:pathLst>
                <a:path w="488" h="536" extrusionOk="0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3233738" y="-1751013"/>
              <a:ext cx="152400" cy="146050"/>
            </a:xfrm>
            <a:custGeom>
              <a:avLst/>
              <a:gdLst/>
              <a:ahLst/>
              <a:cxnLst/>
              <a:rect l="l" t="t" r="r" b="b"/>
              <a:pathLst>
                <a:path w="96" h="92" extrusionOk="0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3719513" y="-2219325"/>
              <a:ext cx="219075" cy="263525"/>
            </a:xfrm>
            <a:custGeom>
              <a:avLst/>
              <a:gdLst/>
              <a:ahLst/>
              <a:cxnLst/>
              <a:rect l="l" t="t" r="r" b="b"/>
              <a:pathLst>
                <a:path w="138" h="166" extrusionOk="0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289426" y="-2582863"/>
              <a:ext cx="222250" cy="407988"/>
            </a:xfrm>
            <a:custGeom>
              <a:avLst/>
              <a:gdLst/>
              <a:ahLst/>
              <a:cxnLst/>
              <a:rect l="l" t="t" r="r" b="b"/>
              <a:pathLst>
                <a:path w="140" h="257" extrusionOk="0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4910138" y="-2876550"/>
              <a:ext cx="188913" cy="561975"/>
            </a:xfrm>
            <a:custGeom>
              <a:avLst/>
              <a:gdLst/>
              <a:ahLst/>
              <a:cxnLst/>
              <a:rect l="l" t="t" r="r" b="b"/>
              <a:pathLst>
                <a:path w="119" h="354" extrusionOk="0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5541963" y="-3081338"/>
              <a:ext cx="174625" cy="703263"/>
            </a:xfrm>
            <a:custGeom>
              <a:avLst/>
              <a:gdLst/>
              <a:ahLst/>
              <a:cxnLst/>
              <a:rect l="l" t="t" r="r" b="b"/>
              <a:pathLst>
                <a:path w="110" h="443" extrusionOk="0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6140451" y="-3203575"/>
              <a:ext cx="271463" cy="831850"/>
            </a:xfrm>
            <a:custGeom>
              <a:avLst/>
              <a:gdLst/>
              <a:ahLst/>
              <a:cxnLst/>
              <a:rect l="l" t="t" r="r" b="b"/>
              <a:pathLst>
                <a:path w="171" h="524" extrusionOk="0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6724651" y="-3240088"/>
              <a:ext cx="404813" cy="950913"/>
            </a:xfrm>
            <a:custGeom>
              <a:avLst/>
              <a:gdLst/>
              <a:ahLst/>
              <a:cxnLst/>
              <a:rect l="l" t="t" r="r" b="b"/>
              <a:pathLst>
                <a:path w="255" h="599" extrusionOk="0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7299326" y="-3173413"/>
              <a:ext cx="558800" cy="1039813"/>
            </a:xfrm>
            <a:custGeom>
              <a:avLst/>
              <a:gdLst/>
              <a:ahLst/>
              <a:cxnLst/>
              <a:rect l="l" t="t" r="r" b="b"/>
              <a:pathLst>
                <a:path w="352" h="655" extrusionOk="0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7864476" y="-3006725"/>
              <a:ext cx="720725" cy="1103313"/>
            </a:xfrm>
            <a:custGeom>
              <a:avLst/>
              <a:gdLst/>
              <a:ahLst/>
              <a:cxnLst/>
              <a:rect l="l" t="t" r="r" b="b"/>
              <a:pathLst>
                <a:path w="454" h="695" extrusionOk="0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8393113" y="-2740025"/>
              <a:ext cx="909638" cy="1138238"/>
            </a:xfrm>
            <a:custGeom>
              <a:avLst/>
              <a:gdLst/>
              <a:ahLst/>
              <a:cxnLst/>
              <a:rect l="l" t="t" r="r" b="b"/>
              <a:pathLst>
                <a:path w="573" h="717" extrusionOk="0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" name="Google Shape;30;p1"/>
          <p:cNvSpPr txBox="1"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1" name="Google Shape;31;p1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"/>
          <p:cNvSpPr txBox="1">
            <a:spLocks noGrp="1"/>
          </p:cNvSpPr>
          <p:nvPr>
            <p:ph type="ctrTitle"/>
          </p:nvPr>
        </p:nvSpPr>
        <p:spPr>
          <a:xfrm>
            <a:off x="496176" y="320634"/>
            <a:ext cx="7716332" cy="2543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Arial"/>
              <a:buNone/>
            </a:pPr>
            <a:r>
              <a:rPr lang="en-US" sz="3600" dirty="0"/>
              <a:t>MongoDB &amp; Java</a:t>
            </a:r>
            <a:endParaRPr sz="3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MongoDB Java Driver</a:t>
            </a:r>
          </a:p>
          <a:p>
            <a:r>
              <a:rPr lang="en-US" dirty="0"/>
              <a:t>Connecting to MongoDB</a:t>
            </a:r>
          </a:p>
          <a:p>
            <a:r>
              <a:rPr lang="en-US" dirty="0"/>
              <a:t>CRUD Operations</a:t>
            </a:r>
          </a:p>
          <a:p>
            <a:r>
              <a:rPr lang="en-US" dirty="0"/>
              <a:t>Database Design Patterns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8AAE37-6C44-EFD1-A224-1FC82F61AD6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97E6BDC-DC3A-A131-3C64-1F04AFB6626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MongoDB Java Driver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8E09B7-A980-6E75-DAC8-46C12A489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MongoDB Java Driver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The MongoDB Java Driver is the official library that allows a Java application to connect to and interact with a MongoDB database.</a:t>
            </a:r>
          </a:p>
          <a:p>
            <a:r>
              <a:rPr lang="en-US" dirty="0"/>
              <a:t>This driver can be added to a Java project using maven via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-driver-sync</a:t>
            </a:r>
            <a:r>
              <a:rPr lang="en-US" dirty="0"/>
              <a:t> artifact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49CF3-EE38-E29A-1E96-0C8B149703DA}"/>
              </a:ext>
            </a:extLst>
          </p:cNvPr>
          <p:cNvSpPr/>
          <p:nvPr/>
        </p:nvSpPr>
        <p:spPr>
          <a:xfrm>
            <a:off x="380010" y="4223327"/>
            <a:ext cx="8383979" cy="16432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&lt;!-- Source: https://mvnrepository.com/artifact/org.mongodb/mongodb-driver-sync --&gt;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&lt;dependency&gt;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    &lt;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groupId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org.mongodb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&lt;/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groupId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    &lt;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artifactId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mongodb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-driver-sync&lt;/</a:t>
            </a:r>
            <a:r>
              <a:rPr lang="en-US" sz="18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artifactId</a:t>
            </a:r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    &lt;version&gt;5.9.0&lt;/version&gt;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    &lt;scope&gt;compile&lt;/scope&gt;</a:t>
            </a:r>
          </a:p>
          <a:p>
            <a:r>
              <a:rPr lang="en-US" sz="1800" b="1" dirty="0">
                <a:solidFill>
                  <a:schemeClr val="tx1"/>
                </a:solidFill>
                <a:latin typeface="Consolas" panose="020B0609020204030204" pitchFamily="49" charset="0"/>
              </a:rPr>
              <a:t>&lt;/dependency&gt;</a:t>
            </a:r>
            <a:endParaRPr lang="en-US" sz="4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983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Mongo Core Objects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core objects used throughout this driver are: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MongoClient</a:t>
            </a:r>
            <a:r>
              <a:rPr lang="en-US" dirty="0"/>
              <a:t>: represents the connection to a MongoDB server/cluster.</a:t>
            </a:r>
          </a:p>
          <a:p>
            <a:pPr lvl="1"/>
            <a:r>
              <a:rPr lang="en-US" dirty="0"/>
              <a:t>Note: </a:t>
            </a:r>
            <a:r>
              <a:rPr lang="en-US" dirty="0" err="1"/>
              <a:t>MongoClient</a:t>
            </a:r>
            <a:r>
              <a:rPr lang="en-US" dirty="0"/>
              <a:t> manages a ‘Connection Pool’ allowing you to create and manage multiple connections with a single </a:t>
            </a:r>
            <a:r>
              <a:rPr lang="en-US" dirty="0" err="1"/>
              <a:t>MongoClient</a:t>
            </a:r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MongoDatabase</a:t>
            </a:r>
            <a:r>
              <a:rPr lang="en-US" dirty="0"/>
              <a:t>: represents a specific database on that server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MongoCollection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&lt;Document&gt;</a:t>
            </a:r>
            <a:r>
              <a:rPr lang="en-US" dirty="0"/>
              <a:t>: represents a specific collection within that database.</a:t>
            </a:r>
          </a:p>
          <a:p>
            <a:pPr lvl="1"/>
            <a:r>
              <a:rPr lang="en-US" dirty="0"/>
              <a:t>Data is represented as Document objects – MongoDB’s Java representation of a BSON record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94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9BB95-749C-CB46-69E5-82297259B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1C485A-1DF4-30BD-7EA7-7CDB278580D6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605F9E8-3565-EE4A-3FDB-138495FCA3C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Connecting to MongoDB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E39418-C682-2CB2-D5B1-43A5F83D8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66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B974-167B-39F0-5DC5-3AB80FF4A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994A8-DF60-54E4-C260-875F4B71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E36BE7-7117-7E94-CA8B-EB29A0C09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It is common to stored credentials within environment variables then pull them via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System.getenv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or to load the credentials from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.properties</a:t>
            </a:r>
            <a:r>
              <a:rPr lang="en-US" dirty="0"/>
              <a:t> file.</a:t>
            </a:r>
          </a:p>
          <a:p>
            <a:r>
              <a:rPr lang="en-US" dirty="0"/>
              <a:t>MongoDB does not fail fast on a bad connection in the same way that JDBC often does. Connecting to a server is </a:t>
            </a:r>
            <a:r>
              <a:rPr lang="en-US" b="1" i="1" dirty="0"/>
              <a:t>lazy</a:t>
            </a:r>
            <a:r>
              <a:rPr lang="en-US" dirty="0"/>
              <a:t>, meaning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MongoClient</a:t>
            </a:r>
            <a:r>
              <a:rPr lang="en-US" dirty="0"/>
              <a:t> can be created successfully, even if the server is unreachable.</a:t>
            </a:r>
          </a:p>
          <a:p>
            <a:r>
              <a:rPr lang="en-US" dirty="0"/>
              <a:t>To proactively verify a connection, it is common to send a lightweight command like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ping</a:t>
            </a:r>
            <a:r>
              <a:rPr lang="en-US" dirty="0"/>
              <a:t> against the built-in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admin</a:t>
            </a:r>
            <a:r>
              <a:rPr lang="en-US" dirty="0"/>
              <a:t> database.</a:t>
            </a:r>
          </a:p>
          <a:p>
            <a:r>
              <a:rPr lang="en-US" dirty="0"/>
              <a:t>Since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MongoClient</a:t>
            </a:r>
            <a:r>
              <a:rPr lang="en-US" dirty="0"/>
              <a:t> is meant to be created once and reused, it is common to manage it as a </a:t>
            </a:r>
            <a:r>
              <a:rPr lang="en-US" b="1" i="1" dirty="0"/>
              <a:t>singleton</a:t>
            </a:r>
            <a:r>
              <a:rPr lang="en-US" dirty="0"/>
              <a:t> – an object created once at application startup, and closed once during shutdown.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EF8528-D187-DC12-695C-5502650D5C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567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6AE96-591F-B843-DDA5-0E370EAF4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042F48-8CE7-6D82-B0AA-F627AE824F7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B98AE1F-624E-23D4-B398-F655DB37AAEB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CRUD Operations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D342C3-7072-2C41-FE55-F2FC4D3267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62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DBCD2-7B88-79BE-9FED-4B73077AE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0D46A-CDC0-CCA2-96E9-838C8AF46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A1F671-6578-25BD-E282-C378ECAB81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CRUD operations with MongoDB are achieved using built-in methods, which mirror equivalent functionality in Mongo.</a:t>
            </a:r>
          </a:p>
          <a:p>
            <a:r>
              <a:rPr lang="en-US" dirty="0"/>
              <a:t>CREATE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insertOne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(document)</a:t>
            </a:r>
            <a:r>
              <a:rPr lang="en-US" dirty="0"/>
              <a:t> – inserts a single document into a collection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insertMany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(List&lt;Document&gt;)</a:t>
            </a:r>
            <a:r>
              <a:rPr lang="en-US" dirty="0"/>
              <a:t> – inserts multiple documents in one call</a:t>
            </a:r>
          </a:p>
          <a:p>
            <a:r>
              <a:rPr lang="en-US" dirty="0"/>
              <a:t>READ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Find([optional Filters])</a:t>
            </a:r>
            <a:r>
              <a:rPr lang="en-US" dirty="0"/>
              <a:t> – returns documents matching a query filter.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Filters</a:t>
            </a:r>
            <a:r>
              <a:rPr lang="en-US" dirty="0"/>
              <a:t>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Filters.eq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Filters.gt()</a:t>
            </a:r>
            <a:r>
              <a:rPr lang="en-US" dirty="0"/>
              <a:t>, etc…) – Methods representing query filter functionality of Mongo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First()</a:t>
            </a:r>
            <a:r>
              <a:rPr lang="en-US" dirty="0"/>
              <a:t> – used to return the first result from find. Exclude if you want to iterate through multiple results.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C5C13-E347-C56C-2D70-B873E46130C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789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E7339-7FD9-3A88-218B-C3AA4D2A8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47FF1-3BFE-4661-F5F7-0645C734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C74E7-E76E-83B1-9B2F-EF565AEBE5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UPDATE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updateOne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(filter, update)</a:t>
            </a:r>
            <a:r>
              <a:rPr lang="en-US" dirty="0"/>
              <a:t> – modifies the first matching document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updateMany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(filter, update)</a:t>
            </a:r>
            <a:r>
              <a:rPr lang="en-US" dirty="0"/>
              <a:t> – modifies all matching documents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replaceOne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(filter, replacement)</a:t>
            </a:r>
            <a:r>
              <a:rPr lang="en-US" dirty="0"/>
              <a:t> – replaces an entire matching document.</a:t>
            </a:r>
          </a:p>
          <a:p>
            <a:pPr lvl="1"/>
            <a:r>
              <a:rPr lang="en-US" dirty="0"/>
              <a:t>Update operations require update operators (e.g.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Updates.set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Updates.inc()</a:t>
            </a:r>
            <a:r>
              <a:rPr lang="en-US" dirty="0"/>
              <a:t>, etc…) to describe </a:t>
            </a:r>
            <a:r>
              <a:rPr lang="en-US" b="1" i="1" dirty="0"/>
              <a:t>what</a:t>
            </a:r>
            <a:r>
              <a:rPr lang="en-US" dirty="0"/>
              <a:t> should change.</a:t>
            </a:r>
          </a:p>
          <a:p>
            <a:pPr lvl="1"/>
            <a:r>
              <a:rPr lang="en-US" dirty="0"/>
              <a:t>Note: If updating multiple fields in a single Update operations, you must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Updates.Combine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to supply those changes together</a:t>
            </a:r>
          </a:p>
          <a:p>
            <a:r>
              <a:rPr lang="en-US" dirty="0"/>
              <a:t>DELETE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deleteOne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(filter)</a:t>
            </a:r>
            <a:r>
              <a:rPr lang="en-US" dirty="0"/>
              <a:t> – removes the first matching document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deleteMany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(filter)</a:t>
            </a:r>
            <a:r>
              <a:rPr lang="en-US" dirty="0"/>
              <a:t> – removes all matching documents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277F75-7586-1B94-EA0E-BCB9A2A3E6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934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AACA5-ABAF-6C6F-FA48-A2A5C2915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C782-B3DF-9C61-9CF1-3EBA68F9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Operations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34739-3A78-1CBF-59F0-73C2D2E5B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Filters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Updates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Sorts</a:t>
            </a:r>
            <a:r>
              <a:rPr lang="en-US" dirty="0"/>
              <a:t> classes (from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mongodb.client.model</a:t>
            </a:r>
            <a:r>
              <a:rPr lang="en-US" dirty="0"/>
              <a:t>) provide readable, type-safe builder methods for constructing queries, rather than building raw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Document</a:t>
            </a:r>
            <a:r>
              <a:rPr lang="en-US" dirty="0"/>
              <a:t> objects by hand.</a:t>
            </a:r>
          </a:p>
          <a:p>
            <a:r>
              <a:rPr lang="en-US" dirty="0"/>
              <a:t>Most CRUD methods return a result object (e.g. </a:t>
            </a:r>
            <a:r>
              <a:rPr lang="en-US" dirty="0" err="1"/>
              <a:t>InsertOneResult</a:t>
            </a:r>
            <a:r>
              <a:rPr lang="en-US" dirty="0"/>
              <a:t>, </a:t>
            </a:r>
            <a:r>
              <a:rPr lang="en-US" dirty="0" err="1"/>
              <a:t>UpdateResult</a:t>
            </a:r>
            <a:r>
              <a:rPr lang="en-US" dirty="0"/>
              <a:t>, </a:t>
            </a:r>
            <a:r>
              <a:rPr lang="en-US" dirty="0" err="1"/>
              <a:t>DeleteResult</a:t>
            </a:r>
            <a:r>
              <a:rPr lang="en-US" dirty="0"/>
              <a:t>) which can be inspected to confirm what actually happened</a:t>
            </a:r>
          </a:p>
          <a:p>
            <a:pPr lvl="1"/>
            <a:r>
              <a:rPr lang="en-US" dirty="0"/>
              <a:t>E.g. “how many documents were matched/modified/deleted?”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355662-18EA-197D-138F-2CF80FBF53B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953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4BD67-4250-4E66-678C-6E50812DD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486544-1945-651A-C4F2-70D765BBD254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AA94CE4-6530-F548-33B2-01EAD00F0DFF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Database Design Patterns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EDDC82-5A90-83C5-5E90-07DD812B9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78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16A7B-8E5F-17EF-C5D8-C2BC502C1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E9725-33EE-99D9-8B0B-DFB894D7D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AADCC5-11F2-B9C4-1521-A2CC33F34A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 model class represents the structure of a document in Java</a:t>
            </a:r>
          </a:p>
          <a:p>
            <a:r>
              <a:rPr lang="en-US" dirty="0"/>
              <a:t>Because MongoDB enforces no schema at the database level, the model class becomes the primary place where structure &amp; expectations are defined (from the </a:t>
            </a:r>
            <a:r>
              <a:rPr lang="en-US" i="1" dirty="0"/>
              <a:t>application’s perspective</a:t>
            </a:r>
            <a:r>
              <a:rPr lang="en-US" dirty="0"/>
              <a:t>)</a:t>
            </a:r>
          </a:p>
          <a:p>
            <a:r>
              <a:rPr lang="en-US" dirty="0"/>
              <a:t>Converting between a Document and a model object can be done </a:t>
            </a:r>
            <a:r>
              <a:rPr lang="en-US" b="1" dirty="0"/>
              <a:t>manually</a:t>
            </a:r>
            <a:r>
              <a:rPr lang="en-US" dirty="0"/>
              <a:t> or via the driver’s built-in POJO support.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Note: The built-in POJO support is not as simple as passing in a generic type, or referencing a class. It requires the following:</a:t>
            </a:r>
          </a:p>
          <a:p>
            <a:pPr lvl="2"/>
            <a:r>
              <a:rPr lang="en-US" dirty="0">
                <a:latin typeface="+mj-lt"/>
                <a:cs typeface="Courier New" panose="02070309020205020404" pitchFamily="49" charset="0"/>
              </a:rPr>
              <a:t>Creating a provider that will build a registry during runtime</a:t>
            </a:r>
          </a:p>
          <a:p>
            <a:pPr lvl="2"/>
            <a:r>
              <a:rPr lang="en-US" dirty="0">
                <a:latin typeface="+mj-lt"/>
                <a:cs typeface="Courier New" panose="02070309020205020404" pitchFamily="49" charset="0"/>
              </a:rPr>
              <a:t>Structuring your Model class to either use annotations or use the field names in mongo, exactly</a:t>
            </a:r>
          </a:p>
          <a:p>
            <a:pPr lvl="2"/>
            <a:r>
              <a:rPr lang="en-US" dirty="0">
                <a:latin typeface="+mj-lt"/>
                <a:cs typeface="Courier New" panose="02070309020205020404" pitchFamily="49" charset="0"/>
              </a:rPr>
              <a:t>Passing references to the Model class as Generics and pass the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model.class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field.</a:t>
            </a:r>
          </a:p>
          <a:p>
            <a:pPr lvl="2"/>
            <a:r>
              <a:rPr lang="en-US" dirty="0">
                <a:latin typeface="+mj-lt"/>
                <a:cs typeface="Courier New" panose="02070309020205020404" pitchFamily="49" charset="0"/>
              </a:rPr>
              <a:t>This would need to be done for many of your collections – as such, it will most likely be must easier to build documents, as needed.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57B53-095D-8E04-6C31-056F496720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74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9"/>
          <p:cNvSpPr txBox="1"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endParaRPr/>
          </a:p>
        </p:txBody>
      </p:sp>
      <p:sp>
        <p:nvSpPr>
          <p:cNvPr id="310" name="Google Shape;310;p29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rgbClr val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21961</TotalTime>
  <Words>792</Words>
  <Application>Microsoft Office PowerPoint</Application>
  <PresentationFormat>On-screen Show (4:3)</PresentationFormat>
  <Paragraphs>80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Courier New</vt:lpstr>
      <vt:lpstr>2_Custom Design</vt:lpstr>
      <vt:lpstr>MongoDB &amp; Java</vt:lpstr>
      <vt:lpstr>Outline</vt:lpstr>
      <vt:lpstr>PowerPoint Presentation</vt:lpstr>
      <vt:lpstr>MongoDB Java Driver</vt:lpstr>
      <vt:lpstr>Mongo Core Objects</vt:lpstr>
      <vt:lpstr>PowerPoint Presentation</vt:lpstr>
      <vt:lpstr>Connection Management</vt:lpstr>
      <vt:lpstr>PowerPoint Presentation</vt:lpstr>
      <vt:lpstr>CRUD Operations</vt:lpstr>
      <vt:lpstr>CRUD Operations</vt:lpstr>
      <vt:lpstr>CRUD Operations</vt:lpstr>
      <vt:lpstr>PowerPoint Presentation</vt:lpstr>
      <vt:lpstr>Notes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and OOP</dc:title>
  <dc:creator>Joseph Highe</dc:creator>
  <cp:lastModifiedBy>Joseph Highe</cp:lastModifiedBy>
  <cp:revision>243</cp:revision>
  <dcterms:modified xsi:type="dcterms:W3CDTF">2026-08-05T19:10:32Z</dcterms:modified>
</cp:coreProperties>
</file>