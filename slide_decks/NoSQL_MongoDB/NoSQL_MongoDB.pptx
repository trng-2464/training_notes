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90" r:id="rId1"/>
  </p:sldMasterIdLst>
  <p:notesMasterIdLst>
    <p:notesMasterId r:id="rId58"/>
  </p:notesMasterIdLst>
  <p:handoutMasterIdLst>
    <p:handoutMasterId r:id="rId59"/>
  </p:handoutMasterIdLst>
  <p:sldIdLst>
    <p:sldId id="256" r:id="rId2"/>
    <p:sldId id="257" r:id="rId3"/>
    <p:sldId id="357" r:id="rId4"/>
    <p:sldId id="343" r:id="rId5"/>
    <p:sldId id="454" r:id="rId6"/>
    <p:sldId id="455" r:id="rId7"/>
    <p:sldId id="442" r:id="rId8"/>
    <p:sldId id="443" r:id="rId9"/>
    <p:sldId id="456" r:id="rId10"/>
    <p:sldId id="457" r:id="rId11"/>
    <p:sldId id="458" r:id="rId12"/>
    <p:sldId id="444" r:id="rId13"/>
    <p:sldId id="445" r:id="rId14"/>
    <p:sldId id="459" r:id="rId15"/>
    <p:sldId id="460" r:id="rId16"/>
    <p:sldId id="446" r:id="rId17"/>
    <p:sldId id="447" r:id="rId18"/>
    <p:sldId id="448" r:id="rId19"/>
    <p:sldId id="449" r:id="rId20"/>
    <p:sldId id="461" r:id="rId21"/>
    <p:sldId id="450" r:id="rId22"/>
    <p:sldId id="451" r:id="rId23"/>
    <p:sldId id="462" r:id="rId24"/>
    <p:sldId id="463" r:id="rId25"/>
    <p:sldId id="452" r:id="rId26"/>
    <p:sldId id="453" r:id="rId27"/>
    <p:sldId id="466" r:id="rId28"/>
    <p:sldId id="467" r:id="rId29"/>
    <p:sldId id="469" r:id="rId30"/>
    <p:sldId id="471" r:id="rId31"/>
    <p:sldId id="464" r:id="rId32"/>
    <p:sldId id="488" r:id="rId33"/>
    <p:sldId id="470" r:id="rId34"/>
    <p:sldId id="478" r:id="rId35"/>
    <p:sldId id="482" r:id="rId36"/>
    <p:sldId id="487" r:id="rId37"/>
    <p:sldId id="473" r:id="rId38"/>
    <p:sldId id="491" r:id="rId39"/>
    <p:sldId id="492" r:id="rId40"/>
    <p:sldId id="493" r:id="rId41"/>
    <p:sldId id="494" r:id="rId42"/>
    <p:sldId id="495" r:id="rId43"/>
    <p:sldId id="481" r:id="rId44"/>
    <p:sldId id="484" r:id="rId45"/>
    <p:sldId id="472" r:id="rId46"/>
    <p:sldId id="476" r:id="rId47"/>
    <p:sldId id="485" r:id="rId48"/>
    <p:sldId id="497" r:id="rId49"/>
    <p:sldId id="496" r:id="rId50"/>
    <p:sldId id="486" r:id="rId51"/>
    <p:sldId id="479" r:id="rId52"/>
    <p:sldId id="480" r:id="rId53"/>
    <p:sldId id="483" r:id="rId54"/>
    <p:sldId id="489" r:id="rId55"/>
    <p:sldId id="490" r:id="rId56"/>
    <p:sldId id="358" r:id="rId57"/>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76">
          <p15:clr>
            <a:srgbClr val="A4A3A4"/>
          </p15:clr>
        </p15:guide>
        <p15:guide id="2" orient="horz" pos="763">
          <p15:clr>
            <a:srgbClr val="A4A3A4"/>
          </p15:clr>
        </p15:guide>
        <p15:guide id="3" orient="horz" pos="288">
          <p15:clr>
            <a:srgbClr val="A4A3A4"/>
          </p15:clr>
        </p15:guide>
        <p15:guide id="4" orient="horz" pos="708">
          <p15:clr>
            <a:srgbClr val="A4A3A4"/>
          </p15:clr>
        </p15:guide>
        <p15:guide id="5" pos="240">
          <p15:clr>
            <a:srgbClr val="A4A3A4"/>
          </p15:clr>
        </p15:guide>
        <p15:guide id="6" pos="5035">
          <p15:clr>
            <a:srgbClr val="A4A3A4"/>
          </p15:clr>
        </p15:guide>
        <p15:guide id="7" pos="3437">
          <p15:clr>
            <a:srgbClr val="A4A3A4"/>
          </p15:clr>
        </p15:guide>
        <p15:guide id="8" pos="3495">
          <p15:clr>
            <a:srgbClr val="A4A3A4"/>
          </p15:clr>
        </p15:guide>
        <p15:guide id="9" pos="1825">
          <p15:clr>
            <a:srgbClr val="A4A3A4"/>
          </p15:clr>
        </p15:guide>
        <p15:guide id="10" pos="1882">
          <p15:clr>
            <a:srgbClr val="A4A3A4"/>
          </p15:clr>
        </p15:guide>
        <p15:guide id="11" pos="3399">
          <p15:clr>
            <a:srgbClr val="A4A3A4"/>
          </p15:clr>
        </p15:guide>
        <p15:guide id="12" pos="2122">
          <p15:clr>
            <a:srgbClr val="A4A3A4"/>
          </p15:clr>
        </p15:guide>
        <p15:guide id="13" orient="horz" pos="765">
          <p15:clr>
            <a:srgbClr val="A4A3A4"/>
          </p15:clr>
        </p15:guide>
        <p15:guide id="14" pos="2880">
          <p15:clr>
            <a:srgbClr val="A4A3A4"/>
          </p15:clr>
        </p15:guide>
        <p15:guide id="15" pos="1440">
          <p15:clr>
            <a:srgbClr val="A4A3A4"/>
          </p15:clr>
        </p15:guide>
        <p15:guide id="16" pos="4320">
          <p15:clr>
            <a:srgbClr val="A4A3A4"/>
          </p15:clr>
        </p15:guide>
      </p15:sldGuideLst>
    </p:ext>
    <p:ext uri="{2D200454-40CA-4A62-9FC3-DE9A4176ACB9}">
      <p15:notesGuideLst xmlns:p15="http://schemas.microsoft.com/office/powerpoint/2012/main">
        <p15:guide id="1" orient="horz" pos="3002" userDrawn="1">
          <p15:clr>
            <a:srgbClr val="A4A3A4"/>
          </p15:clr>
        </p15:guide>
        <p15:guide id="2" pos="2282" userDrawn="1">
          <p15:clr>
            <a:srgbClr val="A4A3A4"/>
          </p15:clr>
        </p15:guide>
        <p15:guide id="3" orient="horz" pos="2928" userDrawn="1">
          <p15:clr>
            <a:srgbClr val="A4A3A4"/>
          </p15:clr>
        </p15:guide>
        <p15:guide id="4"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regg" initials="G" lastIdx="13" clrIdx="0"/>
  <p:cmAuthor id="1" name="Tatiana" initials="T" lastIdx="13" clrIdx="1"/>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474C55"/>
    <a:srgbClr val="669A91"/>
    <a:srgbClr val="9171A7"/>
    <a:srgbClr val="CCCC00"/>
    <a:srgbClr val="B07750"/>
    <a:srgbClr val="AC545C"/>
    <a:srgbClr val="33CCCC"/>
    <a:srgbClr val="9966FF"/>
    <a:srgbClr val="61687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6389" autoAdjust="0"/>
  </p:normalViewPr>
  <p:slideViewPr>
    <p:cSldViewPr snapToGrid="0">
      <p:cViewPr varScale="1">
        <p:scale>
          <a:sx n="59" d="100"/>
          <a:sy n="59" d="100"/>
        </p:scale>
        <p:origin x="1698" y="72"/>
      </p:cViewPr>
      <p:guideLst>
        <p:guide orient="horz" pos="4176"/>
        <p:guide orient="horz" pos="763"/>
        <p:guide orient="horz" pos="288"/>
        <p:guide orient="horz" pos="708"/>
        <p:guide pos="240"/>
        <p:guide pos="5035"/>
        <p:guide pos="3437"/>
        <p:guide pos="3495"/>
        <p:guide pos="1825"/>
        <p:guide pos="1882"/>
        <p:guide pos="3399"/>
        <p:guide pos="2122"/>
        <p:guide orient="horz" pos="765"/>
        <p:guide pos="2880"/>
        <p:guide pos="1440"/>
        <p:guide pos="4320"/>
      </p:guideLst>
    </p:cSldViewPr>
  </p:slideViewPr>
  <p:outlineViewPr>
    <p:cViewPr>
      <p:scale>
        <a:sx n="33" d="100"/>
        <a:sy n="33" d="100"/>
      </p:scale>
      <p:origin x="0" y="-8900"/>
    </p:cViewPr>
  </p:outlineViewPr>
  <p:notesTextViewPr>
    <p:cViewPr>
      <p:scale>
        <a:sx n="1" d="1"/>
        <a:sy n="1" d="1"/>
      </p:scale>
      <p:origin x="0" y="0"/>
    </p:cViewPr>
  </p:notesTextViewPr>
  <p:sorterViewPr>
    <p:cViewPr varScale="1">
      <p:scale>
        <a:sx n="1" d="1"/>
        <a:sy n="1" d="1"/>
      </p:scale>
      <p:origin x="0" y="0"/>
    </p:cViewPr>
  </p:sorterViewPr>
  <p:notesViewPr>
    <p:cSldViewPr snapToGrid="0">
      <p:cViewPr>
        <p:scale>
          <a:sx n="100" d="100"/>
          <a:sy n="100" d="100"/>
        </p:scale>
        <p:origin x="3504" y="-480"/>
      </p:cViewPr>
      <p:guideLst>
        <p:guide orient="horz" pos="3002"/>
        <p:guide pos="2282"/>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3159" tIns="46579" rIns="93159" bIns="46579" rtlCol="0"/>
          <a:lstStyle>
            <a:lvl1pPr algn="l">
              <a:defRPr sz="1200"/>
            </a:lvl1pPr>
          </a:lstStyle>
          <a:p>
            <a:endParaRPr lang="en-US" dirty="0"/>
          </a:p>
        </p:txBody>
      </p:sp>
      <p:sp>
        <p:nvSpPr>
          <p:cNvPr id="3" name="Date Placeholder 2"/>
          <p:cNvSpPr>
            <a:spLocks noGrp="1"/>
          </p:cNvSpPr>
          <p:nvPr>
            <p:ph type="dt" sz="quarter" idx="1"/>
          </p:nvPr>
        </p:nvSpPr>
        <p:spPr>
          <a:xfrm>
            <a:off x="3970938" y="0"/>
            <a:ext cx="3037840" cy="464820"/>
          </a:xfrm>
          <a:prstGeom prst="rect">
            <a:avLst/>
          </a:prstGeom>
        </p:spPr>
        <p:txBody>
          <a:bodyPr vert="horz" lIns="93159" tIns="46579" rIns="93159" bIns="46579" rtlCol="0"/>
          <a:lstStyle>
            <a:lvl1pPr algn="r">
              <a:defRPr sz="1200"/>
            </a:lvl1pPr>
          </a:lstStyle>
          <a:p>
            <a:fld id="{CA869C63-99CE-7C40-A7E9-3930C61B23AB}" type="datetimeFigureOut">
              <a:t>8/3/2026</a:t>
            </a:fld>
            <a:endParaRPr lang="en-US" dirty="0"/>
          </a:p>
        </p:txBody>
      </p:sp>
      <p:sp>
        <p:nvSpPr>
          <p:cNvPr id="4" name="Footer Placeholder 3"/>
          <p:cNvSpPr>
            <a:spLocks noGrp="1"/>
          </p:cNvSpPr>
          <p:nvPr>
            <p:ph type="ftr" sz="quarter" idx="2"/>
          </p:nvPr>
        </p:nvSpPr>
        <p:spPr>
          <a:xfrm>
            <a:off x="1" y="8829965"/>
            <a:ext cx="3037840" cy="464820"/>
          </a:xfrm>
          <a:prstGeom prst="rect">
            <a:avLst/>
          </a:prstGeom>
        </p:spPr>
        <p:txBody>
          <a:bodyPr vert="horz" lIns="93159" tIns="46579" rIns="93159" bIns="4657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8" y="8829965"/>
            <a:ext cx="3037840" cy="464820"/>
          </a:xfrm>
          <a:prstGeom prst="rect">
            <a:avLst/>
          </a:prstGeom>
        </p:spPr>
        <p:txBody>
          <a:bodyPr vert="horz" lIns="93159" tIns="46579" rIns="93159" bIns="46579" rtlCol="0" anchor="b"/>
          <a:lstStyle>
            <a:lvl1pPr algn="r">
              <a:defRPr sz="1200"/>
            </a:lvl1pPr>
          </a:lstStyle>
          <a:p>
            <a:fld id="{155B6EDB-6C4A-2346-91D8-76F2620B19F2}" type="slidenum">
              <a:t>‹#›</a:t>
            </a:fld>
            <a:endParaRPr lang="en-US" dirty="0"/>
          </a:p>
        </p:txBody>
      </p:sp>
    </p:spTree>
    <p:extLst>
      <p:ext uri="{BB962C8B-B14F-4D97-AF65-F5344CB8AC3E}">
        <p14:creationId xmlns:p14="http://schemas.microsoft.com/office/powerpoint/2010/main" val="368652477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3159" tIns="46579" rIns="93159" bIns="46579" rtlCol="0"/>
          <a:lstStyle>
            <a:lvl1pPr algn="l">
              <a:defRPr sz="1200"/>
            </a:lvl1pPr>
          </a:lstStyle>
          <a:p>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3159" tIns="46579" rIns="93159" bIns="46579" rtlCol="0"/>
          <a:lstStyle>
            <a:lvl1pPr algn="r">
              <a:defRPr sz="1200"/>
            </a:lvl1pPr>
          </a:lstStyle>
          <a:p>
            <a:fld id="{E3E59D94-626A-4CE8-9932-5221A04BF234}" type="datetimeFigureOut">
              <a:rPr lang="en-US" smtClean="0"/>
              <a:t>8/3/2026</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59" tIns="46579" rIns="93159" bIns="46579"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59" tIns="46579" rIns="93159" bIns="4657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829965"/>
            <a:ext cx="3037840" cy="464820"/>
          </a:xfrm>
          <a:prstGeom prst="rect">
            <a:avLst/>
          </a:prstGeom>
        </p:spPr>
        <p:txBody>
          <a:bodyPr vert="horz" lIns="93159" tIns="46579" rIns="93159" bIns="4657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5"/>
            <a:ext cx="3037840" cy="464820"/>
          </a:xfrm>
          <a:prstGeom prst="rect">
            <a:avLst/>
          </a:prstGeom>
        </p:spPr>
        <p:txBody>
          <a:bodyPr vert="horz" lIns="93159" tIns="46579" rIns="93159" bIns="46579" rtlCol="0" anchor="b"/>
          <a:lstStyle>
            <a:lvl1pPr algn="r">
              <a:defRPr sz="1200"/>
            </a:lvl1pPr>
          </a:lstStyle>
          <a:p>
            <a:fld id="{043CB7BC-4AFB-4847-AC93-5F4E37C870A2}" type="slidenum">
              <a:rPr lang="en-US" smtClean="0"/>
              <a:t>‹#›</a:t>
            </a:fld>
            <a:endParaRPr lang="en-US" dirty="0"/>
          </a:p>
        </p:txBody>
      </p:sp>
    </p:spTree>
    <p:extLst>
      <p:ext uri="{BB962C8B-B14F-4D97-AF65-F5344CB8AC3E}">
        <p14:creationId xmlns:p14="http://schemas.microsoft.com/office/powerpoint/2010/main" val="180791407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t="33848" b="649"/>
          <a:stretch/>
        </p:blipFill>
        <p:spPr>
          <a:xfrm>
            <a:off x="-1" y="0"/>
            <a:ext cx="9144002" cy="5030078"/>
          </a:xfrm>
          <a:prstGeom prst="rect">
            <a:avLst/>
          </a:prstGeom>
        </p:spPr>
      </p:pic>
      <p:grpSp>
        <p:nvGrpSpPr>
          <p:cNvPr id="27" name="Group 26"/>
          <p:cNvGrpSpPr/>
          <p:nvPr userDrawn="1"/>
        </p:nvGrpSpPr>
        <p:grpSpPr>
          <a:xfrm>
            <a:off x="496176" y="5451818"/>
            <a:ext cx="3105481" cy="975083"/>
            <a:chOff x="2814452" y="4625522"/>
            <a:chExt cx="5459889" cy="1714337"/>
          </a:xfrm>
        </p:grpSpPr>
        <p:sp>
          <p:nvSpPr>
            <p:cNvPr id="9"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p:cNvSpPr>
            <a:spLocks noGrp="1"/>
          </p:cNvSpPr>
          <p:nvPr>
            <p:ph type="ctrTitle" hasCustomPrompt="1"/>
          </p:nvPr>
        </p:nvSpPr>
        <p:spPr>
          <a:xfrm>
            <a:off x="496177" y="320634"/>
            <a:ext cx="6807148" cy="2543545"/>
          </a:xfrm>
        </p:spPr>
        <p:txBody>
          <a:bodyPr anchor="b"/>
          <a:lstStyle>
            <a:lvl1pPr>
              <a:lnSpc>
                <a:spcPct val="80000"/>
              </a:lnSpc>
              <a:defRPr sz="4400" baseline="0">
                <a:solidFill>
                  <a:schemeClr val="accent1"/>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Subtitle 2"/>
          <p:cNvSpPr>
            <a:spLocks noGrp="1"/>
          </p:cNvSpPr>
          <p:nvPr>
            <p:ph type="subTitle" idx="1"/>
          </p:nvPr>
        </p:nvSpPr>
        <p:spPr>
          <a:xfrm>
            <a:off x="496176" y="2924299"/>
            <a:ext cx="6814614" cy="1752600"/>
          </a:xfrm>
        </p:spPr>
        <p:txBody>
          <a:bodyPr/>
          <a:lstStyle>
            <a:lvl1pPr marL="0" indent="0" algn="l">
              <a:buNone/>
              <a:defRPr b="1" baseline="0">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3711384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28" name="Picture 27"/>
          <p:cNvPicPr>
            <a:picLocks noChangeAspect="1"/>
          </p:cNvPicPr>
          <p:nvPr userDrawn="1"/>
        </p:nvPicPr>
        <p:blipFill rotWithShape="1">
          <a:blip r:embed="rId2" cstate="print">
            <a:extLst>
              <a:ext uri="{28A0092B-C50C-407E-A947-70E740481C1C}">
                <a14:useLocalDpi xmlns:a14="http://schemas.microsoft.com/office/drawing/2010/main" val="0"/>
              </a:ext>
            </a:extLst>
          </a:blip>
          <a:srcRect t="33086" b="1379"/>
          <a:stretch/>
        </p:blipFill>
        <p:spPr>
          <a:xfrm flipV="1">
            <a:off x="0" y="0"/>
            <a:ext cx="9144000" cy="5030078"/>
          </a:xfrm>
          <a:prstGeom prst="rect">
            <a:avLst/>
          </a:prstGeom>
        </p:spPr>
      </p:pic>
      <p:grpSp>
        <p:nvGrpSpPr>
          <p:cNvPr id="27" name="Group 26"/>
          <p:cNvGrpSpPr/>
          <p:nvPr userDrawn="1"/>
        </p:nvGrpSpPr>
        <p:grpSpPr>
          <a:xfrm>
            <a:off x="496176" y="5451818"/>
            <a:ext cx="3105481" cy="975083"/>
            <a:chOff x="2814452" y="4625522"/>
            <a:chExt cx="5459889" cy="1714337"/>
          </a:xfrm>
        </p:grpSpPr>
        <p:sp>
          <p:nvSpPr>
            <p:cNvPr id="9"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p:cNvSpPr>
            <a:spLocks noGrp="1"/>
          </p:cNvSpPr>
          <p:nvPr>
            <p:ph type="ctrTitle" hasCustomPrompt="1"/>
          </p:nvPr>
        </p:nvSpPr>
        <p:spPr>
          <a:xfrm>
            <a:off x="496177" y="320634"/>
            <a:ext cx="6807148" cy="2543545"/>
          </a:xfrm>
        </p:spPr>
        <p:txBody>
          <a:bodyPr anchor="b"/>
          <a:lstStyle>
            <a:lvl1pPr>
              <a:lnSpc>
                <a:spcPct val="80000"/>
              </a:lnSpc>
              <a:defRPr sz="4400" baseline="0">
                <a:solidFill>
                  <a:schemeClr val="bg1"/>
                </a:solidFill>
                <a:latin typeface="Arial" panose="020B0604020202020204" pitchFamily="34" charset="0"/>
                <a:cs typeface="Arial" panose="020B0604020202020204" pitchFamily="34" charset="0"/>
              </a:defRPr>
            </a:lvl1pPr>
          </a:lstStyle>
          <a:p>
            <a:r>
              <a:rPr lang="en-US" dirty="0"/>
              <a:t>Click to edit master</a:t>
            </a:r>
          </a:p>
        </p:txBody>
      </p:sp>
      <p:sp>
        <p:nvSpPr>
          <p:cNvPr id="3" name="Subtitle 2"/>
          <p:cNvSpPr>
            <a:spLocks noGrp="1"/>
          </p:cNvSpPr>
          <p:nvPr>
            <p:ph type="subTitle" idx="1"/>
          </p:nvPr>
        </p:nvSpPr>
        <p:spPr>
          <a:xfrm>
            <a:off x="496176" y="2924299"/>
            <a:ext cx="6814614" cy="1752600"/>
          </a:xfrm>
        </p:spPr>
        <p:txBody>
          <a:bodyPr/>
          <a:lstStyle>
            <a:lvl1pPr marL="0" indent="0" algn="l">
              <a:buNone/>
              <a:defRPr baseline="0">
                <a:solidFill>
                  <a:schemeClr val="tx2"/>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321615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5" name="Rectangle 4"/>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userDrawn="1"/>
        </p:nvPicPr>
        <p:blipFill rotWithShape="1">
          <a:blip r:embed="rId2" cstate="print">
            <a:extLst>
              <a:ext uri="{28A0092B-C50C-407E-A947-70E740481C1C}">
                <a14:useLocalDpi xmlns:a14="http://schemas.microsoft.com/office/drawing/2010/main" val="0"/>
              </a:ext>
            </a:extLst>
          </a:blip>
          <a:srcRect t="67499" b="6701"/>
          <a:stretch/>
        </p:blipFill>
        <p:spPr>
          <a:xfrm flipV="1">
            <a:off x="0" y="1740436"/>
            <a:ext cx="9144000" cy="1502227"/>
          </a:xfrm>
          <a:prstGeom prst="rect">
            <a:avLst/>
          </a:prstGeom>
        </p:spPr>
      </p:pic>
      <p:pic>
        <p:nvPicPr>
          <p:cNvPr id="7" name="Picture 6"/>
          <p:cNvPicPr>
            <a:picLocks noChangeAspect="1"/>
          </p:cNvPicPr>
          <p:nvPr userDrawn="1"/>
        </p:nvPicPr>
        <p:blipFill rotWithShape="1">
          <a:blip r:embed="rId3">
            <a:extLst>
              <a:ext uri="{28A0092B-C50C-407E-A947-70E740481C1C}">
                <a14:useLocalDpi xmlns:a14="http://schemas.microsoft.com/office/drawing/2010/main" val="0"/>
              </a:ext>
            </a:extLst>
          </a:blip>
          <a:srcRect t="24620" b="16130"/>
          <a:stretch/>
        </p:blipFill>
        <p:spPr>
          <a:xfrm flipH="1">
            <a:off x="2766" y="3242663"/>
            <a:ext cx="9144000" cy="3615334"/>
          </a:xfrm>
          <a:prstGeom prst="rect">
            <a:avLst/>
          </a:prstGeom>
        </p:spPr>
      </p:pic>
      <p:sp>
        <p:nvSpPr>
          <p:cNvPr id="9" name="Rectangle 8"/>
          <p:cNvSpPr/>
          <p:nvPr userDrawn="1"/>
        </p:nvSpPr>
        <p:spPr>
          <a:xfrm>
            <a:off x="-3" y="0"/>
            <a:ext cx="9143999" cy="174043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userDrawn="1"/>
        </p:nvGrpSpPr>
        <p:grpSpPr>
          <a:xfrm>
            <a:off x="496176" y="382676"/>
            <a:ext cx="3105481" cy="975083"/>
            <a:chOff x="2814452" y="4625522"/>
            <a:chExt cx="5459889" cy="1714337"/>
          </a:xfrm>
        </p:grpSpPr>
        <p:sp>
          <p:nvSpPr>
            <p:cNvPr id="11"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0" name="Text Placeholder 29"/>
          <p:cNvSpPr>
            <a:spLocks noGrp="1"/>
          </p:cNvSpPr>
          <p:nvPr>
            <p:ph type="body" sz="quarter" idx="13" hasCustomPrompt="1"/>
          </p:nvPr>
        </p:nvSpPr>
        <p:spPr>
          <a:xfrm>
            <a:off x="323135" y="1846263"/>
            <a:ext cx="8441453" cy="1241425"/>
          </a:xfrm>
        </p:spPr>
        <p:txBody>
          <a:bodyPr anchor="ctr" anchorCtr="0">
            <a:normAutofit/>
          </a:bodyPr>
          <a:lstStyle>
            <a:lvl1pPr marL="0" indent="0">
              <a:buNone/>
              <a:defRPr sz="4000" b="1">
                <a:solidFill>
                  <a:schemeClr val="bg1"/>
                </a:solidFill>
              </a:defRPr>
            </a:lvl1pPr>
          </a:lstStyle>
          <a:p>
            <a:pPr lvl="0"/>
            <a:r>
              <a:rPr lang="en-US" dirty="0"/>
              <a:t>CLICK TO ADD TEXT</a:t>
            </a:r>
          </a:p>
        </p:txBody>
      </p:sp>
    </p:spTree>
    <p:extLst>
      <p:ext uri="{BB962C8B-B14F-4D97-AF65-F5344CB8AC3E}">
        <p14:creationId xmlns:p14="http://schemas.microsoft.com/office/powerpoint/2010/main" val="2728903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3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0-#ppt_w/2"/>
                                          </p:val>
                                        </p:tav>
                                        <p:tav tm="100000">
                                          <p:val>
                                            <p:strVal val="#ppt_x"/>
                                          </p:val>
                                        </p:tav>
                                      </p:tavLst>
                                    </p:anim>
                                    <p:anim calcmode="lin" valueType="num">
                                      <p:cBhvr additive="base">
                                        <p:cTn id="8" dur="750" fill="hold"/>
                                        <p:tgtEl>
                                          <p:spTgt spid="7"/>
                                        </p:tgtEl>
                                        <p:attrNameLst>
                                          <p:attrName>ppt_y</p:attrName>
                                        </p:attrNameLst>
                                      </p:cBhvr>
                                      <p:tavLst>
                                        <p:tav tm="0">
                                          <p:val>
                                            <p:strVal val="#ppt_y"/>
                                          </p:val>
                                        </p:tav>
                                        <p:tav tm="100000">
                                          <p:val>
                                            <p:strVal val="#ppt_y"/>
                                          </p:val>
                                        </p:tav>
                                      </p:tavLst>
                                    </p:anim>
                                  </p:childTnLst>
                                </p:cTn>
                              </p:par>
                              <p:par>
                                <p:cTn id="9" presetID="2" presetClass="entr" presetSubtype="1" decel="10000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750" fill="hold"/>
                                        <p:tgtEl>
                                          <p:spTgt spid="6"/>
                                        </p:tgtEl>
                                        <p:attrNameLst>
                                          <p:attrName>ppt_x</p:attrName>
                                        </p:attrNameLst>
                                      </p:cBhvr>
                                      <p:tavLst>
                                        <p:tav tm="0">
                                          <p:val>
                                            <p:strVal val="#ppt_x"/>
                                          </p:val>
                                        </p:tav>
                                        <p:tav tm="100000">
                                          <p:val>
                                            <p:strVal val="#ppt_x"/>
                                          </p:val>
                                        </p:tav>
                                      </p:tavLst>
                                    </p:anim>
                                    <p:anim calcmode="lin" valueType="num">
                                      <p:cBhvr additive="base">
                                        <p:cTn id="12" dur="750" fill="hold"/>
                                        <p:tgtEl>
                                          <p:spTgt spid="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2">
    <p:spTree>
      <p:nvGrpSpPr>
        <p:cNvPr id="1" name=""/>
        <p:cNvGrpSpPr/>
        <p:nvPr/>
      </p:nvGrpSpPr>
      <p:grpSpPr>
        <a:xfrm>
          <a:off x="0" y="0"/>
          <a:ext cx="0" cy="0"/>
          <a:chOff x="0" y="0"/>
          <a:chExt cx="0" cy="0"/>
        </a:xfrm>
      </p:grpSpPr>
      <p:pic>
        <p:nvPicPr>
          <p:cNvPr id="53" name="Picture 52"/>
          <p:cNvPicPr>
            <a:picLocks noChangeAspect="1"/>
          </p:cNvPicPr>
          <p:nvPr userDrawn="1"/>
        </p:nvPicPr>
        <p:blipFill rotWithShape="1">
          <a:blip r:embed="rId2" cstate="print">
            <a:extLst>
              <a:ext uri="{28A0092B-C50C-407E-A947-70E740481C1C}">
                <a14:useLocalDpi xmlns:a14="http://schemas.microsoft.com/office/drawing/2010/main" val="0"/>
              </a:ext>
            </a:extLst>
          </a:blip>
          <a:srcRect l="6615" t="2065" r="80083" b="1471"/>
          <a:stretch/>
        </p:blipFill>
        <p:spPr>
          <a:xfrm rot="5400000">
            <a:off x="3820885" y="-2080448"/>
            <a:ext cx="1502227" cy="9143997"/>
          </a:xfrm>
          <a:prstGeom prst="rect">
            <a:avLst/>
          </a:prstGeom>
        </p:spPr>
      </p:pic>
      <p:pic>
        <p:nvPicPr>
          <p:cNvPr id="54" name="Picture 53"/>
          <p:cNvPicPr>
            <a:picLocks noChangeAspect="1"/>
          </p:cNvPicPr>
          <p:nvPr userDrawn="1"/>
        </p:nvPicPr>
        <p:blipFill rotWithShape="1">
          <a:blip r:embed="rId3" cstate="print">
            <a:extLst>
              <a:ext uri="{28A0092B-C50C-407E-A947-70E740481C1C}">
                <a14:useLocalDpi xmlns:a14="http://schemas.microsoft.com/office/drawing/2010/main" val="0"/>
              </a:ext>
            </a:extLst>
          </a:blip>
          <a:srcRect t="20282" b="20282"/>
          <a:stretch/>
        </p:blipFill>
        <p:spPr>
          <a:xfrm>
            <a:off x="0" y="3242662"/>
            <a:ext cx="9144000" cy="3623223"/>
          </a:xfrm>
          <a:prstGeom prst="rect">
            <a:avLst/>
          </a:prstGeom>
        </p:spPr>
      </p:pic>
      <p:sp>
        <p:nvSpPr>
          <p:cNvPr id="9" name="Rectangle 8"/>
          <p:cNvSpPr/>
          <p:nvPr userDrawn="1"/>
        </p:nvSpPr>
        <p:spPr>
          <a:xfrm>
            <a:off x="-3" y="0"/>
            <a:ext cx="9143999" cy="174043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userDrawn="1"/>
        </p:nvGrpSpPr>
        <p:grpSpPr>
          <a:xfrm>
            <a:off x="496176" y="382676"/>
            <a:ext cx="3105481" cy="975083"/>
            <a:chOff x="2814452" y="4625522"/>
            <a:chExt cx="5459889" cy="1714337"/>
          </a:xfrm>
        </p:grpSpPr>
        <p:sp>
          <p:nvSpPr>
            <p:cNvPr id="11"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0" name="Text Placeholder 29"/>
          <p:cNvSpPr>
            <a:spLocks noGrp="1"/>
          </p:cNvSpPr>
          <p:nvPr>
            <p:ph type="body" sz="quarter" idx="13" hasCustomPrompt="1"/>
          </p:nvPr>
        </p:nvSpPr>
        <p:spPr>
          <a:xfrm>
            <a:off x="323135" y="1846263"/>
            <a:ext cx="8441453" cy="1241425"/>
          </a:xfrm>
        </p:spPr>
        <p:txBody>
          <a:bodyPr anchor="ctr" anchorCtr="0">
            <a:normAutofit/>
          </a:bodyPr>
          <a:lstStyle>
            <a:lvl1pPr marL="0" indent="0">
              <a:buNone/>
              <a:defRPr sz="4000" b="1">
                <a:solidFill>
                  <a:schemeClr val="bg1"/>
                </a:solidFill>
              </a:defRPr>
            </a:lvl1pPr>
          </a:lstStyle>
          <a:p>
            <a:pPr lvl="0"/>
            <a:r>
              <a:rPr lang="en-US" dirty="0"/>
              <a:t>CLICK TO ADD TEXT</a:t>
            </a:r>
          </a:p>
        </p:txBody>
      </p:sp>
    </p:spTree>
    <p:extLst>
      <p:ext uri="{BB962C8B-B14F-4D97-AF65-F5344CB8AC3E}">
        <p14:creationId xmlns:p14="http://schemas.microsoft.com/office/powerpoint/2010/main" val="1409891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750" fill="hold"/>
                                        <p:tgtEl>
                                          <p:spTgt spid="53"/>
                                        </p:tgtEl>
                                        <p:attrNameLst>
                                          <p:attrName>ppt_x</p:attrName>
                                        </p:attrNameLst>
                                      </p:cBhvr>
                                      <p:tavLst>
                                        <p:tav tm="0">
                                          <p:val>
                                            <p:strVal val="#ppt_x"/>
                                          </p:val>
                                        </p:tav>
                                        <p:tav tm="100000">
                                          <p:val>
                                            <p:strVal val="#ppt_x"/>
                                          </p:val>
                                        </p:tav>
                                      </p:tavLst>
                                    </p:anim>
                                    <p:anim calcmode="lin" valueType="num">
                                      <p:cBhvr additive="base">
                                        <p:cTn id="8" dur="750" fill="hold"/>
                                        <p:tgtEl>
                                          <p:spTgt spid="53"/>
                                        </p:tgtEl>
                                        <p:attrNameLst>
                                          <p:attrName>ppt_y</p:attrName>
                                        </p:attrNameLst>
                                      </p:cBhvr>
                                      <p:tavLst>
                                        <p:tav tm="0">
                                          <p:val>
                                            <p:strVal val="0-#ppt_h/2"/>
                                          </p:val>
                                        </p:tav>
                                        <p:tav tm="100000">
                                          <p:val>
                                            <p:strVal val="#ppt_y"/>
                                          </p:val>
                                        </p:tav>
                                      </p:tavLst>
                                    </p:anim>
                                  </p:childTnLst>
                                </p:cTn>
                              </p:par>
                              <p:par>
                                <p:cTn id="9" presetID="2" presetClass="entr" presetSubtype="8" decel="100000" fill="hold" nodeType="withEffect">
                                  <p:stCondLst>
                                    <p:cond delay="300"/>
                                  </p:stCondLst>
                                  <p:childTnLst>
                                    <p:set>
                                      <p:cBhvr>
                                        <p:cTn id="10" dur="1" fill="hold">
                                          <p:stCondLst>
                                            <p:cond delay="0"/>
                                          </p:stCondLst>
                                        </p:cTn>
                                        <p:tgtEl>
                                          <p:spTgt spid="54"/>
                                        </p:tgtEl>
                                        <p:attrNameLst>
                                          <p:attrName>style.visibility</p:attrName>
                                        </p:attrNameLst>
                                      </p:cBhvr>
                                      <p:to>
                                        <p:strVal val="visible"/>
                                      </p:to>
                                    </p:set>
                                    <p:anim calcmode="lin" valueType="num">
                                      <p:cBhvr additive="base">
                                        <p:cTn id="11" dur="750" fill="hold"/>
                                        <p:tgtEl>
                                          <p:spTgt spid="54"/>
                                        </p:tgtEl>
                                        <p:attrNameLst>
                                          <p:attrName>ppt_x</p:attrName>
                                        </p:attrNameLst>
                                      </p:cBhvr>
                                      <p:tavLst>
                                        <p:tav tm="0">
                                          <p:val>
                                            <p:strVal val="0-#ppt_w/2"/>
                                          </p:val>
                                        </p:tav>
                                        <p:tav tm="100000">
                                          <p:val>
                                            <p:strVal val="#ppt_x"/>
                                          </p:val>
                                        </p:tav>
                                      </p:tavLst>
                                    </p:anim>
                                    <p:anim calcmode="lin" valueType="num">
                                      <p:cBhvr additive="base">
                                        <p:cTn id="12" dur="750" fill="hold"/>
                                        <p:tgtEl>
                                          <p:spTgt spid="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Tree>
    <p:extLst>
      <p:ext uri="{BB962C8B-B14F-4D97-AF65-F5344CB8AC3E}">
        <p14:creationId xmlns:p14="http://schemas.microsoft.com/office/powerpoint/2010/main" val="3820702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380010" y="1481446"/>
            <a:ext cx="4009110" cy="4525963"/>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defRPr b="1">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7" name="Content Placeholder 2"/>
          <p:cNvSpPr>
            <a:spLocks noGrp="1"/>
          </p:cNvSpPr>
          <p:nvPr>
            <p:ph idx="13"/>
          </p:nvPr>
        </p:nvSpPr>
        <p:spPr>
          <a:xfrm>
            <a:off x="4644440" y="1481446"/>
            <a:ext cx="4009110" cy="4525963"/>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37227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8" name="Content Placeholder 5"/>
          <p:cNvSpPr>
            <a:spLocks noGrp="1"/>
          </p:cNvSpPr>
          <p:nvPr>
            <p:ph sz="quarter" idx="16" hasCustomPrompt="1"/>
          </p:nvPr>
        </p:nvSpPr>
        <p:spPr>
          <a:xfrm>
            <a:off x="4708408" y="1538839"/>
            <a:ext cx="4107743" cy="2416827"/>
          </a:xfrm>
        </p:spPr>
        <p:txBody>
          <a:bodyPr/>
          <a:lstStyle>
            <a:lvl1pPr marL="176213" indent="-176213" algn="l">
              <a:buClr>
                <a:schemeClr val="accent1"/>
              </a:buClr>
              <a:defRPr sz="2000"/>
            </a:lvl1pPr>
            <a:lvl2pPr marL="396875" indent="-223838" algn="l" defTabSz="452438">
              <a:defRPr sz="1800"/>
            </a:lvl2pPr>
            <a:lvl3pPr algn="l">
              <a:defRPr sz="1600"/>
            </a:lvl3pPr>
            <a:lvl4pPr algn="l">
              <a:defRPr sz="1400"/>
            </a:lvl4pPr>
            <a:lvl5pPr algn="l">
              <a:defRPr sz="1200"/>
            </a:lvl5pPr>
          </a:lstStyle>
          <a:p>
            <a:pPr lvl="0"/>
            <a:r>
              <a:rPr lang="en-US" dirty="0"/>
              <a:t>Click to edit Master text styles</a:t>
            </a:r>
          </a:p>
          <a:p>
            <a:pPr lvl="1"/>
            <a:r>
              <a:rPr lang="en-US" dirty="0"/>
              <a:t>Second level</a:t>
            </a:r>
          </a:p>
        </p:txBody>
      </p:sp>
      <p:sp>
        <p:nvSpPr>
          <p:cNvPr id="9" name="Content Placeholder 5"/>
          <p:cNvSpPr>
            <a:spLocks noGrp="1"/>
          </p:cNvSpPr>
          <p:nvPr>
            <p:ph sz="quarter" idx="17"/>
          </p:nvPr>
        </p:nvSpPr>
        <p:spPr>
          <a:xfrm>
            <a:off x="351116" y="1540358"/>
            <a:ext cx="4113904" cy="2415307"/>
          </a:xfrm>
        </p:spPr>
        <p:txBody>
          <a:bodyPr/>
          <a:lstStyle>
            <a:lvl1pPr marL="176213" indent="-176213" algn="l">
              <a:buClr>
                <a:schemeClr val="accent1"/>
              </a:buClr>
              <a:buFont typeface="Arial" panose="020B0604020202020204" pitchFamily="34" charset="0"/>
              <a:buChar char="•"/>
              <a:defRPr sz="2000"/>
            </a:lvl1pPr>
            <a:lvl2pPr marL="396875" indent="-223838" algn="l" defTabSz="452438">
              <a:buClr>
                <a:schemeClr val="accent1"/>
              </a:buClr>
              <a:defRPr sz="1800"/>
            </a:lvl2pPr>
            <a:lvl3pPr algn="l">
              <a:defRPr sz="1600"/>
            </a:lvl3pPr>
            <a:lvl4pPr algn="l">
              <a:defRPr sz="1400"/>
            </a:lvl4pPr>
            <a:lvl5pPr algn="l">
              <a:defRPr sz="1200"/>
            </a:lvl5pPr>
          </a:lstStyle>
          <a:p>
            <a:pPr lvl="0"/>
            <a:r>
              <a:rPr lang="en-US"/>
              <a:t>Edit Master text styles</a:t>
            </a:r>
          </a:p>
          <a:p>
            <a:pPr lvl="1"/>
            <a:r>
              <a:rPr lang="en-US"/>
              <a:t>Second level</a:t>
            </a:r>
          </a:p>
        </p:txBody>
      </p:sp>
      <p:sp>
        <p:nvSpPr>
          <p:cNvPr id="12" name="Content Placeholder 5"/>
          <p:cNvSpPr>
            <a:spLocks noGrp="1"/>
          </p:cNvSpPr>
          <p:nvPr>
            <p:ph sz="quarter" idx="18" hasCustomPrompt="1"/>
          </p:nvPr>
        </p:nvSpPr>
        <p:spPr>
          <a:xfrm>
            <a:off x="4708408" y="4099159"/>
            <a:ext cx="4107743" cy="2416827"/>
          </a:xfrm>
        </p:spPr>
        <p:txBody>
          <a:bodyPr/>
          <a:lstStyle>
            <a:lvl1pPr marL="176213" indent="-176213" algn="l">
              <a:buClr>
                <a:schemeClr val="accent1"/>
              </a:buClr>
              <a:defRPr sz="2000"/>
            </a:lvl1pPr>
            <a:lvl2pPr marL="396875" indent="-223838" algn="l" defTabSz="452438">
              <a:defRPr sz="1800"/>
            </a:lvl2pPr>
            <a:lvl3pPr algn="l">
              <a:defRPr sz="1600"/>
            </a:lvl3pPr>
            <a:lvl4pPr algn="l">
              <a:defRPr sz="1400"/>
            </a:lvl4pPr>
            <a:lvl5pPr algn="l">
              <a:defRPr sz="1200"/>
            </a:lvl5pPr>
          </a:lstStyle>
          <a:p>
            <a:pPr lvl="0"/>
            <a:r>
              <a:rPr lang="en-US" dirty="0"/>
              <a:t>Click to edit Master text styles</a:t>
            </a:r>
          </a:p>
          <a:p>
            <a:pPr lvl="1"/>
            <a:r>
              <a:rPr lang="en-US" dirty="0"/>
              <a:t>Second level</a:t>
            </a:r>
          </a:p>
        </p:txBody>
      </p:sp>
      <p:sp>
        <p:nvSpPr>
          <p:cNvPr id="13" name="Content Placeholder 5"/>
          <p:cNvSpPr>
            <a:spLocks noGrp="1"/>
          </p:cNvSpPr>
          <p:nvPr>
            <p:ph sz="quarter" idx="19"/>
          </p:nvPr>
        </p:nvSpPr>
        <p:spPr>
          <a:xfrm>
            <a:off x="351116" y="4100678"/>
            <a:ext cx="4113904" cy="2415307"/>
          </a:xfrm>
        </p:spPr>
        <p:txBody>
          <a:bodyPr/>
          <a:lstStyle>
            <a:lvl1pPr marL="176213" indent="-176213" algn="l">
              <a:buClr>
                <a:schemeClr val="accent1"/>
              </a:buClr>
              <a:buFont typeface="Arial" panose="020B0604020202020204" pitchFamily="34" charset="0"/>
              <a:buChar char="•"/>
              <a:defRPr sz="2000"/>
            </a:lvl1pPr>
            <a:lvl2pPr marL="396875" indent="-223838" algn="l" defTabSz="452438">
              <a:buClr>
                <a:schemeClr val="accent1"/>
              </a:buClr>
              <a:defRPr sz="1800"/>
            </a:lvl2pPr>
            <a:lvl3pPr algn="l">
              <a:defRPr sz="1600"/>
            </a:lvl3pPr>
            <a:lvl4pPr algn="l">
              <a:defRPr sz="1400"/>
            </a:lvl4pPr>
            <a:lvl5pPr algn="l">
              <a:defRPr sz="1200"/>
            </a:lvl5pPr>
          </a:lstStyle>
          <a:p>
            <a:pPr lvl="0"/>
            <a:r>
              <a:rPr lang="en-US"/>
              <a:t>Edit Master text styles</a:t>
            </a:r>
          </a:p>
          <a:p>
            <a:pPr lvl="1"/>
            <a:r>
              <a:rPr lang="en-US"/>
              <a:t>Second level</a:t>
            </a:r>
          </a:p>
        </p:txBody>
      </p:sp>
    </p:spTree>
    <p:extLst>
      <p:ext uri="{BB962C8B-B14F-4D97-AF65-F5344CB8AC3E}">
        <p14:creationId xmlns:p14="http://schemas.microsoft.com/office/powerpoint/2010/main" val="1352677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pic>
        <p:nvPicPr>
          <p:cNvPr id="24" name="Picture 23"/>
          <p:cNvPicPr>
            <a:picLocks noChangeAspect="1"/>
          </p:cNvPicPr>
          <p:nvPr userDrawn="1"/>
        </p:nvPicPr>
        <p:blipFill rotWithShape="1">
          <a:blip r:embed="rId2" cstate="print">
            <a:extLst>
              <a:ext uri="{28A0092B-C50C-407E-A947-70E740481C1C}">
                <a14:useLocalDpi xmlns:a14="http://schemas.microsoft.com/office/drawing/2010/main" val="0"/>
              </a:ext>
            </a:extLst>
          </a:blip>
          <a:srcRect t="91557" b="649"/>
          <a:stretch/>
        </p:blipFill>
        <p:spPr>
          <a:xfrm>
            <a:off x="-1" y="6259484"/>
            <a:ext cx="9144002" cy="598516"/>
          </a:xfrm>
          <a:prstGeom prst="rect">
            <a:avLst/>
          </a:prstGeom>
        </p:spPr>
      </p:pic>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46" name="Content Placeholder 45"/>
          <p:cNvSpPr>
            <a:spLocks noGrp="1"/>
          </p:cNvSpPr>
          <p:nvPr>
            <p:ph sz="quarter" idx="13"/>
          </p:nvPr>
        </p:nvSpPr>
        <p:spPr>
          <a:xfrm>
            <a:off x="157163" y="133350"/>
            <a:ext cx="8826500" cy="5951538"/>
          </a:xfrm>
        </p:spPr>
        <p:txBody>
          <a:bodyPr/>
          <a:lstStyle>
            <a:lvl1pPr marL="0" indent="0">
              <a:buNone/>
              <a:defRPr/>
            </a:lvl1pPr>
          </a:lstStyle>
          <a:p>
            <a:pPr lvl="0"/>
            <a:r>
              <a:rPr lang="en-US"/>
              <a:t>Edit Master text styles</a:t>
            </a:r>
          </a:p>
        </p:txBody>
      </p:sp>
    </p:spTree>
    <p:extLst>
      <p:ext uri="{BB962C8B-B14F-4D97-AF65-F5344CB8AC3E}">
        <p14:creationId xmlns:p14="http://schemas.microsoft.com/office/powerpoint/2010/main" val="1626810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 white">
    <p:spTree>
      <p:nvGrpSpPr>
        <p:cNvPr id="1" name=""/>
        <p:cNvGrpSpPr/>
        <p:nvPr/>
      </p:nvGrpSpPr>
      <p:grpSpPr>
        <a:xfrm>
          <a:off x="0" y="0"/>
          <a:ext cx="0" cy="0"/>
          <a:chOff x="0" y="0"/>
          <a:chExt cx="0" cy="0"/>
        </a:xfrm>
      </p:grpSpPr>
      <p:sp>
        <p:nvSpPr>
          <p:cNvPr id="4" name="Rectangle 3"/>
          <p:cNvSpPr/>
          <p:nvPr userDrawn="1"/>
        </p:nvSpPr>
        <p:spPr>
          <a:xfrm>
            <a:off x="0" y="0"/>
            <a:ext cx="9144000" cy="121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lvl1pPr>
              <a:defRPr baseline="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grpSp>
        <p:nvGrpSpPr>
          <p:cNvPr id="7" name="Group 6"/>
          <p:cNvGrpSpPr/>
          <p:nvPr userDrawn="1"/>
        </p:nvGrpSpPr>
        <p:grpSpPr>
          <a:xfrm>
            <a:off x="7264458" y="365740"/>
            <a:ext cx="1553307" cy="487719"/>
            <a:chOff x="7264458" y="365740"/>
            <a:chExt cx="1553307" cy="487719"/>
          </a:xfrm>
        </p:grpSpPr>
        <p:sp>
          <p:nvSpPr>
            <p:cNvPr id="8" name="Freeform 6"/>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0"/>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1"/>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2"/>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3"/>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4"/>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5"/>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6"/>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7"/>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8"/>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9"/>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20"/>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1"/>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2"/>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3"/>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964137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_Title Only">
    <p:spTree>
      <p:nvGrpSpPr>
        <p:cNvPr id="1" name=""/>
        <p:cNvGrpSpPr/>
        <p:nvPr/>
      </p:nvGrpSpPr>
      <p:grpSpPr>
        <a:xfrm>
          <a:off x="0" y="0"/>
          <a:ext cx="0" cy="0"/>
          <a:chOff x="0" y="0"/>
          <a:chExt cx="0" cy="0"/>
        </a:xfrm>
      </p:grpSpPr>
      <p:pic>
        <p:nvPicPr>
          <p:cNvPr id="24" name="Picture 23"/>
          <p:cNvPicPr>
            <a:picLocks noChangeAspect="1"/>
          </p:cNvPicPr>
          <p:nvPr userDrawn="1"/>
        </p:nvPicPr>
        <p:blipFill rotWithShape="1">
          <a:blip r:embed="rId2" cstate="print">
            <a:extLst>
              <a:ext uri="{28A0092B-C50C-407E-A947-70E740481C1C}">
                <a14:useLocalDpi xmlns:a14="http://schemas.microsoft.com/office/drawing/2010/main" val="0"/>
              </a:ext>
            </a:extLst>
          </a:blip>
          <a:srcRect t="91557" b="649"/>
          <a:stretch/>
        </p:blipFill>
        <p:spPr>
          <a:xfrm>
            <a:off x="-1" y="6259484"/>
            <a:ext cx="9144002" cy="598516"/>
          </a:xfrm>
          <a:prstGeom prst="rect">
            <a:avLst/>
          </a:prstGeom>
        </p:spPr>
      </p:pic>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3" name="SmartArt Placeholder 2"/>
          <p:cNvSpPr>
            <a:spLocks noGrp="1"/>
          </p:cNvSpPr>
          <p:nvPr>
            <p:ph type="dgm" sz="quarter" idx="13"/>
          </p:nvPr>
        </p:nvSpPr>
        <p:spPr>
          <a:xfrm>
            <a:off x="133350" y="125413"/>
            <a:ext cx="8850313" cy="6008687"/>
          </a:xfrm>
        </p:spPr>
        <p:txBody>
          <a:bodyPr/>
          <a:lstStyle/>
          <a:p>
            <a:r>
              <a:rPr lang="en-US"/>
              <a:t>Click icon to add SmartArt graphic</a:t>
            </a:r>
          </a:p>
        </p:txBody>
      </p:sp>
    </p:spTree>
    <p:extLst>
      <p:ext uri="{BB962C8B-B14F-4D97-AF65-F5344CB8AC3E}">
        <p14:creationId xmlns:p14="http://schemas.microsoft.com/office/powerpoint/2010/main" val="2998561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2_Title Only">
    <p:spTree>
      <p:nvGrpSpPr>
        <p:cNvPr id="1" name=""/>
        <p:cNvGrpSpPr/>
        <p:nvPr/>
      </p:nvGrpSpPr>
      <p:grpSpPr>
        <a:xfrm>
          <a:off x="0" y="0"/>
          <a:ext cx="0" cy="0"/>
          <a:chOff x="0" y="0"/>
          <a:chExt cx="0" cy="0"/>
        </a:xfrm>
      </p:grpSpPr>
      <p:sp>
        <p:nvSpPr>
          <p:cNvPr id="2" name="Rectangle 1"/>
          <p:cNvSpPr/>
          <p:nvPr userDrawn="1"/>
        </p:nvSpPr>
        <p:spPr>
          <a:xfrm>
            <a:off x="0" y="6251171"/>
            <a:ext cx="9144000" cy="6068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7765" y="6367323"/>
            <a:ext cx="1260213" cy="394766"/>
          </a:xfrm>
          <a:prstGeom prst="rect">
            <a:avLst/>
          </a:prstGeom>
        </p:spPr>
      </p:pic>
      <p:sp>
        <p:nvSpPr>
          <p:cNvPr id="7" name="Title 1"/>
          <p:cNvSpPr>
            <a:spLocks noGrp="1"/>
          </p:cNvSpPr>
          <p:nvPr>
            <p:ph type="title"/>
          </p:nvPr>
        </p:nvSpPr>
        <p:spPr>
          <a:xfrm>
            <a:off x="380010" y="-4950"/>
            <a:ext cx="8383980" cy="844535"/>
          </a:xfrm>
        </p:spPr>
        <p:txBody>
          <a:bodyPr/>
          <a:lstStyle>
            <a:lvl1pPr>
              <a:defRPr baseline="0">
                <a:solidFill>
                  <a:schemeClr val="accent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8" name="Content Placeholder 2"/>
          <p:cNvSpPr>
            <a:spLocks noGrp="1"/>
          </p:cNvSpPr>
          <p:nvPr>
            <p:ph idx="1"/>
          </p:nvPr>
        </p:nvSpPr>
        <p:spPr>
          <a:xfrm>
            <a:off x="380010" y="1097280"/>
            <a:ext cx="8383980" cy="4910129"/>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302513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4" name="Rectangle 3"/>
          <p:cNvSpPr/>
          <p:nvPr userDrawn="1"/>
        </p:nvSpPr>
        <p:spPr>
          <a:xfrm flipV="1">
            <a:off x="0" y="1219200"/>
            <a:ext cx="9144000" cy="563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p:cNvSpPr/>
          <p:nvPr userDrawn="1"/>
        </p:nvSpPr>
        <p:spPr>
          <a:xfrm>
            <a:off x="0" y="0"/>
            <a:ext cx="9144000" cy="121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lvl1pPr>
              <a:defRPr baseline="0">
                <a:solidFill>
                  <a:schemeClr val="tx2"/>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grpSp>
        <p:nvGrpSpPr>
          <p:cNvPr id="3" name="Group 2"/>
          <p:cNvGrpSpPr/>
          <p:nvPr userDrawn="1"/>
        </p:nvGrpSpPr>
        <p:grpSpPr>
          <a:xfrm>
            <a:off x="7264458" y="365740"/>
            <a:ext cx="1553307" cy="487719"/>
            <a:chOff x="7264458" y="365740"/>
            <a:chExt cx="1553307" cy="487719"/>
          </a:xfrm>
        </p:grpSpPr>
        <p:sp>
          <p:nvSpPr>
            <p:cNvPr id="8" name="Freeform 6"/>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0"/>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1"/>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2"/>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3"/>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4"/>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5"/>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6"/>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7"/>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8"/>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9"/>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20"/>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1"/>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2"/>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3"/>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3385316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Slide Number Placeholder 3"/>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Tree>
    <p:extLst>
      <p:ext uri="{BB962C8B-B14F-4D97-AF65-F5344CB8AC3E}">
        <p14:creationId xmlns:p14="http://schemas.microsoft.com/office/powerpoint/2010/main" val="37251198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Title Only">
  <p:cSld name="4_Title Only">
    <p:spTree>
      <p:nvGrpSpPr>
        <p:cNvPr id="1" name="Shape 168"/>
        <p:cNvGrpSpPr/>
        <p:nvPr/>
      </p:nvGrpSpPr>
      <p:grpSpPr>
        <a:xfrm>
          <a:off x="0" y="0"/>
          <a:ext cx="0" cy="0"/>
          <a:chOff x="0" y="0"/>
          <a:chExt cx="0" cy="0"/>
        </a:xfrm>
      </p:grpSpPr>
      <p:pic>
        <p:nvPicPr>
          <p:cNvPr id="169" name="Google Shape;169;p10"/>
          <p:cNvPicPr preferRelativeResize="0"/>
          <p:nvPr/>
        </p:nvPicPr>
        <p:blipFill rotWithShape="1">
          <a:blip r:embed="rId2">
            <a:alphaModFix/>
          </a:blip>
          <a:srcRect t="91557" b="648"/>
          <a:stretch/>
        </p:blipFill>
        <p:spPr>
          <a:xfrm>
            <a:off x="-1" y="6259484"/>
            <a:ext cx="9144002" cy="598516"/>
          </a:xfrm>
          <a:prstGeom prst="rect">
            <a:avLst/>
          </a:prstGeom>
          <a:noFill/>
          <a:ln>
            <a:noFill/>
          </a:ln>
        </p:spPr>
      </p:pic>
      <p:sp>
        <p:nvSpPr>
          <p:cNvPr id="170" name="Google Shape;170;p10"/>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71" name="Google Shape;171;p10"/>
          <p:cNvSpPr txBox="1">
            <a:spLocks noGrp="1"/>
          </p:cNvSpPr>
          <p:nvPr>
            <p:ph type="body" idx="1"/>
          </p:nvPr>
        </p:nvSpPr>
        <p:spPr>
          <a:xfrm>
            <a:off x="157163" y="133350"/>
            <a:ext cx="8826500" cy="5951538"/>
          </a:xfrm>
          <a:prstGeom prst="rect">
            <a:avLst/>
          </a:prstGeom>
          <a:noFill/>
          <a:ln>
            <a:noFill/>
          </a:ln>
        </p:spPr>
        <p:txBody>
          <a:bodyPr spcFirstLastPara="1" wrap="square" lIns="91425" tIns="45700" rIns="91425" bIns="45700" anchor="t" anchorCtr="0"/>
          <a:lstStyle>
            <a:lvl1pPr marL="457200" lvl="0" indent="-228600" algn="l">
              <a:spcBef>
                <a:spcPts val="560"/>
              </a:spcBef>
              <a:spcAft>
                <a:spcPts val="0"/>
              </a:spcAft>
              <a:buSzPts val="2800"/>
              <a:buNone/>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6190149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Title Only" preserve="1" userDrawn="1">
  <p:cSld name="Section_Title">
    <p:spTree>
      <p:nvGrpSpPr>
        <p:cNvPr id="1" name="Shape 168"/>
        <p:cNvGrpSpPr/>
        <p:nvPr/>
      </p:nvGrpSpPr>
      <p:grpSpPr>
        <a:xfrm>
          <a:off x="0" y="0"/>
          <a:ext cx="0" cy="0"/>
          <a:chOff x="0" y="0"/>
          <a:chExt cx="0" cy="0"/>
        </a:xfrm>
      </p:grpSpPr>
      <p:pic>
        <p:nvPicPr>
          <p:cNvPr id="169" name="Google Shape;169;p10"/>
          <p:cNvPicPr preferRelativeResize="0"/>
          <p:nvPr/>
        </p:nvPicPr>
        <p:blipFill rotWithShape="1">
          <a:blip r:embed="rId2">
            <a:alphaModFix/>
          </a:blip>
          <a:srcRect t="91557" b="648"/>
          <a:stretch/>
        </p:blipFill>
        <p:spPr>
          <a:xfrm>
            <a:off x="-1" y="6259484"/>
            <a:ext cx="9144002" cy="598516"/>
          </a:xfrm>
          <a:prstGeom prst="rect">
            <a:avLst/>
          </a:prstGeom>
          <a:noFill/>
          <a:ln>
            <a:noFill/>
          </a:ln>
        </p:spPr>
      </p:pic>
      <p:sp>
        <p:nvSpPr>
          <p:cNvPr id="170" name="Google Shape;170;p10"/>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 name="Title 1">
            <a:extLst>
              <a:ext uri="{FF2B5EF4-FFF2-40B4-BE49-F238E27FC236}">
                <a16:creationId xmlns:a16="http://schemas.microsoft.com/office/drawing/2014/main" id="{8A3E5519-BCE2-45F2-2CB8-0E6D0DAEE480}"/>
              </a:ext>
            </a:extLst>
          </p:cNvPr>
          <p:cNvSpPr>
            <a:spLocks noGrp="1"/>
          </p:cNvSpPr>
          <p:nvPr>
            <p:ph type="title"/>
          </p:nvPr>
        </p:nvSpPr>
        <p:spPr>
          <a:xfrm>
            <a:off x="1460664" y="2816925"/>
            <a:ext cx="6222671" cy="1224150"/>
          </a:xfrm>
        </p:spPr>
        <p:txBody>
          <a:bodyPr/>
          <a:lstStyle>
            <a:lvl1pPr algn="ctr">
              <a:defRPr baseline="0">
                <a:solidFill>
                  <a:schemeClr val="tx2"/>
                </a:solidFill>
                <a:latin typeface="Arial" panose="020B0604020202020204" pitchFamily="34" charset="0"/>
                <a:cs typeface="Arial" panose="020B0604020202020204" pitchFamily="34" charset="0"/>
              </a:defRPr>
            </a:lvl1pPr>
          </a:lstStyle>
          <a:p>
            <a:r>
              <a:rPr lang="en-US" dirty="0"/>
              <a:t>Click to edit Master title style</a:t>
            </a:r>
          </a:p>
        </p:txBody>
      </p:sp>
      <p:grpSp>
        <p:nvGrpSpPr>
          <p:cNvPr id="3" name="Group 2">
            <a:extLst>
              <a:ext uri="{FF2B5EF4-FFF2-40B4-BE49-F238E27FC236}">
                <a16:creationId xmlns:a16="http://schemas.microsoft.com/office/drawing/2014/main" id="{C619CA9B-AF8F-87A7-664B-F95C0134414C}"/>
              </a:ext>
            </a:extLst>
          </p:cNvPr>
          <p:cNvGrpSpPr/>
          <p:nvPr userDrawn="1"/>
        </p:nvGrpSpPr>
        <p:grpSpPr>
          <a:xfrm>
            <a:off x="6681759" y="0"/>
            <a:ext cx="2462241" cy="773113"/>
            <a:chOff x="7264458" y="365740"/>
            <a:chExt cx="1553307" cy="487719"/>
          </a:xfrm>
        </p:grpSpPr>
        <p:sp>
          <p:nvSpPr>
            <p:cNvPr id="4" name="Freeform 6">
              <a:extLst>
                <a:ext uri="{FF2B5EF4-FFF2-40B4-BE49-F238E27FC236}">
                  <a16:creationId xmlns:a16="http://schemas.microsoft.com/office/drawing/2014/main" id="{2A9D49A4-C029-2001-5A0F-3F2082CAD22E}"/>
                </a:ext>
              </a:extLst>
            </p:cNvPr>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 name="Freeform 7">
              <a:extLst>
                <a:ext uri="{FF2B5EF4-FFF2-40B4-BE49-F238E27FC236}">
                  <a16:creationId xmlns:a16="http://schemas.microsoft.com/office/drawing/2014/main" id="{89A9B437-540E-333F-9B54-390C0EE61585}"/>
                </a:ext>
              </a:extLst>
            </p:cNvPr>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 name="Freeform 8">
              <a:extLst>
                <a:ext uri="{FF2B5EF4-FFF2-40B4-BE49-F238E27FC236}">
                  <a16:creationId xmlns:a16="http://schemas.microsoft.com/office/drawing/2014/main" id="{645A3999-205C-7640-E332-1C3336AC3CE2}"/>
                </a:ext>
              </a:extLst>
            </p:cNvPr>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 name="Freeform 9">
              <a:extLst>
                <a:ext uri="{FF2B5EF4-FFF2-40B4-BE49-F238E27FC236}">
                  <a16:creationId xmlns:a16="http://schemas.microsoft.com/office/drawing/2014/main" id="{B55F5EA6-ACB4-F73B-8708-83192579DBBB}"/>
                </a:ext>
              </a:extLst>
            </p:cNvPr>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 name="Freeform 10">
              <a:extLst>
                <a:ext uri="{FF2B5EF4-FFF2-40B4-BE49-F238E27FC236}">
                  <a16:creationId xmlns:a16="http://schemas.microsoft.com/office/drawing/2014/main" id="{F2B4DF57-055A-A5B3-F9EA-D5A8751833BE}"/>
                </a:ext>
              </a:extLst>
            </p:cNvPr>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11">
              <a:extLst>
                <a:ext uri="{FF2B5EF4-FFF2-40B4-BE49-F238E27FC236}">
                  <a16:creationId xmlns:a16="http://schemas.microsoft.com/office/drawing/2014/main" id="{2D5EF9E0-0962-BE13-EA0D-E37FC7AD8645}"/>
                </a:ext>
              </a:extLst>
            </p:cNvPr>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12">
              <a:extLst>
                <a:ext uri="{FF2B5EF4-FFF2-40B4-BE49-F238E27FC236}">
                  <a16:creationId xmlns:a16="http://schemas.microsoft.com/office/drawing/2014/main" id="{EB24C6E3-9AC5-E695-8BED-7BE61A5CB631}"/>
                </a:ext>
              </a:extLst>
            </p:cNvPr>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13">
              <a:extLst>
                <a:ext uri="{FF2B5EF4-FFF2-40B4-BE49-F238E27FC236}">
                  <a16:creationId xmlns:a16="http://schemas.microsoft.com/office/drawing/2014/main" id="{47756FA6-C29B-BFEB-7653-543BD807F2D1}"/>
                </a:ext>
              </a:extLst>
            </p:cNvPr>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4">
              <a:extLst>
                <a:ext uri="{FF2B5EF4-FFF2-40B4-BE49-F238E27FC236}">
                  <a16:creationId xmlns:a16="http://schemas.microsoft.com/office/drawing/2014/main" id="{38A89EE8-B866-AAED-26C2-BE18B4FBF047}"/>
                </a:ext>
              </a:extLst>
            </p:cNvPr>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5">
              <a:extLst>
                <a:ext uri="{FF2B5EF4-FFF2-40B4-BE49-F238E27FC236}">
                  <a16:creationId xmlns:a16="http://schemas.microsoft.com/office/drawing/2014/main" id="{5DB3E0E0-34C3-52AE-7CD3-F1AB984B2625}"/>
                </a:ext>
              </a:extLst>
            </p:cNvPr>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6">
              <a:extLst>
                <a:ext uri="{FF2B5EF4-FFF2-40B4-BE49-F238E27FC236}">
                  <a16:creationId xmlns:a16="http://schemas.microsoft.com/office/drawing/2014/main" id="{F6622341-E269-B3DE-12CB-68A866A7FB21}"/>
                </a:ext>
              </a:extLst>
            </p:cNvPr>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7">
              <a:extLst>
                <a:ext uri="{FF2B5EF4-FFF2-40B4-BE49-F238E27FC236}">
                  <a16:creationId xmlns:a16="http://schemas.microsoft.com/office/drawing/2014/main" id="{62B18E42-6F06-C998-AC7F-4559FE8283A9}"/>
                </a:ext>
              </a:extLst>
            </p:cNvPr>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8">
              <a:extLst>
                <a:ext uri="{FF2B5EF4-FFF2-40B4-BE49-F238E27FC236}">
                  <a16:creationId xmlns:a16="http://schemas.microsoft.com/office/drawing/2014/main" id="{9889642E-9A28-1238-56CF-BB1CC02E4B25}"/>
                </a:ext>
              </a:extLst>
            </p:cNvPr>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9">
              <a:extLst>
                <a:ext uri="{FF2B5EF4-FFF2-40B4-BE49-F238E27FC236}">
                  <a16:creationId xmlns:a16="http://schemas.microsoft.com/office/drawing/2014/main" id="{DB97D7BD-2CAD-CF0D-7625-C390C88021E8}"/>
                </a:ext>
              </a:extLst>
            </p:cNvPr>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20">
              <a:extLst>
                <a:ext uri="{FF2B5EF4-FFF2-40B4-BE49-F238E27FC236}">
                  <a16:creationId xmlns:a16="http://schemas.microsoft.com/office/drawing/2014/main" id="{51BD1B0C-B2D3-C1B8-799E-D42AB3B0AA35}"/>
                </a:ext>
              </a:extLst>
            </p:cNvPr>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21">
              <a:extLst>
                <a:ext uri="{FF2B5EF4-FFF2-40B4-BE49-F238E27FC236}">
                  <a16:creationId xmlns:a16="http://schemas.microsoft.com/office/drawing/2014/main" id="{403D9FBC-D098-4A6C-D21D-AD6C28E57C49}"/>
                </a:ext>
              </a:extLst>
            </p:cNvPr>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22">
              <a:extLst>
                <a:ext uri="{FF2B5EF4-FFF2-40B4-BE49-F238E27FC236}">
                  <a16:creationId xmlns:a16="http://schemas.microsoft.com/office/drawing/2014/main" id="{01D3E76D-1730-AFA4-D967-418E4B74EA68}"/>
                </a:ext>
              </a:extLst>
            </p:cNvPr>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23">
              <a:extLst>
                <a:ext uri="{FF2B5EF4-FFF2-40B4-BE49-F238E27FC236}">
                  <a16:creationId xmlns:a16="http://schemas.microsoft.com/office/drawing/2014/main" id="{912810A0-76DC-7E83-8BFC-C1A4F60F8D89}"/>
                </a:ext>
              </a:extLst>
            </p:cNvPr>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513258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9144000" cy="1219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 name="Group 29"/>
          <p:cNvGrpSpPr/>
          <p:nvPr userDrawn="1"/>
        </p:nvGrpSpPr>
        <p:grpSpPr>
          <a:xfrm>
            <a:off x="7264458" y="365740"/>
            <a:ext cx="1553307" cy="487719"/>
            <a:chOff x="166688" y="-3240088"/>
            <a:chExt cx="9136063" cy="2868613"/>
          </a:xfrm>
        </p:grpSpPr>
        <p:sp>
          <p:nvSpPr>
            <p:cNvPr id="12" name="Freeform 6"/>
            <p:cNvSpPr>
              <a:spLocks noEditPoints="1"/>
            </p:cNvSpPr>
            <p:nvPr userDrawn="1"/>
          </p:nvSpPr>
          <p:spPr bwMode="auto">
            <a:xfrm>
              <a:off x="166688" y="-1244600"/>
              <a:ext cx="876300" cy="850900"/>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7"/>
            <p:cNvSpPr>
              <a:spLocks/>
            </p:cNvSpPr>
            <p:nvPr userDrawn="1"/>
          </p:nvSpPr>
          <p:spPr bwMode="auto">
            <a:xfrm>
              <a:off x="1258888" y="-1244600"/>
              <a:ext cx="774700" cy="850900"/>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8"/>
            <p:cNvSpPr>
              <a:spLocks/>
            </p:cNvSpPr>
            <p:nvPr userDrawn="1"/>
          </p:nvSpPr>
          <p:spPr bwMode="auto">
            <a:xfrm>
              <a:off x="2219326" y="-1244600"/>
              <a:ext cx="906463" cy="850900"/>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9"/>
            <p:cNvSpPr>
              <a:spLocks noEditPoints="1"/>
            </p:cNvSpPr>
            <p:nvPr userDrawn="1"/>
          </p:nvSpPr>
          <p:spPr bwMode="auto">
            <a:xfrm>
              <a:off x="3125788" y="-1244600"/>
              <a:ext cx="1017588" cy="850900"/>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0"/>
            <p:cNvSpPr>
              <a:spLocks/>
            </p:cNvSpPr>
            <p:nvPr userDrawn="1"/>
          </p:nvSpPr>
          <p:spPr bwMode="auto">
            <a:xfrm>
              <a:off x="4106863" y="-1244600"/>
              <a:ext cx="928688" cy="850900"/>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1"/>
            <p:cNvSpPr>
              <a:spLocks/>
            </p:cNvSpPr>
            <p:nvPr userDrawn="1"/>
          </p:nvSpPr>
          <p:spPr bwMode="auto">
            <a:xfrm>
              <a:off x="5214938" y="-1244600"/>
              <a:ext cx="906463" cy="873125"/>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2"/>
            <p:cNvSpPr>
              <a:spLocks noEditPoints="1"/>
            </p:cNvSpPr>
            <p:nvPr userDrawn="1"/>
          </p:nvSpPr>
          <p:spPr bwMode="auto">
            <a:xfrm>
              <a:off x="6384926" y="-1244600"/>
              <a:ext cx="873125" cy="850900"/>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3"/>
            <p:cNvSpPr>
              <a:spLocks/>
            </p:cNvSpPr>
            <p:nvPr userDrawn="1"/>
          </p:nvSpPr>
          <p:spPr bwMode="auto">
            <a:xfrm>
              <a:off x="7477126" y="-1244600"/>
              <a:ext cx="774700" cy="850900"/>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4"/>
            <p:cNvSpPr>
              <a:spLocks/>
            </p:cNvSpPr>
            <p:nvPr userDrawn="1"/>
          </p:nvSpPr>
          <p:spPr bwMode="auto">
            <a:xfrm>
              <a:off x="3233738" y="-1751013"/>
              <a:ext cx="152400" cy="146050"/>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5"/>
            <p:cNvSpPr>
              <a:spLocks/>
            </p:cNvSpPr>
            <p:nvPr userDrawn="1"/>
          </p:nvSpPr>
          <p:spPr bwMode="auto">
            <a:xfrm>
              <a:off x="3719513" y="-2219325"/>
              <a:ext cx="219075" cy="263525"/>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6"/>
            <p:cNvSpPr>
              <a:spLocks/>
            </p:cNvSpPr>
            <p:nvPr userDrawn="1"/>
          </p:nvSpPr>
          <p:spPr bwMode="auto">
            <a:xfrm>
              <a:off x="4289426" y="-2582863"/>
              <a:ext cx="222250" cy="407988"/>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7"/>
            <p:cNvSpPr>
              <a:spLocks/>
            </p:cNvSpPr>
            <p:nvPr userDrawn="1"/>
          </p:nvSpPr>
          <p:spPr bwMode="auto">
            <a:xfrm>
              <a:off x="4910138" y="-2876550"/>
              <a:ext cx="188913" cy="561975"/>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8"/>
            <p:cNvSpPr>
              <a:spLocks/>
            </p:cNvSpPr>
            <p:nvPr userDrawn="1"/>
          </p:nvSpPr>
          <p:spPr bwMode="auto">
            <a:xfrm>
              <a:off x="5541963" y="-3081338"/>
              <a:ext cx="174625" cy="70326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19"/>
            <p:cNvSpPr>
              <a:spLocks/>
            </p:cNvSpPr>
            <p:nvPr userDrawn="1"/>
          </p:nvSpPr>
          <p:spPr bwMode="auto">
            <a:xfrm>
              <a:off x="6140451" y="-3203575"/>
              <a:ext cx="271463" cy="83185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0"/>
            <p:cNvSpPr>
              <a:spLocks/>
            </p:cNvSpPr>
            <p:nvPr userDrawn="1"/>
          </p:nvSpPr>
          <p:spPr bwMode="auto">
            <a:xfrm>
              <a:off x="6724651" y="-3240088"/>
              <a:ext cx="404813" cy="95091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1"/>
            <p:cNvSpPr>
              <a:spLocks/>
            </p:cNvSpPr>
            <p:nvPr userDrawn="1"/>
          </p:nvSpPr>
          <p:spPr bwMode="auto">
            <a:xfrm>
              <a:off x="7299326" y="-3173413"/>
              <a:ext cx="558800" cy="1039813"/>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2"/>
            <p:cNvSpPr>
              <a:spLocks/>
            </p:cNvSpPr>
            <p:nvPr userDrawn="1"/>
          </p:nvSpPr>
          <p:spPr bwMode="auto">
            <a:xfrm>
              <a:off x="7864476" y="-3006725"/>
              <a:ext cx="720725" cy="1103313"/>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 name="Freeform 23"/>
            <p:cNvSpPr>
              <a:spLocks/>
            </p:cNvSpPr>
            <p:nvPr userDrawn="1"/>
          </p:nvSpPr>
          <p:spPr bwMode="auto">
            <a:xfrm>
              <a:off x="8393113" y="-2740025"/>
              <a:ext cx="909638" cy="1138238"/>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 name="Text Placeholder 2"/>
          <p:cNvSpPr>
            <a:spLocks noGrp="1"/>
          </p:cNvSpPr>
          <p:nvPr userDrawn="1">
            <p:ph type="body" idx="1"/>
          </p:nvPr>
        </p:nvSpPr>
        <p:spPr>
          <a:xfrm>
            <a:off x="380010" y="1481446"/>
            <a:ext cx="838398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userDrawn="1">
            <p:ph type="sldNum" sz="quarter" idx="4"/>
          </p:nvPr>
        </p:nvSpPr>
        <p:spPr>
          <a:xfrm>
            <a:off x="8122757" y="6363712"/>
            <a:ext cx="861671" cy="365125"/>
          </a:xfrm>
          <a:prstGeom prst="rect">
            <a:avLst/>
          </a:prstGeom>
        </p:spPr>
        <p:txBody>
          <a:bodyPr vert="horz" lIns="91440" tIns="45720" rIns="91440" bIns="45720" rtlCol="0" anchor="ctr"/>
          <a:lstStyle>
            <a:lvl1pPr algn="r">
              <a:defRPr sz="1200" b="0">
                <a:solidFill>
                  <a:schemeClr val="accent2"/>
                </a:solidFill>
              </a:defRPr>
            </a:lvl1pPr>
          </a:lstStyle>
          <a:p>
            <a:fld id="{F6728BC2-ACA3-447C-A909-F3F49211C066}" type="slidenum">
              <a:rPr lang="en-US" smtClean="0"/>
              <a:pPr/>
              <a:t>‹#›</a:t>
            </a:fld>
            <a:endParaRPr lang="en-US" dirty="0"/>
          </a:p>
        </p:txBody>
      </p:sp>
      <p:sp>
        <p:nvSpPr>
          <p:cNvPr id="2" name="Title Placeholder 1"/>
          <p:cNvSpPr>
            <a:spLocks noGrp="1"/>
          </p:cNvSpPr>
          <p:nvPr userDrawn="1">
            <p:ph type="title"/>
          </p:nvPr>
        </p:nvSpPr>
        <p:spPr>
          <a:xfrm>
            <a:off x="380010" y="-4950"/>
            <a:ext cx="6222671" cy="1224150"/>
          </a:xfrm>
          <a:prstGeom prst="rect">
            <a:avLst/>
          </a:prstGeom>
        </p:spPr>
        <p:txBody>
          <a:bodyPr vert="horz" lIns="91440" tIns="45720" rIns="91440" bIns="45720" rtlCol="0" anchor="ctr">
            <a:noAutofit/>
          </a:bodyPr>
          <a:lstStyle/>
          <a:p>
            <a:r>
              <a:rPr lang="en-US"/>
              <a:t>Click to edit Master title style</a:t>
            </a:r>
            <a:endParaRPr lang="en-US" dirty="0"/>
          </a:p>
        </p:txBody>
      </p:sp>
    </p:spTree>
    <p:extLst>
      <p:ext uri="{BB962C8B-B14F-4D97-AF65-F5344CB8AC3E}">
        <p14:creationId xmlns:p14="http://schemas.microsoft.com/office/powerpoint/2010/main" val="146004641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704" r:id="rId3"/>
    <p:sldLayoutId id="2147483705" r:id="rId4"/>
    <p:sldLayoutId id="2147483694" r:id="rId5"/>
    <p:sldLayoutId id="2147483698" r:id="rId6"/>
    <p:sldLayoutId id="2147483699" r:id="rId7"/>
    <p:sldLayoutId id="2147483695" r:id="rId8"/>
    <p:sldLayoutId id="2147483703" r:id="rId9"/>
    <p:sldLayoutId id="2147483701" r:id="rId10"/>
    <p:sldLayoutId id="2147483702" r:id="rId11"/>
    <p:sldLayoutId id="2147483696" r:id="rId12"/>
    <p:sldLayoutId id="2147483697" r:id="rId13"/>
    <p:sldLayoutId id="2147483706" r:id="rId14"/>
    <p:sldLayoutId id="2147483707" r:id="rId15"/>
  </p:sldLayoutIdLst>
  <p:hf hdr="0" ftr="0" dt="0"/>
  <p:txStyles>
    <p:titleStyle>
      <a:lvl1pPr algn="l" defTabSz="914400" rtl="0" eaLnBrk="1" latinLnBrk="0" hangingPunct="1">
        <a:spcBef>
          <a:spcPct val="0"/>
        </a:spcBef>
        <a:buNone/>
        <a:defRPr sz="2400" b="1" kern="1200" spc="100" baseline="0">
          <a:solidFill>
            <a:schemeClr val="bg1"/>
          </a:solidFill>
          <a:latin typeface="+mj-lt"/>
          <a:ea typeface="+mj-ea"/>
          <a:cs typeface="+mj-cs"/>
        </a:defRPr>
      </a:lvl1pPr>
    </p:titleStyle>
    <p:bodyStyle>
      <a:lvl1pPr marL="342900" indent="-342900" algn="l" defTabSz="914400" rtl="0" eaLnBrk="1" latinLnBrk="0" hangingPunct="1">
        <a:spcBef>
          <a:spcPct val="20000"/>
        </a:spcBef>
        <a:buClr>
          <a:schemeClr val="accent1"/>
        </a:buClr>
        <a:buFont typeface="Arial" panose="020B0604020202020204" pitchFamily="34" charset="0"/>
        <a:buChar char="•"/>
        <a:defRPr sz="2800" kern="1200">
          <a:solidFill>
            <a:schemeClr val="tx2"/>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a:solidFill>
            <a:schemeClr val="tx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lang="en-US"/>
          </a:p>
        </p:txBody>
      </p:sp>
      <p:sp>
        <p:nvSpPr>
          <p:cNvPr id="5" name="Title 4">
            <a:extLst>
              <a:ext uri="{FF2B5EF4-FFF2-40B4-BE49-F238E27FC236}">
                <a16:creationId xmlns:a16="http://schemas.microsoft.com/office/drawing/2014/main" id="{07A1EBCD-4831-59E4-AF54-61F13329BBE5}"/>
              </a:ext>
            </a:extLst>
          </p:cNvPr>
          <p:cNvSpPr>
            <a:spLocks noGrp="1"/>
          </p:cNvSpPr>
          <p:nvPr>
            <p:ph type="ctrTitle"/>
          </p:nvPr>
        </p:nvSpPr>
        <p:spPr/>
        <p:txBody>
          <a:bodyPr/>
          <a:lstStyle/>
          <a:p>
            <a:r>
              <a:rPr lang="en-US" dirty="0"/>
              <a:t>NoSQL and MongoDB</a:t>
            </a:r>
          </a:p>
        </p:txBody>
      </p:sp>
    </p:spTree>
    <p:extLst>
      <p:ext uri="{BB962C8B-B14F-4D97-AF65-F5344CB8AC3E}">
        <p14:creationId xmlns:p14="http://schemas.microsoft.com/office/powerpoint/2010/main" val="2393796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6728BC2-ACA3-447C-A909-F3F49211C066}" type="slidenum">
              <a:rPr lang="en-US" smtClean="0"/>
              <a:pPr/>
              <a:t>1</a:t>
            </a:fld>
            <a:endParaRPr lang="en-US" dirty="0"/>
          </a:p>
        </p:txBody>
      </p:sp>
      <p:sp>
        <p:nvSpPr>
          <p:cNvPr id="8" name="Title 7">
            <a:extLst>
              <a:ext uri="{FF2B5EF4-FFF2-40B4-BE49-F238E27FC236}">
                <a16:creationId xmlns:a16="http://schemas.microsoft.com/office/drawing/2014/main" id="{5C8A36B9-6DAA-9178-3579-608F2BF2314F}"/>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2FB6D359-271F-7BC2-20B4-ACE4AE76B86F}"/>
              </a:ext>
            </a:extLst>
          </p:cNvPr>
          <p:cNvSpPr>
            <a:spLocks noGrp="1"/>
          </p:cNvSpPr>
          <p:nvPr>
            <p:ph idx="1"/>
          </p:nvPr>
        </p:nvSpPr>
        <p:spPr>
          <a:xfrm>
            <a:off x="380010" y="1481447"/>
            <a:ext cx="8383980" cy="3251328"/>
          </a:xfrm>
        </p:spPr>
        <p:txBody>
          <a:bodyPr numCol="2">
            <a:normAutofit/>
          </a:bodyPr>
          <a:lstStyle/>
          <a:p>
            <a:r>
              <a:rPr lang="en-US" dirty="0"/>
              <a:t>Intro to NoSQL</a:t>
            </a:r>
          </a:p>
          <a:p>
            <a:r>
              <a:rPr lang="en-US" dirty="0"/>
              <a:t>Relational vs NoSQL</a:t>
            </a:r>
          </a:p>
          <a:p>
            <a:r>
              <a:rPr lang="en-US" dirty="0"/>
              <a:t>Intro to MongoDB</a:t>
            </a:r>
          </a:p>
          <a:p>
            <a:r>
              <a:rPr lang="en-US" dirty="0"/>
              <a:t>MongoDB Setup</a:t>
            </a:r>
          </a:p>
          <a:p>
            <a:r>
              <a:rPr lang="en-US" dirty="0"/>
              <a:t>Document Data Model</a:t>
            </a:r>
          </a:p>
          <a:p>
            <a:r>
              <a:rPr lang="en-US" dirty="0"/>
              <a:t>MongoDB Architecture</a:t>
            </a:r>
          </a:p>
          <a:p>
            <a:r>
              <a:rPr lang="en-US" dirty="0"/>
              <a:t>Collection Management</a:t>
            </a:r>
          </a:p>
          <a:p>
            <a:r>
              <a:rPr lang="en-US" dirty="0"/>
              <a:t>CRUD | Creation</a:t>
            </a:r>
          </a:p>
          <a:p>
            <a:r>
              <a:rPr lang="en-US" dirty="0"/>
              <a:t>CRUD | Querying</a:t>
            </a:r>
          </a:p>
          <a:p>
            <a:r>
              <a:rPr lang="en-US" dirty="0"/>
              <a:t>CRUD | Document Management</a:t>
            </a:r>
          </a:p>
          <a:p>
            <a:r>
              <a:rPr lang="en-US" dirty="0"/>
              <a:t>Indexes</a:t>
            </a:r>
          </a:p>
          <a:p>
            <a:endParaRPr lang="en-US" dirty="0"/>
          </a:p>
        </p:txBody>
      </p:sp>
    </p:spTree>
    <p:extLst>
      <p:ext uri="{BB962C8B-B14F-4D97-AF65-F5344CB8AC3E}">
        <p14:creationId xmlns:p14="http://schemas.microsoft.com/office/powerpoint/2010/main" val="3975998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8AAE37-6C44-EFD1-A224-1FC82F61AD64}"/>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2</a:t>
            </a:fld>
            <a:endParaRPr lang="en-US"/>
          </a:p>
        </p:txBody>
      </p:sp>
      <p:sp>
        <p:nvSpPr>
          <p:cNvPr id="4" name="Google Shape;212;p15">
            <a:extLst>
              <a:ext uri="{FF2B5EF4-FFF2-40B4-BE49-F238E27FC236}">
                <a16:creationId xmlns:a16="http://schemas.microsoft.com/office/drawing/2014/main" id="{597E6BDC-DC3A-A131-3C64-1F04AFB6626D}"/>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Introduction to NoSQL</a:t>
            </a:r>
          </a:p>
        </p:txBody>
      </p:sp>
      <p:pic>
        <p:nvPicPr>
          <p:cNvPr id="6" name="Picture 5">
            <a:extLst>
              <a:ext uri="{FF2B5EF4-FFF2-40B4-BE49-F238E27FC236}">
                <a16:creationId xmlns:a16="http://schemas.microsoft.com/office/drawing/2014/main" id="{8A8E09B7-A980-6E75-DAC8-46C12A48941D}"/>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1720100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ADCEA2-50D6-C516-65CC-742821A02E1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
        <p:nvSpPr>
          <p:cNvPr id="6" name="Content Placeholder 5">
            <a:extLst>
              <a:ext uri="{FF2B5EF4-FFF2-40B4-BE49-F238E27FC236}">
                <a16:creationId xmlns:a16="http://schemas.microsoft.com/office/drawing/2014/main" id="{87444B04-2EA6-FCF4-5F43-ABE166F4F8F0}"/>
              </a:ext>
            </a:extLst>
          </p:cNvPr>
          <p:cNvSpPr>
            <a:spLocks noGrp="1"/>
          </p:cNvSpPr>
          <p:nvPr>
            <p:ph idx="1"/>
          </p:nvPr>
        </p:nvSpPr>
        <p:spPr/>
        <p:txBody>
          <a:bodyPr>
            <a:normAutofit/>
          </a:bodyPr>
          <a:lstStyle/>
          <a:p>
            <a:r>
              <a:rPr lang="en-US" dirty="0"/>
              <a:t>NoSQL stands for “Not Only SQL”</a:t>
            </a:r>
          </a:p>
          <a:p>
            <a:r>
              <a:rPr lang="en-US" dirty="0"/>
              <a:t>Refers to a broad category of databases that don’t use the traditional table-based, relational model.</a:t>
            </a:r>
          </a:p>
          <a:p>
            <a:r>
              <a:rPr lang="en-US" dirty="0"/>
              <a:t>NoSQL databases emerged to handle problems that were hard for relational databases to solve well, especially at scale.</a:t>
            </a:r>
          </a:p>
          <a:p>
            <a:pPr lvl="1"/>
            <a:r>
              <a:rPr lang="en-US" dirty="0"/>
              <a:t>Massive amounts of data, fast-changing data structures, a need for high availability across many servers</a:t>
            </a:r>
          </a:p>
          <a:p>
            <a:pPr lvl="1"/>
            <a:endParaRPr lang="en-US" dirty="0"/>
          </a:p>
        </p:txBody>
      </p:sp>
      <p:sp>
        <p:nvSpPr>
          <p:cNvPr id="5" name="Title 4">
            <a:extLst>
              <a:ext uri="{FF2B5EF4-FFF2-40B4-BE49-F238E27FC236}">
                <a16:creationId xmlns:a16="http://schemas.microsoft.com/office/drawing/2014/main" id="{7C96D22E-EB01-37C9-6E05-231DE113DD86}"/>
              </a:ext>
            </a:extLst>
          </p:cNvPr>
          <p:cNvSpPr>
            <a:spLocks noGrp="1"/>
          </p:cNvSpPr>
          <p:nvPr>
            <p:ph type="title"/>
          </p:nvPr>
        </p:nvSpPr>
        <p:spPr/>
        <p:txBody>
          <a:bodyPr/>
          <a:lstStyle/>
          <a:p>
            <a:r>
              <a:rPr lang="en-US" dirty="0"/>
              <a:t>Intro to NoSQL</a:t>
            </a:r>
          </a:p>
        </p:txBody>
      </p:sp>
    </p:spTree>
    <p:extLst>
      <p:ext uri="{BB962C8B-B14F-4D97-AF65-F5344CB8AC3E}">
        <p14:creationId xmlns:p14="http://schemas.microsoft.com/office/powerpoint/2010/main" val="1957433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54927-0AEA-E5B7-851E-0BB1AEBE86C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9C0E997-31BC-9EDC-A3DD-7BE2FA6BFAC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
        <p:nvSpPr>
          <p:cNvPr id="6" name="Content Placeholder 5">
            <a:extLst>
              <a:ext uri="{FF2B5EF4-FFF2-40B4-BE49-F238E27FC236}">
                <a16:creationId xmlns:a16="http://schemas.microsoft.com/office/drawing/2014/main" id="{8A94666F-0CAD-C0A3-EEB4-0190C898A321}"/>
              </a:ext>
            </a:extLst>
          </p:cNvPr>
          <p:cNvSpPr>
            <a:spLocks noGrp="1"/>
          </p:cNvSpPr>
          <p:nvPr>
            <p:ph idx="1"/>
          </p:nvPr>
        </p:nvSpPr>
        <p:spPr/>
        <p:txBody>
          <a:bodyPr>
            <a:normAutofit fontScale="77500" lnSpcReduction="20000"/>
          </a:bodyPr>
          <a:lstStyle/>
          <a:p>
            <a:r>
              <a:rPr lang="en-US" dirty="0"/>
              <a:t>There are many types of NoSQL database structures</a:t>
            </a:r>
          </a:p>
          <a:p>
            <a:pPr lvl="1"/>
            <a:r>
              <a:rPr lang="en-US" dirty="0"/>
              <a:t>NoSQL is an umbrella term covering several data models which are suited for different problems</a:t>
            </a:r>
          </a:p>
          <a:p>
            <a:r>
              <a:rPr lang="en-US" b="1" dirty="0"/>
              <a:t>*Document Databases</a:t>
            </a:r>
            <a:r>
              <a:rPr lang="en-US" dirty="0"/>
              <a:t>: store data as flexible, JSON-like documents</a:t>
            </a:r>
          </a:p>
          <a:p>
            <a:pPr lvl="1"/>
            <a:r>
              <a:rPr lang="en-US" dirty="0"/>
              <a:t>Ex: MongoDB</a:t>
            </a:r>
          </a:p>
          <a:p>
            <a:r>
              <a:rPr lang="en-US" b="1" dirty="0"/>
              <a:t>Key-value stores</a:t>
            </a:r>
            <a:r>
              <a:rPr lang="en-US" dirty="0"/>
              <a:t>: store data as simple key-value pairs. Optimized for speed.</a:t>
            </a:r>
          </a:p>
          <a:p>
            <a:pPr lvl="1"/>
            <a:r>
              <a:rPr lang="en-US" dirty="0"/>
              <a:t>Ex: Redis</a:t>
            </a:r>
          </a:p>
          <a:p>
            <a:r>
              <a:rPr lang="en-US" b="1" dirty="0"/>
              <a:t>Column-family stores</a:t>
            </a:r>
            <a:r>
              <a:rPr lang="en-US" dirty="0"/>
              <a:t>: Store data in columns rather than rows. Optimized for large-scale analytics.</a:t>
            </a:r>
          </a:p>
          <a:p>
            <a:pPr lvl="1"/>
            <a:r>
              <a:rPr lang="en-US" dirty="0"/>
              <a:t>Ex: Cassandra</a:t>
            </a:r>
          </a:p>
          <a:p>
            <a:r>
              <a:rPr lang="en-US" b="1" dirty="0"/>
              <a:t>Graph databases</a:t>
            </a:r>
            <a:r>
              <a:rPr lang="en-US" dirty="0"/>
              <a:t>: Store data as nodes and relationships. Optimized for highly connected data (like social networks)</a:t>
            </a:r>
          </a:p>
          <a:p>
            <a:pPr lvl="1"/>
            <a:r>
              <a:rPr lang="en-US" dirty="0"/>
              <a:t>Ex: Neo4j</a:t>
            </a:r>
          </a:p>
          <a:p>
            <a:pPr lvl="1"/>
            <a:endParaRPr lang="en-US" dirty="0"/>
          </a:p>
        </p:txBody>
      </p:sp>
      <p:sp>
        <p:nvSpPr>
          <p:cNvPr id="5" name="Title 4">
            <a:extLst>
              <a:ext uri="{FF2B5EF4-FFF2-40B4-BE49-F238E27FC236}">
                <a16:creationId xmlns:a16="http://schemas.microsoft.com/office/drawing/2014/main" id="{C573E2D3-42F7-F50D-F1A5-D0505C392DA6}"/>
              </a:ext>
            </a:extLst>
          </p:cNvPr>
          <p:cNvSpPr>
            <a:spLocks noGrp="1"/>
          </p:cNvSpPr>
          <p:nvPr>
            <p:ph type="title"/>
          </p:nvPr>
        </p:nvSpPr>
        <p:spPr/>
        <p:txBody>
          <a:bodyPr/>
          <a:lstStyle/>
          <a:p>
            <a:r>
              <a:rPr lang="en-US" dirty="0"/>
              <a:t>NoSQL Types</a:t>
            </a:r>
          </a:p>
        </p:txBody>
      </p:sp>
    </p:spTree>
    <p:extLst>
      <p:ext uri="{BB962C8B-B14F-4D97-AF65-F5344CB8AC3E}">
        <p14:creationId xmlns:p14="http://schemas.microsoft.com/office/powerpoint/2010/main" val="102313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4BBAA-36C6-C125-63FA-D749F9C396B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7873A1A-A148-EEE2-FC25-DE733A4AC03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
        <p:nvSpPr>
          <p:cNvPr id="6" name="Content Placeholder 5">
            <a:extLst>
              <a:ext uri="{FF2B5EF4-FFF2-40B4-BE49-F238E27FC236}">
                <a16:creationId xmlns:a16="http://schemas.microsoft.com/office/drawing/2014/main" id="{300BB8CB-12D2-F040-902A-9276A1BCB4A7}"/>
              </a:ext>
            </a:extLst>
          </p:cNvPr>
          <p:cNvSpPr>
            <a:spLocks noGrp="1"/>
          </p:cNvSpPr>
          <p:nvPr>
            <p:ph idx="1"/>
          </p:nvPr>
        </p:nvSpPr>
        <p:spPr/>
        <p:txBody>
          <a:bodyPr>
            <a:normAutofit fontScale="85000" lnSpcReduction="20000"/>
          </a:bodyPr>
          <a:lstStyle/>
          <a:p>
            <a:r>
              <a:rPr lang="en-US" dirty="0"/>
              <a:t>A common feature of most NoSQL databases is a flexible schema.</a:t>
            </a:r>
          </a:p>
          <a:p>
            <a:r>
              <a:rPr lang="en-US" dirty="0"/>
              <a:t>The structure of your data can vary from record to record</a:t>
            </a:r>
          </a:p>
          <a:p>
            <a:r>
              <a:rPr lang="en-US" dirty="0"/>
              <a:t>Data structure may change over-time without required a rigid pre-defined table structure</a:t>
            </a:r>
          </a:p>
          <a:p>
            <a:r>
              <a:rPr lang="en-US" dirty="0"/>
              <a:t>NoSQL databases are often designed with horizontal scaling in mind</a:t>
            </a:r>
          </a:p>
          <a:p>
            <a:pPr lvl="1"/>
            <a:r>
              <a:rPr lang="en-US" dirty="0"/>
              <a:t>Horizontal scaling: add more machines to handle more load, rather than making a single machine more powerful (vertical scaling)</a:t>
            </a:r>
          </a:p>
          <a:p>
            <a:r>
              <a:rPr lang="en-US" dirty="0"/>
              <a:t>Note: NoSQL is not a replacement for relational databases – it’s a different set of tools for different problems. Many real-world systems use both.</a:t>
            </a:r>
          </a:p>
          <a:p>
            <a:pPr lvl="1"/>
            <a:endParaRPr lang="en-US" dirty="0"/>
          </a:p>
        </p:txBody>
      </p:sp>
      <p:sp>
        <p:nvSpPr>
          <p:cNvPr id="5" name="Title 4">
            <a:extLst>
              <a:ext uri="{FF2B5EF4-FFF2-40B4-BE49-F238E27FC236}">
                <a16:creationId xmlns:a16="http://schemas.microsoft.com/office/drawing/2014/main" id="{AC68879E-6D51-30AF-6DA2-7D89B711570B}"/>
              </a:ext>
            </a:extLst>
          </p:cNvPr>
          <p:cNvSpPr>
            <a:spLocks noGrp="1"/>
          </p:cNvSpPr>
          <p:nvPr>
            <p:ph type="title"/>
          </p:nvPr>
        </p:nvSpPr>
        <p:spPr/>
        <p:txBody>
          <a:bodyPr/>
          <a:lstStyle/>
          <a:p>
            <a:r>
              <a:rPr lang="en-US" dirty="0"/>
              <a:t>NoSQL Types</a:t>
            </a:r>
          </a:p>
        </p:txBody>
      </p:sp>
    </p:spTree>
    <p:extLst>
      <p:ext uri="{BB962C8B-B14F-4D97-AF65-F5344CB8AC3E}">
        <p14:creationId xmlns:p14="http://schemas.microsoft.com/office/powerpoint/2010/main" val="1485694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F17DF-1BCF-C382-6F6D-2FB41E4796E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BCBB11F-5336-44DB-314A-4A0C0255D8F4}"/>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6</a:t>
            </a:fld>
            <a:endParaRPr lang="en-US"/>
          </a:p>
        </p:txBody>
      </p:sp>
      <p:sp>
        <p:nvSpPr>
          <p:cNvPr id="4" name="Google Shape;212;p15">
            <a:extLst>
              <a:ext uri="{FF2B5EF4-FFF2-40B4-BE49-F238E27FC236}">
                <a16:creationId xmlns:a16="http://schemas.microsoft.com/office/drawing/2014/main" id="{28B86877-96F9-4C69-764B-934B4DD74318}"/>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Relational Databases vs NoSQL</a:t>
            </a:r>
          </a:p>
        </p:txBody>
      </p:sp>
      <p:pic>
        <p:nvPicPr>
          <p:cNvPr id="6" name="Picture 5">
            <a:extLst>
              <a:ext uri="{FF2B5EF4-FFF2-40B4-BE49-F238E27FC236}">
                <a16:creationId xmlns:a16="http://schemas.microsoft.com/office/drawing/2014/main" id="{9BEF6695-CE54-3432-38B7-62DA01AE6609}"/>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30028103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BDC26-B1EE-198B-F4E4-08033EEF45A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E40AF22-D227-F065-CAB4-5F74F465507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
        <p:nvSpPr>
          <p:cNvPr id="6" name="Content Placeholder 5">
            <a:extLst>
              <a:ext uri="{FF2B5EF4-FFF2-40B4-BE49-F238E27FC236}">
                <a16:creationId xmlns:a16="http://schemas.microsoft.com/office/drawing/2014/main" id="{1AF89C34-D02A-8FE4-060D-1062E101CD68}"/>
              </a:ext>
            </a:extLst>
          </p:cNvPr>
          <p:cNvSpPr>
            <a:spLocks noGrp="1"/>
          </p:cNvSpPr>
          <p:nvPr>
            <p:ph idx="1"/>
          </p:nvPr>
        </p:nvSpPr>
        <p:spPr/>
        <p:txBody>
          <a:bodyPr>
            <a:normAutofit/>
          </a:bodyPr>
          <a:lstStyle/>
          <a:p>
            <a:r>
              <a:rPr lang="en-US" dirty="0"/>
              <a:t>Both relational and NoSQL databases store and organize data, but they differ in:</a:t>
            </a:r>
          </a:p>
          <a:p>
            <a:pPr lvl="1"/>
            <a:r>
              <a:rPr lang="en-US" b="1" dirty="0"/>
              <a:t>structure, query language, scaling approach</a:t>
            </a:r>
            <a:r>
              <a:rPr lang="en-US" dirty="0"/>
              <a:t> and </a:t>
            </a:r>
            <a:r>
              <a:rPr lang="en-US" b="1" dirty="0"/>
              <a:t>consistency guarantees</a:t>
            </a:r>
            <a:r>
              <a:rPr lang="en-US" dirty="0"/>
              <a:t> and more.</a:t>
            </a:r>
            <a:endParaRPr lang="en-US" b="1" dirty="0"/>
          </a:p>
          <a:p>
            <a:r>
              <a:rPr lang="en-US" b="1" dirty="0"/>
              <a:t>Structure</a:t>
            </a:r>
            <a:r>
              <a:rPr lang="en-US" dirty="0"/>
              <a:t>:</a:t>
            </a:r>
          </a:p>
          <a:p>
            <a:pPr lvl="1"/>
            <a:r>
              <a:rPr lang="en-US" b="1" dirty="0"/>
              <a:t>Relational</a:t>
            </a:r>
            <a:r>
              <a:rPr lang="en-US" dirty="0"/>
              <a:t>: data lives in </a:t>
            </a:r>
            <a:r>
              <a:rPr lang="en-US" b="1" dirty="0"/>
              <a:t>tables</a:t>
            </a:r>
            <a:r>
              <a:rPr lang="en-US" dirty="0"/>
              <a:t> with strict, predefined </a:t>
            </a:r>
            <a:r>
              <a:rPr lang="en-US" b="1" dirty="0"/>
              <a:t>schema</a:t>
            </a:r>
            <a:r>
              <a:rPr lang="en-US" dirty="0"/>
              <a:t> (Rows must match the same columns)</a:t>
            </a:r>
          </a:p>
          <a:p>
            <a:pPr lvl="1"/>
            <a:r>
              <a:rPr lang="en-US" b="1" dirty="0"/>
              <a:t>NoSQL</a:t>
            </a:r>
            <a:r>
              <a:rPr lang="en-US" dirty="0"/>
              <a:t>: data is typically stored in more flexible formats (such as documents), and structure can vary from record to record.</a:t>
            </a:r>
          </a:p>
        </p:txBody>
      </p:sp>
      <p:sp>
        <p:nvSpPr>
          <p:cNvPr id="5" name="Title 4">
            <a:extLst>
              <a:ext uri="{FF2B5EF4-FFF2-40B4-BE49-F238E27FC236}">
                <a16:creationId xmlns:a16="http://schemas.microsoft.com/office/drawing/2014/main" id="{982F00F4-CB8B-59B2-D5CF-3707B5E879A5}"/>
              </a:ext>
            </a:extLst>
          </p:cNvPr>
          <p:cNvSpPr>
            <a:spLocks noGrp="1"/>
          </p:cNvSpPr>
          <p:nvPr>
            <p:ph type="title"/>
          </p:nvPr>
        </p:nvSpPr>
        <p:spPr/>
        <p:txBody>
          <a:bodyPr/>
          <a:lstStyle/>
          <a:p>
            <a:r>
              <a:rPr lang="en-US" dirty="0"/>
              <a:t>Relational DB vs NoSQL DB</a:t>
            </a:r>
          </a:p>
        </p:txBody>
      </p:sp>
    </p:spTree>
    <p:extLst>
      <p:ext uri="{BB962C8B-B14F-4D97-AF65-F5344CB8AC3E}">
        <p14:creationId xmlns:p14="http://schemas.microsoft.com/office/powerpoint/2010/main" val="138816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79C35-17D5-943D-5EB7-B7FD4F4246C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7C6A9F2-5235-ADA0-72E5-78AA36E2110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
        <p:nvSpPr>
          <p:cNvPr id="6" name="Content Placeholder 5">
            <a:extLst>
              <a:ext uri="{FF2B5EF4-FFF2-40B4-BE49-F238E27FC236}">
                <a16:creationId xmlns:a16="http://schemas.microsoft.com/office/drawing/2014/main" id="{4F12D52D-165B-1EB7-1BB1-3ECAAA12BE20}"/>
              </a:ext>
            </a:extLst>
          </p:cNvPr>
          <p:cNvSpPr>
            <a:spLocks noGrp="1"/>
          </p:cNvSpPr>
          <p:nvPr>
            <p:ph idx="1"/>
          </p:nvPr>
        </p:nvSpPr>
        <p:spPr/>
        <p:txBody>
          <a:bodyPr>
            <a:normAutofit fontScale="92500"/>
          </a:bodyPr>
          <a:lstStyle/>
          <a:p>
            <a:r>
              <a:rPr lang="en-US" b="1" dirty="0"/>
              <a:t>Query Language</a:t>
            </a:r>
            <a:r>
              <a:rPr lang="en-US" dirty="0"/>
              <a:t>:</a:t>
            </a:r>
          </a:p>
          <a:p>
            <a:pPr lvl="1"/>
            <a:r>
              <a:rPr lang="en-US" b="1" dirty="0"/>
              <a:t>Relational</a:t>
            </a:r>
            <a:r>
              <a:rPr lang="en-US" dirty="0"/>
              <a:t>: uses </a:t>
            </a:r>
            <a:r>
              <a:rPr lang="en-US" b="1" dirty="0"/>
              <a:t>SQL</a:t>
            </a:r>
            <a:r>
              <a:rPr lang="en-US" dirty="0"/>
              <a:t>, a standardized language for querying and joining data across tables</a:t>
            </a:r>
          </a:p>
          <a:p>
            <a:pPr lvl="1"/>
            <a:r>
              <a:rPr lang="en-US" b="1" dirty="0"/>
              <a:t>NoSQL</a:t>
            </a:r>
            <a:r>
              <a:rPr lang="en-US" dirty="0"/>
              <a:t>: Query methods vary by database type and product. For instance, MongoDB uses its own query language and API rather than SQL.</a:t>
            </a:r>
          </a:p>
          <a:p>
            <a:r>
              <a:rPr lang="en-US" b="1" dirty="0"/>
              <a:t>Relationships between data</a:t>
            </a:r>
            <a:r>
              <a:rPr lang="en-US" dirty="0"/>
              <a:t>:</a:t>
            </a:r>
          </a:p>
          <a:p>
            <a:pPr lvl="1"/>
            <a:r>
              <a:rPr lang="en-US" b="1" dirty="0"/>
              <a:t>Relational</a:t>
            </a:r>
            <a:r>
              <a:rPr lang="en-US" dirty="0"/>
              <a:t>: Relationships are handled with </a:t>
            </a:r>
            <a:r>
              <a:rPr lang="en-US" b="1" dirty="0"/>
              <a:t>keys</a:t>
            </a:r>
            <a:r>
              <a:rPr lang="en-US" dirty="0"/>
              <a:t> (PK / FK) which can be used for joins and other functionality.</a:t>
            </a:r>
          </a:p>
          <a:p>
            <a:pPr lvl="1"/>
            <a:r>
              <a:rPr lang="en-US" b="1" dirty="0"/>
              <a:t>NoSQL</a:t>
            </a:r>
            <a:r>
              <a:rPr lang="en-US" dirty="0"/>
              <a:t>: Related data is often </a:t>
            </a:r>
            <a:r>
              <a:rPr lang="en-US" b="1" dirty="0"/>
              <a:t>embedded</a:t>
            </a:r>
            <a:r>
              <a:rPr lang="en-US" dirty="0"/>
              <a:t> directly within a single record. This often reduces the need for joins.</a:t>
            </a:r>
          </a:p>
          <a:p>
            <a:pPr lvl="1"/>
            <a:endParaRPr lang="en-US" dirty="0"/>
          </a:p>
        </p:txBody>
      </p:sp>
      <p:sp>
        <p:nvSpPr>
          <p:cNvPr id="5" name="Title 4">
            <a:extLst>
              <a:ext uri="{FF2B5EF4-FFF2-40B4-BE49-F238E27FC236}">
                <a16:creationId xmlns:a16="http://schemas.microsoft.com/office/drawing/2014/main" id="{2EBAA337-2ADB-927D-8D08-807583BC7C92}"/>
              </a:ext>
            </a:extLst>
          </p:cNvPr>
          <p:cNvSpPr>
            <a:spLocks noGrp="1"/>
          </p:cNvSpPr>
          <p:nvPr>
            <p:ph type="title"/>
          </p:nvPr>
        </p:nvSpPr>
        <p:spPr/>
        <p:txBody>
          <a:bodyPr/>
          <a:lstStyle/>
          <a:p>
            <a:r>
              <a:rPr lang="en-US" dirty="0"/>
              <a:t>Relational DB vs NoSQL DB</a:t>
            </a:r>
          </a:p>
        </p:txBody>
      </p:sp>
    </p:spTree>
    <p:extLst>
      <p:ext uri="{BB962C8B-B14F-4D97-AF65-F5344CB8AC3E}">
        <p14:creationId xmlns:p14="http://schemas.microsoft.com/office/powerpoint/2010/main" val="3868523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2E481-5471-C26B-6769-74A9143F932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DED4FC9-6C27-8FC2-4D4D-B6AAE7F7221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
        <p:nvSpPr>
          <p:cNvPr id="6" name="Content Placeholder 5">
            <a:extLst>
              <a:ext uri="{FF2B5EF4-FFF2-40B4-BE49-F238E27FC236}">
                <a16:creationId xmlns:a16="http://schemas.microsoft.com/office/drawing/2014/main" id="{53ECA944-2152-81FB-EDBD-8F69E887A922}"/>
              </a:ext>
            </a:extLst>
          </p:cNvPr>
          <p:cNvSpPr>
            <a:spLocks noGrp="1"/>
          </p:cNvSpPr>
          <p:nvPr>
            <p:ph idx="1"/>
          </p:nvPr>
        </p:nvSpPr>
        <p:spPr/>
        <p:txBody>
          <a:bodyPr>
            <a:normAutofit fontScale="92500" lnSpcReduction="10000"/>
          </a:bodyPr>
          <a:lstStyle/>
          <a:p>
            <a:r>
              <a:rPr lang="en-US" b="1" dirty="0"/>
              <a:t>Schema enforcement</a:t>
            </a:r>
            <a:r>
              <a:rPr lang="en-US" dirty="0"/>
              <a:t>:</a:t>
            </a:r>
          </a:p>
          <a:p>
            <a:pPr lvl="1"/>
            <a:r>
              <a:rPr lang="en-US" b="1" dirty="0"/>
              <a:t>Relational</a:t>
            </a:r>
            <a:r>
              <a:rPr lang="en-US" dirty="0"/>
              <a:t>: “</a:t>
            </a:r>
            <a:r>
              <a:rPr lang="en-US" b="1" dirty="0"/>
              <a:t>schema-on-write”</a:t>
            </a:r>
            <a:r>
              <a:rPr lang="en-US" dirty="0"/>
              <a:t>. The structure is validated when data is written. i.e. When inserting values to a table, the data of the record must match the schema.</a:t>
            </a:r>
          </a:p>
          <a:p>
            <a:pPr lvl="1"/>
            <a:r>
              <a:rPr lang="en-US" b="1" dirty="0"/>
              <a:t>NoSQL</a:t>
            </a:r>
            <a:r>
              <a:rPr lang="en-US" dirty="0"/>
              <a:t>: “</a:t>
            </a:r>
            <a:r>
              <a:rPr lang="en-US" b="1" dirty="0"/>
              <a:t>schema-on-read</a:t>
            </a:r>
            <a:r>
              <a:rPr lang="en-US" dirty="0"/>
              <a:t>”. The structure of data is not enforced until your application reads and uses the data. i.e. Your application reads the data it needs and displays it as an object or other representation.</a:t>
            </a:r>
          </a:p>
          <a:p>
            <a:r>
              <a:rPr lang="en-US" b="1" dirty="0"/>
              <a:t>Scaling</a:t>
            </a:r>
            <a:r>
              <a:rPr lang="en-US" dirty="0"/>
              <a:t>:</a:t>
            </a:r>
          </a:p>
          <a:p>
            <a:pPr lvl="1"/>
            <a:r>
              <a:rPr lang="en-US" b="1" dirty="0"/>
              <a:t>Relational</a:t>
            </a:r>
            <a:r>
              <a:rPr lang="en-US" dirty="0"/>
              <a:t>: Traditionally scales </a:t>
            </a:r>
            <a:r>
              <a:rPr lang="en-US" b="1" dirty="0"/>
              <a:t>vertically</a:t>
            </a:r>
            <a:r>
              <a:rPr lang="en-US" dirty="0"/>
              <a:t> (a more powerful, single server)</a:t>
            </a:r>
          </a:p>
          <a:p>
            <a:pPr lvl="1"/>
            <a:r>
              <a:rPr lang="en-US" b="1" dirty="0"/>
              <a:t>NoSQL</a:t>
            </a:r>
            <a:r>
              <a:rPr lang="en-US" dirty="0"/>
              <a:t>: Typically designed to scale </a:t>
            </a:r>
            <a:r>
              <a:rPr lang="en-US" b="1" dirty="0"/>
              <a:t>horizontally</a:t>
            </a:r>
            <a:r>
              <a:rPr lang="en-US" dirty="0"/>
              <a:t> (spreading data across many servers).</a:t>
            </a:r>
          </a:p>
          <a:p>
            <a:endParaRPr lang="en-US" dirty="0"/>
          </a:p>
        </p:txBody>
      </p:sp>
      <p:sp>
        <p:nvSpPr>
          <p:cNvPr id="5" name="Title 4">
            <a:extLst>
              <a:ext uri="{FF2B5EF4-FFF2-40B4-BE49-F238E27FC236}">
                <a16:creationId xmlns:a16="http://schemas.microsoft.com/office/drawing/2014/main" id="{47338150-A90A-B345-D170-643B65123ADE}"/>
              </a:ext>
            </a:extLst>
          </p:cNvPr>
          <p:cNvSpPr>
            <a:spLocks noGrp="1"/>
          </p:cNvSpPr>
          <p:nvPr>
            <p:ph type="title"/>
          </p:nvPr>
        </p:nvSpPr>
        <p:spPr/>
        <p:txBody>
          <a:bodyPr/>
          <a:lstStyle/>
          <a:p>
            <a:r>
              <a:rPr lang="en-US" dirty="0"/>
              <a:t>Relational DB vs NoSQL DB</a:t>
            </a:r>
          </a:p>
        </p:txBody>
      </p:sp>
    </p:spTree>
    <p:extLst>
      <p:ext uri="{BB962C8B-B14F-4D97-AF65-F5344CB8AC3E}">
        <p14:creationId xmlns:p14="http://schemas.microsoft.com/office/powerpoint/2010/main" val="1195906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33A82-7865-7A9E-A464-974CE6B28BC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DBA8182-9959-C1B3-1E44-45D476FFDC3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
        <p:nvSpPr>
          <p:cNvPr id="6" name="Content Placeholder 5">
            <a:extLst>
              <a:ext uri="{FF2B5EF4-FFF2-40B4-BE49-F238E27FC236}">
                <a16:creationId xmlns:a16="http://schemas.microsoft.com/office/drawing/2014/main" id="{5F4F3497-69A1-F7A4-B87F-7CFDE38698CD}"/>
              </a:ext>
            </a:extLst>
          </p:cNvPr>
          <p:cNvSpPr>
            <a:spLocks noGrp="1"/>
          </p:cNvSpPr>
          <p:nvPr>
            <p:ph idx="1"/>
          </p:nvPr>
        </p:nvSpPr>
        <p:spPr>
          <a:xfrm>
            <a:off x="380010" y="1481446"/>
            <a:ext cx="8383980" cy="4882266"/>
          </a:xfrm>
        </p:spPr>
        <p:txBody>
          <a:bodyPr>
            <a:normAutofit fontScale="85000" lnSpcReduction="20000"/>
          </a:bodyPr>
          <a:lstStyle/>
          <a:p>
            <a:r>
              <a:rPr lang="en-US" b="1" dirty="0"/>
              <a:t>Consistency vs Flexibility</a:t>
            </a:r>
            <a:r>
              <a:rPr lang="en-US" dirty="0"/>
              <a:t>:</a:t>
            </a:r>
          </a:p>
          <a:p>
            <a:pPr lvl="1"/>
            <a:r>
              <a:rPr lang="en-US" b="1" dirty="0"/>
              <a:t>Relational</a:t>
            </a:r>
            <a:r>
              <a:rPr lang="en-US" dirty="0"/>
              <a:t>: Prioritizes ACID compliance. Strong consistency and reliable transactions.</a:t>
            </a:r>
          </a:p>
          <a:p>
            <a:pPr lvl="1"/>
            <a:r>
              <a:rPr lang="en-US" b="1" dirty="0"/>
              <a:t>NoSQL</a:t>
            </a:r>
            <a:r>
              <a:rPr lang="en-US" dirty="0"/>
              <a:t>: Often prioritized flexibility and availability, sometimes relating strict consistency guarantees.</a:t>
            </a:r>
          </a:p>
          <a:p>
            <a:r>
              <a:rPr lang="en-US" dirty="0"/>
              <a:t>When to use either?:</a:t>
            </a:r>
          </a:p>
          <a:p>
            <a:pPr lvl="1"/>
            <a:r>
              <a:rPr lang="en-US" b="1" dirty="0"/>
              <a:t>Relational</a:t>
            </a:r>
            <a:r>
              <a:rPr lang="en-US" dirty="0"/>
              <a:t>: Use when you have highly structured data, important relationships, and/or strong consistency needs. (e.g. banking/financial systems)</a:t>
            </a:r>
          </a:p>
          <a:p>
            <a:pPr lvl="1"/>
            <a:r>
              <a:rPr lang="en-US" b="1" dirty="0"/>
              <a:t>NoSQL</a:t>
            </a:r>
            <a:r>
              <a:rPr lang="en-US" dirty="0"/>
              <a:t>: Use when you have less structured or fast-changing data, and/or have high scale needs. (e.g. content management, real-time analytics, product catalogs).</a:t>
            </a:r>
          </a:p>
          <a:p>
            <a:endParaRPr lang="en-US" dirty="0"/>
          </a:p>
          <a:p>
            <a:r>
              <a:rPr lang="en-US" dirty="0"/>
              <a:t>Keep in mind that NoSQL is not </a:t>
            </a:r>
            <a:r>
              <a:rPr lang="en-US" b="1" dirty="0"/>
              <a:t>inherently faster</a:t>
            </a:r>
            <a:r>
              <a:rPr lang="en-US" dirty="0"/>
              <a:t> or </a:t>
            </a:r>
            <a:r>
              <a:rPr lang="en-US" b="1" dirty="0"/>
              <a:t>more modern</a:t>
            </a:r>
            <a:r>
              <a:rPr lang="en-US" dirty="0"/>
              <a:t> than relational databases. It represents a different set of trade-offs and considerations.</a:t>
            </a:r>
          </a:p>
          <a:p>
            <a:endParaRPr lang="en-US" dirty="0"/>
          </a:p>
        </p:txBody>
      </p:sp>
      <p:sp>
        <p:nvSpPr>
          <p:cNvPr id="5" name="Title 4">
            <a:extLst>
              <a:ext uri="{FF2B5EF4-FFF2-40B4-BE49-F238E27FC236}">
                <a16:creationId xmlns:a16="http://schemas.microsoft.com/office/drawing/2014/main" id="{5F1D229D-8078-2509-0E20-1FA75C5B917D}"/>
              </a:ext>
            </a:extLst>
          </p:cNvPr>
          <p:cNvSpPr>
            <a:spLocks noGrp="1"/>
          </p:cNvSpPr>
          <p:nvPr>
            <p:ph type="title"/>
          </p:nvPr>
        </p:nvSpPr>
        <p:spPr/>
        <p:txBody>
          <a:bodyPr/>
          <a:lstStyle/>
          <a:p>
            <a:r>
              <a:rPr lang="en-US" dirty="0"/>
              <a:t>Relational DB vs NoSQL DB</a:t>
            </a:r>
          </a:p>
        </p:txBody>
      </p:sp>
    </p:spTree>
    <p:extLst>
      <p:ext uri="{BB962C8B-B14F-4D97-AF65-F5344CB8AC3E}">
        <p14:creationId xmlns:p14="http://schemas.microsoft.com/office/powerpoint/2010/main" val="1429105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61EE8-11BE-142B-5564-8F434500CF5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E12B6D1-B0CC-B259-8685-183D878078D7}"/>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11</a:t>
            </a:fld>
            <a:endParaRPr lang="en-US"/>
          </a:p>
        </p:txBody>
      </p:sp>
      <p:sp>
        <p:nvSpPr>
          <p:cNvPr id="4" name="Google Shape;212;p15">
            <a:extLst>
              <a:ext uri="{FF2B5EF4-FFF2-40B4-BE49-F238E27FC236}">
                <a16:creationId xmlns:a16="http://schemas.microsoft.com/office/drawing/2014/main" id="{2A2E400A-84BA-2D1A-AD53-CB1EBE98640F}"/>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Introduction to Mongo DB</a:t>
            </a:r>
          </a:p>
        </p:txBody>
      </p:sp>
      <p:pic>
        <p:nvPicPr>
          <p:cNvPr id="6" name="Picture 5">
            <a:extLst>
              <a:ext uri="{FF2B5EF4-FFF2-40B4-BE49-F238E27FC236}">
                <a16:creationId xmlns:a16="http://schemas.microsoft.com/office/drawing/2014/main" id="{E244CC80-4169-1BE6-9EFB-4A40E11DFA25}"/>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22065977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8C1F0-8D3C-6FA5-9837-18F55A3C6E4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C84F773-178B-C160-CB17-FFED75E0B92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
        <p:nvSpPr>
          <p:cNvPr id="6" name="Content Placeholder 5">
            <a:extLst>
              <a:ext uri="{FF2B5EF4-FFF2-40B4-BE49-F238E27FC236}">
                <a16:creationId xmlns:a16="http://schemas.microsoft.com/office/drawing/2014/main" id="{8A039EA2-C178-EFCC-3B82-74105CE30149}"/>
              </a:ext>
            </a:extLst>
          </p:cNvPr>
          <p:cNvSpPr>
            <a:spLocks noGrp="1"/>
          </p:cNvSpPr>
          <p:nvPr>
            <p:ph idx="1"/>
          </p:nvPr>
        </p:nvSpPr>
        <p:spPr/>
        <p:txBody>
          <a:bodyPr>
            <a:normAutofit fontScale="92500" lnSpcReduction="20000"/>
          </a:bodyPr>
          <a:lstStyle/>
          <a:p>
            <a:r>
              <a:rPr lang="en-US" b="1" dirty="0"/>
              <a:t>MongoDB</a:t>
            </a:r>
            <a:r>
              <a:rPr lang="en-US" dirty="0"/>
              <a:t> is a document database – the most widely used type of NoSQL database – designed to store data as flexible, JSON-like documents, rather than rows in a table.</a:t>
            </a:r>
          </a:p>
          <a:p>
            <a:pPr lvl="1"/>
            <a:r>
              <a:rPr lang="en-US" dirty="0"/>
              <a:t>Released in 2009</a:t>
            </a:r>
          </a:p>
          <a:p>
            <a:pPr lvl="1"/>
            <a:r>
              <a:rPr lang="en-US" dirty="0"/>
              <a:t>One of the most popular databases in the world</a:t>
            </a:r>
          </a:p>
          <a:p>
            <a:pPr lvl="1"/>
            <a:r>
              <a:rPr lang="en-US" dirty="0"/>
              <a:t>Used for web apps, mobile apps, large-scale enterprise apps and more</a:t>
            </a:r>
          </a:p>
          <a:p>
            <a:r>
              <a:rPr lang="en-US" dirty="0"/>
              <a:t>MongoDB stores documents in a binary format called </a:t>
            </a:r>
            <a:r>
              <a:rPr lang="en-US" b="1" dirty="0"/>
              <a:t>BSON</a:t>
            </a:r>
            <a:r>
              <a:rPr lang="en-US" dirty="0"/>
              <a:t> (</a:t>
            </a:r>
            <a:r>
              <a:rPr lang="en-US" b="1" dirty="0"/>
              <a:t>B</a:t>
            </a:r>
            <a:r>
              <a:rPr lang="en-US" dirty="0"/>
              <a:t>inary </a:t>
            </a:r>
            <a:r>
              <a:rPr lang="en-US" b="1" dirty="0"/>
              <a:t>JSON</a:t>
            </a:r>
            <a:r>
              <a:rPr lang="en-US" dirty="0"/>
              <a:t>), which extends JSON with additional data types</a:t>
            </a:r>
          </a:p>
          <a:p>
            <a:pPr lvl="1"/>
            <a:r>
              <a:rPr lang="en-US" dirty="0"/>
              <a:t>E.g. dates &amp; specific number formats</a:t>
            </a:r>
          </a:p>
          <a:p>
            <a:pPr lvl="1"/>
            <a:r>
              <a:rPr lang="en-US" dirty="0"/>
              <a:t>BSON is optimized for speed and storage efficiency</a:t>
            </a:r>
          </a:p>
        </p:txBody>
      </p:sp>
      <p:sp>
        <p:nvSpPr>
          <p:cNvPr id="5" name="Title 4">
            <a:extLst>
              <a:ext uri="{FF2B5EF4-FFF2-40B4-BE49-F238E27FC236}">
                <a16:creationId xmlns:a16="http://schemas.microsoft.com/office/drawing/2014/main" id="{BB57357B-12E7-5522-54FC-8251A48A8D3E}"/>
              </a:ext>
            </a:extLst>
          </p:cNvPr>
          <p:cNvSpPr>
            <a:spLocks noGrp="1"/>
          </p:cNvSpPr>
          <p:nvPr>
            <p:ph type="title"/>
          </p:nvPr>
        </p:nvSpPr>
        <p:spPr/>
        <p:txBody>
          <a:bodyPr/>
          <a:lstStyle/>
          <a:p>
            <a:r>
              <a:rPr lang="en-US" dirty="0"/>
              <a:t>MongoDB</a:t>
            </a:r>
          </a:p>
        </p:txBody>
      </p:sp>
    </p:spTree>
    <p:extLst>
      <p:ext uri="{BB962C8B-B14F-4D97-AF65-F5344CB8AC3E}">
        <p14:creationId xmlns:p14="http://schemas.microsoft.com/office/powerpoint/2010/main" val="3544255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20470-85F9-D65A-5B3C-9F2673120EF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1F0B057-D0B4-DB5A-FC95-6FC2D5C4644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
        <p:nvSpPr>
          <p:cNvPr id="6" name="Content Placeholder 5">
            <a:extLst>
              <a:ext uri="{FF2B5EF4-FFF2-40B4-BE49-F238E27FC236}">
                <a16:creationId xmlns:a16="http://schemas.microsoft.com/office/drawing/2014/main" id="{36B13596-0DDA-DF29-AC21-5889FAD50D78}"/>
              </a:ext>
            </a:extLst>
          </p:cNvPr>
          <p:cNvSpPr>
            <a:spLocks noGrp="1"/>
          </p:cNvSpPr>
          <p:nvPr>
            <p:ph idx="1"/>
          </p:nvPr>
        </p:nvSpPr>
        <p:spPr>
          <a:xfrm>
            <a:off x="380010" y="1481446"/>
            <a:ext cx="8383980" cy="5247391"/>
          </a:xfrm>
        </p:spPr>
        <p:txBody>
          <a:bodyPr>
            <a:normAutofit fontScale="85000" lnSpcReduction="20000"/>
          </a:bodyPr>
          <a:lstStyle/>
          <a:p>
            <a:r>
              <a:rPr lang="en-US" b="1" dirty="0"/>
              <a:t>Flexible Schema</a:t>
            </a:r>
            <a:r>
              <a:rPr lang="en-US" dirty="0"/>
              <a:t>: documents in the same collection don’t need to have identical fields, making it easier to evolve your data models as your app grows</a:t>
            </a:r>
          </a:p>
          <a:p>
            <a:r>
              <a:rPr lang="en-US" b="1" dirty="0"/>
              <a:t>Developer-friendly</a:t>
            </a:r>
            <a:r>
              <a:rPr lang="en-US" dirty="0"/>
              <a:t>: documents map naturally to objects in most modern programming languages (JavaScript Objects, Python dictionaries, etc…). This reduces the mental translation needed between code and database, reducing </a:t>
            </a:r>
            <a:r>
              <a:rPr lang="en-US" b="1" i="1" dirty="0"/>
              <a:t>impedance mismatching</a:t>
            </a:r>
            <a:r>
              <a:rPr lang="en-US" dirty="0"/>
              <a:t>.</a:t>
            </a:r>
          </a:p>
          <a:p>
            <a:pPr lvl="1"/>
            <a:r>
              <a:rPr lang="en-US" b="1" dirty="0"/>
              <a:t>Impedance Mismatch</a:t>
            </a:r>
            <a:r>
              <a:rPr lang="en-US" dirty="0"/>
              <a:t>: Discrepancies between OOP Models that represent data and the Relational Models used to store the same data, caused when the storage of relational data is split across a database’s tables.</a:t>
            </a:r>
          </a:p>
          <a:p>
            <a:r>
              <a:rPr lang="en-US" b="1" dirty="0"/>
              <a:t>Horizontal scalability</a:t>
            </a:r>
            <a:r>
              <a:rPr lang="en-US" dirty="0"/>
              <a:t>: MongoDB is built to scale across many servers using a feature called sharding</a:t>
            </a:r>
          </a:p>
          <a:p>
            <a:r>
              <a:rPr lang="en-US" b="1" dirty="0"/>
              <a:t>Rich querying</a:t>
            </a:r>
            <a:r>
              <a:rPr lang="en-US" dirty="0"/>
              <a:t>: Despite being a NoSQL database, MongoDB supports powerful querying, filtering, and aggregation capabilities, not just simple key lookups.</a:t>
            </a:r>
          </a:p>
          <a:p>
            <a:endParaRPr lang="en-US" dirty="0"/>
          </a:p>
        </p:txBody>
      </p:sp>
      <p:sp>
        <p:nvSpPr>
          <p:cNvPr id="5" name="Title 4">
            <a:extLst>
              <a:ext uri="{FF2B5EF4-FFF2-40B4-BE49-F238E27FC236}">
                <a16:creationId xmlns:a16="http://schemas.microsoft.com/office/drawing/2014/main" id="{C03C890E-9E74-C69A-71F8-D8C4EE4A8883}"/>
              </a:ext>
            </a:extLst>
          </p:cNvPr>
          <p:cNvSpPr>
            <a:spLocks noGrp="1"/>
          </p:cNvSpPr>
          <p:nvPr>
            <p:ph type="title"/>
          </p:nvPr>
        </p:nvSpPr>
        <p:spPr/>
        <p:txBody>
          <a:bodyPr/>
          <a:lstStyle/>
          <a:p>
            <a:r>
              <a:rPr lang="en-US" dirty="0"/>
              <a:t>Why MongoDB?</a:t>
            </a:r>
          </a:p>
        </p:txBody>
      </p:sp>
    </p:spTree>
    <p:extLst>
      <p:ext uri="{BB962C8B-B14F-4D97-AF65-F5344CB8AC3E}">
        <p14:creationId xmlns:p14="http://schemas.microsoft.com/office/powerpoint/2010/main" val="2944136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9CA2B-B79F-FBE5-4FE6-3EC4BA8B0D5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CD30173-3DA9-B508-802F-34298387670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
        <p:nvSpPr>
          <p:cNvPr id="6" name="Content Placeholder 5">
            <a:extLst>
              <a:ext uri="{FF2B5EF4-FFF2-40B4-BE49-F238E27FC236}">
                <a16:creationId xmlns:a16="http://schemas.microsoft.com/office/drawing/2014/main" id="{80722684-3AE5-53FB-BBC9-47B5A8B0DAB7}"/>
              </a:ext>
            </a:extLst>
          </p:cNvPr>
          <p:cNvSpPr>
            <a:spLocks noGrp="1"/>
          </p:cNvSpPr>
          <p:nvPr>
            <p:ph idx="1"/>
          </p:nvPr>
        </p:nvSpPr>
        <p:spPr/>
        <p:txBody>
          <a:bodyPr>
            <a:normAutofit fontScale="92500"/>
          </a:bodyPr>
          <a:lstStyle/>
          <a:p>
            <a:pPr marL="0" indent="0">
              <a:buNone/>
            </a:pPr>
            <a:r>
              <a:rPr lang="en-US" dirty="0"/>
              <a:t>MongoDB is available to use in several forms:</a:t>
            </a:r>
          </a:p>
          <a:p>
            <a:r>
              <a:rPr lang="en-US" b="1" dirty="0"/>
              <a:t>MongoDB Community Server</a:t>
            </a:r>
            <a:r>
              <a:rPr lang="en-US" dirty="0"/>
              <a:t>: Free, self-hosted version you install and manage yourself.</a:t>
            </a:r>
          </a:p>
          <a:p>
            <a:r>
              <a:rPr lang="en-US" b="1" dirty="0"/>
              <a:t>MongoDB Atlas</a:t>
            </a:r>
            <a:r>
              <a:rPr lang="en-US" dirty="0"/>
              <a:t>: Official fully-managed cloud service (handles hosting, scaling, and backups for you).</a:t>
            </a:r>
          </a:p>
          <a:p>
            <a:pPr lvl="1"/>
            <a:r>
              <a:rPr lang="en-US" dirty="0"/>
              <a:t>Note: MongoDB atlas is run on existing architecture provided by AWS, Google, and Azure. The data center which hosts your Atlas Service can impact latency and integration features.</a:t>
            </a:r>
          </a:p>
          <a:p>
            <a:r>
              <a:rPr lang="en-US" b="1" dirty="0"/>
              <a:t>MongoDB Enterprise</a:t>
            </a:r>
            <a:r>
              <a:rPr lang="en-US" dirty="0"/>
              <a:t>: Paid, self-hosted version with additional enterprise features.</a:t>
            </a:r>
          </a:p>
        </p:txBody>
      </p:sp>
      <p:sp>
        <p:nvSpPr>
          <p:cNvPr id="5" name="Title 4">
            <a:extLst>
              <a:ext uri="{FF2B5EF4-FFF2-40B4-BE49-F238E27FC236}">
                <a16:creationId xmlns:a16="http://schemas.microsoft.com/office/drawing/2014/main" id="{37D50D0E-31E8-6859-C298-2EAD3EE36367}"/>
              </a:ext>
            </a:extLst>
          </p:cNvPr>
          <p:cNvSpPr>
            <a:spLocks noGrp="1"/>
          </p:cNvSpPr>
          <p:nvPr>
            <p:ph type="title"/>
          </p:nvPr>
        </p:nvSpPr>
        <p:spPr/>
        <p:txBody>
          <a:bodyPr/>
          <a:lstStyle/>
          <a:p>
            <a:r>
              <a:rPr lang="en-US" dirty="0"/>
              <a:t>MongoDB Forms</a:t>
            </a:r>
          </a:p>
        </p:txBody>
      </p:sp>
    </p:spTree>
    <p:extLst>
      <p:ext uri="{BB962C8B-B14F-4D97-AF65-F5344CB8AC3E}">
        <p14:creationId xmlns:p14="http://schemas.microsoft.com/office/powerpoint/2010/main" val="818957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F9B7F-A120-A016-9E16-C81FB733A6B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F45B49C-C1E0-0223-2DB2-68B5033E72DC}"/>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15</a:t>
            </a:fld>
            <a:endParaRPr lang="en-US"/>
          </a:p>
        </p:txBody>
      </p:sp>
      <p:sp>
        <p:nvSpPr>
          <p:cNvPr id="4" name="Google Shape;212;p15">
            <a:extLst>
              <a:ext uri="{FF2B5EF4-FFF2-40B4-BE49-F238E27FC236}">
                <a16:creationId xmlns:a16="http://schemas.microsoft.com/office/drawing/2014/main" id="{E771E06F-228F-E4BE-74DC-0A05A02B1935}"/>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MongoDB Setup</a:t>
            </a:r>
          </a:p>
        </p:txBody>
      </p:sp>
      <p:pic>
        <p:nvPicPr>
          <p:cNvPr id="6" name="Picture 5">
            <a:extLst>
              <a:ext uri="{FF2B5EF4-FFF2-40B4-BE49-F238E27FC236}">
                <a16:creationId xmlns:a16="http://schemas.microsoft.com/office/drawing/2014/main" id="{6F125226-74FE-199A-2E07-232878091AB4}"/>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15265746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50A90-7692-F6B9-7083-8828F4CA07E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135CA4D-7E14-01A0-73CC-9D4BCCC25CD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
        <p:nvSpPr>
          <p:cNvPr id="6" name="Content Placeholder 5">
            <a:extLst>
              <a:ext uri="{FF2B5EF4-FFF2-40B4-BE49-F238E27FC236}">
                <a16:creationId xmlns:a16="http://schemas.microsoft.com/office/drawing/2014/main" id="{F6A72B46-3CD9-4B2F-7621-B5A66FDD9234}"/>
              </a:ext>
            </a:extLst>
          </p:cNvPr>
          <p:cNvSpPr>
            <a:spLocks noGrp="1"/>
          </p:cNvSpPr>
          <p:nvPr>
            <p:ph idx="1"/>
          </p:nvPr>
        </p:nvSpPr>
        <p:spPr>
          <a:xfrm>
            <a:off x="380010" y="1481446"/>
            <a:ext cx="8383980" cy="4882266"/>
          </a:xfrm>
        </p:spPr>
        <p:txBody>
          <a:bodyPr>
            <a:normAutofit fontScale="92500" lnSpcReduction="20000"/>
          </a:bodyPr>
          <a:lstStyle/>
          <a:p>
            <a:r>
              <a:rPr lang="en-US" dirty="0"/>
              <a:t>There are two main ways to get started with MongoDB:</a:t>
            </a:r>
          </a:p>
          <a:p>
            <a:pPr lvl="1"/>
            <a:r>
              <a:rPr lang="en-US" dirty="0"/>
              <a:t>Installed locally using MongoDB Community Server</a:t>
            </a:r>
          </a:p>
          <a:p>
            <a:pPr lvl="1"/>
            <a:r>
              <a:rPr lang="en-US" dirty="0"/>
              <a:t>Using MongoDB Atlas</a:t>
            </a:r>
          </a:p>
          <a:p>
            <a:r>
              <a:rPr lang="en-US" dirty="0"/>
              <a:t>Regardless of setup, you will require a </a:t>
            </a:r>
            <a:r>
              <a:rPr lang="en-US" b="1" dirty="0"/>
              <a:t>connection string</a:t>
            </a:r>
            <a:r>
              <a:rPr lang="en-US" dirty="0"/>
              <a:t> that tells your application (or client tool) how to reach the database.</a:t>
            </a:r>
          </a:p>
          <a:p>
            <a:r>
              <a:rPr lang="en-US" dirty="0" err="1"/>
              <a:t>Mongosh</a:t>
            </a:r>
            <a:r>
              <a:rPr lang="en-US" dirty="0"/>
              <a:t> (Mongo Shell): MongoDB’s official command-line tool for connecting and interacting with a MongoDB database directly.</a:t>
            </a:r>
          </a:p>
          <a:p>
            <a:r>
              <a:rPr lang="en-US" dirty="0"/>
              <a:t>MongoDB Compass: MongoDB’s official GUI (Graphical User Interface) used to browse databases, collections, and documents without writing commands.</a:t>
            </a:r>
          </a:p>
        </p:txBody>
      </p:sp>
      <p:sp>
        <p:nvSpPr>
          <p:cNvPr id="5" name="Title 4">
            <a:extLst>
              <a:ext uri="{FF2B5EF4-FFF2-40B4-BE49-F238E27FC236}">
                <a16:creationId xmlns:a16="http://schemas.microsoft.com/office/drawing/2014/main" id="{8E5F5B33-8F7C-4F79-D425-8DF0DF948BB2}"/>
              </a:ext>
            </a:extLst>
          </p:cNvPr>
          <p:cNvSpPr>
            <a:spLocks noGrp="1"/>
          </p:cNvSpPr>
          <p:nvPr>
            <p:ph type="title"/>
          </p:nvPr>
        </p:nvSpPr>
        <p:spPr/>
        <p:txBody>
          <a:bodyPr/>
          <a:lstStyle/>
          <a:p>
            <a:r>
              <a:rPr lang="en-US" dirty="0"/>
              <a:t>MongoDB Setup</a:t>
            </a:r>
          </a:p>
        </p:txBody>
      </p:sp>
    </p:spTree>
    <p:extLst>
      <p:ext uri="{BB962C8B-B14F-4D97-AF65-F5344CB8AC3E}">
        <p14:creationId xmlns:p14="http://schemas.microsoft.com/office/powerpoint/2010/main" val="3827673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B0E0E-CBEF-B755-3393-E1B644CBDD0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8B27EB-3DB1-F971-E261-20939433F80D}"/>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17</a:t>
            </a:fld>
            <a:endParaRPr lang="en-US"/>
          </a:p>
        </p:txBody>
      </p:sp>
      <p:sp>
        <p:nvSpPr>
          <p:cNvPr id="4" name="Google Shape;212;p15">
            <a:extLst>
              <a:ext uri="{FF2B5EF4-FFF2-40B4-BE49-F238E27FC236}">
                <a16:creationId xmlns:a16="http://schemas.microsoft.com/office/drawing/2014/main" id="{666DE7B4-197A-DC4C-95EC-95CE73E76068}"/>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Document Data Model</a:t>
            </a:r>
          </a:p>
        </p:txBody>
      </p:sp>
      <p:pic>
        <p:nvPicPr>
          <p:cNvPr id="6" name="Picture 5">
            <a:extLst>
              <a:ext uri="{FF2B5EF4-FFF2-40B4-BE49-F238E27FC236}">
                <a16:creationId xmlns:a16="http://schemas.microsoft.com/office/drawing/2014/main" id="{B7BC9B56-94BE-61E7-42D9-4C203656122A}"/>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31665476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27ED5-1186-B8AF-DE92-13F415BD371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C39514F-4ED3-0956-1A8E-9A1736CCE4C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sp>
        <p:nvSpPr>
          <p:cNvPr id="6" name="Content Placeholder 5">
            <a:extLst>
              <a:ext uri="{FF2B5EF4-FFF2-40B4-BE49-F238E27FC236}">
                <a16:creationId xmlns:a16="http://schemas.microsoft.com/office/drawing/2014/main" id="{4C8BDEFC-1AE2-5CDB-AAFB-9F20693F2D8B}"/>
              </a:ext>
            </a:extLst>
          </p:cNvPr>
          <p:cNvSpPr>
            <a:spLocks noGrp="1"/>
          </p:cNvSpPr>
          <p:nvPr>
            <p:ph idx="1"/>
          </p:nvPr>
        </p:nvSpPr>
        <p:spPr>
          <a:xfrm>
            <a:off x="380010" y="1481446"/>
            <a:ext cx="8383980" cy="5247391"/>
          </a:xfrm>
        </p:spPr>
        <p:txBody>
          <a:bodyPr>
            <a:normAutofit fontScale="92500" lnSpcReduction="20000"/>
          </a:bodyPr>
          <a:lstStyle/>
          <a:p>
            <a:r>
              <a:rPr lang="en-US" dirty="0"/>
              <a:t>A </a:t>
            </a:r>
            <a:r>
              <a:rPr lang="en-US" b="1" dirty="0"/>
              <a:t>document</a:t>
            </a:r>
            <a:r>
              <a:rPr lang="en-US" dirty="0"/>
              <a:t> is the basic unit of data storage in MongoDB.</a:t>
            </a:r>
          </a:p>
          <a:p>
            <a:pPr lvl="1"/>
            <a:r>
              <a:rPr lang="en-US" dirty="0"/>
              <a:t>Documents are single records in the Mongo database</a:t>
            </a:r>
          </a:p>
          <a:p>
            <a:pPr lvl="1"/>
            <a:r>
              <a:rPr lang="en-US" dirty="0"/>
              <a:t>Documents use JSON format, i.e. </a:t>
            </a:r>
            <a:r>
              <a:rPr lang="en-US" b="1" dirty="0"/>
              <a:t>field-value</a:t>
            </a:r>
            <a:r>
              <a:rPr lang="en-US" b="1" i="1" dirty="0"/>
              <a:t> </a:t>
            </a:r>
            <a:r>
              <a:rPr lang="en-US" dirty="0"/>
              <a:t>pairs.</a:t>
            </a:r>
          </a:p>
          <a:p>
            <a:r>
              <a:rPr lang="en-US" dirty="0"/>
              <a:t>The BSON format of MongoDB documents support richer data types than plain JSON, including:</a:t>
            </a:r>
          </a:p>
          <a:p>
            <a:pPr lvl="1"/>
            <a:r>
              <a:rPr lang="en-US" b="1" dirty="0" err="1"/>
              <a:t>ObjectID</a:t>
            </a:r>
            <a:r>
              <a:rPr lang="en-US" dirty="0"/>
              <a:t>: A special 12-byte identifier </a:t>
            </a:r>
          </a:p>
          <a:p>
            <a:pPr lvl="2"/>
            <a:r>
              <a:rPr lang="en-US" dirty="0"/>
              <a:t>Every document has a unique _id field, which acts as the document’s primary key.</a:t>
            </a:r>
          </a:p>
          <a:p>
            <a:pPr lvl="2"/>
            <a:r>
              <a:rPr lang="en-US" dirty="0"/>
              <a:t>MongoDB automatically generates for the </a:t>
            </a:r>
            <a:r>
              <a:rPr lang="en-US" dirty="0">
                <a:latin typeface="Courier New" panose="02070309020205020404" pitchFamily="49" charset="0"/>
                <a:cs typeface="Courier New" panose="02070309020205020404" pitchFamily="49" charset="0"/>
              </a:rPr>
              <a:t>_id</a:t>
            </a:r>
            <a:r>
              <a:rPr lang="en-US" dirty="0"/>
              <a:t> field, if one isn’t provided.</a:t>
            </a:r>
          </a:p>
          <a:p>
            <a:pPr lvl="2"/>
            <a:r>
              <a:rPr lang="en-US" dirty="0"/>
              <a:t>MongoDB automatically indexes this field for fast lookups</a:t>
            </a:r>
          </a:p>
          <a:p>
            <a:pPr lvl="1"/>
            <a:r>
              <a:rPr lang="en-US" b="1" dirty="0"/>
              <a:t>Date</a:t>
            </a:r>
            <a:r>
              <a:rPr lang="en-US" dirty="0"/>
              <a:t>: Native date/time storage (unlike JSON, which has no built-in date type.)</a:t>
            </a:r>
          </a:p>
          <a:p>
            <a:pPr lvl="1"/>
            <a:r>
              <a:rPr lang="en-US" b="1" dirty="0" err="1"/>
              <a:t>NumberInt</a:t>
            </a:r>
            <a:r>
              <a:rPr lang="en-US" b="1" dirty="0"/>
              <a:t> / </a:t>
            </a:r>
            <a:r>
              <a:rPr lang="en-US" b="1" dirty="0" err="1"/>
              <a:t>NumberLong</a:t>
            </a:r>
            <a:r>
              <a:rPr lang="en-US" b="1" dirty="0"/>
              <a:t> / </a:t>
            </a:r>
            <a:r>
              <a:rPr lang="en-US" b="1" dirty="0" err="1"/>
              <a:t>NumberDecimal</a:t>
            </a:r>
            <a:r>
              <a:rPr lang="en-US" dirty="0"/>
              <a:t>: distinct numeric types for different </a:t>
            </a:r>
          </a:p>
        </p:txBody>
      </p:sp>
      <p:sp>
        <p:nvSpPr>
          <p:cNvPr id="5" name="Title 4">
            <a:extLst>
              <a:ext uri="{FF2B5EF4-FFF2-40B4-BE49-F238E27FC236}">
                <a16:creationId xmlns:a16="http://schemas.microsoft.com/office/drawing/2014/main" id="{7E59701A-25F4-7479-CFEC-1853FA79AD9D}"/>
              </a:ext>
            </a:extLst>
          </p:cNvPr>
          <p:cNvSpPr>
            <a:spLocks noGrp="1"/>
          </p:cNvSpPr>
          <p:nvPr>
            <p:ph type="title"/>
          </p:nvPr>
        </p:nvSpPr>
        <p:spPr/>
        <p:txBody>
          <a:bodyPr/>
          <a:lstStyle/>
          <a:p>
            <a:r>
              <a:rPr lang="en-US" dirty="0"/>
              <a:t>Document</a:t>
            </a:r>
          </a:p>
        </p:txBody>
      </p:sp>
    </p:spTree>
    <p:extLst>
      <p:ext uri="{BB962C8B-B14F-4D97-AF65-F5344CB8AC3E}">
        <p14:creationId xmlns:p14="http://schemas.microsoft.com/office/powerpoint/2010/main" val="2680293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9F4C3-4F1B-96AF-CFDE-1FD0CC27A10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C0F76BD-CBF5-F453-7908-48D5BB46625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sp>
        <p:nvSpPr>
          <p:cNvPr id="6" name="Content Placeholder 5">
            <a:extLst>
              <a:ext uri="{FF2B5EF4-FFF2-40B4-BE49-F238E27FC236}">
                <a16:creationId xmlns:a16="http://schemas.microsoft.com/office/drawing/2014/main" id="{80B28565-04D7-670F-FFCA-2E7D412A302E}"/>
              </a:ext>
            </a:extLst>
          </p:cNvPr>
          <p:cNvSpPr>
            <a:spLocks noGrp="1"/>
          </p:cNvSpPr>
          <p:nvPr>
            <p:ph idx="1"/>
          </p:nvPr>
        </p:nvSpPr>
        <p:spPr>
          <a:xfrm>
            <a:off x="380010" y="1481446"/>
            <a:ext cx="8383980" cy="5247391"/>
          </a:xfrm>
        </p:spPr>
        <p:txBody>
          <a:bodyPr>
            <a:normAutofit fontScale="77500" lnSpcReduction="20000"/>
          </a:bodyPr>
          <a:lstStyle/>
          <a:p>
            <a:r>
              <a:rPr lang="en-US" dirty="0"/>
              <a:t>Documents can contain a variety of field types, including strings, numbers, Booleans, arrays, and even other documents.</a:t>
            </a:r>
          </a:p>
          <a:p>
            <a:pPr lvl="1"/>
            <a:r>
              <a:rPr lang="en-US" dirty="0"/>
              <a:t>Embedded documents: A field’s value can, itself, be another document, allowing you to nest related directly inside a parent document.</a:t>
            </a:r>
          </a:p>
          <a:p>
            <a:r>
              <a:rPr lang="en-US" dirty="0"/>
              <a:t>Arrays: A field can hold a list of values, including lists of embedded documents (e.g. a “comments” array on a blog post)</a:t>
            </a:r>
          </a:p>
          <a:p>
            <a:r>
              <a:rPr lang="en-US" dirty="0"/>
              <a:t>Documents within the same collection are </a:t>
            </a:r>
            <a:r>
              <a:rPr lang="en-US" b="1" dirty="0"/>
              <a:t>not required to share the same fields or structure</a:t>
            </a:r>
            <a:r>
              <a:rPr lang="en-US" dirty="0"/>
              <a:t>.</a:t>
            </a:r>
          </a:p>
          <a:p>
            <a:r>
              <a:rPr lang="en-US" dirty="0"/>
              <a:t>Despite this flexibility, it is considered best practice for most applications to keep documents in a collection </a:t>
            </a:r>
            <a:r>
              <a:rPr lang="en-US" b="1" i="1" dirty="0"/>
              <a:t>reasonably consistent</a:t>
            </a:r>
            <a:r>
              <a:rPr lang="en-US" dirty="0"/>
              <a:t> in structure.</a:t>
            </a:r>
          </a:p>
          <a:p>
            <a:r>
              <a:rPr lang="en-US" dirty="0"/>
              <a:t>Wildly inconsistent documents make querying and application logic harder to manage.</a:t>
            </a:r>
          </a:p>
          <a:p>
            <a:r>
              <a:rPr lang="en-US" dirty="0"/>
              <a:t>Documents can be a maximum size of 16MB.</a:t>
            </a:r>
          </a:p>
        </p:txBody>
      </p:sp>
      <p:sp>
        <p:nvSpPr>
          <p:cNvPr id="5" name="Title 4">
            <a:extLst>
              <a:ext uri="{FF2B5EF4-FFF2-40B4-BE49-F238E27FC236}">
                <a16:creationId xmlns:a16="http://schemas.microsoft.com/office/drawing/2014/main" id="{2A1A5447-605D-361D-D64B-4940685D68AE}"/>
              </a:ext>
            </a:extLst>
          </p:cNvPr>
          <p:cNvSpPr>
            <a:spLocks noGrp="1"/>
          </p:cNvSpPr>
          <p:nvPr>
            <p:ph type="title"/>
          </p:nvPr>
        </p:nvSpPr>
        <p:spPr/>
        <p:txBody>
          <a:bodyPr/>
          <a:lstStyle/>
          <a:p>
            <a:r>
              <a:rPr lang="en-US" dirty="0"/>
              <a:t>Document</a:t>
            </a:r>
          </a:p>
        </p:txBody>
      </p:sp>
    </p:spTree>
    <p:extLst>
      <p:ext uri="{BB962C8B-B14F-4D97-AF65-F5344CB8AC3E}">
        <p14:creationId xmlns:p14="http://schemas.microsoft.com/office/powerpoint/2010/main" val="2548945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37DC1-64A8-ED74-BABC-01DABBCE2E6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E7FFCF3-1358-C72B-B58A-3C94155CEDFF}"/>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20</a:t>
            </a:fld>
            <a:endParaRPr lang="en-US"/>
          </a:p>
        </p:txBody>
      </p:sp>
      <p:sp>
        <p:nvSpPr>
          <p:cNvPr id="4" name="Google Shape;212;p15">
            <a:extLst>
              <a:ext uri="{FF2B5EF4-FFF2-40B4-BE49-F238E27FC236}">
                <a16:creationId xmlns:a16="http://schemas.microsoft.com/office/drawing/2014/main" id="{614E918E-B866-0679-0AAA-4C49B5D3D27F}"/>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MongoDB Architecture</a:t>
            </a:r>
          </a:p>
        </p:txBody>
      </p:sp>
      <p:pic>
        <p:nvPicPr>
          <p:cNvPr id="6" name="Picture 5">
            <a:extLst>
              <a:ext uri="{FF2B5EF4-FFF2-40B4-BE49-F238E27FC236}">
                <a16:creationId xmlns:a16="http://schemas.microsoft.com/office/drawing/2014/main" id="{1028D2C9-4E3A-59D5-EE4A-7E8C973C13C9}"/>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940858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7FCBC-CCD4-D160-F475-0B47850D28B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BCD463B-D0B6-D673-7C06-5D183F5EE7D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
        <p:nvSpPr>
          <p:cNvPr id="6" name="Content Placeholder 5">
            <a:extLst>
              <a:ext uri="{FF2B5EF4-FFF2-40B4-BE49-F238E27FC236}">
                <a16:creationId xmlns:a16="http://schemas.microsoft.com/office/drawing/2014/main" id="{AAFDF477-9376-7AB0-FDD8-F579094B72ED}"/>
              </a:ext>
            </a:extLst>
          </p:cNvPr>
          <p:cNvSpPr>
            <a:spLocks noGrp="1"/>
          </p:cNvSpPr>
          <p:nvPr>
            <p:ph idx="1"/>
          </p:nvPr>
        </p:nvSpPr>
        <p:spPr>
          <a:xfrm>
            <a:off x="380010" y="1481446"/>
            <a:ext cx="8383980" cy="5247391"/>
          </a:xfrm>
        </p:spPr>
        <p:txBody>
          <a:bodyPr>
            <a:normAutofit fontScale="85000" lnSpcReduction="20000"/>
          </a:bodyPr>
          <a:lstStyle/>
          <a:p>
            <a:r>
              <a:rPr lang="en-US" dirty="0"/>
              <a:t>MongoDB Organizes data in a hierarchy:</a:t>
            </a:r>
          </a:p>
          <a:p>
            <a:pPr lvl="1"/>
            <a:r>
              <a:rPr lang="en-US" b="1" i="1" dirty="0"/>
              <a:t>Database -&gt; Collection -&gt; Document -&gt; Field</a:t>
            </a:r>
          </a:p>
          <a:p>
            <a:r>
              <a:rPr lang="en-US" dirty="0"/>
              <a:t>This parallels (though it doesn’t perfectly match) the relational hierarchy of:</a:t>
            </a:r>
          </a:p>
          <a:p>
            <a:pPr lvl="1"/>
            <a:r>
              <a:rPr lang="en-US" b="1" i="1" dirty="0"/>
              <a:t>Database -&gt; Table -&gt; Row -&gt; Column</a:t>
            </a:r>
          </a:p>
          <a:p>
            <a:r>
              <a:rPr lang="en-US" dirty="0"/>
              <a:t>A </a:t>
            </a:r>
            <a:r>
              <a:rPr lang="en-US" b="1" dirty="0"/>
              <a:t>collection</a:t>
            </a:r>
            <a:r>
              <a:rPr lang="en-US" dirty="0"/>
              <a:t> is a grouping of documents, roughly analogous to a </a:t>
            </a:r>
            <a:r>
              <a:rPr lang="en-US" b="1" dirty="0"/>
              <a:t>table</a:t>
            </a:r>
            <a:r>
              <a:rPr lang="en-US" dirty="0"/>
              <a:t> in a relational database.</a:t>
            </a:r>
          </a:p>
          <a:p>
            <a:r>
              <a:rPr lang="en-US" dirty="0"/>
              <a:t>Unlike a table, a collection has </a:t>
            </a:r>
            <a:r>
              <a:rPr lang="en-US" b="1" dirty="0"/>
              <a:t>no enforced schema</a:t>
            </a:r>
            <a:r>
              <a:rPr lang="en-US" dirty="0"/>
              <a:t> across its documents.</a:t>
            </a:r>
          </a:p>
          <a:p>
            <a:r>
              <a:rPr lang="en-US" dirty="0"/>
              <a:t>A </a:t>
            </a:r>
            <a:r>
              <a:rPr lang="en-US" b="1" dirty="0"/>
              <a:t>database</a:t>
            </a:r>
            <a:r>
              <a:rPr lang="en-US" dirty="0"/>
              <a:t> in MongoDB, like the relational equivalent, is a container that holds multiple collections.</a:t>
            </a:r>
          </a:p>
          <a:p>
            <a:pPr lvl="1"/>
            <a:r>
              <a:rPr lang="en-US" dirty="0"/>
              <a:t>A Single MongoDB server (cluster) can host multiple databases.</a:t>
            </a:r>
          </a:p>
          <a:p>
            <a:r>
              <a:rPr lang="en-US" dirty="0"/>
              <a:t>Instead of using a foreign key, document databases use a simple reference field (an ID stored in one document that points to a document in another collection).</a:t>
            </a:r>
          </a:p>
        </p:txBody>
      </p:sp>
      <p:sp>
        <p:nvSpPr>
          <p:cNvPr id="5" name="Title 4">
            <a:extLst>
              <a:ext uri="{FF2B5EF4-FFF2-40B4-BE49-F238E27FC236}">
                <a16:creationId xmlns:a16="http://schemas.microsoft.com/office/drawing/2014/main" id="{1F06D2CF-6AE2-DD45-AA5C-586AECA4AA6A}"/>
              </a:ext>
            </a:extLst>
          </p:cNvPr>
          <p:cNvSpPr>
            <a:spLocks noGrp="1"/>
          </p:cNvSpPr>
          <p:nvPr>
            <p:ph type="title"/>
          </p:nvPr>
        </p:nvSpPr>
        <p:spPr/>
        <p:txBody>
          <a:bodyPr/>
          <a:lstStyle/>
          <a:p>
            <a:r>
              <a:rPr lang="en-US" dirty="0"/>
              <a:t>MongoDB Hierarchy</a:t>
            </a:r>
          </a:p>
        </p:txBody>
      </p:sp>
    </p:spTree>
    <p:extLst>
      <p:ext uri="{BB962C8B-B14F-4D97-AF65-F5344CB8AC3E}">
        <p14:creationId xmlns:p14="http://schemas.microsoft.com/office/powerpoint/2010/main" val="2421255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3504D-357A-7CBB-8B5F-AC35D78106A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FDE9A8B-713E-FA9B-E755-2F6EEFC86AF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sp>
        <p:nvSpPr>
          <p:cNvPr id="6" name="Content Placeholder 5">
            <a:extLst>
              <a:ext uri="{FF2B5EF4-FFF2-40B4-BE49-F238E27FC236}">
                <a16:creationId xmlns:a16="http://schemas.microsoft.com/office/drawing/2014/main" id="{993B25A3-7B56-D947-BD7D-04DA474ECB0B}"/>
              </a:ext>
            </a:extLst>
          </p:cNvPr>
          <p:cNvSpPr>
            <a:spLocks noGrp="1"/>
          </p:cNvSpPr>
          <p:nvPr>
            <p:ph idx="1"/>
          </p:nvPr>
        </p:nvSpPr>
        <p:spPr>
          <a:xfrm>
            <a:off x="380010" y="1481446"/>
            <a:ext cx="8383980" cy="5247391"/>
          </a:xfrm>
        </p:spPr>
        <p:txBody>
          <a:bodyPr>
            <a:normAutofit/>
          </a:bodyPr>
          <a:lstStyle/>
          <a:p>
            <a:r>
              <a:rPr lang="en-US" dirty="0"/>
              <a:t>Collections are typically created automatically the first time you insert a document into them</a:t>
            </a:r>
          </a:p>
          <a:p>
            <a:pPr lvl="1"/>
            <a:r>
              <a:rPr lang="en-US" dirty="0"/>
              <a:t>There is no requirement to explicitly define a collection’s structure beforehand.</a:t>
            </a:r>
          </a:p>
          <a:p>
            <a:r>
              <a:rPr lang="en-US" dirty="0"/>
              <a:t>Naming and organizing collections is a design decision, not a strict requirement.</a:t>
            </a:r>
          </a:p>
          <a:p>
            <a:r>
              <a:rPr lang="en-US" dirty="0"/>
              <a:t>It is common practice to group documents that represent the same </a:t>
            </a:r>
            <a:r>
              <a:rPr lang="en-US" i="1" dirty="0"/>
              <a:t>kind</a:t>
            </a:r>
            <a:r>
              <a:rPr lang="en-US" dirty="0"/>
              <a:t> of entity into the same collection</a:t>
            </a:r>
          </a:p>
          <a:p>
            <a:pPr lvl="1"/>
            <a:r>
              <a:rPr lang="en-US" dirty="0"/>
              <a:t>E.g. A </a:t>
            </a:r>
            <a:r>
              <a:rPr lang="en-US" dirty="0">
                <a:latin typeface="Courier New" panose="02070309020205020404" pitchFamily="49" charset="0"/>
                <a:cs typeface="Courier New" panose="02070309020205020404" pitchFamily="49" charset="0"/>
              </a:rPr>
              <a:t>users</a:t>
            </a:r>
            <a:r>
              <a:rPr lang="en-US" dirty="0"/>
              <a:t> collection, an </a:t>
            </a:r>
            <a:r>
              <a:rPr lang="en-US" dirty="0">
                <a:latin typeface="Courier New" panose="02070309020205020404" pitchFamily="49" charset="0"/>
                <a:cs typeface="Courier New" panose="02070309020205020404" pitchFamily="49" charset="0"/>
              </a:rPr>
              <a:t>orders</a:t>
            </a:r>
            <a:r>
              <a:rPr lang="en-US" dirty="0"/>
              <a:t> collection, etc..</a:t>
            </a:r>
          </a:p>
          <a:p>
            <a:pPr lvl="1"/>
            <a:endParaRPr lang="en-US" dirty="0"/>
          </a:p>
        </p:txBody>
      </p:sp>
      <p:sp>
        <p:nvSpPr>
          <p:cNvPr id="5" name="Title 4">
            <a:extLst>
              <a:ext uri="{FF2B5EF4-FFF2-40B4-BE49-F238E27FC236}">
                <a16:creationId xmlns:a16="http://schemas.microsoft.com/office/drawing/2014/main" id="{E5B2380D-124B-A6A6-89AA-20A51F4861CB}"/>
              </a:ext>
            </a:extLst>
          </p:cNvPr>
          <p:cNvSpPr>
            <a:spLocks noGrp="1"/>
          </p:cNvSpPr>
          <p:nvPr>
            <p:ph type="title"/>
          </p:nvPr>
        </p:nvSpPr>
        <p:spPr/>
        <p:txBody>
          <a:bodyPr/>
          <a:lstStyle/>
          <a:p>
            <a:r>
              <a:rPr lang="en-US" dirty="0"/>
              <a:t>MongoDB Collections</a:t>
            </a:r>
          </a:p>
        </p:txBody>
      </p:sp>
    </p:spTree>
    <p:extLst>
      <p:ext uri="{BB962C8B-B14F-4D97-AF65-F5344CB8AC3E}">
        <p14:creationId xmlns:p14="http://schemas.microsoft.com/office/powerpoint/2010/main" val="92166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6D137-9D93-B9CE-415E-9558ABDF479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5C58204-6602-D4F3-1EFD-091A3428C7B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sp>
        <p:nvSpPr>
          <p:cNvPr id="6" name="Content Placeholder 5">
            <a:extLst>
              <a:ext uri="{FF2B5EF4-FFF2-40B4-BE49-F238E27FC236}">
                <a16:creationId xmlns:a16="http://schemas.microsoft.com/office/drawing/2014/main" id="{C40ACCE0-4862-D0C6-2F60-F7FB1B7EF974}"/>
              </a:ext>
            </a:extLst>
          </p:cNvPr>
          <p:cNvSpPr>
            <a:spLocks noGrp="1"/>
          </p:cNvSpPr>
          <p:nvPr>
            <p:ph idx="1"/>
          </p:nvPr>
        </p:nvSpPr>
        <p:spPr>
          <a:xfrm>
            <a:off x="380010" y="1481446"/>
            <a:ext cx="8383980" cy="5247391"/>
          </a:xfrm>
        </p:spPr>
        <p:txBody>
          <a:bodyPr>
            <a:normAutofit/>
          </a:bodyPr>
          <a:lstStyle/>
          <a:p>
            <a:r>
              <a:rPr lang="en-US" dirty="0"/>
              <a:t>Collection naming rules:</a:t>
            </a:r>
          </a:p>
          <a:p>
            <a:pPr lvl="1"/>
            <a:r>
              <a:rPr lang="en-US" dirty="0"/>
              <a:t>Names are Case-sensitive</a:t>
            </a:r>
          </a:p>
          <a:p>
            <a:pPr lvl="1"/>
            <a:r>
              <a:rPr lang="en-US" dirty="0"/>
              <a:t>Cannot contain the character $</a:t>
            </a:r>
          </a:p>
          <a:p>
            <a:pPr lvl="1"/>
            <a:r>
              <a:rPr lang="en-US" dirty="0"/>
              <a:t>Cannot start with system. (reserved for MongoDB internal use)</a:t>
            </a:r>
          </a:p>
          <a:p>
            <a:pPr lvl="1"/>
            <a:r>
              <a:rPr lang="en-US" dirty="0"/>
              <a:t>Cannot be empty</a:t>
            </a:r>
          </a:p>
          <a:p>
            <a:r>
              <a:rPr lang="en-US" dirty="0"/>
              <a:t>The Best practice when naming collections is to use lowercase, descriptive and plural names.</a:t>
            </a:r>
          </a:p>
          <a:p>
            <a:endParaRPr lang="en-US" dirty="0"/>
          </a:p>
        </p:txBody>
      </p:sp>
      <p:sp>
        <p:nvSpPr>
          <p:cNvPr id="5" name="Title 4">
            <a:extLst>
              <a:ext uri="{FF2B5EF4-FFF2-40B4-BE49-F238E27FC236}">
                <a16:creationId xmlns:a16="http://schemas.microsoft.com/office/drawing/2014/main" id="{B5957079-FBAA-2CDD-40DB-16E75EAC0ECC}"/>
              </a:ext>
            </a:extLst>
          </p:cNvPr>
          <p:cNvSpPr>
            <a:spLocks noGrp="1"/>
          </p:cNvSpPr>
          <p:nvPr>
            <p:ph type="title"/>
          </p:nvPr>
        </p:nvSpPr>
        <p:spPr/>
        <p:txBody>
          <a:bodyPr/>
          <a:lstStyle/>
          <a:p>
            <a:r>
              <a:rPr lang="en-US" dirty="0"/>
              <a:t>MongoDB Collections</a:t>
            </a:r>
          </a:p>
        </p:txBody>
      </p:sp>
    </p:spTree>
    <p:extLst>
      <p:ext uri="{BB962C8B-B14F-4D97-AF65-F5344CB8AC3E}">
        <p14:creationId xmlns:p14="http://schemas.microsoft.com/office/powerpoint/2010/main" val="3497753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974BF-C659-F5B9-428D-B75A583D11F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FD9820E-2325-C44C-0C10-6F1BF64B04D6}"/>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24</a:t>
            </a:fld>
            <a:endParaRPr lang="en-US"/>
          </a:p>
        </p:txBody>
      </p:sp>
      <p:sp>
        <p:nvSpPr>
          <p:cNvPr id="4" name="Google Shape;212;p15">
            <a:extLst>
              <a:ext uri="{FF2B5EF4-FFF2-40B4-BE49-F238E27FC236}">
                <a16:creationId xmlns:a16="http://schemas.microsoft.com/office/drawing/2014/main" id="{2145DAF6-9AE6-56FA-AA66-C0A4AAF6B828}"/>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Collection Management</a:t>
            </a:r>
          </a:p>
        </p:txBody>
      </p:sp>
      <p:pic>
        <p:nvPicPr>
          <p:cNvPr id="6" name="Picture 5">
            <a:extLst>
              <a:ext uri="{FF2B5EF4-FFF2-40B4-BE49-F238E27FC236}">
                <a16:creationId xmlns:a16="http://schemas.microsoft.com/office/drawing/2014/main" id="{6BDEF345-3C20-B52E-3117-A2D631102D00}"/>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6721271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92FEC-66B7-966B-0E00-C3B681FF44A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870A268-38B8-8529-CC19-0066DBB42FF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sp>
        <p:nvSpPr>
          <p:cNvPr id="6" name="Content Placeholder 5">
            <a:extLst>
              <a:ext uri="{FF2B5EF4-FFF2-40B4-BE49-F238E27FC236}">
                <a16:creationId xmlns:a16="http://schemas.microsoft.com/office/drawing/2014/main" id="{FB040A7C-A6AD-BEFF-356E-BE1948C8E84C}"/>
              </a:ext>
            </a:extLst>
          </p:cNvPr>
          <p:cNvSpPr>
            <a:spLocks noGrp="1"/>
          </p:cNvSpPr>
          <p:nvPr>
            <p:ph idx="1"/>
          </p:nvPr>
        </p:nvSpPr>
        <p:spPr/>
        <p:txBody>
          <a:bodyPr>
            <a:normAutofit lnSpcReduction="10000"/>
          </a:bodyPr>
          <a:lstStyle/>
          <a:p>
            <a:r>
              <a:rPr lang="en-US" dirty="0"/>
              <a:t>MongoDB collections can be created in two ways: </a:t>
            </a:r>
          </a:p>
          <a:p>
            <a:pPr lvl="1"/>
            <a:r>
              <a:rPr lang="en-US" b="1" dirty="0"/>
              <a:t>Implicitly</a:t>
            </a:r>
            <a:r>
              <a:rPr lang="en-US" dirty="0"/>
              <a:t> created by inserting a document into a collection that doesn’t exist yet</a:t>
            </a:r>
          </a:p>
          <a:p>
            <a:pPr lvl="1"/>
            <a:r>
              <a:rPr lang="en-US" b="1" dirty="0"/>
              <a:t>Explicitly </a:t>
            </a:r>
            <a:r>
              <a:rPr lang="en-US" dirty="0"/>
              <a:t>created using the </a:t>
            </a:r>
            <a:r>
              <a:rPr lang="en-US" dirty="0" err="1">
                <a:latin typeface="Courier New" panose="02070309020205020404" pitchFamily="49" charset="0"/>
                <a:cs typeface="Courier New" panose="02070309020205020404" pitchFamily="49" charset="0"/>
              </a:rPr>
              <a:t>createCollection</a:t>
            </a:r>
            <a:r>
              <a:rPr lang="en-US" dirty="0">
                <a:latin typeface="Courier New" panose="02070309020205020404" pitchFamily="49" charset="0"/>
                <a:cs typeface="Courier New" panose="02070309020205020404" pitchFamily="49" charset="0"/>
              </a:rPr>
              <a:t>()</a:t>
            </a:r>
            <a:r>
              <a:rPr lang="en-US" dirty="0"/>
              <a:t> function</a:t>
            </a:r>
            <a:endParaRPr lang="en-US" b="1" dirty="0"/>
          </a:p>
          <a:p>
            <a:r>
              <a:rPr lang="en-US" b="1" dirty="0"/>
              <a:t>Implicit </a:t>
            </a:r>
            <a:r>
              <a:rPr lang="en-US" dirty="0"/>
              <a:t>creation is the most common path for everyday development</a:t>
            </a:r>
          </a:p>
          <a:p>
            <a:r>
              <a:rPr lang="en-US" b="1" dirty="0"/>
              <a:t>Explicit</a:t>
            </a:r>
            <a:r>
              <a:rPr lang="en-US" dirty="0"/>
              <a:t> creation is necessary when you need to configure special collection options up front, since these options can’t be added to a collection after the fact through simple insert.</a:t>
            </a:r>
            <a:endParaRPr lang="en-US" b="1" dirty="0"/>
          </a:p>
        </p:txBody>
      </p:sp>
      <p:sp>
        <p:nvSpPr>
          <p:cNvPr id="5" name="Title 4">
            <a:extLst>
              <a:ext uri="{FF2B5EF4-FFF2-40B4-BE49-F238E27FC236}">
                <a16:creationId xmlns:a16="http://schemas.microsoft.com/office/drawing/2014/main" id="{DEBB92D3-88D3-EB2A-28BE-5CC54AE5E6AC}"/>
              </a:ext>
            </a:extLst>
          </p:cNvPr>
          <p:cNvSpPr>
            <a:spLocks noGrp="1"/>
          </p:cNvSpPr>
          <p:nvPr>
            <p:ph type="title"/>
          </p:nvPr>
        </p:nvSpPr>
        <p:spPr/>
        <p:txBody>
          <a:bodyPr/>
          <a:lstStyle/>
          <a:p>
            <a:r>
              <a:rPr lang="en-US" dirty="0"/>
              <a:t>Creating Collections</a:t>
            </a:r>
          </a:p>
        </p:txBody>
      </p:sp>
    </p:spTree>
    <p:extLst>
      <p:ext uri="{BB962C8B-B14F-4D97-AF65-F5344CB8AC3E}">
        <p14:creationId xmlns:p14="http://schemas.microsoft.com/office/powerpoint/2010/main" val="3945337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9A0FA-8B96-2569-249D-590A187F7E0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7F7ADF3-0826-C20A-641A-F80E615CE05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26</a:t>
            </a:fld>
            <a:endParaRPr lang="en-US"/>
          </a:p>
        </p:txBody>
      </p:sp>
      <p:sp>
        <p:nvSpPr>
          <p:cNvPr id="6" name="Content Placeholder 5">
            <a:extLst>
              <a:ext uri="{FF2B5EF4-FFF2-40B4-BE49-F238E27FC236}">
                <a16:creationId xmlns:a16="http://schemas.microsoft.com/office/drawing/2014/main" id="{04372DAA-47A5-EF21-F3F8-990AD5B30E11}"/>
              </a:ext>
            </a:extLst>
          </p:cNvPr>
          <p:cNvSpPr>
            <a:spLocks noGrp="1"/>
          </p:cNvSpPr>
          <p:nvPr>
            <p:ph idx="1"/>
          </p:nvPr>
        </p:nvSpPr>
        <p:spPr/>
        <p:txBody>
          <a:bodyPr>
            <a:normAutofit fontScale="92500" lnSpcReduction="10000"/>
          </a:bodyPr>
          <a:lstStyle/>
          <a:p>
            <a:r>
              <a:rPr lang="en-US" dirty="0"/>
              <a:t>Common </a:t>
            </a:r>
            <a:r>
              <a:rPr lang="en-US" dirty="0" err="1">
                <a:latin typeface="Courier New" panose="02070309020205020404" pitchFamily="49" charset="0"/>
                <a:cs typeface="Courier New" panose="02070309020205020404" pitchFamily="49" charset="0"/>
              </a:rPr>
              <a:t>createCollection</a:t>
            </a:r>
            <a:r>
              <a:rPr lang="en-US" dirty="0">
                <a:latin typeface="Courier New" panose="02070309020205020404" pitchFamily="49" charset="0"/>
                <a:cs typeface="Courier New" panose="02070309020205020404" pitchFamily="49" charset="0"/>
              </a:rPr>
              <a:t>()</a:t>
            </a:r>
            <a:r>
              <a:rPr lang="en-US" dirty="0"/>
              <a:t> options:</a:t>
            </a:r>
          </a:p>
          <a:p>
            <a:pPr lvl="1"/>
            <a:r>
              <a:rPr lang="en-US" b="1" dirty="0">
                <a:latin typeface="Courier New" panose="02070309020205020404" pitchFamily="49" charset="0"/>
                <a:cs typeface="Courier New" panose="02070309020205020404" pitchFamily="49" charset="0"/>
              </a:rPr>
              <a:t>Capped</a:t>
            </a:r>
            <a:r>
              <a:rPr lang="en-US" dirty="0"/>
              <a:t> and </a:t>
            </a:r>
            <a:r>
              <a:rPr lang="en-US" b="1" dirty="0">
                <a:latin typeface="Courier New" panose="02070309020205020404" pitchFamily="49" charset="0"/>
                <a:cs typeface="Courier New" panose="02070309020205020404" pitchFamily="49" charset="0"/>
              </a:rPr>
              <a:t>size</a:t>
            </a:r>
            <a:r>
              <a:rPr lang="en-US" dirty="0"/>
              <a:t>: creates a fixed-size </a:t>
            </a:r>
            <a:r>
              <a:rPr lang="en-US" b="1" dirty="0"/>
              <a:t>capped</a:t>
            </a:r>
            <a:r>
              <a:rPr lang="en-US" dirty="0"/>
              <a:t> collection that automatically discards it’s oldest documents once it reaches the specified size, given in bytes</a:t>
            </a:r>
          </a:p>
          <a:p>
            <a:pPr lvl="1"/>
            <a:r>
              <a:rPr lang="en-US" b="1" dirty="0">
                <a:latin typeface="Courier New" panose="02070309020205020404" pitchFamily="49" charset="0"/>
                <a:cs typeface="Courier New" panose="02070309020205020404" pitchFamily="49" charset="0"/>
              </a:rPr>
              <a:t>Max</a:t>
            </a:r>
            <a:r>
              <a:rPr lang="en-US" dirty="0"/>
              <a:t>: used alongside </a:t>
            </a:r>
            <a:r>
              <a:rPr lang="en-US" b="1" dirty="0"/>
              <a:t>capped</a:t>
            </a:r>
            <a:r>
              <a:rPr lang="en-US" dirty="0"/>
              <a:t>, sets a maximum </a:t>
            </a:r>
            <a:r>
              <a:rPr lang="en-US" b="1" dirty="0"/>
              <a:t>number of documents</a:t>
            </a:r>
            <a:r>
              <a:rPr lang="en-US" dirty="0"/>
              <a:t> the collection can hold in addition to (or instead of) a byte size limit.</a:t>
            </a:r>
          </a:p>
          <a:p>
            <a:pPr lvl="1"/>
            <a:r>
              <a:rPr lang="en-US" b="1" dirty="0">
                <a:latin typeface="Courier New" panose="02070309020205020404" pitchFamily="49" charset="0"/>
                <a:cs typeface="Courier New" panose="02070309020205020404" pitchFamily="49" charset="0"/>
              </a:rPr>
              <a:t>Validator</a:t>
            </a:r>
            <a:r>
              <a:rPr lang="en-US" dirty="0"/>
              <a:t>: defines schema validation rules, allowing you to require certain fields, enforce data types, or set other structural constraints on documents inserted into the collection.</a:t>
            </a:r>
          </a:p>
          <a:p>
            <a:pPr lvl="1"/>
            <a:r>
              <a:rPr lang="en-US" b="1" dirty="0">
                <a:latin typeface="Courier New" panose="02070309020205020404" pitchFamily="49" charset="0"/>
                <a:cs typeface="Courier New" panose="02070309020205020404" pitchFamily="49" charset="0"/>
              </a:rPr>
              <a:t>Timeseries</a:t>
            </a:r>
            <a:r>
              <a:rPr lang="en-US" dirty="0"/>
              <a:t>: creates a specialized </a:t>
            </a:r>
            <a:r>
              <a:rPr lang="en-US" b="1" dirty="0"/>
              <a:t>time series</a:t>
            </a:r>
            <a:r>
              <a:rPr lang="en-US" dirty="0"/>
              <a:t> collection, optimized for storing and querying timestamped data.</a:t>
            </a:r>
          </a:p>
        </p:txBody>
      </p:sp>
      <p:sp>
        <p:nvSpPr>
          <p:cNvPr id="5" name="Title 4">
            <a:extLst>
              <a:ext uri="{FF2B5EF4-FFF2-40B4-BE49-F238E27FC236}">
                <a16:creationId xmlns:a16="http://schemas.microsoft.com/office/drawing/2014/main" id="{F26B5BA4-49E8-D985-DA11-04A5CC135CFC}"/>
              </a:ext>
            </a:extLst>
          </p:cNvPr>
          <p:cNvSpPr>
            <a:spLocks noGrp="1"/>
          </p:cNvSpPr>
          <p:nvPr>
            <p:ph type="title"/>
          </p:nvPr>
        </p:nvSpPr>
        <p:spPr/>
        <p:txBody>
          <a:bodyPr/>
          <a:lstStyle/>
          <a:p>
            <a:r>
              <a:rPr lang="en-US" dirty="0"/>
              <a:t>Explicit Collection options</a:t>
            </a:r>
          </a:p>
        </p:txBody>
      </p:sp>
    </p:spTree>
    <p:extLst>
      <p:ext uri="{BB962C8B-B14F-4D97-AF65-F5344CB8AC3E}">
        <p14:creationId xmlns:p14="http://schemas.microsoft.com/office/powerpoint/2010/main" val="69526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CB3CB-68CC-3F18-E9C9-D4E3D2C58D6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87E3F32-8344-CDD9-8C43-17685658E93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27</a:t>
            </a:fld>
            <a:endParaRPr lang="en-US"/>
          </a:p>
        </p:txBody>
      </p:sp>
      <p:sp>
        <p:nvSpPr>
          <p:cNvPr id="6" name="Content Placeholder 5">
            <a:extLst>
              <a:ext uri="{FF2B5EF4-FFF2-40B4-BE49-F238E27FC236}">
                <a16:creationId xmlns:a16="http://schemas.microsoft.com/office/drawing/2014/main" id="{25C7F130-7C03-FCB1-0312-19C58117A6AD}"/>
              </a:ext>
            </a:extLst>
          </p:cNvPr>
          <p:cNvSpPr>
            <a:spLocks noGrp="1"/>
          </p:cNvSpPr>
          <p:nvPr>
            <p:ph idx="1"/>
          </p:nvPr>
        </p:nvSpPr>
        <p:spPr>
          <a:xfrm>
            <a:off x="380010" y="1497773"/>
            <a:ext cx="8383980" cy="5231063"/>
          </a:xfrm>
        </p:spPr>
        <p:txBody>
          <a:bodyPr>
            <a:normAutofit fontScale="85000" lnSpcReduction="20000"/>
          </a:bodyPr>
          <a:lstStyle/>
          <a:p>
            <a:r>
              <a:rPr lang="en-US" dirty="0"/>
              <a:t>The </a:t>
            </a:r>
            <a:r>
              <a:rPr lang="en-US" b="1" dirty="0"/>
              <a:t>Validator</a:t>
            </a:r>
            <a:r>
              <a:rPr lang="en-US" dirty="0"/>
              <a:t> is MongoDB’s built-in way to add </a:t>
            </a:r>
            <a:r>
              <a:rPr lang="en-US" i="1" dirty="0"/>
              <a:t>some</a:t>
            </a:r>
            <a:r>
              <a:rPr lang="en-US" dirty="0"/>
              <a:t> structure enforcement to an otherwise flexible-schema collection.</a:t>
            </a:r>
          </a:p>
          <a:p>
            <a:pPr lvl="1"/>
            <a:r>
              <a:rPr lang="en-US" b="1" dirty="0"/>
              <a:t>Note: </a:t>
            </a:r>
            <a:r>
              <a:rPr lang="en-US" dirty="0"/>
              <a:t>the validator is note quite as strict as a relational database’s “all-or-nothing” schema design</a:t>
            </a:r>
          </a:p>
          <a:p>
            <a:r>
              <a:rPr lang="en-US" dirty="0"/>
              <a:t>Schema validation rules are set using the </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jsonSchema</a:t>
            </a:r>
            <a:r>
              <a:rPr lang="en-US" dirty="0"/>
              <a:t> operator</a:t>
            </a:r>
          </a:p>
          <a:p>
            <a:r>
              <a:rPr lang="en-US" dirty="0"/>
              <a:t>The schema validation rules include:</a:t>
            </a:r>
          </a:p>
          <a:p>
            <a:pPr lvl="1"/>
            <a:r>
              <a:rPr lang="en-US" dirty="0" err="1">
                <a:latin typeface="Courier New" panose="02070309020205020404" pitchFamily="49" charset="0"/>
                <a:cs typeface="Courier New" panose="02070309020205020404" pitchFamily="49" charset="0"/>
              </a:rPr>
              <a:t>bsonType</a:t>
            </a:r>
            <a:r>
              <a:rPr lang="en-US" dirty="0"/>
              <a:t>: datatype accepted</a:t>
            </a:r>
          </a:p>
          <a:p>
            <a:pPr lvl="1"/>
            <a:r>
              <a:rPr lang="en-US" dirty="0">
                <a:latin typeface="Courier New" panose="02070309020205020404" pitchFamily="49" charset="0"/>
                <a:cs typeface="Courier New" panose="02070309020205020404" pitchFamily="49" charset="0"/>
              </a:rPr>
              <a:t>required</a:t>
            </a:r>
            <a:r>
              <a:rPr lang="en-US" dirty="0"/>
              <a:t>: list of fields which require non-null values when inserted </a:t>
            </a:r>
          </a:p>
          <a:p>
            <a:pPr lvl="1"/>
            <a:r>
              <a:rPr lang="en-US" dirty="0">
                <a:latin typeface="Courier New" panose="02070309020205020404" pitchFamily="49" charset="0"/>
                <a:cs typeface="Courier New" panose="02070309020205020404" pitchFamily="49" charset="0"/>
              </a:rPr>
              <a:t>Title &amp; description</a:t>
            </a:r>
            <a:r>
              <a:rPr lang="en-US" dirty="0"/>
              <a:t>: fields used to explain validation rules that are not immediately clear.</a:t>
            </a:r>
          </a:p>
          <a:p>
            <a:r>
              <a:rPr lang="en-US" dirty="0"/>
              <a:t>When deciding whether to create a collection implicitly or explicitly, it is worth asking: </a:t>
            </a:r>
            <a:r>
              <a:rPr lang="en-US" i="1" dirty="0"/>
              <a:t>does this collection need special behavior or limits?</a:t>
            </a:r>
            <a:endParaRPr lang="en-US" dirty="0"/>
          </a:p>
        </p:txBody>
      </p:sp>
      <p:sp>
        <p:nvSpPr>
          <p:cNvPr id="5" name="Title 4">
            <a:extLst>
              <a:ext uri="{FF2B5EF4-FFF2-40B4-BE49-F238E27FC236}">
                <a16:creationId xmlns:a16="http://schemas.microsoft.com/office/drawing/2014/main" id="{1EC1CA01-CDC0-B1D4-FCE1-F30EBB1B4CD6}"/>
              </a:ext>
            </a:extLst>
          </p:cNvPr>
          <p:cNvSpPr>
            <a:spLocks noGrp="1"/>
          </p:cNvSpPr>
          <p:nvPr>
            <p:ph type="title"/>
          </p:nvPr>
        </p:nvSpPr>
        <p:spPr/>
        <p:txBody>
          <a:bodyPr/>
          <a:lstStyle/>
          <a:p>
            <a:r>
              <a:rPr lang="en-US" dirty="0"/>
              <a:t>Schema Validation</a:t>
            </a:r>
          </a:p>
        </p:txBody>
      </p:sp>
    </p:spTree>
    <p:extLst>
      <p:ext uri="{BB962C8B-B14F-4D97-AF65-F5344CB8AC3E}">
        <p14:creationId xmlns:p14="http://schemas.microsoft.com/office/powerpoint/2010/main" val="989082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72182-B130-8B97-FEAF-8E9E3EDE852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128E0D-8CFC-3555-DF80-86E52BDC2FE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28</a:t>
            </a:fld>
            <a:endParaRPr lang="en-US"/>
          </a:p>
        </p:txBody>
      </p:sp>
      <p:sp>
        <p:nvSpPr>
          <p:cNvPr id="5" name="Title 4">
            <a:extLst>
              <a:ext uri="{FF2B5EF4-FFF2-40B4-BE49-F238E27FC236}">
                <a16:creationId xmlns:a16="http://schemas.microsoft.com/office/drawing/2014/main" id="{0541D291-0D36-232D-FE17-E39C63D68442}"/>
              </a:ext>
            </a:extLst>
          </p:cNvPr>
          <p:cNvSpPr>
            <a:spLocks noGrp="1"/>
          </p:cNvSpPr>
          <p:nvPr>
            <p:ph type="title"/>
          </p:nvPr>
        </p:nvSpPr>
        <p:spPr/>
        <p:txBody>
          <a:bodyPr/>
          <a:lstStyle/>
          <a:p>
            <a:r>
              <a:rPr lang="en-US" dirty="0"/>
              <a:t>Schema Validation</a:t>
            </a:r>
          </a:p>
        </p:txBody>
      </p:sp>
      <p:sp>
        <p:nvSpPr>
          <p:cNvPr id="2" name="Google Shape;219;p16">
            <a:extLst>
              <a:ext uri="{FF2B5EF4-FFF2-40B4-BE49-F238E27FC236}">
                <a16:creationId xmlns:a16="http://schemas.microsoft.com/office/drawing/2014/main" id="{7337AE66-BB7B-EFA6-C09C-7E438FF402C5}"/>
              </a:ext>
            </a:extLst>
          </p:cNvPr>
          <p:cNvSpPr txBox="1">
            <a:spLocks/>
          </p:cNvSpPr>
          <p:nvPr/>
        </p:nvSpPr>
        <p:spPr>
          <a:xfrm>
            <a:off x="269791" y="1802040"/>
            <a:ext cx="8604417" cy="4561672"/>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0" lvl="0" indent="0">
              <a:lnSpc>
                <a:spcPct val="90000"/>
              </a:lnSpc>
              <a:spcBef>
                <a:spcPts val="360"/>
              </a:spcBef>
              <a:buSzPts val="1800"/>
              <a:buNone/>
            </a:pPr>
            <a:r>
              <a:rPr lang="en-US" sz="1800" dirty="0" err="1">
                <a:solidFill>
                  <a:srgbClr val="474C55"/>
                </a:solidFill>
                <a:latin typeface="Courier New"/>
                <a:ea typeface="Courier New"/>
                <a:cs typeface="Courier New"/>
                <a:sym typeface="Courier New"/>
              </a:rPr>
              <a:t>db.createCollection</a:t>
            </a:r>
            <a:r>
              <a:rPr lang="en-US" sz="1800" dirty="0">
                <a:solidFill>
                  <a:srgbClr val="474C55"/>
                </a:solidFill>
                <a:latin typeface="Courier New"/>
                <a:ea typeface="Courier New"/>
                <a:cs typeface="Courier New"/>
                <a:sym typeface="Courier New"/>
              </a:rPr>
              <a:t>(“contacts”, {</a:t>
            </a:r>
          </a:p>
          <a:p>
            <a:pPr marL="0" lvl="0" indent="0">
              <a:lnSpc>
                <a:spcPct val="90000"/>
              </a:lnSpc>
              <a:spcBef>
                <a:spcPts val="360"/>
              </a:spcBef>
              <a:buSzPts val="1800"/>
              <a:buNone/>
            </a:pPr>
            <a:r>
              <a:rPr lang="en-US" sz="1800" dirty="0">
                <a:solidFill>
                  <a:srgbClr val="474C55"/>
                </a:solidFill>
                <a:latin typeface="Courier New"/>
                <a:ea typeface="Courier New"/>
                <a:cs typeface="Courier New"/>
                <a:sym typeface="Courier New"/>
              </a:rPr>
              <a:t>  validator: {</a:t>
            </a:r>
          </a:p>
          <a:p>
            <a:pPr marL="0" lvl="0" indent="0">
              <a:lnSpc>
                <a:spcPct val="90000"/>
              </a:lnSpc>
              <a:spcBef>
                <a:spcPts val="360"/>
              </a:spcBef>
              <a:buSzPts val="1800"/>
              <a:buNone/>
            </a:pPr>
            <a:r>
              <a:rPr lang="en-US" sz="1800" dirty="0">
                <a:solidFill>
                  <a:srgbClr val="474C55"/>
                </a:solidFill>
                <a:latin typeface="Courier New"/>
                <a:ea typeface="Courier New"/>
                <a:cs typeface="Courier New"/>
                <a:sym typeface="Courier New"/>
              </a:rPr>
              <a:t>    $</a:t>
            </a:r>
            <a:r>
              <a:rPr lang="en-US" sz="1800" dirty="0" err="1">
                <a:solidFill>
                  <a:srgbClr val="474C55"/>
                </a:solidFill>
                <a:latin typeface="Courier New"/>
                <a:ea typeface="Courier New"/>
                <a:cs typeface="Courier New"/>
                <a:sym typeface="Courier New"/>
              </a:rPr>
              <a:t>jsonSchema</a:t>
            </a:r>
            <a:r>
              <a:rPr lang="en-US" sz="1800" dirty="0">
                <a:solidFill>
                  <a:srgbClr val="474C55"/>
                </a:solidFill>
                <a:latin typeface="Courier New"/>
                <a:ea typeface="Courier New"/>
                <a:cs typeface="Courier New"/>
                <a:sym typeface="Courier New"/>
              </a:rPr>
              <a:t>: {</a:t>
            </a:r>
          </a:p>
          <a:p>
            <a:pPr marL="0" lvl="0" indent="0">
              <a:lnSpc>
                <a:spcPct val="90000"/>
              </a:lnSpc>
              <a:spcBef>
                <a:spcPts val="360"/>
              </a:spcBef>
              <a:buSzPts val="1800"/>
              <a:buNone/>
            </a:pPr>
            <a:r>
              <a:rPr lang="en-US" sz="1800" dirty="0">
                <a:solidFill>
                  <a:srgbClr val="474C55"/>
                </a:solidFill>
                <a:latin typeface="Courier New"/>
                <a:ea typeface="Courier New"/>
                <a:cs typeface="Courier New"/>
                <a:sym typeface="Courier New"/>
              </a:rPr>
              <a:t>      </a:t>
            </a:r>
            <a:r>
              <a:rPr lang="en-US" sz="1800" dirty="0" err="1">
                <a:solidFill>
                  <a:srgbClr val="474C55"/>
                </a:solidFill>
                <a:latin typeface="Courier New"/>
                <a:ea typeface="Courier New"/>
                <a:cs typeface="Courier New"/>
                <a:sym typeface="Courier New"/>
              </a:rPr>
              <a:t>bsonType</a:t>
            </a:r>
            <a:r>
              <a:rPr lang="en-US" sz="1800" dirty="0">
                <a:solidFill>
                  <a:srgbClr val="474C55"/>
                </a:solidFill>
                <a:latin typeface="Courier New"/>
                <a:ea typeface="Courier New"/>
                <a:cs typeface="Courier New"/>
                <a:sym typeface="Courier New"/>
              </a:rPr>
              <a:t>: “object”,</a:t>
            </a:r>
          </a:p>
          <a:p>
            <a:pPr marL="0" lvl="0" indent="0">
              <a:lnSpc>
                <a:spcPct val="90000"/>
              </a:lnSpc>
              <a:spcBef>
                <a:spcPts val="360"/>
              </a:spcBef>
              <a:buSzPts val="1800"/>
              <a:buNone/>
            </a:pPr>
            <a:r>
              <a:rPr lang="en-US" sz="1800" dirty="0">
                <a:solidFill>
                  <a:srgbClr val="474C55"/>
                </a:solidFill>
                <a:latin typeface="Courier New"/>
                <a:ea typeface="Courier New"/>
                <a:cs typeface="Courier New"/>
                <a:sym typeface="Courier New"/>
              </a:rPr>
              <a:t>      title: “Contact Validation Rules”,</a:t>
            </a:r>
          </a:p>
          <a:p>
            <a:pPr marL="0" lvl="0" indent="0">
              <a:lnSpc>
                <a:spcPct val="90000"/>
              </a:lnSpc>
              <a:spcBef>
                <a:spcPts val="360"/>
              </a:spcBef>
              <a:buSzPts val="1800"/>
              <a:buNone/>
            </a:pPr>
            <a:r>
              <a:rPr lang="en-US" sz="1800" dirty="0">
                <a:solidFill>
                  <a:srgbClr val="474C55"/>
                </a:solidFill>
                <a:latin typeface="Courier New"/>
                <a:ea typeface="Courier New"/>
                <a:cs typeface="Courier New"/>
                <a:sym typeface="Courier New"/>
              </a:rPr>
              <a:t>      required: [“name”, “email”],</a:t>
            </a:r>
          </a:p>
          <a:p>
            <a:pPr marL="0" lvl="0" indent="0">
              <a:lnSpc>
                <a:spcPct val="90000"/>
              </a:lnSpc>
              <a:spcBef>
                <a:spcPts val="360"/>
              </a:spcBef>
              <a:buSzPts val="1800"/>
              <a:buNone/>
            </a:pPr>
            <a:r>
              <a:rPr lang="en-US" sz="1800" dirty="0">
                <a:solidFill>
                  <a:srgbClr val="474C55"/>
                </a:solidFill>
                <a:latin typeface="Courier New"/>
                <a:ea typeface="Courier New"/>
                <a:cs typeface="Courier New"/>
                <a:sym typeface="Courier New"/>
              </a:rPr>
              <a:t>      properties: {</a:t>
            </a:r>
          </a:p>
          <a:p>
            <a:pPr marL="0" lvl="0" indent="0">
              <a:lnSpc>
                <a:spcPct val="90000"/>
              </a:lnSpc>
              <a:spcBef>
                <a:spcPts val="360"/>
              </a:spcBef>
              <a:buSzPts val="1800"/>
              <a:buNone/>
            </a:pPr>
            <a:r>
              <a:rPr lang="en-US" sz="1800" dirty="0">
                <a:solidFill>
                  <a:srgbClr val="474C55"/>
                </a:solidFill>
                <a:latin typeface="Courier New"/>
                <a:ea typeface="Courier New"/>
                <a:cs typeface="Courier New"/>
                <a:sym typeface="Courier New"/>
              </a:rPr>
              <a:t>        name: { </a:t>
            </a:r>
            <a:r>
              <a:rPr lang="en-US" sz="1800" dirty="0" err="1">
                <a:solidFill>
                  <a:srgbClr val="474C55"/>
                </a:solidFill>
                <a:latin typeface="Courier New"/>
                <a:ea typeface="Courier New"/>
                <a:cs typeface="Courier New"/>
                <a:sym typeface="Courier New"/>
              </a:rPr>
              <a:t>bsonType</a:t>
            </a:r>
            <a:r>
              <a:rPr lang="en-US" sz="1800" dirty="0">
                <a:solidFill>
                  <a:srgbClr val="474C55"/>
                </a:solidFill>
                <a:latin typeface="Courier New"/>
                <a:ea typeface="Courier New"/>
                <a:cs typeface="Courier New"/>
                <a:sym typeface="Courier New"/>
              </a:rPr>
              <a:t>: “string”},</a:t>
            </a:r>
          </a:p>
          <a:p>
            <a:pPr marL="0" lvl="0" indent="0">
              <a:lnSpc>
                <a:spcPct val="90000"/>
              </a:lnSpc>
              <a:spcBef>
                <a:spcPts val="360"/>
              </a:spcBef>
              <a:buSzPts val="1800"/>
              <a:buNone/>
            </a:pPr>
            <a:r>
              <a:rPr lang="en-US" sz="1800" dirty="0">
                <a:solidFill>
                  <a:srgbClr val="474C55"/>
                </a:solidFill>
                <a:latin typeface="Courier New"/>
                <a:ea typeface="Courier New"/>
                <a:cs typeface="Courier New"/>
                <a:sym typeface="Courier New"/>
              </a:rPr>
              <a:t>        email: { </a:t>
            </a:r>
            <a:r>
              <a:rPr lang="en-US" sz="1800" dirty="0" err="1">
                <a:solidFill>
                  <a:srgbClr val="474C55"/>
                </a:solidFill>
                <a:latin typeface="Courier New"/>
                <a:ea typeface="Courier New"/>
                <a:cs typeface="Courier New"/>
                <a:sym typeface="Courier New"/>
              </a:rPr>
              <a:t>bsonType</a:t>
            </a:r>
            <a:r>
              <a:rPr lang="en-US" sz="1800" dirty="0">
                <a:solidFill>
                  <a:srgbClr val="474C55"/>
                </a:solidFill>
                <a:latin typeface="Courier New"/>
                <a:ea typeface="Courier New"/>
                <a:cs typeface="Courier New"/>
                <a:sym typeface="Courier New"/>
              </a:rPr>
              <a:t>: “string”, description: “must be a string and is required” }</a:t>
            </a:r>
          </a:p>
          <a:p>
            <a:pPr marL="0" lvl="0" indent="0">
              <a:lnSpc>
                <a:spcPct val="90000"/>
              </a:lnSpc>
              <a:spcBef>
                <a:spcPts val="360"/>
              </a:spcBef>
              <a:buSzPts val="1800"/>
              <a:buNone/>
            </a:pPr>
            <a:r>
              <a:rPr lang="en-US" sz="1800" dirty="0">
                <a:solidFill>
                  <a:srgbClr val="474C55"/>
                </a:solidFill>
                <a:latin typeface="Courier New"/>
                <a:ea typeface="Courier New"/>
                <a:cs typeface="Courier New"/>
                <a:sym typeface="Courier New"/>
              </a:rPr>
              <a:t>       }</a:t>
            </a:r>
          </a:p>
          <a:p>
            <a:pPr marL="0" lvl="0" indent="0">
              <a:lnSpc>
                <a:spcPct val="90000"/>
              </a:lnSpc>
              <a:spcBef>
                <a:spcPts val="360"/>
              </a:spcBef>
              <a:buSzPts val="1800"/>
              <a:buNone/>
            </a:pPr>
            <a:r>
              <a:rPr lang="en-US" sz="1800" dirty="0">
                <a:solidFill>
                  <a:srgbClr val="474C55"/>
                </a:solidFill>
                <a:latin typeface="Courier New"/>
                <a:ea typeface="Courier New"/>
                <a:cs typeface="Courier New"/>
                <a:sym typeface="Courier New"/>
              </a:rPr>
              <a:t>    }</a:t>
            </a:r>
          </a:p>
          <a:p>
            <a:pPr marL="0" lvl="0" indent="0">
              <a:lnSpc>
                <a:spcPct val="90000"/>
              </a:lnSpc>
              <a:spcBef>
                <a:spcPts val="360"/>
              </a:spcBef>
              <a:buSzPts val="1800"/>
              <a:buNone/>
            </a:pPr>
            <a:r>
              <a:rPr lang="en-US" sz="1800" dirty="0">
                <a:solidFill>
                  <a:srgbClr val="474C55"/>
                </a:solidFill>
                <a:latin typeface="Courier New"/>
                <a:ea typeface="Courier New"/>
                <a:cs typeface="Courier New"/>
                <a:sym typeface="Courier New"/>
              </a:rPr>
              <a:t>  }</a:t>
            </a:r>
          </a:p>
          <a:p>
            <a:pPr marL="0" lvl="0" indent="0">
              <a:lnSpc>
                <a:spcPct val="90000"/>
              </a:lnSpc>
              <a:spcBef>
                <a:spcPts val="360"/>
              </a:spcBef>
              <a:buSzPts val="1800"/>
              <a:buNone/>
            </a:pPr>
            <a:r>
              <a:rPr lang="en-US" sz="1800" dirty="0">
                <a:solidFill>
                  <a:srgbClr val="474C55"/>
                </a:solidFill>
                <a:latin typeface="Courier New"/>
                <a:ea typeface="Courier New"/>
                <a:cs typeface="Courier New"/>
                <a:sym typeface="Courier New"/>
              </a:rPr>
              <a:t>});</a:t>
            </a:r>
            <a:endParaRPr lang="en-US" dirty="0">
              <a:solidFill>
                <a:srgbClr val="474C55"/>
              </a:solidFill>
            </a:endParaRPr>
          </a:p>
        </p:txBody>
      </p:sp>
    </p:spTree>
    <p:extLst>
      <p:ext uri="{BB962C8B-B14F-4D97-AF65-F5344CB8AC3E}">
        <p14:creationId xmlns:p14="http://schemas.microsoft.com/office/powerpoint/2010/main" val="3980975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C3754-243F-23F7-A6E3-8A99C1E4907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7DB8195-F478-54B0-4E82-564425B81D1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29</a:t>
            </a:fld>
            <a:endParaRPr lang="en-US"/>
          </a:p>
        </p:txBody>
      </p:sp>
      <p:sp>
        <p:nvSpPr>
          <p:cNvPr id="6" name="Content Placeholder 5">
            <a:extLst>
              <a:ext uri="{FF2B5EF4-FFF2-40B4-BE49-F238E27FC236}">
                <a16:creationId xmlns:a16="http://schemas.microsoft.com/office/drawing/2014/main" id="{778C095F-EDA3-A7A2-0DA9-4CCFAF2B373D}"/>
              </a:ext>
            </a:extLst>
          </p:cNvPr>
          <p:cNvSpPr>
            <a:spLocks noGrp="1"/>
          </p:cNvSpPr>
          <p:nvPr>
            <p:ph idx="1"/>
          </p:nvPr>
        </p:nvSpPr>
        <p:spPr>
          <a:xfrm>
            <a:off x="380010" y="1497773"/>
            <a:ext cx="8383980" cy="5231063"/>
          </a:xfrm>
        </p:spPr>
        <p:txBody>
          <a:bodyPr>
            <a:normAutofit fontScale="77500" lnSpcReduction="20000"/>
          </a:bodyPr>
          <a:lstStyle/>
          <a:p>
            <a:r>
              <a:rPr lang="en-US" dirty="0"/>
              <a:t>Once a collection exists, MongoDB provides several functions for managing, inspecting and eventually removing it.</a:t>
            </a:r>
          </a:p>
          <a:p>
            <a:r>
              <a:rPr lang="en-US" dirty="0" err="1">
                <a:latin typeface="Courier New" panose="02070309020205020404" pitchFamily="49" charset="0"/>
                <a:cs typeface="Courier New" panose="02070309020205020404" pitchFamily="49" charset="0"/>
              </a:rPr>
              <a:t>renameCollection</a:t>
            </a:r>
            <a:r>
              <a:rPr lang="en-US" dirty="0">
                <a:latin typeface="Courier New" panose="02070309020205020404" pitchFamily="49" charset="0"/>
                <a:cs typeface="Courier New" panose="02070309020205020404" pitchFamily="49" charset="0"/>
              </a:rPr>
              <a:t>()</a:t>
            </a:r>
            <a:r>
              <a:rPr lang="en-US" dirty="0"/>
              <a:t>: renames an existing collection.</a:t>
            </a:r>
          </a:p>
          <a:p>
            <a:pPr lvl="1"/>
            <a:r>
              <a:rPr lang="en-US" dirty="0"/>
              <a:t>Note: renaming a collection should be used with caution. Any existing application code referencing the old name should be updated accordingly, otherwise a new collection may be implicitly created.</a:t>
            </a:r>
          </a:p>
          <a:p>
            <a:r>
              <a:rPr lang="en-US" dirty="0">
                <a:latin typeface="Courier New" panose="02070309020205020404" pitchFamily="49" charset="0"/>
                <a:cs typeface="Courier New" panose="02070309020205020404" pitchFamily="49" charset="0"/>
              </a:rPr>
              <a:t>drop()</a:t>
            </a:r>
            <a:r>
              <a:rPr lang="en-US" dirty="0"/>
              <a:t>: permanently deletes a collection </a:t>
            </a:r>
            <a:r>
              <a:rPr lang="en-US" b="1" i="1" dirty="0"/>
              <a:t>and all of its documents</a:t>
            </a:r>
            <a:r>
              <a:rPr lang="en-US" dirty="0"/>
              <a:t>.</a:t>
            </a:r>
          </a:p>
          <a:p>
            <a:pPr lvl="1"/>
            <a:r>
              <a:rPr lang="en-US" dirty="0"/>
              <a:t>Note: This action is irreversible, so it should be used deliberately and with caution.</a:t>
            </a:r>
          </a:p>
          <a:p>
            <a:r>
              <a:rPr lang="en-US" dirty="0">
                <a:latin typeface="Courier New" panose="02070309020205020404" pitchFamily="49" charset="0"/>
                <a:cs typeface="Courier New" panose="02070309020205020404" pitchFamily="49" charset="0"/>
              </a:rPr>
              <a:t>stats()</a:t>
            </a:r>
            <a:r>
              <a:rPr lang="en-US" dirty="0"/>
              <a:t>: returns statistics about a collection, including document count, average document size, total storage size, and index sizes.</a:t>
            </a:r>
          </a:p>
          <a:p>
            <a:pPr lvl="1"/>
            <a:r>
              <a:rPr lang="en-US" dirty="0"/>
              <a:t>Useful for monitoring collection growth and diagnosing performance</a:t>
            </a:r>
          </a:p>
          <a:p>
            <a:r>
              <a:rPr lang="en-US" dirty="0">
                <a:latin typeface="Courier New" panose="02070309020205020404" pitchFamily="49" charset="0"/>
                <a:cs typeface="Courier New" panose="02070309020205020404" pitchFamily="49" charset="0"/>
              </a:rPr>
              <a:t>validate()</a:t>
            </a:r>
            <a:r>
              <a:rPr lang="en-US" dirty="0"/>
              <a:t>: checks a collection’s internal structure for inconsistencies or corruption</a:t>
            </a:r>
          </a:p>
          <a:p>
            <a:pPr lvl="1"/>
            <a:r>
              <a:rPr lang="en-US" dirty="0"/>
              <a:t>Primarily serves as a diagnostic/troubleshooting tool</a:t>
            </a:r>
          </a:p>
        </p:txBody>
      </p:sp>
      <p:sp>
        <p:nvSpPr>
          <p:cNvPr id="5" name="Title 4">
            <a:extLst>
              <a:ext uri="{FF2B5EF4-FFF2-40B4-BE49-F238E27FC236}">
                <a16:creationId xmlns:a16="http://schemas.microsoft.com/office/drawing/2014/main" id="{3642F1D0-81D7-28D2-8D1C-DE64C32D3D0D}"/>
              </a:ext>
            </a:extLst>
          </p:cNvPr>
          <p:cNvSpPr>
            <a:spLocks noGrp="1"/>
          </p:cNvSpPr>
          <p:nvPr>
            <p:ph type="title"/>
          </p:nvPr>
        </p:nvSpPr>
        <p:spPr/>
        <p:txBody>
          <a:bodyPr/>
          <a:lstStyle/>
          <a:p>
            <a:r>
              <a:rPr lang="en-US" dirty="0"/>
              <a:t>Collection Maintenance</a:t>
            </a:r>
          </a:p>
        </p:txBody>
      </p:sp>
    </p:spTree>
    <p:extLst>
      <p:ext uri="{BB962C8B-B14F-4D97-AF65-F5344CB8AC3E}">
        <p14:creationId xmlns:p14="http://schemas.microsoft.com/office/powerpoint/2010/main" val="335560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4B68D-F813-1D25-BAF4-85BC714760A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63CDC9C-4836-C633-AD08-6810739B4F6A}"/>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30</a:t>
            </a:fld>
            <a:endParaRPr lang="en-US"/>
          </a:p>
        </p:txBody>
      </p:sp>
      <p:sp>
        <p:nvSpPr>
          <p:cNvPr id="4" name="Google Shape;212;p15">
            <a:extLst>
              <a:ext uri="{FF2B5EF4-FFF2-40B4-BE49-F238E27FC236}">
                <a16:creationId xmlns:a16="http://schemas.microsoft.com/office/drawing/2014/main" id="{276B3210-7C4B-3E43-1694-F4FEE2D00366}"/>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CRUD | Creation</a:t>
            </a:r>
          </a:p>
        </p:txBody>
      </p:sp>
      <p:pic>
        <p:nvPicPr>
          <p:cNvPr id="6" name="Picture 5">
            <a:extLst>
              <a:ext uri="{FF2B5EF4-FFF2-40B4-BE49-F238E27FC236}">
                <a16:creationId xmlns:a16="http://schemas.microsoft.com/office/drawing/2014/main" id="{66C4AB0E-01C8-52F1-D2AE-53C80587FDDA}"/>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29219358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F7F46-12E5-3AA9-B797-56B4839D2C5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0887A72-AF3E-9A90-DC7A-5C7F736C467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31</a:t>
            </a:fld>
            <a:endParaRPr lang="en-US"/>
          </a:p>
        </p:txBody>
      </p:sp>
      <p:sp>
        <p:nvSpPr>
          <p:cNvPr id="6" name="Content Placeholder 5">
            <a:extLst>
              <a:ext uri="{FF2B5EF4-FFF2-40B4-BE49-F238E27FC236}">
                <a16:creationId xmlns:a16="http://schemas.microsoft.com/office/drawing/2014/main" id="{B1D92EC2-540E-1CD4-E313-CEEFBE78F3AC}"/>
              </a:ext>
            </a:extLst>
          </p:cNvPr>
          <p:cNvSpPr>
            <a:spLocks noGrp="1"/>
          </p:cNvSpPr>
          <p:nvPr>
            <p:ph idx="1"/>
          </p:nvPr>
        </p:nvSpPr>
        <p:spPr>
          <a:xfrm>
            <a:off x="380010" y="1481445"/>
            <a:ext cx="8383980" cy="5247391"/>
          </a:xfrm>
        </p:spPr>
        <p:txBody>
          <a:bodyPr>
            <a:normAutofit fontScale="85000" lnSpcReduction="20000"/>
          </a:bodyPr>
          <a:lstStyle/>
          <a:p>
            <a:r>
              <a:rPr lang="en-US" dirty="0"/>
              <a:t>MongoDB support Create, Read, Update and Delete (CRUD) operations, much like relational databases.</a:t>
            </a:r>
          </a:p>
          <a:p>
            <a:r>
              <a:rPr lang="en-US" dirty="0"/>
              <a:t>Creation (insertion) is done using one of two insert functions:</a:t>
            </a:r>
          </a:p>
          <a:p>
            <a:r>
              <a:rPr lang="en-US" dirty="0" err="1">
                <a:latin typeface="Courier New" panose="02070309020205020404" pitchFamily="49" charset="0"/>
                <a:cs typeface="Courier New" panose="02070309020205020404" pitchFamily="49" charset="0"/>
              </a:rPr>
              <a:t>insertOne</a:t>
            </a:r>
            <a:r>
              <a:rPr lang="en-US" dirty="0">
                <a:latin typeface="Courier New" panose="02070309020205020404" pitchFamily="49" charset="0"/>
                <a:cs typeface="Courier New" panose="02070309020205020404" pitchFamily="49" charset="0"/>
              </a:rPr>
              <a:t>()</a:t>
            </a:r>
            <a:r>
              <a:rPr lang="en-US" dirty="0"/>
              <a:t>: inserts a single document into a collections. Returns an acknowledgement object that includes the newly created document’s </a:t>
            </a:r>
            <a:r>
              <a:rPr lang="en-US" dirty="0">
                <a:latin typeface="Courier New" panose="02070309020205020404" pitchFamily="49" charset="0"/>
                <a:cs typeface="Courier New" panose="02070309020205020404" pitchFamily="49" charset="0"/>
              </a:rPr>
              <a:t>_id</a:t>
            </a:r>
          </a:p>
          <a:p>
            <a:pPr lvl="1"/>
            <a:r>
              <a:rPr lang="en-US" dirty="0">
                <a:latin typeface="+mj-lt"/>
                <a:cs typeface="Courier New" panose="02070309020205020404" pitchFamily="49" charset="0"/>
              </a:rPr>
              <a:t>As previously stated, if you do not provide an id when inserting a document, MongoDB will provide one automatically.</a:t>
            </a:r>
          </a:p>
          <a:p>
            <a:r>
              <a:rPr lang="en-US" dirty="0" err="1">
                <a:latin typeface="Courier New" panose="02070309020205020404" pitchFamily="49" charset="0"/>
                <a:cs typeface="Courier New" panose="02070309020205020404" pitchFamily="49" charset="0"/>
              </a:rPr>
              <a:t>insertMany</a:t>
            </a:r>
            <a:r>
              <a:rPr lang="en-US" dirty="0">
                <a:latin typeface="Courier New" panose="02070309020205020404" pitchFamily="49" charset="0"/>
                <a:cs typeface="Courier New" panose="02070309020205020404" pitchFamily="49" charset="0"/>
              </a:rPr>
              <a:t>()</a:t>
            </a:r>
            <a:r>
              <a:rPr lang="en-US" dirty="0"/>
              <a:t>: inserts multiple documents at once, passed in as an array.</a:t>
            </a:r>
          </a:p>
          <a:p>
            <a:pPr lvl="1"/>
            <a:r>
              <a:rPr lang="en-US" dirty="0"/>
              <a:t>More efficient than calling </a:t>
            </a:r>
            <a:r>
              <a:rPr lang="en-US" dirty="0" err="1">
                <a:latin typeface="Courier New" panose="02070309020205020404" pitchFamily="49" charset="0"/>
                <a:cs typeface="Courier New" panose="02070309020205020404" pitchFamily="49" charset="0"/>
              </a:rPr>
              <a:t>insertOne</a:t>
            </a:r>
            <a:r>
              <a:rPr lang="en-US" dirty="0">
                <a:latin typeface="Courier New" panose="02070309020205020404" pitchFamily="49" charset="0"/>
                <a:cs typeface="Courier New" panose="02070309020205020404" pitchFamily="49" charset="0"/>
              </a:rPr>
              <a:t>()</a:t>
            </a:r>
            <a:r>
              <a:rPr lang="en-US" dirty="0"/>
              <a:t> repeatedly in a loop, when adding several documents together.</a:t>
            </a:r>
          </a:p>
          <a:p>
            <a:pPr lvl="1"/>
            <a:r>
              <a:rPr lang="en-US" dirty="0"/>
              <a:t>Note: the </a:t>
            </a:r>
            <a:r>
              <a:rPr lang="en-US" dirty="0" err="1">
                <a:latin typeface="Courier New" panose="02070309020205020404" pitchFamily="49" charset="0"/>
                <a:cs typeface="Courier New" panose="02070309020205020404" pitchFamily="49" charset="0"/>
              </a:rPr>
              <a:t>insertMany</a:t>
            </a:r>
            <a:r>
              <a:rPr lang="en-US" dirty="0">
                <a:latin typeface="Courier New" panose="02070309020205020404" pitchFamily="49" charset="0"/>
                <a:cs typeface="Courier New" panose="02070309020205020404" pitchFamily="49" charset="0"/>
              </a:rPr>
              <a:t>()</a:t>
            </a:r>
            <a:r>
              <a:rPr lang="en-US" dirty="0"/>
              <a:t> function accepts a Boolean value for ‘ordered’. When set to true (default), if an insertion fails, the server will halt insertion of new records. If set to false, the server will continue to insert records.</a:t>
            </a:r>
          </a:p>
        </p:txBody>
      </p:sp>
      <p:sp>
        <p:nvSpPr>
          <p:cNvPr id="5" name="Title 4">
            <a:extLst>
              <a:ext uri="{FF2B5EF4-FFF2-40B4-BE49-F238E27FC236}">
                <a16:creationId xmlns:a16="http://schemas.microsoft.com/office/drawing/2014/main" id="{5050510C-7051-A659-180D-218B5C07471D}"/>
              </a:ext>
            </a:extLst>
          </p:cNvPr>
          <p:cNvSpPr>
            <a:spLocks noGrp="1"/>
          </p:cNvSpPr>
          <p:nvPr>
            <p:ph type="title"/>
          </p:nvPr>
        </p:nvSpPr>
        <p:spPr/>
        <p:txBody>
          <a:bodyPr/>
          <a:lstStyle/>
          <a:p>
            <a:r>
              <a:rPr lang="en-US" dirty="0"/>
              <a:t>Create Documents</a:t>
            </a:r>
          </a:p>
        </p:txBody>
      </p:sp>
    </p:spTree>
    <p:extLst>
      <p:ext uri="{BB962C8B-B14F-4D97-AF65-F5344CB8AC3E}">
        <p14:creationId xmlns:p14="http://schemas.microsoft.com/office/powerpoint/2010/main" val="2332781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5F5AA-C7A2-7D31-F2DB-86BCD63CB37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B50AE1F-1D83-CEDA-C64D-3082348D8A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32</a:t>
            </a:fld>
            <a:endParaRPr lang="en-US"/>
          </a:p>
        </p:txBody>
      </p:sp>
      <p:sp>
        <p:nvSpPr>
          <p:cNvPr id="5" name="Title 4">
            <a:extLst>
              <a:ext uri="{FF2B5EF4-FFF2-40B4-BE49-F238E27FC236}">
                <a16:creationId xmlns:a16="http://schemas.microsoft.com/office/drawing/2014/main" id="{5F7BF6C3-A2D8-195F-7886-81E6D2A974CB}"/>
              </a:ext>
            </a:extLst>
          </p:cNvPr>
          <p:cNvSpPr>
            <a:spLocks noGrp="1"/>
          </p:cNvSpPr>
          <p:nvPr>
            <p:ph type="title"/>
          </p:nvPr>
        </p:nvSpPr>
        <p:spPr/>
        <p:txBody>
          <a:bodyPr/>
          <a:lstStyle/>
          <a:p>
            <a:r>
              <a:rPr lang="en-US" dirty="0" err="1"/>
              <a:t>InsertOne</a:t>
            </a:r>
            <a:r>
              <a:rPr lang="en-US" dirty="0"/>
              <a:t>()</a:t>
            </a:r>
          </a:p>
        </p:txBody>
      </p:sp>
      <p:sp>
        <p:nvSpPr>
          <p:cNvPr id="2" name="Google Shape;219;p16">
            <a:extLst>
              <a:ext uri="{FF2B5EF4-FFF2-40B4-BE49-F238E27FC236}">
                <a16:creationId xmlns:a16="http://schemas.microsoft.com/office/drawing/2014/main" id="{74257C05-78FA-92B3-E679-A6E1B0E90270}"/>
              </a:ext>
            </a:extLst>
          </p:cNvPr>
          <p:cNvSpPr txBox="1">
            <a:spLocks/>
          </p:cNvSpPr>
          <p:nvPr/>
        </p:nvSpPr>
        <p:spPr>
          <a:xfrm>
            <a:off x="1301260" y="1986047"/>
            <a:ext cx="6541477" cy="2491665"/>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0" lvl="0" indent="0">
              <a:lnSpc>
                <a:spcPct val="90000"/>
              </a:lnSpc>
              <a:spcBef>
                <a:spcPts val="360"/>
              </a:spcBef>
              <a:buSzPts val="1800"/>
              <a:buNone/>
            </a:pPr>
            <a:r>
              <a:rPr lang="en-US" sz="1800" dirty="0" err="1">
                <a:solidFill>
                  <a:srgbClr val="474C55"/>
                </a:solidFill>
                <a:latin typeface="Courier New"/>
                <a:ea typeface="Courier New"/>
                <a:cs typeface="Courier New"/>
                <a:sym typeface="Courier New"/>
              </a:rPr>
              <a:t>db.users.insertOne</a:t>
            </a:r>
            <a:r>
              <a:rPr lang="en-US" sz="1800" dirty="0">
                <a:solidFill>
                  <a:srgbClr val="474C55"/>
                </a:solidFill>
                <a:latin typeface="Courier New"/>
                <a:ea typeface="Courier New"/>
                <a:cs typeface="Courier New"/>
                <a:sym typeface="Courier New"/>
              </a:rPr>
              <a:t>(</a:t>
            </a:r>
          </a:p>
          <a:p>
            <a:pPr marL="0" lvl="0" indent="0">
              <a:lnSpc>
                <a:spcPct val="90000"/>
              </a:lnSpc>
              <a:spcBef>
                <a:spcPts val="360"/>
              </a:spcBef>
              <a:buSzPts val="1800"/>
              <a:buNone/>
            </a:pPr>
            <a:r>
              <a:rPr lang="en-US" sz="1800" dirty="0">
                <a:solidFill>
                  <a:srgbClr val="474C55"/>
                </a:solidFill>
                <a:latin typeface="Courier New"/>
                <a:ea typeface="Courier New"/>
                <a:cs typeface="Courier New"/>
                <a:sym typeface="Courier New"/>
              </a:rPr>
              <a:t>  {</a:t>
            </a:r>
          </a:p>
          <a:p>
            <a:pPr marL="0" lvl="0" indent="0">
              <a:lnSpc>
                <a:spcPct val="90000"/>
              </a:lnSpc>
              <a:spcBef>
                <a:spcPts val="360"/>
              </a:spcBef>
              <a:buSzPts val="1800"/>
              <a:buNone/>
            </a:pPr>
            <a:r>
              <a:rPr lang="en-US" sz="1800" dirty="0">
                <a:solidFill>
                  <a:srgbClr val="474C55"/>
                </a:solidFill>
                <a:latin typeface="Courier New"/>
                <a:ea typeface="Courier New"/>
                <a:cs typeface="Courier New"/>
                <a:sym typeface="Courier New"/>
              </a:rPr>
              <a:t>    name: “Joseph Highe”,</a:t>
            </a:r>
          </a:p>
          <a:p>
            <a:pPr marL="0" lvl="0" indent="0">
              <a:lnSpc>
                <a:spcPct val="90000"/>
              </a:lnSpc>
              <a:spcBef>
                <a:spcPts val="360"/>
              </a:spcBef>
              <a:buSzPts val="1800"/>
              <a:buNone/>
            </a:pPr>
            <a:r>
              <a:rPr lang="en-US" sz="1800" dirty="0">
                <a:solidFill>
                  <a:srgbClr val="474C55"/>
                </a:solidFill>
                <a:latin typeface="Courier New"/>
                <a:ea typeface="Courier New"/>
                <a:cs typeface="Courier New"/>
                <a:sym typeface="Courier New"/>
              </a:rPr>
              <a:t>    email: “joseph.highe@revature.com”,</a:t>
            </a:r>
          </a:p>
          <a:p>
            <a:pPr marL="0" lvl="0" indent="0">
              <a:lnSpc>
                <a:spcPct val="90000"/>
              </a:lnSpc>
              <a:spcBef>
                <a:spcPts val="360"/>
              </a:spcBef>
              <a:buSzPts val="1800"/>
              <a:buNone/>
            </a:pPr>
            <a:r>
              <a:rPr lang="en-US" sz="1800" dirty="0">
                <a:solidFill>
                  <a:srgbClr val="474C55"/>
                </a:solidFill>
                <a:latin typeface="Courier New"/>
                <a:ea typeface="Courier New"/>
                <a:cs typeface="Courier New"/>
                <a:sym typeface="Courier New"/>
              </a:rPr>
              <a:t>    password: “password123”,</a:t>
            </a:r>
          </a:p>
          <a:p>
            <a:pPr marL="0" lvl="0" indent="0">
              <a:lnSpc>
                <a:spcPct val="90000"/>
              </a:lnSpc>
              <a:spcBef>
                <a:spcPts val="360"/>
              </a:spcBef>
              <a:buSzPts val="1800"/>
              <a:buNone/>
            </a:pPr>
            <a:r>
              <a:rPr lang="en-US" sz="1800" dirty="0">
                <a:solidFill>
                  <a:srgbClr val="474C55"/>
                </a:solidFill>
                <a:latin typeface="Courier New"/>
                <a:ea typeface="Courier New"/>
                <a:cs typeface="Courier New"/>
                <a:sym typeface="Courier New"/>
              </a:rPr>
              <a:t>    </a:t>
            </a:r>
            <a:r>
              <a:rPr lang="en-US" sz="1800" dirty="0" err="1">
                <a:solidFill>
                  <a:srgbClr val="474C55"/>
                </a:solidFill>
                <a:latin typeface="Courier New"/>
                <a:ea typeface="Courier New"/>
                <a:cs typeface="Courier New"/>
                <a:sym typeface="Courier New"/>
              </a:rPr>
              <a:t>signupDate</a:t>
            </a:r>
            <a:r>
              <a:rPr lang="en-US" sz="1800" dirty="0">
                <a:solidFill>
                  <a:srgbClr val="474C55"/>
                </a:solidFill>
                <a:latin typeface="Courier New"/>
                <a:ea typeface="Courier New"/>
                <a:cs typeface="Courier New"/>
                <a:sym typeface="Courier New"/>
              </a:rPr>
              <a:t>: new Date()</a:t>
            </a:r>
          </a:p>
          <a:p>
            <a:pPr marL="0" lvl="0" indent="0">
              <a:lnSpc>
                <a:spcPct val="90000"/>
              </a:lnSpc>
              <a:spcBef>
                <a:spcPts val="360"/>
              </a:spcBef>
              <a:buSzPts val="1800"/>
              <a:buNone/>
            </a:pPr>
            <a:r>
              <a:rPr lang="en-US" sz="1800" dirty="0">
                <a:solidFill>
                  <a:srgbClr val="474C55"/>
                </a:solidFill>
                <a:latin typeface="Courier New"/>
                <a:ea typeface="Courier New"/>
                <a:cs typeface="Courier New"/>
                <a:sym typeface="Courier New"/>
              </a:rPr>
              <a:t>  }</a:t>
            </a:r>
          </a:p>
          <a:p>
            <a:pPr marL="0" lvl="0" indent="0">
              <a:lnSpc>
                <a:spcPct val="90000"/>
              </a:lnSpc>
              <a:spcBef>
                <a:spcPts val="360"/>
              </a:spcBef>
              <a:buSzPts val="1800"/>
              <a:buNone/>
            </a:pPr>
            <a:r>
              <a:rPr lang="en-US" sz="1800" dirty="0">
                <a:solidFill>
                  <a:srgbClr val="474C55"/>
                </a:solidFill>
                <a:latin typeface="Courier New"/>
                <a:ea typeface="Courier New"/>
                <a:cs typeface="Courier New"/>
                <a:sym typeface="Courier New"/>
              </a:rPr>
              <a:t>)</a:t>
            </a:r>
            <a:endParaRPr lang="en-US" dirty="0">
              <a:solidFill>
                <a:srgbClr val="474C55"/>
              </a:solidFill>
            </a:endParaRPr>
          </a:p>
        </p:txBody>
      </p:sp>
      <p:sp>
        <p:nvSpPr>
          <p:cNvPr id="3" name="Google Shape;219;p16">
            <a:extLst>
              <a:ext uri="{FF2B5EF4-FFF2-40B4-BE49-F238E27FC236}">
                <a16:creationId xmlns:a16="http://schemas.microsoft.com/office/drawing/2014/main" id="{81404822-676A-B295-2F92-CAE2170DC69B}"/>
              </a:ext>
            </a:extLst>
          </p:cNvPr>
          <p:cNvSpPr txBox="1">
            <a:spLocks/>
          </p:cNvSpPr>
          <p:nvPr/>
        </p:nvSpPr>
        <p:spPr>
          <a:xfrm>
            <a:off x="269791" y="5175784"/>
            <a:ext cx="8604417" cy="489857"/>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0" lvl="0" indent="0">
              <a:lnSpc>
                <a:spcPct val="90000"/>
              </a:lnSpc>
              <a:spcBef>
                <a:spcPts val="360"/>
              </a:spcBef>
              <a:buSzPts val="1800"/>
              <a:buNone/>
            </a:pPr>
            <a:r>
              <a:rPr lang="en-US" sz="1800" dirty="0">
                <a:solidFill>
                  <a:srgbClr val="474C55"/>
                </a:solidFill>
                <a:latin typeface="Courier New"/>
                <a:ea typeface="Courier New"/>
                <a:cs typeface="Courier New"/>
                <a:sym typeface="Courier New"/>
              </a:rPr>
              <a:t>{ acknowledged: true, </a:t>
            </a:r>
            <a:r>
              <a:rPr lang="en-US" sz="1800" dirty="0" err="1">
                <a:solidFill>
                  <a:srgbClr val="474C55"/>
                </a:solidFill>
                <a:latin typeface="Courier New"/>
                <a:ea typeface="Courier New"/>
                <a:cs typeface="Courier New"/>
                <a:sym typeface="Courier New"/>
              </a:rPr>
              <a:t>inserdId</a:t>
            </a:r>
            <a:r>
              <a:rPr lang="en-US" sz="1800" dirty="0">
                <a:solidFill>
                  <a:srgbClr val="474C55"/>
                </a:solidFill>
                <a:latin typeface="Courier New"/>
                <a:ea typeface="Courier New"/>
                <a:cs typeface="Courier New"/>
                <a:sym typeface="Courier New"/>
              </a:rPr>
              <a:t>: </a:t>
            </a:r>
            <a:r>
              <a:rPr lang="en-US" sz="1800" dirty="0" err="1">
                <a:solidFill>
                  <a:srgbClr val="474C55"/>
                </a:solidFill>
                <a:latin typeface="Courier New"/>
                <a:ea typeface="Courier New"/>
                <a:cs typeface="Courier New"/>
                <a:sym typeface="Courier New"/>
              </a:rPr>
              <a:t>ObjectId</a:t>
            </a:r>
            <a:r>
              <a:rPr lang="en-US" sz="1800" dirty="0">
                <a:solidFill>
                  <a:srgbClr val="474C55"/>
                </a:solidFill>
                <a:latin typeface="Courier New"/>
                <a:ea typeface="Courier New"/>
                <a:cs typeface="Courier New"/>
                <a:sym typeface="Courier New"/>
              </a:rPr>
              <a:t>(“1234567890abcdef”)}</a:t>
            </a:r>
            <a:endParaRPr lang="en-US" dirty="0">
              <a:solidFill>
                <a:srgbClr val="474C55"/>
              </a:solidFill>
            </a:endParaRPr>
          </a:p>
        </p:txBody>
      </p:sp>
      <p:sp>
        <p:nvSpPr>
          <p:cNvPr id="6" name="TextBox 5">
            <a:extLst>
              <a:ext uri="{FF2B5EF4-FFF2-40B4-BE49-F238E27FC236}">
                <a16:creationId xmlns:a16="http://schemas.microsoft.com/office/drawing/2014/main" id="{BC76AE00-7803-86EF-A24B-12C838CF7701}"/>
              </a:ext>
            </a:extLst>
          </p:cNvPr>
          <p:cNvSpPr txBox="1"/>
          <p:nvPr/>
        </p:nvSpPr>
        <p:spPr>
          <a:xfrm>
            <a:off x="1301260" y="1524383"/>
            <a:ext cx="4593354" cy="461665"/>
          </a:xfrm>
          <a:prstGeom prst="rect">
            <a:avLst/>
          </a:prstGeom>
          <a:noFill/>
        </p:spPr>
        <p:txBody>
          <a:bodyPr wrap="square" rtlCol="0">
            <a:spAutoFit/>
          </a:bodyPr>
          <a:lstStyle/>
          <a:p>
            <a:r>
              <a:rPr lang="en-US" sz="2400" dirty="0"/>
              <a:t>Insert Function</a:t>
            </a:r>
          </a:p>
        </p:txBody>
      </p:sp>
      <p:sp>
        <p:nvSpPr>
          <p:cNvPr id="7" name="TextBox 6">
            <a:extLst>
              <a:ext uri="{FF2B5EF4-FFF2-40B4-BE49-F238E27FC236}">
                <a16:creationId xmlns:a16="http://schemas.microsoft.com/office/drawing/2014/main" id="{25AFFB01-FDF8-3856-F1F3-F6C3569546AD}"/>
              </a:ext>
            </a:extLst>
          </p:cNvPr>
          <p:cNvSpPr txBox="1"/>
          <p:nvPr/>
        </p:nvSpPr>
        <p:spPr>
          <a:xfrm>
            <a:off x="1194670" y="4714119"/>
            <a:ext cx="7083918" cy="461665"/>
          </a:xfrm>
          <a:prstGeom prst="rect">
            <a:avLst/>
          </a:prstGeom>
          <a:noFill/>
        </p:spPr>
        <p:txBody>
          <a:bodyPr wrap="square" rtlCol="0">
            <a:spAutoFit/>
          </a:bodyPr>
          <a:lstStyle/>
          <a:p>
            <a:r>
              <a:rPr lang="en-US" sz="2400" dirty="0"/>
              <a:t>Returned value (including generated _id)</a:t>
            </a:r>
          </a:p>
        </p:txBody>
      </p:sp>
    </p:spTree>
    <p:extLst>
      <p:ext uri="{BB962C8B-B14F-4D97-AF65-F5344CB8AC3E}">
        <p14:creationId xmlns:p14="http://schemas.microsoft.com/office/powerpoint/2010/main" val="2259626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p:bldP spid="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8C8E3-3D11-59A5-C141-40B57A3B61F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6FB4660-BC2B-76FD-C095-2FAAC5757A4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33</a:t>
            </a:fld>
            <a:endParaRPr lang="en-US"/>
          </a:p>
        </p:txBody>
      </p:sp>
      <p:sp>
        <p:nvSpPr>
          <p:cNvPr id="5" name="Title 4">
            <a:extLst>
              <a:ext uri="{FF2B5EF4-FFF2-40B4-BE49-F238E27FC236}">
                <a16:creationId xmlns:a16="http://schemas.microsoft.com/office/drawing/2014/main" id="{DCEEB0D2-381F-3E61-818C-683430C597FD}"/>
              </a:ext>
            </a:extLst>
          </p:cNvPr>
          <p:cNvSpPr>
            <a:spLocks noGrp="1"/>
          </p:cNvSpPr>
          <p:nvPr>
            <p:ph type="title"/>
          </p:nvPr>
        </p:nvSpPr>
        <p:spPr/>
        <p:txBody>
          <a:bodyPr/>
          <a:lstStyle/>
          <a:p>
            <a:r>
              <a:rPr lang="en-US" dirty="0" err="1"/>
              <a:t>InsertMany</a:t>
            </a:r>
            <a:r>
              <a:rPr lang="en-US" dirty="0"/>
              <a:t>()</a:t>
            </a:r>
          </a:p>
        </p:txBody>
      </p:sp>
      <p:sp>
        <p:nvSpPr>
          <p:cNvPr id="2" name="Google Shape;219;p16">
            <a:extLst>
              <a:ext uri="{FF2B5EF4-FFF2-40B4-BE49-F238E27FC236}">
                <a16:creationId xmlns:a16="http://schemas.microsoft.com/office/drawing/2014/main" id="{43ED14BC-310D-D15B-E311-F70586ECBB5E}"/>
              </a:ext>
            </a:extLst>
          </p:cNvPr>
          <p:cNvSpPr txBox="1">
            <a:spLocks/>
          </p:cNvSpPr>
          <p:nvPr/>
        </p:nvSpPr>
        <p:spPr>
          <a:xfrm>
            <a:off x="71636" y="1833456"/>
            <a:ext cx="9000725" cy="1726173"/>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0" lvl="0" indent="0">
              <a:lnSpc>
                <a:spcPct val="90000"/>
              </a:lnSpc>
              <a:spcBef>
                <a:spcPts val="360"/>
              </a:spcBef>
              <a:buSzPts val="1800"/>
              <a:buNone/>
            </a:pPr>
            <a:r>
              <a:rPr lang="en-US" sz="1800" dirty="0" err="1">
                <a:solidFill>
                  <a:srgbClr val="474C55"/>
                </a:solidFill>
                <a:latin typeface="Courier New"/>
                <a:ea typeface="Courier New"/>
                <a:cs typeface="Courier New"/>
                <a:sym typeface="Courier New"/>
              </a:rPr>
              <a:t>db.mydatabase.insertMany</a:t>
            </a:r>
            <a:r>
              <a:rPr lang="en-US" sz="1800" dirty="0">
                <a:solidFill>
                  <a:srgbClr val="474C55"/>
                </a:solidFill>
                <a:latin typeface="Courier New"/>
                <a:ea typeface="Courier New"/>
                <a:cs typeface="Courier New"/>
                <a:sym typeface="Courier New"/>
              </a:rPr>
              <a:t>(</a:t>
            </a:r>
          </a:p>
          <a:p>
            <a:pPr marL="0" lvl="0" indent="0">
              <a:lnSpc>
                <a:spcPct val="90000"/>
              </a:lnSpc>
              <a:spcBef>
                <a:spcPts val="360"/>
              </a:spcBef>
              <a:buSzPts val="1800"/>
              <a:buNone/>
            </a:pPr>
            <a:r>
              <a:rPr lang="en-US" sz="1800" dirty="0">
                <a:solidFill>
                  <a:srgbClr val="474C55"/>
                </a:solidFill>
                <a:latin typeface="Courier New"/>
                <a:ea typeface="Courier New"/>
                <a:cs typeface="Courier New"/>
                <a:sym typeface="Courier New"/>
              </a:rPr>
              <a:t>  [{_id: 1, name: “Document A” },</a:t>
            </a:r>
          </a:p>
          <a:p>
            <a:pPr marL="0" indent="0">
              <a:lnSpc>
                <a:spcPct val="90000"/>
              </a:lnSpc>
              <a:spcBef>
                <a:spcPts val="360"/>
              </a:spcBef>
              <a:buSzPts val="1800"/>
              <a:buNone/>
            </a:pPr>
            <a:r>
              <a:rPr lang="en-US" sz="1800" dirty="0">
                <a:solidFill>
                  <a:srgbClr val="474C55"/>
                </a:solidFill>
                <a:latin typeface="Courier New"/>
                <a:ea typeface="Courier New"/>
                <a:cs typeface="Courier New"/>
                <a:sym typeface="Courier New"/>
              </a:rPr>
              <a:t>   {_id: 1, name: “Document B” }, // fails - insertion halts</a:t>
            </a:r>
          </a:p>
          <a:p>
            <a:pPr marL="0" indent="0">
              <a:lnSpc>
                <a:spcPct val="90000"/>
              </a:lnSpc>
              <a:spcBef>
                <a:spcPts val="360"/>
              </a:spcBef>
              <a:buSzPts val="1800"/>
              <a:buNone/>
            </a:pPr>
            <a:r>
              <a:rPr lang="en-US" sz="1800" dirty="0">
                <a:solidFill>
                  <a:srgbClr val="474C55"/>
                </a:solidFill>
                <a:latin typeface="Courier New"/>
                <a:ea typeface="Courier New"/>
                <a:cs typeface="Courier New"/>
                <a:sym typeface="Courier New"/>
              </a:rPr>
              <a:t>   {_id: 3, name: “Document C” },</a:t>
            </a:r>
          </a:p>
          <a:p>
            <a:pPr marL="0" lvl="0" indent="0">
              <a:lnSpc>
                <a:spcPct val="90000"/>
              </a:lnSpc>
              <a:spcBef>
                <a:spcPts val="360"/>
              </a:spcBef>
              <a:buSzPts val="1800"/>
              <a:buNone/>
            </a:pPr>
            <a:r>
              <a:rPr lang="en-US" sz="1800" dirty="0">
                <a:solidFill>
                  <a:srgbClr val="474C55"/>
                </a:solidFill>
                <a:latin typeface="Courier New"/>
                <a:ea typeface="Courier New"/>
                <a:cs typeface="Courier New"/>
                <a:sym typeface="Courier New"/>
              </a:rPr>
              <a:t>]);</a:t>
            </a:r>
            <a:endParaRPr lang="en-US" dirty="0">
              <a:solidFill>
                <a:srgbClr val="474C55"/>
              </a:solidFill>
            </a:endParaRPr>
          </a:p>
        </p:txBody>
      </p:sp>
      <p:sp>
        <p:nvSpPr>
          <p:cNvPr id="6" name="TextBox 5">
            <a:extLst>
              <a:ext uri="{FF2B5EF4-FFF2-40B4-BE49-F238E27FC236}">
                <a16:creationId xmlns:a16="http://schemas.microsoft.com/office/drawing/2014/main" id="{E981C0A2-7A63-2A3C-8559-6D010291925E}"/>
              </a:ext>
            </a:extLst>
          </p:cNvPr>
          <p:cNvSpPr txBox="1"/>
          <p:nvPr/>
        </p:nvSpPr>
        <p:spPr>
          <a:xfrm>
            <a:off x="143275" y="1371791"/>
            <a:ext cx="4593354" cy="461665"/>
          </a:xfrm>
          <a:prstGeom prst="rect">
            <a:avLst/>
          </a:prstGeom>
          <a:noFill/>
        </p:spPr>
        <p:txBody>
          <a:bodyPr wrap="square" rtlCol="0">
            <a:spAutoFit/>
          </a:bodyPr>
          <a:lstStyle/>
          <a:p>
            <a:r>
              <a:rPr lang="en-US" sz="2400" dirty="0"/>
              <a:t>Insert Function – ordered: true</a:t>
            </a:r>
          </a:p>
        </p:txBody>
      </p:sp>
      <p:sp>
        <p:nvSpPr>
          <p:cNvPr id="8" name="Google Shape;219;p16">
            <a:extLst>
              <a:ext uri="{FF2B5EF4-FFF2-40B4-BE49-F238E27FC236}">
                <a16:creationId xmlns:a16="http://schemas.microsoft.com/office/drawing/2014/main" id="{68E9DA02-778C-AED8-1792-B4C95558210F}"/>
              </a:ext>
            </a:extLst>
          </p:cNvPr>
          <p:cNvSpPr txBox="1">
            <a:spLocks/>
          </p:cNvSpPr>
          <p:nvPr/>
        </p:nvSpPr>
        <p:spPr>
          <a:xfrm>
            <a:off x="71637" y="4353833"/>
            <a:ext cx="9000725" cy="1726173"/>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0" lvl="0" indent="0">
              <a:lnSpc>
                <a:spcPct val="90000"/>
              </a:lnSpc>
              <a:spcBef>
                <a:spcPts val="360"/>
              </a:spcBef>
              <a:buSzPts val="1800"/>
              <a:buNone/>
            </a:pPr>
            <a:r>
              <a:rPr lang="en-US" sz="1800" dirty="0" err="1">
                <a:solidFill>
                  <a:srgbClr val="474C55"/>
                </a:solidFill>
                <a:latin typeface="Courier New"/>
                <a:ea typeface="Courier New"/>
                <a:cs typeface="Courier New"/>
                <a:sym typeface="Courier New"/>
              </a:rPr>
              <a:t>db.mydatabase.insertMany</a:t>
            </a:r>
            <a:r>
              <a:rPr lang="en-US" sz="1800" dirty="0">
                <a:solidFill>
                  <a:srgbClr val="474C55"/>
                </a:solidFill>
                <a:latin typeface="Courier New"/>
                <a:ea typeface="Courier New"/>
                <a:cs typeface="Courier New"/>
                <a:sym typeface="Courier New"/>
              </a:rPr>
              <a:t>(</a:t>
            </a:r>
          </a:p>
          <a:p>
            <a:pPr marL="0" lvl="0" indent="0">
              <a:lnSpc>
                <a:spcPct val="90000"/>
              </a:lnSpc>
              <a:spcBef>
                <a:spcPts val="360"/>
              </a:spcBef>
              <a:buSzPts val="1800"/>
              <a:buNone/>
            </a:pPr>
            <a:r>
              <a:rPr lang="en-US" sz="1800" dirty="0">
                <a:solidFill>
                  <a:srgbClr val="474C55"/>
                </a:solidFill>
                <a:latin typeface="Courier New"/>
                <a:ea typeface="Courier New"/>
                <a:cs typeface="Courier New"/>
                <a:sym typeface="Courier New"/>
              </a:rPr>
              <a:t>  [{_id: 1, name: “Document A” },</a:t>
            </a:r>
          </a:p>
          <a:p>
            <a:pPr marL="0" indent="0">
              <a:lnSpc>
                <a:spcPct val="90000"/>
              </a:lnSpc>
              <a:spcBef>
                <a:spcPts val="360"/>
              </a:spcBef>
              <a:buSzPts val="1800"/>
              <a:buNone/>
            </a:pPr>
            <a:r>
              <a:rPr lang="en-US" sz="1800" dirty="0">
                <a:solidFill>
                  <a:srgbClr val="474C55"/>
                </a:solidFill>
                <a:latin typeface="Courier New"/>
                <a:ea typeface="Courier New"/>
                <a:cs typeface="Courier New"/>
                <a:sym typeface="Courier New"/>
              </a:rPr>
              <a:t>   {_id: 1, name: “Document B” }, // fails, but insert continues</a:t>
            </a:r>
          </a:p>
          <a:p>
            <a:pPr marL="0" indent="0">
              <a:lnSpc>
                <a:spcPct val="90000"/>
              </a:lnSpc>
              <a:spcBef>
                <a:spcPts val="360"/>
              </a:spcBef>
              <a:buSzPts val="1800"/>
              <a:buNone/>
            </a:pPr>
            <a:r>
              <a:rPr lang="en-US" sz="1800" dirty="0">
                <a:solidFill>
                  <a:srgbClr val="474C55"/>
                </a:solidFill>
                <a:latin typeface="Courier New"/>
                <a:ea typeface="Courier New"/>
                <a:cs typeface="Courier New"/>
                <a:sym typeface="Courier New"/>
              </a:rPr>
              <a:t>   {_id: 3, name: “Document C” },</a:t>
            </a:r>
          </a:p>
          <a:p>
            <a:pPr marL="0" lvl="0" indent="0">
              <a:lnSpc>
                <a:spcPct val="90000"/>
              </a:lnSpc>
              <a:spcBef>
                <a:spcPts val="360"/>
              </a:spcBef>
              <a:buSzPts val="1800"/>
              <a:buNone/>
            </a:pPr>
            <a:r>
              <a:rPr lang="en-US" sz="1800" dirty="0">
                <a:solidFill>
                  <a:srgbClr val="474C55"/>
                </a:solidFill>
                <a:latin typeface="Courier New"/>
                <a:ea typeface="Courier New"/>
                <a:cs typeface="Courier New"/>
                <a:sym typeface="Courier New"/>
              </a:rPr>
              <a:t>], {ordered: false});</a:t>
            </a:r>
            <a:endParaRPr lang="en-US" dirty="0">
              <a:solidFill>
                <a:srgbClr val="474C55"/>
              </a:solidFill>
            </a:endParaRPr>
          </a:p>
        </p:txBody>
      </p:sp>
      <p:sp>
        <p:nvSpPr>
          <p:cNvPr id="9" name="TextBox 8">
            <a:extLst>
              <a:ext uri="{FF2B5EF4-FFF2-40B4-BE49-F238E27FC236}">
                <a16:creationId xmlns:a16="http://schemas.microsoft.com/office/drawing/2014/main" id="{E3542BAF-8832-7C15-7C7E-C158617C1B0B}"/>
              </a:ext>
            </a:extLst>
          </p:cNvPr>
          <p:cNvSpPr txBox="1"/>
          <p:nvPr/>
        </p:nvSpPr>
        <p:spPr>
          <a:xfrm>
            <a:off x="71636" y="3892168"/>
            <a:ext cx="4593354" cy="461665"/>
          </a:xfrm>
          <a:prstGeom prst="rect">
            <a:avLst/>
          </a:prstGeom>
          <a:noFill/>
        </p:spPr>
        <p:txBody>
          <a:bodyPr wrap="square" rtlCol="0">
            <a:spAutoFit/>
          </a:bodyPr>
          <a:lstStyle/>
          <a:p>
            <a:r>
              <a:rPr lang="en-US" sz="2400" dirty="0"/>
              <a:t>Insert Function – ordered: false</a:t>
            </a:r>
          </a:p>
        </p:txBody>
      </p:sp>
    </p:spTree>
    <p:extLst>
      <p:ext uri="{BB962C8B-B14F-4D97-AF65-F5344CB8AC3E}">
        <p14:creationId xmlns:p14="http://schemas.microsoft.com/office/powerpoint/2010/main" val="2862524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p:bldP spid="8" grpId="0" animBg="1"/>
      <p:bldP spid="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93261-24A3-2C59-3D5C-CCBEF0BC2C8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0AF736D-58BE-18E9-458C-0AEEAD422A4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34</a:t>
            </a:fld>
            <a:endParaRPr lang="en-US"/>
          </a:p>
        </p:txBody>
      </p:sp>
      <p:sp>
        <p:nvSpPr>
          <p:cNvPr id="6" name="Content Placeholder 5">
            <a:extLst>
              <a:ext uri="{FF2B5EF4-FFF2-40B4-BE49-F238E27FC236}">
                <a16:creationId xmlns:a16="http://schemas.microsoft.com/office/drawing/2014/main" id="{D65263C9-01BC-A1C9-1E6B-6A92A359283A}"/>
              </a:ext>
            </a:extLst>
          </p:cNvPr>
          <p:cNvSpPr>
            <a:spLocks noGrp="1"/>
          </p:cNvSpPr>
          <p:nvPr>
            <p:ph idx="1"/>
          </p:nvPr>
        </p:nvSpPr>
        <p:spPr>
          <a:xfrm>
            <a:off x="380010" y="1481445"/>
            <a:ext cx="8383980" cy="5247391"/>
          </a:xfrm>
        </p:spPr>
        <p:txBody>
          <a:bodyPr>
            <a:normAutofit fontScale="92500" lnSpcReduction="20000"/>
          </a:bodyPr>
          <a:lstStyle/>
          <a:p>
            <a:r>
              <a:rPr lang="en-US" dirty="0"/>
              <a:t>Although it is typically best practice to let MongoDB automatically create id values, you may want to supply id values for documents when you want a predictable way of querying on IDs. </a:t>
            </a:r>
          </a:p>
          <a:p>
            <a:r>
              <a:rPr lang="en-US" dirty="0"/>
              <a:t>Relying on MongoDB generated ID values, means searching using IDs will require a mechanism of tracking the auto-generated ids (e.g. a separately maintained file)</a:t>
            </a:r>
          </a:p>
          <a:p>
            <a:r>
              <a:rPr lang="en-US" dirty="0"/>
              <a:t>As such, using { ordered: false } on an </a:t>
            </a:r>
            <a:r>
              <a:rPr lang="en-US" dirty="0" err="1"/>
              <a:t>insertMany</a:t>
            </a:r>
            <a:r>
              <a:rPr lang="en-US" dirty="0"/>
              <a:t>() call can be useful if inserting documents wherein each insertion is independent of </a:t>
            </a:r>
            <a:r>
              <a:rPr lang="en-US" dirty="0" err="1"/>
              <a:t>eachother</a:t>
            </a:r>
            <a:r>
              <a:rPr lang="en-US" dirty="0"/>
              <a:t>.</a:t>
            </a:r>
          </a:p>
          <a:p>
            <a:r>
              <a:rPr lang="en-US" dirty="0"/>
              <a:t>It’s important to keep in mind, if inserting on a collection with schema validation, insertion may halt when the document does not match the expected schema (e.g. missing a required field).</a:t>
            </a:r>
          </a:p>
        </p:txBody>
      </p:sp>
      <p:sp>
        <p:nvSpPr>
          <p:cNvPr id="5" name="Title 4">
            <a:extLst>
              <a:ext uri="{FF2B5EF4-FFF2-40B4-BE49-F238E27FC236}">
                <a16:creationId xmlns:a16="http://schemas.microsoft.com/office/drawing/2014/main" id="{2D00EB80-9922-BEB4-9621-506870016048}"/>
              </a:ext>
            </a:extLst>
          </p:cNvPr>
          <p:cNvSpPr>
            <a:spLocks noGrp="1"/>
          </p:cNvSpPr>
          <p:nvPr>
            <p:ph type="title"/>
          </p:nvPr>
        </p:nvSpPr>
        <p:spPr/>
        <p:txBody>
          <a:bodyPr/>
          <a:lstStyle/>
          <a:p>
            <a:r>
              <a:rPr lang="en-US" dirty="0"/>
              <a:t>Insertion | Considerations</a:t>
            </a:r>
          </a:p>
        </p:txBody>
      </p:sp>
    </p:spTree>
    <p:extLst>
      <p:ext uri="{BB962C8B-B14F-4D97-AF65-F5344CB8AC3E}">
        <p14:creationId xmlns:p14="http://schemas.microsoft.com/office/powerpoint/2010/main" val="1927841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8B974-7D4A-E3F1-AC5E-510D8225232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11F2D69-0B91-D2C7-7BBC-E58165BB4A73}"/>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35</a:t>
            </a:fld>
            <a:endParaRPr lang="en-US"/>
          </a:p>
        </p:txBody>
      </p:sp>
      <p:sp>
        <p:nvSpPr>
          <p:cNvPr id="4" name="Google Shape;212;p15">
            <a:extLst>
              <a:ext uri="{FF2B5EF4-FFF2-40B4-BE49-F238E27FC236}">
                <a16:creationId xmlns:a16="http://schemas.microsoft.com/office/drawing/2014/main" id="{407F8273-8C07-1538-F16C-D44C08416166}"/>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CRUD | Querying</a:t>
            </a:r>
          </a:p>
        </p:txBody>
      </p:sp>
      <p:pic>
        <p:nvPicPr>
          <p:cNvPr id="6" name="Picture 5">
            <a:extLst>
              <a:ext uri="{FF2B5EF4-FFF2-40B4-BE49-F238E27FC236}">
                <a16:creationId xmlns:a16="http://schemas.microsoft.com/office/drawing/2014/main" id="{657F3431-7CDD-1A0C-4A0D-C1AA8E256B78}"/>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1761927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E819C-42B2-16B4-8AE0-4D15839CF1F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186049C-3D5F-E416-3A95-BBF4288D71E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36</a:t>
            </a:fld>
            <a:endParaRPr lang="en-US"/>
          </a:p>
        </p:txBody>
      </p:sp>
      <p:sp>
        <p:nvSpPr>
          <p:cNvPr id="6" name="Content Placeholder 5">
            <a:extLst>
              <a:ext uri="{FF2B5EF4-FFF2-40B4-BE49-F238E27FC236}">
                <a16:creationId xmlns:a16="http://schemas.microsoft.com/office/drawing/2014/main" id="{AC01E449-580C-FF9F-FF6D-EAD316DE0508}"/>
              </a:ext>
            </a:extLst>
          </p:cNvPr>
          <p:cNvSpPr>
            <a:spLocks noGrp="1"/>
          </p:cNvSpPr>
          <p:nvPr>
            <p:ph idx="1"/>
          </p:nvPr>
        </p:nvSpPr>
        <p:spPr>
          <a:xfrm>
            <a:off x="380010" y="1481446"/>
            <a:ext cx="8383980" cy="4882266"/>
          </a:xfrm>
        </p:spPr>
        <p:txBody>
          <a:bodyPr>
            <a:normAutofit fontScale="92500" lnSpcReduction="20000"/>
          </a:bodyPr>
          <a:lstStyle/>
          <a:p>
            <a:r>
              <a:rPr lang="en-US" dirty="0"/>
              <a:t>Querying is performed using the </a:t>
            </a:r>
            <a:r>
              <a:rPr lang="en-US" dirty="0">
                <a:latin typeface="Courier New" panose="02070309020205020404" pitchFamily="49" charset="0"/>
                <a:cs typeface="Courier New" panose="02070309020205020404" pitchFamily="49" charset="0"/>
              </a:rPr>
              <a:t>find()</a:t>
            </a:r>
            <a:r>
              <a:rPr lang="en-US" dirty="0"/>
              <a:t> and </a:t>
            </a:r>
            <a:r>
              <a:rPr lang="en-US" dirty="0" err="1">
                <a:latin typeface="Courier New" panose="02070309020205020404" pitchFamily="49" charset="0"/>
                <a:cs typeface="Courier New" panose="02070309020205020404" pitchFamily="49" charset="0"/>
              </a:rPr>
              <a:t>findOne</a:t>
            </a:r>
            <a:r>
              <a:rPr lang="en-US" dirty="0">
                <a:latin typeface="Courier New" panose="02070309020205020404" pitchFamily="49" charset="0"/>
                <a:cs typeface="Courier New" panose="02070309020205020404" pitchFamily="49" charset="0"/>
              </a:rPr>
              <a:t>()</a:t>
            </a:r>
            <a:r>
              <a:rPr lang="en-US" dirty="0"/>
              <a:t> functions.</a:t>
            </a:r>
          </a:p>
          <a:p>
            <a:r>
              <a:rPr lang="en-US" dirty="0">
                <a:latin typeface="Courier New" panose="02070309020205020404" pitchFamily="49" charset="0"/>
                <a:cs typeface="Courier New" panose="02070309020205020404" pitchFamily="49" charset="0"/>
              </a:rPr>
              <a:t>find()</a:t>
            </a:r>
            <a:r>
              <a:rPr lang="en-US" dirty="0"/>
              <a:t>: retrieves all documents matching a given filter.</a:t>
            </a:r>
          </a:p>
          <a:p>
            <a:pPr lvl="1"/>
            <a:r>
              <a:rPr lang="en-US" dirty="0"/>
              <a:t>Results are returned as an </a:t>
            </a:r>
            <a:r>
              <a:rPr lang="en-US" dirty="0" err="1"/>
              <a:t>iterable</a:t>
            </a:r>
            <a:r>
              <a:rPr lang="en-US" dirty="0"/>
              <a:t> pointer to the result set</a:t>
            </a:r>
          </a:p>
          <a:p>
            <a:r>
              <a:rPr lang="en-US" dirty="0" err="1">
                <a:latin typeface="Courier New" panose="02070309020205020404" pitchFamily="49" charset="0"/>
                <a:cs typeface="Courier New" panose="02070309020205020404" pitchFamily="49" charset="0"/>
              </a:rPr>
              <a:t>findOne</a:t>
            </a:r>
            <a:r>
              <a:rPr lang="en-US" dirty="0">
                <a:latin typeface="Courier New" panose="02070309020205020404" pitchFamily="49" charset="0"/>
                <a:cs typeface="Courier New" panose="02070309020205020404" pitchFamily="49" charset="0"/>
              </a:rPr>
              <a:t>()</a:t>
            </a:r>
            <a:r>
              <a:rPr lang="en-US" dirty="0"/>
              <a:t>: retrieves the first matching document given a filter.</a:t>
            </a:r>
          </a:p>
          <a:p>
            <a:pPr lvl="1"/>
            <a:r>
              <a:rPr lang="en-US" dirty="0"/>
              <a:t>Returned as a document, not a cursor.</a:t>
            </a:r>
          </a:p>
          <a:p>
            <a:r>
              <a:rPr lang="en-US" b="1" i="1" dirty="0"/>
              <a:t>Filters</a:t>
            </a:r>
            <a:r>
              <a:rPr lang="en-US" dirty="0"/>
              <a:t>: the first argument passed to </a:t>
            </a:r>
            <a:r>
              <a:rPr lang="en-US" dirty="0">
                <a:latin typeface="Courier New" panose="02070309020205020404" pitchFamily="49" charset="0"/>
                <a:cs typeface="Courier New" panose="02070309020205020404" pitchFamily="49" charset="0"/>
              </a:rPr>
              <a:t>find()</a:t>
            </a:r>
            <a:r>
              <a:rPr lang="en-US" dirty="0"/>
              <a:t> and </a:t>
            </a:r>
            <a:r>
              <a:rPr lang="en-US" dirty="0" err="1">
                <a:latin typeface="Courier New" panose="02070309020205020404" pitchFamily="49" charset="0"/>
                <a:cs typeface="Courier New" panose="02070309020205020404" pitchFamily="49" charset="0"/>
              </a:rPr>
              <a:t>findOne</a:t>
            </a:r>
            <a:r>
              <a:rPr lang="en-US" dirty="0">
                <a:latin typeface="Courier New" panose="02070309020205020404" pitchFamily="49" charset="0"/>
                <a:cs typeface="Courier New" panose="02070309020205020404" pitchFamily="49" charset="0"/>
              </a:rPr>
              <a:t>()</a:t>
            </a:r>
            <a:r>
              <a:rPr lang="en-US" dirty="0"/>
              <a:t>, specifying which documents to match.</a:t>
            </a:r>
          </a:p>
          <a:p>
            <a:pPr lvl="1"/>
            <a:r>
              <a:rPr lang="en-US" dirty="0"/>
              <a:t>The most basic filters are exact match field values </a:t>
            </a:r>
            <a:br>
              <a:rPr lang="en-US" dirty="0"/>
            </a:br>
            <a:r>
              <a:rPr lang="en-US" dirty="0"/>
              <a:t>e.g. { name: “Joseph” }.</a:t>
            </a:r>
          </a:p>
          <a:p>
            <a:pPr lvl="1"/>
            <a:r>
              <a:rPr lang="en-US" dirty="0"/>
              <a:t>If you supply an empty filter </a:t>
            </a:r>
            <a:r>
              <a:rPr lang="en-US" dirty="0">
                <a:latin typeface="Courier New" panose="02070309020205020404" pitchFamily="49" charset="0"/>
                <a:cs typeface="Courier New" panose="02070309020205020404" pitchFamily="49" charset="0"/>
              </a:rPr>
              <a:t>{}</a:t>
            </a:r>
            <a:r>
              <a:rPr lang="en-US" dirty="0"/>
              <a:t>, the </a:t>
            </a:r>
            <a:r>
              <a:rPr lang="en-US" dirty="0">
                <a:latin typeface="Courier New" panose="02070309020205020404" pitchFamily="49" charset="0"/>
                <a:cs typeface="Courier New" panose="02070309020205020404" pitchFamily="49" charset="0"/>
              </a:rPr>
              <a:t>find()</a:t>
            </a:r>
            <a:r>
              <a:rPr lang="en-US" dirty="0"/>
              <a:t> function will return every document.</a:t>
            </a:r>
          </a:p>
        </p:txBody>
      </p:sp>
      <p:sp>
        <p:nvSpPr>
          <p:cNvPr id="5" name="Title 4">
            <a:extLst>
              <a:ext uri="{FF2B5EF4-FFF2-40B4-BE49-F238E27FC236}">
                <a16:creationId xmlns:a16="http://schemas.microsoft.com/office/drawing/2014/main" id="{D657D29B-9D3B-D6D0-16EE-B5DEBFF8E8FF}"/>
              </a:ext>
            </a:extLst>
          </p:cNvPr>
          <p:cNvSpPr>
            <a:spLocks noGrp="1"/>
          </p:cNvSpPr>
          <p:nvPr>
            <p:ph type="title"/>
          </p:nvPr>
        </p:nvSpPr>
        <p:spPr/>
        <p:txBody>
          <a:bodyPr/>
          <a:lstStyle/>
          <a:p>
            <a:r>
              <a:rPr lang="en-US" dirty="0"/>
              <a:t>Querying | Basics</a:t>
            </a:r>
          </a:p>
        </p:txBody>
      </p:sp>
    </p:spTree>
    <p:extLst>
      <p:ext uri="{BB962C8B-B14F-4D97-AF65-F5344CB8AC3E}">
        <p14:creationId xmlns:p14="http://schemas.microsoft.com/office/powerpoint/2010/main" val="2567629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4C4E0-B20F-0FE0-8E88-2022B4F0C51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49182D8-B64E-F637-28DF-F2D2E1FEFB6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37</a:t>
            </a:fld>
            <a:endParaRPr lang="en-US"/>
          </a:p>
        </p:txBody>
      </p:sp>
      <p:sp>
        <p:nvSpPr>
          <p:cNvPr id="6" name="Content Placeholder 5">
            <a:extLst>
              <a:ext uri="{FF2B5EF4-FFF2-40B4-BE49-F238E27FC236}">
                <a16:creationId xmlns:a16="http://schemas.microsoft.com/office/drawing/2014/main" id="{9AF70373-076A-FD28-68B9-217E749FB5F4}"/>
              </a:ext>
            </a:extLst>
          </p:cNvPr>
          <p:cNvSpPr>
            <a:spLocks noGrp="1"/>
          </p:cNvSpPr>
          <p:nvPr>
            <p:ph idx="1"/>
          </p:nvPr>
        </p:nvSpPr>
        <p:spPr>
          <a:xfrm>
            <a:off x="380010" y="1219201"/>
            <a:ext cx="8383980" cy="5509636"/>
          </a:xfrm>
        </p:spPr>
        <p:txBody>
          <a:bodyPr>
            <a:normAutofit fontScale="92500" lnSpcReduction="20000"/>
          </a:bodyPr>
          <a:lstStyle/>
          <a:p>
            <a:r>
              <a:rPr lang="en-US" dirty="0"/>
              <a:t>Query Operators are special symbols (always prefixed with a </a:t>
            </a:r>
            <a:r>
              <a:rPr lang="en-US" dirty="0">
                <a:latin typeface="Courier New" panose="02070309020205020404" pitchFamily="49" charset="0"/>
                <a:cs typeface="Courier New" panose="02070309020205020404" pitchFamily="49" charset="0"/>
              </a:rPr>
              <a:t>$</a:t>
            </a:r>
            <a:r>
              <a:rPr lang="en-US" dirty="0"/>
              <a:t>) used inside a filter to express conditions more advanced than a simple exact-match.</a:t>
            </a:r>
          </a:p>
          <a:p>
            <a:pPr lvl="1"/>
            <a:r>
              <a:rPr lang="en-US" dirty="0"/>
              <a:t>E.g. “greater than”, “not equal to”, “one of several values”</a:t>
            </a:r>
          </a:p>
          <a:p>
            <a:r>
              <a:rPr lang="en-US" dirty="0"/>
              <a:t>These operators are used inside the filter argument for any operation that uses a filter (find, update and delete)</a:t>
            </a:r>
          </a:p>
          <a:p>
            <a:r>
              <a:rPr lang="en-US" dirty="0"/>
              <a:t>There are four categories of filter operators:</a:t>
            </a:r>
          </a:p>
          <a:p>
            <a:pPr lvl="1"/>
            <a:r>
              <a:rPr lang="en-US" b="1" dirty="0"/>
              <a:t>Comparison</a:t>
            </a:r>
            <a:r>
              <a:rPr lang="en-US" dirty="0"/>
              <a:t>: Match documents based on field values</a:t>
            </a:r>
          </a:p>
          <a:p>
            <a:pPr lvl="1"/>
            <a:r>
              <a:rPr lang="en-US" b="1" dirty="0"/>
              <a:t>Logical</a:t>
            </a:r>
            <a:r>
              <a:rPr lang="en-US" dirty="0"/>
              <a:t>: Match documents based on multiple logical conditions</a:t>
            </a:r>
          </a:p>
          <a:p>
            <a:pPr lvl="1"/>
            <a:r>
              <a:rPr lang="en-US" b="1" dirty="0"/>
              <a:t>Element</a:t>
            </a:r>
            <a:r>
              <a:rPr lang="en-US" dirty="0"/>
              <a:t>: Match documents based on field data type information</a:t>
            </a:r>
          </a:p>
          <a:p>
            <a:pPr lvl="1"/>
            <a:r>
              <a:rPr lang="en-US" b="1" dirty="0"/>
              <a:t>Array</a:t>
            </a:r>
            <a:r>
              <a:rPr lang="en-US" dirty="0"/>
              <a:t>: Match document of array fields based on array field data</a:t>
            </a:r>
          </a:p>
        </p:txBody>
      </p:sp>
      <p:sp>
        <p:nvSpPr>
          <p:cNvPr id="5" name="Title 4">
            <a:extLst>
              <a:ext uri="{FF2B5EF4-FFF2-40B4-BE49-F238E27FC236}">
                <a16:creationId xmlns:a16="http://schemas.microsoft.com/office/drawing/2014/main" id="{1E24D800-DA0E-B185-1A66-519B54F2E31D}"/>
              </a:ext>
            </a:extLst>
          </p:cNvPr>
          <p:cNvSpPr>
            <a:spLocks noGrp="1"/>
          </p:cNvSpPr>
          <p:nvPr>
            <p:ph type="title"/>
          </p:nvPr>
        </p:nvSpPr>
        <p:spPr/>
        <p:txBody>
          <a:bodyPr/>
          <a:lstStyle/>
          <a:p>
            <a:r>
              <a:rPr lang="en-US" dirty="0"/>
              <a:t>Filter Operators</a:t>
            </a:r>
          </a:p>
        </p:txBody>
      </p:sp>
    </p:spTree>
    <p:extLst>
      <p:ext uri="{BB962C8B-B14F-4D97-AF65-F5344CB8AC3E}">
        <p14:creationId xmlns:p14="http://schemas.microsoft.com/office/powerpoint/2010/main" val="3788495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D014F-7899-6997-0529-C67DB80C396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9749D8F-16EE-A9E7-BF0E-3AABE231BFE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38</a:t>
            </a:fld>
            <a:endParaRPr lang="en-US"/>
          </a:p>
        </p:txBody>
      </p:sp>
      <p:sp>
        <p:nvSpPr>
          <p:cNvPr id="5" name="Title 4">
            <a:extLst>
              <a:ext uri="{FF2B5EF4-FFF2-40B4-BE49-F238E27FC236}">
                <a16:creationId xmlns:a16="http://schemas.microsoft.com/office/drawing/2014/main" id="{80E1F42D-0718-5718-48BB-E99F39C2CDC7}"/>
              </a:ext>
            </a:extLst>
          </p:cNvPr>
          <p:cNvSpPr>
            <a:spLocks noGrp="1"/>
          </p:cNvSpPr>
          <p:nvPr>
            <p:ph type="title"/>
          </p:nvPr>
        </p:nvSpPr>
        <p:spPr/>
        <p:txBody>
          <a:bodyPr/>
          <a:lstStyle/>
          <a:p>
            <a:r>
              <a:rPr lang="en-US" dirty="0"/>
              <a:t>Filter Operators | Comparison</a:t>
            </a:r>
          </a:p>
        </p:txBody>
      </p:sp>
      <p:graphicFrame>
        <p:nvGraphicFramePr>
          <p:cNvPr id="3" name="Table 2">
            <a:extLst>
              <a:ext uri="{FF2B5EF4-FFF2-40B4-BE49-F238E27FC236}">
                <a16:creationId xmlns:a16="http://schemas.microsoft.com/office/drawing/2014/main" id="{2025E452-E67F-01E0-0C5B-DA40CDE0E50A}"/>
              </a:ext>
            </a:extLst>
          </p:cNvPr>
          <p:cNvGraphicFramePr>
            <a:graphicFrameLocks noGrp="1"/>
          </p:cNvGraphicFramePr>
          <p:nvPr>
            <p:extLst>
              <p:ext uri="{D42A27DB-BD31-4B8C-83A1-F6EECF244321}">
                <p14:modId xmlns:p14="http://schemas.microsoft.com/office/powerpoint/2010/main" val="2077790381"/>
              </p:ext>
            </p:extLst>
          </p:nvPr>
        </p:nvGraphicFramePr>
        <p:xfrm>
          <a:off x="159573" y="1701800"/>
          <a:ext cx="8824854" cy="3454400"/>
        </p:xfrm>
        <a:graphic>
          <a:graphicData uri="http://schemas.openxmlformats.org/drawingml/2006/table">
            <a:tbl>
              <a:tblPr firstRow="1" bandRow="1">
                <a:tableStyleId>{5C22544A-7EE6-4342-B048-85BDC9FD1C3A}</a:tableStyleId>
              </a:tblPr>
              <a:tblGrid>
                <a:gridCol w="1287390">
                  <a:extLst>
                    <a:ext uri="{9D8B030D-6E8A-4147-A177-3AD203B41FA5}">
                      <a16:colId xmlns:a16="http://schemas.microsoft.com/office/drawing/2014/main" val="4202507141"/>
                    </a:ext>
                  </a:extLst>
                </a:gridCol>
                <a:gridCol w="3225521">
                  <a:extLst>
                    <a:ext uri="{9D8B030D-6E8A-4147-A177-3AD203B41FA5}">
                      <a16:colId xmlns:a16="http://schemas.microsoft.com/office/drawing/2014/main" val="2653014772"/>
                    </a:ext>
                  </a:extLst>
                </a:gridCol>
                <a:gridCol w="4311943">
                  <a:extLst>
                    <a:ext uri="{9D8B030D-6E8A-4147-A177-3AD203B41FA5}">
                      <a16:colId xmlns:a16="http://schemas.microsoft.com/office/drawing/2014/main" val="3231311561"/>
                    </a:ext>
                  </a:extLst>
                </a:gridCol>
              </a:tblGrid>
              <a:tr h="370840">
                <a:tc>
                  <a:txBody>
                    <a:bodyPr/>
                    <a:lstStyle/>
                    <a:p>
                      <a:r>
                        <a:rPr lang="en-US" dirty="0"/>
                        <a:t>Operator</a:t>
                      </a:r>
                    </a:p>
                  </a:txBody>
                  <a:tcPr/>
                </a:tc>
                <a:tc>
                  <a:txBody>
                    <a:bodyPr/>
                    <a:lstStyle/>
                    <a:p>
                      <a:r>
                        <a:rPr lang="en-US" dirty="0"/>
                        <a:t>Description</a:t>
                      </a:r>
                    </a:p>
                  </a:txBody>
                  <a:tcPr/>
                </a:tc>
                <a:tc>
                  <a:txBody>
                    <a:bodyPr/>
                    <a:lstStyle/>
                    <a:p>
                      <a:r>
                        <a:rPr lang="en-US" dirty="0"/>
                        <a:t>Example</a:t>
                      </a:r>
                    </a:p>
                  </a:txBody>
                  <a:tcPr/>
                </a:tc>
                <a:extLst>
                  <a:ext uri="{0D108BD9-81ED-4DB2-BD59-A6C34878D82A}">
                    <a16:rowId xmlns:a16="http://schemas.microsoft.com/office/drawing/2014/main" val="3394265451"/>
                  </a:ext>
                </a:extLst>
              </a:tr>
              <a:tr h="370840">
                <a:tc>
                  <a:txBody>
                    <a:bodyPr/>
                    <a:lstStyle/>
                    <a:p>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gt</a:t>
                      </a:r>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gte</a:t>
                      </a:r>
                      <a:endParaRPr lang="en-US" sz="1400" dirty="0">
                        <a:latin typeface="Courier New" panose="02070309020205020404" pitchFamily="49" charset="0"/>
                        <a:cs typeface="Courier New" panose="02070309020205020404" pitchFamily="49" charset="0"/>
                      </a:endParaRPr>
                    </a:p>
                  </a:txBody>
                  <a:tcPr/>
                </a:tc>
                <a:tc>
                  <a:txBody>
                    <a:bodyPr/>
                    <a:lstStyle/>
                    <a:p>
                      <a:r>
                        <a:rPr lang="en-US" sz="1400" dirty="0"/>
                        <a:t>Greater than</a:t>
                      </a:r>
                    </a:p>
                    <a:p>
                      <a:r>
                        <a:rPr lang="en-US" sz="1400" dirty="0"/>
                        <a:t>Greater than or equal to</a:t>
                      </a:r>
                    </a:p>
                  </a:txBody>
                  <a:tcPr/>
                </a:tc>
                <a:tc>
                  <a:txBody>
                    <a:bodyPr/>
                    <a:lstStyle/>
                    <a:p>
                      <a:r>
                        <a:rPr lang="en-US" sz="1400" dirty="0" err="1">
                          <a:latin typeface="Courier New" panose="02070309020205020404" pitchFamily="49" charset="0"/>
                          <a:cs typeface="Courier New" panose="02070309020205020404" pitchFamily="49" charset="0"/>
                        </a:rPr>
                        <a:t>db.orders.find</a:t>
                      </a:r>
                      <a:r>
                        <a:rPr lang="en-US" sz="1400" dirty="0">
                          <a:latin typeface="Courier New" panose="02070309020205020404" pitchFamily="49" charset="0"/>
                          <a:cs typeface="Courier New" panose="02070309020205020404" pitchFamily="49" charset="0"/>
                        </a:rPr>
                        <a:t>({amount:{$gt:100}})</a:t>
                      </a:r>
                    </a:p>
                    <a:p>
                      <a:r>
                        <a:rPr lang="en-US" sz="1400" dirty="0" err="1">
                          <a:latin typeface="Courier New" panose="02070309020205020404" pitchFamily="49" charset="0"/>
                          <a:cs typeface="Courier New" panose="02070309020205020404" pitchFamily="49" charset="0"/>
                        </a:rPr>
                        <a:t>db.orders.find</a:t>
                      </a:r>
                      <a:r>
                        <a:rPr lang="en-US" sz="1400" dirty="0">
                          <a:latin typeface="Courier New" panose="02070309020205020404" pitchFamily="49" charset="0"/>
                          <a:cs typeface="Courier New" panose="02070309020205020404" pitchFamily="49" charset="0"/>
                        </a:rPr>
                        <a:t>({amount:{$gte:100}})</a:t>
                      </a:r>
                    </a:p>
                  </a:txBody>
                  <a:tcPr/>
                </a:tc>
                <a:extLst>
                  <a:ext uri="{0D108BD9-81ED-4DB2-BD59-A6C34878D82A}">
                    <a16:rowId xmlns:a16="http://schemas.microsoft.com/office/drawing/2014/main" val="2748510336"/>
                  </a:ext>
                </a:extLst>
              </a:tr>
              <a:tr h="370840">
                <a:tc>
                  <a:txBody>
                    <a:bodyPr/>
                    <a:lstStyle/>
                    <a:p>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lt</a:t>
                      </a:r>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lte</a:t>
                      </a:r>
                      <a:endParaRPr lang="en-US" sz="1400" dirty="0">
                        <a:latin typeface="Courier New" panose="02070309020205020404" pitchFamily="49" charset="0"/>
                        <a:cs typeface="Courier New" panose="02070309020205020404" pitchFamily="49" charset="0"/>
                      </a:endParaRPr>
                    </a:p>
                  </a:txBody>
                  <a:tcPr/>
                </a:tc>
                <a:tc>
                  <a:txBody>
                    <a:bodyPr/>
                    <a:lstStyle/>
                    <a:p>
                      <a:r>
                        <a:rPr lang="en-US" sz="1400" dirty="0"/>
                        <a:t>Less than</a:t>
                      </a:r>
                    </a:p>
                    <a:p>
                      <a:r>
                        <a:rPr lang="en-US" sz="1400" dirty="0"/>
                        <a:t>Less than or equal to</a:t>
                      </a:r>
                    </a:p>
                  </a:txBody>
                  <a:tcPr/>
                </a:tc>
                <a:tc>
                  <a:txBody>
                    <a:bodyPr/>
                    <a:lstStyle/>
                    <a:p>
                      <a:r>
                        <a:rPr lang="en-US" sz="1400" dirty="0" err="1">
                          <a:latin typeface="Courier New" panose="02070309020205020404" pitchFamily="49" charset="0"/>
                          <a:cs typeface="Courier New" panose="02070309020205020404" pitchFamily="49" charset="0"/>
                        </a:rPr>
                        <a:t>db.orders.find</a:t>
                      </a:r>
                      <a:r>
                        <a:rPr lang="en-US" sz="1400" dirty="0">
                          <a:latin typeface="Courier New" panose="02070309020205020404" pitchFamily="49" charset="0"/>
                          <a:cs typeface="Courier New" panose="02070309020205020404" pitchFamily="49" charset="0"/>
                        </a:rPr>
                        <a:t>({amount:{$lt:100}})</a:t>
                      </a:r>
                    </a:p>
                    <a:p>
                      <a:r>
                        <a:rPr lang="en-US" sz="1400" dirty="0" err="1">
                          <a:latin typeface="Courier New" panose="02070309020205020404" pitchFamily="49" charset="0"/>
                          <a:cs typeface="Courier New" panose="02070309020205020404" pitchFamily="49" charset="0"/>
                        </a:rPr>
                        <a:t>db.orders.find</a:t>
                      </a:r>
                      <a:r>
                        <a:rPr lang="en-US" sz="1400" dirty="0">
                          <a:latin typeface="Courier New" panose="02070309020205020404" pitchFamily="49" charset="0"/>
                          <a:cs typeface="Courier New" panose="02070309020205020404" pitchFamily="49" charset="0"/>
                        </a:rPr>
                        <a:t>({amount:{$lte:100}})</a:t>
                      </a:r>
                    </a:p>
                  </a:txBody>
                  <a:tcPr/>
                </a:tc>
                <a:extLst>
                  <a:ext uri="{0D108BD9-81ED-4DB2-BD59-A6C34878D82A}">
                    <a16:rowId xmlns:a16="http://schemas.microsoft.com/office/drawing/2014/main" val="2124088066"/>
                  </a:ext>
                </a:extLst>
              </a:tr>
              <a:tr h="370840">
                <a:tc>
                  <a:txBody>
                    <a:bodyPr/>
                    <a:lstStyle/>
                    <a:p>
                      <a:r>
                        <a:rPr lang="en-US" sz="1400" dirty="0">
                          <a:latin typeface="Courier New" panose="02070309020205020404" pitchFamily="49" charset="0"/>
                          <a:cs typeface="Courier New" panose="02070309020205020404" pitchFamily="49" charset="0"/>
                        </a:rPr>
                        <a:t>$ne</a:t>
                      </a:r>
                    </a:p>
                  </a:txBody>
                  <a:tcPr/>
                </a:tc>
                <a:tc>
                  <a:txBody>
                    <a:bodyPr/>
                    <a:lstStyle/>
                    <a:p>
                      <a:r>
                        <a:rPr lang="en-US" sz="1400" dirty="0"/>
                        <a:t>Not equal to</a:t>
                      </a:r>
                    </a:p>
                  </a:txBody>
                  <a:tcPr/>
                </a:tc>
                <a:tc>
                  <a:txBody>
                    <a:bodyPr/>
                    <a:lstStyle/>
                    <a:p>
                      <a:r>
                        <a:rPr lang="en-US" sz="1400" dirty="0" err="1">
                          <a:latin typeface="Courier New" panose="02070309020205020404" pitchFamily="49" charset="0"/>
                          <a:cs typeface="Courier New" panose="02070309020205020404" pitchFamily="49" charset="0"/>
                        </a:rPr>
                        <a:t>db.users.find</a:t>
                      </a:r>
                      <a:r>
                        <a:rPr lang="en-US" sz="1400" dirty="0">
                          <a:latin typeface="Courier New" panose="02070309020205020404" pitchFamily="49" charset="0"/>
                          <a:cs typeface="Courier New" panose="02070309020205020404" pitchFamily="49" charset="0"/>
                        </a:rPr>
                        <a:t>({status:{$</a:t>
                      </a:r>
                      <a:r>
                        <a:rPr lang="en-US" sz="1400" dirty="0" err="1">
                          <a:latin typeface="Courier New" panose="02070309020205020404" pitchFamily="49" charset="0"/>
                          <a:cs typeface="Courier New" panose="02070309020205020404" pitchFamily="49" charset="0"/>
                        </a:rPr>
                        <a:t>ne:”banned</a:t>
                      </a:r>
                      <a:r>
                        <a:rPr lang="en-US" sz="1400" dirty="0">
                          <a:latin typeface="Courier New" panose="02070309020205020404" pitchFamily="49" charset="0"/>
                          <a:cs typeface="Courier New" panose="02070309020205020404" pitchFamily="49" charset="0"/>
                        </a:rPr>
                        <a:t>”}})</a:t>
                      </a:r>
                    </a:p>
                  </a:txBody>
                  <a:tcPr/>
                </a:tc>
                <a:extLst>
                  <a:ext uri="{0D108BD9-81ED-4DB2-BD59-A6C34878D82A}">
                    <a16:rowId xmlns:a16="http://schemas.microsoft.com/office/drawing/2014/main" val="1418808306"/>
                  </a:ext>
                </a:extLst>
              </a:tr>
              <a:tr h="370840">
                <a:tc>
                  <a:txBody>
                    <a:bodyPr/>
                    <a:lstStyle/>
                    <a:p>
                      <a:r>
                        <a:rPr lang="en-US" sz="1400" dirty="0">
                          <a:latin typeface="Courier New" panose="02070309020205020404" pitchFamily="49" charset="0"/>
                          <a:cs typeface="Courier New" panose="02070309020205020404" pitchFamily="49" charset="0"/>
                        </a:rPr>
                        <a:t>$in</a:t>
                      </a:r>
                    </a:p>
                  </a:txBody>
                  <a:tcPr/>
                </a:tc>
                <a:tc>
                  <a:txBody>
                    <a:bodyPr/>
                    <a:lstStyle/>
                    <a:p>
                      <a:r>
                        <a:rPr lang="en-US" sz="1400" dirty="0"/>
                        <a:t>Matches if the field’s value is any one of the values in a specified list</a:t>
                      </a:r>
                    </a:p>
                  </a:txBody>
                  <a:tcPr/>
                </a:tc>
                <a:tc>
                  <a:txBody>
                    <a:bodyPr/>
                    <a:lstStyle/>
                    <a:p>
                      <a:r>
                        <a:rPr lang="en-US" sz="1400" dirty="0" err="1">
                          <a:latin typeface="Courier New" panose="02070309020205020404" pitchFamily="49" charset="0"/>
                          <a:cs typeface="Courier New" panose="02070309020205020404" pitchFamily="49" charset="0"/>
                        </a:rPr>
                        <a:t>db.orders.find</a:t>
                      </a:r>
                      <a:r>
                        <a:rPr lang="en-US" sz="1400" dirty="0">
                          <a:latin typeface="Courier New" panose="02070309020205020404" pitchFamily="49" charset="0"/>
                          <a:cs typeface="Courier New" panose="02070309020205020404" pitchFamily="49" charset="0"/>
                        </a:rPr>
                        <a:t>(</a:t>
                      </a:r>
                    </a:p>
                    <a:p>
                      <a:r>
                        <a:rPr lang="en-US" sz="1400" dirty="0">
                          <a:latin typeface="Courier New" panose="02070309020205020404" pitchFamily="49" charset="0"/>
                          <a:cs typeface="Courier New" panose="02070309020205020404" pitchFamily="49" charset="0"/>
                        </a:rPr>
                        <a:t>  {item:{$in:[“Laptop”, “Mouse”, “Keyboard]}</a:t>
                      </a:r>
                    </a:p>
                    <a:p>
                      <a:r>
                        <a:rPr lang="en-US" sz="1400" dirty="0">
                          <a:latin typeface="Courier New" panose="02070309020205020404" pitchFamily="49" charset="0"/>
                          <a:cs typeface="Courier New" panose="02070309020205020404" pitchFamily="49" charset="0"/>
                        </a:rPr>
                        <a:t>});</a:t>
                      </a:r>
                    </a:p>
                  </a:txBody>
                  <a:tcPr/>
                </a:tc>
                <a:extLst>
                  <a:ext uri="{0D108BD9-81ED-4DB2-BD59-A6C34878D82A}">
                    <a16:rowId xmlns:a16="http://schemas.microsoft.com/office/drawing/2014/main" val="1564051272"/>
                  </a:ext>
                </a:extLst>
              </a:tr>
              <a:tr h="370840">
                <a:tc>
                  <a:txBody>
                    <a:bodyPr/>
                    <a:lstStyle/>
                    <a:p>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nin</a:t>
                      </a:r>
                      <a:endParaRPr lang="en-US" sz="1400" dirty="0">
                        <a:latin typeface="Courier New" panose="02070309020205020404" pitchFamily="49" charset="0"/>
                        <a:cs typeface="Courier New" panose="02070309020205020404" pitchFamily="49" charset="0"/>
                      </a:endParaRPr>
                    </a:p>
                  </a:txBody>
                  <a:tcPr/>
                </a:tc>
                <a:tc>
                  <a:txBody>
                    <a:bodyPr/>
                    <a:lstStyle/>
                    <a:p>
                      <a:r>
                        <a:rPr lang="en-US" sz="1400" dirty="0"/>
                        <a:t>Matches if the field’s value is none of the values in a specified list</a:t>
                      </a:r>
                    </a:p>
                  </a:txBody>
                  <a:tcPr/>
                </a:tc>
                <a:tc>
                  <a:txBody>
                    <a:bodyPr/>
                    <a:lstStyle/>
                    <a:p>
                      <a:r>
                        <a:rPr lang="en-US" sz="1400" dirty="0" err="1">
                          <a:latin typeface="Courier New" panose="02070309020205020404" pitchFamily="49" charset="0"/>
                          <a:cs typeface="Courier New" panose="02070309020205020404" pitchFamily="49" charset="0"/>
                        </a:rPr>
                        <a:t>db.users.find</a:t>
                      </a:r>
                      <a:r>
                        <a:rPr lang="en-US" sz="1400" dirty="0">
                          <a:latin typeface="Courier New" panose="02070309020205020404" pitchFamily="49" charset="0"/>
                          <a:cs typeface="Courier New" panose="02070309020205020404" pitchFamily="49" charset="0"/>
                        </a:rPr>
                        <a:t>(</a:t>
                      </a:r>
                    </a:p>
                    <a:p>
                      <a:r>
                        <a:rPr lang="en-US" sz="1400" dirty="0">
                          <a:latin typeface="Courier New" panose="02070309020205020404" pitchFamily="49" charset="0"/>
                          <a:cs typeface="Courier New" panose="02070309020205020404" pitchFamily="49" charset="0"/>
                        </a:rPr>
                        <a:t>  {state:{$</a:t>
                      </a:r>
                      <a:r>
                        <a:rPr lang="en-US" sz="1400" dirty="0" err="1">
                          <a:latin typeface="Courier New" panose="02070309020205020404" pitchFamily="49" charset="0"/>
                          <a:cs typeface="Courier New" panose="02070309020205020404" pitchFamily="49" charset="0"/>
                        </a:rPr>
                        <a:t>nin</a:t>
                      </a:r>
                      <a:r>
                        <a:rPr lang="en-US" sz="1400" dirty="0">
                          <a:latin typeface="Courier New" panose="02070309020205020404" pitchFamily="49" charset="0"/>
                          <a:cs typeface="Courier New" panose="02070309020205020404" pitchFamily="49" charset="0"/>
                        </a:rPr>
                        <a:t>: [“CA”, “NY”, “TX”]}</a:t>
                      </a:r>
                    </a:p>
                    <a:p>
                      <a:r>
                        <a:rPr lang="en-US" sz="1400" dirty="0">
                          <a:latin typeface="Courier New" panose="02070309020205020404" pitchFamily="49" charset="0"/>
                          <a:cs typeface="Courier New" panose="02070309020205020404" pitchFamily="49" charset="0"/>
                        </a:rPr>
                        <a:t>});</a:t>
                      </a:r>
                    </a:p>
                  </a:txBody>
                  <a:tcPr/>
                </a:tc>
                <a:extLst>
                  <a:ext uri="{0D108BD9-81ED-4DB2-BD59-A6C34878D82A}">
                    <a16:rowId xmlns:a16="http://schemas.microsoft.com/office/drawing/2014/main" val="1859701164"/>
                  </a:ext>
                </a:extLst>
              </a:tr>
            </a:tbl>
          </a:graphicData>
        </a:graphic>
      </p:graphicFrame>
    </p:spTree>
    <p:extLst>
      <p:ext uri="{BB962C8B-B14F-4D97-AF65-F5344CB8AC3E}">
        <p14:creationId xmlns:p14="http://schemas.microsoft.com/office/powerpoint/2010/main" val="12120561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E2560-E9A7-28F8-633C-F989BDF9FA2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0692CD5-569B-2B0B-F1BC-D5A3EE2F024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39</a:t>
            </a:fld>
            <a:endParaRPr lang="en-US"/>
          </a:p>
        </p:txBody>
      </p:sp>
      <p:sp>
        <p:nvSpPr>
          <p:cNvPr id="5" name="Title 4">
            <a:extLst>
              <a:ext uri="{FF2B5EF4-FFF2-40B4-BE49-F238E27FC236}">
                <a16:creationId xmlns:a16="http://schemas.microsoft.com/office/drawing/2014/main" id="{05DDC23B-1728-4BE0-B45D-DA88106033DC}"/>
              </a:ext>
            </a:extLst>
          </p:cNvPr>
          <p:cNvSpPr>
            <a:spLocks noGrp="1"/>
          </p:cNvSpPr>
          <p:nvPr>
            <p:ph type="title"/>
          </p:nvPr>
        </p:nvSpPr>
        <p:spPr/>
        <p:txBody>
          <a:bodyPr/>
          <a:lstStyle/>
          <a:p>
            <a:r>
              <a:rPr lang="en-US" dirty="0"/>
              <a:t>Filter Operators | Logical</a:t>
            </a:r>
          </a:p>
        </p:txBody>
      </p:sp>
      <p:graphicFrame>
        <p:nvGraphicFramePr>
          <p:cNvPr id="3" name="Table 2">
            <a:extLst>
              <a:ext uri="{FF2B5EF4-FFF2-40B4-BE49-F238E27FC236}">
                <a16:creationId xmlns:a16="http://schemas.microsoft.com/office/drawing/2014/main" id="{2BEACCB4-B2A2-5ED1-D0C1-232697C3D8EA}"/>
              </a:ext>
            </a:extLst>
          </p:cNvPr>
          <p:cNvGraphicFramePr>
            <a:graphicFrameLocks noGrp="1"/>
          </p:cNvGraphicFramePr>
          <p:nvPr>
            <p:extLst>
              <p:ext uri="{D42A27DB-BD31-4B8C-83A1-F6EECF244321}">
                <p14:modId xmlns:p14="http://schemas.microsoft.com/office/powerpoint/2010/main" val="1575989091"/>
              </p:ext>
            </p:extLst>
          </p:nvPr>
        </p:nvGraphicFramePr>
        <p:xfrm>
          <a:off x="159574" y="1400350"/>
          <a:ext cx="8824854" cy="5217160"/>
        </p:xfrm>
        <a:graphic>
          <a:graphicData uri="http://schemas.openxmlformats.org/drawingml/2006/table">
            <a:tbl>
              <a:tblPr firstRow="1" bandRow="1">
                <a:tableStyleId>{5C22544A-7EE6-4342-B048-85BDC9FD1C3A}</a:tableStyleId>
              </a:tblPr>
              <a:tblGrid>
                <a:gridCol w="1287390">
                  <a:extLst>
                    <a:ext uri="{9D8B030D-6E8A-4147-A177-3AD203B41FA5}">
                      <a16:colId xmlns:a16="http://schemas.microsoft.com/office/drawing/2014/main" val="4202507141"/>
                    </a:ext>
                  </a:extLst>
                </a:gridCol>
                <a:gridCol w="3225521">
                  <a:extLst>
                    <a:ext uri="{9D8B030D-6E8A-4147-A177-3AD203B41FA5}">
                      <a16:colId xmlns:a16="http://schemas.microsoft.com/office/drawing/2014/main" val="2653014772"/>
                    </a:ext>
                  </a:extLst>
                </a:gridCol>
                <a:gridCol w="4311943">
                  <a:extLst>
                    <a:ext uri="{9D8B030D-6E8A-4147-A177-3AD203B41FA5}">
                      <a16:colId xmlns:a16="http://schemas.microsoft.com/office/drawing/2014/main" val="3231311561"/>
                    </a:ext>
                  </a:extLst>
                </a:gridCol>
              </a:tblGrid>
              <a:tr h="370840">
                <a:tc>
                  <a:txBody>
                    <a:bodyPr/>
                    <a:lstStyle/>
                    <a:p>
                      <a:r>
                        <a:rPr lang="en-US" dirty="0"/>
                        <a:t>Operator</a:t>
                      </a:r>
                    </a:p>
                  </a:txBody>
                  <a:tcPr/>
                </a:tc>
                <a:tc>
                  <a:txBody>
                    <a:bodyPr/>
                    <a:lstStyle/>
                    <a:p>
                      <a:r>
                        <a:rPr lang="en-US" dirty="0"/>
                        <a:t>Description</a:t>
                      </a:r>
                    </a:p>
                  </a:txBody>
                  <a:tcPr/>
                </a:tc>
                <a:tc>
                  <a:txBody>
                    <a:bodyPr/>
                    <a:lstStyle/>
                    <a:p>
                      <a:r>
                        <a:rPr lang="en-US" dirty="0"/>
                        <a:t>Example</a:t>
                      </a:r>
                    </a:p>
                  </a:txBody>
                  <a:tcPr/>
                </a:tc>
                <a:extLst>
                  <a:ext uri="{0D108BD9-81ED-4DB2-BD59-A6C34878D82A}">
                    <a16:rowId xmlns:a16="http://schemas.microsoft.com/office/drawing/2014/main" val="3394265451"/>
                  </a:ext>
                </a:extLst>
              </a:tr>
              <a:tr h="370840">
                <a:tc>
                  <a:txBody>
                    <a:bodyPr/>
                    <a:lstStyle/>
                    <a:p>
                      <a:r>
                        <a:rPr lang="en-US" sz="1400" dirty="0">
                          <a:latin typeface="Courier New" panose="02070309020205020404" pitchFamily="49" charset="0"/>
                          <a:cs typeface="Courier New" panose="02070309020205020404" pitchFamily="49" charset="0"/>
                        </a:rPr>
                        <a:t>$and</a:t>
                      </a:r>
                    </a:p>
                  </a:txBody>
                  <a:tcPr/>
                </a:tc>
                <a:tc>
                  <a:txBody>
                    <a:bodyPr/>
                    <a:lstStyle/>
                    <a:p>
                      <a:r>
                        <a:rPr lang="en-US" sz="1400" dirty="0"/>
                        <a:t>all conditions must be true</a:t>
                      </a:r>
                    </a:p>
                  </a:txBody>
                  <a:tcPr/>
                </a:tc>
                <a:tc>
                  <a:txBody>
                    <a:bodyPr/>
                    <a:lstStyle/>
                    <a:p>
                      <a:r>
                        <a:rPr lang="en-US" sz="1400" dirty="0" err="1">
                          <a:latin typeface="Courier New" panose="02070309020205020404" pitchFamily="49" charset="0"/>
                          <a:cs typeface="Courier New" panose="02070309020205020404" pitchFamily="49" charset="0"/>
                        </a:rPr>
                        <a:t>db.orders.find</a:t>
                      </a:r>
                      <a:r>
                        <a:rPr lang="en-US" sz="1400" dirty="0">
                          <a:latin typeface="Courier New" panose="02070309020205020404" pitchFamily="49" charset="0"/>
                          <a:cs typeface="Courier New" panose="02070309020205020404" pitchFamily="49" charset="0"/>
                        </a:rPr>
                        <a:t>({</a:t>
                      </a:r>
                    </a:p>
                    <a:p>
                      <a:r>
                        <a:rPr lang="en-US" sz="1400" dirty="0">
                          <a:latin typeface="Courier New" panose="02070309020205020404" pitchFamily="49" charset="0"/>
                          <a:cs typeface="Courier New" panose="02070309020205020404" pitchFamily="49" charset="0"/>
                        </a:rPr>
                        <a:t>  $and: [</a:t>
                      </a:r>
                    </a:p>
                    <a:p>
                      <a:r>
                        <a:rPr lang="en-US" sz="1400" dirty="0">
                          <a:latin typeface="Courier New" panose="02070309020205020404" pitchFamily="49" charset="0"/>
                          <a:cs typeface="Courier New" panose="02070309020205020404" pitchFamily="49" charset="0"/>
                        </a:rPr>
                        <a:t>    {amount:{$gte:50}},</a:t>
                      </a:r>
                    </a:p>
                    <a:p>
                      <a:r>
                        <a:rPr lang="en-US" sz="1400" dirty="0">
                          <a:latin typeface="Courier New" panose="02070309020205020404" pitchFamily="49" charset="0"/>
                          <a:cs typeface="Courier New" panose="02070309020205020404" pitchFamily="49" charset="0"/>
                        </a:rPr>
                        <a:t>    {amount:{$lte:500}}</a:t>
                      </a:r>
                    </a:p>
                    <a:p>
                      <a:r>
                        <a:rPr lang="en-US" sz="1400" dirty="0">
                          <a:latin typeface="Courier New" panose="02070309020205020404" pitchFamily="49" charset="0"/>
                          <a:cs typeface="Courier New" panose="02070309020205020404" pitchFamily="49" charset="0"/>
                        </a:rPr>
                        <a:t>  ]</a:t>
                      </a:r>
                    </a:p>
                    <a:p>
                      <a:r>
                        <a:rPr lang="en-US" sz="1400" dirty="0">
                          <a:latin typeface="Courier New" panose="02070309020205020404" pitchFamily="49" charset="0"/>
                          <a:cs typeface="Courier New" panose="02070309020205020404" pitchFamily="49" charset="0"/>
                        </a:rPr>
                        <a:t>});</a:t>
                      </a:r>
                    </a:p>
                  </a:txBody>
                  <a:tcPr/>
                </a:tc>
                <a:extLst>
                  <a:ext uri="{0D108BD9-81ED-4DB2-BD59-A6C34878D82A}">
                    <a16:rowId xmlns:a16="http://schemas.microsoft.com/office/drawing/2014/main" val="2748510336"/>
                  </a:ext>
                </a:extLst>
              </a:tr>
              <a:tr h="370840">
                <a:tc>
                  <a:txBody>
                    <a:bodyPr/>
                    <a:lstStyle/>
                    <a:p>
                      <a:r>
                        <a:rPr lang="en-US" sz="1400" dirty="0">
                          <a:latin typeface="Courier New" panose="02070309020205020404" pitchFamily="49" charset="0"/>
                          <a:cs typeface="Courier New" panose="02070309020205020404" pitchFamily="49" charset="0"/>
                        </a:rPr>
                        <a:t>$or</a:t>
                      </a:r>
                    </a:p>
                  </a:txBody>
                  <a:tcPr/>
                </a:tc>
                <a:tc>
                  <a:txBody>
                    <a:bodyPr/>
                    <a:lstStyle/>
                    <a:p>
                      <a:r>
                        <a:rPr lang="en-US" sz="1400" dirty="0"/>
                        <a:t>At least one condition must be true</a:t>
                      </a:r>
                    </a:p>
                  </a:txBody>
                  <a:tcPr/>
                </a:tc>
                <a:tc>
                  <a:txBody>
                    <a:bodyPr/>
                    <a:lstStyle/>
                    <a:p>
                      <a:r>
                        <a:rPr lang="en-US" sz="1400" dirty="0" err="1">
                          <a:latin typeface="Courier New" panose="02070309020205020404" pitchFamily="49" charset="0"/>
                          <a:cs typeface="Courier New" panose="02070309020205020404" pitchFamily="49" charset="0"/>
                        </a:rPr>
                        <a:t>db.sales.find</a:t>
                      </a:r>
                      <a:r>
                        <a:rPr lang="en-US" sz="1400" dirty="0">
                          <a:latin typeface="Courier New" panose="02070309020205020404" pitchFamily="49" charset="0"/>
                          <a:cs typeface="Courier New" panose="02070309020205020404" pitchFamily="49" charset="0"/>
                        </a:rPr>
                        <a:t>({</a:t>
                      </a:r>
                    </a:p>
                    <a:p>
                      <a:r>
                        <a:rPr lang="en-US" sz="1400" dirty="0">
                          <a:latin typeface="Courier New" panose="02070309020205020404" pitchFamily="49" charset="0"/>
                          <a:cs typeface="Courier New" panose="02070309020205020404" pitchFamily="49" charset="0"/>
                        </a:rPr>
                        <a:t>  $or: [</a:t>
                      </a:r>
                    </a:p>
                    <a:p>
                      <a:r>
                        <a:rPr lang="en-US" sz="1400" dirty="0">
                          <a:latin typeface="Courier New" panose="02070309020205020404" pitchFamily="49" charset="0"/>
                          <a:cs typeface="Courier New" panose="02070309020205020404" pitchFamily="49" charset="0"/>
                        </a:rPr>
                        <a:t>    {status: ”pending”},</a:t>
                      </a:r>
                    </a:p>
                    <a:p>
                      <a:r>
                        <a:rPr lang="en-US" sz="1400" dirty="0">
                          <a:latin typeface="Courier New" panose="02070309020205020404" pitchFamily="49" charset="0"/>
                          <a:cs typeface="Courier New" panose="02070309020205020404" pitchFamily="49" charset="0"/>
                        </a:rPr>
                        <a:t>    {total:{$gte:800}}</a:t>
                      </a:r>
                    </a:p>
                    <a:p>
                      <a:r>
                        <a:rPr lang="en-US" sz="1400" dirty="0">
                          <a:latin typeface="Courier New" panose="02070309020205020404" pitchFamily="49" charset="0"/>
                          <a:cs typeface="Courier New" panose="02070309020205020404" pitchFamily="49" charset="0"/>
                        </a:rPr>
                        <a:t>  ]</a:t>
                      </a:r>
                    </a:p>
                    <a:p>
                      <a:r>
                        <a:rPr lang="en-US" sz="1400" dirty="0">
                          <a:latin typeface="Courier New" panose="02070309020205020404" pitchFamily="49" charset="0"/>
                          <a:cs typeface="Courier New" panose="02070309020205020404" pitchFamily="49" charset="0"/>
                        </a:rPr>
                        <a:t>});</a:t>
                      </a:r>
                    </a:p>
                  </a:txBody>
                  <a:tcPr/>
                </a:tc>
                <a:extLst>
                  <a:ext uri="{0D108BD9-81ED-4DB2-BD59-A6C34878D82A}">
                    <a16:rowId xmlns:a16="http://schemas.microsoft.com/office/drawing/2014/main" val="2124088066"/>
                  </a:ext>
                </a:extLst>
              </a:tr>
              <a:tr h="370840">
                <a:tc>
                  <a:txBody>
                    <a:bodyPr/>
                    <a:lstStyle/>
                    <a:p>
                      <a:r>
                        <a:rPr lang="en-US" sz="1400" dirty="0">
                          <a:latin typeface="Courier New" panose="02070309020205020404" pitchFamily="49" charset="0"/>
                          <a:cs typeface="Courier New" panose="02070309020205020404" pitchFamily="49" charset="0"/>
                        </a:rPr>
                        <a:t>$not</a:t>
                      </a:r>
                    </a:p>
                  </a:txBody>
                  <a:tcPr/>
                </a:tc>
                <a:tc>
                  <a:txBody>
                    <a:bodyPr/>
                    <a:lstStyle/>
                    <a:p>
                      <a:r>
                        <a:rPr lang="en-US" sz="1400" dirty="0"/>
                        <a:t>Negates a condition</a:t>
                      </a:r>
                    </a:p>
                  </a:txBody>
                  <a:tcPr/>
                </a:tc>
                <a:tc>
                  <a:txBody>
                    <a:bodyPr/>
                    <a:lstStyle/>
                    <a:p>
                      <a:r>
                        <a:rPr lang="en-US" sz="1400" dirty="0" err="1">
                          <a:latin typeface="Courier New" panose="02070309020205020404" pitchFamily="49" charset="0"/>
                          <a:cs typeface="Courier New" panose="02070309020205020404" pitchFamily="49" charset="0"/>
                        </a:rPr>
                        <a:t>db.movies.find</a:t>
                      </a:r>
                      <a:r>
                        <a:rPr lang="en-US" sz="1400" dirty="0">
                          <a:latin typeface="Courier New" panose="02070309020205020404" pitchFamily="49" charset="0"/>
                          <a:cs typeface="Courier New" panose="02070309020205020404" pitchFamily="49" charset="0"/>
                        </a:rPr>
                        <a:t>({ </a:t>
                      </a:r>
                    </a:p>
                    <a:p>
                      <a:r>
                        <a:rPr lang="en-US" sz="1400" dirty="0">
                          <a:latin typeface="Courier New" panose="02070309020205020404" pitchFamily="49" charset="0"/>
                          <a:cs typeface="Courier New" panose="02070309020205020404" pitchFamily="49" charset="0"/>
                        </a:rPr>
                        <a:t>  runtime: { $not: {$</a:t>
                      </a:r>
                      <a:r>
                        <a:rPr lang="en-US" sz="1400" dirty="0" err="1">
                          <a:latin typeface="Courier New" panose="02070309020205020404" pitchFamily="49" charset="0"/>
                          <a:cs typeface="Courier New" panose="02070309020205020404" pitchFamily="49" charset="0"/>
                        </a:rPr>
                        <a:t>gt</a:t>
                      </a:r>
                      <a:r>
                        <a:rPr lang="en-US" sz="1400" dirty="0">
                          <a:latin typeface="Courier New" panose="02070309020205020404" pitchFamily="49" charset="0"/>
                          <a:cs typeface="Courier New" panose="02070309020205020404" pitchFamily="49" charset="0"/>
                        </a:rPr>
                        <a:t>: 180}} </a:t>
                      </a:r>
                    </a:p>
                    <a:p>
                      <a:r>
                        <a:rPr lang="en-US" sz="1400" dirty="0">
                          <a:latin typeface="Courier New" panose="02070309020205020404" pitchFamily="49" charset="0"/>
                          <a:cs typeface="Courier New" panose="02070309020205020404" pitchFamily="49" charset="0"/>
                        </a:rPr>
                        <a:t>});</a:t>
                      </a:r>
                    </a:p>
                  </a:txBody>
                  <a:tcPr/>
                </a:tc>
                <a:extLst>
                  <a:ext uri="{0D108BD9-81ED-4DB2-BD59-A6C34878D82A}">
                    <a16:rowId xmlns:a16="http://schemas.microsoft.com/office/drawing/2014/main" val="1418808306"/>
                  </a:ext>
                </a:extLst>
              </a:tr>
              <a:tr h="370840">
                <a:tc>
                  <a:txBody>
                    <a:bodyPr/>
                    <a:lstStyle/>
                    <a:p>
                      <a:r>
                        <a:rPr lang="en-US" sz="1400" dirty="0">
                          <a:latin typeface="Courier New" panose="02070309020205020404" pitchFamily="49" charset="0"/>
                          <a:cs typeface="Courier New" panose="02070309020205020404" pitchFamily="49" charset="0"/>
                        </a:rPr>
                        <a:t>$nor</a:t>
                      </a:r>
                    </a:p>
                  </a:txBody>
                  <a:tcPr/>
                </a:tc>
                <a:tc>
                  <a:txBody>
                    <a:bodyPr/>
                    <a:lstStyle/>
                    <a:p>
                      <a:r>
                        <a:rPr lang="en-US" sz="1400" dirty="0"/>
                        <a:t>All conditions must be false</a:t>
                      </a:r>
                    </a:p>
                  </a:txBody>
                  <a:tcPr/>
                </a:tc>
                <a:tc>
                  <a:txBody>
                    <a:bodyPr/>
                    <a:lstStyle/>
                    <a:p>
                      <a:r>
                        <a:rPr lang="en-US" sz="1400" dirty="0" err="1">
                          <a:latin typeface="Courier New" panose="02070309020205020404" pitchFamily="49" charset="0"/>
                          <a:cs typeface="Courier New" panose="02070309020205020404" pitchFamily="49" charset="0"/>
                        </a:rPr>
                        <a:t>db.inventory.find</a:t>
                      </a:r>
                      <a:r>
                        <a:rPr lang="en-US" sz="1400" dirty="0">
                          <a:latin typeface="Courier New" panose="02070309020205020404" pitchFamily="49" charset="0"/>
                          <a:cs typeface="Courier New" panose="02070309020205020404" pitchFamily="49" charset="0"/>
                        </a:rPr>
                        <a:t>({</a:t>
                      </a:r>
                    </a:p>
                    <a:p>
                      <a:r>
                        <a:rPr lang="en-US" sz="1400" dirty="0">
                          <a:latin typeface="Courier New" panose="02070309020205020404" pitchFamily="49" charset="0"/>
                          <a:cs typeface="Courier New" panose="02070309020205020404" pitchFamily="49" charset="0"/>
                        </a:rPr>
                        <a:t>  $nor: [</a:t>
                      </a:r>
                    </a:p>
                    <a:p>
                      <a:r>
                        <a:rPr lang="en-US" sz="1400" dirty="0">
                          <a:latin typeface="Courier New" panose="02070309020205020404" pitchFamily="49" charset="0"/>
                          <a:cs typeface="Courier New" panose="02070309020205020404" pitchFamily="49" charset="0"/>
                        </a:rPr>
                        <a:t>    {price:{1.99}},</a:t>
                      </a:r>
                    </a:p>
                    <a:p>
                      <a:r>
                        <a:rPr lang="en-US" sz="1400" dirty="0">
                          <a:latin typeface="Courier New" panose="02070309020205020404" pitchFamily="49" charset="0"/>
                          <a:cs typeface="Courier New" panose="02070309020205020404" pitchFamily="49" charset="0"/>
                        </a:rPr>
                        <a:t>    {qty:{$lte:50}}</a:t>
                      </a:r>
                    </a:p>
                    <a:p>
                      <a:r>
                        <a:rPr lang="en-US" sz="1400" dirty="0">
                          <a:latin typeface="Courier New" panose="02070309020205020404" pitchFamily="49" charset="0"/>
                          <a:cs typeface="Courier New" panose="02070309020205020404" pitchFamily="49" charset="0"/>
                        </a:rPr>
                        <a:t>  ]</a:t>
                      </a:r>
                    </a:p>
                    <a:p>
                      <a:r>
                        <a:rPr lang="en-US" sz="1400" dirty="0">
                          <a:latin typeface="Courier New" panose="02070309020205020404" pitchFamily="49" charset="0"/>
                          <a:cs typeface="Courier New" panose="02070309020205020404" pitchFamily="49" charset="0"/>
                        </a:rPr>
                        <a:t>});</a:t>
                      </a:r>
                    </a:p>
                  </a:txBody>
                  <a:tcPr/>
                </a:tc>
                <a:extLst>
                  <a:ext uri="{0D108BD9-81ED-4DB2-BD59-A6C34878D82A}">
                    <a16:rowId xmlns:a16="http://schemas.microsoft.com/office/drawing/2014/main" val="1564051272"/>
                  </a:ext>
                </a:extLst>
              </a:tr>
            </a:tbl>
          </a:graphicData>
        </a:graphic>
      </p:graphicFrame>
    </p:spTree>
    <p:extLst>
      <p:ext uri="{BB962C8B-B14F-4D97-AF65-F5344CB8AC3E}">
        <p14:creationId xmlns:p14="http://schemas.microsoft.com/office/powerpoint/2010/main" val="4937932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468E8-2B33-E3DD-517C-1F02921BCAC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28D47BC-2119-2EA4-7947-1A954B76898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40</a:t>
            </a:fld>
            <a:endParaRPr lang="en-US"/>
          </a:p>
        </p:txBody>
      </p:sp>
      <p:sp>
        <p:nvSpPr>
          <p:cNvPr id="5" name="Title 4">
            <a:extLst>
              <a:ext uri="{FF2B5EF4-FFF2-40B4-BE49-F238E27FC236}">
                <a16:creationId xmlns:a16="http://schemas.microsoft.com/office/drawing/2014/main" id="{6C06B279-285C-0050-D99B-761768264CC6}"/>
              </a:ext>
            </a:extLst>
          </p:cNvPr>
          <p:cNvSpPr>
            <a:spLocks noGrp="1"/>
          </p:cNvSpPr>
          <p:nvPr>
            <p:ph type="title"/>
          </p:nvPr>
        </p:nvSpPr>
        <p:spPr/>
        <p:txBody>
          <a:bodyPr/>
          <a:lstStyle/>
          <a:p>
            <a:r>
              <a:rPr lang="en-US" dirty="0"/>
              <a:t>Filter Operators | Element Operators</a:t>
            </a:r>
          </a:p>
        </p:txBody>
      </p:sp>
      <p:graphicFrame>
        <p:nvGraphicFramePr>
          <p:cNvPr id="3" name="Table 2">
            <a:extLst>
              <a:ext uri="{FF2B5EF4-FFF2-40B4-BE49-F238E27FC236}">
                <a16:creationId xmlns:a16="http://schemas.microsoft.com/office/drawing/2014/main" id="{25E783F7-C53B-A3C7-49A7-743F860F0696}"/>
              </a:ext>
            </a:extLst>
          </p:cNvPr>
          <p:cNvGraphicFramePr>
            <a:graphicFrameLocks noGrp="1"/>
          </p:cNvGraphicFramePr>
          <p:nvPr>
            <p:extLst>
              <p:ext uri="{D42A27DB-BD31-4B8C-83A1-F6EECF244321}">
                <p14:modId xmlns:p14="http://schemas.microsoft.com/office/powerpoint/2010/main" val="4266497050"/>
              </p:ext>
            </p:extLst>
          </p:nvPr>
        </p:nvGraphicFramePr>
        <p:xfrm>
          <a:off x="159573" y="2174073"/>
          <a:ext cx="8824854" cy="1833880"/>
        </p:xfrm>
        <a:graphic>
          <a:graphicData uri="http://schemas.openxmlformats.org/drawingml/2006/table">
            <a:tbl>
              <a:tblPr firstRow="1" bandRow="1">
                <a:tableStyleId>{5C22544A-7EE6-4342-B048-85BDC9FD1C3A}</a:tableStyleId>
              </a:tblPr>
              <a:tblGrid>
                <a:gridCol w="1287390">
                  <a:extLst>
                    <a:ext uri="{9D8B030D-6E8A-4147-A177-3AD203B41FA5}">
                      <a16:colId xmlns:a16="http://schemas.microsoft.com/office/drawing/2014/main" val="4202507141"/>
                    </a:ext>
                  </a:extLst>
                </a:gridCol>
                <a:gridCol w="3225521">
                  <a:extLst>
                    <a:ext uri="{9D8B030D-6E8A-4147-A177-3AD203B41FA5}">
                      <a16:colId xmlns:a16="http://schemas.microsoft.com/office/drawing/2014/main" val="2653014772"/>
                    </a:ext>
                  </a:extLst>
                </a:gridCol>
                <a:gridCol w="4311943">
                  <a:extLst>
                    <a:ext uri="{9D8B030D-6E8A-4147-A177-3AD203B41FA5}">
                      <a16:colId xmlns:a16="http://schemas.microsoft.com/office/drawing/2014/main" val="3231311561"/>
                    </a:ext>
                  </a:extLst>
                </a:gridCol>
              </a:tblGrid>
              <a:tr h="370840">
                <a:tc>
                  <a:txBody>
                    <a:bodyPr/>
                    <a:lstStyle/>
                    <a:p>
                      <a:r>
                        <a:rPr lang="en-US" dirty="0"/>
                        <a:t>Operator</a:t>
                      </a:r>
                    </a:p>
                  </a:txBody>
                  <a:tcPr/>
                </a:tc>
                <a:tc>
                  <a:txBody>
                    <a:bodyPr/>
                    <a:lstStyle/>
                    <a:p>
                      <a:r>
                        <a:rPr lang="en-US" dirty="0"/>
                        <a:t>Description</a:t>
                      </a:r>
                    </a:p>
                  </a:txBody>
                  <a:tcPr/>
                </a:tc>
                <a:tc>
                  <a:txBody>
                    <a:bodyPr/>
                    <a:lstStyle/>
                    <a:p>
                      <a:r>
                        <a:rPr lang="en-US" dirty="0"/>
                        <a:t>Example</a:t>
                      </a:r>
                    </a:p>
                  </a:txBody>
                  <a:tcPr/>
                </a:tc>
                <a:extLst>
                  <a:ext uri="{0D108BD9-81ED-4DB2-BD59-A6C34878D82A}">
                    <a16:rowId xmlns:a16="http://schemas.microsoft.com/office/drawing/2014/main" val="3394265451"/>
                  </a:ext>
                </a:extLst>
              </a:tr>
              <a:tr h="370840">
                <a:tc>
                  <a:txBody>
                    <a:bodyPr/>
                    <a:lstStyle/>
                    <a:p>
                      <a:r>
                        <a:rPr lang="en-US" sz="1400" dirty="0">
                          <a:latin typeface="Courier New" panose="02070309020205020404" pitchFamily="49" charset="0"/>
                          <a:cs typeface="Courier New" panose="02070309020205020404" pitchFamily="49" charset="0"/>
                        </a:rPr>
                        <a:t>$exists</a:t>
                      </a:r>
                    </a:p>
                  </a:txBody>
                  <a:tcPr/>
                </a:tc>
                <a:tc>
                  <a:txBody>
                    <a:bodyPr/>
                    <a:lstStyle/>
                    <a:p>
                      <a:r>
                        <a:rPr lang="en-US" sz="1400" dirty="0"/>
                        <a:t>Matches documents where a field is (or isn’t) present at all</a:t>
                      </a:r>
                    </a:p>
                  </a:txBody>
                  <a:tcPr/>
                </a:tc>
                <a:tc>
                  <a:txBody>
                    <a:bodyPr/>
                    <a:lstStyle/>
                    <a:p>
                      <a:r>
                        <a:rPr lang="en-US" sz="1400" dirty="0" err="1">
                          <a:latin typeface="Courier New" panose="02070309020205020404" pitchFamily="49" charset="0"/>
                          <a:cs typeface="Courier New" panose="02070309020205020404" pitchFamily="49" charset="0"/>
                        </a:rPr>
                        <a:t>db.users.find</a:t>
                      </a:r>
                      <a:r>
                        <a:rPr lang="en-US" sz="1400" dirty="0">
                          <a:latin typeface="Courier New" panose="02070309020205020404" pitchFamily="49" charset="0"/>
                          <a:cs typeface="Courier New" panose="02070309020205020404" pitchFamily="49" charset="0"/>
                        </a:rPr>
                        <a:t>({ </a:t>
                      </a:r>
                    </a:p>
                    <a:p>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phoneNumber</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exists:true</a:t>
                      </a:r>
                      <a:r>
                        <a:rPr lang="en-US" sz="1400" dirty="0">
                          <a:latin typeface="Courier New" panose="02070309020205020404" pitchFamily="49" charset="0"/>
                          <a:cs typeface="Courier New" panose="02070309020205020404" pitchFamily="49" charset="0"/>
                        </a:rPr>
                        <a:t>} </a:t>
                      </a:r>
                    </a:p>
                    <a:p>
                      <a:r>
                        <a:rPr lang="en-US" sz="1400" dirty="0">
                          <a:latin typeface="Courier New" panose="02070309020205020404" pitchFamily="49" charset="0"/>
                          <a:cs typeface="Courier New" panose="02070309020205020404" pitchFamily="49" charset="0"/>
                        </a:rPr>
                        <a:t>});</a:t>
                      </a:r>
                    </a:p>
                  </a:txBody>
                  <a:tcPr/>
                </a:tc>
                <a:extLst>
                  <a:ext uri="{0D108BD9-81ED-4DB2-BD59-A6C34878D82A}">
                    <a16:rowId xmlns:a16="http://schemas.microsoft.com/office/drawing/2014/main" val="2748510336"/>
                  </a:ext>
                </a:extLst>
              </a:tr>
              <a:tr h="370840">
                <a:tc>
                  <a:txBody>
                    <a:bodyPr/>
                    <a:lstStyle/>
                    <a:p>
                      <a:r>
                        <a:rPr lang="en-US" sz="1400" dirty="0">
                          <a:latin typeface="Courier New" panose="02070309020205020404" pitchFamily="49" charset="0"/>
                          <a:cs typeface="Courier New" panose="02070309020205020404" pitchFamily="49" charset="0"/>
                        </a:rPr>
                        <a:t>$type</a:t>
                      </a:r>
                    </a:p>
                  </a:txBody>
                  <a:tcPr/>
                </a:tc>
                <a:tc>
                  <a:txBody>
                    <a:bodyPr/>
                    <a:lstStyle/>
                    <a:p>
                      <a:r>
                        <a:rPr lang="en-US" sz="1400" dirty="0"/>
                        <a:t>Matches documents where a field is a specific BSON data type</a:t>
                      </a:r>
                    </a:p>
                  </a:txBody>
                  <a:tcPr/>
                </a:tc>
                <a:tc>
                  <a:txBody>
                    <a:bodyPr/>
                    <a:lstStyle/>
                    <a:p>
                      <a:r>
                        <a:rPr lang="en-US" sz="1400" dirty="0" err="1">
                          <a:latin typeface="Courier New" panose="02070309020205020404" pitchFamily="49" charset="0"/>
                          <a:cs typeface="Courier New" panose="02070309020205020404" pitchFamily="49" charset="0"/>
                        </a:rPr>
                        <a:t>db.books.find</a:t>
                      </a:r>
                      <a:r>
                        <a:rPr lang="en-US" sz="1400" dirty="0">
                          <a:latin typeface="Courier New" panose="02070309020205020404" pitchFamily="49" charset="0"/>
                          <a:cs typeface="Courier New" panose="02070309020205020404" pitchFamily="49" charset="0"/>
                        </a:rPr>
                        <a:t>({</a:t>
                      </a:r>
                    </a:p>
                    <a:p>
                      <a:r>
                        <a:rPr lang="en-US" sz="1400" dirty="0">
                          <a:latin typeface="Courier New" panose="02070309020205020404" pitchFamily="49" charset="0"/>
                          <a:cs typeface="Courier New" panose="02070309020205020404" pitchFamily="49" charset="0"/>
                        </a:rPr>
                        <a:t>  { </a:t>
                      </a:r>
                      <a:r>
                        <a:rPr lang="en-US" sz="1400" dirty="0" err="1">
                          <a:latin typeface="Courier New" panose="02070309020205020404" pitchFamily="49" charset="0"/>
                          <a:cs typeface="Courier New" panose="02070309020205020404" pitchFamily="49" charset="0"/>
                        </a:rPr>
                        <a:t>isbn</a:t>
                      </a:r>
                      <a:r>
                        <a:rPr lang="en-US" sz="1400" dirty="0">
                          <a:latin typeface="Courier New" panose="02070309020205020404" pitchFamily="49" charset="0"/>
                          <a:cs typeface="Courier New" panose="02070309020205020404" pitchFamily="49" charset="0"/>
                        </a:rPr>
                        <a:t>: { $type: [“string”, “int”]}}</a:t>
                      </a:r>
                    </a:p>
                    <a:p>
                      <a:r>
                        <a:rPr lang="en-US" sz="1400" dirty="0">
                          <a:latin typeface="Courier New" panose="02070309020205020404" pitchFamily="49" charset="0"/>
                          <a:cs typeface="Courier New" panose="02070309020205020404" pitchFamily="49" charset="0"/>
                        </a:rPr>
                        <a:t>})</a:t>
                      </a:r>
                    </a:p>
                  </a:txBody>
                  <a:tcPr/>
                </a:tc>
                <a:extLst>
                  <a:ext uri="{0D108BD9-81ED-4DB2-BD59-A6C34878D82A}">
                    <a16:rowId xmlns:a16="http://schemas.microsoft.com/office/drawing/2014/main" val="2124088066"/>
                  </a:ext>
                </a:extLst>
              </a:tr>
            </a:tbl>
          </a:graphicData>
        </a:graphic>
      </p:graphicFrame>
    </p:spTree>
    <p:extLst>
      <p:ext uri="{BB962C8B-B14F-4D97-AF65-F5344CB8AC3E}">
        <p14:creationId xmlns:p14="http://schemas.microsoft.com/office/powerpoint/2010/main" val="17123914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6C46E-645F-600E-56DE-035299DCD14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325F7D0-E529-5C57-690B-69DDB092BFC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41</a:t>
            </a:fld>
            <a:endParaRPr lang="en-US"/>
          </a:p>
        </p:txBody>
      </p:sp>
      <p:sp>
        <p:nvSpPr>
          <p:cNvPr id="5" name="Title 4">
            <a:extLst>
              <a:ext uri="{FF2B5EF4-FFF2-40B4-BE49-F238E27FC236}">
                <a16:creationId xmlns:a16="http://schemas.microsoft.com/office/drawing/2014/main" id="{37E50595-3C97-3D55-A0E7-425622FCB0A0}"/>
              </a:ext>
            </a:extLst>
          </p:cNvPr>
          <p:cNvSpPr>
            <a:spLocks noGrp="1"/>
          </p:cNvSpPr>
          <p:nvPr>
            <p:ph type="title"/>
          </p:nvPr>
        </p:nvSpPr>
        <p:spPr/>
        <p:txBody>
          <a:bodyPr/>
          <a:lstStyle/>
          <a:p>
            <a:r>
              <a:rPr lang="en-US" dirty="0"/>
              <a:t>Filter Operators | Array Operators</a:t>
            </a:r>
          </a:p>
        </p:txBody>
      </p:sp>
      <p:graphicFrame>
        <p:nvGraphicFramePr>
          <p:cNvPr id="3" name="Table 2">
            <a:extLst>
              <a:ext uri="{FF2B5EF4-FFF2-40B4-BE49-F238E27FC236}">
                <a16:creationId xmlns:a16="http://schemas.microsoft.com/office/drawing/2014/main" id="{FC2E5461-E61B-8A13-C9D6-6292974507A4}"/>
              </a:ext>
            </a:extLst>
          </p:cNvPr>
          <p:cNvGraphicFramePr>
            <a:graphicFrameLocks noGrp="1"/>
          </p:cNvGraphicFramePr>
          <p:nvPr>
            <p:extLst>
              <p:ext uri="{D42A27DB-BD31-4B8C-83A1-F6EECF244321}">
                <p14:modId xmlns:p14="http://schemas.microsoft.com/office/powerpoint/2010/main" val="2358589878"/>
              </p:ext>
            </p:extLst>
          </p:nvPr>
        </p:nvGraphicFramePr>
        <p:xfrm>
          <a:off x="159573" y="2174073"/>
          <a:ext cx="8824854" cy="3418840"/>
        </p:xfrm>
        <a:graphic>
          <a:graphicData uri="http://schemas.openxmlformats.org/drawingml/2006/table">
            <a:tbl>
              <a:tblPr firstRow="1" bandRow="1">
                <a:tableStyleId>{5C22544A-7EE6-4342-B048-85BDC9FD1C3A}</a:tableStyleId>
              </a:tblPr>
              <a:tblGrid>
                <a:gridCol w="1287390">
                  <a:extLst>
                    <a:ext uri="{9D8B030D-6E8A-4147-A177-3AD203B41FA5}">
                      <a16:colId xmlns:a16="http://schemas.microsoft.com/office/drawing/2014/main" val="4202507141"/>
                    </a:ext>
                  </a:extLst>
                </a:gridCol>
                <a:gridCol w="3225521">
                  <a:extLst>
                    <a:ext uri="{9D8B030D-6E8A-4147-A177-3AD203B41FA5}">
                      <a16:colId xmlns:a16="http://schemas.microsoft.com/office/drawing/2014/main" val="2653014772"/>
                    </a:ext>
                  </a:extLst>
                </a:gridCol>
                <a:gridCol w="4311943">
                  <a:extLst>
                    <a:ext uri="{9D8B030D-6E8A-4147-A177-3AD203B41FA5}">
                      <a16:colId xmlns:a16="http://schemas.microsoft.com/office/drawing/2014/main" val="3231311561"/>
                    </a:ext>
                  </a:extLst>
                </a:gridCol>
              </a:tblGrid>
              <a:tr h="370840">
                <a:tc>
                  <a:txBody>
                    <a:bodyPr/>
                    <a:lstStyle/>
                    <a:p>
                      <a:r>
                        <a:rPr lang="en-US" dirty="0"/>
                        <a:t>Operator</a:t>
                      </a:r>
                    </a:p>
                  </a:txBody>
                  <a:tcPr/>
                </a:tc>
                <a:tc>
                  <a:txBody>
                    <a:bodyPr/>
                    <a:lstStyle/>
                    <a:p>
                      <a:r>
                        <a:rPr lang="en-US" dirty="0"/>
                        <a:t>Description</a:t>
                      </a:r>
                    </a:p>
                  </a:txBody>
                  <a:tcPr/>
                </a:tc>
                <a:tc>
                  <a:txBody>
                    <a:bodyPr/>
                    <a:lstStyle/>
                    <a:p>
                      <a:r>
                        <a:rPr lang="en-US" dirty="0"/>
                        <a:t>Example</a:t>
                      </a:r>
                    </a:p>
                  </a:txBody>
                  <a:tcPr/>
                </a:tc>
                <a:extLst>
                  <a:ext uri="{0D108BD9-81ED-4DB2-BD59-A6C34878D82A}">
                    <a16:rowId xmlns:a16="http://schemas.microsoft.com/office/drawing/2014/main" val="3394265451"/>
                  </a:ext>
                </a:extLst>
              </a:tr>
              <a:tr h="370840">
                <a:tc>
                  <a:txBody>
                    <a:bodyPr/>
                    <a:lstStyle/>
                    <a:p>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elemMatch</a:t>
                      </a:r>
                      <a:endParaRPr lang="en-US" sz="1400" dirty="0">
                        <a:latin typeface="Courier New" panose="02070309020205020404" pitchFamily="49" charset="0"/>
                        <a:cs typeface="Courier New" panose="02070309020205020404" pitchFamily="49" charset="0"/>
                      </a:endParaRPr>
                    </a:p>
                  </a:txBody>
                  <a:tcPr/>
                </a:tc>
                <a:tc>
                  <a:txBody>
                    <a:bodyPr/>
                    <a:lstStyle/>
                    <a:p>
                      <a:r>
                        <a:rPr lang="en-US" sz="1400" dirty="0"/>
                        <a:t>Matches documents where at least one array element satisfied multiple specified conditions</a:t>
                      </a:r>
                    </a:p>
                  </a:txBody>
                  <a:tcPr/>
                </a:tc>
                <a:tc>
                  <a:txBody>
                    <a:bodyPr/>
                    <a:lstStyle/>
                    <a:p>
                      <a:r>
                        <a:rPr lang="en-US" sz="1400" dirty="0" err="1">
                          <a:latin typeface="Courier New" panose="02070309020205020404" pitchFamily="49" charset="0"/>
                          <a:cs typeface="Courier New" panose="02070309020205020404" pitchFamily="49" charset="0"/>
                        </a:rPr>
                        <a:t>db.orders.find</a:t>
                      </a:r>
                      <a:r>
                        <a:rPr lang="en-US" sz="1400" dirty="0">
                          <a:latin typeface="Courier New" panose="02070309020205020404" pitchFamily="49" charset="0"/>
                          <a:cs typeface="Courier New" panose="02070309020205020404" pitchFamily="49" charset="0"/>
                        </a:rPr>
                        <a:t>({ </a:t>
                      </a:r>
                    </a:p>
                    <a:p>
                      <a:r>
                        <a:rPr lang="en-US" sz="1400" dirty="0">
                          <a:latin typeface="Courier New" panose="02070309020205020404" pitchFamily="49" charset="0"/>
                          <a:cs typeface="Courier New" panose="02070309020205020404" pitchFamily="49" charset="0"/>
                        </a:rPr>
                        <a:t>  items: { </a:t>
                      </a:r>
                    </a:p>
                    <a:p>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elemMatch</a:t>
                      </a:r>
                      <a:r>
                        <a:rPr lang="en-US" sz="1400" dirty="0">
                          <a:latin typeface="Courier New" panose="02070309020205020404" pitchFamily="49" charset="0"/>
                          <a:cs typeface="Courier New" panose="02070309020205020404" pitchFamily="49" charset="0"/>
                        </a:rPr>
                        <a:t>: { product: “Laptop,</a:t>
                      </a:r>
                    </a:p>
                    <a:p>
                      <a:r>
                        <a:rPr lang="en-US" sz="1400" dirty="0">
                          <a:latin typeface="Courier New" panose="02070309020205020404" pitchFamily="49" charset="0"/>
                          <a:cs typeface="Courier New" panose="02070309020205020404" pitchFamily="49" charset="0"/>
                        </a:rPr>
                        <a:t>                  qty: {$</a:t>
                      </a:r>
                      <a:r>
                        <a:rPr lang="en-US" sz="1400" dirty="0" err="1">
                          <a:latin typeface="Courier New" panose="02070309020205020404" pitchFamily="49" charset="0"/>
                          <a:cs typeface="Courier New" panose="02070309020205020404" pitchFamily="49" charset="0"/>
                        </a:rPr>
                        <a:t>gte</a:t>
                      </a:r>
                      <a:r>
                        <a:rPr lang="en-US" sz="1400" dirty="0">
                          <a:latin typeface="Courier New" panose="02070309020205020404" pitchFamily="49" charset="0"/>
                          <a:cs typeface="Courier New" panose="02070309020205020404" pitchFamily="49" charset="0"/>
                        </a:rPr>
                        <a:t>: 2} }</a:t>
                      </a:r>
                    </a:p>
                    <a:p>
                      <a:r>
                        <a:rPr lang="en-US" sz="1400" dirty="0">
                          <a:latin typeface="Courier New" panose="02070309020205020404" pitchFamily="49" charset="0"/>
                          <a:cs typeface="Courier New" panose="02070309020205020404" pitchFamily="49" charset="0"/>
                        </a:rPr>
                        <a:t>  } </a:t>
                      </a:r>
                    </a:p>
                    <a:p>
                      <a:r>
                        <a:rPr lang="en-US" sz="1400" dirty="0">
                          <a:latin typeface="Courier New" panose="02070309020205020404" pitchFamily="49" charset="0"/>
                          <a:cs typeface="Courier New" panose="02070309020205020404" pitchFamily="49" charset="0"/>
                        </a:rPr>
                        <a:t>});</a:t>
                      </a:r>
                    </a:p>
                  </a:txBody>
                  <a:tcPr/>
                </a:tc>
                <a:extLst>
                  <a:ext uri="{0D108BD9-81ED-4DB2-BD59-A6C34878D82A}">
                    <a16:rowId xmlns:a16="http://schemas.microsoft.com/office/drawing/2014/main" val="2748510336"/>
                  </a:ext>
                </a:extLst>
              </a:tr>
              <a:tr h="370840">
                <a:tc>
                  <a:txBody>
                    <a:bodyPr/>
                    <a:lstStyle/>
                    <a:p>
                      <a:r>
                        <a:rPr lang="en-US" sz="1400" dirty="0">
                          <a:latin typeface="Courier New" panose="02070309020205020404" pitchFamily="49" charset="0"/>
                          <a:cs typeface="Courier New" panose="02070309020205020404" pitchFamily="49" charset="0"/>
                        </a:rPr>
                        <a:t>$all</a:t>
                      </a:r>
                    </a:p>
                  </a:txBody>
                  <a:tcPr/>
                </a:tc>
                <a:tc>
                  <a:txBody>
                    <a:bodyPr/>
                    <a:lstStyle/>
                    <a:p>
                      <a:r>
                        <a:rPr lang="en-US" sz="1400" dirty="0"/>
                        <a:t>Matches documents where an array field contains all of the specified values (in any order)</a:t>
                      </a:r>
                    </a:p>
                  </a:txBody>
                  <a:tcPr/>
                </a:tc>
                <a:tc>
                  <a:txBody>
                    <a:bodyPr/>
                    <a:lstStyle/>
                    <a:p>
                      <a:r>
                        <a:rPr lang="en-US" sz="1400" dirty="0" err="1">
                          <a:latin typeface="Courier New" panose="02070309020205020404" pitchFamily="49" charset="0"/>
                          <a:cs typeface="Courier New" panose="02070309020205020404" pitchFamily="49" charset="0"/>
                        </a:rPr>
                        <a:t>db.users.find</a:t>
                      </a:r>
                      <a:r>
                        <a:rPr lang="en-US" sz="1400" dirty="0">
                          <a:latin typeface="Courier New" panose="02070309020205020404" pitchFamily="49" charset="0"/>
                          <a:cs typeface="Courier New" panose="02070309020205020404" pitchFamily="49" charset="0"/>
                        </a:rPr>
                        <a:t>({</a:t>
                      </a:r>
                    </a:p>
                    <a:p>
                      <a:r>
                        <a:rPr lang="en-US" sz="1400" dirty="0">
                          <a:latin typeface="Courier New" panose="02070309020205020404" pitchFamily="49" charset="0"/>
                          <a:cs typeface="Courier New" panose="02070309020205020404" pitchFamily="49" charset="0"/>
                        </a:rPr>
                        <a:t>  role: { $all: [“beta-tester”, “premium”]}</a:t>
                      </a:r>
                    </a:p>
                    <a:p>
                      <a:r>
                        <a:rPr lang="en-US" sz="1400" dirty="0">
                          <a:latin typeface="Courier New" panose="02070309020205020404" pitchFamily="49" charset="0"/>
                          <a:cs typeface="Courier New" panose="02070309020205020404" pitchFamily="49" charset="0"/>
                        </a:rPr>
                        <a:t>})</a:t>
                      </a:r>
                    </a:p>
                  </a:txBody>
                  <a:tcPr/>
                </a:tc>
                <a:extLst>
                  <a:ext uri="{0D108BD9-81ED-4DB2-BD59-A6C34878D82A}">
                    <a16:rowId xmlns:a16="http://schemas.microsoft.com/office/drawing/2014/main" val="2124088066"/>
                  </a:ext>
                </a:extLst>
              </a:tr>
              <a:tr h="370840">
                <a:tc>
                  <a:txBody>
                    <a:bodyPr/>
                    <a:lstStyle/>
                    <a:p>
                      <a:r>
                        <a:rPr lang="en-US" sz="1400" dirty="0">
                          <a:latin typeface="Courier New" panose="02070309020205020404" pitchFamily="49" charset="0"/>
                          <a:cs typeface="Courier New" panose="02070309020205020404" pitchFamily="49" charset="0"/>
                        </a:rPr>
                        <a:t>$size</a:t>
                      </a:r>
                    </a:p>
                  </a:txBody>
                  <a:tcPr/>
                </a:tc>
                <a:tc>
                  <a:txBody>
                    <a:bodyPr/>
                    <a:lstStyle/>
                    <a:p>
                      <a:r>
                        <a:rPr lang="en-US" sz="1400" dirty="0"/>
                        <a:t>Matches documents where an array field has an exact number of elements</a:t>
                      </a:r>
                    </a:p>
                  </a:txBody>
                  <a:tcPr/>
                </a:tc>
                <a:tc>
                  <a:txBody>
                    <a:bodyPr/>
                    <a:lstStyle/>
                    <a:p>
                      <a:r>
                        <a:rPr lang="en-US" sz="1400" dirty="0" err="1">
                          <a:latin typeface="Courier New" panose="02070309020205020404" pitchFamily="49" charset="0"/>
                          <a:cs typeface="Courier New" panose="02070309020205020404" pitchFamily="49" charset="0"/>
                        </a:rPr>
                        <a:t>db.products.find</a:t>
                      </a:r>
                      <a:r>
                        <a:rPr lang="en-US" sz="1400" dirty="0">
                          <a:latin typeface="Courier New" panose="02070309020205020404" pitchFamily="49" charset="0"/>
                          <a:cs typeface="Courier New" panose="02070309020205020404" pitchFamily="49" charset="0"/>
                        </a:rPr>
                        <a:t>({</a:t>
                      </a:r>
                    </a:p>
                    <a:p>
                      <a:r>
                        <a:rPr lang="en-US" sz="1400" dirty="0">
                          <a:latin typeface="Courier New" panose="02070309020205020404" pitchFamily="49" charset="0"/>
                          <a:cs typeface="Courier New" panose="02070309020205020404" pitchFamily="49" charset="0"/>
                        </a:rPr>
                        <a:t>  tags: { $size: 2 }</a:t>
                      </a:r>
                    </a:p>
                    <a:p>
                      <a:r>
                        <a:rPr lang="en-US" sz="1400" dirty="0">
                          <a:latin typeface="Courier New" panose="02070309020205020404" pitchFamily="49" charset="0"/>
                          <a:cs typeface="Courier New" panose="02070309020205020404" pitchFamily="49" charset="0"/>
                        </a:rPr>
                        <a:t>});</a:t>
                      </a:r>
                    </a:p>
                  </a:txBody>
                  <a:tcPr/>
                </a:tc>
                <a:extLst>
                  <a:ext uri="{0D108BD9-81ED-4DB2-BD59-A6C34878D82A}">
                    <a16:rowId xmlns:a16="http://schemas.microsoft.com/office/drawing/2014/main" val="3907281473"/>
                  </a:ext>
                </a:extLst>
              </a:tr>
            </a:tbl>
          </a:graphicData>
        </a:graphic>
      </p:graphicFrame>
    </p:spTree>
    <p:extLst>
      <p:ext uri="{BB962C8B-B14F-4D97-AF65-F5344CB8AC3E}">
        <p14:creationId xmlns:p14="http://schemas.microsoft.com/office/powerpoint/2010/main" val="446713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F7675-CDCB-1AAD-23B4-46783DCCBB0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0D74508-546D-21BC-090B-176854C2712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42</a:t>
            </a:fld>
            <a:endParaRPr lang="en-US"/>
          </a:p>
        </p:txBody>
      </p:sp>
      <p:sp>
        <p:nvSpPr>
          <p:cNvPr id="6" name="Content Placeholder 5">
            <a:extLst>
              <a:ext uri="{FF2B5EF4-FFF2-40B4-BE49-F238E27FC236}">
                <a16:creationId xmlns:a16="http://schemas.microsoft.com/office/drawing/2014/main" id="{38594981-C825-6394-E076-F2C54C82C763}"/>
              </a:ext>
            </a:extLst>
          </p:cNvPr>
          <p:cNvSpPr>
            <a:spLocks noGrp="1"/>
          </p:cNvSpPr>
          <p:nvPr>
            <p:ph idx="1"/>
          </p:nvPr>
        </p:nvSpPr>
        <p:spPr>
          <a:xfrm>
            <a:off x="380010" y="1481446"/>
            <a:ext cx="8383980" cy="2094511"/>
          </a:xfrm>
        </p:spPr>
        <p:txBody>
          <a:bodyPr>
            <a:normAutofit fontScale="92500" lnSpcReduction="10000"/>
          </a:bodyPr>
          <a:lstStyle/>
          <a:p>
            <a:r>
              <a:rPr lang="en-US" b="1" i="1" dirty="0"/>
              <a:t>Projections</a:t>
            </a:r>
            <a:r>
              <a:rPr lang="en-US" dirty="0"/>
              <a:t>: The optional, second argument for </a:t>
            </a:r>
            <a:r>
              <a:rPr lang="en-US" dirty="0">
                <a:latin typeface="Courier New" panose="02070309020205020404" pitchFamily="49" charset="0"/>
                <a:cs typeface="Courier New" panose="02070309020205020404" pitchFamily="49" charset="0"/>
              </a:rPr>
              <a:t>find()</a:t>
            </a:r>
            <a:r>
              <a:rPr lang="en-US" dirty="0"/>
              <a:t> and </a:t>
            </a:r>
            <a:r>
              <a:rPr lang="en-US" dirty="0" err="1">
                <a:latin typeface="Courier New" panose="02070309020205020404" pitchFamily="49" charset="0"/>
                <a:cs typeface="Courier New" panose="02070309020205020404" pitchFamily="49" charset="0"/>
              </a:rPr>
              <a:t>findOne</a:t>
            </a:r>
            <a:r>
              <a:rPr lang="en-US" dirty="0">
                <a:latin typeface="Courier New" panose="02070309020205020404" pitchFamily="49" charset="0"/>
                <a:cs typeface="Courier New" panose="02070309020205020404" pitchFamily="49" charset="0"/>
              </a:rPr>
              <a:t>()</a:t>
            </a:r>
            <a:r>
              <a:rPr lang="en-US" dirty="0"/>
              <a:t> which </a:t>
            </a:r>
            <a:r>
              <a:rPr lang="en-US" b="1" i="1" dirty="0"/>
              <a:t>controls which fields are returned</a:t>
            </a:r>
            <a:r>
              <a:rPr lang="en-US" dirty="0"/>
              <a:t> for each matching document.</a:t>
            </a:r>
          </a:p>
          <a:p>
            <a:r>
              <a:rPr lang="en-US" dirty="0"/>
              <a:t>Setting a field to 1 </a:t>
            </a:r>
            <a:r>
              <a:rPr lang="en-US" b="1" i="1" dirty="0"/>
              <a:t>includes</a:t>
            </a:r>
            <a:r>
              <a:rPr lang="en-US" dirty="0"/>
              <a:t> it in the results.</a:t>
            </a:r>
          </a:p>
          <a:p>
            <a:r>
              <a:rPr lang="en-US" dirty="0"/>
              <a:t>Setting a field to 0 </a:t>
            </a:r>
            <a:r>
              <a:rPr lang="en-US" b="1" i="1" dirty="0"/>
              <a:t>excludes</a:t>
            </a:r>
            <a:r>
              <a:rPr lang="en-US" dirty="0"/>
              <a:t> it in the results.</a:t>
            </a:r>
          </a:p>
        </p:txBody>
      </p:sp>
      <p:sp>
        <p:nvSpPr>
          <p:cNvPr id="5" name="Title 4">
            <a:extLst>
              <a:ext uri="{FF2B5EF4-FFF2-40B4-BE49-F238E27FC236}">
                <a16:creationId xmlns:a16="http://schemas.microsoft.com/office/drawing/2014/main" id="{77118583-C650-49C8-BED5-EE6B1A397651}"/>
              </a:ext>
            </a:extLst>
          </p:cNvPr>
          <p:cNvSpPr>
            <a:spLocks noGrp="1"/>
          </p:cNvSpPr>
          <p:nvPr>
            <p:ph type="title"/>
          </p:nvPr>
        </p:nvSpPr>
        <p:spPr/>
        <p:txBody>
          <a:bodyPr/>
          <a:lstStyle/>
          <a:p>
            <a:r>
              <a:rPr lang="en-US" dirty="0"/>
              <a:t>Querying | Projections</a:t>
            </a:r>
          </a:p>
        </p:txBody>
      </p:sp>
      <p:sp>
        <p:nvSpPr>
          <p:cNvPr id="2" name="Google Shape;219;p16">
            <a:extLst>
              <a:ext uri="{FF2B5EF4-FFF2-40B4-BE49-F238E27FC236}">
                <a16:creationId xmlns:a16="http://schemas.microsoft.com/office/drawing/2014/main" id="{EAA165BD-399D-C6E0-F53C-12C09B2A7FF9}"/>
              </a:ext>
            </a:extLst>
          </p:cNvPr>
          <p:cNvSpPr txBox="1">
            <a:spLocks/>
          </p:cNvSpPr>
          <p:nvPr/>
        </p:nvSpPr>
        <p:spPr>
          <a:xfrm>
            <a:off x="1301261" y="3623172"/>
            <a:ext cx="6541477" cy="1346662"/>
          </a:xfrm>
          <a:prstGeom prst="rect">
            <a:avLst/>
          </a:prstGeom>
        </p:spPr>
        <p:style>
          <a:lnRef idx="1">
            <a:schemeClr val="accent2"/>
          </a:lnRef>
          <a:fillRef idx="2">
            <a:schemeClr val="accent2"/>
          </a:fillRef>
          <a:effectRef idx="1">
            <a:schemeClr val="accent2"/>
          </a:effectRef>
          <a:fontRef idx="minor">
            <a:schemeClr val="dk1"/>
          </a:fontRef>
        </p:style>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100000"/>
              </a:lnSpc>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100000"/>
              </a:lnSpc>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100000"/>
              </a:lnSpc>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9pPr>
          </a:lstStyle>
          <a:p>
            <a:pPr marL="0" lvl="0" indent="0">
              <a:lnSpc>
                <a:spcPct val="90000"/>
              </a:lnSpc>
              <a:spcBef>
                <a:spcPts val="360"/>
              </a:spcBef>
              <a:buSzPts val="1800"/>
              <a:buNone/>
            </a:pPr>
            <a:r>
              <a:rPr lang="en-US" sz="1800" dirty="0" err="1">
                <a:solidFill>
                  <a:srgbClr val="474C55"/>
                </a:solidFill>
                <a:latin typeface="Courier New"/>
                <a:ea typeface="Courier New"/>
                <a:cs typeface="Courier New"/>
                <a:sym typeface="Courier New"/>
              </a:rPr>
              <a:t>db.users.find</a:t>
            </a:r>
            <a:r>
              <a:rPr lang="en-US" sz="1800" dirty="0">
                <a:solidFill>
                  <a:srgbClr val="474C55"/>
                </a:solidFill>
                <a:latin typeface="Courier New"/>
                <a:ea typeface="Courier New"/>
                <a:cs typeface="Courier New"/>
                <a:sym typeface="Courier New"/>
              </a:rPr>
              <a:t>(</a:t>
            </a:r>
          </a:p>
          <a:p>
            <a:pPr marL="0" lvl="0" indent="0">
              <a:lnSpc>
                <a:spcPct val="90000"/>
              </a:lnSpc>
              <a:spcBef>
                <a:spcPts val="360"/>
              </a:spcBef>
              <a:buSzPts val="1800"/>
              <a:buNone/>
            </a:pPr>
            <a:r>
              <a:rPr lang="en-US" sz="1800" dirty="0">
                <a:solidFill>
                  <a:srgbClr val="474C55"/>
                </a:solidFill>
                <a:latin typeface="Courier New"/>
                <a:ea typeface="Courier New"/>
                <a:cs typeface="Courier New"/>
                <a:sym typeface="Courier New"/>
              </a:rPr>
              <a:t>  { name: “Joseph” },</a:t>
            </a:r>
          </a:p>
          <a:p>
            <a:pPr marL="0" lvl="0" indent="0">
              <a:lnSpc>
                <a:spcPct val="90000"/>
              </a:lnSpc>
              <a:spcBef>
                <a:spcPts val="360"/>
              </a:spcBef>
              <a:buSzPts val="1800"/>
              <a:buNone/>
            </a:pPr>
            <a:r>
              <a:rPr lang="en-US" sz="1800" dirty="0">
                <a:solidFill>
                  <a:srgbClr val="474C55"/>
                </a:solidFill>
                <a:latin typeface="Courier New"/>
                <a:ea typeface="Courier New"/>
                <a:cs typeface="Courier New"/>
                <a:sym typeface="Courier New"/>
              </a:rPr>
              <a:t>  { name: 1, email: 1, password: 0, _id: 0 }</a:t>
            </a:r>
          </a:p>
          <a:p>
            <a:pPr marL="0" lvl="0" indent="0">
              <a:lnSpc>
                <a:spcPct val="90000"/>
              </a:lnSpc>
              <a:spcBef>
                <a:spcPts val="360"/>
              </a:spcBef>
              <a:buSzPts val="1800"/>
              <a:buNone/>
            </a:pPr>
            <a:r>
              <a:rPr lang="en-US" sz="1800" dirty="0">
                <a:solidFill>
                  <a:srgbClr val="474C55"/>
                </a:solidFill>
                <a:latin typeface="Courier New"/>
                <a:ea typeface="Courier New"/>
                <a:cs typeface="Courier New"/>
                <a:sym typeface="Courier New"/>
              </a:rPr>
              <a:t>);</a:t>
            </a:r>
            <a:endParaRPr lang="en-US" dirty="0">
              <a:solidFill>
                <a:srgbClr val="474C55"/>
              </a:solidFill>
            </a:endParaRPr>
          </a:p>
        </p:txBody>
      </p:sp>
      <p:sp>
        <p:nvSpPr>
          <p:cNvPr id="3" name="Content Placeholder 5">
            <a:extLst>
              <a:ext uri="{FF2B5EF4-FFF2-40B4-BE49-F238E27FC236}">
                <a16:creationId xmlns:a16="http://schemas.microsoft.com/office/drawing/2014/main" id="{B78AC88E-CB87-657E-C1F8-493257F0E0BE}"/>
              </a:ext>
            </a:extLst>
          </p:cNvPr>
          <p:cNvSpPr txBox="1">
            <a:spLocks/>
          </p:cNvSpPr>
          <p:nvPr/>
        </p:nvSpPr>
        <p:spPr>
          <a:xfrm>
            <a:off x="380009" y="5225143"/>
            <a:ext cx="8383980" cy="1503694"/>
          </a:xfrm>
          <a:prstGeom prst="rect">
            <a:avLst/>
          </a:prstGeom>
        </p:spPr>
        <p:txBody>
          <a:bodyPr vert="horz" lIns="91440" tIns="45720" rIns="91440" bIns="45720" rtlCol="0">
            <a:normAutofit fontScale="92500" lnSpcReduction="20000"/>
          </a:bodyPr>
          <a:lstStyle>
            <a:lvl1pPr marL="342900" indent="-342900" algn="l" defTabSz="914400" rtl="0" eaLnBrk="1" latinLnBrk="0" hangingPunct="1">
              <a:spcBef>
                <a:spcPct val="20000"/>
              </a:spcBef>
              <a:buClr>
                <a:schemeClr val="accent1"/>
              </a:buClr>
              <a:buFont typeface="Arial" panose="020B0604020202020204" pitchFamily="34" charset="0"/>
              <a:buChar char="•"/>
              <a:defRPr sz="2800" kern="1200" baseline="0">
                <a:solidFill>
                  <a:schemeClr val="tx2"/>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baseline="0">
                <a:solidFill>
                  <a:schemeClr val="tx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baseline="0">
                <a:solidFill>
                  <a:schemeClr val="tx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tx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dirty="0"/>
              <a:t>In this example, the name and email fields are returned, but the password and _id fields are not.</a:t>
            </a:r>
          </a:p>
          <a:p>
            <a:r>
              <a:rPr lang="en-US" dirty="0"/>
              <a:t>It is worth noting, </a:t>
            </a:r>
            <a:r>
              <a:rPr lang="en-US" b="1" i="1" dirty="0"/>
              <a:t>the </a:t>
            </a:r>
            <a:r>
              <a:rPr lang="en-US" b="1" i="1" dirty="0">
                <a:latin typeface="Courier New" panose="02070309020205020404" pitchFamily="49" charset="0"/>
                <a:cs typeface="Courier New" panose="02070309020205020404" pitchFamily="49" charset="0"/>
              </a:rPr>
              <a:t>_id</a:t>
            </a:r>
            <a:r>
              <a:rPr lang="en-US" b="1" i="1" dirty="0"/>
              <a:t> is always included</a:t>
            </a:r>
            <a:r>
              <a:rPr lang="en-US" dirty="0"/>
              <a:t> in the find result </a:t>
            </a:r>
            <a:r>
              <a:rPr lang="en-US" b="1" i="1" dirty="0"/>
              <a:t>unless explicitly excluded</a:t>
            </a:r>
            <a:r>
              <a:rPr lang="en-US" dirty="0"/>
              <a:t>.</a:t>
            </a:r>
          </a:p>
        </p:txBody>
      </p:sp>
    </p:spTree>
    <p:extLst>
      <p:ext uri="{BB962C8B-B14F-4D97-AF65-F5344CB8AC3E}">
        <p14:creationId xmlns:p14="http://schemas.microsoft.com/office/powerpoint/2010/main" val="2545674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2" grpId="0" animBg="1"/>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3126B-9F60-D2AB-FC0F-9A4C023C7F9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6315DF2-C289-69C3-E8BF-77D751B593D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43</a:t>
            </a:fld>
            <a:endParaRPr lang="en-US"/>
          </a:p>
        </p:txBody>
      </p:sp>
      <p:sp>
        <p:nvSpPr>
          <p:cNvPr id="6" name="Content Placeholder 5">
            <a:extLst>
              <a:ext uri="{FF2B5EF4-FFF2-40B4-BE49-F238E27FC236}">
                <a16:creationId xmlns:a16="http://schemas.microsoft.com/office/drawing/2014/main" id="{541EC1C3-4A31-64D1-AD78-FCE92047BD30}"/>
              </a:ext>
            </a:extLst>
          </p:cNvPr>
          <p:cNvSpPr>
            <a:spLocks noGrp="1"/>
          </p:cNvSpPr>
          <p:nvPr>
            <p:ph idx="1"/>
          </p:nvPr>
        </p:nvSpPr>
        <p:spPr>
          <a:xfrm>
            <a:off x="380010" y="1481445"/>
            <a:ext cx="8383980" cy="5247392"/>
          </a:xfrm>
        </p:spPr>
        <p:txBody>
          <a:bodyPr>
            <a:normAutofit fontScale="85000" lnSpcReduction="20000"/>
          </a:bodyPr>
          <a:lstStyle/>
          <a:p>
            <a:r>
              <a:rPr lang="en-US" dirty="0">
                <a:latin typeface="+mj-lt"/>
                <a:cs typeface="Courier New" panose="02070309020205020404" pitchFamily="49" charset="0"/>
              </a:rPr>
              <a:t>Other useful functions can be chained together to support further refinement of results. </a:t>
            </a:r>
          </a:p>
          <a:p>
            <a:r>
              <a:rPr lang="en-US" dirty="0">
                <a:latin typeface="+mj-lt"/>
                <a:cs typeface="Courier New" panose="02070309020205020404" pitchFamily="49" charset="0"/>
              </a:rPr>
              <a:t>When calling find, you can use the dot operator to call these functions for various effects:</a:t>
            </a:r>
          </a:p>
          <a:p>
            <a:pPr lvl="1"/>
            <a:r>
              <a:rPr lang="en-US" dirty="0">
                <a:latin typeface="+mj-lt"/>
                <a:cs typeface="Courier New" panose="02070309020205020404" pitchFamily="49" charset="0"/>
              </a:rPr>
              <a:t>E.g. </a:t>
            </a:r>
            <a:r>
              <a:rPr lang="en-US" dirty="0">
                <a:latin typeface="Courier New" panose="02070309020205020404" pitchFamily="49" charset="0"/>
                <a:cs typeface="Courier New" panose="02070309020205020404" pitchFamily="49" charset="0"/>
              </a:rPr>
              <a:t>find().sort().skip().limit()</a:t>
            </a:r>
          </a:p>
          <a:p>
            <a:r>
              <a:rPr lang="en-US" dirty="0">
                <a:latin typeface="Courier New" panose="02070309020205020404" pitchFamily="49" charset="0"/>
                <a:cs typeface="Courier New" panose="02070309020205020404" pitchFamily="49" charset="0"/>
              </a:rPr>
              <a:t>sort()</a:t>
            </a:r>
            <a:r>
              <a:rPr lang="en-US" dirty="0"/>
              <a:t>: orders the results of a </a:t>
            </a:r>
            <a:r>
              <a:rPr lang="en-US" dirty="0">
                <a:latin typeface="Courier New" panose="02070309020205020404" pitchFamily="49" charset="0"/>
                <a:cs typeface="Courier New" panose="02070309020205020404" pitchFamily="49" charset="0"/>
              </a:rPr>
              <a:t>find()</a:t>
            </a:r>
            <a:r>
              <a:rPr lang="en-US" dirty="0"/>
              <a:t> query by one or more fields. Uses </a:t>
            </a:r>
            <a:r>
              <a:rPr lang="en-US" dirty="0">
                <a:latin typeface="Courier New" panose="02070309020205020404" pitchFamily="49" charset="0"/>
                <a:cs typeface="Courier New" panose="02070309020205020404" pitchFamily="49" charset="0"/>
              </a:rPr>
              <a:t>1</a:t>
            </a:r>
            <a:r>
              <a:rPr lang="en-US" dirty="0"/>
              <a:t> for ascending order and </a:t>
            </a:r>
            <a:r>
              <a:rPr lang="en-US" dirty="0">
                <a:latin typeface="Courier New" panose="02070309020205020404" pitchFamily="49" charset="0"/>
                <a:cs typeface="Courier New" panose="02070309020205020404" pitchFamily="49" charset="0"/>
              </a:rPr>
              <a:t>-1</a:t>
            </a:r>
            <a:r>
              <a:rPr lang="en-US" dirty="0"/>
              <a:t> for descending order.</a:t>
            </a:r>
          </a:p>
          <a:p>
            <a:r>
              <a:rPr lang="en-US" dirty="0">
                <a:latin typeface="Courier New" panose="02070309020205020404" pitchFamily="49" charset="0"/>
                <a:cs typeface="Courier New" panose="02070309020205020404" pitchFamily="49" charset="0"/>
              </a:rPr>
              <a:t>limit()</a:t>
            </a:r>
            <a:r>
              <a:rPr lang="en-US" dirty="0"/>
              <a:t>: Restricts the number of documents returned. Useful for pagination or capping a large result set.</a:t>
            </a:r>
          </a:p>
          <a:p>
            <a:r>
              <a:rPr lang="en-US" dirty="0">
                <a:latin typeface="Courier New" panose="02070309020205020404" pitchFamily="49" charset="0"/>
                <a:cs typeface="Courier New" panose="02070309020205020404" pitchFamily="49" charset="0"/>
              </a:rPr>
              <a:t>skip()</a:t>
            </a:r>
            <a:r>
              <a:rPr lang="en-US" dirty="0"/>
              <a:t>: Skips a specified number of documents before returning results. Commonly paired with </a:t>
            </a:r>
            <a:r>
              <a:rPr lang="en-US" dirty="0">
                <a:latin typeface="Courier New" panose="02070309020205020404" pitchFamily="49" charset="0"/>
                <a:cs typeface="Courier New" panose="02070309020205020404" pitchFamily="49" charset="0"/>
              </a:rPr>
              <a:t>limit()</a:t>
            </a:r>
            <a:r>
              <a:rPr lang="en-US" dirty="0"/>
              <a:t> to implement pagination.</a:t>
            </a:r>
          </a:p>
          <a:p>
            <a:pPr lvl="1"/>
            <a:r>
              <a:rPr lang="en-US" dirty="0"/>
              <a:t>Note: </a:t>
            </a:r>
            <a:r>
              <a:rPr lang="en-US" dirty="0">
                <a:latin typeface="Courier New" panose="02070309020205020404" pitchFamily="49" charset="0"/>
                <a:cs typeface="Courier New" panose="02070309020205020404" pitchFamily="49" charset="0"/>
              </a:rPr>
              <a:t>skip()</a:t>
            </a:r>
            <a:r>
              <a:rPr lang="en-US" dirty="0"/>
              <a:t> can become inefficient on very large collections, since MongoDB still walks through the skipped documents, internally.</a:t>
            </a:r>
          </a:p>
          <a:p>
            <a:endParaRPr lang="en-US" dirty="0"/>
          </a:p>
        </p:txBody>
      </p:sp>
      <p:sp>
        <p:nvSpPr>
          <p:cNvPr id="5" name="Title 4">
            <a:extLst>
              <a:ext uri="{FF2B5EF4-FFF2-40B4-BE49-F238E27FC236}">
                <a16:creationId xmlns:a16="http://schemas.microsoft.com/office/drawing/2014/main" id="{E59700F0-4172-622A-1CD4-12F54CB32ED5}"/>
              </a:ext>
            </a:extLst>
          </p:cNvPr>
          <p:cNvSpPr>
            <a:spLocks noGrp="1"/>
          </p:cNvSpPr>
          <p:nvPr>
            <p:ph type="title"/>
          </p:nvPr>
        </p:nvSpPr>
        <p:spPr/>
        <p:txBody>
          <a:bodyPr/>
          <a:lstStyle/>
          <a:p>
            <a:r>
              <a:rPr lang="en-US" dirty="0"/>
              <a:t>Querying | Other Functions</a:t>
            </a:r>
          </a:p>
        </p:txBody>
      </p:sp>
    </p:spTree>
    <p:extLst>
      <p:ext uri="{BB962C8B-B14F-4D97-AF65-F5344CB8AC3E}">
        <p14:creationId xmlns:p14="http://schemas.microsoft.com/office/powerpoint/2010/main" val="2173154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C0E9A-5ADD-FFEF-83ED-0BDD67465A6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3A461D5-DADF-1C00-62D3-F4C94EABF038}"/>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44</a:t>
            </a:fld>
            <a:endParaRPr lang="en-US"/>
          </a:p>
        </p:txBody>
      </p:sp>
      <p:sp>
        <p:nvSpPr>
          <p:cNvPr id="4" name="Google Shape;212;p15">
            <a:extLst>
              <a:ext uri="{FF2B5EF4-FFF2-40B4-BE49-F238E27FC236}">
                <a16:creationId xmlns:a16="http://schemas.microsoft.com/office/drawing/2014/main" id="{B06B0EDA-5919-D1FF-555B-D84F7DF897FC}"/>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CRUD | Document Management</a:t>
            </a:r>
          </a:p>
        </p:txBody>
      </p:sp>
      <p:pic>
        <p:nvPicPr>
          <p:cNvPr id="6" name="Picture 5">
            <a:extLst>
              <a:ext uri="{FF2B5EF4-FFF2-40B4-BE49-F238E27FC236}">
                <a16:creationId xmlns:a16="http://schemas.microsoft.com/office/drawing/2014/main" id="{D64568C7-9025-C6BD-2820-3DC4E33C177A}"/>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2201114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8A7E6-74B8-2D5F-7CC0-30ABDD826E1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9FC7EB3-9A9E-8F81-8FEE-2F554004021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45</a:t>
            </a:fld>
            <a:endParaRPr lang="en-US"/>
          </a:p>
        </p:txBody>
      </p:sp>
      <p:sp>
        <p:nvSpPr>
          <p:cNvPr id="6" name="Content Placeholder 5">
            <a:extLst>
              <a:ext uri="{FF2B5EF4-FFF2-40B4-BE49-F238E27FC236}">
                <a16:creationId xmlns:a16="http://schemas.microsoft.com/office/drawing/2014/main" id="{CE9FB0EF-7629-0088-5E8B-4BF21A9149C3}"/>
              </a:ext>
            </a:extLst>
          </p:cNvPr>
          <p:cNvSpPr>
            <a:spLocks noGrp="1"/>
          </p:cNvSpPr>
          <p:nvPr>
            <p:ph idx="1"/>
          </p:nvPr>
        </p:nvSpPr>
        <p:spPr>
          <a:xfrm>
            <a:off x="380010" y="1481446"/>
            <a:ext cx="8383980" cy="5247391"/>
          </a:xfrm>
        </p:spPr>
        <p:txBody>
          <a:bodyPr>
            <a:normAutofit fontScale="92500" lnSpcReduction="20000"/>
          </a:bodyPr>
          <a:lstStyle/>
          <a:p>
            <a:r>
              <a:rPr lang="en-US" dirty="0"/>
              <a:t>Update modifies documents that already exist in a collection. The update functions for MongoDB are:</a:t>
            </a:r>
          </a:p>
          <a:p>
            <a:r>
              <a:rPr lang="en-US" dirty="0" err="1">
                <a:latin typeface="Courier New" panose="02070309020205020404" pitchFamily="49" charset="0"/>
                <a:cs typeface="Courier New" panose="02070309020205020404" pitchFamily="49" charset="0"/>
              </a:rPr>
              <a:t>updateOne</a:t>
            </a:r>
            <a:r>
              <a:rPr lang="en-US" dirty="0">
                <a:latin typeface="Courier New" panose="02070309020205020404" pitchFamily="49" charset="0"/>
                <a:cs typeface="Courier New" panose="02070309020205020404" pitchFamily="49" charset="0"/>
              </a:rPr>
              <a:t>()</a:t>
            </a:r>
            <a:r>
              <a:rPr lang="en-US" dirty="0"/>
              <a:t>: updates the </a:t>
            </a:r>
            <a:r>
              <a:rPr lang="en-US" b="1" i="1" dirty="0"/>
              <a:t>first document</a:t>
            </a:r>
            <a:r>
              <a:rPr lang="en-US" dirty="0"/>
              <a:t> that matches a given filter</a:t>
            </a:r>
          </a:p>
          <a:p>
            <a:r>
              <a:rPr lang="en-US" dirty="0" err="1">
                <a:latin typeface="Courier New" panose="02070309020205020404" pitchFamily="49" charset="0"/>
                <a:cs typeface="Courier New" panose="02070309020205020404" pitchFamily="49" charset="0"/>
              </a:rPr>
              <a:t>updateMany</a:t>
            </a:r>
            <a:r>
              <a:rPr lang="en-US" dirty="0">
                <a:latin typeface="Courier New" panose="02070309020205020404" pitchFamily="49" charset="0"/>
                <a:cs typeface="Courier New" panose="02070309020205020404" pitchFamily="49" charset="0"/>
              </a:rPr>
              <a:t>()</a:t>
            </a:r>
            <a:r>
              <a:rPr lang="en-US" dirty="0"/>
              <a:t>: updates </a:t>
            </a:r>
            <a:r>
              <a:rPr lang="en-US" b="1" i="1" dirty="0"/>
              <a:t>all documents</a:t>
            </a:r>
            <a:r>
              <a:rPr lang="en-US" dirty="0"/>
              <a:t> that match a given filter</a:t>
            </a:r>
          </a:p>
          <a:p>
            <a:r>
              <a:rPr lang="en-US" dirty="0" err="1">
                <a:latin typeface="Courier New" panose="02070309020205020404" pitchFamily="49" charset="0"/>
                <a:cs typeface="Courier New" panose="02070309020205020404" pitchFamily="49" charset="0"/>
              </a:rPr>
              <a:t>replaceOne</a:t>
            </a:r>
            <a:r>
              <a:rPr lang="en-US" dirty="0">
                <a:latin typeface="Courier New" panose="02070309020205020404" pitchFamily="49" charset="0"/>
                <a:cs typeface="Courier New" panose="02070309020205020404" pitchFamily="49" charset="0"/>
              </a:rPr>
              <a:t>()</a:t>
            </a:r>
            <a:r>
              <a:rPr lang="en-US" dirty="0"/>
              <a:t>: replaces the </a:t>
            </a:r>
            <a:r>
              <a:rPr lang="en-US" b="1" i="1" dirty="0"/>
              <a:t>entire contents</a:t>
            </a:r>
            <a:r>
              <a:rPr lang="en-US" dirty="0"/>
              <a:t> of the first matching document, with a new document.</a:t>
            </a:r>
          </a:p>
          <a:p>
            <a:r>
              <a:rPr lang="en-US" dirty="0"/>
              <a:t>These Update functions take two main arguments, a </a:t>
            </a:r>
            <a:r>
              <a:rPr lang="en-US" b="1" i="1" dirty="0"/>
              <a:t>filter</a:t>
            </a:r>
            <a:r>
              <a:rPr lang="en-US" dirty="0"/>
              <a:t>, and an </a:t>
            </a:r>
            <a:r>
              <a:rPr lang="en-US" b="1" i="1" dirty="0"/>
              <a:t>update document</a:t>
            </a:r>
          </a:p>
          <a:p>
            <a:r>
              <a:rPr lang="en-US" b="1" i="1" dirty="0"/>
              <a:t>Filters</a:t>
            </a:r>
            <a:r>
              <a:rPr lang="en-US" dirty="0"/>
              <a:t>: Specify which documents to match (same concept as querying)</a:t>
            </a:r>
          </a:p>
          <a:p>
            <a:pPr lvl="1"/>
            <a:r>
              <a:rPr lang="en-US" dirty="0"/>
              <a:t>If you supply an empty filter </a:t>
            </a:r>
            <a:r>
              <a:rPr lang="en-US" dirty="0">
                <a:latin typeface="Courier New" panose="02070309020205020404" pitchFamily="49" charset="0"/>
                <a:cs typeface="Courier New" panose="02070309020205020404" pitchFamily="49" charset="0"/>
              </a:rPr>
              <a:t>{}</a:t>
            </a:r>
            <a:r>
              <a:rPr lang="en-US" dirty="0"/>
              <a:t>, the </a:t>
            </a:r>
            <a:r>
              <a:rPr lang="en-US" dirty="0" err="1">
                <a:latin typeface="Courier New" panose="02070309020205020404" pitchFamily="49" charset="0"/>
                <a:cs typeface="Courier New" panose="02070309020205020404" pitchFamily="49" charset="0"/>
              </a:rPr>
              <a:t>updateMany</a:t>
            </a:r>
            <a:r>
              <a:rPr lang="en-US" dirty="0">
                <a:latin typeface="Courier New" panose="02070309020205020404" pitchFamily="49" charset="0"/>
                <a:cs typeface="Courier New" panose="02070309020205020404" pitchFamily="49" charset="0"/>
              </a:rPr>
              <a:t>()</a:t>
            </a:r>
            <a:r>
              <a:rPr lang="en-US" dirty="0"/>
              <a:t> function will return every document.</a:t>
            </a:r>
          </a:p>
          <a:p>
            <a:endParaRPr lang="en-US" dirty="0"/>
          </a:p>
        </p:txBody>
      </p:sp>
      <p:sp>
        <p:nvSpPr>
          <p:cNvPr id="5" name="Title 4">
            <a:extLst>
              <a:ext uri="{FF2B5EF4-FFF2-40B4-BE49-F238E27FC236}">
                <a16:creationId xmlns:a16="http://schemas.microsoft.com/office/drawing/2014/main" id="{5D81C220-F0D5-D1C3-02AA-3EA21C1AB31E}"/>
              </a:ext>
            </a:extLst>
          </p:cNvPr>
          <p:cNvSpPr>
            <a:spLocks noGrp="1"/>
          </p:cNvSpPr>
          <p:nvPr>
            <p:ph type="title"/>
          </p:nvPr>
        </p:nvSpPr>
        <p:spPr/>
        <p:txBody>
          <a:bodyPr/>
          <a:lstStyle/>
          <a:p>
            <a:r>
              <a:rPr lang="en-US" dirty="0"/>
              <a:t>Updating Documents</a:t>
            </a:r>
          </a:p>
        </p:txBody>
      </p:sp>
    </p:spTree>
    <p:extLst>
      <p:ext uri="{BB962C8B-B14F-4D97-AF65-F5344CB8AC3E}">
        <p14:creationId xmlns:p14="http://schemas.microsoft.com/office/powerpoint/2010/main" val="145748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1CFA3-6D10-EB44-732D-851AE2AF43D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456C2E8-7CAC-2BA8-4F8E-674F5DD0D96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46</a:t>
            </a:fld>
            <a:endParaRPr lang="en-US"/>
          </a:p>
        </p:txBody>
      </p:sp>
      <p:sp>
        <p:nvSpPr>
          <p:cNvPr id="6" name="Content Placeholder 5">
            <a:extLst>
              <a:ext uri="{FF2B5EF4-FFF2-40B4-BE49-F238E27FC236}">
                <a16:creationId xmlns:a16="http://schemas.microsoft.com/office/drawing/2014/main" id="{BC0D2AF4-56F0-1735-B1D9-896BB3A78B81}"/>
              </a:ext>
            </a:extLst>
          </p:cNvPr>
          <p:cNvSpPr>
            <a:spLocks noGrp="1"/>
          </p:cNvSpPr>
          <p:nvPr>
            <p:ph idx="1"/>
          </p:nvPr>
        </p:nvSpPr>
        <p:spPr>
          <a:xfrm>
            <a:off x="380010" y="1481446"/>
            <a:ext cx="8383980" cy="5247391"/>
          </a:xfrm>
        </p:spPr>
        <p:txBody>
          <a:bodyPr>
            <a:normAutofit lnSpcReduction="10000"/>
          </a:bodyPr>
          <a:lstStyle/>
          <a:p>
            <a:r>
              <a:rPr lang="en-US" dirty="0"/>
              <a:t>Similar to filter operators, update operators are special symbols (prefixed with a </a:t>
            </a:r>
            <a:r>
              <a:rPr lang="en-US" dirty="0">
                <a:latin typeface="Courier New" panose="02070309020205020404" pitchFamily="49" charset="0"/>
                <a:cs typeface="Courier New" panose="02070309020205020404" pitchFamily="49" charset="0"/>
              </a:rPr>
              <a:t>$</a:t>
            </a:r>
            <a:r>
              <a:rPr lang="en-US" dirty="0"/>
              <a:t>) that are used to modify specific parts of a document, rather than replacing it entirely.</a:t>
            </a:r>
          </a:p>
          <a:p>
            <a:r>
              <a:rPr lang="en-US" dirty="0"/>
              <a:t>A single </a:t>
            </a:r>
            <a:r>
              <a:rPr lang="en-US" dirty="0" err="1">
                <a:latin typeface="Courier New" panose="02070309020205020404" pitchFamily="49" charset="0"/>
                <a:cs typeface="Courier New" panose="02070309020205020404" pitchFamily="49" charset="0"/>
              </a:rPr>
              <a:t>updateOne</a:t>
            </a:r>
            <a:r>
              <a:rPr lang="en-US" dirty="0">
                <a:latin typeface="Courier New" panose="02070309020205020404" pitchFamily="49" charset="0"/>
                <a:cs typeface="Courier New" panose="02070309020205020404" pitchFamily="49" charset="0"/>
              </a:rPr>
              <a:t>()</a:t>
            </a:r>
            <a:r>
              <a:rPr lang="en-US" dirty="0"/>
              <a:t> / </a:t>
            </a:r>
            <a:r>
              <a:rPr lang="en-US" dirty="0" err="1">
                <a:latin typeface="Courier New" panose="02070309020205020404" pitchFamily="49" charset="0"/>
                <a:cs typeface="Courier New" panose="02070309020205020404" pitchFamily="49" charset="0"/>
              </a:rPr>
              <a:t>updateMany</a:t>
            </a:r>
            <a:r>
              <a:rPr lang="en-US" dirty="0">
                <a:latin typeface="Courier New" panose="02070309020205020404" pitchFamily="49" charset="0"/>
                <a:cs typeface="Courier New" panose="02070309020205020404" pitchFamily="49" charset="0"/>
              </a:rPr>
              <a:t>()</a:t>
            </a:r>
            <a:r>
              <a:rPr lang="en-US" dirty="0"/>
              <a:t> call can combine multiple update operators together</a:t>
            </a:r>
          </a:p>
          <a:p>
            <a:r>
              <a:rPr lang="en-US" dirty="0"/>
              <a:t>Update operators are the fundamental differences between the update functions vs </a:t>
            </a:r>
            <a:r>
              <a:rPr lang="en-US" dirty="0" err="1">
                <a:latin typeface="Courier New" panose="02070309020205020404" pitchFamily="49" charset="0"/>
                <a:cs typeface="Courier New" panose="02070309020205020404" pitchFamily="49" charset="0"/>
              </a:rPr>
              <a:t>replaceOne</a:t>
            </a:r>
            <a:r>
              <a:rPr lang="en-US" dirty="0">
                <a:latin typeface="Courier New" panose="02070309020205020404" pitchFamily="49" charset="0"/>
                <a:cs typeface="Courier New" panose="02070309020205020404" pitchFamily="49" charset="0"/>
              </a:rPr>
              <a:t>()</a:t>
            </a:r>
            <a:r>
              <a:rPr lang="en-US" dirty="0"/>
              <a:t> function.</a:t>
            </a:r>
          </a:p>
          <a:p>
            <a:r>
              <a:rPr lang="en-US" dirty="0"/>
              <a:t>There are two categories of update operators:</a:t>
            </a:r>
          </a:p>
          <a:p>
            <a:pPr lvl="1"/>
            <a:r>
              <a:rPr lang="en-US" b="1" dirty="0"/>
              <a:t>Field operators</a:t>
            </a:r>
            <a:r>
              <a:rPr lang="en-US" dirty="0"/>
              <a:t>: modify individual field values</a:t>
            </a:r>
          </a:p>
          <a:p>
            <a:pPr lvl="1"/>
            <a:r>
              <a:rPr lang="en-US" b="1" dirty="0"/>
              <a:t>Array operators</a:t>
            </a:r>
            <a:r>
              <a:rPr lang="en-US" dirty="0"/>
              <a:t>: modify fields that hold arrays</a:t>
            </a:r>
          </a:p>
        </p:txBody>
      </p:sp>
      <p:sp>
        <p:nvSpPr>
          <p:cNvPr id="5" name="Title 4">
            <a:extLst>
              <a:ext uri="{FF2B5EF4-FFF2-40B4-BE49-F238E27FC236}">
                <a16:creationId xmlns:a16="http://schemas.microsoft.com/office/drawing/2014/main" id="{92EDC474-7CF8-2256-5299-AE1FB620C451}"/>
              </a:ext>
            </a:extLst>
          </p:cNvPr>
          <p:cNvSpPr>
            <a:spLocks noGrp="1"/>
          </p:cNvSpPr>
          <p:nvPr>
            <p:ph type="title"/>
          </p:nvPr>
        </p:nvSpPr>
        <p:spPr/>
        <p:txBody>
          <a:bodyPr/>
          <a:lstStyle/>
          <a:p>
            <a:r>
              <a:rPr lang="en-US" dirty="0"/>
              <a:t>Updating Documents | Operators</a:t>
            </a:r>
          </a:p>
        </p:txBody>
      </p:sp>
    </p:spTree>
    <p:extLst>
      <p:ext uri="{BB962C8B-B14F-4D97-AF65-F5344CB8AC3E}">
        <p14:creationId xmlns:p14="http://schemas.microsoft.com/office/powerpoint/2010/main" val="3655842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61AB0-72C4-DC7D-BE83-4B4E405D3EB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392BAD5-478D-02CF-B83D-C6E1FFDB5AF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47</a:t>
            </a:fld>
            <a:endParaRPr lang="en-US"/>
          </a:p>
        </p:txBody>
      </p:sp>
      <p:sp>
        <p:nvSpPr>
          <p:cNvPr id="5" name="Title 4">
            <a:extLst>
              <a:ext uri="{FF2B5EF4-FFF2-40B4-BE49-F238E27FC236}">
                <a16:creationId xmlns:a16="http://schemas.microsoft.com/office/drawing/2014/main" id="{A71B1961-9219-0B2B-A57A-2DB95A78451A}"/>
              </a:ext>
            </a:extLst>
          </p:cNvPr>
          <p:cNvSpPr>
            <a:spLocks noGrp="1"/>
          </p:cNvSpPr>
          <p:nvPr>
            <p:ph type="title"/>
          </p:nvPr>
        </p:nvSpPr>
        <p:spPr/>
        <p:txBody>
          <a:bodyPr/>
          <a:lstStyle/>
          <a:p>
            <a:r>
              <a:rPr lang="en-US" dirty="0"/>
              <a:t>Update Operators | Field Operators</a:t>
            </a:r>
          </a:p>
        </p:txBody>
      </p:sp>
      <p:graphicFrame>
        <p:nvGraphicFramePr>
          <p:cNvPr id="3" name="Table 2">
            <a:extLst>
              <a:ext uri="{FF2B5EF4-FFF2-40B4-BE49-F238E27FC236}">
                <a16:creationId xmlns:a16="http://schemas.microsoft.com/office/drawing/2014/main" id="{7C82E35A-46ED-B665-4C15-79C4D5599A13}"/>
              </a:ext>
            </a:extLst>
          </p:cNvPr>
          <p:cNvGraphicFramePr>
            <a:graphicFrameLocks noGrp="1"/>
          </p:cNvGraphicFramePr>
          <p:nvPr>
            <p:extLst>
              <p:ext uri="{D42A27DB-BD31-4B8C-83A1-F6EECF244321}">
                <p14:modId xmlns:p14="http://schemas.microsoft.com/office/powerpoint/2010/main" val="1828646974"/>
              </p:ext>
            </p:extLst>
          </p:nvPr>
        </p:nvGraphicFramePr>
        <p:xfrm>
          <a:off x="159574" y="1772139"/>
          <a:ext cx="8824854" cy="4363720"/>
        </p:xfrm>
        <a:graphic>
          <a:graphicData uri="http://schemas.openxmlformats.org/drawingml/2006/table">
            <a:tbl>
              <a:tblPr firstRow="1" bandRow="1">
                <a:tableStyleId>{5C22544A-7EE6-4342-B048-85BDC9FD1C3A}</a:tableStyleId>
              </a:tblPr>
              <a:tblGrid>
                <a:gridCol w="1287390">
                  <a:extLst>
                    <a:ext uri="{9D8B030D-6E8A-4147-A177-3AD203B41FA5}">
                      <a16:colId xmlns:a16="http://schemas.microsoft.com/office/drawing/2014/main" val="4202507141"/>
                    </a:ext>
                  </a:extLst>
                </a:gridCol>
                <a:gridCol w="3225521">
                  <a:extLst>
                    <a:ext uri="{9D8B030D-6E8A-4147-A177-3AD203B41FA5}">
                      <a16:colId xmlns:a16="http://schemas.microsoft.com/office/drawing/2014/main" val="2653014772"/>
                    </a:ext>
                  </a:extLst>
                </a:gridCol>
                <a:gridCol w="4311943">
                  <a:extLst>
                    <a:ext uri="{9D8B030D-6E8A-4147-A177-3AD203B41FA5}">
                      <a16:colId xmlns:a16="http://schemas.microsoft.com/office/drawing/2014/main" val="3231311561"/>
                    </a:ext>
                  </a:extLst>
                </a:gridCol>
              </a:tblGrid>
              <a:tr h="370840">
                <a:tc>
                  <a:txBody>
                    <a:bodyPr/>
                    <a:lstStyle/>
                    <a:p>
                      <a:r>
                        <a:rPr lang="en-US" dirty="0"/>
                        <a:t>Operator</a:t>
                      </a:r>
                    </a:p>
                  </a:txBody>
                  <a:tcPr/>
                </a:tc>
                <a:tc>
                  <a:txBody>
                    <a:bodyPr/>
                    <a:lstStyle/>
                    <a:p>
                      <a:r>
                        <a:rPr lang="en-US" dirty="0"/>
                        <a:t>Description</a:t>
                      </a:r>
                    </a:p>
                  </a:txBody>
                  <a:tcPr/>
                </a:tc>
                <a:tc>
                  <a:txBody>
                    <a:bodyPr/>
                    <a:lstStyle/>
                    <a:p>
                      <a:r>
                        <a:rPr lang="en-US" dirty="0"/>
                        <a:t>Example</a:t>
                      </a:r>
                    </a:p>
                  </a:txBody>
                  <a:tcPr/>
                </a:tc>
                <a:extLst>
                  <a:ext uri="{0D108BD9-81ED-4DB2-BD59-A6C34878D82A}">
                    <a16:rowId xmlns:a16="http://schemas.microsoft.com/office/drawing/2014/main" val="3394265451"/>
                  </a:ext>
                </a:extLst>
              </a:tr>
              <a:tr h="370840">
                <a:tc>
                  <a:txBody>
                    <a:bodyPr/>
                    <a:lstStyle/>
                    <a:p>
                      <a:r>
                        <a:rPr lang="en-US" sz="1400" dirty="0">
                          <a:latin typeface="Courier New" panose="02070309020205020404" pitchFamily="49" charset="0"/>
                          <a:cs typeface="Courier New" panose="02070309020205020404" pitchFamily="49" charset="0"/>
                        </a:rPr>
                        <a:t>$set</a:t>
                      </a:r>
                    </a:p>
                  </a:txBody>
                  <a:tcPr/>
                </a:tc>
                <a:tc>
                  <a:txBody>
                    <a:bodyPr/>
                    <a:lstStyle/>
                    <a:p>
                      <a:r>
                        <a:rPr lang="en-US" sz="1400" dirty="0"/>
                        <a:t>Sets a field to a specified value. This also creates a field if it doesn’t already exist.</a:t>
                      </a:r>
                    </a:p>
                  </a:txBody>
                  <a:tcPr/>
                </a:tc>
                <a:tc>
                  <a:txBody>
                    <a:bodyPr/>
                    <a:lstStyle/>
                    <a:p>
                      <a:r>
                        <a:rPr lang="en-US" sz="1400" dirty="0" err="1">
                          <a:latin typeface="Courier New" panose="02070309020205020404" pitchFamily="49" charset="0"/>
                          <a:cs typeface="Courier New" panose="02070309020205020404" pitchFamily="49" charset="0"/>
                        </a:rPr>
                        <a:t>db.users.updateOne</a:t>
                      </a:r>
                      <a:r>
                        <a:rPr lang="en-US" sz="1400" dirty="0">
                          <a:latin typeface="Courier New" panose="02070309020205020404" pitchFamily="49" charset="0"/>
                          <a:cs typeface="Courier New" panose="02070309020205020404" pitchFamily="49" charset="0"/>
                        </a:rPr>
                        <a:t>(</a:t>
                      </a:r>
                    </a:p>
                    <a:p>
                      <a:r>
                        <a:rPr lang="en-US" sz="1400" dirty="0">
                          <a:latin typeface="Courier New" panose="02070309020205020404" pitchFamily="49" charset="0"/>
                          <a:cs typeface="Courier New" panose="02070309020205020404" pitchFamily="49" charset="0"/>
                        </a:rPr>
                        <a:t>  { name: “Joseph” }, // filter</a:t>
                      </a:r>
                    </a:p>
                    <a:p>
                      <a:r>
                        <a:rPr lang="en-US" sz="1400" dirty="0">
                          <a:latin typeface="Courier New" panose="02070309020205020404" pitchFamily="49" charset="0"/>
                          <a:cs typeface="Courier New" panose="02070309020205020404" pitchFamily="49" charset="0"/>
                        </a:rPr>
                        <a:t>  { $set: {email: “joseph@email.com” } });</a:t>
                      </a:r>
                    </a:p>
                  </a:txBody>
                  <a:tcPr/>
                </a:tc>
                <a:extLst>
                  <a:ext uri="{0D108BD9-81ED-4DB2-BD59-A6C34878D82A}">
                    <a16:rowId xmlns:a16="http://schemas.microsoft.com/office/drawing/2014/main" val="2748510336"/>
                  </a:ext>
                </a:extLst>
              </a:tr>
              <a:tr h="370840">
                <a:tc>
                  <a:txBody>
                    <a:bodyPr/>
                    <a:lstStyle/>
                    <a:p>
                      <a:r>
                        <a:rPr lang="en-US" sz="1400" dirty="0">
                          <a:latin typeface="Courier New" panose="02070309020205020404" pitchFamily="49" charset="0"/>
                          <a:cs typeface="Courier New" panose="02070309020205020404" pitchFamily="49" charset="0"/>
                        </a:rPr>
                        <a:t>$unset</a:t>
                      </a:r>
                    </a:p>
                  </a:txBody>
                  <a:tcPr/>
                </a:tc>
                <a:tc>
                  <a:txBody>
                    <a:bodyPr/>
                    <a:lstStyle/>
                    <a:p>
                      <a:r>
                        <a:rPr lang="en-US" sz="1400" dirty="0"/>
                        <a:t>Removes a field from a document entirely</a:t>
                      </a:r>
                    </a:p>
                  </a:txBody>
                  <a:tcPr/>
                </a:tc>
                <a:tc>
                  <a:txBody>
                    <a:bodyPr/>
                    <a:lstStyle/>
                    <a:p>
                      <a:r>
                        <a:rPr lang="en-US" sz="1400" dirty="0" err="1">
                          <a:latin typeface="Courier New" panose="02070309020205020404" pitchFamily="49" charset="0"/>
                          <a:cs typeface="Courier New" panose="02070309020205020404" pitchFamily="49" charset="0"/>
                        </a:rPr>
                        <a:t>db.users.updateOne</a:t>
                      </a:r>
                      <a:r>
                        <a:rPr lang="en-US" sz="1400" dirty="0">
                          <a:latin typeface="Courier New" panose="02070309020205020404" pitchFamily="49" charset="0"/>
                          <a:cs typeface="Courier New" panose="02070309020205020404" pitchFamily="49" charset="0"/>
                        </a:rPr>
                        <a:t>(</a:t>
                      </a:r>
                    </a:p>
                    <a:p>
                      <a:r>
                        <a:rPr lang="en-US" sz="1400" dirty="0">
                          <a:latin typeface="Courier New" panose="02070309020205020404" pitchFamily="49" charset="0"/>
                          <a:cs typeface="Courier New" panose="02070309020205020404" pitchFamily="49" charset="0"/>
                        </a:rPr>
                        <a:t>  { name: “Joseph” },</a:t>
                      </a:r>
                    </a:p>
                    <a:p>
                      <a:r>
                        <a:rPr lang="en-US" sz="1400" dirty="0">
                          <a:latin typeface="Courier New" panose="02070309020205020404" pitchFamily="49" charset="0"/>
                          <a:cs typeface="Courier New" panose="02070309020205020404" pitchFamily="49" charset="0"/>
                        </a:rPr>
                        <a:t>  { $unset: {email: “” } // value ignored, but required syntax</a:t>
                      </a:r>
                    </a:p>
                    <a:p>
                      <a:r>
                        <a:rPr lang="en-US" sz="1400" dirty="0">
                          <a:latin typeface="Courier New" panose="02070309020205020404" pitchFamily="49" charset="0"/>
                          <a:cs typeface="Courier New" panose="02070309020205020404" pitchFamily="49" charset="0"/>
                        </a:rPr>
                        <a:t>});</a:t>
                      </a:r>
                    </a:p>
                  </a:txBody>
                  <a:tcPr/>
                </a:tc>
                <a:extLst>
                  <a:ext uri="{0D108BD9-81ED-4DB2-BD59-A6C34878D82A}">
                    <a16:rowId xmlns:a16="http://schemas.microsoft.com/office/drawing/2014/main" val="2124088066"/>
                  </a:ext>
                </a:extLst>
              </a:tr>
              <a:tr h="370840">
                <a:tc>
                  <a:txBody>
                    <a:bodyPr/>
                    <a:lstStyle/>
                    <a:p>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inc</a:t>
                      </a:r>
                      <a:endParaRPr lang="en-US" sz="1400" dirty="0">
                        <a:latin typeface="Courier New" panose="02070309020205020404" pitchFamily="49" charset="0"/>
                        <a:cs typeface="Courier New" panose="02070309020205020404" pitchFamily="49" charset="0"/>
                      </a:endParaRPr>
                    </a:p>
                  </a:txBody>
                  <a:tcPr/>
                </a:tc>
                <a:tc>
                  <a:txBody>
                    <a:bodyPr/>
                    <a:lstStyle/>
                    <a:p>
                      <a:r>
                        <a:rPr lang="en-US" sz="1400" dirty="0"/>
                        <a:t>Increments (or decrements if using a negative value) a numeric field by a specified amount</a:t>
                      </a:r>
                    </a:p>
                  </a:txBody>
                  <a:tcPr/>
                </a:tc>
                <a:tc>
                  <a:txBody>
                    <a:bodyPr/>
                    <a:lstStyle/>
                    <a:p>
                      <a:r>
                        <a:rPr lang="en-US" sz="1400" dirty="0" err="1">
                          <a:latin typeface="Courier New" panose="02070309020205020404" pitchFamily="49" charset="0"/>
                          <a:cs typeface="Courier New" panose="02070309020205020404" pitchFamily="49" charset="0"/>
                        </a:rPr>
                        <a:t>db.products.updateOne</a:t>
                      </a:r>
                      <a:r>
                        <a:rPr lang="en-US" sz="1400" dirty="0">
                          <a:latin typeface="Courier New" panose="02070309020205020404" pitchFamily="49" charset="0"/>
                          <a:cs typeface="Courier New" panose="02070309020205020404" pitchFamily="49" charset="0"/>
                        </a:rPr>
                        <a:t>(</a:t>
                      </a:r>
                    </a:p>
                    <a:p>
                      <a:r>
                        <a:rPr lang="en-US" sz="1400" dirty="0">
                          <a:latin typeface="Courier New" panose="02070309020205020404" pitchFamily="49" charset="0"/>
                          <a:cs typeface="Courier New" panose="02070309020205020404" pitchFamily="49" charset="0"/>
                        </a:rPr>
                        <a:t>  { </a:t>
                      </a:r>
                      <a:r>
                        <a:rPr lang="en-US" sz="1400" dirty="0" err="1">
                          <a:latin typeface="Courier New" panose="02070309020205020404" pitchFamily="49" charset="0"/>
                          <a:cs typeface="Courier New" panose="02070309020205020404" pitchFamily="49" charset="0"/>
                        </a:rPr>
                        <a:t>sku</a:t>
                      </a:r>
                      <a:r>
                        <a:rPr lang="en-US" sz="1400" dirty="0">
                          <a:latin typeface="Courier New" panose="02070309020205020404" pitchFamily="49" charset="0"/>
                          <a:cs typeface="Courier New" panose="02070309020205020404" pitchFamily="49" charset="0"/>
                        </a:rPr>
                        <a:t>: “ABC123” },</a:t>
                      </a:r>
                    </a:p>
                    <a:p>
                      <a:r>
                        <a:rPr lang="en-US" sz="1400" dirty="0">
                          <a:latin typeface="Courier New" panose="02070309020205020404" pitchFamily="49" charset="0"/>
                          <a:cs typeface="Courier New" panose="02070309020205020404" pitchFamily="49" charset="0"/>
                        </a:rPr>
                        <a:t>  { $</a:t>
                      </a:r>
                      <a:r>
                        <a:rPr lang="en-US" sz="1400" dirty="0" err="1">
                          <a:latin typeface="Courier New" panose="02070309020205020404" pitchFamily="49" charset="0"/>
                          <a:cs typeface="Courier New" panose="02070309020205020404" pitchFamily="49" charset="0"/>
                        </a:rPr>
                        <a:t>inc</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stockQty</a:t>
                      </a:r>
                      <a:r>
                        <a:rPr lang="en-US" sz="1400" dirty="0">
                          <a:latin typeface="Courier New" panose="02070309020205020404" pitchFamily="49" charset="0"/>
                          <a:cs typeface="Courier New" panose="02070309020205020404" pitchFamily="49" charset="0"/>
                        </a:rPr>
                        <a:t>: -1 } </a:t>
                      </a:r>
                    </a:p>
                    <a:p>
                      <a:r>
                        <a:rPr lang="en-US" sz="1400" dirty="0">
                          <a:latin typeface="Courier New" panose="02070309020205020404" pitchFamily="49" charset="0"/>
                          <a:cs typeface="Courier New" panose="02070309020205020404" pitchFamily="49" charset="0"/>
                        </a:rPr>
                        <a:t>});</a:t>
                      </a:r>
                    </a:p>
                  </a:txBody>
                  <a:tcPr/>
                </a:tc>
                <a:extLst>
                  <a:ext uri="{0D108BD9-81ED-4DB2-BD59-A6C34878D82A}">
                    <a16:rowId xmlns:a16="http://schemas.microsoft.com/office/drawing/2014/main" val="3907281473"/>
                  </a:ext>
                </a:extLst>
              </a:tr>
              <a:tr h="370840">
                <a:tc>
                  <a:txBody>
                    <a:bodyPr/>
                    <a:lstStyle/>
                    <a:p>
                      <a:r>
                        <a:rPr lang="en-US" sz="1400" dirty="0">
                          <a:latin typeface="Courier New" panose="02070309020205020404" pitchFamily="49" charset="0"/>
                          <a:cs typeface="Courier New" panose="02070309020205020404" pitchFamily="49" charset="0"/>
                        </a:rPr>
                        <a:t>$rename</a:t>
                      </a:r>
                    </a:p>
                  </a:txBody>
                  <a:tcPr/>
                </a:tc>
                <a:tc>
                  <a:txBody>
                    <a:bodyPr/>
                    <a:lstStyle/>
                    <a:p>
                      <a:r>
                        <a:rPr lang="en-US" sz="1400" dirty="0"/>
                        <a:t>Renames a field, keeping its existing value intact</a:t>
                      </a:r>
                    </a:p>
                  </a:txBody>
                  <a:tcPr/>
                </a:tc>
                <a:tc>
                  <a:txBody>
                    <a:bodyPr/>
                    <a:lstStyle/>
                    <a:p>
                      <a:r>
                        <a:rPr lang="en-US" sz="1400" dirty="0" err="1">
                          <a:latin typeface="Courier New" panose="02070309020205020404" pitchFamily="49" charset="0"/>
                          <a:cs typeface="Courier New" panose="02070309020205020404" pitchFamily="49" charset="0"/>
                        </a:rPr>
                        <a:t>db.users.updateMany</a:t>
                      </a:r>
                      <a:r>
                        <a:rPr lang="en-US" sz="1400" dirty="0">
                          <a:latin typeface="Courier New" panose="02070309020205020404" pitchFamily="49" charset="0"/>
                          <a:cs typeface="Courier New" panose="02070309020205020404" pitchFamily="49" charset="0"/>
                        </a:rPr>
                        <a:t>(</a:t>
                      </a:r>
                    </a:p>
                    <a:p>
                      <a:r>
                        <a:rPr lang="en-US" sz="1400" dirty="0">
                          <a:latin typeface="Courier New" panose="02070309020205020404" pitchFamily="49" charset="0"/>
                          <a:cs typeface="Courier New" panose="02070309020205020404" pitchFamily="49" charset="0"/>
                        </a:rPr>
                        <a:t>  {},</a:t>
                      </a:r>
                    </a:p>
                    <a:p>
                      <a:r>
                        <a:rPr lang="en-US" sz="1400" dirty="0">
                          <a:latin typeface="Courier New" panose="02070309020205020404" pitchFamily="49" charset="0"/>
                          <a:cs typeface="Courier New" panose="02070309020205020404" pitchFamily="49" charset="0"/>
                        </a:rPr>
                        <a:t>  {$rename:{“</a:t>
                      </a:r>
                      <a:r>
                        <a:rPr lang="en-US" sz="1400" dirty="0" err="1">
                          <a:latin typeface="Courier New" panose="02070309020205020404" pitchFamily="49" charset="0"/>
                          <a:cs typeface="Courier New" panose="02070309020205020404" pitchFamily="49" charset="0"/>
                        </a:rPr>
                        <a:t>signupDate</a:t>
                      </a:r>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CreatedAt</a:t>
                      </a:r>
                      <a:r>
                        <a:rPr lang="en-US" sz="1400" dirty="0">
                          <a:latin typeface="Courier New" panose="02070309020205020404" pitchFamily="49" charset="0"/>
                          <a:cs typeface="Courier New" panose="02070309020205020404" pitchFamily="49" charset="0"/>
                        </a:rPr>
                        <a:t>”} </a:t>
                      </a:r>
                    </a:p>
                    <a:p>
                      <a:r>
                        <a:rPr lang="en-US" sz="1400" dirty="0">
                          <a:latin typeface="Courier New" panose="02070309020205020404" pitchFamily="49" charset="0"/>
                          <a:cs typeface="Courier New" panose="02070309020205020404" pitchFamily="49" charset="0"/>
                        </a:rPr>
                        <a:t>});</a:t>
                      </a:r>
                    </a:p>
                  </a:txBody>
                  <a:tcPr/>
                </a:tc>
                <a:extLst>
                  <a:ext uri="{0D108BD9-81ED-4DB2-BD59-A6C34878D82A}">
                    <a16:rowId xmlns:a16="http://schemas.microsoft.com/office/drawing/2014/main" val="3318863494"/>
                  </a:ext>
                </a:extLst>
              </a:tr>
            </a:tbl>
          </a:graphicData>
        </a:graphic>
      </p:graphicFrame>
    </p:spTree>
    <p:extLst>
      <p:ext uri="{BB962C8B-B14F-4D97-AF65-F5344CB8AC3E}">
        <p14:creationId xmlns:p14="http://schemas.microsoft.com/office/powerpoint/2010/main" val="41114632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D4DF8-06C7-F590-1403-4E238DFBA68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A04A70D-F25A-1953-73D1-B49BFEEC0EB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48</a:t>
            </a:fld>
            <a:endParaRPr lang="en-US"/>
          </a:p>
        </p:txBody>
      </p:sp>
      <p:sp>
        <p:nvSpPr>
          <p:cNvPr id="5" name="Title 4">
            <a:extLst>
              <a:ext uri="{FF2B5EF4-FFF2-40B4-BE49-F238E27FC236}">
                <a16:creationId xmlns:a16="http://schemas.microsoft.com/office/drawing/2014/main" id="{BFAF3062-06C7-4E3F-884B-DC6CC1EF04E4}"/>
              </a:ext>
            </a:extLst>
          </p:cNvPr>
          <p:cNvSpPr>
            <a:spLocks noGrp="1"/>
          </p:cNvSpPr>
          <p:nvPr>
            <p:ph type="title"/>
          </p:nvPr>
        </p:nvSpPr>
        <p:spPr/>
        <p:txBody>
          <a:bodyPr/>
          <a:lstStyle/>
          <a:p>
            <a:r>
              <a:rPr lang="en-US" dirty="0"/>
              <a:t>Update Operators | Array Operators</a:t>
            </a:r>
          </a:p>
        </p:txBody>
      </p:sp>
      <p:graphicFrame>
        <p:nvGraphicFramePr>
          <p:cNvPr id="3" name="Table 2">
            <a:extLst>
              <a:ext uri="{FF2B5EF4-FFF2-40B4-BE49-F238E27FC236}">
                <a16:creationId xmlns:a16="http://schemas.microsoft.com/office/drawing/2014/main" id="{DABFEA79-20FB-ABBC-6085-5B85E1DA79C6}"/>
              </a:ext>
            </a:extLst>
          </p:cNvPr>
          <p:cNvGraphicFramePr>
            <a:graphicFrameLocks noGrp="1"/>
          </p:cNvGraphicFramePr>
          <p:nvPr>
            <p:extLst>
              <p:ext uri="{D42A27DB-BD31-4B8C-83A1-F6EECF244321}">
                <p14:modId xmlns:p14="http://schemas.microsoft.com/office/powerpoint/2010/main" val="2772989184"/>
              </p:ext>
            </p:extLst>
          </p:nvPr>
        </p:nvGraphicFramePr>
        <p:xfrm>
          <a:off x="159573" y="2174073"/>
          <a:ext cx="8824854" cy="3205480"/>
        </p:xfrm>
        <a:graphic>
          <a:graphicData uri="http://schemas.openxmlformats.org/drawingml/2006/table">
            <a:tbl>
              <a:tblPr firstRow="1" bandRow="1">
                <a:tableStyleId>{5C22544A-7EE6-4342-B048-85BDC9FD1C3A}</a:tableStyleId>
              </a:tblPr>
              <a:tblGrid>
                <a:gridCol w="1287390">
                  <a:extLst>
                    <a:ext uri="{9D8B030D-6E8A-4147-A177-3AD203B41FA5}">
                      <a16:colId xmlns:a16="http://schemas.microsoft.com/office/drawing/2014/main" val="4202507141"/>
                    </a:ext>
                  </a:extLst>
                </a:gridCol>
                <a:gridCol w="3225521">
                  <a:extLst>
                    <a:ext uri="{9D8B030D-6E8A-4147-A177-3AD203B41FA5}">
                      <a16:colId xmlns:a16="http://schemas.microsoft.com/office/drawing/2014/main" val="2653014772"/>
                    </a:ext>
                  </a:extLst>
                </a:gridCol>
                <a:gridCol w="4311943">
                  <a:extLst>
                    <a:ext uri="{9D8B030D-6E8A-4147-A177-3AD203B41FA5}">
                      <a16:colId xmlns:a16="http://schemas.microsoft.com/office/drawing/2014/main" val="3231311561"/>
                    </a:ext>
                  </a:extLst>
                </a:gridCol>
              </a:tblGrid>
              <a:tr h="370840">
                <a:tc>
                  <a:txBody>
                    <a:bodyPr/>
                    <a:lstStyle/>
                    <a:p>
                      <a:r>
                        <a:rPr lang="en-US" dirty="0"/>
                        <a:t>Operator</a:t>
                      </a:r>
                    </a:p>
                  </a:txBody>
                  <a:tcPr/>
                </a:tc>
                <a:tc>
                  <a:txBody>
                    <a:bodyPr/>
                    <a:lstStyle/>
                    <a:p>
                      <a:r>
                        <a:rPr lang="en-US" dirty="0"/>
                        <a:t>Description</a:t>
                      </a:r>
                    </a:p>
                  </a:txBody>
                  <a:tcPr/>
                </a:tc>
                <a:tc>
                  <a:txBody>
                    <a:bodyPr/>
                    <a:lstStyle/>
                    <a:p>
                      <a:r>
                        <a:rPr lang="en-US" dirty="0"/>
                        <a:t>Example</a:t>
                      </a:r>
                    </a:p>
                  </a:txBody>
                  <a:tcPr/>
                </a:tc>
                <a:extLst>
                  <a:ext uri="{0D108BD9-81ED-4DB2-BD59-A6C34878D82A}">
                    <a16:rowId xmlns:a16="http://schemas.microsoft.com/office/drawing/2014/main" val="3394265451"/>
                  </a:ext>
                </a:extLst>
              </a:tr>
              <a:tr h="370840">
                <a:tc>
                  <a:txBody>
                    <a:bodyPr/>
                    <a:lstStyle/>
                    <a:p>
                      <a:r>
                        <a:rPr lang="en-US" sz="1400" dirty="0">
                          <a:latin typeface="Courier New" panose="02070309020205020404" pitchFamily="49" charset="0"/>
                          <a:cs typeface="Courier New" panose="02070309020205020404" pitchFamily="49" charset="0"/>
                        </a:rPr>
                        <a:t>$push</a:t>
                      </a:r>
                    </a:p>
                  </a:txBody>
                  <a:tcPr/>
                </a:tc>
                <a:tc>
                  <a:txBody>
                    <a:bodyPr/>
                    <a:lstStyle/>
                    <a:p>
                      <a:r>
                        <a:rPr lang="en-US" sz="1400" dirty="0"/>
                        <a:t>Adds a value to the end of an array field. Can add duplicate values.</a:t>
                      </a:r>
                    </a:p>
                  </a:txBody>
                  <a:tcPr/>
                </a:tc>
                <a:tc>
                  <a:txBody>
                    <a:bodyPr/>
                    <a:lstStyle/>
                    <a:p>
                      <a:r>
                        <a:rPr lang="en-US" sz="1400" dirty="0" err="1">
                          <a:latin typeface="Courier New" panose="02070309020205020404" pitchFamily="49" charset="0"/>
                          <a:cs typeface="Courier New" panose="02070309020205020404" pitchFamily="49" charset="0"/>
                        </a:rPr>
                        <a:t>db.movies.updateOne</a:t>
                      </a:r>
                      <a:r>
                        <a:rPr lang="en-US" sz="1400" dirty="0">
                          <a:latin typeface="Courier New" panose="02070309020205020404" pitchFamily="49" charset="0"/>
                          <a:cs typeface="Courier New" panose="02070309020205020404" pitchFamily="49" charset="0"/>
                        </a:rPr>
                        <a:t>(</a:t>
                      </a:r>
                    </a:p>
                    <a:p>
                      <a:r>
                        <a:rPr lang="en-US" sz="1400" dirty="0">
                          <a:latin typeface="Courier New" panose="02070309020205020404" pitchFamily="49" charset="0"/>
                          <a:cs typeface="Courier New" panose="02070309020205020404" pitchFamily="49" charset="0"/>
                        </a:rPr>
                        <a:t>  {name: “The Avengers”},</a:t>
                      </a:r>
                    </a:p>
                    <a:p>
                      <a:r>
                        <a:rPr lang="en-US" sz="1400" dirty="0">
                          <a:latin typeface="Courier New" panose="02070309020205020404" pitchFamily="49" charset="0"/>
                          <a:cs typeface="Courier New" panose="02070309020205020404" pitchFamily="49" charset="0"/>
                        </a:rPr>
                        <a:t>  { $push: { tags: “Romance” }}</a:t>
                      </a:r>
                    </a:p>
                    <a:p>
                      <a:r>
                        <a:rPr lang="en-US" sz="1400" dirty="0">
                          <a:latin typeface="Courier New" panose="02070309020205020404" pitchFamily="49" charset="0"/>
                          <a:cs typeface="Courier New" panose="02070309020205020404" pitchFamily="49" charset="0"/>
                        </a:rPr>
                        <a:t>);</a:t>
                      </a:r>
                    </a:p>
                  </a:txBody>
                  <a:tcPr/>
                </a:tc>
                <a:extLst>
                  <a:ext uri="{0D108BD9-81ED-4DB2-BD59-A6C34878D82A}">
                    <a16:rowId xmlns:a16="http://schemas.microsoft.com/office/drawing/2014/main" val="2748510336"/>
                  </a:ext>
                </a:extLst>
              </a:tr>
              <a:tr h="370840">
                <a:tc>
                  <a:txBody>
                    <a:bodyPr/>
                    <a:lstStyle/>
                    <a:p>
                      <a:r>
                        <a:rPr lang="en-US" sz="1400" dirty="0">
                          <a:latin typeface="Courier New" panose="02070309020205020404" pitchFamily="49" charset="0"/>
                          <a:cs typeface="Courier New" panose="02070309020205020404" pitchFamily="49" charset="0"/>
                        </a:rPr>
                        <a:t>$pull</a:t>
                      </a:r>
                    </a:p>
                  </a:txBody>
                  <a:tcPr/>
                </a:tc>
                <a:tc>
                  <a:txBody>
                    <a:bodyPr/>
                    <a:lstStyle/>
                    <a:p>
                      <a:r>
                        <a:rPr lang="en-US" sz="1400" dirty="0"/>
                        <a:t>Removed all instances of a specified value (or values matching a condition) from an array field</a:t>
                      </a:r>
                    </a:p>
                  </a:txBody>
                  <a:tcPr/>
                </a:tc>
                <a:tc>
                  <a:txBody>
                    <a:bodyPr/>
                    <a:lstStyle/>
                    <a:p>
                      <a:r>
                        <a:rPr lang="en-US" sz="1400" dirty="0" err="1">
                          <a:latin typeface="Courier New" panose="02070309020205020404" pitchFamily="49" charset="0"/>
                          <a:cs typeface="Courier New" panose="02070309020205020404" pitchFamily="49" charset="0"/>
                        </a:rPr>
                        <a:t>db.movies.updateOne</a:t>
                      </a:r>
                      <a:r>
                        <a:rPr lang="en-US" sz="1400" dirty="0">
                          <a:latin typeface="Courier New" panose="02070309020205020404" pitchFamily="49" charset="0"/>
                          <a:cs typeface="Courier New" panose="02070309020205020404" pitchFamily="49" charset="0"/>
                        </a:rPr>
                        <a:t>(</a:t>
                      </a:r>
                    </a:p>
                    <a:p>
                      <a:r>
                        <a:rPr lang="en-US" sz="1400" dirty="0">
                          <a:latin typeface="Courier New" panose="02070309020205020404" pitchFamily="49" charset="0"/>
                          <a:cs typeface="Courier New" panose="02070309020205020404" pitchFamily="49" charset="0"/>
                        </a:rPr>
                        <a:t>  {name: “The Avengers”},</a:t>
                      </a:r>
                    </a:p>
                    <a:p>
                      <a:r>
                        <a:rPr lang="en-US" sz="1400" dirty="0">
                          <a:latin typeface="Courier New" panose="02070309020205020404" pitchFamily="49" charset="0"/>
                          <a:cs typeface="Courier New" panose="02070309020205020404" pitchFamily="49" charset="0"/>
                        </a:rPr>
                        <a:t>  { $pull: { tags: “Romance” }}</a:t>
                      </a:r>
                    </a:p>
                    <a:p>
                      <a:r>
                        <a:rPr lang="en-US" sz="1400" dirty="0">
                          <a:latin typeface="Courier New" panose="02070309020205020404" pitchFamily="49" charset="0"/>
                          <a:cs typeface="Courier New" panose="02070309020205020404" pitchFamily="49" charset="0"/>
                        </a:rPr>
                        <a:t>);</a:t>
                      </a:r>
                    </a:p>
                  </a:txBody>
                  <a:tcPr/>
                </a:tc>
                <a:extLst>
                  <a:ext uri="{0D108BD9-81ED-4DB2-BD59-A6C34878D82A}">
                    <a16:rowId xmlns:a16="http://schemas.microsoft.com/office/drawing/2014/main" val="2124088066"/>
                  </a:ext>
                </a:extLst>
              </a:tr>
              <a:tr h="370840">
                <a:tc>
                  <a:txBody>
                    <a:bodyPr/>
                    <a:lstStyle/>
                    <a:p>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addToSet</a:t>
                      </a:r>
                      <a:endParaRPr lang="en-US" sz="1400" dirty="0">
                        <a:latin typeface="Courier New" panose="02070309020205020404" pitchFamily="49" charset="0"/>
                        <a:cs typeface="Courier New" panose="02070309020205020404" pitchFamily="49" charset="0"/>
                      </a:endParaRPr>
                    </a:p>
                  </a:txBody>
                  <a:tcPr/>
                </a:tc>
                <a:tc>
                  <a:txBody>
                    <a:bodyPr/>
                    <a:lstStyle/>
                    <a:p>
                      <a:r>
                        <a:rPr lang="en-US" sz="1400" dirty="0"/>
                        <a:t>Adds a value to an array </a:t>
                      </a:r>
                      <a:r>
                        <a:rPr lang="en-US" sz="1400" b="1" i="1" dirty="0"/>
                        <a:t>only if it doesn’t already exist</a:t>
                      </a:r>
                      <a:r>
                        <a:rPr lang="en-US" sz="1400" b="0" i="0" dirty="0"/>
                        <a:t>. Prevents adding duplicate values.</a:t>
                      </a:r>
                      <a:endParaRPr lang="en-US" sz="1400" dirty="0"/>
                    </a:p>
                  </a:txBody>
                  <a:tcPr/>
                </a:tc>
                <a:tc>
                  <a:txBody>
                    <a:bodyPr/>
                    <a:lstStyle/>
                    <a:p>
                      <a:r>
                        <a:rPr lang="en-US" sz="1400" dirty="0" err="1">
                          <a:latin typeface="Courier New" panose="02070309020205020404" pitchFamily="49" charset="0"/>
                          <a:cs typeface="Courier New" panose="02070309020205020404" pitchFamily="49" charset="0"/>
                        </a:rPr>
                        <a:t>db.movies.updateOne</a:t>
                      </a:r>
                      <a:r>
                        <a:rPr lang="en-US" sz="1400" dirty="0">
                          <a:latin typeface="Courier New" panose="02070309020205020404" pitchFamily="49" charset="0"/>
                          <a:cs typeface="Courier New" panose="02070309020205020404" pitchFamily="49" charset="0"/>
                        </a:rPr>
                        <a:t>(</a:t>
                      </a:r>
                    </a:p>
                    <a:p>
                      <a:r>
                        <a:rPr lang="en-US" sz="1400" dirty="0">
                          <a:latin typeface="Courier New" panose="02070309020205020404" pitchFamily="49" charset="0"/>
                          <a:cs typeface="Courier New" panose="02070309020205020404" pitchFamily="49" charset="0"/>
                        </a:rPr>
                        <a:t>  {name: “The Avengers”},</a:t>
                      </a:r>
                    </a:p>
                    <a:p>
                      <a:r>
                        <a:rPr lang="en-US" sz="1400" dirty="0">
                          <a:latin typeface="Courier New" panose="02070309020205020404" pitchFamily="49" charset="0"/>
                          <a:cs typeface="Courier New" panose="02070309020205020404" pitchFamily="49" charset="0"/>
                        </a:rPr>
                        <a:t>  { $</a:t>
                      </a:r>
                      <a:r>
                        <a:rPr lang="en-US" sz="1400" dirty="0" err="1">
                          <a:latin typeface="Courier New" panose="02070309020205020404" pitchFamily="49" charset="0"/>
                          <a:cs typeface="Courier New" panose="02070309020205020404" pitchFamily="49" charset="0"/>
                        </a:rPr>
                        <a:t>addToSet</a:t>
                      </a:r>
                      <a:r>
                        <a:rPr lang="en-US" sz="1400" dirty="0">
                          <a:latin typeface="Courier New" panose="02070309020205020404" pitchFamily="49" charset="0"/>
                          <a:cs typeface="Courier New" panose="02070309020205020404" pitchFamily="49" charset="0"/>
                        </a:rPr>
                        <a:t>: { tags: “Action” }}</a:t>
                      </a:r>
                    </a:p>
                    <a:p>
                      <a:r>
                        <a:rPr lang="en-US" sz="1400" dirty="0">
                          <a:latin typeface="Courier New" panose="02070309020205020404" pitchFamily="49" charset="0"/>
                          <a:cs typeface="Courier New" panose="02070309020205020404" pitchFamily="49" charset="0"/>
                        </a:rPr>
                        <a:t>);</a:t>
                      </a:r>
                    </a:p>
                  </a:txBody>
                  <a:tcPr/>
                </a:tc>
                <a:extLst>
                  <a:ext uri="{0D108BD9-81ED-4DB2-BD59-A6C34878D82A}">
                    <a16:rowId xmlns:a16="http://schemas.microsoft.com/office/drawing/2014/main" val="3907281473"/>
                  </a:ext>
                </a:extLst>
              </a:tr>
            </a:tbl>
          </a:graphicData>
        </a:graphic>
      </p:graphicFrame>
    </p:spTree>
    <p:extLst>
      <p:ext uri="{BB962C8B-B14F-4D97-AF65-F5344CB8AC3E}">
        <p14:creationId xmlns:p14="http://schemas.microsoft.com/office/powerpoint/2010/main" val="4071782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37D62-3BE6-0418-84FD-AED6A0CDB25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9BCDC56-865B-FB6E-7B8A-E915AB27BA6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49</a:t>
            </a:fld>
            <a:endParaRPr lang="en-US"/>
          </a:p>
        </p:txBody>
      </p:sp>
      <p:sp>
        <p:nvSpPr>
          <p:cNvPr id="6" name="Content Placeholder 5">
            <a:extLst>
              <a:ext uri="{FF2B5EF4-FFF2-40B4-BE49-F238E27FC236}">
                <a16:creationId xmlns:a16="http://schemas.microsoft.com/office/drawing/2014/main" id="{48152A15-91D7-92D3-C17E-E9B7CF6FABA8}"/>
              </a:ext>
            </a:extLst>
          </p:cNvPr>
          <p:cNvSpPr>
            <a:spLocks noGrp="1"/>
          </p:cNvSpPr>
          <p:nvPr>
            <p:ph idx="1"/>
          </p:nvPr>
        </p:nvSpPr>
        <p:spPr>
          <a:xfrm>
            <a:off x="380010" y="1481447"/>
            <a:ext cx="8383980" cy="4882266"/>
          </a:xfrm>
        </p:spPr>
        <p:txBody>
          <a:bodyPr>
            <a:normAutofit fontScale="85000" lnSpcReduction="10000"/>
          </a:bodyPr>
          <a:lstStyle/>
          <a:p>
            <a:r>
              <a:rPr lang="en-US" dirty="0"/>
              <a:t>It is important to keep the distinction between </a:t>
            </a:r>
            <a:r>
              <a:rPr lang="en-US" dirty="0" err="1"/>
              <a:t>updateOne</a:t>
            </a:r>
            <a:r>
              <a:rPr lang="en-US" dirty="0"/>
              <a:t>()/</a:t>
            </a:r>
            <a:r>
              <a:rPr lang="en-US" dirty="0" err="1"/>
              <a:t>updateMany</a:t>
            </a:r>
            <a:r>
              <a:rPr lang="en-US" dirty="0"/>
              <a:t>() and </a:t>
            </a:r>
            <a:r>
              <a:rPr lang="en-US" dirty="0" err="1"/>
              <a:t>replaceOne</a:t>
            </a:r>
            <a:r>
              <a:rPr lang="en-US" dirty="0"/>
              <a:t>()</a:t>
            </a:r>
          </a:p>
          <a:p>
            <a:pPr lvl="1"/>
            <a:r>
              <a:rPr lang="en-US" dirty="0"/>
              <a:t>Update functions modify </a:t>
            </a:r>
            <a:r>
              <a:rPr lang="en-US" b="1" i="1" dirty="0"/>
              <a:t>only the specified fields</a:t>
            </a:r>
            <a:endParaRPr lang="en-US" dirty="0"/>
          </a:p>
          <a:p>
            <a:pPr lvl="1"/>
            <a:r>
              <a:rPr lang="en-US" dirty="0" err="1"/>
              <a:t>replaceOne</a:t>
            </a:r>
            <a:r>
              <a:rPr lang="en-US" dirty="0"/>
              <a:t> </a:t>
            </a:r>
            <a:r>
              <a:rPr lang="en-US" b="1" i="1" dirty="0"/>
              <a:t>overwrites the entire document</a:t>
            </a:r>
            <a:r>
              <a:rPr lang="en-US" dirty="0"/>
              <a:t>. Meaning that any fields not included in the replacement will be lost.</a:t>
            </a:r>
          </a:p>
          <a:p>
            <a:r>
              <a:rPr lang="en-US" dirty="0" err="1">
                <a:latin typeface="Courier New" panose="02070309020205020404" pitchFamily="49" charset="0"/>
                <a:cs typeface="Courier New" panose="02070309020205020404" pitchFamily="49" charset="0"/>
              </a:rPr>
              <a:t>upsert</a:t>
            </a:r>
            <a:r>
              <a:rPr lang="en-US" dirty="0"/>
              <a:t> – an optional setting that tells MongoDB to </a:t>
            </a:r>
            <a:r>
              <a:rPr lang="en-US" b="1" i="1" dirty="0"/>
              <a:t>insert a new document, if no document matches the filter</a:t>
            </a:r>
            <a:r>
              <a:rPr lang="en-US" dirty="0"/>
              <a:t>.</a:t>
            </a:r>
          </a:p>
          <a:p>
            <a:r>
              <a:rPr lang="en-US" dirty="0"/>
              <a:t>Update operations return an acknowledgement object indicating how many documents were matched, versus how many were actually modified (these can differ if the update would result in no actual change to the data.)</a:t>
            </a:r>
          </a:p>
          <a:p>
            <a:r>
              <a:rPr lang="en-US" dirty="0"/>
              <a:t>Note: If the schema includes validation, the updates are checked against those rules and will be rejected if they would result in a document that violates the validator.</a:t>
            </a:r>
          </a:p>
          <a:p>
            <a:endParaRPr lang="en-US" dirty="0"/>
          </a:p>
        </p:txBody>
      </p:sp>
      <p:sp>
        <p:nvSpPr>
          <p:cNvPr id="5" name="Title 4">
            <a:extLst>
              <a:ext uri="{FF2B5EF4-FFF2-40B4-BE49-F238E27FC236}">
                <a16:creationId xmlns:a16="http://schemas.microsoft.com/office/drawing/2014/main" id="{E1D0CD14-2FF3-E9E2-2182-D38C7ACC54C0}"/>
              </a:ext>
            </a:extLst>
          </p:cNvPr>
          <p:cNvSpPr>
            <a:spLocks noGrp="1"/>
          </p:cNvSpPr>
          <p:nvPr>
            <p:ph type="title"/>
          </p:nvPr>
        </p:nvSpPr>
        <p:spPr/>
        <p:txBody>
          <a:bodyPr/>
          <a:lstStyle/>
          <a:p>
            <a:r>
              <a:rPr lang="en-US" dirty="0"/>
              <a:t>Updating Documents | Considerations</a:t>
            </a:r>
          </a:p>
        </p:txBody>
      </p:sp>
    </p:spTree>
    <p:extLst>
      <p:ext uri="{BB962C8B-B14F-4D97-AF65-F5344CB8AC3E}">
        <p14:creationId xmlns:p14="http://schemas.microsoft.com/office/powerpoint/2010/main" val="18780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3C055-B468-2AA0-1060-F97B666C973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44B70DB-42A1-1689-68F5-66FE93AEC61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50</a:t>
            </a:fld>
            <a:endParaRPr lang="en-US"/>
          </a:p>
        </p:txBody>
      </p:sp>
      <p:sp>
        <p:nvSpPr>
          <p:cNvPr id="6" name="Content Placeholder 5">
            <a:extLst>
              <a:ext uri="{FF2B5EF4-FFF2-40B4-BE49-F238E27FC236}">
                <a16:creationId xmlns:a16="http://schemas.microsoft.com/office/drawing/2014/main" id="{16AAEE8D-6E07-74BE-723E-FACF3AC5DACE}"/>
              </a:ext>
            </a:extLst>
          </p:cNvPr>
          <p:cNvSpPr>
            <a:spLocks noGrp="1"/>
          </p:cNvSpPr>
          <p:nvPr>
            <p:ph idx="1"/>
          </p:nvPr>
        </p:nvSpPr>
        <p:spPr>
          <a:xfrm>
            <a:off x="380010" y="1481445"/>
            <a:ext cx="8383980" cy="5247391"/>
          </a:xfrm>
        </p:spPr>
        <p:txBody>
          <a:bodyPr>
            <a:normAutofit fontScale="85000" lnSpcReduction="20000"/>
          </a:bodyPr>
          <a:lstStyle/>
          <a:p>
            <a:r>
              <a:rPr lang="en-US" dirty="0"/>
              <a:t>Deleting removes documents from a collection entirely, and is a </a:t>
            </a:r>
            <a:r>
              <a:rPr lang="en-US" b="1" i="1" dirty="0"/>
              <a:t>permanent</a:t>
            </a:r>
            <a:r>
              <a:rPr lang="en-US" dirty="0"/>
              <a:t> operation on the database (similar to </a:t>
            </a:r>
            <a:r>
              <a:rPr lang="en-US" dirty="0">
                <a:latin typeface="Courier New" panose="02070309020205020404" pitchFamily="49" charset="0"/>
                <a:cs typeface="Courier New" panose="02070309020205020404" pitchFamily="49" charset="0"/>
              </a:rPr>
              <a:t>drop()</a:t>
            </a:r>
            <a:r>
              <a:rPr lang="en-US" dirty="0"/>
              <a:t>)</a:t>
            </a:r>
          </a:p>
          <a:p>
            <a:pPr lvl="1"/>
            <a:r>
              <a:rPr lang="en-US" dirty="0"/>
              <a:t>Note: The </a:t>
            </a:r>
            <a:r>
              <a:rPr lang="en-US" dirty="0">
                <a:latin typeface="Courier New" panose="02070309020205020404" pitchFamily="49" charset="0"/>
                <a:cs typeface="Courier New" panose="02070309020205020404" pitchFamily="49" charset="0"/>
              </a:rPr>
              <a:t>drop()</a:t>
            </a:r>
            <a:r>
              <a:rPr lang="en-US" dirty="0"/>
              <a:t> function will remove the collection, it’s indexes, and any configured validators; whereas using </a:t>
            </a:r>
            <a:r>
              <a:rPr lang="en-US" dirty="0" err="1">
                <a:latin typeface="Courier New" panose="02070309020205020404" pitchFamily="49" charset="0"/>
                <a:cs typeface="Courier New" panose="02070309020205020404" pitchFamily="49" charset="0"/>
              </a:rPr>
              <a:t>deleteMany</a:t>
            </a:r>
            <a:r>
              <a:rPr lang="en-US" dirty="0">
                <a:latin typeface="Courier New" panose="02070309020205020404" pitchFamily="49" charset="0"/>
                <a:cs typeface="Courier New" panose="02070309020205020404" pitchFamily="49" charset="0"/>
              </a:rPr>
              <a:t>()</a:t>
            </a:r>
            <a:r>
              <a:rPr lang="en-US" dirty="0"/>
              <a:t> to remove all documents preserves the collection schema.</a:t>
            </a:r>
          </a:p>
          <a:p>
            <a:r>
              <a:rPr lang="en-US" dirty="0"/>
              <a:t>The delete functions in MongoDB are:</a:t>
            </a:r>
          </a:p>
          <a:p>
            <a:r>
              <a:rPr lang="en-US" dirty="0" err="1">
                <a:latin typeface="Courier New" panose="02070309020205020404" pitchFamily="49" charset="0"/>
                <a:cs typeface="Courier New" panose="02070309020205020404" pitchFamily="49" charset="0"/>
              </a:rPr>
              <a:t>deleteOne</a:t>
            </a:r>
            <a:r>
              <a:rPr lang="en-US" dirty="0">
                <a:latin typeface="Courier New" panose="02070309020205020404" pitchFamily="49" charset="0"/>
                <a:cs typeface="Courier New" panose="02070309020205020404" pitchFamily="49" charset="0"/>
              </a:rPr>
              <a:t>()</a:t>
            </a:r>
            <a:r>
              <a:rPr lang="en-US" dirty="0"/>
              <a:t>: deletes the first document that matches a given filter</a:t>
            </a:r>
          </a:p>
          <a:p>
            <a:r>
              <a:rPr lang="en-US" dirty="0" err="1">
                <a:latin typeface="Courier New" panose="02070309020205020404" pitchFamily="49" charset="0"/>
                <a:cs typeface="Courier New" panose="02070309020205020404" pitchFamily="49" charset="0"/>
              </a:rPr>
              <a:t>deleteMany</a:t>
            </a:r>
            <a:r>
              <a:rPr lang="en-US" dirty="0">
                <a:latin typeface="Courier New" panose="02070309020205020404" pitchFamily="49" charset="0"/>
                <a:cs typeface="Courier New" panose="02070309020205020404" pitchFamily="49" charset="0"/>
              </a:rPr>
              <a:t>()</a:t>
            </a:r>
            <a:r>
              <a:rPr lang="en-US" dirty="0"/>
              <a:t>: deletes all documents that match a given filter.</a:t>
            </a:r>
          </a:p>
          <a:p>
            <a:r>
              <a:rPr lang="en-US" b="1" i="1" dirty="0"/>
              <a:t>Filters</a:t>
            </a:r>
            <a:r>
              <a:rPr lang="en-US" dirty="0"/>
              <a:t>: first argument of delete functions, and the same concept seen previously.</a:t>
            </a:r>
          </a:p>
          <a:p>
            <a:r>
              <a:rPr lang="en-US" dirty="0"/>
              <a:t>Delete operations return an acknowledgement object indicating the </a:t>
            </a:r>
            <a:r>
              <a:rPr lang="en-US" b="1" i="1" dirty="0" err="1">
                <a:latin typeface="Courier New" panose="02070309020205020404" pitchFamily="49" charset="0"/>
                <a:cs typeface="Courier New" panose="02070309020205020404" pitchFamily="49" charset="0"/>
              </a:rPr>
              <a:t>deletedCount</a:t>
            </a:r>
            <a:r>
              <a:rPr lang="en-US" dirty="0"/>
              <a:t> – how many documents were actually removed.</a:t>
            </a:r>
          </a:p>
          <a:p>
            <a:endParaRPr lang="en-US" dirty="0"/>
          </a:p>
          <a:p>
            <a:endParaRPr lang="en-US" dirty="0"/>
          </a:p>
        </p:txBody>
      </p:sp>
      <p:sp>
        <p:nvSpPr>
          <p:cNvPr id="5" name="Title 4">
            <a:extLst>
              <a:ext uri="{FF2B5EF4-FFF2-40B4-BE49-F238E27FC236}">
                <a16:creationId xmlns:a16="http://schemas.microsoft.com/office/drawing/2014/main" id="{0E2A186B-083A-3610-DA1E-261F5C438724}"/>
              </a:ext>
            </a:extLst>
          </p:cNvPr>
          <p:cNvSpPr>
            <a:spLocks noGrp="1"/>
          </p:cNvSpPr>
          <p:nvPr>
            <p:ph type="title"/>
          </p:nvPr>
        </p:nvSpPr>
        <p:spPr/>
        <p:txBody>
          <a:bodyPr/>
          <a:lstStyle/>
          <a:p>
            <a:r>
              <a:rPr lang="en-US" dirty="0"/>
              <a:t>Deleting Documents</a:t>
            </a:r>
          </a:p>
        </p:txBody>
      </p:sp>
    </p:spTree>
    <p:extLst>
      <p:ext uri="{BB962C8B-B14F-4D97-AF65-F5344CB8AC3E}">
        <p14:creationId xmlns:p14="http://schemas.microsoft.com/office/powerpoint/2010/main" val="263387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FBCEA-1566-F6B3-293D-9C8912C1144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F6FAA41-500E-A551-68F0-FA41D8E2D2B1}"/>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51</a:t>
            </a:fld>
            <a:endParaRPr lang="en-US"/>
          </a:p>
        </p:txBody>
      </p:sp>
      <p:sp>
        <p:nvSpPr>
          <p:cNvPr id="4" name="Google Shape;212;p15">
            <a:extLst>
              <a:ext uri="{FF2B5EF4-FFF2-40B4-BE49-F238E27FC236}">
                <a16:creationId xmlns:a16="http://schemas.microsoft.com/office/drawing/2014/main" id="{8B86A5EE-D1B2-D636-183E-9AFE916A1E80}"/>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Indexes</a:t>
            </a:r>
          </a:p>
        </p:txBody>
      </p:sp>
      <p:pic>
        <p:nvPicPr>
          <p:cNvPr id="6" name="Picture 5">
            <a:extLst>
              <a:ext uri="{FF2B5EF4-FFF2-40B4-BE49-F238E27FC236}">
                <a16:creationId xmlns:a16="http://schemas.microsoft.com/office/drawing/2014/main" id="{08AB7E7D-F9EF-112A-AE3B-BB8E39CE46B5}"/>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40470982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55FE6-8EB3-9BF9-827F-13BFF5808E2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E58DDDD-EEE3-56D1-6657-3AE05C7A50A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52</a:t>
            </a:fld>
            <a:endParaRPr lang="en-US"/>
          </a:p>
        </p:txBody>
      </p:sp>
      <p:sp>
        <p:nvSpPr>
          <p:cNvPr id="6" name="Content Placeholder 5">
            <a:extLst>
              <a:ext uri="{FF2B5EF4-FFF2-40B4-BE49-F238E27FC236}">
                <a16:creationId xmlns:a16="http://schemas.microsoft.com/office/drawing/2014/main" id="{67A7D83C-76E2-4A9A-579C-B53EAEA738A0}"/>
              </a:ext>
            </a:extLst>
          </p:cNvPr>
          <p:cNvSpPr>
            <a:spLocks noGrp="1"/>
          </p:cNvSpPr>
          <p:nvPr>
            <p:ph idx="1"/>
          </p:nvPr>
        </p:nvSpPr>
        <p:spPr>
          <a:xfrm>
            <a:off x="380010" y="1434418"/>
            <a:ext cx="8383980" cy="5008442"/>
          </a:xfrm>
        </p:spPr>
        <p:txBody>
          <a:bodyPr>
            <a:normAutofit fontScale="77500" lnSpcReduction="20000"/>
          </a:bodyPr>
          <a:lstStyle/>
          <a:p>
            <a:r>
              <a:rPr lang="en-US" dirty="0"/>
              <a:t>An </a:t>
            </a:r>
            <a:r>
              <a:rPr lang="en-US" b="1" i="1" dirty="0"/>
              <a:t>Index</a:t>
            </a:r>
            <a:r>
              <a:rPr lang="en-US" dirty="0"/>
              <a:t> is a special data structure that improves the speed of queries on a collection, at the cost of additional storage space and slightly slower write operations</a:t>
            </a:r>
          </a:p>
          <a:p>
            <a:r>
              <a:rPr lang="en-US" dirty="0" err="1">
                <a:latin typeface="Courier New" panose="02070309020205020404" pitchFamily="49" charset="0"/>
                <a:cs typeface="Courier New" panose="02070309020205020404" pitchFamily="49" charset="0"/>
              </a:rPr>
              <a:t>createIndex</a:t>
            </a:r>
            <a:r>
              <a:rPr lang="en-US" dirty="0">
                <a:latin typeface="Courier New" panose="02070309020205020404" pitchFamily="49" charset="0"/>
                <a:cs typeface="Courier New" panose="02070309020205020404" pitchFamily="49" charset="0"/>
              </a:rPr>
              <a:t>()</a:t>
            </a:r>
            <a:r>
              <a:rPr lang="en-US" dirty="0"/>
              <a:t> creates an index on one or more fields. The </a:t>
            </a:r>
            <a:r>
              <a:rPr lang="en-US" b="1" dirty="0"/>
              <a:t>value</a:t>
            </a:r>
            <a:r>
              <a:rPr lang="en-US" dirty="0"/>
              <a:t> assigned to each field determines its sort direction within the index:</a:t>
            </a:r>
          </a:p>
          <a:p>
            <a:pPr lvl="1"/>
            <a:r>
              <a:rPr lang="en-US" dirty="0">
                <a:latin typeface="Courier New" panose="02070309020205020404" pitchFamily="49" charset="0"/>
                <a:cs typeface="Courier New" panose="02070309020205020404" pitchFamily="49" charset="0"/>
              </a:rPr>
              <a:t>1</a:t>
            </a:r>
            <a:r>
              <a:rPr lang="en-US" dirty="0"/>
              <a:t>: ascending order</a:t>
            </a:r>
          </a:p>
          <a:p>
            <a:pPr lvl="1"/>
            <a:r>
              <a:rPr lang="en-US" dirty="0">
                <a:latin typeface="Courier New" panose="02070309020205020404" pitchFamily="49" charset="0"/>
                <a:cs typeface="Courier New" panose="02070309020205020404" pitchFamily="49" charset="0"/>
              </a:rPr>
              <a:t>-1</a:t>
            </a:r>
            <a:r>
              <a:rPr lang="en-US" dirty="0"/>
              <a:t>: descending order</a:t>
            </a:r>
          </a:p>
          <a:p>
            <a:r>
              <a:rPr lang="en-US" dirty="0"/>
              <a:t>Indexes can be removed using: </a:t>
            </a:r>
            <a:r>
              <a:rPr lang="en-US" dirty="0" err="1">
                <a:latin typeface="Courier New" panose="02070309020205020404" pitchFamily="49" charset="0"/>
                <a:cs typeface="Courier New" panose="02070309020205020404" pitchFamily="49" charset="0"/>
              </a:rPr>
              <a:t>dropIndex</a:t>
            </a:r>
            <a:r>
              <a:rPr lang="en-US" dirty="0">
                <a:latin typeface="Courier New" panose="02070309020205020404" pitchFamily="49" charset="0"/>
                <a:cs typeface="Courier New" panose="02070309020205020404" pitchFamily="49" charset="0"/>
              </a:rPr>
              <a:t>()</a:t>
            </a:r>
          </a:p>
          <a:p>
            <a:r>
              <a:rPr lang="en-US" dirty="0"/>
              <a:t>You can see all indexes defined on a collection using: </a:t>
            </a:r>
            <a:r>
              <a:rPr lang="en-US" dirty="0" err="1">
                <a:latin typeface="Courier New" panose="02070309020205020404" pitchFamily="49" charset="0"/>
                <a:cs typeface="Courier New" panose="02070309020205020404" pitchFamily="49" charset="0"/>
              </a:rPr>
              <a:t>getIndexes</a:t>
            </a:r>
            <a:r>
              <a:rPr lang="en-US" dirty="0">
                <a:latin typeface="Courier New" panose="02070309020205020404" pitchFamily="49" charset="0"/>
                <a:cs typeface="Courier New" panose="02070309020205020404" pitchFamily="49" charset="0"/>
              </a:rPr>
              <a:t>()</a:t>
            </a:r>
            <a:endParaRPr lang="en-US" dirty="0"/>
          </a:p>
          <a:p>
            <a:r>
              <a:rPr lang="en-US" dirty="0"/>
              <a:t>Every collection automatically has a default index on </a:t>
            </a:r>
            <a:r>
              <a:rPr lang="en-US" dirty="0">
                <a:latin typeface="Courier New" panose="02070309020205020404" pitchFamily="49" charset="0"/>
                <a:cs typeface="Courier New" panose="02070309020205020404" pitchFamily="49" charset="0"/>
              </a:rPr>
              <a:t>_id</a:t>
            </a:r>
          </a:p>
          <a:p>
            <a:r>
              <a:rPr lang="en-US" b="1" dirty="0"/>
              <a:t>Single-field indexes</a:t>
            </a:r>
            <a:r>
              <a:rPr lang="en-US" dirty="0"/>
              <a:t>: simplest cast, indexing just one field (e.g. </a:t>
            </a:r>
            <a:r>
              <a:rPr lang="en-US" dirty="0">
                <a:latin typeface="Courier New" panose="02070309020205020404" pitchFamily="49" charset="0"/>
                <a:cs typeface="Courier New" panose="02070309020205020404" pitchFamily="49" charset="0"/>
              </a:rPr>
              <a:t>{ email: 1 }</a:t>
            </a:r>
            <a:r>
              <a:rPr lang="en-US" dirty="0"/>
              <a:t> )</a:t>
            </a:r>
          </a:p>
          <a:p>
            <a:r>
              <a:rPr lang="en-US" b="1" dirty="0"/>
              <a:t>Compound indexes</a:t>
            </a:r>
            <a:r>
              <a:rPr lang="en-US" dirty="0"/>
              <a:t>: indexes multiple fields together (e.g. </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lastName</a:t>
            </a:r>
            <a:r>
              <a:rPr lang="en-US" dirty="0">
                <a:latin typeface="Courier New" panose="02070309020205020404" pitchFamily="49" charset="0"/>
                <a:cs typeface="Courier New" panose="02070309020205020404" pitchFamily="49" charset="0"/>
              </a:rPr>
              <a:t>: 1, </a:t>
            </a:r>
            <a:r>
              <a:rPr lang="en-US" dirty="0" err="1">
                <a:latin typeface="Courier New" panose="02070309020205020404" pitchFamily="49" charset="0"/>
                <a:cs typeface="Courier New" panose="02070309020205020404" pitchFamily="49" charset="0"/>
              </a:rPr>
              <a:t>firstName</a:t>
            </a:r>
            <a:r>
              <a:rPr lang="en-US" dirty="0">
                <a:latin typeface="Courier New" panose="02070309020205020404" pitchFamily="49" charset="0"/>
                <a:cs typeface="Courier New" panose="02070309020205020404" pitchFamily="49" charset="0"/>
              </a:rPr>
              <a:t>: 1}</a:t>
            </a:r>
            <a:r>
              <a:rPr lang="en-US" dirty="0"/>
              <a:t> )</a:t>
            </a:r>
          </a:p>
        </p:txBody>
      </p:sp>
      <p:sp>
        <p:nvSpPr>
          <p:cNvPr id="5" name="Title 4">
            <a:extLst>
              <a:ext uri="{FF2B5EF4-FFF2-40B4-BE49-F238E27FC236}">
                <a16:creationId xmlns:a16="http://schemas.microsoft.com/office/drawing/2014/main" id="{D9F03CBB-DD78-2240-0E65-4D4F87BCC73E}"/>
              </a:ext>
            </a:extLst>
          </p:cNvPr>
          <p:cNvSpPr>
            <a:spLocks noGrp="1"/>
          </p:cNvSpPr>
          <p:nvPr>
            <p:ph type="title"/>
          </p:nvPr>
        </p:nvSpPr>
        <p:spPr/>
        <p:txBody>
          <a:bodyPr/>
          <a:lstStyle/>
          <a:p>
            <a:r>
              <a:rPr lang="en-US" dirty="0"/>
              <a:t>Indexes</a:t>
            </a:r>
          </a:p>
        </p:txBody>
      </p:sp>
    </p:spTree>
    <p:extLst>
      <p:ext uri="{BB962C8B-B14F-4D97-AF65-F5344CB8AC3E}">
        <p14:creationId xmlns:p14="http://schemas.microsoft.com/office/powerpoint/2010/main" val="1433095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E9473-A870-6B03-DB42-5A02E50CD66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A338F25-625D-F44C-9295-92EF6C9411A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53</a:t>
            </a:fld>
            <a:endParaRPr lang="en-US"/>
          </a:p>
        </p:txBody>
      </p:sp>
      <p:sp>
        <p:nvSpPr>
          <p:cNvPr id="6" name="Content Placeholder 5">
            <a:extLst>
              <a:ext uri="{FF2B5EF4-FFF2-40B4-BE49-F238E27FC236}">
                <a16:creationId xmlns:a16="http://schemas.microsoft.com/office/drawing/2014/main" id="{BFA6DD2E-AF40-F7F4-2BC7-E42FE639AB80}"/>
              </a:ext>
            </a:extLst>
          </p:cNvPr>
          <p:cNvSpPr>
            <a:spLocks noGrp="1"/>
          </p:cNvSpPr>
          <p:nvPr>
            <p:ph idx="1"/>
          </p:nvPr>
        </p:nvSpPr>
        <p:spPr>
          <a:xfrm>
            <a:off x="380010" y="1537832"/>
            <a:ext cx="8383980" cy="5008442"/>
          </a:xfrm>
        </p:spPr>
        <p:txBody>
          <a:bodyPr>
            <a:normAutofit fontScale="92500"/>
          </a:bodyPr>
          <a:lstStyle/>
          <a:p>
            <a:r>
              <a:rPr lang="en-US" dirty="0"/>
              <a:t>Index Direction matters most in two situations:</a:t>
            </a:r>
          </a:p>
          <a:p>
            <a:pPr lvl="1"/>
            <a:r>
              <a:rPr lang="en-US" dirty="0"/>
              <a:t>When sorting results in a specific direction: an index whose direction matches your sort() can make that sort much more efficient</a:t>
            </a:r>
          </a:p>
          <a:p>
            <a:pPr lvl="1"/>
            <a:r>
              <a:rPr lang="en-US" dirty="0"/>
              <a:t>When directions different in Compound indexes</a:t>
            </a:r>
          </a:p>
          <a:p>
            <a:r>
              <a:rPr lang="en-US" dirty="0"/>
              <a:t>The Order of the fields in a compound index matters significantly for which queries it can efficiently support – this is known as the “prefix rule”</a:t>
            </a:r>
          </a:p>
          <a:p>
            <a:r>
              <a:rPr lang="en-US" dirty="0"/>
              <a:t>When filtering on a compound index (especially those that index in different ordering), indexing is most efficient on the first field indexes, and may even be unused for the other fields, depending on the query.</a:t>
            </a:r>
          </a:p>
        </p:txBody>
      </p:sp>
      <p:sp>
        <p:nvSpPr>
          <p:cNvPr id="5" name="Title 4">
            <a:extLst>
              <a:ext uri="{FF2B5EF4-FFF2-40B4-BE49-F238E27FC236}">
                <a16:creationId xmlns:a16="http://schemas.microsoft.com/office/drawing/2014/main" id="{4DBB1327-3238-A6EA-6AD0-2ED2BC19E3FB}"/>
              </a:ext>
            </a:extLst>
          </p:cNvPr>
          <p:cNvSpPr>
            <a:spLocks noGrp="1"/>
          </p:cNvSpPr>
          <p:nvPr>
            <p:ph type="title"/>
          </p:nvPr>
        </p:nvSpPr>
        <p:spPr/>
        <p:txBody>
          <a:bodyPr/>
          <a:lstStyle/>
          <a:p>
            <a:r>
              <a:rPr lang="en-US" dirty="0"/>
              <a:t>Index Direction</a:t>
            </a:r>
          </a:p>
        </p:txBody>
      </p:sp>
    </p:spTree>
    <p:extLst>
      <p:ext uri="{BB962C8B-B14F-4D97-AF65-F5344CB8AC3E}">
        <p14:creationId xmlns:p14="http://schemas.microsoft.com/office/powerpoint/2010/main" val="4203042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49544-F8EF-AC3C-A750-00D888FBD83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D5F9C6-058A-CC95-D3BD-06129DAAE86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54</a:t>
            </a:fld>
            <a:endParaRPr lang="en-US"/>
          </a:p>
        </p:txBody>
      </p:sp>
      <p:sp>
        <p:nvSpPr>
          <p:cNvPr id="6" name="Content Placeholder 5">
            <a:extLst>
              <a:ext uri="{FF2B5EF4-FFF2-40B4-BE49-F238E27FC236}">
                <a16:creationId xmlns:a16="http://schemas.microsoft.com/office/drawing/2014/main" id="{70082FC2-6E3B-5857-8A0D-975BAA59BF4B}"/>
              </a:ext>
            </a:extLst>
          </p:cNvPr>
          <p:cNvSpPr>
            <a:spLocks noGrp="1"/>
          </p:cNvSpPr>
          <p:nvPr>
            <p:ph idx="1"/>
          </p:nvPr>
        </p:nvSpPr>
        <p:spPr>
          <a:xfrm>
            <a:off x="380010" y="1537832"/>
            <a:ext cx="8383980" cy="5008442"/>
          </a:xfrm>
        </p:spPr>
        <p:txBody>
          <a:bodyPr>
            <a:normAutofit/>
          </a:bodyPr>
          <a:lstStyle/>
          <a:p>
            <a:r>
              <a:rPr lang="en-US" dirty="0"/>
              <a:t>Unique Indexes: the { unique: true } property when creating indexes enforces that no two documents in the collection can have the same value for the indexes field(s)</a:t>
            </a:r>
          </a:p>
          <a:p>
            <a:r>
              <a:rPr lang="en-US" dirty="0"/>
              <a:t>Text Indexes: Enables basic full-text search capabilities across string fields</a:t>
            </a:r>
          </a:p>
          <a:p>
            <a:r>
              <a:rPr lang="en-US" dirty="0"/>
              <a:t>TTL Indexes: automatically delete documents from a collection, after a specified amount of time has passed.</a:t>
            </a:r>
          </a:p>
          <a:p>
            <a:pPr lvl="1"/>
            <a:r>
              <a:rPr lang="en-US" dirty="0"/>
              <a:t>Useful for data like session tokens, or temporary records</a:t>
            </a:r>
          </a:p>
        </p:txBody>
      </p:sp>
      <p:sp>
        <p:nvSpPr>
          <p:cNvPr id="5" name="Title 4">
            <a:extLst>
              <a:ext uri="{FF2B5EF4-FFF2-40B4-BE49-F238E27FC236}">
                <a16:creationId xmlns:a16="http://schemas.microsoft.com/office/drawing/2014/main" id="{CC4ADE1F-8D9A-7EA9-A77D-78122ACE12A6}"/>
              </a:ext>
            </a:extLst>
          </p:cNvPr>
          <p:cNvSpPr>
            <a:spLocks noGrp="1"/>
          </p:cNvSpPr>
          <p:nvPr>
            <p:ph type="title"/>
          </p:nvPr>
        </p:nvSpPr>
        <p:spPr/>
        <p:txBody>
          <a:bodyPr/>
          <a:lstStyle/>
          <a:p>
            <a:r>
              <a:rPr lang="en-US" dirty="0"/>
              <a:t>Other Indexes</a:t>
            </a:r>
          </a:p>
        </p:txBody>
      </p:sp>
    </p:spTree>
    <p:extLst>
      <p:ext uri="{BB962C8B-B14F-4D97-AF65-F5344CB8AC3E}">
        <p14:creationId xmlns:p14="http://schemas.microsoft.com/office/powerpoint/2010/main" val="491913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A9EDF-382F-EE1C-A7CA-CC9FC3F7BED1}"/>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DF088C61-DF83-CB44-918B-A450204E5FFC}"/>
              </a:ext>
            </a:extLst>
          </p:cNvPr>
          <p:cNvSpPr>
            <a:spLocks noGrp="1"/>
          </p:cNvSpPr>
          <p:nvPr>
            <p:ph type="sldNum" sz="quarter" idx="12"/>
          </p:nvPr>
        </p:nvSpPr>
        <p:spPr/>
        <p:txBody>
          <a:bodyPr/>
          <a:lstStyle/>
          <a:p>
            <a:fld id="{F6728BC2-ACA3-447C-A909-F3F49211C066}" type="slidenum">
              <a:rPr lang="en-US" smtClean="0"/>
              <a:pPr/>
              <a:t>55</a:t>
            </a:fld>
            <a:endParaRPr lang="en-US" dirty="0"/>
          </a:p>
        </p:txBody>
      </p:sp>
    </p:spTree>
    <p:extLst>
      <p:ext uri="{BB962C8B-B14F-4D97-AF65-F5344CB8AC3E}">
        <p14:creationId xmlns:p14="http://schemas.microsoft.com/office/powerpoint/2010/main" val="1903401793"/>
      </p:ext>
    </p:extLst>
  </p:cSld>
  <p:clrMapOvr>
    <a:masterClrMapping/>
  </p:clrMapOvr>
</p:sld>
</file>

<file path=ppt/theme/theme1.xml><?xml version="1.0" encoding="utf-8"?>
<a:theme xmlns:a="http://schemas.openxmlformats.org/drawingml/2006/main" name="2_Custom Design">
  <a:themeElements>
    <a:clrScheme name="Revature">
      <a:dk1>
        <a:sysClr val="windowText" lastClr="000000"/>
      </a:dk1>
      <a:lt1>
        <a:srgbClr val="FFFFFF"/>
      </a:lt1>
      <a:dk2>
        <a:srgbClr val="474C55"/>
      </a:dk2>
      <a:lt2>
        <a:srgbClr val="F2F2F2"/>
      </a:lt2>
      <a:accent1>
        <a:srgbClr val="F36A25"/>
      </a:accent1>
      <a:accent2>
        <a:srgbClr val="A0A1A0"/>
      </a:accent2>
      <a:accent3>
        <a:srgbClr val="474C55"/>
      </a:accent3>
      <a:accent4>
        <a:srgbClr val="F7A528"/>
      </a:accent4>
      <a:accent5>
        <a:srgbClr val="73A5C2"/>
      </a:accent5>
      <a:accent6>
        <a:srgbClr val="F36A25"/>
      </a:accent6>
      <a:hlink>
        <a:srgbClr val="F36A25"/>
      </a:hlink>
      <a:folHlink>
        <a:srgbClr val="F36A2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Revature Template  101416" id="{E7AE9B54-ECDF-468C-BAC8-D7E5033F34EC}" vid="{F6400A2A-47B1-4620-B2AC-EFF1DCD888C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Revature Template  101416</Template>
  <TotalTime>13240</TotalTime>
  <Words>4789</Words>
  <Application>Microsoft Office PowerPoint</Application>
  <PresentationFormat>On-screen Show (4:3)</PresentationFormat>
  <Paragraphs>517</Paragraphs>
  <Slides>56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56</vt:i4>
      </vt:variant>
    </vt:vector>
  </HeadingPairs>
  <TitlesOfParts>
    <vt:vector size="60" baseType="lpstr">
      <vt:lpstr>Arial</vt:lpstr>
      <vt:lpstr>Calibri</vt:lpstr>
      <vt:lpstr>Courier New</vt:lpstr>
      <vt:lpstr>2_Custom Design</vt:lpstr>
      <vt:lpstr>NoSQL and MongoDB</vt:lpstr>
      <vt:lpstr>Outline</vt:lpstr>
      <vt:lpstr>PowerPoint Presentation</vt:lpstr>
      <vt:lpstr>Intro to NoSQL</vt:lpstr>
      <vt:lpstr>NoSQL Types</vt:lpstr>
      <vt:lpstr>NoSQL Types</vt:lpstr>
      <vt:lpstr>PowerPoint Presentation</vt:lpstr>
      <vt:lpstr>Relational DB vs NoSQL DB</vt:lpstr>
      <vt:lpstr>Relational DB vs NoSQL DB</vt:lpstr>
      <vt:lpstr>Relational DB vs NoSQL DB</vt:lpstr>
      <vt:lpstr>Relational DB vs NoSQL DB</vt:lpstr>
      <vt:lpstr>PowerPoint Presentation</vt:lpstr>
      <vt:lpstr>MongoDB</vt:lpstr>
      <vt:lpstr>Why MongoDB?</vt:lpstr>
      <vt:lpstr>MongoDB Forms</vt:lpstr>
      <vt:lpstr>PowerPoint Presentation</vt:lpstr>
      <vt:lpstr>MongoDB Setup</vt:lpstr>
      <vt:lpstr>PowerPoint Presentation</vt:lpstr>
      <vt:lpstr>Document</vt:lpstr>
      <vt:lpstr>Document</vt:lpstr>
      <vt:lpstr>PowerPoint Presentation</vt:lpstr>
      <vt:lpstr>MongoDB Hierarchy</vt:lpstr>
      <vt:lpstr>MongoDB Collections</vt:lpstr>
      <vt:lpstr>MongoDB Collections</vt:lpstr>
      <vt:lpstr>PowerPoint Presentation</vt:lpstr>
      <vt:lpstr>Creating Collections</vt:lpstr>
      <vt:lpstr>Explicit Collection options</vt:lpstr>
      <vt:lpstr>Schema Validation</vt:lpstr>
      <vt:lpstr>Schema Validation</vt:lpstr>
      <vt:lpstr>Collection Maintenance</vt:lpstr>
      <vt:lpstr>PowerPoint Presentation</vt:lpstr>
      <vt:lpstr>Create Documents</vt:lpstr>
      <vt:lpstr>InsertOne()</vt:lpstr>
      <vt:lpstr>InsertMany()</vt:lpstr>
      <vt:lpstr>Insertion | Considerations</vt:lpstr>
      <vt:lpstr>PowerPoint Presentation</vt:lpstr>
      <vt:lpstr>Querying | Basics</vt:lpstr>
      <vt:lpstr>Filter Operators</vt:lpstr>
      <vt:lpstr>Filter Operators | Comparison</vt:lpstr>
      <vt:lpstr>Filter Operators | Logical</vt:lpstr>
      <vt:lpstr>Filter Operators | Element Operators</vt:lpstr>
      <vt:lpstr>Filter Operators | Array Operators</vt:lpstr>
      <vt:lpstr>Querying | Projections</vt:lpstr>
      <vt:lpstr>Querying | Other Functions</vt:lpstr>
      <vt:lpstr>PowerPoint Presentation</vt:lpstr>
      <vt:lpstr>Updating Documents</vt:lpstr>
      <vt:lpstr>Updating Documents | Operators</vt:lpstr>
      <vt:lpstr>Update Operators | Field Operators</vt:lpstr>
      <vt:lpstr>Update Operators | Array Operators</vt:lpstr>
      <vt:lpstr>Updating Documents | Considerations</vt:lpstr>
      <vt:lpstr>Deleting Documents</vt:lpstr>
      <vt:lpstr>PowerPoint Presentation</vt:lpstr>
      <vt:lpstr>Indexes</vt:lpstr>
      <vt:lpstr>Index Direction</vt:lpstr>
      <vt:lpstr>Other Indexes</vt:lpstr>
      <vt:lpstr>PowerPoint Presentation</vt:lpstr>
    </vt:vector>
  </TitlesOfParts>
  <Company>Persistence Holdings, LLC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account 10</dc:creator>
  <cp:lastModifiedBy>Joseph Highe</cp:lastModifiedBy>
  <cp:revision>18</cp:revision>
  <cp:lastPrinted>2016-06-20T20:58:50Z</cp:lastPrinted>
  <dcterms:created xsi:type="dcterms:W3CDTF">2016-11-09T18:19:08Z</dcterms:created>
  <dcterms:modified xsi:type="dcterms:W3CDTF">2026-08-03T14:40:23Z</dcterms:modified>
</cp:coreProperties>
</file>