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69"/>
  </p:notesMasterIdLst>
  <p:handoutMasterIdLst>
    <p:handoutMasterId r:id="rId70"/>
  </p:handoutMasterIdLst>
  <p:sldIdLst>
    <p:sldId id="256" r:id="rId2"/>
    <p:sldId id="299" r:id="rId3"/>
    <p:sldId id="357" r:id="rId4"/>
    <p:sldId id="257" r:id="rId5"/>
    <p:sldId id="358" r:id="rId6"/>
    <p:sldId id="359" r:id="rId7"/>
    <p:sldId id="270" r:id="rId8"/>
    <p:sldId id="261" r:id="rId9"/>
    <p:sldId id="272" r:id="rId10"/>
    <p:sldId id="367" r:id="rId11"/>
    <p:sldId id="360" r:id="rId12"/>
    <p:sldId id="262" r:id="rId13"/>
    <p:sldId id="271" r:id="rId14"/>
    <p:sldId id="259" r:id="rId15"/>
    <p:sldId id="269" r:id="rId16"/>
    <p:sldId id="450" r:id="rId17"/>
    <p:sldId id="362" r:id="rId18"/>
    <p:sldId id="263" r:id="rId19"/>
    <p:sldId id="267" r:id="rId20"/>
    <p:sldId id="268" r:id="rId21"/>
    <p:sldId id="260" r:id="rId22"/>
    <p:sldId id="288" r:id="rId23"/>
    <p:sldId id="289" r:id="rId24"/>
    <p:sldId id="290" r:id="rId25"/>
    <p:sldId id="293" r:id="rId26"/>
    <p:sldId id="373" r:id="rId27"/>
    <p:sldId id="372" r:id="rId28"/>
    <p:sldId id="361" r:id="rId29"/>
    <p:sldId id="291" r:id="rId30"/>
    <p:sldId id="265" r:id="rId31"/>
    <p:sldId id="266" r:id="rId32"/>
    <p:sldId id="442" r:id="rId33"/>
    <p:sldId id="452" r:id="rId34"/>
    <p:sldId id="285" r:id="rId35"/>
    <p:sldId id="451" r:id="rId36"/>
    <p:sldId id="286" r:id="rId37"/>
    <p:sldId id="369" r:id="rId38"/>
    <p:sldId id="371" r:id="rId39"/>
    <p:sldId id="454" r:id="rId40"/>
    <p:sldId id="287" r:id="rId41"/>
    <p:sldId id="363" r:id="rId42"/>
    <p:sldId id="279" r:id="rId43"/>
    <p:sldId id="294" r:id="rId44"/>
    <p:sldId id="295" r:id="rId45"/>
    <p:sldId id="280" r:id="rId46"/>
    <p:sldId id="455" r:id="rId47"/>
    <p:sldId id="284" r:id="rId48"/>
    <p:sldId id="453" r:id="rId49"/>
    <p:sldId id="364" r:id="rId50"/>
    <p:sldId id="281" r:id="rId51"/>
    <p:sldId id="282" r:id="rId52"/>
    <p:sldId id="283" r:id="rId53"/>
    <p:sldId id="456" r:id="rId54"/>
    <p:sldId id="457" r:id="rId55"/>
    <p:sldId id="458" r:id="rId56"/>
    <p:sldId id="365" r:id="rId57"/>
    <p:sldId id="376" r:id="rId58"/>
    <p:sldId id="441" r:id="rId59"/>
    <p:sldId id="366" r:id="rId60"/>
    <p:sldId id="444" r:id="rId61"/>
    <p:sldId id="445" r:id="rId62"/>
    <p:sldId id="370" r:id="rId63"/>
    <p:sldId id="446" r:id="rId64"/>
    <p:sldId id="448" r:id="rId65"/>
    <p:sldId id="447" r:id="rId66"/>
    <p:sldId id="449" r:id="rId67"/>
    <p:sldId id="258" r:id="rId6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DCFE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389" autoAdjust="0"/>
  </p:normalViewPr>
  <p:slideViewPr>
    <p:cSldViewPr snapToGrid="0">
      <p:cViewPr varScale="1">
        <p:scale>
          <a:sx n="69" d="100"/>
          <a:sy n="69" d="100"/>
        </p:scale>
        <p:origin x="1398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956" y="1242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163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Global_Objects/Array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Global_Objects/Map" TargetMode="Externa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8627"/>
          </a:xfrm>
        </p:spPr>
        <p:txBody>
          <a:bodyPr>
            <a:normAutofit/>
          </a:bodyPr>
          <a:lstStyle/>
          <a:p>
            <a:r>
              <a:rPr lang="en-US" dirty="0"/>
              <a:t>Introduction to JavaScript</a:t>
            </a:r>
          </a:p>
          <a:p>
            <a:r>
              <a:rPr lang="en-US" dirty="0"/>
              <a:t>Variables &amp; Datatypes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Arrays and Objects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Variable Scopes</a:t>
            </a:r>
          </a:p>
          <a:p>
            <a:r>
              <a:rPr lang="en-US" dirty="0"/>
              <a:t>Map</a:t>
            </a:r>
          </a:p>
          <a:p>
            <a:r>
              <a:rPr lang="en-US" dirty="0"/>
              <a:t>Iterators and Generators</a:t>
            </a:r>
          </a:p>
          <a:p>
            <a:r>
              <a:rPr lang="en-US" dirty="0"/>
              <a:t>Error Handling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8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JavaScript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Versatile and powerful programming language which excels across various domains.</a:t>
            </a:r>
          </a:p>
          <a:p>
            <a:r>
              <a:rPr lang="en-US" dirty="0"/>
              <a:t>It is the cornerstone of modern web development</a:t>
            </a:r>
          </a:p>
          <a:p>
            <a:r>
              <a:rPr lang="en-US" b="1" i="1" dirty="0"/>
              <a:t>Scripting/Interpreted language</a:t>
            </a:r>
            <a:r>
              <a:rPr lang="en-US" dirty="0"/>
              <a:t> : </a:t>
            </a:r>
            <a:r>
              <a:rPr lang="en-US" i="1" dirty="0"/>
              <a:t>interpreted</a:t>
            </a:r>
            <a:r>
              <a:rPr lang="en-US" dirty="0"/>
              <a:t> by web browsers directly, not compiled into lower-level code. i.e. you are making the web browser do things.</a:t>
            </a:r>
          </a:p>
          <a:p>
            <a:r>
              <a:rPr lang="en-US" b="1" i="1" dirty="0"/>
              <a:t>Dynamic typing </a:t>
            </a:r>
            <a:r>
              <a:rPr lang="en-US" dirty="0"/>
              <a:t>: variables store values of any type, and those variables can change type as well.</a:t>
            </a:r>
          </a:p>
          <a:p>
            <a:pPr lvl="1"/>
            <a:r>
              <a:rPr lang="en-US" dirty="0"/>
              <a:t>Note: No way to “guarantee typing” before code execution</a:t>
            </a:r>
          </a:p>
          <a:p>
            <a:r>
              <a:rPr lang="en-US" b="1" i="1" dirty="0"/>
              <a:t>Multi-paradigm Language</a:t>
            </a:r>
            <a:r>
              <a:rPr lang="en-US" dirty="0"/>
              <a:t>: JavaScript doesn’t adhere to a specific programming paradigm (i.e. ‘Object-oriented-programming’).</a:t>
            </a:r>
          </a:p>
          <a:p>
            <a:r>
              <a:rPr lang="en-US" dirty="0"/>
              <a:t>Supports a wide range of functionality that can be used to support many paradigms, including OOP, Functional Programming, Procedural programming and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0CF2-4A6A-2510-5BA4-FF7D32F9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08C5-2CDA-E0CB-D968-197E647A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JavaScript in Webpages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565D5-8459-76BE-22F6-2EE0834D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HTML, JavaScript code must be inserted within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&lt;script&gt; </a:t>
            </a:r>
            <a:r>
              <a:rPr lang="en-US" dirty="0"/>
              <a:t>element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  <a:r>
              <a:rPr lang="en-US" dirty="0"/>
              <a:t> is not self closing) </a:t>
            </a:r>
          </a:p>
          <a:p>
            <a:r>
              <a:rPr lang="en-US" dirty="0"/>
              <a:t>Script elements can be placed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r>
              <a:rPr lang="en-US" dirty="0"/>
              <a:t> (preferred), or both.</a:t>
            </a:r>
          </a:p>
          <a:p>
            <a:r>
              <a:rPr lang="en-US" dirty="0"/>
              <a:t>Raw JavaScript code can be written directly within a script element</a:t>
            </a:r>
          </a:p>
          <a:p>
            <a:r>
              <a:rPr lang="en-US" dirty="0"/>
              <a:t>Alternatively,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/>
              <a:t>’ attribute can be used to declare an external JavaScript file resource.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34EAE-04DE-53F7-B6C3-26776440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2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BDC5-C3BC-65AF-38C4-743254C7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D9FD-4B6A-2DD5-AF42-DC9FF636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JavaScript in Webpages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35A65-9E0F-8033-E809-0400FF39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F54DA-8877-3DEE-2C65-F2523E18EA32}"/>
              </a:ext>
            </a:extLst>
          </p:cNvPr>
          <p:cNvSpPr txBox="1"/>
          <p:nvPr/>
        </p:nvSpPr>
        <p:spPr>
          <a:xfrm>
            <a:off x="1" y="1804413"/>
            <a:ext cx="39854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JS Demo 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alert(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 Demo"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 Demo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Click Me</a:t>
            </a: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90525-7290-96B0-EF66-4CD5F8C7DE74}"/>
              </a:ext>
            </a:extLst>
          </p:cNvPr>
          <p:cNvSpPr txBox="1"/>
          <p:nvPr/>
        </p:nvSpPr>
        <p:spPr>
          <a:xfrm>
            <a:off x="4572000" y="1804413"/>
            <a:ext cx="4572000" cy="3970318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JS Demo 3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"myscript.js"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 Demo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alertFunction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Click Me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FBBBB3A-78F8-A9C4-3212-AFA815758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788" y="1339971"/>
            <a:ext cx="2302805" cy="39394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Inline Script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B81D8F-BDAC-03E8-F346-FB5FE93061A7}"/>
              </a:ext>
            </a:extLst>
          </p:cNvPr>
          <p:cNvSpPr txBox="1">
            <a:spLocks/>
          </p:cNvSpPr>
          <p:nvPr/>
        </p:nvSpPr>
        <p:spPr>
          <a:xfrm>
            <a:off x="5706597" y="1339971"/>
            <a:ext cx="2302805" cy="3939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External Script</a:t>
            </a:r>
          </a:p>
        </p:txBody>
      </p:sp>
    </p:spTree>
    <p:extLst>
      <p:ext uri="{BB962C8B-B14F-4D97-AF65-F5344CB8AC3E}">
        <p14:creationId xmlns:p14="http://schemas.microsoft.com/office/powerpoint/2010/main" val="2532896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CB8F-0057-4B61-B72F-747D6F86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2FAFD-56E3-49A6-87C2-06ABA142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Expressions</a:t>
            </a:r>
            <a:r>
              <a:rPr lang="en-US" dirty="0"/>
              <a:t> are segments of code that produce a </a:t>
            </a:r>
            <a:r>
              <a:rPr lang="en-US" i="1" dirty="0"/>
              <a:t>value.</a:t>
            </a:r>
          </a:p>
          <a:p>
            <a:pPr lvl="1"/>
            <a:r>
              <a:rPr lang="en-US" dirty="0"/>
              <a:t>3 </a:t>
            </a:r>
          </a:p>
          <a:p>
            <a:pPr lvl="2"/>
            <a:r>
              <a:rPr lang="en-US" dirty="0"/>
              <a:t>a number by itself is an expression.</a:t>
            </a:r>
          </a:p>
          <a:p>
            <a:pPr lvl="1"/>
            <a:r>
              <a:rPr lang="en-US" dirty="0"/>
              <a:t>3 + 4</a:t>
            </a:r>
          </a:p>
          <a:p>
            <a:pPr lvl="2"/>
            <a:r>
              <a:rPr lang="en-US" dirty="0"/>
              <a:t>an equation is an expression too.</a:t>
            </a:r>
          </a:p>
          <a:p>
            <a:pPr lvl="1"/>
            <a:r>
              <a:rPr lang="en-US" dirty="0"/>
              <a:t>x</a:t>
            </a:r>
          </a:p>
          <a:p>
            <a:pPr lvl="2"/>
            <a:r>
              <a:rPr lang="en-US" dirty="0"/>
              <a:t>a variable by itself is an expression (it produces whatever value is stored inside it)</a:t>
            </a:r>
          </a:p>
          <a:p>
            <a:pPr lvl="1"/>
            <a:r>
              <a:rPr lang="en-US" dirty="0"/>
              <a:t>x &gt; 3</a:t>
            </a:r>
          </a:p>
          <a:p>
            <a:pPr lvl="2"/>
            <a:r>
              <a:rPr lang="en-US" dirty="0"/>
              <a:t>some expressions result in values of strange types…</a:t>
            </a:r>
          </a:p>
          <a:p>
            <a:pPr lvl="1"/>
            <a:r>
              <a:rPr lang="en-US" dirty="0"/>
              <a:t>prompt()</a:t>
            </a:r>
          </a:p>
          <a:p>
            <a:pPr lvl="2"/>
            <a:r>
              <a:rPr lang="en-US" dirty="0"/>
              <a:t>Invoking a function is an expression too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9CF8E-048F-49F8-8862-9C8F2B39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32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96AC-145B-44F2-AAC8-6BD267DD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352E8-4AD7-4404-8075-D6F4C535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55541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/>
              <a:t>Statements</a:t>
            </a:r>
            <a:r>
              <a:rPr lang="en-US" dirty="0"/>
              <a:t> are lines of code that </a:t>
            </a:r>
            <a:r>
              <a:rPr lang="en-US" b="1" i="1" dirty="0"/>
              <a:t>perform an operation/action</a:t>
            </a:r>
            <a:r>
              <a:rPr lang="en-US" dirty="0"/>
              <a:t>. A statement often includes or is built out of expressions.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alert(x); // prints the value of x to a popup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console.log(3 + 4); // prints 7 to the console</a:t>
            </a:r>
          </a:p>
          <a:p>
            <a:pPr lvl="1"/>
            <a:r>
              <a:rPr lang="en-US" dirty="0"/>
              <a:t>Statements are evaluated from inside-out (resolve contents of parenthesis first) then left-to-right.</a:t>
            </a:r>
          </a:p>
          <a:p>
            <a:r>
              <a:rPr lang="en-US" dirty="0"/>
              <a:t>A </a:t>
            </a:r>
            <a:r>
              <a:rPr lang="en-US" b="1" i="1" dirty="0"/>
              <a:t>block</a:t>
            </a:r>
            <a:r>
              <a:rPr lang="en-US" dirty="0"/>
              <a:t> is a collection of statements surrounded by curly braces: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let x = 5;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console.log(x + 3); // prints 8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2C94E-B015-4A68-913D-84044EB7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9605-4A17-47FA-A10D-06985F44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8452-7EC9-4835-9FB2-96CEE2B71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263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JavaScript has a variety of built-in functions you can use for common tasks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prompt()</a:t>
            </a:r>
            <a:r>
              <a:rPr lang="en-US" dirty="0"/>
              <a:t> is a function that prompts the user to enter some value, and that value is returned by the function / expression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alert()</a:t>
            </a:r>
            <a:r>
              <a:rPr lang="en-US" dirty="0"/>
              <a:t> will display some information in a dialog window.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console.log()</a:t>
            </a:r>
            <a:r>
              <a:rPr lang="en-US" dirty="0"/>
              <a:t> will print information to the developer console.</a:t>
            </a:r>
          </a:p>
          <a:p>
            <a:pPr marL="45720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let f = prompt("Please enter a number of " +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"degrees in Fahrenheit");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let c = (f - 32) / (1.8);</a:t>
            </a:r>
          </a:p>
          <a:p>
            <a:pPr marL="400050" lvl="1" indent="0">
              <a:buNone/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alert(f + " degrees Fahrenheit is " + 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c + " degrees Celsius");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26C6A-5735-4067-A819-42B6F51E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74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4E59-DFF8-049B-CCE3-6BBE5F1A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AD37-898B-4554-7C84-22303871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F7A10-2655-1431-ED92-3BF451A1B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2635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Strict mode</a:t>
            </a:r>
            <a:r>
              <a:rPr lang="en-US" dirty="0"/>
              <a:t> is an opt-in feature that enforces a stricter set of rules when running JavaScript code</a:t>
            </a:r>
          </a:p>
          <a:p>
            <a:r>
              <a:rPr lang="en-US" dirty="0"/>
              <a:t>Enabled by adding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 strict</a:t>
            </a:r>
            <a:r>
              <a:rPr lang="en-US" dirty="0"/>
              <a:t> as the very first statement in a file or function</a:t>
            </a:r>
          </a:p>
          <a:p>
            <a:r>
              <a:rPr lang="en-US" dirty="0"/>
              <a:t>Catches common coding mistakes by turning them into thrown errors, rather than silently failing.</a:t>
            </a:r>
          </a:p>
          <a:p>
            <a:r>
              <a:rPr lang="en-US" dirty="0"/>
              <a:t>Prevents accidental creation of global variables (e.g. forgetting to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let/const/var</a:t>
            </a:r>
            <a:r>
              <a:rPr lang="en-US" dirty="0"/>
              <a:t>)</a:t>
            </a:r>
          </a:p>
          <a:p>
            <a:r>
              <a:rPr lang="en-US" dirty="0"/>
              <a:t>Disallows duplicate parameter names in functions</a:t>
            </a:r>
          </a:p>
          <a:p>
            <a:r>
              <a:rPr lang="en-US" dirty="0"/>
              <a:t>More…</a:t>
            </a:r>
          </a:p>
          <a:p>
            <a:r>
              <a:rPr lang="en-US" dirty="0"/>
              <a:t>Considered best practice for modern JavaScript – it catches bugs earlier and aligns with how newer JS features behave.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2F1E1-1AF0-502E-DDBC-F01214CA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2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EE0D-ACDF-CA3C-01DD-BE78C056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034BA3-75A8-AF64-5B4C-D15C71FBAF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F943CE0-265B-7191-B19A-9304250B482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Variables and Datatypes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420B9-EBF5-0B09-003F-8C3BF968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83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36E8-38C6-4971-ADD2-9D203C2B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52D6-4156-44B1-A892-218088427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Variables are constructs used to hold bits of information.</a:t>
            </a:r>
          </a:p>
          <a:p>
            <a:r>
              <a:rPr lang="en-US" dirty="0"/>
              <a:t>Variables have names and must be </a:t>
            </a:r>
            <a:r>
              <a:rPr lang="en-US" i="1" dirty="0"/>
              <a:t>declared</a:t>
            </a:r>
            <a:r>
              <a:rPr lang="en-US" dirty="0"/>
              <a:t>.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age = 30;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name = “David”;</a:t>
            </a:r>
          </a:p>
          <a:p>
            <a:r>
              <a:rPr lang="en-US" dirty="0"/>
              <a:t>JavaScript variables are dynamically typed, meaning the variable can be assigned any datatype. 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x;		// x is undefined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5;		// x is a number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‘hello’;	// x is a string</a:t>
            </a:r>
          </a:p>
          <a:p>
            <a:pPr marL="85725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false;	// x is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 keyword declares a variable.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keyword declares a variable that </a:t>
            </a:r>
            <a:r>
              <a:rPr lang="en-US" i="1" dirty="0"/>
              <a:t>cannot have its value changed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</a:t>
            </a:r>
            <a:r>
              <a:rPr lang="en-US" dirty="0"/>
              <a:t> keyword declares a </a:t>
            </a:r>
            <a:r>
              <a:rPr lang="en-US" i="1" dirty="0"/>
              <a:t>hoisted</a:t>
            </a:r>
            <a:r>
              <a:rPr lang="en-US" dirty="0"/>
              <a:t>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25955-B293-44AD-919F-6916AE89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9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B440-C4DA-4292-AE6F-5A45FD0A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Data Types | quirks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8A37-0513-4774-A167-9EEB00291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/>
          <a:lstStyle/>
          <a:p>
            <a:r>
              <a:rPr lang="en-US" dirty="0"/>
              <a:t>Dynamic typing does not mean “no types”</a:t>
            </a:r>
          </a:p>
          <a:p>
            <a:pPr lvl="1"/>
            <a:r>
              <a:rPr lang="en-US" dirty="0"/>
              <a:t>Basic Datatypes: Boolean, Number, String, Object, Null, Undefined</a:t>
            </a:r>
          </a:p>
          <a:p>
            <a:r>
              <a:rPr lang="en-US" dirty="0"/>
              <a:t>JavaScript doesn’t know if a variable will contain a Number, a String, or anything else</a:t>
            </a:r>
          </a:p>
          <a:p>
            <a:r>
              <a:rPr lang="en-US" dirty="0"/>
              <a:t>A statement might result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dirty="0"/>
              <a:t> – Not a Number, if JavaScript was expecting a number but got some other value.</a:t>
            </a:r>
          </a:p>
          <a:p>
            <a:r>
              <a:rPr lang="en-US" dirty="0"/>
              <a:t>Dividing by 0 produces the value “Infinity”</a:t>
            </a:r>
          </a:p>
          <a:p>
            <a:pPr lvl="1"/>
            <a:r>
              <a:rPr lang="en-US" dirty="0"/>
              <a:t>“Infinity” can be positive or negative…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4054A-4CBD-4BB8-867E-65370F8B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6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B440-C4DA-4292-AE6F-5A45FD0A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8A37-0513-4774-A167-9EEB00291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06105"/>
            <a:ext cx="8383980" cy="532273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JavaScript Data Types</a:t>
            </a:r>
          </a:p>
          <a:p>
            <a:pPr lvl="1"/>
            <a:r>
              <a:rPr lang="en-US" dirty="0"/>
              <a:t>Boolean: true or false 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String: text</a:t>
            </a:r>
          </a:p>
          <a:p>
            <a:pPr lvl="1"/>
            <a:r>
              <a:rPr lang="en-US" dirty="0"/>
              <a:t>Object: a collection of properties and methods</a:t>
            </a:r>
          </a:p>
          <a:p>
            <a:pPr lvl="2"/>
            <a:r>
              <a:rPr lang="en-US" dirty="0"/>
              <a:t>“states and behaviors”</a:t>
            </a:r>
          </a:p>
          <a:p>
            <a:pPr lvl="2"/>
            <a:r>
              <a:rPr lang="en-US" dirty="0"/>
              <a:t>Variables and functions</a:t>
            </a:r>
          </a:p>
          <a:p>
            <a:pPr lvl="2"/>
            <a:r>
              <a:rPr lang="en-US" dirty="0"/>
              <a:t>Useful built-in objects: Arrays, Dates</a:t>
            </a:r>
          </a:p>
          <a:p>
            <a:pPr lvl="1"/>
            <a:r>
              <a:rPr lang="en-US" dirty="0"/>
              <a:t>Null: nothing (not even 0)</a:t>
            </a:r>
          </a:p>
          <a:p>
            <a:pPr lvl="1"/>
            <a:r>
              <a:rPr lang="en-US" dirty="0"/>
              <a:t>Undefined: Not yet assigned a value (not even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Note: If you get a ‘Not Defined’ error – this means the variable has yet to be declared – undefined is assigned to a declared variable using ‘let’</a:t>
            </a:r>
          </a:p>
          <a:p>
            <a:r>
              <a:rPr lang="en-US" dirty="0"/>
              <a:t>Using the built-in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will tell you the type of the given variable</a:t>
            </a:r>
          </a:p>
          <a:p>
            <a:r>
              <a:rPr lang="en-US" dirty="0"/>
              <a:t>Symbol*: A special datatype used to define unique identifiers.</a:t>
            </a:r>
          </a:p>
          <a:p>
            <a:pPr lvl="1"/>
            <a:r>
              <a:rPr lang="en-US" dirty="0"/>
              <a:t>Created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Symbol()</a:t>
            </a:r>
          </a:p>
          <a:p>
            <a:pPr lvl="1"/>
            <a:r>
              <a:rPr lang="en-US" dirty="0"/>
              <a:t>Every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Symbol()</a:t>
            </a:r>
            <a:r>
              <a:rPr lang="en-US" dirty="0"/>
              <a:t> call creates a brand-new, unique value, even if given the same description string.</a:t>
            </a:r>
          </a:p>
          <a:p>
            <a:pPr lvl="1"/>
            <a:r>
              <a:rPr lang="en-US" dirty="0"/>
              <a:t>Hidden from enumeration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for-in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/>
              <a:t>) – can be used for object meta-data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4054A-4CBD-4BB8-867E-65370F8B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9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4EB7-4C57-4410-AE2F-98797553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4265-EE3D-4BC5-B9FB-0935EB010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8365"/>
          </a:xfrm>
        </p:spPr>
        <p:txBody>
          <a:bodyPr>
            <a:normAutofit fontScale="92500"/>
          </a:bodyPr>
          <a:lstStyle/>
          <a:p>
            <a:r>
              <a:rPr lang="en-US" dirty="0"/>
              <a:t>If you are comparing two values that are not of the same type, JavaScript will attempt to convert them to the same type when using the ‘loose equality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).</a:t>
            </a:r>
          </a:p>
          <a:p>
            <a:r>
              <a:rPr lang="en-US" dirty="0"/>
              <a:t>This is known as </a:t>
            </a:r>
            <a:r>
              <a:rPr lang="en-US" b="1" i="1" dirty="0"/>
              <a:t>Type Coercion</a:t>
            </a:r>
            <a:endParaRPr lang="en-US" dirty="0"/>
          </a:p>
          <a:p>
            <a:r>
              <a:rPr lang="en-US" dirty="0"/>
              <a:t>When using the strict equality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  <a:r>
              <a:rPr lang="en-US" dirty="0"/>
              <a:t>) JavaScript does not perform type coercion before the comparison</a:t>
            </a:r>
          </a:p>
          <a:p>
            <a:pPr lvl="1"/>
            <a:r>
              <a:rPr lang="en-US" dirty="0"/>
              <a:t>1 and “1” are the same </a:t>
            </a:r>
            <a:r>
              <a:rPr lang="en-US" i="1" dirty="0"/>
              <a:t>values</a:t>
            </a:r>
            <a:r>
              <a:rPr lang="en-US" dirty="0"/>
              <a:t>, but different </a:t>
            </a:r>
            <a:r>
              <a:rPr lang="en-US" i="1" dirty="0"/>
              <a:t>types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0 and false are different types as well, but JS can convert 0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(truthy/</a:t>
            </a:r>
            <a:r>
              <a:rPr lang="en-US" dirty="0" err="1"/>
              <a:t>falsy</a:t>
            </a:r>
            <a:r>
              <a:rPr lang="en-US" dirty="0"/>
              <a:t> – more on this soon).</a:t>
            </a:r>
          </a:p>
          <a:p>
            <a:pPr lvl="1"/>
            <a:r>
              <a:rPr lang="en-US" dirty="0"/>
              <a:t>“one” and 1 have </a:t>
            </a:r>
            <a:r>
              <a:rPr lang="en-US" i="1" dirty="0"/>
              <a:t>different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66CEE-5B2E-41C7-8CBB-135EECCD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9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FDF4-F9BF-7A15-2278-4D47B021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579-4A0E-131A-12D0-66B8F6BE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E6E2-6766-6E5E-AF09-48D810C72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836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Template literals</a:t>
            </a:r>
            <a:r>
              <a:rPr lang="en-US" dirty="0"/>
              <a:t> are a modern way to define strings in JavaScript using </a:t>
            </a:r>
            <a:r>
              <a:rPr lang="en-US" b="1" dirty="0"/>
              <a:t>backticks</a:t>
            </a:r>
            <a:r>
              <a:rPr lang="en-US" dirty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dirty="0"/>
              <a:t>) instead of a single or double quotes.</a:t>
            </a:r>
          </a:p>
          <a:p>
            <a:r>
              <a:rPr lang="en-US" dirty="0"/>
              <a:t>Template Literals provide the following functionality:</a:t>
            </a:r>
          </a:p>
          <a:p>
            <a:pPr lvl="1"/>
            <a:r>
              <a:rPr lang="en-US" b="1" i="1" dirty="0"/>
              <a:t>String interpolation</a:t>
            </a:r>
            <a:r>
              <a:rPr lang="en-US" dirty="0"/>
              <a:t>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`${expression}`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syntax. This embedded expression is automatically evaluated then converted to a string at runtime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Multi-line string support, without needing escape characters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Note: the expression used in string interpolation can be any valid JavaScript expression, including variables, arithmetic operations, functions calls, ternary operators and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9FECF-C652-A22F-E172-45E9568C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3139-F132-985B-7C15-59733C0F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72CA4-6988-B8BD-85BB-FE280452A5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2FA03A2-3553-ACD5-BECC-7392E1F9238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BCF58-797F-A895-EB2E-422038A7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4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B753-E136-4CD0-9FCE-7D1B2307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=, == and 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F832-9FBB-45AF-A091-BA69CA719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= is for assignment, do not confuse it with == and ===</a:t>
            </a:r>
          </a:p>
          <a:p>
            <a:endParaRPr lang="en-US" dirty="0"/>
          </a:p>
          <a:p>
            <a:r>
              <a:rPr lang="en-US" dirty="0"/>
              <a:t>JavaScript will never know the types of two variables ahead of time. This can make Boolean operations cumbersome</a:t>
            </a:r>
          </a:p>
          <a:p>
            <a:r>
              <a:rPr lang="en-US" dirty="0"/>
              <a:t>As a result, == tests values </a:t>
            </a:r>
            <a:r>
              <a:rPr lang="en-US" i="1" dirty="0"/>
              <a:t>after</a:t>
            </a:r>
            <a:r>
              <a:rPr lang="en-US" dirty="0"/>
              <a:t> attempting to convert them to the same type, if possible.</a:t>
            </a:r>
          </a:p>
          <a:p>
            <a:pPr lvl="1"/>
            <a:r>
              <a:rPr lang="en-US" dirty="0"/>
              <a:t>“10” == 10 // returns true</a:t>
            </a:r>
          </a:p>
          <a:p>
            <a:r>
              <a:rPr lang="en-US" dirty="0"/>
              <a:t>Sometimes, you want a strict comparison without conversion. A String value is not necessarily the same as a number value. Use === to check value </a:t>
            </a:r>
            <a:r>
              <a:rPr lang="en-US" i="1" dirty="0"/>
              <a:t>and</a:t>
            </a:r>
            <a:r>
              <a:rPr lang="en-US" dirty="0"/>
              <a:t> type:</a:t>
            </a:r>
          </a:p>
          <a:p>
            <a:pPr lvl="1"/>
            <a:r>
              <a:rPr lang="en-US" dirty="0"/>
              <a:t>“10” === 10 // returns 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BE30B-BC94-4BB8-90B0-2A79560E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02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35AB-E8FD-4F08-B62A-34E06543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98EF-68AD-4C0F-925D-0AE44DB4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Operations that result in boolean values (true/false)</a:t>
            </a:r>
          </a:p>
          <a:p>
            <a:r>
              <a:rPr lang="en-US" dirty="0"/>
              <a:t>AND :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&amp;&amp; 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If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highlight>
                  <a:srgbClr val="FFFF00"/>
                </a:highlight>
              </a:rPr>
              <a:t> can be coerced/evaluated to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highlight>
                  <a:srgbClr val="FFFF00"/>
                </a:highlight>
              </a:rPr>
              <a:t>, output the value of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  <a:r>
              <a:rPr lang="en-US" dirty="0">
                <a:highlight>
                  <a:srgbClr val="FFFF00"/>
                </a:highlight>
              </a:rPr>
              <a:t>. Else, output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&amp;&amp; 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is true only when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and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are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 both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true</a:t>
            </a:r>
          </a:p>
          <a:p>
            <a:r>
              <a:rPr lang="en-US" dirty="0"/>
              <a:t>OR: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|| 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If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highlight>
                  <a:srgbClr val="FFFF00"/>
                </a:highlight>
              </a:rPr>
              <a:t> can be coerced/evaluated to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highlight>
                  <a:srgbClr val="FFFF00"/>
                </a:highlight>
              </a:rPr>
              <a:t>, output the value of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highlight>
                  <a:srgbClr val="FFFF00"/>
                </a:highlight>
              </a:rPr>
              <a:t>. Else, output </a:t>
            </a:r>
            <a:r>
              <a:rPr lang="en-US" i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|| 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 </a:t>
            </a:r>
            <a:r>
              <a:rPr lang="en-US" dirty="0">
                <a:cs typeface="Courier New" panose="02070309020205020404" pitchFamily="49" charset="0"/>
              </a:rPr>
              <a:t>is true so long as either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i="1" dirty="0"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or</a:t>
            </a:r>
            <a:r>
              <a:rPr lang="en-US" i="1" dirty="0"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  <a:r>
              <a:rPr lang="en-US" i="1" dirty="0"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dirty="0">
                <a:cs typeface="Courier New" panose="02070309020205020404" pitchFamily="49" charset="0"/>
              </a:rPr>
              <a:t>NOT: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If</a:t>
            </a:r>
            <a:r>
              <a:rPr lang="en-US" i="1" dirty="0"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i="1" dirty="0"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cs typeface="Courier New" panose="02070309020205020404" pitchFamily="49" charset="0"/>
              </a:rPr>
              <a:t>, output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cs typeface="Courier New" panose="02070309020205020404" pitchFamily="49" charset="0"/>
              </a:rPr>
              <a:t>. If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cs typeface="Courier New" panose="02070309020205020404" pitchFamily="49" charset="0"/>
              </a:rPr>
              <a:t>, output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cs typeface="Courier New" panose="02070309020205020404" pitchFamily="49" charset="0"/>
              </a:rPr>
              <a:t>.</a:t>
            </a:r>
            <a:endParaRPr lang="en-US" i="1" dirty="0"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1E6E1-D380-463E-9B80-F87075C7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F4D2-8290-4D7D-A6BC-6C2EE49A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61C4-E2FA-4B4C-B7BD-4B2C0B1A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Using parenthesis will force evaluation as you might expect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 (true || false) &amp;&amp; false) 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// prints false</a:t>
            </a:r>
          </a:p>
          <a:p>
            <a:r>
              <a:rPr lang="en-US" dirty="0"/>
              <a:t>But natively, &amp;&amp; operations are performed before ||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 true || false &amp;&amp; false)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// prints true</a:t>
            </a:r>
          </a:p>
          <a:p>
            <a:r>
              <a:rPr lang="en-US" dirty="0"/>
              <a:t>Precedence: NOT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/>
              <a:t>)  -&gt; AND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dirty="0"/>
              <a:t>) -&gt; 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CC299-9CAA-4941-902C-FE3FE6AF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7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A113-AC9B-4AE3-A696-E947DFB5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EED4-C00B-4ED1-B5D6-E12EC3926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373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has Boolean operators and Boolean data types, but other values will evaluate to “true” or “false” too.</a:t>
            </a:r>
          </a:p>
          <a:p>
            <a:pPr lvl="1"/>
            <a:r>
              <a:rPr lang="en-US" dirty="0"/>
              <a:t>All values are “truthy” unless they are “</a:t>
            </a:r>
            <a:r>
              <a:rPr lang="en-US" dirty="0" err="1"/>
              <a:t>falsy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Falsy</a:t>
            </a:r>
            <a:r>
              <a:rPr lang="en-US" dirty="0"/>
              <a:t> values: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false, 0, “”, null, undefined,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(1) { } //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([]) { } //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(new Date()) { } // true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(Infinity) { } //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5C513-634D-41D7-B293-CA8FC5D0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49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CB36-4711-44AC-A12F-38272692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7283-0D86-4BFA-B12E-49C146B5E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: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expression</a:t>
            </a:r>
            <a:r>
              <a:rPr lang="en-US" dirty="0"/>
              <a:t> is true/truthy, then execute the next statement or block of statements.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if(x &gt; 5 &amp;&amp; x &lt;= 10)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x++;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if(x &gt; 5 &amp;&amp; x &lt;= 10)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do one thing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do another thing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 :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Execute the next statement or block only when the previous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statement was false/</a:t>
            </a:r>
            <a:r>
              <a:rPr lang="en-US" dirty="0" err="1">
                <a:latin typeface="+mn-lt"/>
                <a:cs typeface="Courier New" panose="02070309020205020404" pitchFamily="49" charset="0"/>
              </a:rPr>
              <a:t>falsy</a:t>
            </a:r>
            <a:endParaRPr lang="en-US" dirty="0">
              <a:latin typeface="+mn-lt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if(x &gt; 5)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do something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do something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D2241-391F-496A-AC5F-2DB7A4E5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2BC9-3087-4CF1-BF19-228AE7D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/>
          <a:lstStyle/>
          <a:p>
            <a:r>
              <a:rPr lang="en-US" dirty="0"/>
              <a:t>If-Else-If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83E48-7C73-4AFA-8960-929C95360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If-statements can be used to string together </a:t>
            </a:r>
            <a:r>
              <a:rPr lang="en-US" i="1" dirty="0"/>
              <a:t>mutually exclusive</a:t>
            </a:r>
            <a:r>
              <a:rPr lang="en-US" dirty="0"/>
              <a:t> conditions (only one can be true).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if(cond1)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execute first option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 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2)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// execute second option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 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3)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	    // execute third option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/* do whatever when all 3 		     conditions were false */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2BAA4-DF30-4C05-9552-E12EEB89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5DAE-FC1D-4D9F-8DA0-619D5908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E559-D62F-4D53-8C53-5182A063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91" y="1354347"/>
            <a:ext cx="8604418" cy="53744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Nest if-statements when you want to test whether </a:t>
            </a:r>
            <a:r>
              <a:rPr lang="en-US" i="1" dirty="0"/>
              <a:t>successive</a:t>
            </a:r>
            <a:r>
              <a:rPr lang="en-US" dirty="0"/>
              <a:t> conditions are true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if(cond_1)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if(cond_2)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    /* do when cond_1 and cond_2 				are true */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		else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	/* do when cond_1 is true 				but cond_2 is false */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 do when cond_1 is false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Typically, nesting conditions is considered poor practice, as your code may become hard to understand and maintain.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Often it is considered better practice to nest function calls within conditionals or loops to break up logic when needed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C87B9-A3AF-44FB-9F07-56164A13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26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9341E-2200-4EFC-9007-0DF067D8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824C9-05BC-4E20-ACCF-97C73A3C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93963"/>
            <a:ext cx="8383980" cy="543487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statement compares a single expression against multiple possible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values.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Syntax:</a:t>
            </a:r>
            <a:br>
              <a:rPr lang="en-US" dirty="0">
                <a:latin typeface="+mj-lt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switch (expression)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case value: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 some code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break;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Each case is checked using </a:t>
            </a:r>
            <a:r>
              <a:rPr lang="en-US" b="1" u="sng" dirty="0">
                <a:latin typeface="+mj-lt"/>
                <a:cs typeface="Courier New" panose="02070309020205020404" pitchFamily="49" charset="0"/>
              </a:rPr>
              <a:t>strict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equality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), </a:t>
            </a:r>
            <a:r>
              <a:rPr lang="en-US" b="1" u="sng" dirty="0">
                <a:latin typeface="+mj-lt"/>
                <a:cs typeface="Courier New" panose="02070309020205020404" pitchFamily="49" charset="0"/>
              </a:rPr>
              <a:t>not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loose equality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keyword stops execution and exits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block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Without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execution ‘falls through’ to the next case, running its code too (regardless of the case value)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can be used as an optional case that runs when no other case matches (similar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case does not need to be last in a switch statement block; however, it is best practice to place it last.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Multiple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labels can share the same block (intentional fall-through) giving switch some more versatility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statements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B0B83-47F8-4472-A67B-B4BC9065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9F7A-1849-8628-EDB7-FD4BEC91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5A16-532D-BC85-E60E-B530AAA2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44DD-5735-BB66-AA5B-EDE594050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repeats a block of code as long as its condition remains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condition is checked </a:t>
            </a:r>
            <a:r>
              <a:rPr lang="en-US" b="1" i="1" dirty="0"/>
              <a:t>before</a:t>
            </a:r>
            <a:r>
              <a:rPr lang="en-US" dirty="0"/>
              <a:t> each iteration,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on the first check, the loop body never runs.</a:t>
            </a:r>
          </a:p>
          <a:p>
            <a:pPr lvl="1"/>
            <a:r>
              <a:rPr lang="en-US" dirty="0"/>
              <a:t>Iteration: check -&gt; execute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dirty="0"/>
              <a:t> loop is the same as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loop; however, the condition is checked </a:t>
            </a:r>
            <a:r>
              <a:rPr lang="en-US" b="1" i="1" dirty="0"/>
              <a:t>after</a:t>
            </a:r>
            <a:r>
              <a:rPr lang="en-US" dirty="0"/>
              <a:t> each iteration.</a:t>
            </a:r>
          </a:p>
          <a:p>
            <a:pPr lvl="1"/>
            <a:r>
              <a:rPr lang="en-US" dirty="0"/>
              <a:t>Iteration: execute -&gt; check</a:t>
            </a:r>
          </a:p>
          <a:p>
            <a:r>
              <a:rPr lang="en-US" dirty="0"/>
              <a:t>For both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dirty="0"/>
              <a:t> loops, it is important to perform some action that will alter the condition (or use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/>
              <a:t> keyword) to prevent an infinite loop.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F938A-10FB-4D15-D286-B2EE7E45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06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731C9-F1B5-EB97-C806-28117322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8997-2ED4-77FC-789F-922A32E4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5AC7-5D32-31E7-5092-1D1AE457F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lvl="1"/>
            <a:r>
              <a:rPr lang="en-US" dirty="0"/>
              <a:t>A standard for-loop combines initialization, condition, and increment/decrement into a single-line.</a:t>
            </a:r>
          </a:p>
          <a:p>
            <a:pPr lvl="1"/>
            <a:r>
              <a:rPr lang="en-US" dirty="0"/>
              <a:t>Used to execute code by a </a:t>
            </a:r>
            <a:r>
              <a:rPr lang="en-US" b="1" i="1" dirty="0"/>
              <a:t>known number of iterations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(initialization; condition; adjustment)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for-of</a:t>
            </a:r>
          </a:p>
          <a:p>
            <a:pPr lvl="1"/>
            <a:r>
              <a:rPr lang="en-US" dirty="0"/>
              <a:t>Iterates over every element of an iterable object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for-in</a:t>
            </a:r>
          </a:p>
          <a:p>
            <a:pPr lvl="1"/>
            <a:r>
              <a:rPr lang="en-US" dirty="0"/>
              <a:t>Iterates over every enumerable property in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2FEDD-62D5-9A02-D706-5AC9C571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4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567A-420D-B53F-8644-72F70FF9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AA42F-37EA-7194-7BF1-0A23B58E86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E4B5DBB-F48E-675A-B3FC-8C45DF0034E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Arrays &amp; Objects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D9623-8A90-5010-F267-FC265FEC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9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4296-2B15-498A-8F5E-F4A56333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C1EF-58CD-435A-8C5C-FCF1FB12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array is a collection of multiple values.</a:t>
            </a:r>
          </a:p>
          <a:p>
            <a:pPr lvl="1"/>
            <a:r>
              <a:rPr lang="en-US" dirty="0"/>
              <a:t>Pretty useful, since a variable can only hold one value</a:t>
            </a:r>
          </a:p>
          <a:p>
            <a:pPr lvl="1"/>
            <a:r>
              <a:rPr lang="en-US" dirty="0"/>
              <a:t>A variable can hold an array, the array holds multiple values</a:t>
            </a:r>
          </a:p>
          <a:p>
            <a:r>
              <a:rPr lang="en-US" dirty="0"/>
              <a:t>The values stored in an array are accessed by their position, called an </a:t>
            </a:r>
            <a:r>
              <a:rPr lang="en-US" i="1" dirty="0"/>
              <a:t>index</a:t>
            </a:r>
            <a:r>
              <a:rPr lang="en-US" dirty="0"/>
              <a:t>. Index numbering starts at 0 and increases by 1 for each value.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 3, 5, 7, 9];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console.log(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[2] ) // prints 5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You can also create an empty array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keyword and the ‘Array’ constructor function.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You can supply an optional numeric argument to initialize the size of the array.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Array(10); // creates an empty array of 10 elements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453BC-BA61-4505-8D5B-3842E165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44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D333-F798-4654-9557-FD776671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37C2-1520-4DF4-A466-5717EB1CB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263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arrays can hold multiple types of data (even other arrays!)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[ ‘apple’, 5, true, [2,4,6] ];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console.log(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[3][1] ); // prints 4</a:t>
            </a:r>
          </a:p>
          <a:p>
            <a:r>
              <a:rPr lang="en-US" dirty="0"/>
              <a:t>Arrays are objects, which means they have their own internal variables you can access with the dot operator ( . ), e.g. “length”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 // prints 4… </a:t>
            </a:r>
          </a:p>
          <a:p>
            <a:pPr lvl="1"/>
            <a:r>
              <a:rPr lang="en-US" dirty="0"/>
              <a:t>the number of </a:t>
            </a:r>
            <a:r>
              <a:rPr lang="en-US" i="1" dirty="0"/>
              <a:t>elements </a:t>
            </a:r>
            <a:r>
              <a:rPr lang="en-US" dirty="0"/>
              <a:t>is 1 greater than the last index.</a:t>
            </a:r>
          </a:p>
          <a:p>
            <a:r>
              <a:rPr lang="en-US" dirty="0"/>
              <a:t>Printing an array prints all its elements separated by spaces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console.log(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 // prints apple 5 true 2 4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0CF90-283D-4A31-9D49-EB065DE1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29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78ED-DCD4-4CB3-A743-F70B4CD5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8778-AB34-4592-861F-15E457AF2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add elements to an array after creating it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let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[2,4,6];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arr.push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(8);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console.log(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 // prints 2 4 6 8</a:t>
            </a:r>
          </a:p>
          <a:p>
            <a:r>
              <a:rPr lang="en-US" dirty="0"/>
              <a:t>Or…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let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[2,4,6];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[3] = 8;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console.log(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[3]); // prints 8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D2D29-CB29-4546-97A9-9CC20C13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6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Array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49211"/>
              </p:ext>
            </p:extLst>
          </p:nvPr>
        </p:nvGraphicFramePr>
        <p:xfrm>
          <a:off x="159574" y="1350012"/>
          <a:ext cx="882485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505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6215350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Iteration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forEach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Runs a function once for each array element. Does not return a new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.map(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new array by transforming every element with a provided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.filter(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new array containing only elements that pass a test (return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.reduce(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Collapses an array down into a single value (e.g. a sum, an object, a string)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Additional instance methods and properties of arrays can be found here: </a:t>
            </a:r>
            <a:r>
              <a:rPr lang="en-US" dirty="0">
                <a:hlinkClick r:id="rId2"/>
              </a:rPr>
              <a:t>Array - JavaScript | MDN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4A303F-CB3B-B803-58DB-F0728F349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92433"/>
              </p:ext>
            </p:extLst>
          </p:nvPr>
        </p:nvGraphicFramePr>
        <p:xfrm>
          <a:off x="159572" y="3614703"/>
          <a:ext cx="8824855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505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6215350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Search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.find(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first element that matches a condition, or undefined in none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.includes(x)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true/false depending on whether a value exists in the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indexOf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index of the first matching value, or -1 if not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5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C7DA-853D-5402-5CC3-A061A90F7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517B-2C2D-94F9-9D15-2584804F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&amp; Rest Operators | 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677B3-16B4-A063-8942-48D714D14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Spread and Rest operations use the same syntax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/>
              <a:t>” (an ellipses), but they serve opposite purposes depending on context.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Spread operator expands an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(array, string, object) into individual elements.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original = [“a”, “b”, “c”];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copy = […original];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copy.push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(“d”);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console.log(original) // [“a”, “b”, “c”]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console.log(copy)     // [“a”, “b”, “c”, “d”]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Spread operator creates a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shallow copy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meaning nested objects or arrays inside the original share a reference and can be altered in the spread copy.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Spread operators can be used to: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Copy arrays/objects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Split and merge arrays/objects into a new array/object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Pass array elements as individual arguments to a function call.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82F8-E28C-B103-AB45-256CF627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D92B-CF63-465F-91C5-2B18B08A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&amp; Rest Operators |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ABB9-0D27-4347-AB06-E4D516D34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i="1" dirty="0"/>
              <a:t>Rest</a:t>
            </a:r>
            <a:r>
              <a:rPr lang="en-US" dirty="0"/>
              <a:t> operator collects multiple individual values into a single array.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Rest operators are used in function parameters to capture any number of arguments into an array: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example(…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Note: Rest parameters must always be the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last parameter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in a function signature, and only one rest parameter is allowed per function.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Together, spread and rest operators make working with arrays, objects, and function arguments significantly more flexible and concise.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C7804-3F45-4AFE-A597-D8967E8C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9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C378-9AB8-EA4D-8A96-5AC7682F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FEF0-EE0C-04C6-C294-9919D819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D48B-ED90-3CDA-8774-8008920AD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Objects are entities which represent real-world constructs in our program</a:t>
            </a:r>
          </a:p>
          <a:p>
            <a:r>
              <a:rPr lang="en-US" dirty="0"/>
              <a:t>Objects can have fields (variables) and functions (methods)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person = {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“James”,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“Doe”,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age: 37,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greet: function() {	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console.log(“Hello!”);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CD805-135B-56DE-53F0-7C9AD59A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47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7C07-1BA7-4020-8A3B-72EE319F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BDD7-ECB3-43DF-AF50-FDA71EB1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“prototype” objects on the fly by adding properties to them after creation: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let person = {}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person.firstName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“James”;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person.greet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function() { … }</a:t>
            </a:r>
          </a:p>
          <a:p>
            <a:endParaRPr lang="en-US" dirty="0"/>
          </a:p>
          <a:p>
            <a:r>
              <a:rPr lang="en-US" dirty="0"/>
              <a:t>You can prototype any object that exists in this way.</a:t>
            </a:r>
          </a:p>
          <a:p>
            <a:pPr lvl="1"/>
            <a:r>
              <a:rPr lang="en-US" dirty="0"/>
              <a:t>Note: this is how arrays get expanded! Arrays are objects, where the keys are the “indices” and the values are the values stored at each index.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099FD-F5E4-408C-A625-9AAD0117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06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958F-5345-E6E7-F066-95BB7094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5908-5BD2-5B21-8B96-A4C2AE3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Prototypal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6687-12CB-F0A1-4E3E-53B53B92C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JavaScript uses prototypal inheritance, where objects inherit properties and methods directly from other objects</a:t>
            </a:r>
          </a:p>
          <a:p>
            <a:r>
              <a:rPr lang="en-US" dirty="0"/>
              <a:t>This differs from classical inheritance (like in Java or C#) where classes inherit from other classes.</a:t>
            </a:r>
          </a:p>
          <a:p>
            <a:r>
              <a:rPr lang="en-US" dirty="0"/>
              <a:t>Every JavaScript object has an internal link to another object, called its prototype</a:t>
            </a:r>
          </a:p>
          <a:p>
            <a:r>
              <a:rPr lang="en-US" dirty="0"/>
              <a:t>When a property or method is not found on an object, JavaScript automatically loops up the prototype chain to find it.</a:t>
            </a:r>
          </a:p>
          <a:p>
            <a:r>
              <a:rPr lang="en-US" dirty="0"/>
              <a:t>This lookup continues until the property is found, or until the chain ends at null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Object.getPrototypeOf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(obj)</a:t>
            </a:r>
            <a:r>
              <a:rPr lang="en-US" dirty="0"/>
              <a:t> retrieves an object’s prototype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Obj.__proto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 also accesses the prototype (legacy method)</a:t>
            </a:r>
          </a:p>
          <a:p>
            <a:r>
              <a:rPr lang="en-US" dirty="0"/>
              <a:t>Prototypal inheritance is the underlying mechanism that JavaScript classes are built on top of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44EE1-B346-73FE-D6A8-EBF48447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F691-7F9A-EF18-04EA-DEC53979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2147-186D-E58C-56DC-4AC2925E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0F58-4983-CE57-2125-250C3446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5291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Functions have a special prototype property, used when that function is called with new to create new objects</a:t>
            </a:r>
          </a:p>
          <a:p>
            <a:r>
              <a:rPr lang="en-US" sz="2400" dirty="0"/>
              <a:t>This special prototype property allows functions to act like traditional “constructor” functions of other languages (Java/C#/etc…).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Person(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greet) {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this.firstName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this.greet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greet;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dirty="0"/>
              <a:t>Constructors are invoked by using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/>
              <a:t> keyword: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james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Person(“James”, function() { 		          		console.log(“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’Sup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!”); }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    		);</a:t>
            </a:r>
          </a:p>
          <a:p>
            <a:r>
              <a:rPr lang="en-US" sz="2400" dirty="0">
                <a:latin typeface="+mj-lt"/>
                <a:cs typeface="Courier New" panose="02070309020205020404" pitchFamily="49" charset="0"/>
              </a:rPr>
              <a:t>The keyword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 acts as a reference to the current object (the one being created), so we make sure we’re differentiating the variables that belong to the object we’re creating and the local variables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65018-D9A6-39EF-696B-5006E180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63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8255-6AB7-7A5F-F45B-AF966B83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39FD-DB42-C960-85F4-B424BAEB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CF3C-A489-DDBD-F45E-D9B3076DF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sz="2400" dirty="0"/>
              <a:t>The keyword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 is a special keyword in JavaScript that refers to the </a:t>
            </a:r>
            <a:r>
              <a:rPr lang="en-US" sz="2400" b="1" i="1" dirty="0"/>
              <a:t>object currently executing the function</a:t>
            </a:r>
            <a:endParaRPr lang="en-US" sz="2400" dirty="0"/>
          </a:p>
          <a:p>
            <a:r>
              <a:rPr lang="en-US" sz="2400" dirty="0"/>
              <a:t>Its value is not fixed – it is determined at the time the function is called, </a:t>
            </a:r>
            <a:r>
              <a:rPr lang="en-US" sz="2400" b="1" i="1" dirty="0"/>
              <a:t>not where the function is defined</a:t>
            </a:r>
            <a:r>
              <a:rPr lang="en-US" sz="2400" dirty="0"/>
              <a:t>.</a:t>
            </a:r>
          </a:p>
          <a:p>
            <a:r>
              <a:rPr lang="en-US" sz="2400" dirty="0"/>
              <a:t>In a method defined on an object,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 refers to the object the method belongs to (hence constructors).</a:t>
            </a:r>
          </a:p>
          <a:p>
            <a:r>
              <a:rPr lang="en-US" sz="2400" dirty="0"/>
              <a:t>In a regular function (outside of any objects)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 refers to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400" dirty="0"/>
              <a:t> object 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n-US" sz="2400" dirty="0"/>
              <a:t> in browsers,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400" dirty="0"/>
              <a:t> in Node.js) or is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sz="2400" dirty="0"/>
              <a:t> in strict mode.</a:t>
            </a:r>
          </a:p>
          <a:p>
            <a:r>
              <a:rPr lang="en-US" sz="2400" dirty="0"/>
              <a:t>In an </a:t>
            </a:r>
            <a:r>
              <a:rPr lang="en-US" sz="2400" b="1" i="1" dirty="0"/>
              <a:t>event handler</a:t>
            </a:r>
            <a:r>
              <a:rPr lang="en-US" sz="2400" dirty="0"/>
              <a:t> (more on this later),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 typically refers to the DOM element that triggered the event.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B9B20-651F-C928-23B4-B890930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82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D760-07A1-4DDE-B3CF-D8ED1212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E1B3-CF06-411F-AA3E-0D8C887D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Classes in JavaScript provide a cleaner, more familiar syntax for working with prototypal inheritance</a:t>
            </a:r>
          </a:p>
          <a:p>
            <a:pPr lvl="1"/>
            <a:r>
              <a:rPr lang="en-US" dirty="0"/>
              <a:t>Introduced in ES6 (2015); classes are often described as “</a:t>
            </a:r>
            <a:r>
              <a:rPr lang="en-US" b="1" dirty="0"/>
              <a:t>syntactic sugar</a:t>
            </a:r>
            <a:r>
              <a:rPr lang="en-US" dirty="0"/>
              <a:t>” over existing prototype-based behavior</a:t>
            </a:r>
          </a:p>
          <a:p>
            <a:r>
              <a:rPr lang="en-US" dirty="0"/>
              <a:t>Declared using 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, followed by the class name (using </a:t>
            </a:r>
            <a:r>
              <a:rPr lang="en-US" dirty="0" err="1"/>
              <a:t>PascalCase</a:t>
            </a:r>
            <a:r>
              <a:rPr lang="en-US" dirty="0"/>
              <a:t>)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constructor()</a:t>
            </a:r>
            <a:r>
              <a:rPr lang="en-US" dirty="0"/>
              <a:t> method runs automatically when a new instance is created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  <a:p>
            <a:r>
              <a:rPr lang="en-US" dirty="0"/>
              <a:t>Methods defined inside a class are automatically added to the class’s prototype, not duplicated per instance.</a:t>
            </a:r>
          </a:p>
          <a:p>
            <a:r>
              <a:rPr lang="en-US" dirty="0"/>
              <a:t>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dirty="0"/>
              <a:t> allows one class to inherit from another, creating parent-child relationships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super()</a:t>
            </a:r>
            <a:r>
              <a:rPr lang="en-US" dirty="0"/>
              <a:t> calls the parent class’s constructor, and must be called before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/>
              <a:t> in a child class’s constructor.</a:t>
            </a:r>
          </a:p>
          <a:p>
            <a:r>
              <a:rPr lang="en-US" dirty="0"/>
              <a:t>Note: class declarations are not </a:t>
            </a:r>
            <a:r>
              <a:rPr lang="en-US" i="1" dirty="0"/>
              <a:t>hoisted</a:t>
            </a:r>
            <a:r>
              <a:rPr lang="en-US" dirty="0"/>
              <a:t> in a usable way – they must be defined before 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0011-FCDA-43BD-8675-B39769E0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5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486C-95A1-DE9F-CE88-2B379CE5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D342C-40C8-D033-ABAC-EA0B89FD56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7561444-C2F5-632E-8179-DC64BA25B31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Functions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1E441-9A3F-5644-34B7-251542071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81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7EDC-C968-4146-8EBD-666AE922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0134-05C3-4AAB-91D4-ECA8AE69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64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function (subroutine, subprogram) is an </a:t>
            </a:r>
            <a:r>
              <a:rPr lang="en-US" i="1" dirty="0"/>
              <a:t>isolated</a:t>
            </a:r>
            <a:r>
              <a:rPr lang="en-US" dirty="0"/>
              <a:t> set of statements that can be invoked as a batch. You can pass input values into a function for use, and a function may return a single output value.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console.log(“In my function!”);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let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myOtherFunc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console.log(“I was given this value: “ 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 return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+ 5;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let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newVal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myOtherFunc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(20); //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newVal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is now 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EA9E-2FCF-4F4D-BD7A-D6F0C52B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93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EE80-50A7-4F75-BB12-CA1BD7B3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Execution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17FDB-BA47-41E7-A760-760C879B2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When the JS engine is interpreting code, it creates a “global execution context” that contains the state of the application (the values of all variables). </a:t>
            </a:r>
          </a:p>
          <a:p>
            <a:r>
              <a:rPr lang="en-US" dirty="0"/>
              <a:t>When a function is invoked, a “function execution context” is added to the top of the stack. </a:t>
            </a:r>
          </a:p>
          <a:p>
            <a:r>
              <a:rPr lang="en-US" dirty="0"/>
              <a:t>If that function invokes another, the new function is added to the top of the stack…</a:t>
            </a:r>
          </a:p>
          <a:p>
            <a:r>
              <a:rPr lang="en-US" dirty="0"/>
              <a:t>The topmost execution context is “popped” off the top of the stack and processed before the underlying one can be resolved.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07BF5-E14D-4B42-AAE9-BD0BD2D4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14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2932-748D-48E2-AAC7-93295F24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Stack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8B18-0FA6-411A-B0B7-B3E33FB3E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let a = 'Hello World!’;</a:t>
            </a:r>
          </a:p>
          <a:p>
            <a:pPr marL="400050" lvl="1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first() {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console.log('Inside first function');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second();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console.log('Again inside first function');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second() {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console.log('Inside second function');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00050" lvl="1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first();</a:t>
            </a:r>
          </a:p>
          <a:p>
            <a:pPr marL="40005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console.log('Inside Global Execution Context');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983FF-C564-4179-8A39-79BF074C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1986EE2-9F36-47AB-87F8-B37DDCA7D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2" y="4879939"/>
            <a:ext cx="8539993" cy="151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62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CB36-4711-44AC-A12F-38272692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7283-0D86-4BFA-B12E-49C146B5E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Functions are identified by their name and number of parameters (sometimes called their 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signature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or 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declaration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When you invoke a function, the JS engine determines which one you want by checking the name of the function you are invoking </a:t>
            </a:r>
            <a:r>
              <a:rPr lang="en-US" i="1" dirty="0">
                <a:latin typeface="+mj-lt"/>
                <a:cs typeface="Courier New" panose="02070309020205020404" pitchFamily="49" charset="0"/>
              </a:rPr>
              <a:t>and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the number of parameters you are providing.</a:t>
            </a:r>
          </a:p>
          <a:p>
            <a:pPr marL="0" indent="0">
              <a:buNone/>
            </a:pP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a() { … 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a(val1, val2) { … 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a(3,8);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D2241-391F-496A-AC5F-2DB7A4E5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0EEE2-8C91-E03B-2E47-8E345E3D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B92D-94CD-4EFC-A28E-F14C7AC4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Function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A277-09E5-6DCB-FFEA-6CD737FD1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Default parameters are a feature introduced in ES6 which allow function parameters to have a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fallback value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if no argument is passed (or 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passed explicitly)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(param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Default values are only applied when the argument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– passing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will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not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trigger the default value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Default values can be any valid expressions: a literal value, a function call, or even a reference to another parameter.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Parameters are evaluated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left to right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so a default value can reference a parameter that appears before it, but not one that comes after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Default parameters help you write more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resilient functions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that behave predictably even when callers omit optional arguments.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62A34-B41F-169B-4597-E3AC5842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89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B20A-3A55-4F83-92E6-F7924D0D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B7CE-4FDE-4E4C-AB28-53D4EAAF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71600"/>
            <a:ext cx="8383980" cy="5247314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/>
              <a:t>JavaScript Functions are considered </a:t>
            </a:r>
            <a:r>
              <a:rPr lang="en-US" sz="4400" b="1" i="1" dirty="0"/>
              <a:t>first-class functions</a:t>
            </a:r>
            <a:r>
              <a:rPr lang="en-US" sz="4400" dirty="0"/>
              <a:t>. This means they can be passed into other functions as parameters.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let arg1 = 8;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let arg2 = 5;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add(a, b, callback)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let sum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callback(sum);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var print = function(value)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console.log(value);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var popup = function(value)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alert(value);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add(arg1, arg2, popup);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3CB74-7ABC-44EA-937F-8A1B34C1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54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F9DC-9F39-3E70-A82A-E2FA4924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6076-7601-9D16-7E72-AF247C1D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7D64-5AF7-8C9B-7AD7-FE0804F9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Arrow functions are a concise alternative syntax for writing functions (introduced in ES6)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Syntax: </a:t>
            </a:r>
            <a:br>
              <a:rPr lang="en-US" dirty="0">
                <a:latin typeface="+mj-lt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(params) =&gt; { body }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single-parameter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functions, parentheses around the parameter are optional: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x =&gt; { return x * 2 }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 zero or multiple parameters, parentheses are required.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=&gt; { // function body }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b) =&gt; { // function body }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 single-expression bodies, the curly braces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keyword can be omitted, the expression is implicitly returned.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 multi-line or multi-statement bodies, curly braces and an explicit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statement (if any) are required.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Note: Arrow functions do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not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have their own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– they inherit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from the surrounding scope at the time they are defined (called lexical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Arrow functions cannot be used as constructors (calling an arrow function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keyword will throw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Arrow functions are best suited for callbacks and short, single-purpose functions.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D3E0A-EB5D-1B45-C004-9EC9B054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53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1C5B2-754B-D2AC-C0FD-033B4A13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8C5DD1-60B0-9681-BDF3-D1E5F94B78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D94EECE-06C6-6403-D56E-5B516399E52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Variable Scope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FB2B5-E315-0DBC-9EDC-1F509DD0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96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28CF-8FF3-473B-AF16-4E4B943D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7A06-9DE6-46DE-A44E-AB37D555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5357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you use the curly braces (and where they might be implied, like flow-control statements), you are creating a new </a:t>
            </a:r>
            <a:r>
              <a:rPr lang="en-US" i="1" dirty="0"/>
              <a:t>scope.</a:t>
            </a:r>
          </a:p>
          <a:p>
            <a:pPr lvl="1"/>
            <a:r>
              <a:rPr lang="en-US" dirty="0"/>
              <a:t>Nested scopes are “lower” scopes. </a:t>
            </a:r>
          </a:p>
          <a:p>
            <a:pPr lvl="1"/>
            <a:r>
              <a:rPr lang="en-US" dirty="0"/>
              <a:t>Scopes are levels of isolation. Code in a one scope can see something in a higher scope, but cannot see into a lower scope or sibling scope.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(let i = 0; i &lt; 5; i++) {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console.log(i);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console.log(i); // crashes, i is not visible here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When the JS engine reaches the end of a scope, the contents are deleted from memory.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A82B3-21A0-4CFA-8F5B-0E39A90C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83DB-1BD5-446B-9E3D-18293669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5F053-CC20-4A68-96A6-0707588B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8077"/>
          </a:xfrm>
        </p:spPr>
        <p:txBody>
          <a:bodyPr>
            <a:normAutofit/>
          </a:bodyPr>
          <a:lstStyle/>
          <a:p>
            <a:r>
              <a:rPr lang="en-US" dirty="0"/>
              <a:t>Variables created inside a function or flow-control scope are called “local” variables because they only exist inside that scope.</a:t>
            </a:r>
          </a:p>
          <a:p>
            <a:r>
              <a:rPr lang="en-US" dirty="0"/>
              <a:t>Function parameters are actually local variables created to hold passed-in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arg_1 is a local variable that only exists inside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and holds the first value passed in.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(arg_1)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  …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4DBD2-BC13-412C-ABE3-AF3CD361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A1AA-779A-4A8C-B06B-8CC0F823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ED1CF-DC53-429D-9B75-1BCBC1A1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you pass data into a function, you only ever pass values. If you pass in a variable, you are passing in the values stored in those variables, not the variables themselves.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modify(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+= 5;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let a = 5;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modify(a);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console.log(a); // prints 5, not 10!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732DF-4F61-4C13-9D57-585508BF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4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387A-68F0-7456-A692-79FFC463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E12A-E75B-ECEB-EDDA-57A68A38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CFCB-31E2-CED2-DADB-8C1B2E4A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53578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/>
              <a:t>Hoisting</a:t>
            </a:r>
            <a:r>
              <a:rPr lang="en-US" dirty="0"/>
              <a:t> is JavaScript’s default behavior of moving </a:t>
            </a:r>
            <a:r>
              <a:rPr lang="en-US" b="1" i="1" dirty="0"/>
              <a:t>declarations to the top of their scope before code executes</a:t>
            </a:r>
            <a:r>
              <a:rPr lang="en-US" dirty="0"/>
              <a:t>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Only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declarations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are hoisted,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not initializations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declarations are hoisted and automatically initialized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declarations are also hoisted, but are placed in a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temporal dead zone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TDZ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 referencing them before declaration throws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ReferenceError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Function declarations are fully hoisted 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The declaration of a function includes the function body, so it can be safely called at any time.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Arrow functions assigned to a variable are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not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fully hoisted – only the variable declaration is.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Hoisting is a common source of subtle bugs, particularly with the var keyword. It is important to understand it to help explain unexpected undefined values and errors.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C8318-4658-05CB-37C6-8375F168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93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9E3B-B867-EF61-179C-4E83BC43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23A8-C17F-A8EB-02AC-430ACEAA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ED25-6915-BBBD-EDA8-10C55870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5357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/>
              <a:t>closure</a:t>
            </a:r>
            <a:r>
              <a:rPr lang="en-US" dirty="0"/>
              <a:t> is a function, declared within another which references a variable declared in the outer scope.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outer() {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var data = 1;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function inner() { // closure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 console.log(data);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The closure retains access to variables from its outer scoped function, even after that outer scope has finished executing.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3E3DA-1908-F865-92BF-51D02483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1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5CB8-1104-73FE-720C-DCA0C147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C255-1A97-B35F-4EFA-66454AFD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4966-3ECF-F785-A7B5-9675AD51D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5357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Closures are not a special syntax or keyword, they are a natural consequence of how JavaScript handles </a:t>
            </a:r>
            <a:r>
              <a:rPr lang="en-US" b="1" i="1" dirty="0"/>
              <a:t>scope and functions</a:t>
            </a:r>
            <a:endParaRPr lang="en-US" dirty="0"/>
          </a:p>
          <a:p>
            <a:r>
              <a:rPr lang="en-US" dirty="0"/>
              <a:t>The inner function carries a reference to outer variables – not a snapshot. It will see the </a:t>
            </a:r>
            <a:r>
              <a:rPr lang="en-US" b="1" i="1" dirty="0"/>
              <a:t>current value</a:t>
            </a:r>
            <a:r>
              <a:rPr lang="en-US" dirty="0"/>
              <a:t> at the time it is called, not the value at the time it was created.</a:t>
            </a:r>
          </a:p>
          <a:p>
            <a:r>
              <a:rPr lang="en-US" dirty="0"/>
              <a:t>Closures are commonly used with:</a:t>
            </a:r>
          </a:p>
          <a:p>
            <a:pPr lvl="1"/>
            <a:r>
              <a:rPr lang="en-US" dirty="0"/>
              <a:t>Data privacy: variables cannot be accessed directly from outside a function, only via calling a returned closure.</a:t>
            </a:r>
          </a:p>
          <a:p>
            <a:pPr lvl="1"/>
            <a:r>
              <a:rPr lang="en-US" dirty="0"/>
              <a:t>Factory functions: creating and returning customized functions</a:t>
            </a:r>
          </a:p>
          <a:p>
            <a:pPr lvl="1"/>
            <a:r>
              <a:rPr lang="en-US" dirty="0"/>
              <a:t>Maintaining state between calls within using global variables.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A4F5-4A1B-561D-F16E-D7D24E98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1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F281-17D9-E03A-951C-7001DE42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524047-2FE0-276F-155D-5A91A9CA9F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E00E8D9-1EDA-F326-AA65-28948DBBAC3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Map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50DA4-352B-0C46-4A0B-9C41C14B7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71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BA45-2E84-84EB-8F01-5331C382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AF40-19C7-BBB4-4138-8B3C2F52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C7E34-0406-F0C4-6EFB-B7D076326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80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Map is a built-in object type for storing key-value pairs</a:t>
            </a:r>
          </a:p>
          <a:p>
            <a:pPr lvl="1"/>
            <a:r>
              <a:rPr lang="en-US" dirty="0"/>
              <a:t>Introduced in ES6</a:t>
            </a:r>
          </a:p>
          <a:p>
            <a:r>
              <a:rPr lang="en-US" dirty="0"/>
              <a:t>Unlike plain objects, Map keys can be any data type – objects, functions, even other maps, not just strings/symbols</a:t>
            </a:r>
          </a:p>
          <a:p>
            <a:r>
              <a:rPr lang="en-US" dirty="0"/>
              <a:t>Maps maintain insertion order – keys are iterated in the order they were added</a:t>
            </a:r>
          </a:p>
          <a:p>
            <a:r>
              <a:rPr lang="en-US" dirty="0"/>
              <a:t>A Map’s size is tracked directly via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dirty="0"/>
              <a:t> property, no need to manually count keys</a:t>
            </a:r>
          </a:p>
          <a:p>
            <a:r>
              <a:rPr lang="en-US" dirty="0"/>
              <a:t>Plain objects come with inherited properties from their prototype by default, which can interfere with key lookups; Maps do not have this issue.</a:t>
            </a:r>
          </a:p>
          <a:p>
            <a:r>
              <a:rPr lang="en-US" dirty="0"/>
              <a:t>Generally, maps are preferred over plain objects when keys are unknown until runtime, when keys are frequently added/removed, or when keys need to be non-string types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let m = new Map();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m.set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(1, 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value_one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m.set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(“second”, 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value_two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3E1CF-F6C6-4179-47B2-6CD0C908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1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Map Features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86222"/>
              </p:ext>
            </p:extLst>
          </p:nvPr>
        </p:nvGraphicFramePr>
        <p:xfrm>
          <a:off x="159574" y="1350012"/>
          <a:ext cx="8824854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151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1242203">
                  <a:extLst>
                    <a:ext uri="{9D8B030D-6E8A-4147-A177-3AD203B41FA5}">
                      <a16:colId xmlns:a16="http://schemas.microsoft.com/office/drawing/2014/main" val="2227969686"/>
                    </a:ext>
                  </a:extLst>
                </a:gridCol>
                <a:gridCol w="5611500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.set(key,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Adds or updates a key-value pair; returns the Map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.get(key)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Retrieves the value for a given key, or undefined if not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.has(key)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true/false depending on whether the key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.delete(key)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a key-value pair; returns true if something was removed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all entries from the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number of elements/entries (key/value pairs) in the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map iterator containing keys for the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31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map iterator containing the values for the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86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.entries()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map iterator containing the key, value pairs for each element in the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652140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Additional information can be found here: </a:t>
            </a:r>
            <a:r>
              <a:rPr lang="en-US" dirty="0">
                <a:hlinkClick r:id="rId2"/>
              </a:rPr>
              <a:t>Map - JavaScript | MDN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42F4-421D-61D4-DC70-3DA907DF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D0D1ED-A0DF-7F6B-DF77-C909EBD0AD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A43F9EF-F3BF-CBF5-91CF-6B3A09F7B7E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Iterators &amp; Generators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53A08-A6BB-2DDF-0D2B-AEF8B9DCE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640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27D58-8F9C-098C-3EDE-2D5F96EB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9F2D-AA01-A66B-7E75-4E7A8665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E11C-7CAE-8D0E-DE41-647671F5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Iterator is an object that produces a sequence of values, one-at-a-time, on request</a:t>
            </a:r>
          </a:p>
          <a:p>
            <a:r>
              <a:rPr lang="en-US" dirty="0"/>
              <a:t>An object becomes an iterator by implementing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next()</a:t>
            </a:r>
            <a:r>
              <a:rPr lang="en-US" dirty="0"/>
              <a:t> method</a:t>
            </a:r>
          </a:p>
          <a:p>
            <a:r>
              <a:rPr lang="en-US" dirty="0"/>
              <a:t>Calling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.next()</a:t>
            </a:r>
            <a:r>
              <a:rPr lang="en-US" dirty="0"/>
              <a:t> returns an object with two properties: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{value, done}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/>
              <a:t> is the next item in the sequence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en-US" dirty="0"/>
              <a:t> is a </a:t>
            </a:r>
            <a:r>
              <a:rPr lang="en-US" dirty="0" err="1"/>
              <a:t>boolean</a:t>
            </a:r>
            <a:r>
              <a:rPr lang="en-US" dirty="0"/>
              <a:t> which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when there are no more values to produce</a:t>
            </a:r>
          </a:p>
          <a:p>
            <a:r>
              <a:rPr lang="en-US" dirty="0"/>
              <a:t>An object is considered </a:t>
            </a:r>
            <a:r>
              <a:rPr lang="en-US" b="1" i="1" dirty="0" err="1"/>
              <a:t>iterable</a:t>
            </a:r>
            <a:r>
              <a:rPr lang="en-US" dirty="0"/>
              <a:t> if it implements a method which is accessed 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Symbol.iterator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This method should return an iterator.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for-of</a:t>
            </a:r>
            <a:r>
              <a:rPr lang="en-US" dirty="0"/>
              <a:t> loop works by automatically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Symbol.iterator</a:t>
            </a:r>
            <a:r>
              <a:rPr lang="en-US" dirty="0"/>
              <a:t> behind the scenes, then repeatedly calling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.next()</a:t>
            </a:r>
            <a:r>
              <a:rPr lang="en-US" dirty="0"/>
              <a:t> until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.</a:t>
            </a:r>
          </a:p>
          <a:p>
            <a:r>
              <a:rPr lang="en-US" dirty="0"/>
              <a:t>Once exhausted, an iterator generally cannot be reset, a new one must be created to start over.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801B5-AB1E-8D5E-ABE4-5936DBCC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94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723C-608F-989D-36CC-15E2E5E8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85B5-469B-9D9D-9F95-E11AB379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EAC30-1E5F-BE1E-70FA-75C7AB3F3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19842"/>
            <a:ext cx="8383980" cy="553815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generator is a special type of function that can pause and resume its execution</a:t>
            </a:r>
          </a:p>
          <a:p>
            <a:r>
              <a:rPr lang="en-US" dirty="0"/>
              <a:t>Declared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function*</a:t>
            </a:r>
            <a:r>
              <a:rPr lang="en-US" dirty="0"/>
              <a:t> syntax (asterisk after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dirty="0"/>
              <a:t> keyword)</a:t>
            </a:r>
          </a:p>
          <a:p>
            <a:r>
              <a:rPr lang="en-US" dirty="0"/>
              <a:t>Calling a generator function does not run its body immediately, it returns a generator object, which is itself an iterator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 dirty="0"/>
              <a:t> keyword pauses execution and returns a value, picking back up exactly where it left off on the next call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.next()</a:t>
            </a:r>
            <a:r>
              <a:rPr lang="en-US" dirty="0"/>
              <a:t> method.</a:t>
            </a:r>
          </a:p>
          <a:p>
            <a:r>
              <a:rPr lang="en-US" dirty="0"/>
              <a:t>Generators automatically implement the iterator protocol, so they work seamlessly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for-of</a:t>
            </a:r>
          </a:p>
          <a:p>
            <a:r>
              <a:rPr lang="en-US" dirty="0"/>
              <a:t>A generator’s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Symbol.iterator</a:t>
            </a:r>
            <a:r>
              <a:rPr lang="en-US" dirty="0"/>
              <a:t> method returns itself, meaning generators are also directly </a:t>
            </a:r>
            <a:r>
              <a:rPr lang="en-US" dirty="0" err="1"/>
              <a:t>iterable</a:t>
            </a:r>
            <a:r>
              <a:rPr lang="en-US" dirty="0"/>
              <a:t>.</a:t>
            </a:r>
          </a:p>
          <a:p>
            <a:r>
              <a:rPr lang="en-US" dirty="0"/>
              <a:t>Generators provide a simpler way to build a custom iterator than manually writing one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.next()</a:t>
            </a:r>
          </a:p>
          <a:p>
            <a:r>
              <a:rPr lang="en-US" dirty="0"/>
              <a:t>Common uses: </a:t>
            </a:r>
          </a:p>
          <a:p>
            <a:pPr lvl="1"/>
            <a:r>
              <a:rPr lang="en-US" dirty="0"/>
              <a:t>producing lazy sequences (values computed only as needed)</a:t>
            </a:r>
          </a:p>
          <a:p>
            <a:pPr lvl="1"/>
            <a:r>
              <a:rPr lang="en-US" dirty="0"/>
              <a:t>simplifying custom iteration logic for classes/collections.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8B811-838B-05FE-E3B0-9C8E24A5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27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22B0-008D-B893-9492-5F8E5F02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6506E-8891-3A01-A26C-D20974B0D68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2324C52F-80D2-3FD7-E3C9-E3960215EC0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Error Handling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8A952-131C-CD6F-00CA-4F0E08E5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152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BF80-BE9B-3EC0-CFE3-91C0504C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90E4-0C2A-F5F3-E09F-9C4D0E43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-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A4AA5-5836-4508-3C29-7C8A93B54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19842"/>
            <a:ext cx="8383980" cy="55381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Errors are problems that can occur during the normal execution of your code.</a:t>
            </a:r>
          </a:p>
          <a:p>
            <a:r>
              <a:rPr lang="en-US" dirty="0"/>
              <a:t>The keywords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try/catch</a:t>
            </a:r>
            <a:r>
              <a:rPr lang="en-US" dirty="0"/>
              <a:t> lets you run code that might fail and handle the failure gracefully instead of crashing the program.</a:t>
            </a:r>
          </a:p>
          <a:p>
            <a:r>
              <a:rPr lang="en-US" dirty="0"/>
              <a:t>An optional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dirty="0"/>
              <a:t> block can be added that runs regardless of whether an error occurred. It is often used for cleanup.</a:t>
            </a:r>
          </a:p>
          <a:p>
            <a:r>
              <a:rPr lang="en-US" dirty="0"/>
              <a:t>Syntax: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try: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Code that might fail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catch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error-handling logic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finally: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Code that always runs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FAEBF-6D96-7A3C-2AB0-52AA6094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64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5780-FF38-3772-1039-C32CEBC5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4089-D513-4A17-6831-37AF71AF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-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4709-9923-E448-C3AD-770E5DC3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19842"/>
            <a:ext cx="8383980" cy="553815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an error occurs, JavaScript creates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dirty="0"/>
              <a:t> object, which is passed into the catch block</a:t>
            </a:r>
          </a:p>
          <a:p>
            <a:r>
              <a:rPr lang="en-US" dirty="0"/>
              <a:t>Every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dirty="0"/>
              <a:t> object has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.message</a:t>
            </a:r>
            <a:r>
              <a:rPr lang="en-US" dirty="0"/>
              <a:t> property, and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.name</a:t>
            </a:r>
            <a:r>
              <a:rPr lang="en-US" dirty="0"/>
              <a:t> property.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.message</a:t>
            </a:r>
            <a:r>
              <a:rPr lang="en-US" dirty="0"/>
              <a:t>: A human-readable description of the error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.name</a:t>
            </a:r>
            <a:r>
              <a:rPr lang="en-US" dirty="0"/>
              <a:t>: the type of the error</a:t>
            </a:r>
          </a:p>
          <a:p>
            <a:r>
              <a:rPr lang="en-US" dirty="0"/>
              <a:t>JavaScript has several built-in error types, all of which extend Error: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Occurs when a value is not of the expected type (e.g. attempting to call a non-function)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RangeError</a:t>
            </a:r>
            <a:r>
              <a:rPr lang="en-US" sz="2000" dirty="0">
                <a:cs typeface="Courier New" panose="02070309020205020404" pitchFamily="49" charset="0"/>
              </a:rPr>
              <a:t> : Occurs when a value is outside an allowable range (e.g. invalid array length)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ReferenceError</a:t>
            </a:r>
            <a:r>
              <a:rPr lang="en-US" sz="2000" dirty="0">
                <a:cs typeface="Courier New" panose="02070309020205020404" pitchFamily="49" charset="0"/>
              </a:rPr>
              <a:t> : Occurs when referencing a variable that does exist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34620-B75F-6E43-1560-4A758DCC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93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4D45-EC4D-E1AA-C4E7-AD3CA38F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5CA8-6749-CE86-A093-13F1D81D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 &amp; Custom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15AA-38F4-C07C-0B0E-547020BA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19842"/>
            <a:ext cx="8383980" cy="5538158"/>
          </a:xfrm>
        </p:spPr>
        <p:txBody>
          <a:bodyPr>
            <a:normAutofit/>
          </a:bodyPr>
          <a:lstStyle/>
          <a:p>
            <a:r>
              <a:rPr lang="en-US" dirty="0"/>
              <a:t>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dirty="0"/>
              <a:t> allows you to manually trigger an error, rather than waiting for JavaScript to throw one automatically</a:t>
            </a:r>
          </a:p>
          <a:p>
            <a:pPr lvl="1"/>
            <a:r>
              <a:rPr lang="en-US" dirty="0"/>
              <a:t>This is most commonly used with Custom Error Types</a:t>
            </a:r>
          </a:p>
          <a:p>
            <a:r>
              <a:rPr lang="en-US" dirty="0"/>
              <a:t>You can technically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dirty="0"/>
              <a:t> any value, but best practice is to always throw an instance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dirty="0"/>
              <a:t> (or a subclass), not a plain string or number</a:t>
            </a:r>
          </a:p>
          <a:p>
            <a:r>
              <a:rPr lang="en-US" dirty="0"/>
              <a:t>Custom Error Types can be created by extending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dirty="0"/>
              <a:t>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918FF-2BAA-8F74-23C1-D7B704EC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99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8239-8884-62A2-10C7-39768EA7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8F63-548E-3B4D-F7A6-3361A9A4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 &amp; Custom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8D29-60C4-A175-81CD-7257E316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19842"/>
            <a:ext cx="8383980" cy="5538158"/>
          </a:xfrm>
        </p:spPr>
        <p:txBody>
          <a:bodyPr>
            <a:normAutofit/>
          </a:bodyPr>
          <a:lstStyle/>
          <a:p>
            <a:r>
              <a:rPr lang="en-US" dirty="0"/>
              <a:t>A custom error class should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super(message)</a:t>
            </a:r>
            <a:r>
              <a:rPr lang="en-US" dirty="0"/>
              <a:t> in its constructor to properly set up the inherited .message property.</a:t>
            </a:r>
          </a:p>
          <a:p>
            <a:r>
              <a:rPr lang="en-US" dirty="0"/>
              <a:t>Custom errors can carry additional properties beyond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.message</a:t>
            </a:r>
          </a:p>
          <a:p>
            <a:pPr lvl="1"/>
            <a:r>
              <a:rPr lang="en-US" dirty="0"/>
              <a:t>Useful for passing structured details about what went wrong</a:t>
            </a:r>
          </a:p>
          <a:p>
            <a:r>
              <a:rPr lang="en-US" dirty="0"/>
              <a:t>Throwing specific, descriptive Errors makes debugging significantly easier</a:t>
            </a:r>
          </a:p>
          <a:p>
            <a:pPr lvl="1"/>
            <a:r>
              <a:rPr lang="en-US" dirty="0"/>
              <a:t>Particularly useful for your own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94701-CF6A-8C52-9EA0-B21DF50F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28BC2-ACA3-447C-A909-F3F49211C0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A0A1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0A1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F324A5-21DE-4DF5-A0AD-939F7991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ACFE5-69E9-479F-8087-1E125945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2310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6423</TotalTime>
  <Words>6179</Words>
  <Application>Microsoft Office PowerPoint</Application>
  <PresentationFormat>On-screen Show (4:3)</PresentationFormat>
  <Paragraphs>624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Consolas</vt:lpstr>
      <vt:lpstr>Courier New</vt:lpstr>
      <vt:lpstr>2_Custom Design</vt:lpstr>
      <vt:lpstr>JavaScript Basics</vt:lpstr>
      <vt:lpstr>Outline</vt:lpstr>
      <vt:lpstr>PowerPoint Presentation</vt:lpstr>
      <vt:lpstr>What is JavaScript?</vt:lpstr>
      <vt:lpstr>Using JavaScript in Webpages</vt:lpstr>
      <vt:lpstr>Using JavaScript in Webpages</vt:lpstr>
      <vt:lpstr>Expressions</vt:lpstr>
      <vt:lpstr>Statements</vt:lpstr>
      <vt:lpstr>Built-In Functions</vt:lpstr>
      <vt:lpstr>Strict Mode</vt:lpstr>
      <vt:lpstr>PowerPoint Presentation</vt:lpstr>
      <vt:lpstr>Variables</vt:lpstr>
      <vt:lpstr>JavaScript Data Types | quirks</vt:lpstr>
      <vt:lpstr>Data Types</vt:lpstr>
      <vt:lpstr>Automatic Type Conversion</vt:lpstr>
      <vt:lpstr>Template Literals</vt:lpstr>
      <vt:lpstr>PowerPoint Presentation</vt:lpstr>
      <vt:lpstr>=, == and ===</vt:lpstr>
      <vt:lpstr>Boolean Logic</vt:lpstr>
      <vt:lpstr>Operator Precedence</vt:lpstr>
      <vt:lpstr>Truthy Values</vt:lpstr>
      <vt:lpstr>Conditional Statements</vt:lpstr>
      <vt:lpstr>If-Else-If</vt:lpstr>
      <vt:lpstr>Nested If Statements</vt:lpstr>
      <vt:lpstr>Switch Statements</vt:lpstr>
      <vt:lpstr>Types of Loop</vt:lpstr>
      <vt:lpstr>Types of Loop</vt:lpstr>
      <vt:lpstr>PowerPoint Presentation</vt:lpstr>
      <vt:lpstr>JavaScript Arrays</vt:lpstr>
      <vt:lpstr>Arrays Cont.</vt:lpstr>
      <vt:lpstr>Expanding Arrays</vt:lpstr>
      <vt:lpstr>Common Array Methods</vt:lpstr>
      <vt:lpstr>Spread &amp; Rest Operators | Spread</vt:lpstr>
      <vt:lpstr>Spread &amp; Rest Operators | Rest</vt:lpstr>
      <vt:lpstr>Object Basics</vt:lpstr>
      <vt:lpstr>Object Prototyping</vt:lpstr>
      <vt:lpstr>Prototypal Inheritance</vt:lpstr>
      <vt:lpstr>Object Constructors</vt:lpstr>
      <vt:lpstr>this keyword</vt:lpstr>
      <vt:lpstr>JavaScript Classes</vt:lpstr>
      <vt:lpstr>PowerPoint Presentation</vt:lpstr>
      <vt:lpstr>Function Basics</vt:lpstr>
      <vt:lpstr>The Execution Stack</vt:lpstr>
      <vt:lpstr>Execution Stack Example</vt:lpstr>
      <vt:lpstr>Function Overloading</vt:lpstr>
      <vt:lpstr>Default Function Parameters</vt:lpstr>
      <vt:lpstr>Callback Functions</vt:lpstr>
      <vt:lpstr>Arrow Functions</vt:lpstr>
      <vt:lpstr>PowerPoint Presentation</vt:lpstr>
      <vt:lpstr>Scopes</vt:lpstr>
      <vt:lpstr>Scopes cont.</vt:lpstr>
      <vt:lpstr>Pass By Value</vt:lpstr>
      <vt:lpstr>Hoisting</vt:lpstr>
      <vt:lpstr>Closures</vt:lpstr>
      <vt:lpstr>Closures</vt:lpstr>
      <vt:lpstr>PowerPoint Presentation</vt:lpstr>
      <vt:lpstr>Map</vt:lpstr>
      <vt:lpstr>Common Map Features</vt:lpstr>
      <vt:lpstr>PowerPoint Presentation</vt:lpstr>
      <vt:lpstr>Iterators</vt:lpstr>
      <vt:lpstr>Generators</vt:lpstr>
      <vt:lpstr>PowerPoint Presentation</vt:lpstr>
      <vt:lpstr>Error Handling - Basics</vt:lpstr>
      <vt:lpstr>Error Handling - Basics</vt:lpstr>
      <vt:lpstr>Throw &amp; Custom Exceptions</vt:lpstr>
      <vt:lpstr>Throw &amp; Custom Exceptions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39</cp:revision>
  <cp:lastPrinted>2016-06-20T20:58:50Z</cp:lastPrinted>
  <dcterms:created xsi:type="dcterms:W3CDTF">2016-11-09T18:19:08Z</dcterms:created>
  <dcterms:modified xsi:type="dcterms:W3CDTF">2026-08-12T22:04:31Z</dcterms:modified>
</cp:coreProperties>
</file>