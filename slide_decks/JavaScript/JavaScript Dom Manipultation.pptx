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357" r:id="rId4"/>
    <p:sldId id="343" r:id="rId5"/>
    <p:sldId id="443" r:id="rId6"/>
    <p:sldId id="444" r:id="rId7"/>
    <p:sldId id="445" r:id="rId8"/>
    <p:sldId id="448" r:id="rId9"/>
    <p:sldId id="450" r:id="rId10"/>
    <p:sldId id="446" r:id="rId11"/>
    <p:sldId id="447" r:id="rId12"/>
    <p:sldId id="452" r:id="rId13"/>
    <p:sldId id="454" r:id="rId14"/>
    <p:sldId id="455" r:id="rId15"/>
    <p:sldId id="456" r:id="rId16"/>
    <p:sldId id="457" r:id="rId17"/>
    <p:sldId id="358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Manipulation &amp; Traversal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DOM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the DOM</a:t>
            </a:r>
          </a:p>
          <a:p>
            <a:r>
              <a:rPr lang="en-US" dirty="0"/>
              <a:t>Selecting Elements</a:t>
            </a:r>
          </a:p>
          <a:p>
            <a:r>
              <a:rPr lang="en-US" dirty="0"/>
              <a:t>Manipulating the DOM</a:t>
            </a:r>
          </a:p>
          <a:p>
            <a:r>
              <a:rPr lang="en-US" dirty="0"/>
              <a:t>Traversing the DOM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DOM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DOM stands for the </a:t>
            </a:r>
            <a:r>
              <a:rPr lang="en-US" b="1" i="1" dirty="0"/>
              <a:t>Document Object Model</a:t>
            </a:r>
            <a:r>
              <a:rPr lang="en-US" dirty="0"/>
              <a:t>. It is a browser’s structured, in-memory representation of an HTML page.</a:t>
            </a:r>
          </a:p>
          <a:p>
            <a:pPr lvl="1"/>
            <a:r>
              <a:rPr lang="en-US" dirty="0"/>
              <a:t>It acts as the Programming AIP for HTML and XML documents</a:t>
            </a:r>
          </a:p>
          <a:p>
            <a:r>
              <a:rPr lang="en-US" dirty="0"/>
              <a:t>The DOM enables JavaScript to access and manipulate elements and styles of a webpage.</a:t>
            </a:r>
          </a:p>
          <a:p>
            <a:r>
              <a:rPr lang="en-US" dirty="0"/>
              <a:t>Note: The DOM is provided by the browser environment, not JavaScript itself. As such DOM code does not work in non-browser environments (like Node.js – more on this later) without additional tooling.</a:t>
            </a:r>
          </a:p>
          <a:p>
            <a:r>
              <a:rPr lang="en-US" dirty="0"/>
              <a:t>The web browser updates this DOM actively as elements are modified.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F1A8-89B9-98A0-3751-6D4AB90C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C87EF-6D14-845D-7381-4C893B7C2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EA10C-F9EC-52FE-D9A1-74910BCE0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09" y="1481446"/>
            <a:ext cx="4835085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a browser loads an HTML file, it parses the markup and constructs the DOM as a tree of objects that JavaScript can read and manipulate.</a:t>
            </a:r>
          </a:p>
          <a:p>
            <a:r>
              <a:rPr lang="en-US" dirty="0"/>
              <a:t>The tree is made of </a:t>
            </a:r>
            <a:r>
              <a:rPr lang="en-US" b="1" i="1" dirty="0"/>
              <a:t>nodes</a:t>
            </a:r>
            <a:r>
              <a:rPr lang="en-US" dirty="0"/>
              <a:t> – every element, attribute and piece of text in the document is a node.</a:t>
            </a:r>
          </a:p>
          <a:p>
            <a:r>
              <a:rPr lang="en-US" dirty="0"/>
              <a:t>The top of the tree is the document object.</a:t>
            </a:r>
          </a:p>
          <a:p>
            <a:r>
              <a:rPr lang="en-US" dirty="0"/>
              <a:t>The root element of the node is the &lt;html&gt; element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299837-5592-3B16-0257-305E723DD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3CA2192-FAA8-CD27-2F3D-CF8FEE6477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07" r="8620"/>
          <a:stretch/>
        </p:blipFill>
        <p:spPr>
          <a:xfrm>
            <a:off x="5426110" y="2325874"/>
            <a:ext cx="3628906" cy="275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F335-1A3D-19EE-E3B4-2EC99806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3C6DBB-764D-684E-78BB-10AA9CFC61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10A5264-A4CF-3D6E-35DB-9EB6BF50A3B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Selecting Elements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63125-91BD-C435-25DE-4E382DF5B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2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7583-43CE-D32D-AFC6-1CEDE67B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CE83C-4E6E-6AB9-1B9E-3D00863FDB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2F2BE-2100-6C9B-BDF8-2DFCC1B8E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JavaScript must locate elements within the DOM to determine the target of potential modification.</a:t>
            </a:r>
          </a:p>
          <a:p>
            <a:r>
              <a:rPr lang="en-US" dirty="0"/>
              <a:t>JavaScript includes many methods to locate elements based on attributes or other criteria, including:</a:t>
            </a:r>
          </a:p>
          <a:p>
            <a:pPr lvl="1"/>
            <a:r>
              <a:rPr lang="en-US" dirty="0"/>
              <a:t>Finding element using ID</a:t>
            </a:r>
          </a:p>
          <a:p>
            <a:pPr lvl="1"/>
            <a:r>
              <a:rPr lang="en-US" dirty="0"/>
              <a:t>Finding elements using Tag Names</a:t>
            </a:r>
          </a:p>
          <a:p>
            <a:pPr lvl="1"/>
            <a:r>
              <a:rPr lang="en-US" dirty="0"/>
              <a:t>Finding elements by Class Names</a:t>
            </a:r>
          </a:p>
          <a:p>
            <a:pPr lvl="1"/>
            <a:r>
              <a:rPr lang="en-US" dirty="0"/>
              <a:t>Finding elements by CSS Selectors</a:t>
            </a:r>
          </a:p>
          <a:p>
            <a:pPr lvl="1"/>
            <a:r>
              <a:rPr lang="en-US" dirty="0"/>
              <a:t>Finding elements by HTML Object collections</a:t>
            </a:r>
          </a:p>
          <a:p>
            <a:pPr lvl="1"/>
            <a:r>
              <a:rPr lang="en-US" dirty="0"/>
              <a:t>More…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4B40B2-5299-4BC1-49E7-20A91C24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DOM Elements</a:t>
            </a:r>
          </a:p>
        </p:txBody>
      </p:sp>
    </p:spTree>
    <p:extLst>
      <p:ext uri="{BB962C8B-B14F-4D97-AF65-F5344CB8AC3E}">
        <p14:creationId xmlns:p14="http://schemas.microsoft.com/office/powerpoint/2010/main" val="33786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8815-C525-7CB6-22ED-6401898A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1A7CD-5B17-097A-E1C5-A8274BDA72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21D7D-BBE9-45C2-6C49-35E267C4B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Single element selectors will return a single element.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(id)</a:t>
            </a:r>
            <a:r>
              <a:rPr lang="en-US" dirty="0"/>
              <a:t>: selects a single element by it’s id attribute. This returns either the element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 if not found. </a:t>
            </a:r>
          </a:p>
          <a:p>
            <a:pPr lvl="1"/>
            <a:r>
              <a:rPr lang="en-US" dirty="0"/>
              <a:t>Note: technically this will return the first element with the matching ID, but remember the Id should be a unique value across your webpage.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(selector)</a:t>
            </a:r>
            <a:r>
              <a:rPr lang="en-US" dirty="0"/>
              <a:t>: selects the </a:t>
            </a:r>
            <a:r>
              <a:rPr lang="en-US" b="1" i="1" dirty="0"/>
              <a:t>first</a:t>
            </a:r>
            <a:r>
              <a:rPr lang="en-US" dirty="0"/>
              <a:t> element that matches any valid </a:t>
            </a:r>
            <a:r>
              <a:rPr lang="en-US" i="1" dirty="0"/>
              <a:t>CSS selector</a:t>
            </a:r>
            <a:r>
              <a:rPr lang="en-US" dirty="0"/>
              <a:t>. This returns the element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 if none were found.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D39185-AD72-9ECA-2154-3394A240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Element Selectors</a:t>
            </a:r>
          </a:p>
        </p:txBody>
      </p:sp>
    </p:spTree>
    <p:extLst>
      <p:ext uri="{BB962C8B-B14F-4D97-AF65-F5344CB8AC3E}">
        <p14:creationId xmlns:p14="http://schemas.microsoft.com/office/powerpoint/2010/main" val="269040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932B7-4942-48C3-3CA7-4668E67B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2A926-A572-E4C6-5944-89B5E726E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804FC-02BB-6771-0A67-81FD6AA8F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36431"/>
            <a:ext cx="8383980" cy="539240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document.getElementsByClassName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returns a </a:t>
            </a:r>
            <a:r>
              <a:rPr lang="en-US" b="1" i="1" dirty="0"/>
              <a:t>live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HTMLCollection</a:t>
            </a:r>
            <a:r>
              <a:rPr lang="en-US" dirty="0"/>
              <a:t> of all elements within the given class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document.getElementsByTagName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tagName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returns a </a:t>
            </a:r>
            <a:r>
              <a:rPr lang="en-US" b="1" i="1" dirty="0"/>
              <a:t>live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HTMLCollection</a:t>
            </a:r>
            <a:r>
              <a:rPr lang="en-US" dirty="0"/>
              <a:t> of all elements with the given tag name</a:t>
            </a:r>
          </a:p>
          <a:p>
            <a:pPr lvl="1"/>
            <a:r>
              <a:rPr lang="en-US" dirty="0"/>
              <a:t>A </a:t>
            </a:r>
            <a:r>
              <a:rPr lang="en-US" b="1" i="1" dirty="0"/>
              <a:t>live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HTMLCollection</a:t>
            </a:r>
            <a:r>
              <a:rPr lang="en-US" dirty="0"/>
              <a:t> updates automatically if the DOM changes after the query – the collection always reflects the current state of the page.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(selector)</a:t>
            </a:r>
            <a:r>
              <a:rPr lang="en-US" dirty="0"/>
              <a:t>: returns a </a:t>
            </a:r>
            <a:r>
              <a:rPr lang="en-US" b="1" i="1" dirty="0"/>
              <a:t>static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NodeList</a:t>
            </a:r>
            <a:r>
              <a:rPr lang="en-US" dirty="0"/>
              <a:t> of all elements matching a CSS selector.</a:t>
            </a:r>
          </a:p>
          <a:p>
            <a:pPr lvl="1"/>
            <a:r>
              <a:rPr lang="en-US" dirty="0"/>
              <a:t>A </a:t>
            </a:r>
            <a:r>
              <a:rPr lang="en-US" b="1" i="1" dirty="0"/>
              <a:t>static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NodeList</a:t>
            </a:r>
            <a:r>
              <a:rPr lang="en-US" dirty="0"/>
              <a:t> is a snapshot taken at the moment of the query – it does not update if the DOM changes afterward.</a:t>
            </a:r>
          </a:p>
          <a:p>
            <a:pPr lvl="1"/>
            <a:r>
              <a:rPr lang="en-US" dirty="0"/>
              <a:t>Note: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NodeList</a:t>
            </a:r>
            <a:r>
              <a:rPr lang="en-US" dirty="0"/>
              <a:t> returned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querySelectorAll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support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operations directly, but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HTMLCollection</a:t>
            </a:r>
            <a:r>
              <a:rPr lang="en-US" dirty="0"/>
              <a:t> does not – it must first be converted to an array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Array.from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to be used with Array Methods.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FD560C-6E7B-5F68-7E02-7D50E6AC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Element Selectors</a:t>
            </a:r>
          </a:p>
        </p:txBody>
      </p:sp>
    </p:spTree>
    <p:extLst>
      <p:ext uri="{BB962C8B-B14F-4D97-AF65-F5344CB8AC3E}">
        <p14:creationId xmlns:p14="http://schemas.microsoft.com/office/powerpoint/2010/main" val="339945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1FF3-4CE8-625E-FF18-64418142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2B8CB8-52C3-EB76-BD13-543C064FEF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944B18F-D19B-EB06-5BAB-5469799A5F2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Manipulating the DOM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4DB9B-272B-C166-0A77-18444AD65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B6A2-BB7B-8705-CE5E-8EC051FE9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86E7A-53F1-F3E9-2CE2-92E38BFCED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A312C-6229-CC85-F2D5-9DE436838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innerHTML</a:t>
            </a:r>
            <a:r>
              <a:rPr lang="en-US" dirty="0"/>
              <a:t> gets or sets the full HTML content inside an element, including any child tags.</a:t>
            </a:r>
          </a:p>
          <a:p>
            <a:pPr lvl="1"/>
            <a:r>
              <a:rPr lang="en-US" dirty="0"/>
              <a:t>Note: This can be used to inject HTML markup directly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r>
              <a:rPr lang="en-US" dirty="0"/>
              <a:t> gets or sets the plain text content of an element. </a:t>
            </a:r>
          </a:p>
          <a:p>
            <a:pPr lvl="1"/>
            <a:r>
              <a:rPr lang="en-US" dirty="0"/>
              <a:t>Note: This ignores any HTML tags so it is safer than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innerHTML</a:t>
            </a:r>
            <a:r>
              <a:rPr lang="en-US" dirty="0"/>
              <a:t> when working with user-provided content.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getAttribute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(name)</a:t>
            </a:r>
            <a:r>
              <a:rPr lang="en-US" dirty="0"/>
              <a:t>: reads the current value of a specified HTML attribute (e.g.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alt</a:t>
            </a:r>
            <a:r>
              <a:rPr lang="en-US" dirty="0"/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setAttribute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(name, value)</a:t>
            </a:r>
            <a:r>
              <a:rPr lang="en-US" dirty="0"/>
              <a:t>: adds or updates an attribute on an element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removeAttribute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(name)</a:t>
            </a:r>
            <a:r>
              <a:rPr lang="en-US" dirty="0"/>
              <a:t>: removes an attribute from an element entirely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04758B-D145-8737-417C-1807749D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&amp; Modifying Element Data</a:t>
            </a:r>
          </a:p>
        </p:txBody>
      </p:sp>
    </p:spTree>
    <p:extLst>
      <p:ext uri="{BB962C8B-B14F-4D97-AF65-F5344CB8AC3E}">
        <p14:creationId xmlns:p14="http://schemas.microsoft.com/office/powerpoint/2010/main" val="79349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9B74-94CD-3CB5-CF5C-0256D803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D319F-6B2F-C8ED-B702-7B3EE799E2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7E7CC-0230-D37C-12A5-1E8637069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document.createElement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(tag)</a:t>
            </a:r>
            <a:r>
              <a:rPr lang="en-US" dirty="0"/>
              <a:t>: creates a new element in memory. It is not added to the page until explicitly done so.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parent.appendChild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(element)</a:t>
            </a:r>
            <a:r>
              <a:rPr lang="en-US" dirty="0"/>
              <a:t>: adds a new element as the </a:t>
            </a:r>
            <a:r>
              <a:rPr lang="en-US" b="1" i="1" dirty="0"/>
              <a:t>last child</a:t>
            </a:r>
            <a:r>
              <a:rPr lang="en-US" dirty="0"/>
              <a:t> of a parent element.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parent.prepend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(element)</a:t>
            </a:r>
            <a:r>
              <a:rPr lang="en-US" dirty="0"/>
              <a:t>: adds a new element as the </a:t>
            </a:r>
            <a:r>
              <a:rPr lang="en-US" b="1" i="1" dirty="0"/>
              <a:t>first child</a:t>
            </a:r>
            <a:r>
              <a:rPr lang="en-US" dirty="0"/>
              <a:t> of the parent element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element.insertAdjacentElement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(position,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newElement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inserts an element at a precise position relative to an existing one.</a:t>
            </a:r>
          </a:p>
          <a:p>
            <a:pPr lvl="1"/>
            <a:r>
              <a:rPr lang="en-US" dirty="0"/>
              <a:t>Positions are: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beforebegin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afterbegin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element.remove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removes the element from the DOM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parent.removeChild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(element)</a:t>
            </a:r>
            <a:r>
              <a:rPr lang="en-US" dirty="0"/>
              <a:t>: removes a specific child element from a parent.</a:t>
            </a:r>
          </a:p>
          <a:p>
            <a:pPr lvl="1"/>
            <a:r>
              <a:rPr lang="en-US" dirty="0"/>
              <a:t>Note: this is an older pattern, but is still seen commonly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F7F5C-4C8D-665B-5321-FA25861A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&amp; Removing Elements</a:t>
            </a:r>
          </a:p>
        </p:txBody>
      </p:sp>
    </p:spTree>
    <p:extLst>
      <p:ext uri="{BB962C8B-B14F-4D97-AF65-F5344CB8AC3E}">
        <p14:creationId xmlns:p14="http://schemas.microsoft.com/office/powerpoint/2010/main" val="168704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CF70-0860-7A34-E7BB-EC601512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E7DE60-85A8-A89E-1E70-DF71F46D58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3AF9817-DA8B-88F4-B662-F3387D357A5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Traversing the DOM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926F25-5A31-D33D-6715-D7EA686DD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495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28C00-11C5-8453-E0CB-714CB25B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5EEF4-36AA-3009-2494-C76C8B0682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2B01E-FD2C-F6DF-2D29-1F6773E83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element.parentNode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returns the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parent node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of an element. Can return any node type, including document nodes.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element.parentElement</a:t>
            </a:r>
            <a:r>
              <a:rPr lang="en-US" dirty="0">
                <a:cs typeface="Courier New" panose="02070309020205020404" pitchFamily="49" charset="0"/>
              </a:rPr>
              <a:t>: returns the parent element; specifically returns null of the parent is not an element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In practice,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parentElement</a:t>
            </a:r>
            <a:r>
              <a:rPr lang="en-US" dirty="0">
                <a:cs typeface="Courier New" panose="02070309020205020404" pitchFamily="49" charset="0"/>
              </a:rPr>
              <a:t> is preferred since it is a more predictable way to get actual elements that we would manipulate.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element.closest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(selector)</a:t>
            </a:r>
            <a:r>
              <a:rPr lang="en-US" dirty="0">
                <a:cs typeface="Courier New" panose="02070309020205020404" pitchFamily="49" charset="0"/>
              </a:rPr>
              <a:t>: traverses </a:t>
            </a:r>
            <a:r>
              <a:rPr lang="en-US" b="1" i="1" dirty="0">
                <a:cs typeface="Courier New" panose="02070309020205020404" pitchFamily="49" charset="0"/>
              </a:rPr>
              <a:t>upward</a:t>
            </a:r>
            <a:r>
              <a:rPr lang="en-US" dirty="0">
                <a:cs typeface="Courier New" panose="02070309020205020404" pitchFamily="49" charset="0"/>
              </a:rPr>
              <a:t> through the element’s ancestors and returns the </a:t>
            </a:r>
            <a:r>
              <a:rPr lang="en-US" b="1" i="1" dirty="0">
                <a:cs typeface="Courier New" panose="02070309020205020404" pitchFamily="49" charset="0"/>
              </a:rPr>
              <a:t>first match</a:t>
            </a:r>
            <a:r>
              <a:rPr lang="en-US" dirty="0">
                <a:cs typeface="Courier New" panose="02070309020205020404" pitchFamily="49" charset="0"/>
              </a:rPr>
              <a:t> for a given CSS selector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Returns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>
                <a:cs typeface="Courier New" panose="02070309020205020404" pitchFamily="49" charset="0"/>
              </a:rPr>
              <a:t> if no ancestor matches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Note: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closest()</a:t>
            </a:r>
            <a:r>
              <a:rPr lang="en-US" dirty="0">
                <a:cs typeface="Courier New" panose="02070309020205020404" pitchFamily="49" charset="0"/>
              </a:rPr>
              <a:t> starts its search on the element itself before moving update. This means the element is included as a candidate for the search.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8AED27-A6B3-8DDE-526C-09629A24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the DOM | Parent Traversal</a:t>
            </a:r>
          </a:p>
        </p:txBody>
      </p:sp>
    </p:spTree>
    <p:extLst>
      <p:ext uri="{BB962C8B-B14F-4D97-AF65-F5344CB8AC3E}">
        <p14:creationId xmlns:p14="http://schemas.microsoft.com/office/powerpoint/2010/main" val="361959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82DB-E105-2F56-5003-2677F9E2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F6F13-68E8-4D43-9004-FB75DC95C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9C7B6F-BCA6-720A-2D5D-598B5F9E0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element.childNodes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returns a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live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NodeList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of all child nodes, including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text nodes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comment nodes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not just elements.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element.children</a:t>
            </a:r>
            <a:r>
              <a:rPr lang="en-US" dirty="0">
                <a:cs typeface="Courier New" panose="02070309020205020404" pitchFamily="49" charset="0"/>
              </a:rPr>
              <a:t>: returns a </a:t>
            </a:r>
            <a:r>
              <a:rPr lang="en-US" b="1" i="1" dirty="0">
                <a:cs typeface="Courier New" panose="02070309020205020404" pitchFamily="49" charset="0"/>
              </a:rPr>
              <a:t>live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HTMLCollection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b="1" i="1" dirty="0">
                <a:cs typeface="Courier New" panose="02070309020205020404" pitchFamily="49" charset="0"/>
              </a:rPr>
              <a:t>child elements only</a:t>
            </a:r>
            <a:r>
              <a:rPr lang="en-US" dirty="0">
                <a:cs typeface="Courier New" panose="02070309020205020404" pitchFamily="49" charset="0"/>
              </a:rPr>
              <a:t> (text nodes and comment nodes are excluded.</a:t>
            </a:r>
            <a:endParaRPr lang="en-US" dirty="0"/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element.children</a:t>
            </a:r>
            <a:r>
              <a:rPr lang="en-US" dirty="0">
                <a:cs typeface="Courier New" panose="02070309020205020404" pitchFamily="49" charset="0"/>
              </a:rPr>
              <a:t> is almost always what you want when working with DOM.</a:t>
            </a:r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element.firstChild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lastChild</a:t>
            </a:r>
            <a:r>
              <a:rPr lang="en-US" dirty="0">
                <a:cs typeface="Courier New" panose="02070309020205020404" pitchFamily="49" charset="0"/>
              </a:rPr>
              <a:t>: returns the first / last child </a:t>
            </a:r>
            <a:r>
              <a:rPr lang="en-US" b="1" i="1" dirty="0">
                <a:cs typeface="Courier New" panose="02070309020205020404" pitchFamily="49" charset="0"/>
              </a:rPr>
              <a:t>node</a:t>
            </a:r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element.firstElementChild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lastElementChild</a:t>
            </a:r>
            <a:r>
              <a:rPr lang="en-US" dirty="0">
                <a:cs typeface="Courier New" panose="02070309020205020404" pitchFamily="49" charset="0"/>
              </a:rPr>
              <a:t>: returns the first / last child </a:t>
            </a:r>
            <a:r>
              <a:rPr lang="en-US" b="1" i="1" dirty="0">
                <a:cs typeface="Courier New" panose="02070309020205020404" pitchFamily="49" charset="0"/>
              </a:rPr>
              <a:t>element</a:t>
            </a:r>
            <a:r>
              <a:rPr lang="en-US" dirty="0">
                <a:cs typeface="Courier New" panose="02070309020205020404" pitchFamily="49" charset="0"/>
              </a:rPr>
              <a:t> – preferred over </a:t>
            </a:r>
            <a:r>
              <a:rPr lang="en-US" dirty="0" err="1">
                <a:cs typeface="Courier New" panose="02070309020205020404" pitchFamily="49" charset="0"/>
              </a:rPr>
              <a:t>firstChild</a:t>
            </a:r>
            <a:r>
              <a:rPr lang="en-US" dirty="0">
                <a:cs typeface="Courier New" panose="02070309020205020404" pitchFamily="49" charset="0"/>
              </a:rPr>
              <a:t>/</a:t>
            </a:r>
            <a:r>
              <a:rPr lang="en-US" dirty="0" err="1">
                <a:cs typeface="Courier New" panose="02070309020205020404" pitchFamily="49" charset="0"/>
              </a:rPr>
              <a:t>lastChild</a:t>
            </a:r>
            <a:endParaRPr lang="en-US" b="1" i="1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element.childElementCount</a:t>
            </a:r>
            <a:r>
              <a:rPr lang="en-US" dirty="0">
                <a:cs typeface="Courier New" panose="02070309020205020404" pitchFamily="49" charset="0"/>
              </a:rPr>
              <a:t>: returns the number of </a:t>
            </a:r>
            <a:r>
              <a:rPr lang="en-US" b="1" i="1" dirty="0">
                <a:cs typeface="Courier New" panose="02070309020205020404" pitchFamily="49" charset="0"/>
              </a:rPr>
              <a:t>child elements</a:t>
            </a:r>
            <a:r>
              <a:rPr lang="en-US" dirty="0">
                <a:cs typeface="Courier New" panose="02070309020205020404" pitchFamily="49" charset="0"/>
              </a:rPr>
              <a:t> as an integer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95A0A7-B46B-5055-7192-EDE21C3C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the DOM | Child Traversal</a:t>
            </a:r>
          </a:p>
        </p:txBody>
      </p:sp>
    </p:spTree>
    <p:extLst>
      <p:ext uri="{BB962C8B-B14F-4D97-AF65-F5344CB8AC3E}">
        <p14:creationId xmlns:p14="http://schemas.microsoft.com/office/powerpoint/2010/main" val="216470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82A41-C6ED-8AF5-C00C-1C041C54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228CE-3573-D5B0-67AE-2CD00C09B4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95A39-FE67-F47B-E589-8477A1E3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element.nextSibling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returns the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next node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in the parent’s child list (this may be text or a comment node)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element.previousSibling</a:t>
            </a:r>
            <a:r>
              <a:rPr lang="en-US" dirty="0">
                <a:cs typeface="Courier New" panose="02070309020205020404" pitchFamily="49" charset="0"/>
              </a:rPr>
              <a:t>: returns the </a:t>
            </a:r>
            <a:r>
              <a:rPr lang="en-US" b="1" i="1" dirty="0">
                <a:cs typeface="Courier New" panose="02070309020205020404" pitchFamily="49" charset="0"/>
              </a:rPr>
              <a:t>previous</a:t>
            </a:r>
            <a:r>
              <a:rPr lang="en-US" dirty="0">
                <a:cs typeface="Courier New" panose="02070309020205020404" pitchFamily="49" charset="0"/>
              </a:rPr>
              <a:t> node in the parent’s child list.</a:t>
            </a:r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element.nextElementSibling</a:t>
            </a:r>
            <a:r>
              <a:rPr lang="en-US" dirty="0">
                <a:cs typeface="Courier New" panose="02070309020205020404" pitchFamily="49" charset="0"/>
              </a:rPr>
              <a:t>: Returns the next sibling that is an element. Preferred over nodes.</a:t>
            </a:r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element.previousElementSibling</a:t>
            </a:r>
            <a:r>
              <a:rPr lang="en-US" dirty="0">
                <a:cs typeface="Courier New" panose="02070309020205020404" pitchFamily="49" charset="0"/>
              </a:rPr>
              <a:t>: Returns the previous sibling that is an element. Preferred over nodes.</a:t>
            </a:r>
          </a:p>
          <a:p>
            <a:r>
              <a:rPr lang="en-US" dirty="0">
                <a:cs typeface="Courier New" panose="02070309020205020404" pitchFamily="49" charset="0"/>
              </a:rPr>
              <a:t>All sibling properties return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>
                <a:cs typeface="Courier New" panose="02070309020205020404" pitchFamily="49" charset="0"/>
              </a:rPr>
              <a:t> if no matching sibling exist in that direction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D1891D-01F2-D3C1-C430-FBC2C5F8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784465" cy="1224150"/>
          </a:xfrm>
        </p:spPr>
        <p:txBody>
          <a:bodyPr/>
          <a:lstStyle/>
          <a:p>
            <a:r>
              <a:rPr lang="en-US" dirty="0"/>
              <a:t>Traversing the DOM | Sibling Traversal</a:t>
            </a:r>
          </a:p>
        </p:txBody>
      </p:sp>
    </p:spTree>
    <p:extLst>
      <p:ext uri="{BB962C8B-B14F-4D97-AF65-F5344CB8AC3E}">
        <p14:creationId xmlns:p14="http://schemas.microsoft.com/office/powerpoint/2010/main" val="99851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7152</TotalTime>
  <Words>1096</Words>
  <Application>Microsoft Office PowerPoint</Application>
  <PresentationFormat>On-screen Show (4:3)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2_Custom Design</vt:lpstr>
      <vt:lpstr>JavaScript DOM</vt:lpstr>
      <vt:lpstr>Outline</vt:lpstr>
      <vt:lpstr>PowerPoint Presentation</vt:lpstr>
      <vt:lpstr>Document Object Model</vt:lpstr>
      <vt:lpstr>Document Object Model</vt:lpstr>
      <vt:lpstr>PowerPoint Presentation</vt:lpstr>
      <vt:lpstr>Finding DOM Elements</vt:lpstr>
      <vt:lpstr>Single Element Selectors</vt:lpstr>
      <vt:lpstr>Multiple Element Selectors</vt:lpstr>
      <vt:lpstr>PowerPoint Presentation</vt:lpstr>
      <vt:lpstr>Reading &amp; Modifying Element Data</vt:lpstr>
      <vt:lpstr>Creating &amp; Removing Elements</vt:lpstr>
      <vt:lpstr>PowerPoint Presentation</vt:lpstr>
      <vt:lpstr>Traversing the DOM | Parent Traversal</vt:lpstr>
      <vt:lpstr>Traversing the DOM | Child Traversal</vt:lpstr>
      <vt:lpstr>Traversing the DOM | Sibling Traversal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17</cp:revision>
  <cp:lastPrinted>2016-06-20T20:58:50Z</cp:lastPrinted>
  <dcterms:created xsi:type="dcterms:W3CDTF">2016-11-09T18:19:08Z</dcterms:created>
  <dcterms:modified xsi:type="dcterms:W3CDTF">2026-08-13T18:03:26Z</dcterms:modified>
</cp:coreProperties>
</file>