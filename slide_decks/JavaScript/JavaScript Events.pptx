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357" r:id="rId4"/>
    <p:sldId id="343" r:id="rId5"/>
    <p:sldId id="441" r:id="rId6"/>
    <p:sldId id="443" r:id="rId7"/>
    <p:sldId id="444" r:id="rId8"/>
    <p:sldId id="449" r:id="rId9"/>
    <p:sldId id="450" r:id="rId10"/>
    <p:sldId id="447" r:id="rId11"/>
    <p:sldId id="448" r:id="rId12"/>
    <p:sldId id="451" r:id="rId13"/>
    <p:sldId id="452" r:id="rId14"/>
    <p:sldId id="455" r:id="rId15"/>
    <p:sldId id="453" r:id="rId16"/>
    <p:sldId id="454" r:id="rId17"/>
    <p:sldId id="358" r:id="rId18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 userDrawn="1">
          <p15:clr>
            <a:srgbClr val="A4A3A4"/>
          </p15:clr>
        </p15:guide>
        <p15:guide id="2" pos="2282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g" initials="G" lastIdx="13" clrIdx="0"/>
  <p:cmAuthor id="1" name="Tatiana" initials="T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474C55"/>
    <a:srgbClr val="669A91"/>
    <a:srgbClr val="9171A7"/>
    <a:srgbClr val="CCCC00"/>
    <a:srgbClr val="B07750"/>
    <a:srgbClr val="AC545C"/>
    <a:srgbClr val="33CCCC"/>
    <a:srgbClr val="9966FF"/>
    <a:srgbClr val="6168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0" autoAdjust="0"/>
    <p:restoredTop sz="86389" autoAdjust="0"/>
  </p:normalViewPr>
  <p:slideViewPr>
    <p:cSldViewPr snapToGrid="0">
      <p:cViewPr varScale="1">
        <p:scale>
          <a:sx n="95" d="100"/>
          <a:sy n="95" d="100"/>
        </p:scale>
        <p:origin x="1872" y="96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outlineViewPr>
    <p:cViewPr>
      <p:scale>
        <a:sx n="33" d="100"/>
        <a:sy n="33" d="100"/>
      </p:scale>
      <p:origin x="0" y="-89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504" y="-48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CA869C63-99CE-7C40-A7E9-3930C61B23AB}" type="datetimeFigureOut">
              <a:t>8/7/2026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155B6EDB-6C4A-2346-91D8-76F2620B19F2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24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E3E59D94-626A-4CE8-9932-5221A04BF234}" type="datetimeFigureOut">
              <a:rPr lang="en-US" smtClean="0"/>
              <a:t>8/7/2026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79" rIns="93159" bIns="465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59" tIns="46579" rIns="93159" bIns="465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043CB7BC-4AFB-4847-AC93-5F4E37C870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14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9014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preserve="1" userDrawn="1">
  <p:cSld name="Section_Title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E5519-BCE2-45F2-2CB8-0E6D0DAE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664" y="2816925"/>
            <a:ext cx="6222671" cy="1224150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19CA9B-AF8F-87A7-664B-F95C0134414C}"/>
              </a:ext>
            </a:extLst>
          </p:cNvPr>
          <p:cNvGrpSpPr/>
          <p:nvPr userDrawn="1"/>
        </p:nvGrpSpPr>
        <p:grpSpPr>
          <a:xfrm>
            <a:off x="6681759" y="0"/>
            <a:ext cx="2462241" cy="773113"/>
            <a:chOff x="7264458" y="365740"/>
            <a:chExt cx="1553307" cy="487719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2A9D49A4-C029-2001-5A0F-3F2082CAD2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9A9B437-540E-333F-9B54-390C0EE615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645A3999-205C-7640-E332-1C3336AC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B55F5EA6-ACB4-F73B-8708-83192579DB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2B4DF57-055A-A5B3-F9EA-D5A8751833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2D5EF9E0-0962-BE13-EA0D-E37FC7AD8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EB24C6E3-9AC5-E695-8BED-7BE61A5CB6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47756FA6-C29B-BFEB-7653-543BD807F2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38A89EE8-B866-AAED-26C2-BE18B4FBF0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5DB3E0E0-34C3-52AE-7CD3-F1AB984B2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F6622341-E269-B3DE-12CB-68A866A7FB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2B18E42-6F06-C998-AC7F-4559FE8283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889642E-9A28-1238-56CF-BB1CC02E4B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DB97D7BD-2CAD-CF0D-7625-C390C88021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51BD1B0C-B2D3-C1B8-799E-D42AB3B0AA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403D9FBC-D098-4A6C-D21D-AD6C28E57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01D3E76D-1730-AFA4-D967-418E4B74E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912810A0-76DC-7E83-8BFC-C1A4F60F8D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1325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  <p:sldLayoutId id="2147483707" r:id="rId1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US/docs/Web/API/Document_Object_Model/Events" TargetMode="Externa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7A1EBCD-4831-59E4-AF54-61F13329BB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JavaScript Events</a:t>
            </a:r>
          </a:p>
        </p:txBody>
      </p:sp>
    </p:spTree>
    <p:extLst>
      <p:ext uri="{BB962C8B-B14F-4D97-AF65-F5344CB8AC3E}">
        <p14:creationId xmlns:p14="http://schemas.microsoft.com/office/powerpoint/2010/main" val="239379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C8A36B9-6DAA-9178-3579-608F2BF2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D359-271F-7BC2-20B4-ACE4AE76B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Events</a:t>
            </a:r>
          </a:p>
          <a:p>
            <a:r>
              <a:rPr lang="en-US" dirty="0"/>
              <a:t>Event Listeners</a:t>
            </a:r>
          </a:p>
          <a:p>
            <a:r>
              <a:rPr lang="en-US" dirty="0"/>
              <a:t>The Event Object</a:t>
            </a:r>
          </a:p>
          <a:p>
            <a:r>
              <a:rPr lang="en-US" dirty="0"/>
              <a:t>Event Propagation</a:t>
            </a:r>
          </a:p>
          <a:p>
            <a:r>
              <a:rPr lang="en-US" dirty="0"/>
              <a:t>Form Events</a:t>
            </a:r>
          </a:p>
        </p:txBody>
      </p:sp>
    </p:spTree>
    <p:extLst>
      <p:ext uri="{BB962C8B-B14F-4D97-AF65-F5344CB8AC3E}">
        <p14:creationId xmlns:p14="http://schemas.microsoft.com/office/powerpoint/2010/main" val="397599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 to Events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444B04-2EA6-FCF4-5F43-ABE166F4F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JavaScript Events are signals fired by the browser when something happens on your page.</a:t>
            </a:r>
          </a:p>
          <a:p>
            <a:pPr lvl="1"/>
            <a:r>
              <a:rPr lang="en-US" dirty="0"/>
              <a:t>A user action, a browser action or a state change</a:t>
            </a:r>
          </a:p>
          <a:p>
            <a:r>
              <a:rPr lang="en-US" dirty="0"/>
              <a:t>Events allow JavaScript to respond to things happening in real time, making web pages interactive &amp; dynamic</a:t>
            </a:r>
          </a:p>
          <a:p>
            <a:r>
              <a:rPr lang="en-US" dirty="0"/>
              <a:t>Every event has an </a:t>
            </a:r>
            <a:r>
              <a:rPr lang="en-US" b="1" i="1" dirty="0"/>
              <a:t>event type</a:t>
            </a:r>
            <a:r>
              <a:rPr lang="en-US" dirty="0"/>
              <a:t> – a string identifying what kind of thing happened.</a:t>
            </a:r>
          </a:p>
          <a:p>
            <a:pPr lvl="1"/>
            <a:r>
              <a:rPr lang="en-US" dirty="0"/>
              <a:t>E.g. “click”, “</a:t>
            </a:r>
            <a:r>
              <a:rPr lang="en-US" dirty="0" err="1"/>
              <a:t>keydown</a:t>
            </a:r>
            <a:r>
              <a:rPr lang="en-US" dirty="0"/>
              <a:t>”, “load”</a:t>
            </a:r>
          </a:p>
          <a:p>
            <a:r>
              <a:rPr lang="en-US" dirty="0"/>
              <a:t>JavaScript responds to events through </a:t>
            </a:r>
            <a:r>
              <a:rPr lang="en-US" b="1" dirty="0"/>
              <a:t>event handlers</a:t>
            </a:r>
            <a:r>
              <a:rPr lang="en-US" dirty="0"/>
              <a:t> – functions that are registered to run when a specific event occurs on a specific element.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96D22E-EB01-37C9-6E05-231DE113D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Event?</a:t>
            </a:r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928C1-B13B-84ED-00FE-6DEEE7517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CD466-78D9-20F5-3DD4-98A0666CD4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873F74E-2E29-9AFE-763E-38BA77034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Types | Sample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FFB0F31-F016-7BCA-357E-380EFD164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832528"/>
              </p:ext>
            </p:extLst>
          </p:nvPr>
        </p:nvGraphicFramePr>
        <p:xfrm>
          <a:off x="159574" y="1665159"/>
          <a:ext cx="8824854" cy="341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3529">
                  <a:extLst>
                    <a:ext uri="{9D8B030D-6E8A-4147-A177-3AD203B41FA5}">
                      <a16:colId xmlns:a16="http://schemas.microsoft.com/office/drawing/2014/main" val="4202507141"/>
                    </a:ext>
                  </a:extLst>
                </a:gridCol>
                <a:gridCol w="3319707">
                  <a:extLst>
                    <a:ext uri="{9D8B030D-6E8A-4147-A177-3AD203B41FA5}">
                      <a16:colId xmlns:a16="http://schemas.microsoft.com/office/drawing/2014/main" val="2653014772"/>
                    </a:ext>
                  </a:extLst>
                </a:gridCol>
                <a:gridCol w="2941618">
                  <a:extLst>
                    <a:ext uri="{9D8B030D-6E8A-4147-A177-3AD203B41FA5}">
                      <a16:colId xmlns:a16="http://schemas.microsoft.com/office/drawing/2014/main" val="3231311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Event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265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Mouse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Fired in response to mouse interactions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“click”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“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dblclick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”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“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mouseenter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”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“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mouseleave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”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“mouseover”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“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mousedown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”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“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mouseup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510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Keyboard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Fired in response to keyboard interactions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“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keydown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”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“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keyup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088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Page lifecycle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Fired by the browser in response to the page’s loading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“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DomContentLoaded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”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“load”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“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beforeunload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”</a:t>
                      </a:r>
                    </a:p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“unload”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808306"/>
                  </a:ext>
                </a:extLst>
              </a:tr>
            </a:tbl>
          </a:graphicData>
        </a:graphic>
      </p:graphicFrame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03002A6C-BF64-94FE-9AC8-DFEE18EA2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428294"/>
            <a:ext cx="8383980" cy="429706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br>
              <a:rPr lang="en-US" dirty="0"/>
            </a:br>
            <a:r>
              <a:rPr lang="en-US" dirty="0"/>
              <a:t>More information about events can be found here: </a:t>
            </a:r>
            <a:r>
              <a:rPr lang="en-US" dirty="0">
                <a:hlinkClick r:id="rId2"/>
              </a:rPr>
              <a:t>DOM events - Web APIs | MDN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21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298BC-35AB-67D5-4681-6FD86177D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52C6A4-0970-92B6-E176-30CCC5FF8DE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F1CE3EF9-FCBC-0B03-2D16-EBA47074DDD5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Event Listeners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5AF2B9-8B5F-CE5A-4253-780777A3C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281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E04F9-E341-6B0B-B7C4-559425D43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62C39-D533-7828-FC8A-6287EB9BDB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CF7CDB-5111-1C12-31AB-4B11CA610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</a:t>
            </a:r>
            <a:r>
              <a:rPr lang="en-US" b="1" i="1" dirty="0"/>
              <a:t>event listener</a:t>
            </a:r>
            <a:r>
              <a:rPr lang="en-US" dirty="0"/>
              <a:t> is a procedure or function in a computer program that waits for an event to occur.</a:t>
            </a:r>
          </a:p>
          <a:p>
            <a:pPr lvl="1"/>
            <a:r>
              <a:rPr lang="en-US" dirty="0"/>
              <a:t>Note: This is similar to the ‘Observer’ design pattern.</a:t>
            </a:r>
          </a:p>
          <a:p>
            <a:r>
              <a:rPr lang="en-US" dirty="0"/>
              <a:t>A listener is an effect loop that is programmed to react to an input or signal</a:t>
            </a:r>
          </a:p>
          <a:p>
            <a:r>
              <a:rPr lang="en-US" dirty="0"/>
              <a:t>An event listener will fire when a user performs some specified action (the event to “listen for”)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E1D2926-334A-DB46-0991-6C2D9A52A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Listeners</a:t>
            </a:r>
          </a:p>
        </p:txBody>
      </p:sp>
    </p:spTree>
    <p:extLst>
      <p:ext uri="{BB962C8B-B14F-4D97-AF65-F5344CB8AC3E}">
        <p14:creationId xmlns:p14="http://schemas.microsoft.com/office/powerpoint/2010/main" val="389283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D140B-7D52-46AD-73F5-96A687888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01979-B1BC-7B11-23EA-7D3AA3415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298F1E-8E35-181E-193E-BEC6E4F54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addEventListener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(type, callback)</a:t>
            </a:r>
            <a:r>
              <a:rPr lang="en-US" dirty="0"/>
              <a:t> function is the standard way to register a function to run when a specific event occurs on an element</a:t>
            </a:r>
          </a:p>
          <a:p>
            <a:r>
              <a:rPr lang="en-US" dirty="0"/>
              <a:t>This function takes two required arguments:</a:t>
            </a:r>
          </a:p>
          <a:p>
            <a:pPr lvl="1"/>
            <a:r>
              <a:rPr lang="en-US" b="1" dirty="0"/>
              <a:t>Event type</a:t>
            </a:r>
            <a:r>
              <a:rPr lang="en-US" dirty="0"/>
              <a:t>: The type of event to listen for, as a string value.</a:t>
            </a:r>
          </a:p>
          <a:p>
            <a:pPr lvl="1"/>
            <a:r>
              <a:rPr lang="en-US" b="1" dirty="0"/>
              <a:t>Callback</a:t>
            </a:r>
            <a:r>
              <a:rPr lang="en-US" dirty="0"/>
              <a:t>: the function that runs when the event fires.</a:t>
            </a:r>
          </a:p>
          <a:p>
            <a:pPr lvl="1"/>
            <a:r>
              <a:rPr lang="en-US" dirty="0"/>
              <a:t>The callback function automatically receives the </a:t>
            </a:r>
            <a:r>
              <a:rPr lang="en-US" b="1" i="1" dirty="0"/>
              <a:t>event object </a:t>
            </a:r>
            <a:r>
              <a:rPr lang="en-US" dirty="0"/>
              <a:t>as its first argument (more on this later)</a:t>
            </a:r>
          </a:p>
          <a:p>
            <a:r>
              <a:rPr lang="en-US" dirty="0"/>
              <a:t>Multiple event listeners can be applied to the same element, for the same or different event types.</a:t>
            </a:r>
          </a:p>
          <a:p>
            <a:r>
              <a:rPr lang="en-US" dirty="0"/>
              <a:t>Note: There is an old style of event handler binding using a property assignment syntax; however, this only allows for a single handler per event type.</a:t>
            </a:r>
          </a:p>
          <a:p>
            <a:pPr lvl="1"/>
            <a:r>
              <a:rPr lang="en-US" dirty="0"/>
              <a:t>Ex: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element.onclick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2827181-9957-BDB2-C680-AAF57AA2A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Listeners</a:t>
            </a:r>
          </a:p>
        </p:txBody>
      </p:sp>
    </p:spTree>
    <p:extLst>
      <p:ext uri="{BB962C8B-B14F-4D97-AF65-F5344CB8AC3E}">
        <p14:creationId xmlns:p14="http://schemas.microsoft.com/office/powerpoint/2010/main" val="231430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1A6E7-EB47-A14B-7284-71BC8B9C6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EE811-7D9F-8CE7-E5DD-49E533DA47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002F49-92EA-BDE0-2153-1E24C56EF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Another style of adding event listeners is through </a:t>
            </a:r>
            <a:r>
              <a:rPr lang="en-US" b="1" i="1" dirty="0"/>
              <a:t>inline HTML handlers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Ex: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&lt;button onclick=“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doSomething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()”&gt;</a:t>
            </a:r>
          </a:p>
          <a:p>
            <a:pPr lvl="1"/>
            <a:r>
              <a:rPr lang="en-US" dirty="0"/>
              <a:t>This mixes JavaScript logic directly into HTML markup, making code harder to maintain and separate.</a:t>
            </a:r>
          </a:p>
          <a:p>
            <a:r>
              <a:rPr lang="en-US" dirty="0"/>
              <a:t>A previously registered Event listener can be removed using the function: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removeEventListener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(type, callback)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6A53094-719C-2821-FF5B-99268702C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Listeners</a:t>
            </a:r>
          </a:p>
        </p:txBody>
      </p:sp>
    </p:spTree>
    <p:extLst>
      <p:ext uri="{BB962C8B-B14F-4D97-AF65-F5344CB8AC3E}">
        <p14:creationId xmlns:p14="http://schemas.microsoft.com/office/powerpoint/2010/main" val="2428396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7E0E0-382E-D886-DF82-67CD6344F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5623B7-D4B0-010A-9E3E-165639DFCFE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9F4507CF-0716-9205-78F9-40D7D1EFF18F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Event Object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73F8DB-430F-0D60-DFAF-D52B1CCA4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068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FC22A-B3D9-692D-5D4A-E8FF0D69B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7A3D4-84C0-68DF-3E14-FF88CB4969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FC7ADD-9823-E18A-8E00-20489042D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341663"/>
            <a:ext cx="8383980" cy="550963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Every event listener callback automatically receives an event object as its first argument when the event fires</a:t>
            </a:r>
          </a:p>
          <a:p>
            <a:r>
              <a:rPr lang="en-US" dirty="0"/>
              <a:t>The event object contains </a:t>
            </a:r>
            <a:r>
              <a:rPr lang="en-US" b="1" i="1" dirty="0"/>
              <a:t>details about the event</a:t>
            </a:r>
            <a:endParaRPr lang="en-US" dirty="0"/>
          </a:p>
          <a:p>
            <a:pPr lvl="1"/>
            <a:r>
              <a:rPr lang="en-US" dirty="0"/>
              <a:t>What happened?, where it happened?, and on which element?</a:t>
            </a:r>
          </a:p>
          <a:p>
            <a:r>
              <a:rPr lang="en-US" dirty="0"/>
              <a:t>Event Object details: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event.type</a:t>
            </a:r>
            <a:r>
              <a:rPr lang="en-US" dirty="0"/>
              <a:t>: a string identifying the type of event that fired (e.g.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“click”,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keydown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en-US" dirty="0"/>
              <a:t>)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event.target</a:t>
            </a:r>
            <a:r>
              <a:rPr lang="en-US" dirty="0"/>
              <a:t>: the specific element that triggered the event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event.currentTarget</a:t>
            </a:r>
            <a:r>
              <a:rPr lang="en-US" dirty="0"/>
              <a:t>: The element that the listener is attached to (this will differ 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event.target</a:t>
            </a:r>
            <a:r>
              <a:rPr lang="en-US" dirty="0"/>
              <a:t> when events bubble through the DOM)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event.preventDefault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: cancels the </a:t>
            </a:r>
            <a:r>
              <a:rPr lang="en-US" dirty="0" err="1"/>
              <a:t>brower’s</a:t>
            </a:r>
            <a:r>
              <a:rPr lang="en-US" dirty="0"/>
              <a:t> default behavior for the event (e.g. preventing a link from navigating or a form from submitting)</a:t>
            </a:r>
          </a:p>
          <a:p>
            <a:r>
              <a:rPr lang="en-US" dirty="0"/>
              <a:t>Keyboard Event Properties: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event.key</a:t>
            </a:r>
            <a:r>
              <a:rPr lang="en-US" dirty="0"/>
              <a:t>: returns the value of the key pressed (e.g.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“Enter”, “a”</a:t>
            </a:r>
            <a:r>
              <a:rPr lang="en-US" dirty="0"/>
              <a:t>)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event.code</a:t>
            </a:r>
            <a:r>
              <a:rPr lang="en-US" dirty="0"/>
              <a:t>: returns the physical key location on the keyboard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”, “Space”</a:t>
            </a:r>
            <a:r>
              <a:rPr lang="en-US" dirty="0"/>
              <a:t>)</a:t>
            </a:r>
          </a:p>
          <a:p>
            <a:r>
              <a:rPr lang="en-US" dirty="0"/>
              <a:t>Mouse Event Properties: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event.clientX</a:t>
            </a:r>
            <a:r>
              <a:rPr lang="en-US" dirty="0"/>
              <a:t> /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event.clientY</a:t>
            </a:r>
            <a:r>
              <a:rPr lang="en-US" dirty="0"/>
              <a:t>: returns the mouse pointer’s position relative to the viewport.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event.pageX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/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event.pageY</a:t>
            </a:r>
            <a:r>
              <a:rPr lang="en-US" dirty="0"/>
              <a:t>: returns the mouse pointer’s position relative to the full page.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8FA1B5E-68E5-63EE-41B3-F08D01D15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Object</a:t>
            </a:r>
          </a:p>
        </p:txBody>
      </p:sp>
    </p:spTree>
    <p:extLst>
      <p:ext uri="{BB962C8B-B14F-4D97-AF65-F5344CB8AC3E}">
        <p14:creationId xmlns:p14="http://schemas.microsoft.com/office/powerpoint/2010/main" val="201948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82E0A-DB44-0246-F372-1C52DBE6F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803DAD-0DDA-1950-8507-302222DC947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6610B758-42BE-E58C-FB65-7E7FEA81D3FB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Event Propagation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C942CE-E69C-E48F-3B67-B4C54397F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565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32A39-DDC1-772E-649F-68E233807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6C5ED0-0E15-AD45-4E5A-84615BB1A0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12980F-E7B7-0908-1181-EF9166FE3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418" y="1481446"/>
            <a:ext cx="4069582" cy="4882266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Event propagation describes the order in which event listeners are triggered when an event fires on a nested element</a:t>
            </a:r>
          </a:p>
          <a:p>
            <a:r>
              <a:rPr lang="en-US" dirty="0"/>
              <a:t>Propagation happens in three phases: capture, target, and bubble</a:t>
            </a:r>
          </a:p>
          <a:p>
            <a:r>
              <a:rPr lang="en-US" b="1" i="1" dirty="0"/>
              <a:t>Capture phase</a:t>
            </a:r>
            <a:r>
              <a:rPr lang="en-US" dirty="0"/>
              <a:t>: the event travels </a:t>
            </a:r>
            <a:r>
              <a:rPr lang="en-US" b="1" i="1" dirty="0"/>
              <a:t>downward</a:t>
            </a:r>
            <a:r>
              <a:rPr lang="en-US" dirty="0"/>
              <a:t> from the window through the DOM tree toward the target element</a:t>
            </a:r>
          </a:p>
          <a:p>
            <a:r>
              <a:rPr lang="en-US" b="1" i="1" dirty="0"/>
              <a:t>Target phase</a:t>
            </a:r>
            <a:r>
              <a:rPr lang="en-US" dirty="0"/>
              <a:t>: the event reaches the element it originated on and fires any listeners attached directly to it</a:t>
            </a:r>
          </a:p>
          <a:p>
            <a:r>
              <a:rPr lang="en-US" b="1" i="1" dirty="0"/>
              <a:t>Bubble phase</a:t>
            </a:r>
            <a:r>
              <a:rPr lang="en-US" dirty="0"/>
              <a:t>: the event travels upward from the target element back through its ancestors toward the window.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292A5D8-3DD2-7B2D-161B-DA137F846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Propagation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27559F-77E8-547C-C19C-DA5D3B6EC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725" y="1481446"/>
            <a:ext cx="4421275" cy="514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73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3AED8-C02A-1BB3-6AA4-7B4B48375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28ED5-2F15-63D7-0DC4-3C211F34AD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796DAC-6650-E4C6-B7B0-4C4BC12E7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By default,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addEventListener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registers listeners in the </a:t>
            </a:r>
            <a:r>
              <a:rPr lang="en-US" b="1" dirty="0"/>
              <a:t>bubble phase </a:t>
            </a:r>
            <a:r>
              <a:rPr lang="en-US" dirty="0"/>
              <a:t>– the capture must be opted into explicitly.</a:t>
            </a:r>
          </a:p>
          <a:p>
            <a:r>
              <a:rPr lang="en-US" dirty="0"/>
              <a:t>To listen during the </a:t>
            </a:r>
            <a:r>
              <a:rPr lang="en-US" b="1" i="1" dirty="0"/>
              <a:t>capture phase</a:t>
            </a:r>
            <a:r>
              <a:rPr lang="en-US" dirty="0"/>
              <a:t>, pass a third argument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/>
              <a:t> (or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capture:true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  <a:r>
              <a:rPr lang="en-US" dirty="0"/>
              <a:t> ) to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addEventListener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call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event.stopPropagation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halts the event’s journey through the DOM – listeners on ancestor (or descendant, in capture) elements will not fire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event.stopImmediatePropagation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stops propagation AND prevents any remaining listeners on the same element from firing.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5373A10-48B0-2AFD-018E-E73CCF941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Propagation</a:t>
            </a:r>
          </a:p>
        </p:txBody>
      </p:sp>
    </p:spTree>
    <p:extLst>
      <p:ext uri="{BB962C8B-B14F-4D97-AF65-F5344CB8AC3E}">
        <p14:creationId xmlns:p14="http://schemas.microsoft.com/office/powerpoint/2010/main" val="364088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3B23E-6C0C-E68F-6098-4ADE55E42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F5D8D3-AC27-4A4B-8659-BF04F70488C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0B30E1A5-2BE2-3464-04C7-B052488F5885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Form Events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C837BA-04F1-697C-61B3-DBD94A29B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653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24E60-E29D-9F94-903C-5767F94DD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F6300-4D56-6F74-400E-BAD97EC368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53C20F-BAE1-21AF-3F61-9F3B46FFE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7156"/>
            <a:ext cx="8383980" cy="524168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Form events fire in response to user interaction with form elements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submit</a:t>
            </a:r>
            <a:r>
              <a:rPr lang="en-US" dirty="0"/>
              <a:t>: fires when a form is submitted; attached to the </a:t>
            </a:r>
            <a:r>
              <a:rPr lang="en-US" b="1" dirty="0"/>
              <a:t>&lt;form&gt; element</a:t>
            </a:r>
            <a:r>
              <a:rPr lang="en-US" dirty="0"/>
              <a:t>, not the submit button; default behavior sends a request and reloads the page.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event.preventDefault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: is almost always used with submit to intercept submission and handle it with JavaScript instead (e.g. validation, or sending data without a page reload)</a:t>
            </a:r>
          </a:p>
          <a:p>
            <a:pPr lvl="0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dirty="0"/>
              <a:t>: fires </a:t>
            </a:r>
            <a:r>
              <a:rPr lang="en-US" b="1" dirty="0"/>
              <a:t>every time</a:t>
            </a:r>
            <a:r>
              <a:rPr lang="en-US" dirty="0"/>
              <a:t> the value of an input, </a:t>
            </a:r>
            <a:r>
              <a:rPr lang="en-US" dirty="0" err="1"/>
              <a:t>textarea</a:t>
            </a:r>
            <a:r>
              <a:rPr lang="en-US" dirty="0"/>
              <a:t>, or select changes.</a:t>
            </a:r>
          </a:p>
          <a:p>
            <a:pPr lvl="1"/>
            <a:r>
              <a:rPr lang="en-US" dirty="0"/>
              <a:t>ideal for real-time feedback such as live character counts or instant validation</a:t>
            </a:r>
          </a:p>
          <a:p>
            <a:pPr lvl="0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change</a:t>
            </a:r>
            <a:r>
              <a:rPr lang="en-US" dirty="0"/>
              <a:t>: fires when an input's value changes </a:t>
            </a:r>
            <a:r>
              <a:rPr lang="en-US" b="1" dirty="0"/>
              <a:t>and the element loses focus</a:t>
            </a:r>
            <a:r>
              <a:rPr lang="en-US" dirty="0"/>
              <a:t>; </a:t>
            </a:r>
          </a:p>
          <a:p>
            <a:pPr lvl="1"/>
            <a:r>
              <a:rPr lang="en-US" dirty="0"/>
              <a:t>For checkboxes and radio buttons, fires immediately on selection</a:t>
            </a:r>
          </a:p>
          <a:p>
            <a:pPr lvl="0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focus</a:t>
            </a:r>
            <a:r>
              <a:rPr lang="en-US" dirty="0"/>
              <a:t>: fires when an element </a:t>
            </a:r>
            <a:r>
              <a:rPr lang="en-US" b="1" dirty="0"/>
              <a:t>receives focus</a:t>
            </a:r>
            <a:r>
              <a:rPr lang="en-US" dirty="0"/>
              <a:t> (user clicks it)</a:t>
            </a:r>
          </a:p>
          <a:p>
            <a:pPr lvl="0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blur</a:t>
            </a:r>
            <a:r>
              <a:rPr lang="en-US" dirty="0"/>
              <a:t>: fires when an element </a:t>
            </a:r>
            <a:r>
              <a:rPr lang="en-US" b="1" dirty="0"/>
              <a:t>loses focus</a:t>
            </a:r>
            <a:r>
              <a:rPr lang="en-US" dirty="0"/>
              <a:t> (user clicks away)</a:t>
            </a:r>
          </a:p>
          <a:p>
            <a:pPr lvl="1"/>
            <a:r>
              <a:rPr lang="en-US" dirty="0"/>
              <a:t>commonly used to trigger validation after the user finishes with a field</a:t>
            </a:r>
          </a:p>
          <a:p>
            <a:pPr lvl="0"/>
            <a:r>
              <a:rPr lang="en-US" dirty="0"/>
              <a:t>You can read a field’s current value via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event.target.value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for text-based inputs, and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event.target.checked</a:t>
            </a:r>
            <a:r>
              <a:rPr lang="en-US" dirty="0"/>
              <a:t> for checkboxes and radio buttons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4847F2-C8A0-A902-5792-2E983D570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 Events</a:t>
            </a:r>
          </a:p>
        </p:txBody>
      </p:sp>
    </p:spTree>
    <p:extLst>
      <p:ext uri="{BB962C8B-B14F-4D97-AF65-F5344CB8AC3E}">
        <p14:creationId xmlns:p14="http://schemas.microsoft.com/office/powerpoint/2010/main" val="83131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A9EDF-382F-EE1C-A7CA-CC9FC3F7B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088C61-DF83-CB44-918B-A450204E5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401793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 Template  101416" id="{E7AE9B54-ECDF-468C-BAC8-D7E5033F34EC}" vid="{F6400A2A-47B1-4620-B2AC-EFF1DCD88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 Template  101416</Template>
  <TotalTime>7834</TotalTime>
  <Words>1098</Words>
  <Application>Microsoft Office PowerPoint</Application>
  <PresentationFormat>On-screen Show (4:3)</PresentationFormat>
  <Paragraphs>116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 New</vt:lpstr>
      <vt:lpstr>2_Custom Design</vt:lpstr>
      <vt:lpstr>JavaScript Events</vt:lpstr>
      <vt:lpstr>Outline</vt:lpstr>
      <vt:lpstr>PowerPoint Presentation</vt:lpstr>
      <vt:lpstr>What is an Event?</vt:lpstr>
      <vt:lpstr>Event Types | Sample</vt:lpstr>
      <vt:lpstr>PowerPoint Presentation</vt:lpstr>
      <vt:lpstr>Event Listeners</vt:lpstr>
      <vt:lpstr>Event Listeners</vt:lpstr>
      <vt:lpstr>Event Listeners</vt:lpstr>
      <vt:lpstr>PowerPoint Presentation</vt:lpstr>
      <vt:lpstr>Event Object</vt:lpstr>
      <vt:lpstr>PowerPoint Presentation</vt:lpstr>
      <vt:lpstr>Event Propagation</vt:lpstr>
      <vt:lpstr>Event Propagation</vt:lpstr>
      <vt:lpstr>PowerPoint Presentation</vt:lpstr>
      <vt:lpstr>Form Events</vt:lpstr>
      <vt:lpstr>PowerPoint Presentation</vt:lpstr>
    </vt:vector>
  </TitlesOfParts>
  <Company>Persistence Holdings, LLC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account 10</dc:creator>
  <cp:lastModifiedBy>Joseph Highe</cp:lastModifiedBy>
  <cp:revision>15</cp:revision>
  <cp:lastPrinted>2016-06-20T20:58:50Z</cp:lastPrinted>
  <dcterms:created xsi:type="dcterms:W3CDTF">2016-11-09T18:19:08Z</dcterms:created>
  <dcterms:modified xsi:type="dcterms:W3CDTF">2026-08-07T13:17:54Z</dcterms:modified>
</cp:coreProperties>
</file>