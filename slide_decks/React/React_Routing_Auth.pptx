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506" r:id="rId4"/>
    <p:sldId id="507" r:id="rId5"/>
    <p:sldId id="510" r:id="rId6"/>
    <p:sldId id="511" r:id="rId7"/>
    <p:sldId id="512" r:id="rId8"/>
    <p:sldId id="513" r:id="rId9"/>
    <p:sldId id="514" r:id="rId10"/>
    <p:sldId id="515" r:id="rId11"/>
    <p:sldId id="516" r:id="rId12"/>
    <p:sldId id="508" r:id="rId13"/>
    <p:sldId id="509" r:id="rId14"/>
    <p:sldId id="519" r:id="rId15"/>
    <p:sldId id="520" r:id="rId16"/>
    <p:sldId id="521" r:id="rId17"/>
    <p:sldId id="522" r:id="rId18"/>
    <p:sldId id="518" r:id="rId19"/>
    <p:sldId id="517" r:id="rId20"/>
    <p:sldId id="525" r:id="rId21"/>
    <p:sldId id="526" r:id="rId22"/>
    <p:sldId id="358" r:id="rId2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AC545C"/>
    <a:srgbClr val="B07750"/>
    <a:srgbClr val="474C55"/>
    <a:srgbClr val="669A91"/>
    <a:srgbClr val="9171A7"/>
    <a:srgbClr val="CCCC00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Routing &amp; Managing Authentication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Routing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Storing Tokens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1B43-255B-013E-FF6A-B746E518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8002A-2C3C-E1E9-931E-5044BC6DF6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8AC6C46-01C9-4812-4949-F1A8E399626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0B4BA7-8DB6-D9CA-BD03-6EE0AC43D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8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04B9-B9C6-14A1-441D-AC2E8419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052CA-CE52-BE46-65C6-DBD761839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C0B7E-22A1-5555-FD6B-78AF84BC3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Routing is how a single-page application shows different content based on the current URL</a:t>
            </a:r>
          </a:p>
          <a:p>
            <a:pPr lvl="1"/>
            <a:r>
              <a:rPr lang="en-US" dirty="0"/>
              <a:t>This can be used to reload components on a page, instead of reloading the entire page.</a:t>
            </a:r>
          </a:p>
          <a:p>
            <a:r>
              <a:rPr lang="en-US" dirty="0"/>
              <a:t>In a single-page application, there is only one index.html file</a:t>
            </a:r>
          </a:p>
          <a:p>
            <a:r>
              <a:rPr lang="en-US" dirty="0"/>
              <a:t>Client-side routing simulates multiple “pages” by swapping out which components are rendered, based on the URL, all without a full page reload.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B2FFDA-B415-E6A8-A864-8E4ECA12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</p:spTree>
    <p:extLst>
      <p:ext uri="{BB962C8B-B14F-4D97-AF65-F5344CB8AC3E}">
        <p14:creationId xmlns:p14="http://schemas.microsoft.com/office/powerpoint/2010/main" val="219201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0E17-D85E-A927-8396-AAA1EFF6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CE34D-0067-12EE-2EA3-3C4D88A78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9EC694-70FA-64B5-2FA3-1D3A78A72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By itself, React does not include a built-in routing solution.</a:t>
            </a:r>
          </a:p>
          <a:p>
            <a:r>
              <a:rPr lang="en-US" dirty="0"/>
              <a:t>The most widely used library for this is </a:t>
            </a:r>
            <a:r>
              <a:rPr lang="en-US" b="1" i="1" dirty="0"/>
              <a:t>React Router</a:t>
            </a:r>
            <a:r>
              <a:rPr lang="en-US" dirty="0"/>
              <a:t>, a separate package installed alongside React.</a:t>
            </a:r>
          </a:p>
          <a:p>
            <a:pPr lvl="1"/>
            <a:r>
              <a:rPr lang="en-US" dirty="0"/>
              <a:t>Run the following command after scaffolding your project: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react-router-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Three of the most fundamental pieces of React Router are: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BrowserRouter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: wraps your entire application and enables routing functionality using the browser’s URL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&lt;Routes&gt;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/>
              <a:t>: define which component should render for a given URL path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&lt;Link&gt;</a:t>
            </a:r>
            <a:r>
              <a:rPr lang="en-US" dirty="0"/>
              <a:t>: used in place of a standard &lt;a&gt; tag, allowing navigation between routes without a full page reload.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6291FC-427F-5EFA-7B3F-E1533E74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</a:t>
            </a:r>
          </a:p>
        </p:txBody>
      </p:sp>
    </p:spTree>
    <p:extLst>
      <p:ext uri="{BB962C8B-B14F-4D97-AF65-F5344CB8AC3E}">
        <p14:creationId xmlns:p14="http://schemas.microsoft.com/office/powerpoint/2010/main" val="282637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E9CB-6F27-5DBF-3616-68A82A60C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253CB-60AC-0FC6-8949-009A7BB37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0B239-D6FD-E09B-38F4-1ECAA7F61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Dynamic / URL parameters let a single route definition handle many different URLs with the specific value</a:t>
            </a:r>
          </a:p>
          <a:p>
            <a:pPr lvl="1"/>
            <a:r>
              <a:rPr lang="en-US" dirty="0"/>
              <a:t>E.g. /products/:productid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useParams</a:t>
            </a:r>
            <a:r>
              <a:rPr lang="en-US" dirty="0"/>
              <a:t> hook is used inside a component to read the values of any dynamic URL parameters from the current route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1EA02-CBE6-B83B-26F9-C260057D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/ URL parameters</a:t>
            </a:r>
          </a:p>
        </p:txBody>
      </p:sp>
    </p:spTree>
    <p:extLst>
      <p:ext uri="{BB962C8B-B14F-4D97-AF65-F5344CB8AC3E}">
        <p14:creationId xmlns:p14="http://schemas.microsoft.com/office/powerpoint/2010/main" val="407661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2A5E-8299-C782-BD6F-B89AA5366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AA0A8-F366-E383-CE71-D45DC80522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AC815-E6E6-F85A-E5AB-A5B36FB3E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&lt;Link&gt;</a:t>
            </a:r>
            <a:r>
              <a:rPr lang="en-US" dirty="0"/>
              <a:t> is a component provided by React Router, used as a standard replacement for the native HTML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en-US" dirty="0"/>
              <a:t> tag.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n-US" dirty="0"/>
              <a:t> prop is required when using this component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n-US" dirty="0"/>
              <a:t> defines the destination URL the link should navigate to when clicked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&lt;Link to=“/about”&gt;About&lt;/Link&gt;</a:t>
            </a:r>
            <a:r>
              <a:rPr lang="en-US" dirty="0"/>
              <a:t>)</a:t>
            </a:r>
          </a:p>
          <a:p>
            <a:r>
              <a:rPr lang="en-US" dirty="0"/>
              <a:t>Clicking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&lt;link&gt;</a:t>
            </a:r>
            <a:r>
              <a:rPr lang="en-US" dirty="0"/>
              <a:t> updates the URL and swaps in the matching route’s component without triggering a full browser reload</a:t>
            </a:r>
          </a:p>
          <a:p>
            <a:pPr lvl="1"/>
            <a:r>
              <a:rPr lang="en-US" dirty="0"/>
              <a:t>Note: An anchor tag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&lt;a&gt;</a:t>
            </a:r>
            <a:r>
              <a:rPr lang="en-US" dirty="0"/>
              <a:t>) does not trigger a reload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0BF768-192B-2376-5C17-8089B36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46537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1EF17-90A1-4B8A-0827-121E2C57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98C5C-99C1-1BC2-038B-A91556F4C2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30DE6-B428-82EF-3C0C-838DE299D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n-US" dirty="0"/>
              <a:t> accepts either an absolute path (starting with “/”) or a relative path (without the leading ‘/’)</a:t>
            </a:r>
          </a:p>
          <a:p>
            <a:pPr lvl="1"/>
            <a:r>
              <a:rPr lang="en-US" dirty="0"/>
              <a:t>Relative paths resolve relative to the current route’s location</a:t>
            </a:r>
          </a:p>
          <a:p>
            <a:r>
              <a:rPr lang="en-US" dirty="0"/>
              <a:t>Here “absolute” and “relative” are with respect to the URL </a:t>
            </a:r>
            <a:r>
              <a:rPr lang="en-US" b="1" i="1" dirty="0"/>
              <a:t>not your project’s filesystem</a:t>
            </a:r>
            <a:endParaRPr lang="en-US" dirty="0"/>
          </a:p>
          <a:p>
            <a:pPr lvl="1"/>
            <a:r>
              <a:rPr lang="en-US" dirty="0"/>
              <a:t>This distinction is important because of how Routing works with ‘</a:t>
            </a:r>
            <a:r>
              <a:rPr lang="en-US" b="1" i="1" dirty="0"/>
              <a:t>Nested Routes</a:t>
            </a:r>
            <a:r>
              <a:rPr lang="en-US" dirty="0"/>
              <a:t>’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A3A73E-3C9F-C5F6-E393-5B928C87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| Absolute &amp; relative paths</a:t>
            </a:r>
          </a:p>
        </p:txBody>
      </p:sp>
    </p:spTree>
    <p:extLst>
      <p:ext uri="{BB962C8B-B14F-4D97-AF65-F5344CB8AC3E}">
        <p14:creationId xmlns:p14="http://schemas.microsoft.com/office/powerpoint/2010/main" val="144318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A3AD5-BE0F-801C-55EA-A10887FB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689B1-5622-43EC-738C-747604245E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88A01-8842-C94D-E02A-26CB4FE7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219200"/>
            <a:ext cx="838398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defines a single mapping between a URL path and the component that should render when the current URL matches that path.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Every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must be nested inside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&lt;Routes&gt;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component, which is responsible for scanned through all defined routes and rendering whichever one matches the current URL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Typically, your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&lt;Routes&gt;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will sit in your root app Component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Very large applications may create a dedicated component to handle Route mapping.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attribute specified which URL this route should match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uses a plain string with a leading colon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:productid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cs typeface="Courier New" panose="02070309020205020404" pitchFamily="49" charset="0"/>
              </a:rPr>
              <a:t>A path with an asterisk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path=“*”</a:t>
            </a:r>
            <a:r>
              <a:rPr lang="en-US" dirty="0">
                <a:cs typeface="Courier New" panose="02070309020205020404" pitchFamily="49" charset="0"/>
              </a:rPr>
              <a:t>) acts as a catch-all for any URL that didn’t match.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Typically used for “Page Note Found”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attribute specifies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what to render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when this route matches.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This is written as JSX (e.g.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element={&lt;Home /&gt;}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54A3DC4-F80F-DD17-80D8-C5E07316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</a:t>
            </a:r>
          </a:p>
        </p:txBody>
      </p:sp>
    </p:spTree>
    <p:extLst>
      <p:ext uri="{BB962C8B-B14F-4D97-AF65-F5344CB8AC3E}">
        <p14:creationId xmlns:p14="http://schemas.microsoft.com/office/powerpoint/2010/main" val="56726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C0CDD-A46B-AEB9-7062-3FC18A9A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CE14B-1810-C94B-C401-35B9651DE0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439BE5-853C-782E-C95C-4E95BA59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can be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nested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by placing child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elements between a parent’s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&lt;Route&gt;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tags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attribute marks a route as the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default child route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for it’s parent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This route is rendered automatically when the parent’s path is matches exactly with no additional path segments provided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Typically used for a home/landing page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 route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cannot also have a path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The path attribute for an ‘index’ path is implicitly the same as it’s parent’s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456971-F218-7404-363C-16A128A5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Routes</a:t>
            </a:r>
          </a:p>
        </p:txBody>
      </p:sp>
    </p:spTree>
    <p:extLst>
      <p:ext uri="{BB962C8B-B14F-4D97-AF65-F5344CB8AC3E}">
        <p14:creationId xmlns:p14="http://schemas.microsoft.com/office/powerpoint/2010/main" val="215611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BB8D-61DE-E5AD-A04A-AF1E1777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F0B7-D793-17D5-2BE8-C6C2B374F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23B6A-C215-A547-5EF6-D8DDC12B8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Nested Routes allow a child &lt;Route&gt; to render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inside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 parent’s route component, rather than replacing it</a:t>
            </a:r>
          </a:p>
          <a:p>
            <a:r>
              <a:rPr lang="en-US" sz="3200" dirty="0">
                <a:cs typeface="Courier New" panose="02070309020205020404" pitchFamily="49" charset="0"/>
              </a:rPr>
              <a:t>If nesting routes, the parent component should include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&lt;Outlet /&gt;</a:t>
            </a:r>
            <a:r>
              <a:rPr lang="en-US" sz="3200" dirty="0">
                <a:cs typeface="Courier New" panose="02070309020205020404" pitchFamily="49" charset="0"/>
              </a:rPr>
              <a:t> component to indicate where the child’s component will render.</a:t>
            </a:r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&lt;Outlet&gt;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(from “react-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router”dom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”) is placed inside the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parent’s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component, marking exactly where the matched child’s content should be rendered.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This patten is most commonly used for 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shared layouts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Elements that should always be visible: navigation bars, side bars, foots, etc…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6780C9-02F2-3C4A-B284-35E0309BD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Routes and Outlet</a:t>
            </a:r>
          </a:p>
        </p:txBody>
      </p:sp>
    </p:spTree>
    <p:extLst>
      <p:ext uri="{BB962C8B-B14F-4D97-AF65-F5344CB8AC3E}">
        <p14:creationId xmlns:p14="http://schemas.microsoft.com/office/powerpoint/2010/main" val="348459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8EBCD-7BA1-0313-6FEF-FF23CB13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7B564-F186-4C30-0158-9E669760C0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2620184-CFE4-64E2-5C6F-2A72180D0F8C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E0615-16E2-387D-038C-F042DE6D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66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5ED4-93BC-6CB6-7F47-4B3A38F0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DB951-4C28-AFE5-8713-4F20BF5BA5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35032-064F-DB4A-AD47-63CF662CB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React and React Router have </a:t>
            </a:r>
            <a:r>
              <a:rPr lang="en-US" b="1" i="1" dirty="0"/>
              <a:t>no dedicated</a:t>
            </a:r>
            <a:r>
              <a:rPr lang="en-US" dirty="0"/>
              <a:t> authentication feature.</a:t>
            </a:r>
          </a:p>
          <a:p>
            <a:r>
              <a:rPr lang="en-US" dirty="0"/>
              <a:t>To protect routes (i.e. require some authentication before allowing access), you must use a combination of conditional rendering and nested routes.</a:t>
            </a:r>
          </a:p>
          <a:p>
            <a:r>
              <a:rPr lang="en-US" dirty="0"/>
              <a:t>The core idea:</a:t>
            </a:r>
          </a:p>
          <a:p>
            <a:pPr lvl="1"/>
            <a:r>
              <a:rPr lang="en-US" dirty="0"/>
              <a:t>Build a wrapper component that checks whether the user is authenticated.</a:t>
            </a:r>
          </a:p>
          <a:p>
            <a:pPr lvl="1"/>
            <a:r>
              <a:rPr lang="en-US" dirty="0"/>
              <a:t>If so, render the requested page</a:t>
            </a:r>
          </a:p>
          <a:p>
            <a:pPr lvl="1"/>
            <a:r>
              <a:rPr lang="en-US" dirty="0"/>
              <a:t>if not, redirect them elsewhere.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F3B776-41E0-16DF-C77B-5809E5D6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| Structure</a:t>
            </a:r>
          </a:p>
        </p:txBody>
      </p:sp>
    </p:spTree>
    <p:extLst>
      <p:ext uri="{BB962C8B-B14F-4D97-AF65-F5344CB8AC3E}">
        <p14:creationId xmlns:p14="http://schemas.microsoft.com/office/powerpoint/2010/main" val="137558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ECA5-16AA-4F16-8111-F48C5648E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E3FD4-C64C-DBE7-A4A4-1A98F50EA0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3A8580-D358-634E-7E91-DD59D7B4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&lt;Navigate&gt;</a:t>
            </a:r>
            <a:r>
              <a:rPr lang="en-US" dirty="0"/>
              <a:t> component is provided by React Router which can be used to programmatically redirect a user</a:t>
            </a:r>
          </a:p>
          <a:p>
            <a:pPr lvl="1"/>
            <a:r>
              <a:rPr lang="en-US" dirty="0"/>
              <a:t>Commonly used to send unauthenticated users to a login page.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dirty="0"/>
              <a:t> prop 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&lt;Navigate&gt;</a:t>
            </a:r>
            <a:r>
              <a:rPr lang="en-US" dirty="0"/>
              <a:t> replaces the entry in the browser’s history, rather than adding a new one</a:t>
            </a:r>
          </a:p>
          <a:p>
            <a:pPr lvl="1"/>
            <a:r>
              <a:rPr lang="en-US" dirty="0"/>
              <a:t>This prevents the user from clicking the browser’s “back” button and landing right back on the protected page they were redirected from.</a:t>
            </a:r>
          </a:p>
          <a:p>
            <a:r>
              <a:rPr lang="en-US" dirty="0"/>
              <a:t>A protected route’s “wrapper” is placed as a </a:t>
            </a:r>
            <a:r>
              <a:rPr lang="en-US" b="1" i="1" dirty="0"/>
              <a:t>parent route</a:t>
            </a:r>
            <a:r>
              <a:rPr lang="en-US" dirty="0"/>
              <a:t> in your route structure.</a:t>
            </a:r>
          </a:p>
          <a:p>
            <a:r>
              <a:rPr lang="en-US" dirty="0"/>
              <a:t>Every route that requires authentication is nested as it’s children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CBC77A-AD4A-BB03-776E-1DC2896E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| Structure</a:t>
            </a:r>
          </a:p>
        </p:txBody>
      </p:sp>
    </p:spTree>
    <p:extLst>
      <p:ext uri="{BB962C8B-B14F-4D97-AF65-F5344CB8AC3E}">
        <p14:creationId xmlns:p14="http://schemas.microsoft.com/office/powerpoint/2010/main" val="353312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C846-7A7C-40A4-BFE5-CFEB3DB5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6763B-D11B-5551-22A0-349E3CA89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253F5-220B-FCAE-79D4-26E2E24D7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In a real app, many different components (a nav bar, a login form, user profile, etc…) all need to “was this user authenticated?”</a:t>
            </a:r>
          </a:p>
          <a:p>
            <a:r>
              <a:rPr lang="en-US" b="1" dirty="0"/>
              <a:t>Prop Drilling</a:t>
            </a:r>
            <a:r>
              <a:rPr lang="en-US" dirty="0"/>
              <a:t>: Passing information down through props (from a top-level component, through all intermediate components) to where it’s needed</a:t>
            </a:r>
          </a:p>
          <a:p>
            <a:pPr lvl="1"/>
            <a:r>
              <a:rPr lang="en-US" dirty="0"/>
              <a:t>This get very messy and makes a growing app difficult to maintain.</a:t>
            </a:r>
          </a:p>
          <a:p>
            <a:r>
              <a:rPr lang="en-US" dirty="0" err="1"/>
              <a:t>React’s</a:t>
            </a:r>
            <a:r>
              <a:rPr lang="en-US" dirty="0"/>
              <a:t> Context API solves this by letting you share a piece of data across many components without manually passing it through props.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DA05C1-2569-A028-AAC8-BBE08593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| Managing State</a:t>
            </a:r>
          </a:p>
        </p:txBody>
      </p:sp>
    </p:spTree>
    <p:extLst>
      <p:ext uri="{BB962C8B-B14F-4D97-AF65-F5344CB8AC3E}">
        <p14:creationId xmlns:p14="http://schemas.microsoft.com/office/powerpoint/2010/main" val="421354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DA3C-4735-FF6B-69AB-1414A6A6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F3B9C-F4CA-7E02-76E9-E7E6BDFA0B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A232F-7056-64D3-E5CA-DD421DBDB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createContext</a:t>
            </a:r>
            <a:r>
              <a:rPr lang="en-US" dirty="0"/>
              <a:t> creates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A shared “channel” that components can read from and write to</a:t>
            </a:r>
          </a:p>
          <a:p>
            <a:r>
              <a:rPr lang="en-US" dirty="0"/>
              <a:t>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en-US" dirty="0"/>
              <a:t> objects have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Provider</a:t>
            </a:r>
            <a:r>
              <a:rPr lang="en-US" dirty="0"/>
              <a:t> a special Component.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Provider</a:t>
            </a:r>
            <a:r>
              <a:rPr lang="en-US" dirty="0"/>
              <a:t> does the following:</a:t>
            </a:r>
          </a:p>
          <a:p>
            <a:pPr lvl="1"/>
            <a:r>
              <a:rPr lang="en-US" dirty="0"/>
              <a:t>Wraps a portion of your component tree </a:t>
            </a:r>
          </a:p>
          <a:p>
            <a:pPr lvl="1"/>
            <a:r>
              <a:rPr lang="en-US" dirty="0"/>
              <a:t>Makes specific values available to every component nested inside</a:t>
            </a:r>
          </a:p>
          <a:p>
            <a:r>
              <a:rPr lang="en-US" dirty="0"/>
              <a:t>When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Provider</a:t>
            </a:r>
            <a:r>
              <a:rPr lang="en-US" dirty="0"/>
              <a:t> is rendered it:</a:t>
            </a:r>
          </a:p>
          <a:p>
            <a:pPr lvl="1"/>
            <a:r>
              <a:rPr lang="en-US" dirty="0"/>
              <a:t>Renders children</a:t>
            </a:r>
          </a:p>
          <a:p>
            <a:pPr lvl="1"/>
            <a:r>
              <a:rPr lang="en-US" dirty="0"/>
              <a:t>Makes the specified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dirty="0"/>
              <a:t>’ available to any descendant component.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useContext</a:t>
            </a:r>
            <a:r>
              <a:rPr lang="en-US" dirty="0"/>
              <a:t> hook lets any component nested inside a Provider read the current value from that context.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1B8C6E-0051-406A-7E0C-31A730B44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| Context API</a:t>
            </a:r>
          </a:p>
        </p:txBody>
      </p:sp>
    </p:spTree>
    <p:extLst>
      <p:ext uri="{BB962C8B-B14F-4D97-AF65-F5344CB8AC3E}">
        <p14:creationId xmlns:p14="http://schemas.microsoft.com/office/powerpoint/2010/main" val="199105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5A47-4625-36A6-CB31-2DD13D93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A1594-5984-91B9-E4FF-2EB68B9F99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DEDB7-E085-592B-EF0D-4D3F5FE83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A common and practical pattern is building a </a:t>
            </a:r>
            <a:r>
              <a:rPr lang="en-US" b="1" i="1" dirty="0"/>
              <a:t>custom hook</a:t>
            </a:r>
            <a:r>
              <a:rPr lang="en-US" dirty="0"/>
              <a:t> that wraps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useContext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Typically, the hook is named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useAuth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”</a:t>
            </a:r>
          </a:p>
          <a:p>
            <a:r>
              <a:rPr lang="en-US" dirty="0"/>
              <a:t>This gives other components a clean, simply way to access auth state and functions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login()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logout()</a:t>
            </a:r>
          </a:p>
          <a:p>
            <a:r>
              <a:rPr lang="en-US" dirty="0"/>
              <a:t>Combining Context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dirty="0"/>
              <a:t> lets you build genuine working authentication systems.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login()</a:t>
            </a:r>
            <a:r>
              <a:rPr lang="en-US" dirty="0"/>
              <a:t> function updates shared state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logout()</a:t>
            </a:r>
            <a:r>
              <a:rPr lang="en-US" dirty="0"/>
              <a:t> function clears the state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33F893-B592-90F4-848C-65714F44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| </a:t>
            </a:r>
            <a:r>
              <a:rPr lang="en-US" dirty="0" err="1"/>
              <a:t>useAuth</a:t>
            </a:r>
            <a:r>
              <a:rPr lang="en-US" dirty="0"/>
              <a:t>() Pattern</a:t>
            </a:r>
          </a:p>
        </p:txBody>
      </p:sp>
    </p:spTree>
    <p:extLst>
      <p:ext uri="{BB962C8B-B14F-4D97-AF65-F5344CB8AC3E}">
        <p14:creationId xmlns:p14="http://schemas.microsoft.com/office/powerpoint/2010/main" val="237203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75A4E-97EF-2A5E-B76E-71A962431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43978A-FF24-853B-955E-EAD9B5BE3D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1825A78-02E2-DAB2-FD9B-521EE9DB0A5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Storing Tokens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FC3E6-D214-C1DF-A6A4-EE83BF0E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8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E5CD-F3D7-52DD-B23E-2B301E41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44190-D1D6-DF36-612D-3E5DA1BCD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2B752-2371-8AF3-9923-A7BC4676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a user logs in, the server typically responds with a token </a:t>
            </a:r>
          </a:p>
          <a:p>
            <a:pPr lvl="1"/>
            <a:r>
              <a:rPr lang="en-US" dirty="0"/>
              <a:t>Token: A piece of data proving “this user is authenticated”</a:t>
            </a:r>
          </a:p>
          <a:p>
            <a:r>
              <a:rPr lang="en-US" dirty="0"/>
              <a:t>There are three common places to store this token client-side:</a:t>
            </a:r>
          </a:p>
          <a:p>
            <a:pPr lvl="1"/>
            <a:r>
              <a:rPr lang="en-US" dirty="0"/>
              <a:t>Cookies</a:t>
            </a:r>
          </a:p>
          <a:p>
            <a:pPr lvl="1"/>
            <a:r>
              <a:rPr lang="en-US" dirty="0" err="1"/>
              <a:t>localStorage</a:t>
            </a:r>
            <a:endParaRPr lang="en-US" dirty="0"/>
          </a:p>
          <a:p>
            <a:pPr lvl="1"/>
            <a:r>
              <a:rPr lang="en-US" dirty="0" err="1"/>
              <a:t>sessionStorage</a:t>
            </a:r>
            <a:endParaRPr lang="en-US" dirty="0"/>
          </a:p>
          <a:p>
            <a:r>
              <a:rPr lang="en-US" dirty="0"/>
              <a:t>Each behaves differently, and the choice has real security implications.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FEBA23-25BA-0FC4-B4E1-1474A400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165335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7F38-B0D5-4EEC-05FD-3E2B81E3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9E7B9-4DA9-C5AA-E3C8-D3CB570F4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6C066C-F63F-AC68-0A7D-6EF7389A9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localStorage</a:t>
            </a:r>
            <a:r>
              <a:rPr lang="en-US" dirty="0"/>
              <a:t> persists data </a:t>
            </a:r>
            <a:r>
              <a:rPr lang="en-US" b="1" i="1" dirty="0"/>
              <a:t>indefinitely</a:t>
            </a:r>
            <a:r>
              <a:rPr lang="en-US" dirty="0"/>
              <a:t>, even after the browser is closed and reopened.</a:t>
            </a:r>
          </a:p>
          <a:p>
            <a:pPr lvl="1"/>
            <a:r>
              <a:rPr lang="en-US" dirty="0"/>
              <a:t>It is only accessible via JavaScript running on that specific site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sessionStorage</a:t>
            </a:r>
            <a:r>
              <a:rPr lang="en-US" dirty="0"/>
              <a:t> behaves like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localStorage</a:t>
            </a:r>
            <a:r>
              <a:rPr lang="en-US" dirty="0"/>
              <a:t>; but, data is cleared automatically as soon as the browser tab is closed.</a:t>
            </a:r>
          </a:p>
          <a:p>
            <a:pPr lvl="1"/>
            <a:r>
              <a:rPr lang="en-US" dirty="0"/>
              <a:t>Useful for data that should only last for the current session.</a:t>
            </a:r>
          </a:p>
          <a:p>
            <a:r>
              <a:rPr lang="en-US" dirty="0"/>
              <a:t>Cookies are small pieces of data automatically sent by the browser with every request to a matching domain.</a:t>
            </a:r>
          </a:p>
          <a:p>
            <a:r>
              <a:rPr lang="en-US" dirty="0"/>
              <a:t>Cookies can be configured with special security flags not available in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localStorage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sessionStorage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04BD00-BE05-F62E-434D-9E17524D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257804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3573D-EC46-A545-5067-EB3E606A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94A2B-5CF5-9539-4318-5450DE2DB8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467D0-197C-0821-F523-9DC7E75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httpOnly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cookies are special cookies which cannot be access by JavaScript at all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Only the browser and server can read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httpOnly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cookies.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This makes it significantly more resistant to a common attack known as XSS (Cross-site Scripting attack).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XSS: malicious JavaScript is injected in a request and tries to steal sensitive data.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Since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localStorage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sessionStorage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are accessible via JavaScript, storing sensitive tokens there means they are vulnerable to malicious scripts which might run on your page.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Typically, you should stick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httpOnly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cookies as the most secure option – however, this requires a sever/backend to set them.</a:t>
            </a:r>
            <a:endParaRPr lang="en-US" dirty="0">
              <a:latin typeface="+mj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B9819E5-5516-1E23-B164-B6E802BB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Tokens</a:t>
            </a:r>
          </a:p>
        </p:txBody>
      </p:sp>
    </p:spTree>
    <p:extLst>
      <p:ext uri="{BB962C8B-B14F-4D97-AF65-F5344CB8AC3E}">
        <p14:creationId xmlns:p14="http://schemas.microsoft.com/office/powerpoint/2010/main" val="11563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11163</TotalTime>
  <Words>1481</Words>
  <Application>Microsoft Office PowerPoint</Application>
  <PresentationFormat>On-screen Show (4:3)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2_Custom Design</vt:lpstr>
      <vt:lpstr>React</vt:lpstr>
      <vt:lpstr>Outline</vt:lpstr>
      <vt:lpstr>PowerPoint Presentation</vt:lpstr>
      <vt:lpstr>Routing</vt:lpstr>
      <vt:lpstr>React Router</vt:lpstr>
      <vt:lpstr>Dynamic / URL parameters</vt:lpstr>
      <vt:lpstr>Link</vt:lpstr>
      <vt:lpstr>Link | Absolute &amp; relative paths</vt:lpstr>
      <vt:lpstr>Route</vt:lpstr>
      <vt:lpstr>Nested Routes</vt:lpstr>
      <vt:lpstr>Nested Routes and Outlet</vt:lpstr>
      <vt:lpstr>PowerPoint Presentation</vt:lpstr>
      <vt:lpstr>Authentication | Structure</vt:lpstr>
      <vt:lpstr>Authentication | Structure</vt:lpstr>
      <vt:lpstr>Authentication | Managing State</vt:lpstr>
      <vt:lpstr>Authentication | Context API</vt:lpstr>
      <vt:lpstr>Authentication | useAuth() Pattern</vt:lpstr>
      <vt:lpstr>PowerPoint Presentation</vt:lpstr>
      <vt:lpstr>Tokens</vt:lpstr>
      <vt:lpstr>Tokens</vt:lpstr>
      <vt:lpstr>Tokens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41</cp:revision>
  <cp:lastPrinted>2016-06-20T20:58:50Z</cp:lastPrinted>
  <dcterms:created xsi:type="dcterms:W3CDTF">2016-11-09T18:19:08Z</dcterms:created>
  <dcterms:modified xsi:type="dcterms:W3CDTF">2026-08-18T21:14:37Z</dcterms:modified>
</cp:coreProperties>
</file>