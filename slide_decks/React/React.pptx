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69"/>
  </p:notesMasterIdLst>
  <p:handoutMasterIdLst>
    <p:handoutMasterId r:id="rId70"/>
  </p:handoutMasterIdLst>
  <p:sldIdLst>
    <p:sldId id="256" r:id="rId2"/>
    <p:sldId id="257" r:id="rId3"/>
    <p:sldId id="357" r:id="rId4"/>
    <p:sldId id="343" r:id="rId5"/>
    <p:sldId id="445" r:id="rId6"/>
    <p:sldId id="443" r:id="rId7"/>
    <p:sldId id="444" r:id="rId8"/>
    <p:sldId id="448" r:id="rId9"/>
    <p:sldId id="449" r:id="rId10"/>
    <p:sldId id="450" r:id="rId11"/>
    <p:sldId id="451" r:id="rId12"/>
    <p:sldId id="452" r:id="rId13"/>
    <p:sldId id="453" r:id="rId14"/>
    <p:sldId id="446" r:id="rId15"/>
    <p:sldId id="447" r:id="rId16"/>
    <p:sldId id="456" r:id="rId17"/>
    <p:sldId id="454" r:id="rId18"/>
    <p:sldId id="455" r:id="rId19"/>
    <p:sldId id="461" r:id="rId20"/>
    <p:sldId id="459" r:id="rId21"/>
    <p:sldId id="465" r:id="rId22"/>
    <p:sldId id="462" r:id="rId23"/>
    <p:sldId id="460" r:id="rId24"/>
    <p:sldId id="463" r:id="rId25"/>
    <p:sldId id="468" r:id="rId26"/>
    <p:sldId id="469" r:id="rId27"/>
    <p:sldId id="502" r:id="rId28"/>
    <p:sldId id="481" r:id="rId29"/>
    <p:sldId id="482" r:id="rId30"/>
    <p:sldId id="501" r:id="rId31"/>
    <p:sldId id="500" r:id="rId32"/>
    <p:sldId id="503" r:id="rId33"/>
    <p:sldId id="504" r:id="rId34"/>
    <p:sldId id="457" r:id="rId35"/>
    <p:sldId id="458" r:id="rId36"/>
    <p:sldId id="472" r:id="rId37"/>
    <p:sldId id="511" r:id="rId38"/>
    <p:sldId id="466" r:id="rId39"/>
    <p:sldId id="467" r:id="rId40"/>
    <p:sldId id="473" r:id="rId41"/>
    <p:sldId id="475" r:id="rId42"/>
    <p:sldId id="476" r:id="rId43"/>
    <p:sldId id="474" r:id="rId44"/>
    <p:sldId id="477" r:id="rId45"/>
    <p:sldId id="478" r:id="rId46"/>
    <p:sldId id="479" r:id="rId47"/>
    <p:sldId id="480" r:id="rId48"/>
    <p:sldId id="512" r:id="rId49"/>
    <p:sldId id="470" r:id="rId50"/>
    <p:sldId id="471" r:id="rId51"/>
    <p:sldId id="485" r:id="rId52"/>
    <p:sldId id="493" r:id="rId53"/>
    <p:sldId id="483" r:id="rId54"/>
    <p:sldId id="484" r:id="rId55"/>
    <p:sldId id="488" r:id="rId56"/>
    <p:sldId id="489" r:id="rId57"/>
    <p:sldId id="490" r:id="rId58"/>
    <p:sldId id="441" r:id="rId59"/>
    <p:sldId id="486" r:id="rId60"/>
    <p:sldId id="499" r:id="rId61"/>
    <p:sldId id="508" r:id="rId62"/>
    <p:sldId id="487" r:id="rId63"/>
    <p:sldId id="496" r:id="rId64"/>
    <p:sldId id="497" r:id="rId65"/>
    <p:sldId id="509" r:id="rId66"/>
    <p:sldId id="510" r:id="rId67"/>
    <p:sldId id="358" r:id="rId6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AC545C"/>
    <a:srgbClr val="B07750"/>
    <a:srgbClr val="474C55"/>
    <a:srgbClr val="669A91"/>
    <a:srgbClr val="9171A7"/>
    <a:srgbClr val="CCCC00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odingarchitect.dev/blog/choosing-the-right-react-variant-with-vite/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Single Page Applications</a:t>
            </a:r>
          </a:p>
          <a:p>
            <a:r>
              <a:rPr lang="en-US" dirty="0"/>
              <a:t>Introduction to React</a:t>
            </a:r>
          </a:p>
          <a:p>
            <a:r>
              <a:rPr lang="en-US" dirty="0"/>
              <a:t>JSX &amp; TSX</a:t>
            </a:r>
          </a:p>
          <a:p>
            <a:r>
              <a:rPr lang="en-US" dirty="0"/>
              <a:t>Component Basics</a:t>
            </a:r>
          </a:p>
          <a:p>
            <a:r>
              <a:rPr lang="en-US" dirty="0"/>
              <a:t>Component Lifecycle</a:t>
            </a:r>
          </a:p>
          <a:p>
            <a:r>
              <a:rPr lang="en-US" dirty="0"/>
              <a:t>TypeScript with React</a:t>
            </a:r>
          </a:p>
          <a:p>
            <a:r>
              <a:rPr lang="en-US" dirty="0"/>
              <a:t>Props &amp; State</a:t>
            </a:r>
          </a:p>
          <a:p>
            <a:r>
              <a:rPr lang="en-US" dirty="0"/>
              <a:t>Intro to Hooks</a:t>
            </a:r>
          </a:p>
          <a:p>
            <a:r>
              <a:rPr lang="en-US" dirty="0"/>
              <a:t>Event Handling</a:t>
            </a:r>
          </a:p>
          <a:p>
            <a:r>
              <a:rPr lang="en-US" dirty="0"/>
              <a:t>Rendering</a:t>
            </a:r>
          </a:p>
          <a:p>
            <a:r>
              <a:rPr lang="en-US" dirty="0"/>
              <a:t>Lists &amp; Keys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 Page Applications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a “traditional” Multi-Page Application (MPA), Clicking a link or submitting a form sends a request to the server.</a:t>
            </a:r>
          </a:p>
          <a:p>
            <a:r>
              <a:rPr lang="en-US" dirty="0"/>
              <a:t>The server then responds with a whole new HTML page.</a:t>
            </a:r>
          </a:p>
          <a:p>
            <a:pPr lvl="1"/>
            <a:r>
              <a:rPr lang="en-US" dirty="0"/>
              <a:t>The browser reloads everything – even parts of the page that didn’t change (like the navigation bar or footer)</a:t>
            </a:r>
          </a:p>
          <a:p>
            <a:r>
              <a:rPr lang="en-US" dirty="0"/>
              <a:t>A </a:t>
            </a:r>
            <a:r>
              <a:rPr lang="en-US" b="1" i="1" dirty="0"/>
              <a:t>Single Page Application</a:t>
            </a:r>
            <a:r>
              <a:rPr lang="en-US" dirty="0"/>
              <a:t> (SPA) is a web app that loads a single HTML page and then updates content dynamically as the user interacts with it.</a:t>
            </a:r>
          </a:p>
          <a:p>
            <a:r>
              <a:rPr lang="en-US" dirty="0"/>
              <a:t>SPAs use client-side rendering, meaning the browser (not the server) is responsible for building and updating the HTML using JavaScript.</a:t>
            </a:r>
          </a:p>
          <a:p>
            <a:r>
              <a:rPr lang="en-US" dirty="0"/>
              <a:t>SPAs use </a:t>
            </a:r>
            <a:r>
              <a:rPr lang="en-US" b="1" dirty="0"/>
              <a:t>client-side </a:t>
            </a:r>
            <a:r>
              <a:rPr lang="en-US" b="1" i="1" dirty="0"/>
              <a:t>routing</a:t>
            </a:r>
            <a:r>
              <a:rPr lang="en-US" dirty="0"/>
              <a:t> to simulate multiple “pages” or views, even though the browser never technically leaves the single HTML page.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MPA vs SPA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03D48-BA36-662F-5CCC-F4620289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4FC4E-6EC0-E4A9-A77F-C2D93BC9AE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0C659-D8DD-9EFB-D4B3-502016913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SPAs typically load once, then communicate with a server using </a:t>
            </a:r>
            <a:r>
              <a:rPr lang="en-US" b="1" dirty="0"/>
              <a:t>API calls</a:t>
            </a:r>
            <a:r>
              <a:rPr lang="en-US" dirty="0"/>
              <a:t> (often via fetch or another tool) to get the data they need.</a:t>
            </a:r>
          </a:p>
          <a:p>
            <a:r>
              <a:rPr lang="en-US" dirty="0"/>
              <a:t>Because only the necessary parts of the page update, SPAs generally feel faster and smoother once the initial page has loaded.</a:t>
            </a:r>
          </a:p>
          <a:p>
            <a:r>
              <a:rPr lang="en-US" dirty="0"/>
              <a:t>Common SPA frameworks/libraries include: React, Angular and Vue.</a:t>
            </a:r>
          </a:p>
          <a:p>
            <a:r>
              <a:rPr lang="en-US" dirty="0"/>
              <a:t>These tools help developers manage dynamic content without manually manipulating the DOM.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6EC32C-7D13-9220-0C41-2AAB9D61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Single-Page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5516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F42D-3E49-202D-5F30-E0D1C9CFD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6B1626-ABCA-85F6-A05B-5942009F82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B18D50F-F09B-DF85-F942-C64F32DFAE9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React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ED304D-B09F-6073-0243-24AE859C3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1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7763B-1B48-9382-4EA4-0DE26855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55A3A-2ECC-51A0-77F5-D74A6EEDCC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568AA8-A12B-F2B5-C783-E822D3CD0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b="1" i="1" dirty="0"/>
              <a:t>React</a:t>
            </a:r>
            <a:r>
              <a:rPr lang="en-US" dirty="0"/>
              <a:t> is a JavaScript library (not a full framework) developed by Meta.</a:t>
            </a:r>
          </a:p>
          <a:p>
            <a:r>
              <a:rPr lang="en-US" dirty="0"/>
              <a:t>React is used to build user interfaces, particularly interactive and dynamic web applications.</a:t>
            </a:r>
          </a:p>
          <a:p>
            <a:r>
              <a:rPr lang="en-US" dirty="0"/>
              <a:t>It can be used to build anything from small interactive widgets embedded in a page, to full-scale SPAs.</a:t>
            </a:r>
          </a:p>
          <a:p>
            <a:r>
              <a:rPr lang="en-US" dirty="0"/>
              <a:t>React is built around the idea of </a:t>
            </a:r>
            <a:r>
              <a:rPr lang="en-US" b="1" i="1" dirty="0"/>
              <a:t>components</a:t>
            </a:r>
            <a:r>
              <a:rPr lang="en-US" dirty="0"/>
              <a:t> – small, reusable and self-contained pieces of UI that you can combine to build a full application.</a:t>
            </a:r>
          </a:p>
          <a:p>
            <a:r>
              <a:rPr lang="en-US" dirty="0"/>
              <a:t>React uses a </a:t>
            </a:r>
            <a:r>
              <a:rPr lang="en-US" b="1" i="1" dirty="0"/>
              <a:t>declarative </a:t>
            </a:r>
            <a:r>
              <a:rPr lang="en-US" dirty="0"/>
              <a:t>style of programming.</a:t>
            </a:r>
          </a:p>
          <a:p>
            <a:pPr lvl="1"/>
            <a:r>
              <a:rPr lang="en-US" dirty="0"/>
              <a:t>Instead of writing step-by-step instructions for </a:t>
            </a:r>
            <a:r>
              <a:rPr lang="en-US" i="1" dirty="0"/>
              <a:t>how</a:t>
            </a:r>
            <a:r>
              <a:rPr lang="en-US" dirty="0"/>
              <a:t> to update the page (imperative style) you describe </a:t>
            </a:r>
            <a:r>
              <a:rPr lang="en-US" i="1" dirty="0"/>
              <a:t>what</a:t>
            </a:r>
            <a:r>
              <a:rPr lang="en-US" dirty="0"/>
              <a:t> the UI should look like for a given state and React figures out how to make that happen.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AC5CD4-2D70-A525-959A-1A84A4A6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251504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1BE21-A352-A16E-718E-279A1BF6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16A38-21BF-5740-3F01-5E2C577379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F02DD7-A758-5EE6-B269-A530C1ED8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React maintains a </a:t>
            </a:r>
            <a:r>
              <a:rPr lang="en-US" b="1" i="1" dirty="0"/>
              <a:t>Virtual DOM</a:t>
            </a:r>
            <a:r>
              <a:rPr lang="en-US" dirty="0"/>
              <a:t> – A lightweight, in-memory representation of the actual page.</a:t>
            </a:r>
          </a:p>
          <a:p>
            <a:r>
              <a:rPr lang="en-US" dirty="0"/>
              <a:t>When data changes React does the following: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Updates the Virtual DOM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Performs </a:t>
            </a:r>
            <a:r>
              <a:rPr lang="en-US" b="1" i="1" dirty="0"/>
              <a:t>Reconciliation</a:t>
            </a:r>
            <a:r>
              <a:rPr lang="en-US" dirty="0"/>
              <a:t>: compares the updated virtual DOM to the previous version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Updates only the parts of the real DOM that actually changed</a:t>
            </a:r>
          </a:p>
          <a:p>
            <a:r>
              <a:rPr lang="en-US" dirty="0"/>
              <a:t>This approach makes updates fast and efficient, single directly manipulating the real DOM is comparatively slow.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63565E-9856-E410-5228-5DBDC7EE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DOM</a:t>
            </a:r>
          </a:p>
        </p:txBody>
      </p:sp>
    </p:spTree>
    <p:extLst>
      <p:ext uri="{BB962C8B-B14F-4D97-AF65-F5344CB8AC3E}">
        <p14:creationId xmlns:p14="http://schemas.microsoft.com/office/powerpoint/2010/main" val="250657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BDAD7-4C86-17E4-3FB5-AA9899A4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18AD3-9884-5E9B-F9C5-DE6103A7C8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39DB8-93A6-0F5D-5F73-9E39F49E6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React is often used alongside a broader </a:t>
            </a:r>
            <a:r>
              <a:rPr lang="en-US" b="1" i="1" dirty="0"/>
              <a:t>ecosystem</a:t>
            </a:r>
            <a:r>
              <a:rPr lang="en-US" dirty="0"/>
              <a:t> of tools and libraries including:</a:t>
            </a:r>
          </a:p>
          <a:p>
            <a:pPr lvl="1"/>
            <a:r>
              <a:rPr lang="en-US" dirty="0"/>
              <a:t>React Router</a:t>
            </a:r>
          </a:p>
          <a:p>
            <a:pPr lvl="1"/>
            <a:r>
              <a:rPr lang="en-US" dirty="0"/>
              <a:t>State Management tools such as the built-in Context API or external libraries like Redux</a:t>
            </a:r>
          </a:p>
          <a:p>
            <a:pPr lvl="1"/>
            <a:r>
              <a:rPr lang="en-US" dirty="0"/>
              <a:t>Build tools that handle project setup like Vite* or Create React App</a:t>
            </a:r>
          </a:p>
          <a:p>
            <a:r>
              <a:rPr lang="en-US" dirty="0"/>
              <a:t>TypeScript for adding type safety.</a:t>
            </a:r>
          </a:p>
          <a:p>
            <a:pPr lvl="1"/>
            <a:r>
              <a:rPr lang="en-US" dirty="0"/>
              <a:t>Note: Since React is a JavaScript library, we don’t need TypeScript to use it; however, TypeScript is commonly used for the additional type safety benefits and other typescript features and datatypes.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A36035-4D1B-6456-93CD-8F7072537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DOM</a:t>
            </a:r>
          </a:p>
        </p:txBody>
      </p:sp>
    </p:spTree>
    <p:extLst>
      <p:ext uri="{BB962C8B-B14F-4D97-AF65-F5344CB8AC3E}">
        <p14:creationId xmlns:p14="http://schemas.microsoft.com/office/powerpoint/2010/main" val="218433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A390-67AB-A6D9-4CA6-C343776E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AFD54-5D7D-9910-B313-D00107F9B1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9767C-E916-ED5A-5FD6-1BF73037E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Before writing any React code, you will need Node.js and </a:t>
            </a:r>
            <a:r>
              <a:rPr lang="en-US" dirty="0" err="1"/>
              <a:t>npm</a:t>
            </a:r>
            <a:r>
              <a:rPr lang="en-US" dirty="0"/>
              <a:t> installed – React projects rely on a JavaScript runtime and package ecosystem outside of the browser.</a:t>
            </a:r>
          </a:p>
          <a:p>
            <a:r>
              <a:rPr lang="en-US" dirty="0"/>
              <a:t>The recommended way to start a new React project is using a built tool – such as Vite.</a:t>
            </a:r>
          </a:p>
          <a:p>
            <a:pPr lvl="1"/>
            <a:r>
              <a:rPr lang="en-US" dirty="0"/>
              <a:t>Note: Older tutorials often reference Create React App (CRA), but it is deprecated and generally not considered the best starting point for new projects</a:t>
            </a:r>
          </a:p>
          <a:p>
            <a:r>
              <a:rPr lang="en-US" dirty="0"/>
              <a:t>The start a new project, you can run the command: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create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vite@latest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&lt;your-app-name&gt;</a:t>
            </a:r>
          </a:p>
          <a:p>
            <a:pPr lvl="1"/>
            <a:r>
              <a:rPr lang="en-US" dirty="0"/>
              <a:t>i.e.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create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vite@latest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my-react-app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64E801-26AB-80DB-7E57-974807E3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Setup</a:t>
            </a:r>
          </a:p>
        </p:txBody>
      </p:sp>
    </p:spTree>
    <p:extLst>
      <p:ext uri="{BB962C8B-B14F-4D97-AF65-F5344CB8AC3E}">
        <p14:creationId xmlns:p14="http://schemas.microsoft.com/office/powerpoint/2010/main" val="52282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0A1D9-DFE5-CDCD-B4C8-A87EAA6F2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555FB-5360-EA8E-56F7-34E8BB3BEF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A2D53-7E8C-CE79-4AD6-31BB6C38A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running the setup command, Vite will prompt you for two separate choices – its important to understand these:</a:t>
            </a:r>
          </a:p>
          <a:p>
            <a:pPr lvl="1"/>
            <a:r>
              <a:rPr lang="en-US" b="1" dirty="0"/>
              <a:t>Framework</a:t>
            </a:r>
            <a:r>
              <a:rPr lang="en-US" dirty="0"/>
              <a:t> (React, Vue, Svelte, Vanilla, etc…): This determines which library your entire project is built around, including it’s file structure, syntax and dependencies (You should select React for this training)</a:t>
            </a:r>
          </a:p>
          <a:p>
            <a:pPr lvl="1"/>
            <a:r>
              <a:rPr lang="en-US" b="1" dirty="0"/>
              <a:t>Variant</a:t>
            </a:r>
            <a:r>
              <a:rPr lang="en-US" dirty="0"/>
              <a:t> (JavaScript, TypeScript, JavaScript + React, etc…): This old affects the starter files and tooling </a:t>
            </a:r>
            <a:r>
              <a:rPr lang="en-US" i="1" dirty="0"/>
              <a:t>within</a:t>
            </a:r>
            <a:r>
              <a:rPr lang="en-US" dirty="0"/>
              <a:t> your react project.</a:t>
            </a:r>
          </a:p>
          <a:p>
            <a:pPr lvl="1"/>
            <a:r>
              <a:rPr lang="en-US" dirty="0"/>
              <a:t>Selecting JavaScript gives you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jsx</a:t>
            </a:r>
            <a:r>
              <a:rPr lang="en-US" dirty="0"/>
              <a:t> file configurations, selecting TypeScript gives you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tsx</a:t>
            </a:r>
            <a:r>
              <a:rPr lang="en-US" dirty="0"/>
              <a:t> file configurations</a:t>
            </a:r>
          </a:p>
          <a:p>
            <a:r>
              <a:rPr lang="en-US" dirty="0"/>
              <a:t>See this link for information about all variants: </a:t>
            </a:r>
            <a:r>
              <a:rPr lang="en-US" dirty="0">
                <a:hlinkClick r:id="rId2"/>
              </a:rPr>
              <a:t>Choosing the Right React Variant with Vite - Coding Architect Dev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6659C0-F303-7B22-09AB-CC9DE709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Setup</a:t>
            </a:r>
          </a:p>
        </p:txBody>
      </p:sp>
    </p:spTree>
    <p:extLst>
      <p:ext uri="{BB962C8B-B14F-4D97-AF65-F5344CB8AC3E}">
        <p14:creationId xmlns:p14="http://schemas.microsoft.com/office/powerpoint/2010/main" val="34717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EB2A2-39C3-133E-70FD-4A92966A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F3F8A-0EFB-7D0E-E0DA-019DB5DE9E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2E9DF-CA6F-0FC5-7A5B-253DCA8D5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Once installed, navigate your terminal to the newly created directory, then run your local development server using the following command: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run dev</a:t>
            </a:r>
          </a:p>
          <a:p>
            <a:pPr lvl="1"/>
            <a:r>
              <a:rPr lang="en-US" dirty="0"/>
              <a:t>Note: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run dev</a:t>
            </a:r>
            <a:r>
              <a:rPr lang="en-US" dirty="0"/>
              <a:t>’ is used to run your app in a development environment, which provides faster reloading and development tools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start</a:t>
            </a:r>
            <a:r>
              <a:rPr lang="en-US" dirty="0"/>
              <a:t> is used to run your app in a production environment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run test</a:t>
            </a:r>
            <a:r>
              <a:rPr lang="en-US" dirty="0"/>
              <a:t> is used to run your app’s test suite</a:t>
            </a:r>
          </a:p>
          <a:p>
            <a:pPr lvl="1"/>
            <a:r>
              <a:rPr lang="en-US" dirty="0"/>
              <a:t>Press CTRL+C to stop your app running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184E81-B107-2600-FB90-A0B8748D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Setup</a:t>
            </a:r>
          </a:p>
        </p:txBody>
      </p:sp>
    </p:spTree>
    <p:extLst>
      <p:ext uri="{BB962C8B-B14F-4D97-AF65-F5344CB8AC3E}">
        <p14:creationId xmlns:p14="http://schemas.microsoft.com/office/powerpoint/2010/main" val="318790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D3A5-5900-16B0-88F8-455ED700B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20339-839F-733E-4458-E9136B083D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023DAC-D01E-EDA5-464D-A642A03B5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your app has started, you can view changes almost instantly due to a feature known as Hot Module Replacement (HMR).</a:t>
            </a:r>
          </a:p>
          <a:p>
            <a:r>
              <a:rPr lang="en-US" dirty="0"/>
              <a:t>A freshly scaffolded react project has a predictable folder and file structure: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 – Where the actual application code lives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public/</a:t>
            </a:r>
            <a:r>
              <a:rPr lang="en-US" dirty="0"/>
              <a:t> – static assets that don’t need to be processed by the build tool (ex: images/icons)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package.json</a:t>
            </a:r>
            <a:r>
              <a:rPr lang="en-US" dirty="0"/>
              <a:t> – lists your project’s dependencies and defines useful scripts (like dev, build)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index.html</a:t>
            </a:r>
            <a:r>
              <a:rPr lang="en-US" dirty="0"/>
              <a:t> – The single HTML page your entire SPA is loaded into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node_modules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 - where all installed packages live (never edited directly and never manually shared/committed)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E41434-F72E-9397-3A3B-ED4F4384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Setup</a:t>
            </a:r>
          </a:p>
        </p:txBody>
      </p:sp>
    </p:spTree>
    <p:extLst>
      <p:ext uri="{BB962C8B-B14F-4D97-AF65-F5344CB8AC3E}">
        <p14:creationId xmlns:p14="http://schemas.microsoft.com/office/powerpoint/2010/main" val="84891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B810-DB90-7C73-1D01-614E791CA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DF38B0-FEB8-D79D-4100-4152AC07D65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BEF6588-08DF-2594-92C5-30889C112F9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JSX &amp; TSX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7310F3-2130-E81B-4F55-B461C808E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58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10632-966D-9ECE-1348-AFA1B8C3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145F0-476F-8024-D5CB-6D48077B28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C2746-6F93-1A9C-2E35-C6717340E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JSX stands for JavaScript XML</a:t>
            </a:r>
          </a:p>
          <a:p>
            <a:r>
              <a:rPr lang="en-US" dirty="0"/>
              <a:t>It is a syntax extension that lets you write HTML-like markup directly inside your JavaScript code</a:t>
            </a:r>
          </a:p>
          <a:p>
            <a:r>
              <a:rPr lang="en-US" dirty="0"/>
              <a:t>JSX is </a:t>
            </a:r>
            <a:r>
              <a:rPr lang="en-US" b="1" i="1" dirty="0"/>
              <a:t>not valid JavaScript</a:t>
            </a:r>
            <a:r>
              <a:rPr lang="en-US" dirty="0"/>
              <a:t> on its own.</a:t>
            </a:r>
          </a:p>
          <a:p>
            <a:r>
              <a:rPr lang="en-US" dirty="0"/>
              <a:t>Build tools like Vite use a compiler to transform JSX into regular JavaScript function calls behind the scenes before it reaches the browser.</a:t>
            </a:r>
          </a:p>
          <a:p>
            <a:r>
              <a:rPr lang="en-US" dirty="0"/>
              <a:t>TSX is simply JSX written inside a TypeScript file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tsx</a:t>
            </a:r>
            <a:r>
              <a:rPr lang="en-US" dirty="0"/>
              <a:t> extension instead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jsx</a:t>
            </a:r>
            <a:r>
              <a:rPr lang="en-US" dirty="0"/>
              <a:t>)</a:t>
            </a:r>
          </a:p>
          <a:p>
            <a:r>
              <a:rPr lang="en-US" dirty="0"/>
              <a:t>The markup for TSX is identical to JSX – TSX just means the file also supports TypeScript’s type annotations in addition to JSX markup.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5F4B98-9E92-69E4-7C69-F970DCC78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JSX &amp; TSX</a:t>
            </a:r>
          </a:p>
        </p:txBody>
      </p:sp>
    </p:spTree>
    <p:extLst>
      <p:ext uri="{BB962C8B-B14F-4D97-AF65-F5344CB8AC3E}">
        <p14:creationId xmlns:p14="http://schemas.microsoft.com/office/powerpoint/2010/main" val="341620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BEA30-17E8-5F9A-EC32-F5FDA3D83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028002-6E9B-4581-4A45-AD9EEE2B60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F48B89-DEEE-15F0-C22C-A29109C17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Every JSX element must have exactly one root/parent element</a:t>
            </a:r>
          </a:p>
          <a:p>
            <a:r>
              <a:rPr lang="en-US" dirty="0"/>
              <a:t>If you need to return multiple sibling elements, wrap them in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&lt;div&gt;</a:t>
            </a:r>
            <a:r>
              <a:rPr lang="en-US" dirty="0"/>
              <a:t> or a Fragment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&lt;&gt;…&lt;/&gt;</a:t>
            </a:r>
            <a:r>
              <a:rPr lang="en-US" dirty="0"/>
              <a:t>)</a:t>
            </a:r>
          </a:p>
          <a:p>
            <a:r>
              <a:rPr lang="en-US" dirty="0"/>
              <a:t>You can embed and valid JavaScript expression inside JSX using curly braces</a:t>
            </a:r>
          </a:p>
          <a:p>
            <a:r>
              <a:rPr lang="en-US" dirty="0"/>
              <a:t>JSX uses camelCase for most HTML attributes that have multiple words (e.g.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/>
              <a:t> instead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dirty="0"/>
              <a:t> vs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Note: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US" dirty="0"/>
              <a:t> is used because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is a reserved word in JavaScript</a:t>
            </a:r>
          </a:p>
          <a:p>
            <a:r>
              <a:rPr lang="en-US" dirty="0"/>
              <a:t>Self-closing tags (like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) </a:t>
            </a:r>
            <a:r>
              <a:rPr lang="en-US" b="1" i="1" dirty="0"/>
              <a:t>must</a:t>
            </a:r>
            <a:r>
              <a:rPr lang="en-US" dirty="0"/>
              <a:t> include the closing slash in JSX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  <a:r>
              <a:rPr lang="en-US" dirty="0"/>
              <a:t> |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  <a:r>
              <a:rPr lang="en-US" dirty="0"/>
              <a:t>) unlike regular HTML.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E6943F-78CA-46DD-A94C-3195290F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JSX Syntax</a:t>
            </a:r>
          </a:p>
        </p:txBody>
      </p:sp>
    </p:spTree>
    <p:extLst>
      <p:ext uri="{BB962C8B-B14F-4D97-AF65-F5344CB8AC3E}">
        <p14:creationId xmlns:p14="http://schemas.microsoft.com/office/powerpoint/2010/main" val="222331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0536-0A74-F17C-15AD-E44ED1CAE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28A655-4B13-6A1A-7F83-A82A6324E3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14BD029-A0AA-F627-B31A-8E1FC55B5A7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Component Basics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2872DD-954D-C81F-3723-6EF0E700E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5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300B9-769A-D49C-29B8-F042E146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B4806-602B-D092-32F3-DBC3BB7691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D1A1F-AA3C-4E7D-8CD1-F43914B6F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307045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component is a reusable, self-contained building block of a React UI</a:t>
            </a:r>
          </a:p>
          <a:p>
            <a:pPr lvl="1"/>
            <a:r>
              <a:rPr lang="en-US" dirty="0"/>
              <a:t>Typically, Components are written as a JavaScript function that returns JSX describing what should appear on the screen.</a:t>
            </a:r>
          </a:p>
          <a:p>
            <a:r>
              <a:rPr lang="en-US" dirty="0"/>
              <a:t>Component function names must start with a Capital letter (e.g. ‘Header’, not ‘header’).</a:t>
            </a:r>
          </a:p>
          <a:p>
            <a:pPr lvl="1"/>
            <a:r>
              <a:rPr lang="en-US" dirty="0"/>
              <a:t>Note: This is </a:t>
            </a:r>
            <a:r>
              <a:rPr lang="en-US" b="1" i="1" dirty="0"/>
              <a:t>not just a style convention</a:t>
            </a:r>
            <a:r>
              <a:rPr lang="en-US" dirty="0"/>
              <a:t> – React uses capitalization to distinguish your custom components from regular HTML elements in JSX.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5584E8-4B2F-7742-EA67-DDFA5722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2" name="Google Shape;219;p16">
            <a:extLst>
              <a:ext uri="{FF2B5EF4-FFF2-40B4-BE49-F238E27FC236}">
                <a16:creationId xmlns:a16="http://schemas.microsoft.com/office/drawing/2014/main" id="{73D7BD8F-E66F-83F7-CDA0-A65E1199B23E}"/>
              </a:ext>
            </a:extLst>
          </p:cNvPr>
          <p:cNvSpPr txBox="1">
            <a:spLocks/>
          </p:cNvSpPr>
          <p:nvPr/>
        </p:nvSpPr>
        <p:spPr>
          <a:xfrm>
            <a:off x="2363875" y="4551903"/>
            <a:ext cx="4416250" cy="20563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lnSpc>
                <a:spcPct val="90000"/>
              </a:lnSpc>
              <a:spcBef>
                <a:spcPts val="360"/>
              </a:spcBef>
              <a:buSzPts val="1800"/>
              <a:buNone/>
            </a:pPr>
            <a:r>
              <a:rPr lang="en-US" sz="1400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dirty="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Header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b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</a:p>
          <a:p>
            <a:pPr marL="0" lvl="0" indent="0">
              <a:lnSpc>
                <a:spcPct val="90000"/>
              </a:lnSpc>
              <a:spcBef>
                <a:spcPts val="360"/>
              </a:spcBef>
              <a:buSzPts val="1800"/>
              <a:buNone/>
            </a:pP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</a:t>
            </a:r>
            <a:r>
              <a:rPr lang="en-US" sz="1400" b="1" dirty="0">
                <a:solidFill>
                  <a:srgbClr val="AC545C"/>
                </a:solidFill>
                <a:latin typeface="Courier New"/>
                <a:ea typeface="Courier New"/>
                <a:cs typeface="Courier New"/>
                <a:sym typeface="Courier New"/>
              </a:rPr>
              <a:t>header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lvl="0" indent="0">
              <a:lnSpc>
                <a:spcPct val="90000"/>
              </a:lnSpc>
              <a:spcBef>
                <a:spcPts val="360"/>
              </a:spcBef>
              <a:buSzPts val="1800"/>
              <a:buNone/>
            </a:pP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</a:t>
            </a:r>
            <a:r>
              <a:rPr lang="en-US" sz="1400" b="1" dirty="0">
                <a:solidFill>
                  <a:srgbClr val="AC545C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&gt; My App Header &lt;/</a:t>
            </a:r>
            <a:r>
              <a:rPr lang="en-US" sz="1400" b="1" dirty="0">
                <a:solidFill>
                  <a:srgbClr val="AC545C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lvl="0" indent="0">
              <a:lnSpc>
                <a:spcPct val="90000"/>
              </a:lnSpc>
              <a:spcBef>
                <a:spcPts val="360"/>
              </a:spcBef>
              <a:buSzPts val="1800"/>
              <a:buNone/>
            </a:pP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&lt;/</a:t>
            </a:r>
            <a:r>
              <a:rPr lang="en-US" sz="1400" b="1" dirty="0">
                <a:solidFill>
                  <a:srgbClr val="AC545C"/>
                </a:solidFill>
                <a:latin typeface="Courier New"/>
                <a:ea typeface="Courier New"/>
                <a:cs typeface="Courier New"/>
                <a:sym typeface="Courier New"/>
              </a:rPr>
              <a:t>header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lvl="0" indent="0">
              <a:lnSpc>
                <a:spcPct val="90000"/>
              </a:lnSpc>
              <a:spcBef>
                <a:spcPts val="360"/>
              </a:spcBef>
              <a:buSzPts val="1800"/>
              <a:buNone/>
            </a:pP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    );</a:t>
            </a:r>
            <a:b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marL="0" lvl="0" indent="0">
              <a:lnSpc>
                <a:spcPct val="90000"/>
              </a:lnSpc>
              <a:spcBef>
                <a:spcPts val="360"/>
              </a:spcBef>
              <a:buSzPts val="1800"/>
              <a:buNone/>
            </a:pPr>
            <a:r>
              <a:rPr lang="en-US" sz="1400" b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export default</a:t>
            </a:r>
            <a:r>
              <a:rPr lang="en-US" sz="1400" dirty="0">
                <a:solidFill>
                  <a:srgbClr val="474C55"/>
                </a:solidFill>
                <a:latin typeface="Courier New"/>
                <a:cs typeface="Courier New"/>
                <a:sym typeface="Courier New"/>
              </a:rPr>
              <a:t> Header;</a:t>
            </a:r>
            <a:endParaRPr lang="en-US" sz="2000" dirty="0">
              <a:solidFill>
                <a:srgbClr val="474C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BDDC2-6334-B9E6-4824-A096B789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593C7-EA72-230D-AEB7-D38D2B38C3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B963EA-9A8F-2767-83C7-BB7BA452F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JavaScript </a:t>
            </a:r>
            <a:r>
              <a:rPr lang="en-US" b="1" i="1" dirty="0"/>
              <a:t>modules</a:t>
            </a:r>
            <a:r>
              <a:rPr lang="en-US" dirty="0"/>
              <a:t> let your split code across multiple files and share functionality using the keywords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</a:t>
            </a:r>
            <a:r>
              <a:rPr lang="en-US" dirty="0"/>
              <a:t> (make something available)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/>
              <a:t> (bring something into another file)</a:t>
            </a:r>
          </a:p>
          <a:p>
            <a:r>
              <a:rPr lang="en-US" dirty="0"/>
              <a:t>You can export the following: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Variables (typically declared with ‘const’)</a:t>
            </a:r>
          </a:p>
          <a:p>
            <a:pPr lvl="1"/>
            <a:r>
              <a:rPr lang="en-US" dirty="0"/>
              <a:t>Classes</a:t>
            </a:r>
          </a:p>
          <a:p>
            <a:pPr lvl="1"/>
            <a:r>
              <a:rPr lang="en-US" dirty="0"/>
              <a:t>Objects</a:t>
            </a:r>
          </a:p>
          <a:p>
            <a:pPr lvl="1"/>
            <a:r>
              <a:rPr lang="en-US" dirty="0"/>
              <a:t>Expressions (can only be exported as a default export – quite uncommon)</a:t>
            </a:r>
          </a:p>
          <a:p>
            <a:r>
              <a:rPr lang="en-US" dirty="0"/>
              <a:t>There are two ways to export an entity:</a:t>
            </a:r>
          </a:p>
          <a:p>
            <a:pPr lvl="1"/>
            <a:r>
              <a:rPr lang="en-US" dirty="0"/>
              <a:t>A named export</a:t>
            </a:r>
          </a:p>
          <a:p>
            <a:pPr lvl="1"/>
            <a:r>
              <a:rPr lang="en-US" dirty="0"/>
              <a:t>A default export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37BF4C-D6F7-B46F-1AF2-106AB714C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Exports &amp; Imports</a:t>
            </a:r>
          </a:p>
        </p:txBody>
      </p:sp>
    </p:spTree>
    <p:extLst>
      <p:ext uri="{BB962C8B-B14F-4D97-AF65-F5344CB8AC3E}">
        <p14:creationId xmlns:p14="http://schemas.microsoft.com/office/powerpoint/2010/main" val="252552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F3C4-9791-F808-E28B-BE93F290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B4255-F541-3E88-90ED-DBB14D743A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3F098-0116-1C5B-F004-A6BB7B3BE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A named export uses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</a:t>
            </a:r>
            <a:r>
              <a:rPr lang="en-US" dirty="0"/>
              <a:t> keyword in front of a declaration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{}</a:t>
            </a:r>
            <a:endParaRPr lang="en-US" dirty="0"/>
          </a:p>
          <a:p>
            <a:r>
              <a:rPr lang="en-US" dirty="0"/>
              <a:t>Named exports can be used to export multiple entities from a file.</a:t>
            </a:r>
          </a:p>
          <a:p>
            <a:r>
              <a:rPr lang="en-US" dirty="0"/>
              <a:t>You can consolidate named exports using the following syntax: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{ customFunc1, customClass1, etc… }</a:t>
            </a:r>
          </a:p>
          <a:p>
            <a:r>
              <a:rPr lang="en-US" dirty="0"/>
              <a:t>When consolidating named exports, you can also use the ‘as’ keyword to give the export a new alias to reference in imports.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customFunctionName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Alias 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7D4665-AC7B-F164-34FF-32B559E1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Exports</a:t>
            </a:r>
          </a:p>
        </p:txBody>
      </p:sp>
    </p:spTree>
    <p:extLst>
      <p:ext uri="{BB962C8B-B14F-4D97-AF65-F5344CB8AC3E}">
        <p14:creationId xmlns:p14="http://schemas.microsoft.com/office/powerpoint/2010/main" val="583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F2D0B-50F9-C363-06C0-AF379111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51AD6-EC2D-31E2-6833-8E8D2E5287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05208A-161E-DC7B-99C4-29FA973DF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importing a named export, you must use the </a:t>
            </a:r>
            <a:r>
              <a:rPr lang="en-US" b="1" i="1" dirty="0"/>
              <a:t>exact same name of the entity</a:t>
            </a:r>
            <a:r>
              <a:rPr lang="en-US" dirty="0"/>
              <a:t>, wrapped in curly braces: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} from ‘./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  <a:p>
            <a:r>
              <a:rPr lang="en-US" dirty="0"/>
              <a:t>If the named export was given an alias (using the ‘as’ keyword), you must reference the alias name instead: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myFunc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alias };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alias } from ‘./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You can also use an alias in the import statement for named exports.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namedExport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NE } from ‘path’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7CE3EF-7C83-355B-31FB-2E6ABBDC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Imports</a:t>
            </a:r>
          </a:p>
        </p:txBody>
      </p:sp>
    </p:spTree>
    <p:extLst>
      <p:ext uri="{BB962C8B-B14F-4D97-AF65-F5344CB8AC3E}">
        <p14:creationId xmlns:p14="http://schemas.microsoft.com/office/powerpoint/2010/main" val="354489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113A-26C8-613F-72C4-017F9F09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40A39-2A12-F8AA-361E-16E0D27D48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B8A09-EB60-6977-4CDA-AEBB8B995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218620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default export uses the keywords export default to mark a single entity in your file.</a:t>
            </a:r>
          </a:p>
          <a:p>
            <a:r>
              <a:rPr lang="en-US" dirty="0"/>
              <a:t>Each file can only have a single default export</a:t>
            </a:r>
          </a:p>
          <a:p>
            <a:pPr lvl="1"/>
            <a:r>
              <a:rPr lang="en-US" dirty="0"/>
              <a:t>Syntax: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export default &lt;Entity-Name&gt;</a:t>
            </a:r>
          </a:p>
          <a:p>
            <a:r>
              <a:rPr lang="en-US" dirty="0"/>
              <a:t>You </a:t>
            </a:r>
            <a:r>
              <a:rPr lang="en-US" b="1" i="1" dirty="0"/>
              <a:t>can</a:t>
            </a:r>
            <a:r>
              <a:rPr lang="en-US" dirty="0"/>
              <a:t> have a default export and multiple named exports in a file.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901E99-194E-648E-C96B-D1A6C27A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Exports</a:t>
            </a:r>
          </a:p>
        </p:txBody>
      </p:sp>
      <p:sp>
        <p:nvSpPr>
          <p:cNvPr id="3" name="Google Shape;219;p16">
            <a:extLst>
              <a:ext uri="{FF2B5EF4-FFF2-40B4-BE49-F238E27FC236}">
                <a16:creationId xmlns:a16="http://schemas.microsoft.com/office/drawing/2014/main" id="{28FAA5E0-E896-E857-A7F8-DAAA132B0FC6}"/>
              </a:ext>
            </a:extLst>
          </p:cNvPr>
          <p:cNvSpPr txBox="1">
            <a:spLocks/>
          </p:cNvSpPr>
          <p:nvPr/>
        </p:nvSpPr>
        <p:spPr>
          <a:xfrm>
            <a:off x="269790" y="3667649"/>
            <a:ext cx="8494199" cy="152355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lnSpc>
                <a:spcPct val="90000"/>
              </a:lnSpc>
              <a:spcBef>
                <a:spcPts val="360"/>
              </a:spcBef>
              <a:buSzPts val="1800"/>
              <a:buNone/>
            </a:pPr>
            <a:r>
              <a:rPr lang="en-US" sz="1400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</a:t>
            </a:r>
            <a:r>
              <a:rPr lang="en-US" sz="140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CARD_MAX_WIDTH = </a:t>
            </a:r>
            <a:r>
              <a:rPr lang="en-US" sz="1400" dirty="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400</a:t>
            </a:r>
            <a:r>
              <a:rPr lang="en-US" sz="140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  <a:p>
            <a:pPr marL="0" lvl="0" indent="0">
              <a:lnSpc>
                <a:spcPct val="90000"/>
              </a:lnSpc>
              <a:spcBef>
                <a:spcPts val="360"/>
              </a:spcBef>
              <a:buSzPts val="1800"/>
              <a:buNone/>
            </a:pPr>
            <a:r>
              <a:rPr lang="en-US" sz="1400" dirty="0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// This Component expects a string value for title when used in another file</a:t>
            </a:r>
          </a:p>
          <a:p>
            <a:pPr marL="0" lvl="0" indent="0">
              <a:lnSpc>
                <a:spcPct val="90000"/>
              </a:lnSpc>
              <a:spcBef>
                <a:spcPts val="360"/>
              </a:spcBef>
              <a:buSzPts val="1800"/>
              <a:buNone/>
            </a:pPr>
            <a:r>
              <a:rPr lang="en-US" sz="1400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dirty="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Card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( {</a:t>
            </a:r>
            <a:r>
              <a:rPr lang="en-US" sz="1400" b="1" dirty="0">
                <a:solidFill>
                  <a:srgbClr val="B07750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} ) {</a:t>
            </a:r>
            <a:b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400" b="1" dirty="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400" b="1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 b="1" dirty="0">
                <a:solidFill>
                  <a:srgbClr val="AC545C"/>
                </a:solidFill>
                <a:latin typeface="Courier New"/>
                <a:ea typeface="Courier New"/>
                <a:cs typeface="Courier New"/>
                <a:sym typeface="Courier New"/>
              </a:rPr>
              <a:t>div style</a:t>
            </a:r>
            <a:r>
              <a:rPr lang="en-US" sz="140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={{ </a:t>
            </a:r>
            <a:r>
              <a:rPr lang="en-US" sz="1400" b="1" dirty="0" err="1">
                <a:solidFill>
                  <a:srgbClr val="AC545C"/>
                </a:solidFill>
                <a:latin typeface="Courier New"/>
                <a:ea typeface="Courier New"/>
                <a:cs typeface="Courier New"/>
                <a:sym typeface="Courier New"/>
              </a:rPr>
              <a:t>maxWidth</a:t>
            </a:r>
            <a:r>
              <a:rPr lang="en-US" sz="1400" dirty="0">
                <a:solidFill>
                  <a:schemeClr val="tx1"/>
                </a:solidFill>
                <a:latin typeface="Courier New"/>
                <a:ea typeface="Courier New"/>
                <a:cs typeface="Courier New"/>
                <a:sym typeface="Courier New"/>
              </a:rPr>
              <a:t>: CARD_MAX_WIDTH }}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&gt;{</a:t>
            </a:r>
            <a:r>
              <a:rPr lang="en-US" sz="1400" b="1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}&lt;/</a:t>
            </a:r>
            <a:r>
              <a:rPr lang="en-US" sz="1400" b="1" dirty="0">
                <a:solidFill>
                  <a:srgbClr val="AC545C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b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 dirty="0">
                <a:solidFill>
                  <a:srgbClr val="474C5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 marL="0" lvl="0" indent="0">
              <a:lnSpc>
                <a:spcPct val="90000"/>
              </a:lnSpc>
              <a:spcBef>
                <a:spcPts val="360"/>
              </a:spcBef>
              <a:buSzPts val="1800"/>
              <a:buNone/>
            </a:pPr>
            <a:r>
              <a:rPr lang="en-US" sz="1400" b="1" dirty="0">
                <a:solidFill>
                  <a:srgbClr val="7030A0"/>
                </a:solidFill>
                <a:latin typeface="Courier New"/>
                <a:cs typeface="Courier New"/>
                <a:sym typeface="Courier New"/>
              </a:rPr>
              <a:t>export default</a:t>
            </a:r>
            <a:r>
              <a:rPr lang="en-US" sz="1400" dirty="0">
                <a:solidFill>
                  <a:srgbClr val="474C55"/>
                </a:solidFill>
                <a:latin typeface="Courier New"/>
                <a:cs typeface="Courier New"/>
                <a:sym typeface="Courier New"/>
              </a:rPr>
              <a:t> Card;</a:t>
            </a:r>
            <a:endParaRPr lang="en-US" sz="2000" dirty="0">
              <a:solidFill>
                <a:srgbClr val="474C55"/>
              </a:solidFill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E723542-8F27-3B56-2F16-CEDCACB0802B}"/>
              </a:ext>
            </a:extLst>
          </p:cNvPr>
          <p:cNvSpPr txBox="1">
            <a:spLocks/>
          </p:cNvSpPr>
          <p:nvPr/>
        </p:nvSpPr>
        <p:spPr>
          <a:xfrm>
            <a:off x="324900" y="5310530"/>
            <a:ext cx="8383980" cy="13883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importing a default export, you can name the import whatever you want (though, by convention typically we use the same exported name to avoid confusion)</a:t>
            </a:r>
          </a:p>
        </p:txBody>
      </p:sp>
    </p:spTree>
    <p:extLst>
      <p:ext uri="{BB962C8B-B14F-4D97-AF65-F5344CB8AC3E}">
        <p14:creationId xmlns:p14="http://schemas.microsoft.com/office/powerpoint/2010/main" val="104330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 animBg="1"/>
      <p:bldP spid="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F9C1-9B7C-EA9B-77AC-FB4B70A9D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62255-6019-B200-BD34-EE5F2A93CA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A926D-6A02-C6D7-181F-864470471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component can be as small as a single button, or as large as an entire page.</a:t>
            </a:r>
          </a:p>
          <a:p>
            <a:r>
              <a:rPr lang="en-US" dirty="0"/>
              <a:t>The goal of components are to break your UI into </a:t>
            </a:r>
            <a:r>
              <a:rPr lang="en-US" b="1" dirty="0"/>
              <a:t>logical</a:t>
            </a:r>
            <a:r>
              <a:rPr lang="en-US" dirty="0"/>
              <a:t>, </a:t>
            </a:r>
            <a:r>
              <a:rPr lang="en-US" b="1" dirty="0"/>
              <a:t>manageable </a:t>
            </a:r>
            <a:r>
              <a:rPr lang="en-US" dirty="0"/>
              <a:t>and </a:t>
            </a:r>
            <a:r>
              <a:rPr lang="en-US" b="1" dirty="0"/>
              <a:t>reusable </a:t>
            </a:r>
            <a:r>
              <a:rPr lang="en-US" dirty="0"/>
              <a:t>pieces</a:t>
            </a:r>
          </a:p>
          <a:p>
            <a:r>
              <a:rPr lang="en-US" dirty="0"/>
              <a:t>Components can be placed inside other components (nesting components) to create larger UIs</a:t>
            </a:r>
          </a:p>
          <a:p>
            <a:pPr lvl="1"/>
            <a:r>
              <a:rPr lang="en-US" dirty="0"/>
              <a:t>Note: nesting components is the basis of SPA and Component based development in React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2BE181-A98D-68C8-AB69-7E5EC110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47232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E21E-0F36-97EE-417D-E4663D63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4028A-D9B4-7622-0B02-1BBD07E5DA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2DE4D-21AC-22D4-D8EF-965E06E2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Every component should ideally do </a:t>
            </a:r>
            <a:r>
              <a:rPr lang="en-US" b="1" i="1" dirty="0"/>
              <a:t>one thing well</a:t>
            </a:r>
            <a:r>
              <a:rPr lang="en-US" dirty="0"/>
              <a:t> – this makes components easier to:</a:t>
            </a:r>
          </a:p>
          <a:p>
            <a:pPr lvl="1"/>
            <a:r>
              <a:rPr lang="en-US" dirty="0"/>
              <a:t>Test</a:t>
            </a:r>
          </a:p>
          <a:p>
            <a:pPr lvl="1"/>
            <a:r>
              <a:rPr lang="en-US" dirty="0"/>
              <a:t>Reuse </a:t>
            </a:r>
          </a:p>
          <a:p>
            <a:pPr lvl="1"/>
            <a:r>
              <a:rPr lang="en-US" dirty="0"/>
              <a:t>Maintain within your project (allows you to organize code into logical units).</a:t>
            </a:r>
          </a:p>
          <a:p>
            <a:r>
              <a:rPr lang="en-US" dirty="0"/>
              <a:t>By convention, each component should live in their own file, named the same as the default export for that component</a:t>
            </a:r>
          </a:p>
          <a:p>
            <a:pPr lvl="1"/>
            <a:r>
              <a:rPr lang="en-US" dirty="0"/>
              <a:t>e.g.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Header.jsx</a:t>
            </a:r>
            <a:r>
              <a:rPr lang="en-US" dirty="0"/>
              <a:t>’ contains a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en-US" dirty="0"/>
              <a:t>’ function with a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default export Header</a:t>
            </a:r>
            <a:r>
              <a:rPr lang="en-US" dirty="0"/>
              <a:t>’ statement at the bottom of the file.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11EF65-79C6-5034-A298-9EE54A35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44038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D504E-2A19-825D-D8FA-BC978597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57A3D-6B7B-D4D3-0887-37534BAFDC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BECCB-4057-E649-E84E-A611C48AE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Properties (Props) are how you pass data </a:t>
            </a:r>
            <a:r>
              <a:rPr lang="en-US" i="1" dirty="0"/>
              <a:t>into</a:t>
            </a:r>
            <a:r>
              <a:rPr lang="en-US" dirty="0"/>
              <a:t> a component from it’s parent.</a:t>
            </a:r>
          </a:p>
          <a:p>
            <a:pPr lvl="1"/>
            <a:r>
              <a:rPr lang="en-US" dirty="0"/>
              <a:t>Similar to passing arguments into a function</a:t>
            </a:r>
          </a:p>
          <a:p>
            <a:r>
              <a:rPr lang="en-US" dirty="0"/>
              <a:t>With JSX (JavaScript) there is no type-safety for your added props.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263EF3-A599-9763-20A5-992491640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Props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471B06-3C8E-4DDE-6180-1F3C6904C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391" y="4119078"/>
            <a:ext cx="5325218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76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7B156-CE34-E6A0-B7EA-38CB323C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FF81F-9AF8-E29B-5079-BCBD8B7F8F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AE1B6-470B-B116-4A17-8311282AE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20594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using TypeScript (</a:t>
            </a:r>
            <a:r>
              <a:rPr lang="en-US" dirty="0" err="1"/>
              <a:t>tsx</a:t>
            </a:r>
            <a:r>
              <a:rPr lang="en-US" dirty="0"/>
              <a:t> files), components are created in two phases:</a:t>
            </a:r>
          </a:p>
          <a:p>
            <a:pPr lvl="1"/>
            <a:r>
              <a:rPr lang="en-US" dirty="0"/>
              <a:t>Create an interface to determine the expected types for the component’s props.</a:t>
            </a:r>
          </a:p>
          <a:p>
            <a:pPr lvl="1"/>
            <a:r>
              <a:rPr lang="en-US" dirty="0"/>
              <a:t>Declare that interface as the prop datatype: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7BBA74-2A86-760F-929F-A0901A64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Props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64A36F-CDA6-E52D-FCB7-C5561CA2C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880" y="3540877"/>
            <a:ext cx="5022239" cy="3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7D3C-7C41-25DA-BDE7-4F7D419B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11AA0-5273-0169-EA57-6B77E161AE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751ED-488A-53EB-12D5-A9ED0C095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31615"/>
            <a:ext cx="8383980" cy="55096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 components were the original way developed created components that required state or lifecycle behavior.</a:t>
            </a:r>
          </a:p>
          <a:p>
            <a:pPr lvl="1"/>
            <a:r>
              <a:rPr lang="en-US" dirty="0"/>
              <a:t>This was before hooks were introduced in 2019.</a:t>
            </a:r>
          </a:p>
          <a:p>
            <a:r>
              <a:rPr lang="en-US" dirty="0"/>
              <a:t>Class components are considered a legacy version of component creation – function-based components are the standard approach</a:t>
            </a:r>
          </a:p>
          <a:p>
            <a:r>
              <a:rPr lang="en-US" dirty="0"/>
              <a:t>A class component is written using JavaScript’s class syntax by extending </a:t>
            </a:r>
            <a:r>
              <a:rPr lang="en-US" dirty="0" err="1"/>
              <a:t>React’s</a:t>
            </a:r>
            <a:r>
              <a:rPr lang="en-US" dirty="0"/>
              <a:t> built-in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React.Component</a:t>
            </a:r>
            <a:r>
              <a:rPr lang="en-US" dirty="0"/>
              <a:t> class.</a:t>
            </a:r>
          </a:p>
          <a:p>
            <a:r>
              <a:rPr lang="en-US" dirty="0"/>
              <a:t>Instead of a return statement directly in the function body, class components define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render()</a:t>
            </a:r>
            <a:r>
              <a:rPr lang="en-US" dirty="0"/>
              <a:t> method which returns the JSX to display.</a:t>
            </a:r>
          </a:p>
          <a:p>
            <a:r>
              <a:rPr lang="en-US" dirty="0"/>
              <a:t>State in a class component is stored as a single object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this.state</a:t>
            </a:r>
            <a:r>
              <a:rPr lang="en-US" dirty="0"/>
              <a:t>)</a:t>
            </a:r>
          </a:p>
          <a:p>
            <a:r>
              <a:rPr lang="en-US" dirty="0"/>
              <a:t>State is updated using a built-in method called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this.setState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rather than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setState</a:t>
            </a:r>
            <a:r>
              <a:rPr lang="en-US" dirty="0"/>
              <a:t> hook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B23996-0290-E3F6-1B4F-3FC1FD8B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Components</a:t>
            </a:r>
          </a:p>
        </p:txBody>
      </p:sp>
    </p:spTree>
    <p:extLst>
      <p:ext uri="{BB962C8B-B14F-4D97-AF65-F5344CB8AC3E}">
        <p14:creationId xmlns:p14="http://schemas.microsoft.com/office/powerpoint/2010/main" val="340503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075E-21D0-9060-EA2D-44B085C0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11FC57-D12C-94F8-1402-EBF5D3F860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BFBDD8E-19A4-D7E9-807E-8543C9EC5B3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Component Lifecycle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E3FAB2-64F8-81DB-5D5D-37A4CE87B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50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49A9-08CA-C69D-2997-CDA839D1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E219B-A953-ED1E-D870-6B05D9A9C3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870D0-55AD-B38E-201D-214A9262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Every React component goes through a predictable </a:t>
            </a:r>
            <a:r>
              <a:rPr lang="en-US" b="1" i="1" dirty="0"/>
              <a:t>lifecycle</a:t>
            </a:r>
            <a:endParaRPr lang="en-US" dirty="0"/>
          </a:p>
          <a:p>
            <a:pPr lvl="1"/>
            <a:r>
              <a:rPr lang="en-US" dirty="0"/>
              <a:t>The component is created and displayed for the first time</a:t>
            </a:r>
          </a:p>
          <a:p>
            <a:pPr lvl="1"/>
            <a:r>
              <a:rPr lang="en-US" dirty="0"/>
              <a:t>It may update multiple times</a:t>
            </a:r>
          </a:p>
          <a:p>
            <a:pPr lvl="1"/>
            <a:r>
              <a:rPr lang="en-US" dirty="0"/>
              <a:t>Eventually it is removed from the screen</a:t>
            </a:r>
          </a:p>
          <a:p>
            <a:r>
              <a:rPr lang="en-US" dirty="0"/>
              <a:t>Understanding these stages matters, because certain tasks only make sense at a </a:t>
            </a:r>
            <a:r>
              <a:rPr lang="en-US" b="1" i="1" dirty="0"/>
              <a:t>specific</a:t>
            </a:r>
            <a:r>
              <a:rPr lang="en-US" dirty="0"/>
              <a:t> point in this lifecycle</a:t>
            </a:r>
          </a:p>
          <a:p>
            <a:pPr lvl="1"/>
            <a:r>
              <a:rPr lang="en-US" dirty="0"/>
              <a:t>Ex: Fetching data once when a component first appears | cleaning up a timer right before a component disappears.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F7E660-A3FE-85C0-4F84-55A2823B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Lifecycle</a:t>
            </a:r>
          </a:p>
        </p:txBody>
      </p:sp>
    </p:spTree>
    <p:extLst>
      <p:ext uri="{BB962C8B-B14F-4D97-AF65-F5344CB8AC3E}">
        <p14:creationId xmlns:p14="http://schemas.microsoft.com/office/powerpoint/2010/main" val="20917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34B0B-1443-9F44-2DD4-5EC2FDD3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1DCA4-75B6-4236-F6D9-030B27F029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E6732-9C66-35FD-D8DA-62CC8F78E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Mounting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First Stage</a:t>
            </a:r>
          </a:p>
          <a:p>
            <a:pPr lvl="1"/>
            <a:r>
              <a:rPr lang="en-US" dirty="0"/>
              <a:t>Occurs when a component is created and inserted into the page for the very first time</a:t>
            </a:r>
          </a:p>
          <a:p>
            <a:r>
              <a:rPr lang="en-US" b="1" dirty="0"/>
              <a:t>Updating</a:t>
            </a:r>
            <a:r>
              <a:rPr lang="en-US" dirty="0"/>
              <a:t>:</a:t>
            </a:r>
            <a:endParaRPr lang="en-US" b="1" dirty="0"/>
          </a:p>
          <a:p>
            <a:pPr lvl="1"/>
            <a:r>
              <a:rPr lang="en-US" dirty="0"/>
              <a:t>Intermediate Stage</a:t>
            </a:r>
          </a:p>
          <a:p>
            <a:pPr lvl="1"/>
            <a:r>
              <a:rPr lang="en-US" dirty="0"/>
              <a:t>Component re-renders, running its function again to reflect new data.</a:t>
            </a:r>
          </a:p>
          <a:p>
            <a:pPr lvl="1"/>
            <a:r>
              <a:rPr lang="en-US" dirty="0"/>
              <a:t>Triggered by changes to its state or props it receives from its parent.</a:t>
            </a:r>
          </a:p>
          <a:p>
            <a:r>
              <a:rPr lang="en-US" b="1" dirty="0"/>
              <a:t>Unmounting</a:t>
            </a:r>
            <a:r>
              <a:rPr lang="en-US" dirty="0"/>
              <a:t>:</a:t>
            </a:r>
            <a:endParaRPr lang="en-US" b="1" dirty="0"/>
          </a:p>
          <a:p>
            <a:pPr lvl="1"/>
            <a:r>
              <a:rPr lang="en-US" dirty="0"/>
              <a:t>Final Stage</a:t>
            </a:r>
          </a:p>
          <a:p>
            <a:pPr lvl="1"/>
            <a:r>
              <a:rPr lang="en-US" dirty="0"/>
              <a:t>Happens when a component is removed from the page entirely</a:t>
            </a:r>
          </a:p>
          <a:p>
            <a:pPr lvl="1"/>
            <a:r>
              <a:rPr lang="en-US" dirty="0"/>
              <a:t>E.g. when a user navigates away, or a conditional render stops displaying it.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8F1B49-42C1-C273-4ABC-D9DADD97E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Lifecycle | Stages</a:t>
            </a:r>
          </a:p>
        </p:txBody>
      </p:sp>
    </p:spTree>
    <p:extLst>
      <p:ext uri="{BB962C8B-B14F-4D97-AF65-F5344CB8AC3E}">
        <p14:creationId xmlns:p14="http://schemas.microsoft.com/office/powerpoint/2010/main" val="345407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9A073-934F-7BB0-96C6-C3CB2D23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5F895-75C5-C348-E575-BDEDF95F07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4B0B6B-57DF-B4F4-A590-994AE004A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Lifecycle | Hooks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27A5D7-26F9-50A4-98A3-E898E8BC1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261" y="1421615"/>
            <a:ext cx="6271477" cy="51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94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042B-892E-88E6-CF87-A4B616ECD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8D0B1-6721-94C0-53E9-30A2C7C331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661CAE-7228-209B-1879-48E3B4A50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Older React Code (using </a:t>
            </a:r>
            <a:r>
              <a:rPr lang="en-US" b="1" i="1" dirty="0"/>
              <a:t>class components</a:t>
            </a:r>
            <a:r>
              <a:rPr lang="en-US" dirty="0"/>
              <a:t>) handled these stages using specifically named methods, such as: 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componentDidMount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componentDidUpdate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componentWillUnmount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In modern function components, lifecycle behavior is handled using Hooks, specifically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useEffect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9E890D-9798-E77A-FC1D-CE479F7C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Lifecycle | Class Components</a:t>
            </a:r>
          </a:p>
        </p:txBody>
      </p:sp>
    </p:spTree>
    <p:extLst>
      <p:ext uri="{BB962C8B-B14F-4D97-AF65-F5344CB8AC3E}">
        <p14:creationId xmlns:p14="http://schemas.microsoft.com/office/powerpoint/2010/main" val="417571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A913-C3FD-BCD3-92CE-8BD79F34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BF4D1-F57A-61ED-11C1-4AA6B98202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B622E9-F9CF-B29D-F6DA-101690BF4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Lifecycle | Class Components</a:t>
            </a:r>
          </a:p>
        </p:txBody>
      </p:sp>
      <p:pic>
        <p:nvPicPr>
          <p:cNvPr id="2" name="Picture 1" descr="React Lifecycle Methods — React.js | by Iqra Fatima | Jun, 2020 | Medium">
            <a:extLst>
              <a:ext uri="{FF2B5EF4-FFF2-40B4-BE49-F238E27FC236}">
                <a16:creationId xmlns:a16="http://schemas.microsoft.com/office/drawing/2014/main" id="{8EA77D93-C20A-8EDC-4052-5CB9F4BF9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91" y="1399006"/>
            <a:ext cx="6465018" cy="51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95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4655-7B11-DCEA-9236-3B8C6090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EA09F4-4CF6-960A-59BB-C40E98EE61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B1EA885-EB65-4BBD-C0A4-92CA9678C17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TypeScript with React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D962D-0203-4978-8B92-E84EB7527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332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A543-DC89-2546-F41B-1C6ABF4C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C72DD-AD3E-AB1D-8D3B-C2A748C35B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17F5F-C96C-0B11-7B49-CD08799EB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Recall that TypeScript code is checked at compile time – meaning many bugs get caught by your editor and build tools </a:t>
            </a:r>
            <a:r>
              <a:rPr lang="en-US" i="1" dirty="0"/>
              <a:t>before</a:t>
            </a:r>
            <a:r>
              <a:rPr lang="en-US" dirty="0"/>
              <a:t> your code ever runs.</a:t>
            </a:r>
          </a:p>
          <a:p>
            <a:pPr lvl="1"/>
            <a:r>
              <a:rPr lang="en-US" dirty="0"/>
              <a:t>E.g. Passing the wrong type of data to a component</a:t>
            </a:r>
          </a:p>
          <a:p>
            <a:r>
              <a:rPr lang="en-US" dirty="0"/>
              <a:t>When using TypeScript with React, files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tsx</a:t>
            </a:r>
            <a:r>
              <a:rPr lang="en-US" dirty="0"/>
              <a:t> extension instead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The most common use of TypeScript in React is typing a component’s props</a:t>
            </a:r>
          </a:p>
          <a:p>
            <a:pPr lvl="1"/>
            <a:r>
              <a:rPr lang="en-US" dirty="0"/>
              <a:t>This allows you, and your editor to know exactly what data a component expects to receive</a:t>
            </a:r>
          </a:p>
          <a:p>
            <a:pPr lvl="1"/>
            <a:r>
              <a:rPr lang="en-US" dirty="0"/>
              <a:t>This also catches mistakes like missing or mistypes props immediately.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02F65B-8614-7BA9-B1E1-5FC7ABE8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&amp; React</a:t>
            </a:r>
          </a:p>
        </p:txBody>
      </p:sp>
    </p:spTree>
    <p:extLst>
      <p:ext uri="{BB962C8B-B14F-4D97-AF65-F5344CB8AC3E}">
        <p14:creationId xmlns:p14="http://schemas.microsoft.com/office/powerpoint/2010/main" val="3587887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B72BB-4A43-E6F0-0C66-A6DFDD907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58599-FC6D-3DA6-4EF5-D2D93442B8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6F286-D8BE-D983-C2AB-5D60FB213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TypeScript helps with typing </a:t>
            </a:r>
            <a:r>
              <a:rPr lang="en-US" b="1" i="1" dirty="0"/>
              <a:t>state</a:t>
            </a:r>
            <a:r>
              <a:rPr lang="en-US" dirty="0"/>
              <a:t> (using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/>
              <a:t> hook)</a:t>
            </a:r>
          </a:p>
          <a:p>
            <a:r>
              <a:rPr lang="en-US" dirty="0"/>
              <a:t>TypeScript also helps with event handlers, ensuring data flowing through your component behaves as expected.</a:t>
            </a:r>
          </a:p>
          <a:p>
            <a:r>
              <a:rPr lang="en-US" dirty="0"/>
              <a:t>You can use </a:t>
            </a:r>
            <a:r>
              <a:rPr lang="en-US" b="1" i="1" dirty="0"/>
              <a:t>TypeScript interfaces or Type Aliases to describe the “shape” of an object</a:t>
            </a:r>
          </a:p>
          <a:p>
            <a:pPr lvl="1"/>
            <a:r>
              <a:rPr lang="en-US" dirty="0"/>
              <a:t>Interfaces is the more common convention, but either work.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65FB8F-D0A8-E68F-3FD7-A610E9AF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&amp; React</a:t>
            </a:r>
          </a:p>
        </p:txBody>
      </p:sp>
    </p:spTree>
    <p:extLst>
      <p:ext uri="{BB962C8B-B14F-4D97-AF65-F5344CB8AC3E}">
        <p14:creationId xmlns:p14="http://schemas.microsoft.com/office/powerpoint/2010/main" val="74492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7F00-AF97-E3E5-3A0F-FB5C34171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65375-0F19-FBE1-A8B6-0F4460F8F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41A168-0A0B-4868-1AE3-92F2A0F8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vs Type Alias Structure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80556159-E5AA-3684-083D-1F176D71E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Why use Interfaces or Type Alias for component structure?</a:t>
            </a:r>
          </a:p>
          <a:p>
            <a:r>
              <a:rPr lang="en-US" dirty="0"/>
              <a:t>Interfaces:</a:t>
            </a:r>
          </a:p>
          <a:p>
            <a:pPr lvl="1"/>
            <a:r>
              <a:rPr lang="en-US" dirty="0"/>
              <a:t>Support extends</a:t>
            </a:r>
          </a:p>
          <a:p>
            <a:pPr lvl="1"/>
            <a:r>
              <a:rPr lang="en-US" dirty="0"/>
              <a:t>Interfaces with the same name in the same scope are automatically merged together (declaration merging).</a:t>
            </a:r>
          </a:p>
          <a:p>
            <a:r>
              <a:rPr lang="en-US" dirty="0"/>
              <a:t>Type Aliases:</a:t>
            </a:r>
          </a:p>
          <a:p>
            <a:pPr lvl="1"/>
            <a:r>
              <a:rPr lang="en-US" dirty="0"/>
              <a:t>Support Union/Literal Types</a:t>
            </a:r>
          </a:p>
          <a:p>
            <a:r>
              <a:rPr lang="en-US" dirty="0"/>
              <a:t>What about classes?</a:t>
            </a:r>
          </a:p>
          <a:p>
            <a:pPr lvl="1"/>
            <a:r>
              <a:rPr lang="en-US" dirty="0"/>
              <a:t>Interfaces and Type Aliases are used to define types for Props (data passed to components). </a:t>
            </a:r>
          </a:p>
          <a:p>
            <a:pPr lvl="1"/>
            <a:r>
              <a:rPr lang="en-US" dirty="0"/>
              <a:t>Classes are more concrete datatypes that would be used to represent data (i.e. class components – but remember that is the only way to create components!)</a:t>
            </a:r>
          </a:p>
        </p:txBody>
      </p:sp>
    </p:spTree>
    <p:extLst>
      <p:ext uri="{BB962C8B-B14F-4D97-AF65-F5344CB8AC3E}">
        <p14:creationId xmlns:p14="http://schemas.microsoft.com/office/powerpoint/2010/main" val="234649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BC9B9-96A4-3DA8-5DD9-C578E1032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D62F67-75F6-A090-4F32-295FB500D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E68DB1F-56B8-C66C-BB89-5DA0F3754D4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Props &amp; State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D069E7-A89C-7841-1FDA-80DFE9AF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236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DA39-0D04-14BD-928D-BD38DBBE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63BB9-C530-9FBF-E6C8-618EB975CA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F00FA1-7A46-C5C0-C6D7-E442DBDC3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As discussed previously, Props are how data is passed </a:t>
            </a:r>
            <a:r>
              <a:rPr lang="en-US" b="1" i="1" dirty="0"/>
              <a:t>into a component</a:t>
            </a:r>
            <a:endParaRPr lang="en-US" dirty="0"/>
          </a:p>
          <a:p>
            <a:r>
              <a:rPr lang="en-US" dirty="0"/>
              <a:t>Props are </a:t>
            </a:r>
            <a:r>
              <a:rPr lang="en-US" b="1" i="1" dirty="0"/>
              <a:t>read-only</a:t>
            </a:r>
            <a:r>
              <a:rPr lang="en-US" dirty="0"/>
              <a:t> from the receiving component’s perspective. </a:t>
            </a:r>
          </a:p>
          <a:p>
            <a:pPr lvl="1"/>
            <a:r>
              <a:rPr lang="en-US" dirty="0"/>
              <a:t>A component should never attempt to modify it’s own props directly.</a:t>
            </a:r>
          </a:p>
          <a:p>
            <a:r>
              <a:rPr lang="en-US" dirty="0"/>
              <a:t>Data flows through props in </a:t>
            </a:r>
            <a:r>
              <a:rPr lang="en-US" b="1" i="1" dirty="0"/>
              <a:t>one direction only</a:t>
            </a:r>
            <a:r>
              <a:rPr lang="en-US" dirty="0"/>
              <a:t> from parent to child.</a:t>
            </a:r>
          </a:p>
          <a:p>
            <a:r>
              <a:rPr lang="en-US" dirty="0"/>
              <a:t>This is referred to as “one-way” or “unidirectional” data flow.</a:t>
            </a:r>
          </a:p>
          <a:p>
            <a:r>
              <a:rPr lang="en-US" b="1" i="1" dirty="0"/>
              <a:t>One-way data flow</a:t>
            </a:r>
            <a:r>
              <a:rPr lang="en-US" dirty="0"/>
              <a:t> makes applications easier to reason about, since you always know the direction with which data originates.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EB7769-CE3C-1581-5926-29D79A9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</p:spTree>
    <p:extLst>
      <p:ext uri="{BB962C8B-B14F-4D97-AF65-F5344CB8AC3E}">
        <p14:creationId xmlns:p14="http://schemas.microsoft.com/office/powerpoint/2010/main" val="149766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28C9-A2AB-63BC-963A-A0EE8C61A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91846-9B3F-0CAE-2A6F-5A9A7BF873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704318-5D06-AFDA-A718-92619D4D6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2518553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When passing rendered data (other components), React provides built-in types to help manage the flow of data.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props.children</a:t>
            </a:r>
            <a:r>
              <a:rPr lang="en-US" dirty="0"/>
              <a:t> is a special, built-in prop representing whatever content is placed </a:t>
            </a:r>
            <a:r>
              <a:rPr lang="en-US" b="1" i="1" dirty="0"/>
              <a:t>between</a:t>
            </a:r>
            <a:r>
              <a:rPr lang="en-US" dirty="0"/>
              <a:t> a component’s opening and closing tags.</a:t>
            </a:r>
          </a:p>
          <a:p>
            <a:r>
              <a:rPr lang="en-US" dirty="0"/>
              <a:t>This is what allows components to act as flexible “wrappers”, without knowing their content in advance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12C291-0EA5-EBB7-157D-34B9EB6C1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Children Properties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00492D-5A0E-7A22-4BD1-2767CBD79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415" y="3999999"/>
            <a:ext cx="4858428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4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B0C7C-D50B-C9EE-4850-D3910EC4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E4D29-F6F7-53DB-CA87-98D68CA7C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C9D407-1CAE-4381-C51A-9CF7410C9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ReactNode</a:t>
            </a:r>
            <a:r>
              <a:rPr lang="en-US" dirty="0"/>
              <a:t> is a built-in type in React which can be used to describe any valid type that can be rendered as a child to an element.</a:t>
            </a:r>
          </a:p>
          <a:p>
            <a:r>
              <a:rPr lang="en-US" dirty="0"/>
              <a:t>This includes:</a:t>
            </a:r>
          </a:p>
          <a:p>
            <a:pPr lvl="1"/>
            <a:r>
              <a:rPr lang="en-US" dirty="0"/>
              <a:t>Text</a:t>
            </a:r>
          </a:p>
          <a:p>
            <a:pPr lvl="1"/>
            <a:r>
              <a:rPr lang="en-US" dirty="0"/>
              <a:t>Other HTML elements</a:t>
            </a:r>
          </a:p>
          <a:p>
            <a:pPr lvl="1"/>
            <a:r>
              <a:rPr lang="en-US" dirty="0"/>
              <a:t>Numbers</a:t>
            </a:r>
          </a:p>
          <a:p>
            <a:pPr lvl="1"/>
            <a:r>
              <a:rPr lang="en-US" dirty="0"/>
              <a:t>Arrays</a:t>
            </a:r>
          </a:p>
          <a:p>
            <a:pPr lvl="1"/>
            <a:r>
              <a:rPr lang="en-US" dirty="0"/>
              <a:t>Etc…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ReactNode</a:t>
            </a:r>
            <a:r>
              <a:rPr lang="en-US" dirty="0"/>
              <a:t> is typically used in combination with children references to enable a component to wrap other elements</a:t>
            </a:r>
          </a:p>
          <a:p>
            <a:pPr lvl="1"/>
            <a:r>
              <a:rPr lang="en-US" dirty="0"/>
              <a:t>This is one tool that truly enables components to act as reusable pieces of UI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B15114D-70F6-B299-4E66-682EC52C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Children Properties | </a:t>
            </a:r>
            <a:r>
              <a:rPr lang="en-US" dirty="0" err="1"/>
              <a:t>ReactNode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50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E464-DE15-925D-008D-B257748E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31831-05C6-1BA5-6EBA-35E8D2ED12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1ECACA-B76F-5726-BD19-DDBC64C34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72" y="1481445"/>
            <a:ext cx="3808271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prop can be marked </a:t>
            </a:r>
            <a:r>
              <a:rPr lang="en-US" b="1" i="1" dirty="0"/>
              <a:t>optional</a:t>
            </a:r>
            <a:r>
              <a:rPr lang="en-US" dirty="0"/>
              <a:t> using a ‘?’ after its name in the interface</a:t>
            </a:r>
          </a:p>
          <a:p>
            <a:pPr lvl="1"/>
            <a:r>
              <a:rPr lang="en-US" dirty="0"/>
              <a:t>E.g. subtitle?: string;</a:t>
            </a:r>
          </a:p>
          <a:p>
            <a:r>
              <a:rPr lang="en-US" dirty="0"/>
              <a:t>This denotes that the component can be used with or without that prop being provided.</a:t>
            </a:r>
          </a:p>
          <a:p>
            <a:r>
              <a:rPr lang="en-US" dirty="0"/>
              <a:t>Note: all props are required by default, so TypeScript components will throw an error at compile time if any non-optional prop is not supplied with a value.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F7ECC9-971F-2CA1-2CCD-B6C8992F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Properties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E35CFD-7496-0A6D-815B-E8BD4627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843" y="2100246"/>
            <a:ext cx="4869527" cy="327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2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F515-FD4F-78A3-ABF1-54B07B22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F82E9-7C18-F2AE-5D5E-07AFAD9EF9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1CBE6-49A1-4426-934D-F0AF4126C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210288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Function-type props (like event handlers or callbacks) can also be typed</a:t>
            </a:r>
          </a:p>
          <a:p>
            <a:pPr lvl="1"/>
            <a:r>
              <a:rPr lang="en-US" dirty="0"/>
              <a:t>This describes what arguments the function accepts and what it returns</a:t>
            </a:r>
          </a:p>
          <a:p>
            <a:r>
              <a:rPr lang="en-US" dirty="0"/>
              <a:t>Default values for these props can be provided directly using the pattern: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 prop=“value” 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E342AC-2A39-3025-C4ED-F44CEE1C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Function-Type Properties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7CD14D-ADAD-3071-C4C6-D820527F8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182" y="3584329"/>
            <a:ext cx="6385635" cy="314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10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DE31E-0C33-92BC-8677-C13691F8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CF97E-084C-3515-A37F-EDB1382AA3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606F4-693A-5D7E-F5D4-CE57D2CA7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reuse props defined in another interface using the ‘extends’ keyword: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6F4108-1626-9FC8-2766-35C10F46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Re-using Props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5D463-67FE-A874-ADF7-EBFC0E20E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890" y="2489620"/>
            <a:ext cx="6592220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8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9D314-F61A-F61D-B1CA-21E0455B8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A8BA4-CCE1-CAB6-E509-B7EAEC5695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623AFD-8A20-BD8A-A4AF-A60BF77CE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While </a:t>
            </a:r>
            <a:r>
              <a:rPr lang="en-US" b="1" i="1" dirty="0"/>
              <a:t>props</a:t>
            </a:r>
            <a:r>
              <a:rPr lang="en-US" dirty="0"/>
              <a:t> are data passed </a:t>
            </a:r>
            <a:r>
              <a:rPr lang="en-US" b="1" i="1" dirty="0"/>
              <a:t>into</a:t>
            </a:r>
            <a:r>
              <a:rPr lang="en-US" dirty="0"/>
              <a:t> a component from it’s parent; </a:t>
            </a:r>
            <a:r>
              <a:rPr lang="en-US" b="1" i="1" dirty="0"/>
              <a:t>state </a:t>
            </a:r>
            <a:r>
              <a:rPr lang="en-US" dirty="0"/>
              <a:t>is </a:t>
            </a:r>
            <a:r>
              <a:rPr lang="en-US" i="1" dirty="0"/>
              <a:t>data a component manages internally</a:t>
            </a:r>
          </a:p>
          <a:p>
            <a:pPr lvl="1"/>
            <a:r>
              <a:rPr lang="en-US" dirty="0"/>
              <a:t>State can change over time (typically in response to user interaction).</a:t>
            </a:r>
          </a:p>
          <a:p>
            <a:r>
              <a:rPr lang="en-US" dirty="0"/>
              <a:t>Unlike Props, which are read-only, state is specifically designed to be updated by the component that owns it.</a:t>
            </a:r>
          </a:p>
          <a:p>
            <a:r>
              <a:rPr lang="en-US" dirty="0"/>
              <a:t>To create and manage state inside a function component, React provides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/>
              <a:t> Hook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14951F-A0BA-36D4-0F4E-64AA29F1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231622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3C5D-E290-4EFF-288D-BAF63D88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4BF2C-AD09-EB5F-A0E9-329DFC47DE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CD2C1-D600-BE85-3FF1-111DB3F1F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4882267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/>
              <a:t> returns an array with exactly two values: the current state value, and a function used to update it.</a:t>
            </a:r>
          </a:p>
          <a:p>
            <a:r>
              <a:rPr lang="en-US" dirty="0"/>
              <a:t>This is almost always using the array syntax: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 [value,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/>
              <a:t>Calling the state-updating function (e.g.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setValue</a:t>
            </a:r>
            <a:r>
              <a:rPr lang="en-US" dirty="0"/>
              <a:t>) does two things: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Updates the stored 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Tells React to re-render the component so that UI reflects the new value.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EA67E6-3CBE-FDBD-1CE7-C1837E645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137316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3A5B-DA9E-182A-3117-2A90BCC0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4ED3D-DF18-EE4B-445B-9FB77977A7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617FE-88F8-1D9E-9B4C-C1D25C9A9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You should </a:t>
            </a:r>
            <a:r>
              <a:rPr lang="en-US" b="1" i="1" dirty="0"/>
              <a:t>never modify state directly</a:t>
            </a:r>
            <a:r>
              <a:rPr lang="en-US" dirty="0"/>
              <a:t>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newValue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i.e. Consider all states on a component as ‘</a:t>
            </a:r>
            <a:r>
              <a:rPr lang="en-US" b="1" i="1" dirty="0"/>
              <a:t>directly immutable</a:t>
            </a:r>
            <a:r>
              <a:rPr lang="en-US" dirty="0"/>
              <a:t>’ – we </a:t>
            </a:r>
            <a:r>
              <a:rPr lang="en-US" i="1" dirty="0"/>
              <a:t>can</a:t>
            </a:r>
            <a:r>
              <a:rPr lang="en-US" dirty="0"/>
              <a:t> change the value, but we should only do so using a prescribed function (i.e.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/>
              <a:t> hook)</a:t>
            </a:r>
          </a:p>
          <a:p>
            <a:r>
              <a:rPr lang="en-US" dirty="0"/>
              <a:t>Always use an updated function returned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Directly modifying state will not trigger a re-render and can lead to bugs that are hard to track down.</a:t>
            </a:r>
          </a:p>
          <a:p>
            <a:r>
              <a:rPr lang="en-US" dirty="0"/>
              <a:t>A component can have multiple, independent pieces of state, simply calling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/>
              <a:t> more than once.</a:t>
            </a:r>
          </a:p>
          <a:p>
            <a:r>
              <a:rPr lang="en-US" dirty="0"/>
              <a:t>With TypeScript, </a:t>
            </a:r>
            <a:r>
              <a:rPr lang="en-US" dirty="0" err="1"/>
              <a:t>useState</a:t>
            </a:r>
            <a:r>
              <a:rPr lang="en-US" dirty="0"/>
              <a:t> can be given an explicit type ( 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&lt;number&gt;(0)</a:t>
            </a:r>
            <a:r>
              <a:rPr lang="en-US" dirty="0"/>
              <a:t> )</a:t>
            </a:r>
          </a:p>
          <a:p>
            <a:r>
              <a:rPr lang="en-US" dirty="0"/>
              <a:t>Props and state are frequently used together - a parent component can hold state and pass both the value and an updater function down to a child as props as needed.</a:t>
            </a:r>
          </a:p>
          <a:p>
            <a:pPr lvl="1"/>
            <a:r>
              <a:rPr lang="en-US" dirty="0"/>
              <a:t>The child can trigger changes without ever owning or directly modifying the state itself.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7F2C99-0798-837A-AEED-84988354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227056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5CA0B-6E27-4B25-BADA-57669CFBD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43422-3B6B-3221-D705-DEADEAACDC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7BAA9-CB89-A307-6713-35BAC8FCC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When two or more sibling components (components with the same parent), require access to the same piece of state data, it is common to follow a pattern called “lifting up state”.</a:t>
            </a:r>
          </a:p>
          <a:p>
            <a:r>
              <a:rPr lang="en-US" dirty="0"/>
              <a:t>“Lifting” state, refers to the idea that a parent component should be responsible for managing state, and children should only read data.</a:t>
            </a:r>
          </a:p>
          <a:p>
            <a:r>
              <a:rPr lang="en-US" dirty="0"/>
              <a:t>If a child needs to update that state, the parent passes a modifier/updater function as a prop as well.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7ECA80-C35F-E281-6595-93CE5D21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Lifting State</a:t>
            </a:r>
          </a:p>
        </p:txBody>
      </p:sp>
    </p:spTree>
    <p:extLst>
      <p:ext uri="{BB962C8B-B14F-4D97-AF65-F5344CB8AC3E}">
        <p14:creationId xmlns:p14="http://schemas.microsoft.com/office/powerpoint/2010/main" val="303176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C7507-7636-ED34-180E-1A90BD75E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768337-6FF0-CD5B-CD22-11454A75A7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DD58605-2B23-C82A-A676-E4E7A8A07D9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Intro to Hooks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85F03-3E7F-3697-8398-EB59ABD63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050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E1CBB-AAD5-29AA-DE75-D37A5A91B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65C70-73F8-FA7D-EEDA-528CEC1D25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4AA70-5A4C-3D94-5CDE-AA149C078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554227"/>
            <a:ext cx="8383980" cy="480948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b="1" i="1" dirty="0"/>
              <a:t>Hook</a:t>
            </a:r>
            <a:r>
              <a:rPr lang="en-US" dirty="0"/>
              <a:t> is a special function in React that lets function components “</a:t>
            </a:r>
            <a:r>
              <a:rPr lang="en-US" i="1" dirty="0"/>
              <a:t>hook into</a:t>
            </a:r>
            <a:r>
              <a:rPr lang="en-US" dirty="0"/>
              <a:t>” React features</a:t>
            </a:r>
          </a:p>
          <a:p>
            <a:pPr lvl="1"/>
            <a:r>
              <a:rPr lang="en-US" dirty="0"/>
              <a:t>Such as state or lifecycle behavior</a:t>
            </a:r>
          </a:p>
          <a:p>
            <a:r>
              <a:rPr lang="en-US" dirty="0"/>
              <a:t>Hooks always start with the word “</a:t>
            </a:r>
            <a:r>
              <a:rPr lang="en-US" b="1" u="sng" dirty="0"/>
              <a:t>use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useEffect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This naming conventions isn’t just a style choice, it’s how React (and any linting tools) can identify and enforce the rules Hooks must follow.</a:t>
            </a:r>
          </a:p>
          <a:p>
            <a:r>
              <a:rPr lang="en-US" dirty="0"/>
              <a:t>All hooks have different structure when used, for instance, the </a:t>
            </a:r>
            <a:r>
              <a:rPr lang="en-US" dirty="0" err="1"/>
              <a:t>useState</a:t>
            </a:r>
            <a:r>
              <a:rPr lang="en-US" dirty="0"/>
              <a:t> hook is used with a stateful field and a function that is used to update it: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const 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setMyField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(“initial value”);</a:t>
            </a:r>
          </a:p>
          <a:p>
            <a:r>
              <a:rPr lang="en-US" dirty="0"/>
              <a:t>React provides several built-in Hooks, and you can even write your own custom Hooks to reuse stateful logic across components.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265FBC-4321-A4BF-EA17-7ADF40573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Hooks</a:t>
            </a:r>
          </a:p>
        </p:txBody>
      </p:sp>
    </p:spTree>
    <p:extLst>
      <p:ext uri="{BB962C8B-B14F-4D97-AF65-F5344CB8AC3E}">
        <p14:creationId xmlns:p14="http://schemas.microsoft.com/office/powerpoint/2010/main" val="77658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36FC2-DB73-5449-EDAB-78E8425A8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2FA11-2AF3-42CC-FA40-51B5B752C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DEDDF2-83C6-FA7C-C377-E88089C36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There are two rules that must be followed when using Hooks</a:t>
            </a:r>
          </a:p>
          <a:p>
            <a:pPr lvl="1"/>
            <a:r>
              <a:rPr lang="en-US" dirty="0"/>
              <a:t>Note: these are not rules to normal JavaScript functions, these are rules for using Hooks</a:t>
            </a:r>
          </a:p>
          <a:p>
            <a:r>
              <a:rPr lang="en-US" dirty="0"/>
              <a:t>Rule #1: Only call Hooks at the top level</a:t>
            </a:r>
          </a:p>
          <a:p>
            <a:pPr lvl="1"/>
            <a:r>
              <a:rPr lang="en-US" dirty="0"/>
              <a:t>Never call a hook inside a loop, a conditional (if statement), or a nested function.</a:t>
            </a:r>
          </a:p>
          <a:p>
            <a:pPr lvl="1"/>
            <a:r>
              <a:rPr lang="en-US" dirty="0"/>
              <a:t>Hooks must always run in the exact same order on every single render.</a:t>
            </a:r>
          </a:p>
          <a:p>
            <a:r>
              <a:rPr lang="en-US" dirty="0"/>
              <a:t>Rule #2: Only call Hooks from React function components (or custom Hooks).</a:t>
            </a:r>
          </a:p>
          <a:p>
            <a:pPr lvl="1"/>
            <a:r>
              <a:rPr lang="en-US" dirty="0"/>
              <a:t>Don’t call Hooks from regular JavaScript functions, classes, or outside of a component entirely.</a:t>
            </a:r>
          </a:p>
          <a:p>
            <a:r>
              <a:rPr lang="en-US" dirty="0"/>
              <a:t>These rules exist because React tracks each Hook by</a:t>
            </a:r>
            <a:r>
              <a:rPr lang="en-US" b="1" i="1" dirty="0"/>
              <a:t> the order it’s called in</a:t>
            </a:r>
            <a:r>
              <a:rPr lang="en-US" dirty="0"/>
              <a:t>, not by name.</a:t>
            </a:r>
          </a:p>
          <a:p>
            <a:r>
              <a:rPr lang="en-US" dirty="0"/>
              <a:t>If you break this consistent order, it can cause React to mix up which state belongs to which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/>
              <a:t> call, leading to confusing bugs.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05850C-A50F-BAD8-E8DC-7CCCDF19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Hooks</a:t>
            </a:r>
          </a:p>
        </p:txBody>
      </p:sp>
    </p:spTree>
    <p:extLst>
      <p:ext uri="{BB962C8B-B14F-4D97-AF65-F5344CB8AC3E}">
        <p14:creationId xmlns:p14="http://schemas.microsoft.com/office/powerpoint/2010/main" val="421796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58244-1FEF-F62C-5A76-0FD5674C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9A9ED-2C40-BA0D-2773-E87CF544C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0CBFD0-5804-3359-162F-5081A22B3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Hooks Reference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6B5572-88EC-71A2-11B2-1B4AA6229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20591"/>
              </p:ext>
            </p:extLst>
          </p:nvPr>
        </p:nvGraphicFramePr>
        <p:xfrm>
          <a:off x="159572" y="1272094"/>
          <a:ext cx="8824854" cy="515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628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4823209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2041017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Awareness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useState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Lets a component create and manage its own internal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Know &amp;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useEffect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Runs side effects (data fetching, subscriptions, manual DOM work) tied to a component’s lifecycle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Know &amp;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useRef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Creates a persistent reference to a DOM element or value that doesn’t trigger a re-render when it changes. Used for uncontrolled components and direct DOM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Know &amp;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4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useContext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Lets a component read a value from React Context without needing that valued passed down manually through every level of props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useReducer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 alternative to </a:t>
                      </a:r>
                      <a:r>
                        <a:rPr lang="en-US" sz="1400" dirty="0" err="1"/>
                        <a:t>useState</a:t>
                      </a:r>
                      <a:r>
                        <a:rPr lang="en-US" sz="1400" dirty="0"/>
                        <a:t> for managing more complex state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useMemo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“</a:t>
                      </a:r>
                      <a:r>
                        <a:rPr lang="en-US" sz="1400" dirty="0" err="1"/>
                        <a:t>memoizes</a:t>
                      </a:r>
                      <a:r>
                        <a:rPr lang="en-US" sz="1400" dirty="0"/>
                        <a:t>” (caches) the result of an expensive calculation so it isn’t recalculated on every render unless it’s dependencies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useCallback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Similar to </a:t>
                      </a:r>
                      <a:r>
                        <a:rPr lang="en-US" sz="1400" dirty="0" err="1"/>
                        <a:t>useMemo</a:t>
                      </a:r>
                      <a:r>
                        <a:rPr lang="en-US" sz="1400" dirty="0"/>
                        <a:t>, but </a:t>
                      </a:r>
                      <a:r>
                        <a:rPr lang="en-US" sz="1400" dirty="0" err="1"/>
                        <a:t>memoizes</a:t>
                      </a:r>
                      <a:r>
                        <a:rPr lang="en-US" sz="1400" dirty="0"/>
                        <a:t> a </a:t>
                      </a:r>
                      <a:r>
                        <a:rPr lang="en-US" sz="1400" i="1" dirty="0"/>
                        <a:t>function</a:t>
                      </a:r>
                      <a:r>
                        <a:rPr lang="en-US" sz="1400" i="0" dirty="0"/>
                        <a:t> rather than a calculated value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0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useLayoutEffect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Siimlar</a:t>
                      </a:r>
                      <a:r>
                        <a:rPr lang="en-US" sz="1400" dirty="0"/>
                        <a:t> to </a:t>
                      </a:r>
                      <a:r>
                        <a:rPr lang="en-US" sz="1400" dirty="0" err="1"/>
                        <a:t>useEffect</a:t>
                      </a:r>
                      <a:r>
                        <a:rPr lang="en-US" sz="1400" dirty="0"/>
                        <a:t>, but runs synchronously right after the DOM updates – rarely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321702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D4D7D57-A6B5-8170-DA87-2576C8614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28294"/>
            <a:ext cx="8383980" cy="42970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Note: You can create your own hook as well</a:t>
            </a:r>
          </a:p>
        </p:txBody>
      </p:sp>
    </p:spTree>
    <p:extLst>
      <p:ext uri="{BB962C8B-B14F-4D97-AF65-F5344CB8AC3E}">
        <p14:creationId xmlns:p14="http://schemas.microsoft.com/office/powerpoint/2010/main" val="414312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08710-E19F-A224-92DE-B1001A06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2716B5-2530-27C4-D079-CA900E79BB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692D00A-4E94-FEA7-52D8-534072DBFB6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Event Handling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C9FDC-DE7E-F04A-CC45-99EDB5B07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036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6B3A7-315A-088D-12EE-E832A982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5DAF8-471F-01A5-404C-4E8A41F2E5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2C21B-5C40-B5E2-D210-174A4E886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React lets you respond to user interactions (clicks, typing, form submissions, etc…) using </a:t>
            </a:r>
            <a:r>
              <a:rPr lang="en-US" b="1" i="1" dirty="0"/>
              <a:t>event handlers</a:t>
            </a:r>
            <a:endParaRPr lang="en-US" dirty="0"/>
          </a:p>
          <a:p>
            <a:r>
              <a:rPr lang="en-US" dirty="0"/>
              <a:t>Event Handlers: Functions that run in response to a specific event.</a:t>
            </a:r>
          </a:p>
          <a:p>
            <a:r>
              <a:rPr lang="en-US" dirty="0"/>
              <a:t>Event handler props in JSX follow a camelCase naming conventions, prefixed with “on”</a:t>
            </a:r>
          </a:p>
          <a:p>
            <a:pPr lvl="1"/>
            <a:r>
              <a:rPr lang="en-US" dirty="0"/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onChange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onSubmit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React handlers are passed as JavaScript functions, typically wrapped in curly braces:</a:t>
            </a:r>
          </a:p>
          <a:p>
            <a:pPr lvl="1"/>
            <a:r>
              <a:rPr lang="en-US" dirty="0"/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dirty="0"/>
              <a:t>Note: contrast this to plain HTML in which event handlers are often written as strings: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onclick=“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()”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1E5E86-D59A-275D-5F5D-82120EE3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Handling</a:t>
            </a:r>
          </a:p>
        </p:txBody>
      </p:sp>
    </p:spTree>
    <p:extLst>
      <p:ext uri="{BB962C8B-B14F-4D97-AF65-F5344CB8AC3E}">
        <p14:creationId xmlns:p14="http://schemas.microsoft.com/office/powerpoint/2010/main" val="156200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65A31-2A7E-A108-4ED9-7E31D6E1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31454-E290-F2FB-92CF-341DE6A3C3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67115-D64C-31C7-955C-59CE7155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A common mistake is calling the function, rather than passing a reference: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	// Correct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()}	// Incorrect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If you call the function, this will immediately call it during browser rendering, which often leads to bugs.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277A92-FBDF-9A36-0422-671FEF27E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</a:t>
            </a:r>
          </a:p>
        </p:txBody>
      </p:sp>
    </p:spTree>
    <p:extLst>
      <p:ext uri="{BB962C8B-B14F-4D97-AF65-F5344CB8AC3E}">
        <p14:creationId xmlns:p14="http://schemas.microsoft.com/office/powerpoint/2010/main" val="246950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C933-5BB1-86A2-3D59-F674E6421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02A4C-F58B-C8DE-A720-915FC14AF2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2F8EB-6683-3197-2BDB-82DCD6CF0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You can pass </a:t>
            </a:r>
            <a:r>
              <a:rPr lang="en-US" b="1" i="1" dirty="0"/>
              <a:t>arguments</a:t>
            </a:r>
            <a:r>
              <a:rPr lang="en-US" dirty="0"/>
              <a:t> to an event handler by wrapping the call in an arrow function: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={() =&gt;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3880E83-90BA-7E1F-A4CB-64F6FCDAE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Arguments to Events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FBB5EF-3D55-2F95-2370-04BEA9915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838" y="3094892"/>
            <a:ext cx="5498323" cy="354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85D7-DA40-AB11-5F70-3ED6254A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74E1F-A066-1169-C267-61226807A0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66965-EC52-879A-37F2-2ECA7E98F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React wraps native browser events in it’s own </a:t>
            </a:r>
            <a:r>
              <a:rPr lang="en-US" b="1" i="1" dirty="0" err="1"/>
              <a:t>SyntheticEvent</a:t>
            </a:r>
            <a:r>
              <a:rPr lang="en-US" dirty="0"/>
              <a:t> system – which allows you to access events via this syntax: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React.EventType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HTMLElementType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/>
              <a:t>This </a:t>
            </a:r>
            <a:r>
              <a:rPr lang="en-US" b="1" i="1" dirty="0" err="1"/>
              <a:t>SyntheticEvent</a:t>
            </a:r>
            <a:r>
              <a:rPr lang="en-US" b="1" i="1" dirty="0"/>
              <a:t> Object</a:t>
            </a:r>
            <a:r>
              <a:rPr lang="en-US" dirty="0"/>
              <a:t> is passed automatically to your handlers.</a:t>
            </a:r>
          </a:p>
          <a:p>
            <a:r>
              <a:rPr lang="en-US" dirty="0"/>
              <a:t>This allows you to reference the events directly in your handler logic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6A7792-12F2-9381-8E97-44F22AC9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Object</a:t>
            </a:r>
          </a:p>
        </p:txBody>
      </p:sp>
    </p:spTree>
    <p:extLst>
      <p:ext uri="{BB962C8B-B14F-4D97-AF65-F5344CB8AC3E}">
        <p14:creationId xmlns:p14="http://schemas.microsoft.com/office/powerpoint/2010/main" val="155028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28C1-B13B-84ED-00FE-6DEEE751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66-78D9-20F5-3DD4-98A0666CD4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73F74E-2E29-9AFE-763E-38BA7703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Event Handlers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B0F31-F016-7BCA-357E-380EFD16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809394"/>
              </p:ext>
            </p:extLst>
          </p:nvPr>
        </p:nvGraphicFramePr>
        <p:xfrm>
          <a:off x="139478" y="1350012"/>
          <a:ext cx="8824854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371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2823587">
                  <a:extLst>
                    <a:ext uri="{9D8B030D-6E8A-4147-A177-3AD203B41FA5}">
                      <a16:colId xmlns:a16="http://schemas.microsoft.com/office/drawing/2014/main" val="827421984"/>
                    </a:ext>
                  </a:extLst>
                </a:gridCol>
                <a:gridCol w="2211839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EventHandler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Fires 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Typical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Common Element(s)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onClick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 click (mouse or touchpad)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Button Presses, toggles, navigation triggers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&lt;button&gt;</a:t>
                      </a:r>
                    </a:p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Most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onChange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 form element’s value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Controlled component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&lt;input&gt;, &lt;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textarea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&lt;select&gt;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onSubmit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 form is 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Handling form submission (typically paired with </a:t>
                      </a:r>
                      <a:r>
                        <a:rPr lang="en-US" sz="1100" dirty="0" err="1"/>
                        <a:t>event.preventDefault</a:t>
                      </a:r>
                      <a:r>
                        <a:rPr lang="en-US" sz="11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&lt;form&gt;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onFocus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 </a:t>
                      </a:r>
                    </a:p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onBlur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An element gains focus or loses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Highlighting a field, showing helper text. Validating a field once the user leaves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Focusable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onKeyDown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onKeyUp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 key is pressed / released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Detecting specific key presses (enter, escape, keyboard shortcuts)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Focusable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OnMouseEnter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OnMouseLeave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The mouse pointer enters an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Showing / Hiding a tooltip or hover effect – neither events bubble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Any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17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OnMouseOver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The mouse pointer leaves an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Similar to </a:t>
                      </a:r>
                      <a:r>
                        <a:rPr lang="en-US" sz="1100" dirty="0" err="1"/>
                        <a:t>onMouseEnter</a:t>
                      </a:r>
                      <a:r>
                        <a:rPr lang="en-US" sz="1100" dirty="0"/>
                        <a:t>, but event bubble through nested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Any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290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OnDoubleClick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An element is double-clicked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Triggering a secondary/advanced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Any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55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onScroll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An element (or the page) is scrolled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Infinite scrolling, sticky headers, scroll-based animations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Scrollable containers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544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onLoad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An element finishes loading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Hiding a loading spinner once content is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&gt;, &lt;script&gt;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861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onCopy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/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onPaste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Text is copied / pasted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 clipboard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Text-containing or input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881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217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4C2C6-DD9E-BAF6-6605-4E19452FC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B637A7-7235-1153-FEA8-590ACE075C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756F5F3-B441-3A73-49B8-F7979D7F20E6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Rendering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827E1-34B7-7286-36E6-25C39516D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4911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32452-1900-773F-C717-374494E5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CBF22-CF86-6A25-62E9-A242012037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1A867-CB64-4B2E-0415-B58546A2E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170563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Rendering </a:t>
            </a:r>
            <a:r>
              <a:rPr lang="en-US" dirty="0"/>
              <a:t>is the process React uses to figure out what your UI should look like</a:t>
            </a:r>
          </a:p>
          <a:p>
            <a:pPr lvl="1"/>
            <a:r>
              <a:rPr lang="en-US" dirty="0"/>
              <a:t>This process determines what to display or update on screen</a:t>
            </a:r>
          </a:p>
          <a:p>
            <a:r>
              <a:rPr lang="en-US" dirty="0"/>
              <a:t>A component re-renders (runs its function again to figure out the new UI) when:</a:t>
            </a:r>
          </a:p>
          <a:p>
            <a:pPr lvl="1"/>
            <a:r>
              <a:rPr lang="en-US" dirty="0"/>
              <a:t>It’s </a:t>
            </a:r>
            <a:r>
              <a:rPr lang="en-US" b="1" dirty="0"/>
              <a:t>state changes</a:t>
            </a:r>
            <a:endParaRPr lang="en-US" i="1" dirty="0"/>
          </a:p>
          <a:p>
            <a:pPr lvl="1"/>
            <a:r>
              <a:rPr lang="en-US" dirty="0"/>
              <a:t>It’s </a:t>
            </a:r>
            <a:r>
              <a:rPr lang="en-US" b="1" i="1" dirty="0"/>
              <a:t>props</a:t>
            </a:r>
            <a:r>
              <a:rPr lang="en-US" dirty="0"/>
              <a:t> </a:t>
            </a:r>
            <a:r>
              <a:rPr lang="en-US" b="1" i="1" dirty="0"/>
              <a:t>receives changes</a:t>
            </a:r>
          </a:p>
          <a:p>
            <a:pPr lvl="1"/>
            <a:r>
              <a:rPr lang="en-US" dirty="0"/>
              <a:t>It’s </a:t>
            </a:r>
            <a:r>
              <a:rPr lang="en-US" b="1" i="1" dirty="0"/>
              <a:t>parent component re-renders </a:t>
            </a:r>
          </a:p>
          <a:p>
            <a:r>
              <a:rPr lang="en-US" dirty="0"/>
              <a:t>Not every re-render results in visible DOM updates.</a:t>
            </a:r>
          </a:p>
          <a:p>
            <a:pPr lvl="1"/>
            <a:r>
              <a:rPr lang="en-US" dirty="0"/>
              <a:t>Recall: React compares the new virtual DOM to the previous one (reconciliation) – and only updates the real parts of the DOM that changed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CC2E91-8893-2F60-878C-65C50182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</a:t>
            </a:r>
          </a:p>
        </p:txBody>
      </p:sp>
    </p:spTree>
    <p:extLst>
      <p:ext uri="{BB962C8B-B14F-4D97-AF65-F5344CB8AC3E}">
        <p14:creationId xmlns:p14="http://schemas.microsoft.com/office/powerpoint/2010/main" val="385576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0506-0B75-135A-C03F-ADAD273D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684EA-73BD-CF76-A906-3608088D32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A4A1D-F195-CD4C-9B96-FBB17C114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170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 a component goes through it’s lifecycle,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useEffect</a:t>
            </a:r>
            <a:r>
              <a:rPr lang="en-US" dirty="0"/>
              <a:t> hook allow you to run code in response to those specific points.</a:t>
            </a:r>
          </a:p>
          <a:p>
            <a:r>
              <a:rPr lang="en-US" dirty="0"/>
              <a:t>This is most commonly done for side effects: </a:t>
            </a:r>
          </a:p>
          <a:p>
            <a:pPr lvl="1"/>
            <a:r>
              <a:rPr lang="en-US" dirty="0"/>
              <a:t>Fetching data</a:t>
            </a:r>
          </a:p>
          <a:p>
            <a:pPr lvl="1"/>
            <a:r>
              <a:rPr lang="en-US" dirty="0"/>
              <a:t>Setting up subscriptions</a:t>
            </a:r>
          </a:p>
          <a:p>
            <a:pPr lvl="1"/>
            <a:r>
              <a:rPr lang="en-US" dirty="0"/>
              <a:t>Manually interacting with the DOM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useEffect</a:t>
            </a:r>
            <a:r>
              <a:rPr lang="en-US" dirty="0"/>
              <a:t> accepts a function to run, and an optional dependency array (this controls </a:t>
            </a:r>
            <a:r>
              <a:rPr lang="en-US" b="1" i="1" dirty="0"/>
              <a:t>when</a:t>
            </a:r>
            <a:r>
              <a:rPr lang="en-US" dirty="0"/>
              <a:t> that function re-runs:</a:t>
            </a:r>
          </a:p>
          <a:p>
            <a:pPr lvl="1"/>
            <a:r>
              <a:rPr lang="en-US" dirty="0"/>
              <a:t>On every render, only once (on mount) or only when specific values change.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3A5DE1-4CF3-4142-8A6F-096BDC461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| </a:t>
            </a:r>
            <a:r>
              <a:rPr lang="en-US" dirty="0" err="1"/>
              <a:t>useEffect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0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2BE1-6E59-358A-735B-2923360F0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2DD50-04B8-48D3-C017-E92277D012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E8C9F-4B8D-4D5F-8C3C-A6057D9A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b="1" i="1" dirty="0"/>
              <a:t>Conditional rendering</a:t>
            </a:r>
            <a:r>
              <a:rPr lang="en-US" dirty="0"/>
              <a:t> means displaying different content based on some condition</a:t>
            </a:r>
          </a:p>
          <a:p>
            <a:pPr lvl="1"/>
            <a:r>
              <a:rPr lang="en-US" dirty="0"/>
              <a:t>Similar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statements, but expressed through JS expressions</a:t>
            </a:r>
          </a:p>
          <a:p>
            <a:r>
              <a:rPr lang="en-US" dirty="0"/>
              <a:t>Common Conditional rendering patterns include:</a:t>
            </a:r>
          </a:p>
          <a:p>
            <a:pPr lvl="1"/>
            <a:r>
              <a:rPr lang="en-US" dirty="0"/>
              <a:t>Ternary operations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condition ? &lt;A /&gt; : &lt;B /&gt;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Logical AND operator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condition &amp;&amp; &lt;A /&gt;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Simply returning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 to render nothing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CD1D3C-85A5-7803-EE5D-9A89054F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Rendering</a:t>
            </a:r>
          </a:p>
        </p:txBody>
      </p:sp>
    </p:spTree>
    <p:extLst>
      <p:ext uri="{BB962C8B-B14F-4D97-AF65-F5344CB8AC3E}">
        <p14:creationId xmlns:p14="http://schemas.microsoft.com/office/powerpoint/2010/main" val="25660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88793-5415-2977-8254-3EE3D44B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0BB075-D38C-6205-6F4B-E23D78B231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1EA3720-A3D9-CEBA-AA37-D67D3B578E7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Lists &amp; Keys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0752C-CE48-B802-C294-95DF2D6D7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230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F2988-A529-024E-F510-87A166A8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43E74-433B-8438-41F8-C347A91006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37E00-4783-92BE-922F-0B9F0C594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Rendering a </a:t>
            </a:r>
            <a:r>
              <a:rPr lang="en-US" b="1" i="1" dirty="0"/>
              <a:t>list</a:t>
            </a:r>
            <a:r>
              <a:rPr lang="en-US" dirty="0"/>
              <a:t> in React typically means transforming an array of data into an array of JSX elements.</a:t>
            </a:r>
          </a:p>
          <a:p>
            <a:r>
              <a:rPr lang="en-US" dirty="0"/>
              <a:t>This is most commonly achieved using JavaScript’s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.map()</a:t>
            </a:r>
            <a:r>
              <a:rPr lang="en-US" dirty="0"/>
              <a:t> method.</a:t>
            </a:r>
          </a:p>
          <a:p>
            <a:r>
              <a:rPr lang="en-US" dirty="0"/>
              <a:t>Every element in a rendered list needs a special prop called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dirty="0"/>
              <a:t> is a unique identifier that helps React track each item individually across re-renders.</a:t>
            </a:r>
          </a:p>
          <a:p>
            <a:r>
              <a:rPr lang="en-US" dirty="0"/>
              <a:t>Keys should be unique among siblings in that specific list</a:t>
            </a:r>
          </a:p>
          <a:p>
            <a:pPr lvl="1"/>
            <a:r>
              <a:rPr lang="en-US" dirty="0"/>
              <a:t>Note: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dirty="0"/>
              <a:t> doesn’t need to be globally unique across the entire app.</a:t>
            </a:r>
          </a:p>
          <a:p>
            <a:pPr lvl="1"/>
            <a:r>
              <a:rPr lang="en-US" dirty="0"/>
              <a:t>Ideally, the key should come from the data itself (like a database ID) – not arbitrarily made up.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F1D867-3987-B461-719F-A4911510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&amp; Keys</a:t>
            </a:r>
          </a:p>
        </p:txBody>
      </p:sp>
    </p:spTree>
    <p:extLst>
      <p:ext uri="{BB962C8B-B14F-4D97-AF65-F5344CB8AC3E}">
        <p14:creationId xmlns:p14="http://schemas.microsoft.com/office/powerpoint/2010/main" val="250402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D004E-A407-6E17-6BD6-D7EFC00EB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72DAF-D20A-C7E2-B57E-81E0C69299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19D6E-4F78-5266-B4DA-72711637D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Using an item’s array index is a common shortcut, but is typically considered an anti-pattern</a:t>
            </a:r>
          </a:p>
          <a:p>
            <a:pPr lvl="1"/>
            <a:r>
              <a:rPr lang="en-US" dirty="0"/>
              <a:t>This can cause subtle bugs if the list is reordered, filtered, or has items inserted/removed from the middle.</a:t>
            </a:r>
          </a:p>
          <a:p>
            <a:r>
              <a:rPr lang="en-US" dirty="0"/>
              <a:t>Keys are </a:t>
            </a:r>
            <a:r>
              <a:rPr lang="en-US" b="1" i="1" dirty="0"/>
              <a:t>not</a:t>
            </a:r>
            <a:r>
              <a:rPr lang="en-US" dirty="0"/>
              <a:t> passed down to your component as a regular prop – react only uses them internally for tracking</a:t>
            </a:r>
          </a:p>
          <a:p>
            <a:pPr lvl="1"/>
            <a:r>
              <a:rPr lang="en-US" dirty="0"/>
              <a:t>i.e. you </a:t>
            </a:r>
            <a:r>
              <a:rPr lang="en-US" b="1" i="1" dirty="0"/>
              <a:t>don’t</a:t>
            </a:r>
            <a:r>
              <a:rPr lang="en-US" dirty="0"/>
              <a:t> have access to: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props.key</a:t>
            </a:r>
            <a:r>
              <a:rPr lang="en-US" dirty="0"/>
              <a:t> in the component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AE09349-3EFA-9330-5DC7-F1E284AE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&amp; Keys</a:t>
            </a:r>
          </a:p>
        </p:txBody>
      </p:sp>
    </p:spTree>
    <p:extLst>
      <p:ext uri="{BB962C8B-B14F-4D97-AF65-F5344CB8AC3E}">
        <p14:creationId xmlns:p14="http://schemas.microsoft.com/office/powerpoint/2010/main" val="42259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0CAD5-24A7-38D2-CF50-C0A5E80AA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2C8E4-FF95-78D9-9B02-0CC5A64D10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DE169A-82A1-9868-C7A7-27BCE4245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Without keys (or with poorly chosen keys), React can lose track of which rendered element corresponds to which piece of data.</a:t>
            </a:r>
          </a:p>
          <a:p>
            <a:r>
              <a:rPr lang="en-US" dirty="0"/>
              <a:t>This can cause:</a:t>
            </a:r>
          </a:p>
          <a:p>
            <a:pPr lvl="1"/>
            <a:r>
              <a:rPr lang="en-US" dirty="0"/>
              <a:t>Incorrect UI updates</a:t>
            </a:r>
          </a:p>
          <a:p>
            <a:pPr lvl="1"/>
            <a:r>
              <a:rPr lang="en-US" dirty="0"/>
              <a:t>Form input values appearing on the wrong list item</a:t>
            </a:r>
          </a:p>
          <a:p>
            <a:pPr lvl="1"/>
            <a:r>
              <a:rPr lang="en-US" dirty="0"/>
              <a:t>Component state updating incorrect items.</a:t>
            </a:r>
          </a:p>
          <a:p>
            <a:r>
              <a:rPr lang="en-US" dirty="0"/>
              <a:t>If you do need access to the key inside the component you need to pass it again as a separate, explicitly named prop.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2B89716-DD1D-2252-F45E-E90A217F4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 |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27196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9265</TotalTime>
  <Words>4767</Words>
  <Application>Microsoft Office PowerPoint</Application>
  <PresentationFormat>On-screen Show (4:3)</PresentationFormat>
  <Paragraphs>513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Calibri</vt:lpstr>
      <vt:lpstr>Courier New</vt:lpstr>
      <vt:lpstr>2_Custom Design</vt:lpstr>
      <vt:lpstr>React</vt:lpstr>
      <vt:lpstr>Outline</vt:lpstr>
      <vt:lpstr>PowerPoint Presentation</vt:lpstr>
      <vt:lpstr>MPA vs SPA</vt:lpstr>
      <vt:lpstr>Single-Page Applications</vt:lpstr>
      <vt:lpstr>PowerPoint Presentation</vt:lpstr>
      <vt:lpstr>React</vt:lpstr>
      <vt:lpstr>React DOM</vt:lpstr>
      <vt:lpstr>React DOM</vt:lpstr>
      <vt:lpstr>React Setup</vt:lpstr>
      <vt:lpstr>React Setup</vt:lpstr>
      <vt:lpstr>React Setup</vt:lpstr>
      <vt:lpstr>React Setup</vt:lpstr>
      <vt:lpstr>PowerPoint Presentation</vt:lpstr>
      <vt:lpstr>JSX &amp; TSX</vt:lpstr>
      <vt:lpstr>JSX Syntax</vt:lpstr>
      <vt:lpstr>PowerPoint Presentation</vt:lpstr>
      <vt:lpstr>Components</vt:lpstr>
      <vt:lpstr>Default Exports &amp; Imports</vt:lpstr>
      <vt:lpstr>Named Exports</vt:lpstr>
      <vt:lpstr>Named Imports</vt:lpstr>
      <vt:lpstr>Default Exports</vt:lpstr>
      <vt:lpstr>Components</vt:lpstr>
      <vt:lpstr>Components</vt:lpstr>
      <vt:lpstr>Component Props</vt:lpstr>
      <vt:lpstr>Component Props</vt:lpstr>
      <vt:lpstr>Class Components</vt:lpstr>
      <vt:lpstr>PowerPoint Presentation</vt:lpstr>
      <vt:lpstr>Component Lifecycle</vt:lpstr>
      <vt:lpstr>Component Lifecycle | Stages</vt:lpstr>
      <vt:lpstr>Component Lifecycle | Hooks</vt:lpstr>
      <vt:lpstr>Component Lifecycle | Class Components</vt:lpstr>
      <vt:lpstr>Component Lifecycle | Class Components</vt:lpstr>
      <vt:lpstr>PowerPoint Presentation</vt:lpstr>
      <vt:lpstr>TypeScript &amp; React</vt:lpstr>
      <vt:lpstr>TypeScript &amp; React</vt:lpstr>
      <vt:lpstr>Interface vs Type Alias Structure</vt:lpstr>
      <vt:lpstr>PowerPoint Presentation</vt:lpstr>
      <vt:lpstr>Properties</vt:lpstr>
      <vt:lpstr>Children Properties</vt:lpstr>
      <vt:lpstr>Children Properties | ReactNode</vt:lpstr>
      <vt:lpstr>Optional Properties</vt:lpstr>
      <vt:lpstr>Function-Type Properties</vt:lpstr>
      <vt:lpstr>Re-using Props</vt:lpstr>
      <vt:lpstr>State</vt:lpstr>
      <vt:lpstr>State</vt:lpstr>
      <vt:lpstr>State</vt:lpstr>
      <vt:lpstr>Lifting State</vt:lpstr>
      <vt:lpstr>PowerPoint Presentation</vt:lpstr>
      <vt:lpstr>Introduction to Hooks</vt:lpstr>
      <vt:lpstr>Rules of Hooks</vt:lpstr>
      <vt:lpstr>Hooks Reference</vt:lpstr>
      <vt:lpstr>PowerPoint Presentation</vt:lpstr>
      <vt:lpstr>Event Handling</vt:lpstr>
      <vt:lpstr>Common Mistake</vt:lpstr>
      <vt:lpstr>Passing Arguments to Events</vt:lpstr>
      <vt:lpstr>Event Object</vt:lpstr>
      <vt:lpstr>React Event Handlers</vt:lpstr>
      <vt:lpstr>PowerPoint Presentation</vt:lpstr>
      <vt:lpstr>Rendering</vt:lpstr>
      <vt:lpstr>Rendering | useEffect</vt:lpstr>
      <vt:lpstr>Conditional Rendering</vt:lpstr>
      <vt:lpstr>PowerPoint Presentation</vt:lpstr>
      <vt:lpstr>Lists &amp; Keys</vt:lpstr>
      <vt:lpstr>Lists &amp; Keys</vt:lpstr>
      <vt:lpstr>Keys | Considerations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51</cp:revision>
  <cp:lastPrinted>2016-06-20T20:58:50Z</cp:lastPrinted>
  <dcterms:created xsi:type="dcterms:W3CDTF">2016-11-09T18:19:08Z</dcterms:created>
  <dcterms:modified xsi:type="dcterms:W3CDTF">2026-08-18T19:12:16Z</dcterms:modified>
</cp:coreProperties>
</file>