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90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7" r:id="rId3"/>
    <p:sldId id="357" r:id="rId4"/>
    <p:sldId id="343" r:id="rId5"/>
    <p:sldId id="447" r:id="rId6"/>
    <p:sldId id="445" r:id="rId7"/>
    <p:sldId id="446" r:id="rId8"/>
    <p:sldId id="450" r:id="rId9"/>
    <p:sldId id="358" r:id="rId10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76">
          <p15:clr>
            <a:srgbClr val="A4A3A4"/>
          </p15:clr>
        </p15:guide>
        <p15:guide id="2" orient="horz" pos="763">
          <p15:clr>
            <a:srgbClr val="A4A3A4"/>
          </p15:clr>
        </p15:guide>
        <p15:guide id="3" orient="horz" pos="288">
          <p15:clr>
            <a:srgbClr val="A4A3A4"/>
          </p15:clr>
        </p15:guide>
        <p15:guide id="4" orient="horz" pos="708">
          <p15:clr>
            <a:srgbClr val="A4A3A4"/>
          </p15:clr>
        </p15:guide>
        <p15:guide id="5" pos="240">
          <p15:clr>
            <a:srgbClr val="A4A3A4"/>
          </p15:clr>
        </p15:guide>
        <p15:guide id="6" pos="5035">
          <p15:clr>
            <a:srgbClr val="A4A3A4"/>
          </p15:clr>
        </p15:guide>
        <p15:guide id="7" pos="3437">
          <p15:clr>
            <a:srgbClr val="A4A3A4"/>
          </p15:clr>
        </p15:guide>
        <p15:guide id="8" pos="3495">
          <p15:clr>
            <a:srgbClr val="A4A3A4"/>
          </p15:clr>
        </p15:guide>
        <p15:guide id="9" pos="1825">
          <p15:clr>
            <a:srgbClr val="A4A3A4"/>
          </p15:clr>
        </p15:guide>
        <p15:guide id="10" pos="1882">
          <p15:clr>
            <a:srgbClr val="A4A3A4"/>
          </p15:clr>
        </p15:guide>
        <p15:guide id="11" pos="3399">
          <p15:clr>
            <a:srgbClr val="A4A3A4"/>
          </p15:clr>
        </p15:guide>
        <p15:guide id="12" pos="2122">
          <p15:clr>
            <a:srgbClr val="A4A3A4"/>
          </p15:clr>
        </p15:guide>
        <p15:guide id="13" orient="horz" pos="765">
          <p15:clr>
            <a:srgbClr val="A4A3A4"/>
          </p15:clr>
        </p15:guide>
        <p15:guide id="14" pos="2880">
          <p15:clr>
            <a:srgbClr val="A4A3A4"/>
          </p15:clr>
        </p15:guide>
        <p15:guide id="15" pos="1440">
          <p15:clr>
            <a:srgbClr val="A4A3A4"/>
          </p15:clr>
        </p15:guide>
        <p15:guide id="16" pos="43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02" userDrawn="1">
          <p15:clr>
            <a:srgbClr val="A4A3A4"/>
          </p15:clr>
        </p15:guide>
        <p15:guide id="2" pos="2282" userDrawn="1">
          <p15:clr>
            <a:srgbClr val="A4A3A4"/>
          </p15:clr>
        </p15:guide>
        <p15:guide id="3" orient="horz" pos="2928" userDrawn="1">
          <p15:clr>
            <a:srgbClr val="A4A3A4"/>
          </p15:clr>
        </p15:guide>
        <p15:guide id="4" pos="22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Gregg" initials="G" lastIdx="13" clrIdx="0"/>
  <p:cmAuthor id="1" name="Tatiana" initials="T" lastIdx="1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474C55"/>
    <a:srgbClr val="669A91"/>
    <a:srgbClr val="9171A7"/>
    <a:srgbClr val="CCCC00"/>
    <a:srgbClr val="B07750"/>
    <a:srgbClr val="AC545C"/>
    <a:srgbClr val="33CCCC"/>
    <a:srgbClr val="9966FF"/>
    <a:srgbClr val="6168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6389" autoAdjust="0"/>
  </p:normalViewPr>
  <p:slideViewPr>
    <p:cSldViewPr snapToGrid="0">
      <p:cViewPr varScale="1">
        <p:scale>
          <a:sx n="59" d="100"/>
          <a:sy n="59" d="100"/>
        </p:scale>
        <p:origin x="1698" y="72"/>
      </p:cViewPr>
      <p:guideLst>
        <p:guide orient="horz" pos="4176"/>
        <p:guide orient="horz" pos="763"/>
        <p:guide orient="horz" pos="288"/>
        <p:guide orient="horz" pos="708"/>
        <p:guide pos="240"/>
        <p:guide pos="5035"/>
        <p:guide pos="3437"/>
        <p:guide pos="3495"/>
        <p:guide pos="1825"/>
        <p:guide pos="1882"/>
        <p:guide pos="3399"/>
        <p:guide pos="2122"/>
        <p:guide orient="horz" pos="765"/>
        <p:guide pos="2880"/>
        <p:guide pos="1440"/>
        <p:guide pos="4320"/>
      </p:guideLst>
    </p:cSldViewPr>
  </p:slideViewPr>
  <p:outlineViewPr>
    <p:cViewPr>
      <p:scale>
        <a:sx n="33" d="100"/>
        <a:sy n="33" d="100"/>
      </p:scale>
      <p:origin x="0" y="-890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3504" y="-480"/>
      </p:cViewPr>
      <p:guideLst>
        <p:guide orient="horz" pos="3002"/>
        <p:guide pos="2282"/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r">
              <a:defRPr sz="1200"/>
            </a:lvl1pPr>
          </a:lstStyle>
          <a:p>
            <a:fld id="{CA869C63-99CE-7C40-A7E9-3930C61B23AB}" type="datetimeFigureOut">
              <a:t>8/19/2026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r">
              <a:defRPr sz="1200"/>
            </a:lvl1pPr>
          </a:lstStyle>
          <a:p>
            <a:fld id="{155B6EDB-6C4A-2346-91D8-76F2620B19F2}" type="slidenum"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52477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r">
              <a:defRPr sz="1200"/>
            </a:lvl1pPr>
          </a:lstStyle>
          <a:p>
            <a:fld id="{E3E59D94-626A-4CE8-9932-5221A04BF234}" type="datetimeFigureOut">
              <a:rPr lang="en-US" smtClean="0"/>
              <a:t>8/19/2026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59" tIns="46579" rIns="93159" bIns="4657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59" tIns="46579" rIns="93159" bIns="4657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r">
              <a:defRPr sz="1200"/>
            </a:lvl1pPr>
          </a:lstStyle>
          <a:p>
            <a:fld id="{043CB7BC-4AFB-4847-AC93-5F4E37C870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91407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848" b="649"/>
          <a:stretch/>
        </p:blipFill>
        <p:spPr>
          <a:xfrm>
            <a:off x="-1" y="0"/>
            <a:ext cx="9144002" cy="5030078"/>
          </a:xfrm>
          <a:prstGeom prst="rect">
            <a:avLst/>
          </a:prstGeom>
        </p:spPr>
      </p:pic>
      <p:grpSp>
        <p:nvGrpSpPr>
          <p:cNvPr id="27" name="Group 26"/>
          <p:cNvGrpSpPr/>
          <p:nvPr userDrawn="1"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38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86" b="1379"/>
          <a:stretch/>
        </p:blipFill>
        <p:spPr>
          <a:xfrm flipV="1">
            <a:off x="0" y="0"/>
            <a:ext cx="9144000" cy="5030078"/>
          </a:xfrm>
          <a:prstGeom prst="rect">
            <a:avLst/>
          </a:prstGeom>
        </p:spPr>
      </p:pic>
      <p:grpSp>
        <p:nvGrpSpPr>
          <p:cNvPr id="27" name="Group 26"/>
          <p:cNvGrpSpPr/>
          <p:nvPr userDrawn="1"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15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99" b="6701"/>
          <a:stretch/>
        </p:blipFill>
        <p:spPr>
          <a:xfrm flipV="1">
            <a:off x="0" y="1740436"/>
            <a:ext cx="9144000" cy="15022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20" b="16130"/>
          <a:stretch/>
        </p:blipFill>
        <p:spPr>
          <a:xfrm flipH="1">
            <a:off x="2766" y="3242663"/>
            <a:ext cx="9144000" cy="3615334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728903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t="2065" r="80083" b="1471"/>
          <a:stretch/>
        </p:blipFill>
        <p:spPr>
          <a:xfrm rot="5400000">
            <a:off x="3820885" y="-2080448"/>
            <a:ext cx="1502227" cy="9143997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82" b="20282"/>
          <a:stretch/>
        </p:blipFill>
        <p:spPr>
          <a:xfrm>
            <a:off x="0" y="3242662"/>
            <a:ext cx="9144000" cy="3623223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409891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702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01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64444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227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708408" y="153883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7"/>
          </p:nvPr>
        </p:nvSpPr>
        <p:spPr>
          <a:xfrm>
            <a:off x="351116" y="154035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Content Placeholder 5"/>
          <p:cNvSpPr>
            <a:spLocks noGrp="1"/>
          </p:cNvSpPr>
          <p:nvPr>
            <p:ph sz="quarter" idx="18" hasCustomPrompt="1"/>
          </p:nvPr>
        </p:nvSpPr>
        <p:spPr>
          <a:xfrm>
            <a:off x="4708408" y="409915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9"/>
          </p:nvPr>
        </p:nvSpPr>
        <p:spPr>
          <a:xfrm>
            <a:off x="351116" y="410067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352677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Content Placeholder 45"/>
          <p:cNvSpPr>
            <a:spLocks noGrp="1"/>
          </p:cNvSpPr>
          <p:nvPr>
            <p:ph sz="quarter" idx="13"/>
          </p:nvPr>
        </p:nvSpPr>
        <p:spPr>
          <a:xfrm>
            <a:off x="157163" y="133350"/>
            <a:ext cx="8826500" cy="59515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6810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64137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martArt Placeholder 2"/>
          <p:cNvSpPr>
            <a:spLocks noGrp="1"/>
          </p:cNvSpPr>
          <p:nvPr>
            <p:ph type="dgm" sz="quarter" idx="13"/>
          </p:nvPr>
        </p:nvSpPr>
        <p:spPr>
          <a:xfrm>
            <a:off x="133350" y="125413"/>
            <a:ext cx="8850313" cy="6008687"/>
          </a:xfrm>
        </p:spPr>
        <p:txBody>
          <a:bodyPr/>
          <a:lstStyle/>
          <a:p>
            <a:r>
              <a:rPr lang="en-US"/>
              <a:t>Click icon to add SmartArt graphic</a:t>
            </a:r>
          </a:p>
        </p:txBody>
      </p:sp>
    </p:spTree>
    <p:extLst>
      <p:ext uri="{BB962C8B-B14F-4D97-AF65-F5344CB8AC3E}">
        <p14:creationId xmlns:p14="http://schemas.microsoft.com/office/powerpoint/2010/main" val="2998561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6251171"/>
            <a:ext cx="9144000" cy="6068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65" y="6367323"/>
            <a:ext cx="1260213" cy="394766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80010" y="-4950"/>
            <a:ext cx="8383980" cy="844535"/>
          </a:xfrm>
        </p:spPr>
        <p:txBody>
          <a:bodyPr/>
          <a:lstStyle>
            <a:lvl1pPr>
              <a:defRPr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80010" y="1097280"/>
            <a:ext cx="8383980" cy="4910129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2513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 flipV="1">
            <a:off x="0" y="1219200"/>
            <a:ext cx="9144000" cy="563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38531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1198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4_Title 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p10"/>
          <p:cNvSpPr txBox="1">
            <a:spLocks noGrp="1"/>
          </p:cNvSpPr>
          <p:nvPr>
            <p:ph type="body" idx="1"/>
          </p:nvPr>
        </p:nvSpPr>
        <p:spPr>
          <a:xfrm>
            <a:off x="157163" y="133350"/>
            <a:ext cx="8826500" cy="595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190149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preserve="1" userDrawn="1">
  <p:cSld name="Section_Title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3E5519-BCE2-45F2-2CB8-0E6D0DAEE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0664" y="2816925"/>
            <a:ext cx="6222671" cy="1224150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619CA9B-AF8F-87A7-664B-F95C0134414C}"/>
              </a:ext>
            </a:extLst>
          </p:cNvPr>
          <p:cNvGrpSpPr/>
          <p:nvPr userDrawn="1"/>
        </p:nvGrpSpPr>
        <p:grpSpPr>
          <a:xfrm>
            <a:off x="6681759" y="0"/>
            <a:ext cx="2462241" cy="773113"/>
            <a:chOff x="7264458" y="365740"/>
            <a:chExt cx="1553307" cy="487719"/>
          </a:xfrm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2A9D49A4-C029-2001-5A0F-3F2082CAD22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89A9B437-540E-333F-9B54-390C0EE615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645A3999-205C-7640-E332-1C3336AC3C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9">
              <a:extLst>
                <a:ext uri="{FF2B5EF4-FFF2-40B4-BE49-F238E27FC236}">
                  <a16:creationId xmlns:a16="http://schemas.microsoft.com/office/drawing/2014/main" id="{B55F5EA6-ACB4-F73B-8708-83192579DB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id="{F2B4DF57-055A-A5B3-F9EA-D5A8751833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2D5EF9E0-0962-BE13-EA0D-E37FC7AD86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EB24C6E3-9AC5-E695-8BED-7BE61A5CB6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47756FA6-C29B-BFEB-7653-543BD807F2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38A89EE8-B866-AAED-26C2-BE18B4FBF0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5DB3E0E0-34C3-52AE-7CD3-F1AB984B26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F6622341-E269-B3DE-12CB-68A866A7FB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62B18E42-6F06-C998-AC7F-4559FE8283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id="{9889642E-9A28-1238-56CF-BB1CC02E4B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9">
              <a:extLst>
                <a:ext uri="{FF2B5EF4-FFF2-40B4-BE49-F238E27FC236}">
                  <a16:creationId xmlns:a16="http://schemas.microsoft.com/office/drawing/2014/main" id="{DB97D7BD-2CAD-CF0D-7625-C390C88021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20">
              <a:extLst>
                <a:ext uri="{FF2B5EF4-FFF2-40B4-BE49-F238E27FC236}">
                  <a16:creationId xmlns:a16="http://schemas.microsoft.com/office/drawing/2014/main" id="{51BD1B0C-B2D3-C1B8-799E-D42AB3B0AA3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403D9FBC-D098-4A6C-D21D-AD6C28E57C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22">
              <a:extLst>
                <a:ext uri="{FF2B5EF4-FFF2-40B4-BE49-F238E27FC236}">
                  <a16:creationId xmlns:a16="http://schemas.microsoft.com/office/drawing/2014/main" id="{01D3E76D-1730-AFA4-D967-418E4B74EA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23">
              <a:extLst>
                <a:ext uri="{FF2B5EF4-FFF2-40B4-BE49-F238E27FC236}">
                  <a16:creationId xmlns:a16="http://schemas.microsoft.com/office/drawing/2014/main" id="{912810A0-76DC-7E83-8BFC-C1A4F60F8D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13258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0" name="Group 29"/>
          <p:cNvGrpSpPr/>
          <p:nvPr userDrawn="1"/>
        </p:nvGrpSpPr>
        <p:grpSpPr>
          <a:xfrm>
            <a:off x="7264458" y="365740"/>
            <a:ext cx="1553307" cy="487719"/>
            <a:chOff x="166688" y="-3240088"/>
            <a:chExt cx="9136063" cy="2868613"/>
          </a:xfrm>
        </p:grpSpPr>
        <p:sp>
          <p:nvSpPr>
            <p:cNvPr id="12" name="Freeform 6"/>
            <p:cNvSpPr>
              <a:spLocks noEditPoints="1"/>
            </p:cNvSpPr>
            <p:nvPr userDrawn="1"/>
          </p:nvSpPr>
          <p:spPr bwMode="auto">
            <a:xfrm>
              <a:off x="166688" y="-1244600"/>
              <a:ext cx="876300" cy="850900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7"/>
            <p:cNvSpPr>
              <a:spLocks/>
            </p:cNvSpPr>
            <p:nvPr userDrawn="1"/>
          </p:nvSpPr>
          <p:spPr bwMode="auto">
            <a:xfrm>
              <a:off x="1258888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8"/>
            <p:cNvSpPr>
              <a:spLocks/>
            </p:cNvSpPr>
            <p:nvPr userDrawn="1"/>
          </p:nvSpPr>
          <p:spPr bwMode="auto">
            <a:xfrm>
              <a:off x="2219326" y="-1244600"/>
              <a:ext cx="906463" cy="850900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9"/>
            <p:cNvSpPr>
              <a:spLocks noEditPoints="1"/>
            </p:cNvSpPr>
            <p:nvPr userDrawn="1"/>
          </p:nvSpPr>
          <p:spPr bwMode="auto">
            <a:xfrm>
              <a:off x="3125788" y="-1244600"/>
              <a:ext cx="1017588" cy="850900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0"/>
            <p:cNvSpPr>
              <a:spLocks/>
            </p:cNvSpPr>
            <p:nvPr userDrawn="1"/>
          </p:nvSpPr>
          <p:spPr bwMode="auto">
            <a:xfrm>
              <a:off x="4106863" y="-1244600"/>
              <a:ext cx="928688" cy="850900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1"/>
            <p:cNvSpPr>
              <a:spLocks/>
            </p:cNvSpPr>
            <p:nvPr userDrawn="1"/>
          </p:nvSpPr>
          <p:spPr bwMode="auto">
            <a:xfrm>
              <a:off x="5214938" y="-1244600"/>
              <a:ext cx="906463" cy="873125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2"/>
            <p:cNvSpPr>
              <a:spLocks noEditPoints="1"/>
            </p:cNvSpPr>
            <p:nvPr userDrawn="1"/>
          </p:nvSpPr>
          <p:spPr bwMode="auto">
            <a:xfrm>
              <a:off x="6384926" y="-1244600"/>
              <a:ext cx="873125" cy="850900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3"/>
            <p:cNvSpPr>
              <a:spLocks/>
            </p:cNvSpPr>
            <p:nvPr userDrawn="1"/>
          </p:nvSpPr>
          <p:spPr bwMode="auto">
            <a:xfrm>
              <a:off x="7477126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4"/>
            <p:cNvSpPr>
              <a:spLocks/>
            </p:cNvSpPr>
            <p:nvPr userDrawn="1"/>
          </p:nvSpPr>
          <p:spPr bwMode="auto">
            <a:xfrm>
              <a:off x="3233738" y="-1751013"/>
              <a:ext cx="152400" cy="146050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5"/>
            <p:cNvSpPr>
              <a:spLocks/>
            </p:cNvSpPr>
            <p:nvPr userDrawn="1"/>
          </p:nvSpPr>
          <p:spPr bwMode="auto">
            <a:xfrm>
              <a:off x="3719513" y="-2219325"/>
              <a:ext cx="219075" cy="263525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6"/>
            <p:cNvSpPr>
              <a:spLocks/>
            </p:cNvSpPr>
            <p:nvPr userDrawn="1"/>
          </p:nvSpPr>
          <p:spPr bwMode="auto">
            <a:xfrm>
              <a:off x="4289426" y="-2582863"/>
              <a:ext cx="222250" cy="407988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7"/>
            <p:cNvSpPr>
              <a:spLocks/>
            </p:cNvSpPr>
            <p:nvPr userDrawn="1"/>
          </p:nvSpPr>
          <p:spPr bwMode="auto">
            <a:xfrm>
              <a:off x="4910138" y="-2876550"/>
              <a:ext cx="188913" cy="561975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8"/>
            <p:cNvSpPr>
              <a:spLocks/>
            </p:cNvSpPr>
            <p:nvPr userDrawn="1"/>
          </p:nvSpPr>
          <p:spPr bwMode="auto">
            <a:xfrm>
              <a:off x="5541963" y="-3081338"/>
              <a:ext cx="174625" cy="70326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9"/>
            <p:cNvSpPr>
              <a:spLocks/>
            </p:cNvSpPr>
            <p:nvPr userDrawn="1"/>
          </p:nvSpPr>
          <p:spPr bwMode="auto">
            <a:xfrm>
              <a:off x="6140451" y="-3203575"/>
              <a:ext cx="271463" cy="83185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0"/>
            <p:cNvSpPr>
              <a:spLocks/>
            </p:cNvSpPr>
            <p:nvPr userDrawn="1"/>
          </p:nvSpPr>
          <p:spPr bwMode="auto">
            <a:xfrm>
              <a:off x="6724651" y="-3240088"/>
              <a:ext cx="404813" cy="95091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1"/>
            <p:cNvSpPr>
              <a:spLocks/>
            </p:cNvSpPr>
            <p:nvPr userDrawn="1"/>
          </p:nvSpPr>
          <p:spPr bwMode="auto">
            <a:xfrm>
              <a:off x="7299326" y="-3173413"/>
              <a:ext cx="558800" cy="1039813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2"/>
            <p:cNvSpPr>
              <a:spLocks/>
            </p:cNvSpPr>
            <p:nvPr userDrawn="1"/>
          </p:nvSpPr>
          <p:spPr bwMode="auto">
            <a:xfrm>
              <a:off x="7864476" y="-3006725"/>
              <a:ext cx="720725" cy="1103313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Freeform 23"/>
            <p:cNvSpPr>
              <a:spLocks/>
            </p:cNvSpPr>
            <p:nvPr userDrawn="1"/>
          </p:nvSpPr>
          <p:spPr bwMode="auto">
            <a:xfrm>
              <a:off x="8393113" y="-2740025"/>
              <a:ext cx="909638" cy="1138238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" name="Text Placeholder 2"/>
          <p:cNvSpPr>
            <a:spLocks noGrp="1"/>
          </p:cNvSpPr>
          <p:nvPr userDrawn="1"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4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accent2"/>
                </a:solidFill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046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704" r:id="rId3"/>
    <p:sldLayoutId id="2147483705" r:id="rId4"/>
    <p:sldLayoutId id="2147483694" r:id="rId5"/>
    <p:sldLayoutId id="2147483698" r:id="rId6"/>
    <p:sldLayoutId id="2147483699" r:id="rId7"/>
    <p:sldLayoutId id="2147483695" r:id="rId8"/>
    <p:sldLayoutId id="2147483703" r:id="rId9"/>
    <p:sldLayoutId id="2147483701" r:id="rId10"/>
    <p:sldLayoutId id="2147483702" r:id="rId11"/>
    <p:sldLayoutId id="2147483696" r:id="rId12"/>
    <p:sldLayoutId id="2147483697" r:id="rId13"/>
    <p:sldLayoutId id="2147483706" r:id="rId14"/>
    <p:sldLayoutId id="2147483707" r:id="rId15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 spc="1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24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»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Consuming APIs with Fetch and Axios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7A1EBCD-4831-59E4-AF54-61F13329BB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React &amp; APIs</a:t>
            </a:r>
          </a:p>
        </p:txBody>
      </p:sp>
    </p:spTree>
    <p:extLst>
      <p:ext uri="{BB962C8B-B14F-4D97-AF65-F5344CB8AC3E}">
        <p14:creationId xmlns:p14="http://schemas.microsoft.com/office/powerpoint/2010/main" val="2393796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C8A36B9-6DAA-9178-3579-608F2BF23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6D359-271F-7BC2-20B4-ACE4AE76B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Fetch API vs Axios</a:t>
            </a:r>
          </a:p>
          <a:p>
            <a:r>
              <a:rPr lang="en-US" dirty="0"/>
              <a:t>Response Data</a:t>
            </a:r>
          </a:p>
        </p:txBody>
      </p:sp>
    </p:spTree>
    <p:extLst>
      <p:ext uri="{BB962C8B-B14F-4D97-AF65-F5344CB8AC3E}">
        <p14:creationId xmlns:p14="http://schemas.microsoft.com/office/powerpoint/2010/main" val="3975998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8AAE37-6C44-EFD1-A224-1FC82F61AD6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597E6BDC-DC3A-A131-3C64-1F04AFB6626D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Fetch API vs Axios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8E09B7-A980-6E75-DAC8-46C12A489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100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DCEA2-50D6-C516-65CC-742821A02E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444B04-2EA6-FCF4-5F43-ABE166F4F8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5"/>
            <a:ext cx="8383980" cy="5247391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fetch()</a:t>
            </a:r>
            <a:r>
              <a:rPr lang="en-US" dirty="0"/>
              <a:t> is a built-in API for making network requests</a:t>
            </a:r>
          </a:p>
          <a:p>
            <a:pPr lvl="1"/>
            <a:r>
              <a:rPr lang="en-US" dirty="0"/>
              <a:t>No extra install needed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fetch()</a:t>
            </a:r>
            <a:r>
              <a:rPr lang="en-US" dirty="0"/>
              <a:t> is promise-based, so it can be used with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.then()</a:t>
            </a:r>
            <a:r>
              <a:rPr lang="en-US" dirty="0"/>
              <a:t> chains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async/await</a:t>
            </a:r>
            <a:r>
              <a:rPr lang="en-US" dirty="0"/>
              <a:t> syntax.</a:t>
            </a:r>
          </a:p>
          <a:p>
            <a:r>
              <a:rPr lang="en-US" dirty="0"/>
              <a:t>Calls using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fetch</a:t>
            </a:r>
            <a:r>
              <a:rPr lang="en-US" dirty="0"/>
              <a:t> must be resolved in two asynchronous steps: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fetch(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dirty="0"/>
              <a:t>: Calls an endpoint and resolves when the headers arrive.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response.json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: parses the actual response body into usable data.</a:t>
            </a:r>
          </a:p>
          <a:p>
            <a:r>
              <a:rPr lang="en-US" dirty="0"/>
              <a:t>Additionally,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fetch()</a:t>
            </a:r>
            <a:r>
              <a:rPr lang="en-US" dirty="0"/>
              <a:t> only fails on actual network failures, responses like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404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500</a:t>
            </a:r>
            <a:r>
              <a:rPr lang="en-US" dirty="0"/>
              <a:t> do not throw an error by default.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C96D22E-EB01-37C9-6E05-231DE113D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Fetching with Fetch API [Recap]</a:t>
            </a:r>
          </a:p>
        </p:txBody>
      </p:sp>
    </p:spTree>
    <p:extLst>
      <p:ext uri="{BB962C8B-B14F-4D97-AF65-F5344CB8AC3E}">
        <p14:creationId xmlns:p14="http://schemas.microsoft.com/office/powerpoint/2010/main" val="1957433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11FF3-B844-0527-7511-16BC4BD74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C4612A-AC75-B6C7-D095-6611D1D2961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953A08-F884-CED9-7575-2AF7E4152D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5254"/>
            <a:ext cx="8383980" cy="5061020"/>
          </a:xfrm>
        </p:spPr>
        <p:txBody>
          <a:bodyPr>
            <a:normAutofit fontScale="62500" lnSpcReduction="20000"/>
          </a:bodyPr>
          <a:lstStyle/>
          <a:p>
            <a:r>
              <a:rPr lang="en-US" b="1" i="1" dirty="0"/>
              <a:t>Axios</a:t>
            </a:r>
            <a:r>
              <a:rPr lang="en-US" dirty="0"/>
              <a:t> is a popular third-party JavaScript library for making network requests.</a:t>
            </a:r>
          </a:p>
          <a:p>
            <a:pPr lvl="1"/>
            <a:r>
              <a:rPr lang="en-US" dirty="0"/>
              <a:t>Popular alternative to </a:t>
            </a:r>
            <a:r>
              <a:rPr lang="en-US" b="1" i="1" dirty="0"/>
              <a:t>fetch API</a:t>
            </a:r>
          </a:p>
          <a:p>
            <a:r>
              <a:rPr lang="en-US" dirty="0"/>
              <a:t>Unlike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fetch()</a:t>
            </a:r>
            <a:r>
              <a:rPr lang="en-US" dirty="0"/>
              <a:t>, Axios must be installed as a dependency: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install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axios</a:t>
            </a:r>
            <a:endParaRPr lang="en-US" dirty="0"/>
          </a:p>
          <a:p>
            <a:r>
              <a:rPr lang="en-US" dirty="0"/>
              <a:t>Axios simplifies code associated with HTTP requests by adding an extra layer of abstraction &amp; convivence to typical logic associated with requests &amp; responses.</a:t>
            </a:r>
          </a:p>
          <a:p>
            <a:r>
              <a:rPr lang="en-US" dirty="0"/>
              <a:t>Axios </a:t>
            </a:r>
            <a:r>
              <a:rPr lang="en-US" b="1" i="1" dirty="0"/>
              <a:t>automatically parses JSON responses</a:t>
            </a:r>
            <a:r>
              <a:rPr lang="en-US" dirty="0"/>
              <a:t>, meaning there is no separate, asynchronous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response.json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step required like with fetch.</a:t>
            </a:r>
          </a:p>
          <a:p>
            <a:pPr lvl="1"/>
            <a:r>
              <a:rPr lang="en-US" dirty="0"/>
              <a:t>Note: Axios always attempts to real responses as JSON, if the response type differs, you must pass an additional argument to your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get()</a:t>
            </a:r>
            <a:r>
              <a:rPr lang="en-US" dirty="0"/>
              <a:t> function call matching the expected type.</a:t>
            </a:r>
          </a:p>
          <a:p>
            <a:r>
              <a:rPr lang="en-US" dirty="0"/>
              <a:t>Axios also </a:t>
            </a:r>
            <a:r>
              <a:rPr lang="en-US" b="1" i="1" dirty="0"/>
              <a:t>automatically rejects</a:t>
            </a:r>
            <a:r>
              <a:rPr lang="en-US" dirty="0"/>
              <a:t> on HTTP error status (400 | 500 level codes).</a:t>
            </a:r>
          </a:p>
          <a:p>
            <a:pPr lvl="1"/>
            <a:r>
              <a:rPr lang="en-US" dirty="0"/>
              <a:t>This makes try/catch reliably handle network failures </a:t>
            </a:r>
            <a:r>
              <a:rPr lang="en-US" b="1" i="1" dirty="0"/>
              <a:t>and</a:t>
            </a:r>
            <a:r>
              <a:rPr lang="en-US" dirty="0"/>
              <a:t> bad HTTP responses without a manual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response.ok</a:t>
            </a:r>
            <a:r>
              <a:rPr lang="en-US" dirty="0"/>
              <a:t> check</a:t>
            </a:r>
          </a:p>
          <a:p>
            <a:r>
              <a:rPr lang="en-US" dirty="0"/>
              <a:t>Axios has some automatic request/response transformation functionality as well.</a:t>
            </a:r>
          </a:p>
          <a:p>
            <a:r>
              <a:rPr lang="en-US" dirty="0"/>
              <a:t>Note: neither fetch nor </a:t>
            </a:r>
            <a:r>
              <a:rPr lang="en-US" dirty="0" err="1"/>
              <a:t>axios</a:t>
            </a:r>
            <a:r>
              <a:rPr lang="en-US" dirty="0"/>
              <a:t> is “better”, </a:t>
            </a:r>
            <a:r>
              <a:rPr lang="en-US" dirty="0" err="1"/>
              <a:t>axios</a:t>
            </a:r>
            <a:r>
              <a:rPr lang="en-US" dirty="0"/>
              <a:t> just provides a wrapper of convenience built on top of the fetch API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8622419-ED9C-79E9-288F-8B9084CFD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Axios</a:t>
            </a:r>
          </a:p>
        </p:txBody>
      </p:sp>
    </p:spTree>
    <p:extLst>
      <p:ext uri="{BB962C8B-B14F-4D97-AF65-F5344CB8AC3E}">
        <p14:creationId xmlns:p14="http://schemas.microsoft.com/office/powerpoint/2010/main" val="2176823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5FA11-F440-C7FB-812A-3614ABC73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C477AF6-3E54-AF05-8278-930A72FBAF7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C92421FB-AB58-AF95-42C8-C7D213F953C1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Response Data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89ABDF-8C56-6682-E8A8-9CD69A042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944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BABB2-9AE8-CCC5-FC4A-D16399480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2F99FF-C950-C4BA-8747-AFF0C0D7D0B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8A03DB-C5F4-F1FF-9030-37F3D4C84A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API responses almost never arrive in exactly the shape your components need.</a:t>
            </a:r>
          </a:p>
          <a:p>
            <a:r>
              <a:rPr lang="en-US" dirty="0"/>
              <a:t>Real-world responses often:</a:t>
            </a:r>
          </a:p>
          <a:p>
            <a:pPr lvl="1"/>
            <a:r>
              <a:rPr lang="en-US" dirty="0"/>
              <a:t>Include far more data than you need;</a:t>
            </a:r>
          </a:p>
          <a:p>
            <a:pPr lvl="1"/>
            <a:r>
              <a:rPr lang="en-US" dirty="0"/>
              <a:t>Use different field names than your app’s conventions; and/or</a:t>
            </a:r>
          </a:p>
          <a:p>
            <a:pPr lvl="1"/>
            <a:r>
              <a:rPr lang="en-US" dirty="0"/>
              <a:t>Have deeply nested levels of data.</a:t>
            </a:r>
          </a:p>
          <a:p>
            <a:r>
              <a:rPr lang="en-US" b="1" i="1" dirty="0"/>
              <a:t>Data shaping</a:t>
            </a:r>
            <a:r>
              <a:rPr lang="en-US" dirty="0"/>
              <a:t> is the process of converting raw API responses into a clean, purpose-built shapes (matching an interface/type alias you define).</a:t>
            </a:r>
          </a:p>
          <a:p>
            <a:r>
              <a:rPr lang="en-US" dirty="0"/>
              <a:t>Typically, this data shaping is placed in a dedicated </a:t>
            </a:r>
            <a:r>
              <a:rPr lang="en-US" b="1" i="1" dirty="0"/>
              <a:t>service file</a:t>
            </a:r>
            <a:r>
              <a:rPr lang="en-US" dirty="0"/>
              <a:t> – keeping the transformation logic separate from your components.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5444D7A-71D1-561A-77A1-B66A63841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Shaping Data</a:t>
            </a:r>
          </a:p>
        </p:txBody>
      </p:sp>
    </p:spTree>
    <p:extLst>
      <p:ext uri="{BB962C8B-B14F-4D97-AF65-F5344CB8AC3E}">
        <p14:creationId xmlns:p14="http://schemas.microsoft.com/office/powerpoint/2010/main" val="3127230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9D30D-3791-934E-30E0-4C0E2873A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BFE056-B1EE-7AFE-6377-611E6EF681B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8BC180-731B-7E0C-95AC-EA888DA055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/>
          </a:bodyPr>
          <a:lstStyle/>
          <a:p>
            <a:r>
              <a:rPr lang="en-US" dirty="0"/>
              <a:t>Data Shaping tasks include:</a:t>
            </a:r>
          </a:p>
          <a:p>
            <a:pPr lvl="1"/>
            <a:r>
              <a:rPr lang="en-US" dirty="0"/>
              <a:t>Renaming fields</a:t>
            </a:r>
          </a:p>
          <a:p>
            <a:pPr lvl="1"/>
            <a:r>
              <a:rPr lang="en-US" dirty="0"/>
              <a:t>Flattening nested data</a:t>
            </a:r>
          </a:p>
          <a:p>
            <a:pPr lvl="1"/>
            <a:r>
              <a:rPr lang="en-US" dirty="0"/>
              <a:t>Converting units or formats</a:t>
            </a:r>
          </a:p>
          <a:p>
            <a:pPr lvl="1"/>
            <a:r>
              <a:rPr lang="en-US" dirty="0"/>
              <a:t>Filtering only for needed fields</a:t>
            </a:r>
          </a:p>
          <a:p>
            <a:r>
              <a:rPr lang="en-US" dirty="0"/>
              <a:t>When shaping data, you should </a:t>
            </a:r>
            <a:r>
              <a:rPr lang="en-US" i="1" dirty="0"/>
              <a:t>always account for missing or unexpected data</a:t>
            </a:r>
            <a:endParaRPr lang="en-US" dirty="0"/>
          </a:p>
          <a:p>
            <a:pPr lvl="1"/>
            <a:r>
              <a:rPr lang="en-US" dirty="0"/>
              <a:t>Real APIs may occasionally return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dirty="0"/>
              <a:t>, missing fields, or unexpected types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FF38EAC-F9FD-AD0A-5EB6-1367BCB56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Shaping Data</a:t>
            </a:r>
          </a:p>
        </p:txBody>
      </p:sp>
    </p:spTree>
    <p:extLst>
      <p:ext uri="{BB962C8B-B14F-4D97-AF65-F5344CB8AC3E}">
        <p14:creationId xmlns:p14="http://schemas.microsoft.com/office/powerpoint/2010/main" val="843295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A9EDF-382F-EE1C-A7CA-CC9FC3F7B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088C61-DF83-CB44-918B-A450204E5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401793"/>
      </p:ext>
    </p:extLst>
  </p:cSld>
  <p:clrMapOvr>
    <a:masterClrMapping/>
  </p:clrMapOvr>
</p:sld>
</file>

<file path=ppt/theme/theme1.xml><?xml version="1.0" encoding="utf-8"?>
<a:theme xmlns:a="http://schemas.openxmlformats.org/drawingml/2006/main" name="2_Custom Design">
  <a:themeElements>
    <a:clrScheme name="Revature">
      <a:dk1>
        <a:sysClr val="windowText" lastClr="000000"/>
      </a:dk1>
      <a:lt1>
        <a:srgbClr val="FFFFFF"/>
      </a:lt1>
      <a:dk2>
        <a:srgbClr val="474C55"/>
      </a:dk2>
      <a:lt2>
        <a:srgbClr val="F2F2F2"/>
      </a:lt2>
      <a:accent1>
        <a:srgbClr val="F36A25"/>
      </a:accent1>
      <a:accent2>
        <a:srgbClr val="A0A1A0"/>
      </a:accent2>
      <a:accent3>
        <a:srgbClr val="474C55"/>
      </a:accent3>
      <a:accent4>
        <a:srgbClr val="F7A528"/>
      </a:accent4>
      <a:accent5>
        <a:srgbClr val="73A5C2"/>
      </a:accent5>
      <a:accent6>
        <a:srgbClr val="F36A25"/>
      </a:accent6>
      <a:hlink>
        <a:srgbClr val="F36A25"/>
      </a:hlink>
      <a:folHlink>
        <a:srgbClr val="F36A2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ature Template  101416" id="{E7AE9B54-ECDF-468C-BAC8-D7E5033F34EC}" vid="{F6400A2A-47B1-4620-B2AC-EFF1DCD888C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Revature Template  101416</Template>
  <TotalTime>8839</TotalTime>
  <Words>460</Words>
  <Application>Microsoft Office PowerPoint</Application>
  <PresentationFormat>On-screen Show (4:3)</PresentationFormat>
  <Paragraphs>51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Courier New</vt:lpstr>
      <vt:lpstr>2_Custom Design</vt:lpstr>
      <vt:lpstr>React &amp; APIs</vt:lpstr>
      <vt:lpstr>Outline</vt:lpstr>
      <vt:lpstr>PowerPoint Presentation</vt:lpstr>
      <vt:lpstr>Fetching with Fetch API [Recap]</vt:lpstr>
      <vt:lpstr>Axios</vt:lpstr>
      <vt:lpstr>PowerPoint Presentation</vt:lpstr>
      <vt:lpstr>Shaping Data</vt:lpstr>
      <vt:lpstr>Shaping Data</vt:lpstr>
      <vt:lpstr>PowerPoint Presentation</vt:lpstr>
    </vt:vector>
  </TitlesOfParts>
  <Company>Persistence Holdings, LLC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account 10</dc:creator>
  <cp:lastModifiedBy>Joseph Highe</cp:lastModifiedBy>
  <cp:revision>26</cp:revision>
  <cp:lastPrinted>2016-06-20T20:58:50Z</cp:lastPrinted>
  <dcterms:created xsi:type="dcterms:W3CDTF">2016-11-09T18:19:08Z</dcterms:created>
  <dcterms:modified xsi:type="dcterms:W3CDTF">2026-08-19T14:53:33Z</dcterms:modified>
</cp:coreProperties>
</file>