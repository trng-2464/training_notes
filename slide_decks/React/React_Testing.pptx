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443" r:id="rId4"/>
    <p:sldId id="444" r:id="rId5"/>
    <p:sldId id="451" r:id="rId6"/>
    <p:sldId id="452" r:id="rId7"/>
    <p:sldId id="453" r:id="rId8"/>
    <p:sldId id="441" r:id="rId9"/>
    <p:sldId id="448" r:id="rId10"/>
    <p:sldId id="449" r:id="rId11"/>
    <p:sldId id="458" r:id="rId12"/>
    <p:sldId id="459" r:id="rId13"/>
    <p:sldId id="454" r:id="rId14"/>
    <p:sldId id="456" r:id="rId15"/>
    <p:sldId id="457" r:id="rId16"/>
    <p:sldId id="460" r:id="rId17"/>
    <p:sldId id="461" r:id="rId18"/>
    <p:sldId id="455" r:id="rId19"/>
    <p:sldId id="464" r:id="rId20"/>
    <p:sldId id="468" r:id="rId21"/>
    <p:sldId id="469" r:id="rId22"/>
    <p:sldId id="463" r:id="rId23"/>
    <p:sldId id="358" r:id="rId24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046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8/19/2026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8/19/2026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vitest.dev/api/expect.html" TargetMode="Externa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testing-library.com/docs/queries/about/" TargetMode="Externa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sting-library/dom-testing-library/blob/main/src/event-map.js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Testing React Components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Testing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Testing Tools</a:t>
            </a:r>
          </a:p>
          <a:p>
            <a:r>
              <a:rPr lang="en-US" dirty="0"/>
              <a:t>Mocking with MSW</a:t>
            </a:r>
          </a:p>
          <a:p>
            <a:r>
              <a:rPr lang="en-US" dirty="0"/>
              <a:t>React Testing Library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16E3D-E6F0-F08E-0478-75DADA9A2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41B250-92F8-89B5-ADF2-A949449F68F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6EE4D428-F328-B02A-72D9-B4C368A4BFE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Testing Tools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962CC-DF53-F033-13EC-7A1F0D4E2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39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6D927-99C3-5FB1-02BA-AE7126234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CC19B-564C-2E39-856B-2D4A732AF8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A42E54-6F90-C85C-7144-1101AB049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Jest is a widely used JavaScript Testing Framework</a:t>
            </a:r>
          </a:p>
          <a:p>
            <a:r>
              <a:rPr lang="en-US" dirty="0"/>
              <a:t>Jest provides everything needed to write and run tests in one package, including:</a:t>
            </a:r>
          </a:p>
          <a:p>
            <a:pPr lvl="1"/>
            <a:r>
              <a:rPr lang="en-US" b="1" i="1" dirty="0"/>
              <a:t>Test Runner</a:t>
            </a:r>
            <a:r>
              <a:rPr lang="en-US" dirty="0"/>
              <a:t>: finds &amp; executes test files</a:t>
            </a:r>
          </a:p>
          <a:p>
            <a:pPr lvl="1"/>
            <a:r>
              <a:rPr lang="en-US" b="1" i="1" dirty="0"/>
              <a:t>Assertion library</a:t>
            </a:r>
            <a:r>
              <a:rPr lang="en-US" dirty="0"/>
              <a:t>: includes functions used to validate functionality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FF3DE84-6734-A2C8-ADAC-EB118B99F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| JEST</a:t>
            </a:r>
          </a:p>
        </p:txBody>
      </p:sp>
    </p:spTree>
    <p:extLst>
      <p:ext uri="{BB962C8B-B14F-4D97-AF65-F5344CB8AC3E}">
        <p14:creationId xmlns:p14="http://schemas.microsoft.com/office/powerpoint/2010/main" val="2922687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1A3D5-9131-8C1B-EAF0-96EA1033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AE28-BBD6-3FD1-737F-4E6DFA5789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3F57A9-6E54-A99A-519D-285A7C10B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Tests with Jest are written following a consistent structure: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dirty="0"/>
              <a:t>: blocks which group related tests together.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</a:t>
            </a:r>
            <a:r>
              <a:rPr lang="en-US" dirty="0"/>
              <a:t> (individual test): defines an individual test case, with a description of what it’s checking. Alternatively you can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test</a:t>
            </a:r>
            <a:r>
              <a:rPr lang="en-US" dirty="0"/>
              <a:t>.</a:t>
            </a:r>
          </a:p>
          <a:p>
            <a:r>
              <a:rPr lang="en-US" dirty="0"/>
              <a:t>Inside the actual test function,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expect()</a:t>
            </a:r>
            <a:r>
              <a:rPr lang="en-US" dirty="0"/>
              <a:t> and chained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call check behavior.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expect(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actualValue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expectedValue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/>
              <a:t>Note: Jest was traditionally used with React apps created using ‘Create React App’ (the deprecated React App creation tool)</a:t>
            </a:r>
          </a:p>
          <a:p>
            <a:pPr lvl="1"/>
            <a:r>
              <a:rPr lang="en-US" dirty="0"/>
              <a:t>You </a:t>
            </a:r>
            <a:r>
              <a:rPr lang="en-US" b="1" i="1" dirty="0"/>
              <a:t>can </a:t>
            </a:r>
            <a:r>
              <a:rPr lang="en-US" dirty="0"/>
              <a:t>use Jest with a React App using Vite, but it will require additional configuration.</a:t>
            </a:r>
          </a:p>
          <a:p>
            <a:r>
              <a:rPr lang="en-US" dirty="0">
                <a:latin typeface="+mj-lt"/>
              </a:rPr>
              <a:t>Using </a:t>
            </a:r>
            <a:r>
              <a:rPr lang="en-US" b="1" i="1" dirty="0" err="1">
                <a:latin typeface="+mj-lt"/>
                <a:cs typeface="Courier New" panose="02070309020205020404" pitchFamily="49" charset="0"/>
              </a:rPr>
              <a:t>vite</a:t>
            </a:r>
            <a:r>
              <a:rPr lang="en-US" dirty="0">
                <a:latin typeface="+mj-lt"/>
              </a:rPr>
              <a:t> (the new standard) we instead use </a:t>
            </a:r>
            <a:r>
              <a:rPr lang="en-US" b="1" i="1" dirty="0" err="1">
                <a:latin typeface="+mj-lt"/>
                <a:cs typeface="Courier New" panose="02070309020205020404" pitchFamily="49" charset="0"/>
              </a:rPr>
              <a:t>Vitest</a:t>
            </a:r>
            <a:endParaRPr lang="en-US" b="1" i="1" dirty="0"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626D46C-928F-8A7E-5030-D09089EF0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| JEST</a:t>
            </a:r>
          </a:p>
        </p:txBody>
      </p:sp>
    </p:spTree>
    <p:extLst>
      <p:ext uri="{BB962C8B-B14F-4D97-AF65-F5344CB8AC3E}">
        <p14:creationId xmlns:p14="http://schemas.microsoft.com/office/powerpoint/2010/main" val="201566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2CE7-F655-0734-EAE2-46DFE516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5FE9D-F463-0D37-A823-FF96560C210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8BC549-F0C3-3D7E-8D7F-17D3477D3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b="1" i="1" dirty="0" err="1">
                <a:latin typeface="+mj-lt"/>
                <a:cs typeface="Courier New" panose="02070309020205020404" pitchFamily="49" charset="0"/>
              </a:rPr>
              <a:t>vite</a:t>
            </a:r>
            <a:r>
              <a:rPr lang="en-US" dirty="0"/>
              <a:t> is a test runner built specifically to integrate with Vite.</a:t>
            </a:r>
          </a:p>
          <a:p>
            <a:r>
              <a:rPr lang="en-US" b="1" i="1" dirty="0" err="1">
                <a:latin typeface="+mj-lt"/>
                <a:cs typeface="Courier New" panose="02070309020205020404" pitchFamily="49" charset="0"/>
              </a:rPr>
              <a:t>Vitest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deliberately mirror’s Jest’s API almost exactly:</a:t>
            </a:r>
          </a:p>
          <a:p>
            <a:pPr lvl="1"/>
            <a:r>
              <a:rPr lang="en-US" dirty="0" err="1">
                <a:latin typeface="+mj-lt"/>
                <a:cs typeface="Courier New" panose="02070309020205020404" pitchFamily="49" charset="0"/>
              </a:rPr>
              <a:t>Vitest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uses: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describe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it/test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expect()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Although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Vitest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built to integrate with Vite, it is not built-in, and must be installed.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–D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Note: the ‘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’ indicates this as a development dependency –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vitest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will not be required in a deployed environment.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You may also need to add a script to your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package.json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to run the actual tests.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“scripts”: {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// other dependencies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“test”: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vitest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A31F7E6-71EB-BC25-B028-D2C52D144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| </a:t>
            </a:r>
            <a:r>
              <a:rPr lang="en-US" dirty="0" err="1"/>
              <a:t>Vitest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60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2AF1D-C38F-1DF6-7965-38B3001A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02D787-FE3A-1703-50A0-0754331476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0EF932-3F41-BB4B-B366-30230A711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Test files typically follow one of two naming conventions: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ComponentName.test.tsx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ComponentName.spec.tsx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/>
              <a:t>Vitest</a:t>
            </a:r>
            <a:r>
              <a:rPr lang="en-US" dirty="0"/>
              <a:t> automatically finds and runs any file matching this pattern</a:t>
            </a:r>
          </a:p>
          <a:p>
            <a:pPr lvl="1"/>
            <a:r>
              <a:rPr lang="en-US" dirty="0"/>
              <a:t>run the command “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run test</a:t>
            </a:r>
            <a:r>
              <a:rPr lang="en-US" dirty="0"/>
              <a:t>” to run your tests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797336-48A2-9C9B-D092-C83E3035A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| </a:t>
            </a:r>
            <a:r>
              <a:rPr lang="en-US" dirty="0" err="1"/>
              <a:t>Vitest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739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928C1-B13B-84ED-00FE-6DEEE7517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5CD466-78D9-20F5-3DD4-98A0666CD4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873F74E-2E29-9AFE-763E-38BA77034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Vitest</a:t>
            </a:r>
            <a:r>
              <a:rPr lang="en-US" dirty="0"/>
              <a:t> Matcher Functions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FB0F31-F016-7BCA-357E-380EFD164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576733"/>
              </p:ext>
            </p:extLst>
          </p:nvPr>
        </p:nvGraphicFramePr>
        <p:xfrm>
          <a:off x="159574" y="1350012"/>
          <a:ext cx="8824854" cy="44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83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3952753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  <a:gridCol w="2941618">
                  <a:extLst>
                    <a:ext uri="{9D8B030D-6E8A-4147-A177-3AD203B41FA5}">
                      <a16:colId xmlns:a16="http://schemas.microsoft.com/office/drawing/2014/main" val="32313115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 use case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toBe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for exact equality (===). Checks values for primitives but the same memory reference for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Compare numbers, string </a:t>
                      </a:r>
                      <a:r>
                        <a:rPr lang="en-US" sz="1400" b="0" i="1" dirty="0" err="1">
                          <a:latin typeface="+mj-lt"/>
                          <a:cs typeface="Courier New" panose="02070309020205020404" pitchFamily="49" charset="0"/>
                        </a:rPr>
                        <a:t>booleans</a:t>
                      </a:r>
                      <a:endParaRPr lang="en-US" sz="1400" b="0" i="1" dirty="0">
                        <a:latin typeface="+mj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toEqual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equality of contents of an object or array, not memory references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Comparing objects or arrays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toBeTruthy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toBeFalsy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that a value is Truthy / </a:t>
                      </a:r>
                      <a:r>
                        <a:rPr lang="en-US" sz="1400" dirty="0" err="1"/>
                        <a:t>Falsy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Verifying a value is empty, null, undefined, etc.. Or not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toBeNull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endParaRPr lang="en-US" sz="14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that a value is null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Confirming a piece of state is explicitly null, not just </a:t>
                      </a:r>
                      <a:r>
                        <a:rPr lang="en-US" sz="1400" b="0" i="1" dirty="0" err="1">
                          <a:latin typeface="+mj-lt"/>
                          <a:cs typeface="Courier New" panose="02070309020205020404" pitchFamily="49" charset="0"/>
                        </a:rPr>
                        <a:t>falsy</a:t>
                      </a:r>
                      <a:endParaRPr lang="en-US" sz="1400" b="0" i="1" dirty="0">
                        <a:latin typeface="+mj-lt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toBeUndefined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  <a:b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</a:b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toBeDefined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that a value is undefined or </a:t>
                      </a:r>
                      <a:r>
                        <a:rPr lang="en-US" sz="1400" b="1" i="1" dirty="0"/>
                        <a:t>not</a:t>
                      </a:r>
                      <a:r>
                        <a:rPr lang="en-US" sz="1400" b="0" i="0" dirty="0"/>
                        <a:t> undefined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Confirming an optional prop or field was never set or was actually set with some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toContain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that an array includes a specific item or a string includes a specific substring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Verifying list contents have an expected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375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toThrow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Checks that a function throws an error when called.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1" dirty="0">
                          <a:latin typeface="+mj-lt"/>
                          <a:cs typeface="Courier New" panose="02070309020205020404" pitchFamily="49" charset="0"/>
                        </a:rPr>
                        <a:t>Verifying error-handling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3002A6C-BF64-94FE-9AC8-DFEE18EA2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Note: For more information, and a full list of matchers check the documentation: </a:t>
            </a:r>
            <a:r>
              <a:rPr lang="en-US" dirty="0">
                <a:hlinkClick r:id="rId2"/>
              </a:rPr>
              <a:t>expect | </a:t>
            </a:r>
            <a:r>
              <a:rPr lang="en-US" dirty="0" err="1">
                <a:hlinkClick r:id="rId2"/>
              </a:rPr>
              <a:t>Vitest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12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A642F-230D-97FB-C5F3-1A4AE2BC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4EA45B-BFE1-F2DB-C97A-C38EB39A0BA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DB980F8A-7424-66FA-6174-51DC8A9D8368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Mocking with MSW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449772-177E-B78E-C4E4-B0729CB352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6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0D650-4C45-FE5A-B2E7-B3CAF4229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FE806-DEB2-EEB8-5B6F-2C189B4DC52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96AEB8-CC55-ED7F-A047-4380D0166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Mock Service Worker (MSW) is a standalone, third-party library for </a:t>
            </a:r>
            <a:r>
              <a:rPr lang="en-US" b="1" i="1" dirty="0"/>
              <a:t>intercepting network requests</a:t>
            </a:r>
            <a:endParaRPr lang="en-US" dirty="0"/>
          </a:p>
          <a:p>
            <a:pPr lvl="1"/>
            <a:r>
              <a:rPr lang="en-US" dirty="0"/>
              <a:t>Installation: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–D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MSW defines </a:t>
            </a:r>
            <a:r>
              <a:rPr lang="en-US" b="1" i="1" dirty="0"/>
              <a:t>handlers</a:t>
            </a:r>
            <a:r>
              <a:rPr lang="en-US" dirty="0"/>
              <a:t>: functions which define rules that respond with fake data when a matching URL and method are called.</a:t>
            </a:r>
          </a:p>
          <a:p>
            <a:r>
              <a:rPr lang="en-US" dirty="0"/>
              <a:t>MSW intercepts network level functionality – this means your application code is unmodified, allowing for more genuine unit tests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222B983-2391-A31D-D8DA-61B9ABFAE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Mock Service Worker (MSW)</a:t>
            </a:r>
          </a:p>
        </p:txBody>
      </p:sp>
    </p:spTree>
    <p:extLst>
      <p:ext uri="{BB962C8B-B14F-4D97-AF65-F5344CB8AC3E}">
        <p14:creationId xmlns:p14="http://schemas.microsoft.com/office/powerpoint/2010/main" val="47997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DB97E-BE3B-2218-7107-50D3B761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992E0A-4887-91CA-EF35-25DC3FEBD9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6625FD-C334-7007-141F-885788C64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MSW requires creating a </a:t>
            </a:r>
            <a:r>
              <a:rPr lang="en-US" b="1" i="1" dirty="0"/>
              <a:t>mock server</a:t>
            </a:r>
            <a:r>
              <a:rPr lang="en-US" dirty="0"/>
              <a:t> to handle the request interception.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setupServer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hanlders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</a:p>
          <a:p>
            <a:pPr lvl="1"/>
            <a:r>
              <a:rPr lang="en-US" dirty="0"/>
              <a:t>Initial function called to perform setup. </a:t>
            </a:r>
          </a:p>
          <a:p>
            <a:pPr lvl="1"/>
            <a:r>
              <a:rPr lang="en-US" dirty="0"/>
              <a:t>Function accepts array of handlers</a:t>
            </a:r>
          </a:p>
          <a:p>
            <a:pPr lvl="1"/>
            <a:r>
              <a:rPr lang="en-US" dirty="0"/>
              <a:t>Imported from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/node</a:t>
            </a:r>
            <a:r>
              <a:rPr lang="en-US" dirty="0"/>
              <a:t>’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setupServer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().listen()</a:t>
            </a:r>
          </a:p>
          <a:p>
            <a:pPr lvl="1"/>
            <a:r>
              <a:rPr lang="en-US" dirty="0"/>
              <a:t>Starts server request interception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setupServer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resetHandlers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1"/>
            <a:r>
              <a:rPr lang="en-US" dirty="0"/>
              <a:t>Resets handlers (if data changed or removing any that were added for a test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setupServer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().use() </a:t>
            </a:r>
            <a:r>
              <a:rPr lang="en-US" dirty="0"/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setupServer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().close()</a:t>
            </a:r>
          </a:p>
          <a:p>
            <a:pPr lvl="1"/>
            <a:r>
              <a:rPr lang="en-US" dirty="0"/>
              <a:t>Disable request interception &amp; cleanup</a:t>
            </a:r>
          </a:p>
          <a:p>
            <a:r>
              <a:rPr lang="en-US" dirty="0"/>
              <a:t>It is important to use proper setup and teardown with MSW to ensure tests function correctly: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beforeAll</a:t>
            </a:r>
            <a:r>
              <a:rPr lang="en-US" dirty="0"/>
              <a:t>: initial server setup and startup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afterEach</a:t>
            </a:r>
            <a:r>
              <a:rPr lang="en-US" dirty="0"/>
              <a:t>: resetting any per-test overrides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afterAll</a:t>
            </a:r>
            <a:r>
              <a:rPr lang="en-US" dirty="0"/>
              <a:t>: closing the server once all tests are complete.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45983E2-7BA8-2944-72C1-A2F3F5294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MSW | Test Setup</a:t>
            </a:r>
          </a:p>
        </p:txBody>
      </p:sp>
    </p:spTree>
    <p:extLst>
      <p:ext uri="{BB962C8B-B14F-4D97-AF65-F5344CB8AC3E}">
        <p14:creationId xmlns:p14="http://schemas.microsoft.com/office/powerpoint/2010/main" val="232514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AEDB3-4A78-AD53-AF6A-077459321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41BB0-936B-BEC3-1397-CC70BDA3351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C3177-3A25-8298-E998-F7F9C5E4B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Since Handlers mock http requests, you will often import the following: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import { http,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HttpResponse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} from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’;</a:t>
            </a:r>
          </a:p>
          <a:p>
            <a:r>
              <a:rPr lang="en-US" dirty="0"/>
              <a:t>Create a handler and associated mock data for each endpoint to test.</a:t>
            </a:r>
          </a:p>
          <a:p>
            <a:r>
              <a:rPr lang="en-US" dirty="0"/>
              <a:t>Handers can be </a:t>
            </a:r>
            <a:r>
              <a:rPr lang="en-US" b="1" i="1" dirty="0"/>
              <a:t>overridden</a:t>
            </a:r>
            <a:r>
              <a:rPr lang="en-US" dirty="0"/>
              <a:t> for a single test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server.use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</a:p>
          <a:p>
            <a:pPr lvl="1"/>
            <a:r>
              <a:rPr lang="en-US" dirty="0"/>
              <a:t>Useful for specific scenarios like a 404, or other one-time test cases, without affecting every other test’s default setup</a:t>
            </a:r>
          </a:p>
          <a:p>
            <a:r>
              <a:rPr lang="en-US" dirty="0"/>
              <a:t>MSW handlers track how many times they were called, to perform verification of code execution and not just the results of the code.</a:t>
            </a:r>
          </a:p>
          <a:p>
            <a:r>
              <a:rPr lang="en-US" dirty="0"/>
              <a:t>Note: MSW can run inside an actual browser.</a:t>
            </a:r>
          </a:p>
          <a:p>
            <a:pPr lvl="1"/>
            <a:r>
              <a:rPr lang="en-US" dirty="0"/>
              <a:t>Can be helpful to showcase functionality in a Sprint Demo before connecting to a real backend.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027EB2D-4FB3-7C6D-C463-2AA984A49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MSW | Handlers</a:t>
            </a:r>
          </a:p>
        </p:txBody>
      </p:sp>
    </p:spTree>
    <p:extLst>
      <p:ext uri="{BB962C8B-B14F-4D97-AF65-F5344CB8AC3E}">
        <p14:creationId xmlns:p14="http://schemas.microsoft.com/office/powerpoint/2010/main" val="17135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1C626-249B-E096-3063-AB32135BE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35018-20F0-A807-E0C5-A250FC8AAD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372D56-1D0E-3348-9A5B-936060465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 err="1"/>
              <a:t>ViTest</a:t>
            </a:r>
            <a:r>
              <a:rPr lang="en-US" dirty="0"/>
              <a:t> should be used as a general-purpose test runner and assertion library.</a:t>
            </a:r>
          </a:p>
          <a:p>
            <a:pPr lvl="1"/>
            <a:r>
              <a:rPr lang="en-US" dirty="0"/>
              <a:t>Test utility functions</a:t>
            </a:r>
          </a:p>
          <a:p>
            <a:pPr lvl="1"/>
            <a:r>
              <a:rPr lang="en-US" dirty="0"/>
              <a:t>Data shaping functions</a:t>
            </a:r>
          </a:p>
          <a:p>
            <a:pPr lvl="1"/>
            <a:r>
              <a:rPr lang="en-US" b="1" i="1" u="sng" dirty="0"/>
              <a:t>Logic that does not involve rendering UI</a:t>
            </a:r>
          </a:p>
          <a:p>
            <a:r>
              <a:rPr lang="en-US" dirty="0"/>
              <a:t>Testing an actual React component, rendering its JSX, simulating clicks, etc…requires additional tooling</a:t>
            </a:r>
          </a:p>
          <a:p>
            <a:pPr lvl="1"/>
            <a:r>
              <a:rPr lang="en-US" dirty="0"/>
              <a:t>For this purpose, we use </a:t>
            </a:r>
            <a:r>
              <a:rPr lang="en-US" b="1" i="1" dirty="0"/>
              <a:t>React Testing Library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68238E2-223A-FCCC-52C8-1ED143796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Tools | </a:t>
            </a:r>
            <a:r>
              <a:rPr lang="en-US" dirty="0" err="1"/>
              <a:t>Vitest</a:t>
            </a:r>
            <a:r>
              <a:rPr lang="en-US" dirty="0"/>
              <a:t> - Limitations</a:t>
            </a:r>
          </a:p>
        </p:txBody>
      </p:sp>
    </p:spTree>
    <p:extLst>
      <p:ext uri="{BB962C8B-B14F-4D97-AF65-F5344CB8AC3E}">
        <p14:creationId xmlns:p14="http://schemas.microsoft.com/office/powerpoint/2010/main" val="2548368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6EBDD-8F01-041A-F23B-5F9F5F631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6D4A83-AA05-3FCB-E473-9762531EAA6D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5B2CEA3-F025-8488-FAB8-22A6C55F9EB6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React Testing Library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6AE580-46AD-89BE-5D95-A4698A482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112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6392-F0FF-C00A-A3D4-38719F36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80A919-6840-0E96-BBA5-FF6618E209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C1513-1D81-D080-CBBB-4CA272294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09" y="1528474"/>
            <a:ext cx="8512781" cy="305789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React Testing Library is the standard tool for testing React components</a:t>
            </a:r>
          </a:p>
          <a:p>
            <a:r>
              <a:rPr lang="en-US" dirty="0"/>
              <a:t>Although it is the standard, it must be installed separately.</a:t>
            </a:r>
          </a:p>
          <a:p>
            <a:r>
              <a:rPr lang="en-US" dirty="0"/>
              <a:t>The following two packages should be installed at a minimum: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US" dirty="0"/>
              <a:t>: simulates the browser environment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–D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@testing-library/react</a:t>
            </a:r>
            <a:r>
              <a:rPr lang="en-US" dirty="0"/>
              <a:t>: core, react-specific package for simulating DOM &amp; rendering components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install –D @testing-library/react</a:t>
            </a:r>
          </a:p>
          <a:p>
            <a:r>
              <a:rPr lang="en-US" dirty="0"/>
              <a:t>After installing both, create a new ‘</a:t>
            </a:r>
            <a:r>
              <a:rPr lang="en-US" dirty="0" err="1"/>
              <a:t>vitest.config.ts</a:t>
            </a:r>
            <a:r>
              <a:rPr lang="en-US" dirty="0"/>
              <a:t>’ file in your project’s root and add the following code: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306D34-92F8-8414-8D3C-C7CDB95C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Testing Library (RTL) | Install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BD0A3D-088E-963F-8DAD-7F363785F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128" y="4586371"/>
            <a:ext cx="5151744" cy="195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6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15B2-D817-42B0-1828-9D5268D49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78EEF-97EA-913F-B4F2-332D7FC8F4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DA45BC-DD5F-11DC-7C01-0228826FF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/>
          </a:bodyPr>
          <a:lstStyle/>
          <a:p>
            <a:r>
              <a:rPr lang="en-US" dirty="0"/>
              <a:t>RTL works alongside existing testing tools (like Jest or </a:t>
            </a:r>
            <a:r>
              <a:rPr lang="en-US" dirty="0" err="1"/>
              <a:t>vitest</a:t>
            </a:r>
            <a:r>
              <a:rPr lang="en-US" dirty="0"/>
              <a:t>); however, you must ‘render’ your component in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US" dirty="0"/>
              <a:t>, simulated browser.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render(component) </a:t>
            </a:r>
            <a:r>
              <a:rPr lang="en-US" dirty="0"/>
              <a:t>takes a component and mounts it into a simulated DOM (via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jsdom</a:t>
            </a:r>
            <a:r>
              <a:rPr lang="en-US" dirty="0"/>
              <a:t>).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92683B-25C7-5FA3-37A1-B39AD05A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| Basics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14D565-9CB0-3598-268B-6E2DA6224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3890" y="3813736"/>
            <a:ext cx="4896220" cy="273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76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48BB-C255-13FD-F243-2991D51E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8A08E-5BBF-C229-DA36-EC41B4F3AE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58ED6-87E7-3E58-AEC8-E825AE637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The guiding philosophy in RTL is to </a:t>
            </a:r>
            <a:r>
              <a:rPr lang="en-US" b="1" i="1" dirty="0"/>
              <a:t>query a page the way a real user would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i.e. via text, labels, roles, etc… rather than by internal implementation details.</a:t>
            </a:r>
          </a:p>
          <a:p>
            <a:r>
              <a:rPr lang="en-US" dirty="0"/>
              <a:t>Query functions generally follow the pattern ‘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-US" dirty="0"/>
              <a:t>’ and come from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screen</a:t>
            </a:r>
            <a:r>
              <a:rPr lang="en-US" dirty="0"/>
              <a:t> module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@testing-library/react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getByText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finds an element by it’s visible text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getByRole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finds an element by its accessibility role like “button”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getByPlaceholderText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: finds an input by it’s placeholder text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userEvent</a:t>
            </a:r>
            <a:r>
              <a:rPr lang="en-US" dirty="0"/>
              <a:t>: simulates real user interactions (clicks, typing, form submissions) on rendered components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60C7607-E9AF-4668-574C-267BC64D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| Page Querying</a:t>
            </a:r>
          </a:p>
        </p:txBody>
      </p:sp>
    </p:spTree>
    <p:extLst>
      <p:ext uri="{BB962C8B-B14F-4D97-AF65-F5344CB8AC3E}">
        <p14:creationId xmlns:p14="http://schemas.microsoft.com/office/powerpoint/2010/main" val="1060419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6C634-5EDE-D727-6B43-5C967E63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4B54C-1EA6-FA08-9102-E1D306A09E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6C33F94-8AF2-7E74-7626-7ED329B87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| Example Query Functions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B6DC435-3631-D1A4-C914-246C8D6F5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639694"/>
              </p:ext>
            </p:extLst>
          </p:nvPr>
        </p:nvGraphicFramePr>
        <p:xfrm>
          <a:off x="159574" y="1350012"/>
          <a:ext cx="8706840" cy="39655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469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5584371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494848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69143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getByText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an element containing the given visible text (accepts a string or regex)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69143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getByRole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(role, options?)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an element by its accessibility role (e.g. “button”, “heading”, “textbox”). The options narrows by accessible label/text.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49484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getByPlaceholderText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an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&lt;input&gt;</a:t>
                      </a:r>
                      <a:r>
                        <a:rPr lang="en-US" sz="1400" dirty="0"/>
                        <a:t> by its placeholder attribute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494848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getByLabelText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a form element by its associated 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&lt;label&gt;</a:t>
                      </a:r>
                      <a:r>
                        <a:rPr lang="en-US" sz="1400" dirty="0"/>
                        <a:t> 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406725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getByDisplayValue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(value)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Finds an input, </a:t>
                      </a:r>
                      <a:r>
                        <a:rPr lang="en-US" sz="1400" dirty="0" err="1"/>
                        <a:t>textarea</a:t>
                      </a:r>
                      <a:r>
                        <a:rPr lang="en-US" sz="1400" dirty="0"/>
                        <a:t>, or select by its </a:t>
                      </a:r>
                      <a:r>
                        <a:rPr lang="en-US" sz="1400" i="1" dirty="0"/>
                        <a:t>current</a:t>
                      </a:r>
                      <a:r>
                        <a:rPr lang="en-US" sz="1400" i="0" dirty="0"/>
                        <a:t> value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691432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queryByText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(text)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Same as 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getByText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() </a:t>
                      </a:r>
                      <a:r>
                        <a:rPr lang="en-US" sz="1400" dirty="0"/>
                        <a:t>but returns null instead of throwing – can be used to assert something is absent.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45D26E2B-F8BE-8738-77AC-6D59C346A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Note: More information can be found on the documentation: </a:t>
            </a:r>
            <a:r>
              <a:rPr lang="en-US" dirty="0">
                <a:hlinkClick r:id="rId2"/>
              </a:rPr>
              <a:t>About Queries | Testing Library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21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F0D6F-F09A-E024-1856-59479E8E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243443-92F9-BD68-5730-6B705881DA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18F369-FD91-0660-D996-0E95F59FD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247391"/>
          </a:xfrm>
        </p:spPr>
        <p:txBody>
          <a:bodyPr>
            <a:normAutofit fontScale="92500"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</a:t>
            </a:r>
            <a:r>
              <a:rPr lang="en-US" dirty="0"/>
              <a:t> also imported from @testing-library/react simulates a user interacting with the page</a:t>
            </a:r>
          </a:p>
          <a:p>
            <a:pPr lvl="1"/>
            <a:r>
              <a:rPr lang="en-US" dirty="0"/>
              <a:t>This includes: clicks, typing, form submissions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</a:t>
            </a:r>
            <a:r>
              <a:rPr lang="en-US" dirty="0"/>
              <a:t> triggers a single, specific DOM event</a:t>
            </a:r>
          </a:p>
          <a:p>
            <a:r>
              <a:rPr lang="en-US" dirty="0"/>
              <a:t>The structure of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</a:t>
            </a:r>
            <a:r>
              <a:rPr lang="en-US" dirty="0"/>
              <a:t> call is: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fireEvent.eventType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queriedNode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i.e.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fireEvent.click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 button ); // button is a queried element on the rendered component</a:t>
            </a:r>
          </a:p>
          <a:p>
            <a:r>
              <a:rPr lang="en-US" dirty="0"/>
              <a:t>Note: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</a:t>
            </a:r>
            <a:r>
              <a:rPr lang="en-US" dirty="0"/>
              <a:t> simulates very simple and granular user interaction. It is more common to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@testing-library/user-event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library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5D3954-DEDE-435A-6D96-E002EC527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| </a:t>
            </a:r>
            <a:r>
              <a:rPr lang="en-US" dirty="0" err="1"/>
              <a:t>fireEvent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251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40440-6E5D-ED20-089E-66FDF82A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3CA3F-880C-4BD6-A96F-F08DD848D0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F87DE8-61F2-14E4-2426-282887700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| </a:t>
            </a:r>
            <a:r>
              <a:rPr lang="en-US" dirty="0" err="1"/>
              <a:t>fireEvent</a:t>
            </a:r>
            <a:r>
              <a:rPr lang="en-US" dirty="0"/>
              <a:t> example Events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A61FE-B9B1-4B8A-3D8D-C8CC30020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963562"/>
              </p:ext>
            </p:extLst>
          </p:nvPr>
        </p:nvGraphicFramePr>
        <p:xfrm>
          <a:off x="218580" y="1832333"/>
          <a:ext cx="8706840" cy="289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2469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5584371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494848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691432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fireEvent.click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(element)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Simulates a click on a given element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691432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fireEvent.change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(input, { target: { value } })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Simulates changing an input’s value (triggers </a:t>
                      </a:r>
                      <a:r>
                        <a:rPr lang="en-US" sz="1400" dirty="0" err="1"/>
                        <a:t>onChange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494848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fireEvent.submit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(form)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Simulates submitting a form (triggers </a:t>
                      </a:r>
                      <a:r>
                        <a:rPr lang="en-US" sz="1400" dirty="0" err="1"/>
                        <a:t>onSubmit</a:t>
                      </a:r>
                      <a:r>
                        <a:rPr lang="en-US" sz="1400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494848">
                <a:tc>
                  <a:txBody>
                    <a:bodyPr/>
                    <a:lstStyle/>
                    <a:p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fireEvent.keyDown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(element, { key })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Simulates a specific keyboard key being pressed.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6EB471E8-7232-5289-7216-3847E2057F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28294"/>
            <a:ext cx="8383980" cy="429706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Note: More information can be found on the documentation: </a:t>
            </a:r>
            <a:r>
              <a:rPr lang="en-US" dirty="0" err="1">
                <a:hlinkClick r:id="rId2"/>
              </a:rPr>
              <a:t>dom</a:t>
            </a:r>
            <a:r>
              <a:rPr lang="en-US" dirty="0">
                <a:hlinkClick r:id="rId2"/>
              </a:rPr>
              <a:t>-testing-library/</a:t>
            </a:r>
            <a:r>
              <a:rPr lang="en-US" dirty="0" err="1">
                <a:hlinkClick r:id="rId2"/>
              </a:rPr>
              <a:t>src</a:t>
            </a:r>
            <a:r>
              <a:rPr lang="en-US" dirty="0">
                <a:hlinkClick r:id="rId2"/>
              </a:rPr>
              <a:t>/event-map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16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99DB3-7249-F0FF-8FB1-DD06B07CC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16103A-32FD-A99D-C10B-077B73101C3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18417A1E-806C-BC7E-A1DF-610BCDB7244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Bonus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42FEFB-3196-54A9-1615-767E05DFD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240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15ED9-5E1D-32D2-9214-2435A038A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BA7AA-3BF6-E2DA-5EB0-144D3B1C3F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C06E8D-D45F-D0DF-664D-473BC8C28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524739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following, additional tools can optionally be used to provide more functionality, and connivence when writing tests: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@testing-library/jest-dom</a:t>
            </a:r>
            <a:r>
              <a:rPr lang="en-US" dirty="0"/>
              <a:t>: small library that provides additional expect matchers; specific for testing rendered DOM output</a:t>
            </a:r>
          </a:p>
          <a:p>
            <a:pPr lvl="1"/>
            <a:r>
              <a:rPr lang="en-US" dirty="0"/>
              <a:t>Provides additional, purpose-built matches for asserting elements are rendered on the DOM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toBeInTheDocument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Checks that an element exists on the document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toHaveTextContent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2000" dirty="0">
                <a:cs typeface="Courier New" panose="02070309020205020404" pitchFamily="49" charset="0"/>
              </a:rPr>
              <a:t> : Checks that an element has specific test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@testing-library/user-event</a:t>
            </a:r>
            <a:r>
              <a:rPr lang="en-US" dirty="0"/>
              <a:t>: this library acts as a more </a:t>
            </a:r>
            <a:r>
              <a:rPr lang="en-US" b="1" i="1" dirty="0"/>
              <a:t>realistic</a:t>
            </a:r>
            <a:r>
              <a:rPr lang="en-US" dirty="0"/>
              <a:t> alternative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fireEvent</a:t>
            </a:r>
            <a:r>
              <a:rPr lang="en-US" dirty="0"/>
              <a:t>, allowing for simulation of a full sequence of events.</a:t>
            </a:r>
          </a:p>
          <a:p>
            <a:pPr lvl="1"/>
            <a:r>
              <a:rPr lang="en-US" dirty="0"/>
              <a:t>E.g. a “real click” involves multiple events, including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pointerdown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mousedown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focus,</a:t>
            </a:r>
            <a:r>
              <a:rPr lang="en-US" dirty="0"/>
              <a:t> and more before the click event fires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C09A863-5AA7-D524-CED8-1D75A76613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RTL | Additional Tools</a:t>
            </a:r>
          </a:p>
        </p:txBody>
      </p:sp>
    </p:spTree>
    <p:extLst>
      <p:ext uri="{BB962C8B-B14F-4D97-AF65-F5344CB8AC3E}">
        <p14:creationId xmlns:p14="http://schemas.microsoft.com/office/powerpoint/2010/main" val="109752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EDF-382F-EE1C-A7CA-CC9FC3F7B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088C61-DF83-CB44-918B-A450204E5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401793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9068</TotalTime>
  <Words>1687</Words>
  <Application>Microsoft Office PowerPoint</Application>
  <PresentationFormat>On-screen Show (4:3)</PresentationFormat>
  <Paragraphs>188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Courier New</vt:lpstr>
      <vt:lpstr>2_Custom Design</vt:lpstr>
      <vt:lpstr>React Testing</vt:lpstr>
      <vt:lpstr>Outline</vt:lpstr>
      <vt:lpstr>PowerPoint Presentation</vt:lpstr>
      <vt:lpstr>Testing Tools | JEST</vt:lpstr>
      <vt:lpstr>Testing Tools | JEST</vt:lpstr>
      <vt:lpstr>Testing Tools | Vitest</vt:lpstr>
      <vt:lpstr>Testing Tools | Vitest</vt:lpstr>
      <vt:lpstr>Vitest Matcher Functions</vt:lpstr>
      <vt:lpstr>PowerPoint Presentation</vt:lpstr>
      <vt:lpstr>Mock Service Worker (MSW)</vt:lpstr>
      <vt:lpstr>MSW | Test Setup</vt:lpstr>
      <vt:lpstr>MSW | Handlers</vt:lpstr>
      <vt:lpstr>Testing Tools | Vitest - Limitations</vt:lpstr>
      <vt:lpstr>PowerPoint Presentation</vt:lpstr>
      <vt:lpstr>React Testing Library (RTL) | Install</vt:lpstr>
      <vt:lpstr>RTL | Basics</vt:lpstr>
      <vt:lpstr>RTL | Page Querying</vt:lpstr>
      <vt:lpstr>RTL | Example Query Functions</vt:lpstr>
      <vt:lpstr>RTL | fireEvent</vt:lpstr>
      <vt:lpstr>RTL | fireEvent example Events</vt:lpstr>
      <vt:lpstr>PowerPoint Presentation</vt:lpstr>
      <vt:lpstr>RTL | Additional Tools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33</cp:revision>
  <cp:lastPrinted>2016-06-20T20:58:50Z</cp:lastPrinted>
  <dcterms:created xsi:type="dcterms:W3CDTF">2016-11-09T18:19:08Z</dcterms:created>
  <dcterms:modified xsi:type="dcterms:W3CDTF">2026-08-19T16:46:29Z</dcterms:modified>
</cp:coreProperties>
</file>