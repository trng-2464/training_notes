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43"/>
  </p:notesMasterIdLst>
  <p:handoutMasterIdLst>
    <p:handoutMasterId r:id="rId44"/>
  </p:handoutMasterIdLst>
  <p:sldIdLst>
    <p:sldId id="256" r:id="rId2"/>
    <p:sldId id="257" r:id="rId3"/>
    <p:sldId id="357" r:id="rId4"/>
    <p:sldId id="343" r:id="rId5"/>
    <p:sldId id="367" r:id="rId6"/>
    <p:sldId id="368" r:id="rId7"/>
    <p:sldId id="381" r:id="rId8"/>
    <p:sldId id="360" r:id="rId9"/>
    <p:sldId id="402" r:id="rId10"/>
    <p:sldId id="369" r:id="rId11"/>
    <p:sldId id="363" r:id="rId12"/>
    <p:sldId id="364" r:id="rId13"/>
    <p:sldId id="365" r:id="rId14"/>
    <p:sldId id="362" r:id="rId15"/>
    <p:sldId id="366" r:id="rId16"/>
    <p:sldId id="387" r:id="rId17"/>
    <p:sldId id="359" r:id="rId18"/>
    <p:sldId id="379" r:id="rId19"/>
    <p:sldId id="378" r:id="rId20"/>
    <p:sldId id="388" r:id="rId21"/>
    <p:sldId id="386" r:id="rId22"/>
    <p:sldId id="380" r:id="rId23"/>
    <p:sldId id="389" r:id="rId24"/>
    <p:sldId id="401" r:id="rId25"/>
    <p:sldId id="411" r:id="rId26"/>
    <p:sldId id="384" r:id="rId27"/>
    <p:sldId id="383" r:id="rId28"/>
    <p:sldId id="372" r:id="rId29"/>
    <p:sldId id="385" r:id="rId30"/>
    <p:sldId id="358" r:id="rId31"/>
    <p:sldId id="376" r:id="rId32"/>
    <p:sldId id="392" r:id="rId33"/>
    <p:sldId id="393" r:id="rId34"/>
    <p:sldId id="382" r:id="rId35"/>
    <p:sldId id="391" r:id="rId36"/>
    <p:sldId id="395" r:id="rId37"/>
    <p:sldId id="397" r:id="rId38"/>
    <p:sldId id="396" r:id="rId39"/>
    <p:sldId id="398" r:id="rId40"/>
    <p:sldId id="399" r:id="rId41"/>
    <p:sldId id="400" r:id="rId42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389" autoAdjust="0"/>
  </p:normalViewPr>
  <p:slideViewPr>
    <p:cSldViewPr snapToGrid="0">
      <p:cViewPr varScale="1">
        <p:scale>
          <a:sx n="59" d="100"/>
          <a:sy n="59" d="100"/>
        </p:scale>
        <p:origin x="1698" y="72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3" d="2"/>
        <a:sy n="3" d="2"/>
      </p:scale>
      <p:origin x="-6" y="-18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9/4/2026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9/4/2026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desktop/setup/install/windows-install/" TargetMode="External"/><Relationship Id="rId2" Type="http://schemas.openxmlformats.org/officeDocument/2006/relationships/hyperlink" Target="https://docs.docker.com/engine/install/" TargetMode="Externa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A1EBCD-4831-59E4-AF54-61F13329B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Event Driven Architecture and Kafka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Event Driven Architecture</a:t>
            </a:r>
          </a:p>
          <a:p>
            <a:r>
              <a:rPr lang="en-US" dirty="0"/>
              <a:t>Kafka Setup</a:t>
            </a:r>
          </a:p>
          <a:p>
            <a:r>
              <a:rPr lang="en-US" dirty="0"/>
              <a:t>Kafka Fundamentals</a:t>
            </a:r>
          </a:p>
          <a:p>
            <a:r>
              <a:rPr lang="en-US" dirty="0"/>
              <a:t>Spring Kafka Introduction</a:t>
            </a:r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Event Driven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444B04-2EA6-FCF4-5F43-ABE166F4F8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Event Driven Architecture (EDA) is a software design pattern where the flow of the application is determined by events.</a:t>
            </a:r>
          </a:p>
          <a:p>
            <a:r>
              <a:rPr lang="en-US" dirty="0"/>
              <a:t>These events are significant occurrences within a system that trigger responses or actions</a:t>
            </a:r>
          </a:p>
          <a:p>
            <a:r>
              <a:rPr lang="en-US" dirty="0"/>
              <a:t>It is commonly used in systems requiring scalability, flexibility, and real-time processing</a:t>
            </a:r>
          </a:p>
          <a:p>
            <a:r>
              <a:rPr lang="en-US" dirty="0"/>
              <a:t>Essentially, in EDA, you write events to a log as data and consumers read data from the log to perform actions in response.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C96D22E-EB01-37C9-6E05-231DE113D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Driven Architecture</a:t>
            </a:r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2C788-AC49-35B5-3D87-52ECF6A50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FAF53-54BD-9492-484B-74913BA05E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613194-601C-514B-75D2-690D0B380F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7"/>
            <a:ext cx="8383980" cy="304031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Events</a:t>
            </a:r>
            <a:r>
              <a:rPr lang="en-US" dirty="0"/>
              <a:t>: Represent a significant (meaningful) action or change in the system. </a:t>
            </a:r>
          </a:p>
          <a:p>
            <a:pPr lvl="1"/>
            <a:r>
              <a:rPr lang="en-US" dirty="0"/>
              <a:t>E.g. “order placed”, “user signed up”</a:t>
            </a:r>
          </a:p>
          <a:p>
            <a:r>
              <a:rPr lang="en-US" dirty="0"/>
              <a:t>Events are immutable</a:t>
            </a:r>
          </a:p>
          <a:p>
            <a:r>
              <a:rPr lang="en-US" dirty="0"/>
              <a:t>Events are self-contained, carrying all necessary information to describe the occurrence</a:t>
            </a:r>
          </a:p>
          <a:p>
            <a:r>
              <a:rPr lang="en-US" dirty="0"/>
              <a:t>Asynchronous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788815-098B-487E-173C-EE84E7D89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| Core Concepts</a:t>
            </a:r>
          </a:p>
        </p:txBody>
      </p:sp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A3EAEA55-0B9D-ACBA-705E-E0F750211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2973" y="4549809"/>
            <a:ext cx="4358054" cy="2179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580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165C0-6C94-A97D-E982-048E1ED1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76D3A-6817-B8E0-4138-DA0F6A9D28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57890D-48D5-3AF7-63CE-4249E4DC91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REST APIs follow a Request/Response cycle.</a:t>
            </a:r>
          </a:p>
          <a:p>
            <a:pPr lvl="1"/>
            <a:r>
              <a:rPr lang="en-US" dirty="0"/>
              <a:t>A client “asks a question” and must wait for a direct response.</a:t>
            </a:r>
          </a:p>
          <a:p>
            <a:pPr lvl="1"/>
            <a:r>
              <a:rPr lang="en-US" dirty="0"/>
              <a:t>More tightly coupled interaction</a:t>
            </a:r>
          </a:p>
          <a:p>
            <a:r>
              <a:rPr lang="en-US" dirty="0"/>
              <a:t>Event-Driven Architecture follow an asynchronous and loosely coupled approach:</a:t>
            </a:r>
          </a:p>
          <a:p>
            <a:pPr lvl="1"/>
            <a:r>
              <a:rPr lang="en-US" dirty="0"/>
              <a:t>A producer emits an event and move on.</a:t>
            </a:r>
          </a:p>
          <a:p>
            <a:pPr lvl="1"/>
            <a:r>
              <a:rPr lang="en-US" dirty="0"/>
              <a:t>Interested parties react whenever they’re ready</a:t>
            </a:r>
          </a:p>
          <a:p>
            <a:r>
              <a:rPr lang="en-US" dirty="0"/>
              <a:t>In event-driven systems, the producer doesn’t need to know who (if anyone) is listening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AE33DE8-B799-CE7B-6692-FB8151CD7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| Core Concepts</a:t>
            </a:r>
          </a:p>
        </p:txBody>
      </p:sp>
    </p:spTree>
    <p:extLst>
      <p:ext uri="{BB962C8B-B14F-4D97-AF65-F5344CB8AC3E}">
        <p14:creationId xmlns:p14="http://schemas.microsoft.com/office/powerpoint/2010/main" val="169559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3E4F3-0783-B9ED-112E-0CA794012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324841-3C66-23E9-EF43-366DD3A02A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7D10E0-4BC4-967C-470E-2593A7786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Producers</a:t>
            </a:r>
            <a:r>
              <a:rPr lang="en-US" dirty="0"/>
              <a:t>: Components that generate events</a:t>
            </a:r>
          </a:p>
          <a:p>
            <a:pPr lvl="1"/>
            <a:r>
              <a:rPr lang="en-US" dirty="0"/>
              <a:t>Detect changes or an action that needs to be communicated, and creates an event</a:t>
            </a:r>
          </a:p>
          <a:p>
            <a:pPr lvl="1"/>
            <a:r>
              <a:rPr lang="en-US" dirty="0"/>
              <a:t>Typically, producers are user-facing components or services that trigger actions based on business logic</a:t>
            </a:r>
          </a:p>
          <a:p>
            <a:pPr lvl="2"/>
            <a:r>
              <a:rPr lang="en-US" dirty="0"/>
              <a:t>Recall the button presses in Angular</a:t>
            </a:r>
          </a:p>
          <a:p>
            <a:r>
              <a:rPr lang="en-US" b="1" dirty="0"/>
              <a:t>Consumers</a:t>
            </a:r>
            <a:r>
              <a:rPr lang="en-US" dirty="0"/>
              <a:t>: Components that react to events</a:t>
            </a:r>
          </a:p>
          <a:p>
            <a:pPr lvl="1"/>
            <a:r>
              <a:rPr lang="en-US" dirty="0"/>
              <a:t>Consumers subscribe to events and take appropriate actions when an event they are interested in occurs</a:t>
            </a:r>
          </a:p>
          <a:p>
            <a:pPr lvl="1"/>
            <a:r>
              <a:rPr lang="en-US" dirty="0"/>
              <a:t>A consumer may act by updating databases, invoking business logic, or notifying other services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2FEEAFF-924B-0D4D-BC7F-04ACC6E33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| Core Concepts</a:t>
            </a:r>
          </a:p>
        </p:txBody>
      </p:sp>
    </p:spTree>
    <p:extLst>
      <p:ext uri="{BB962C8B-B14F-4D97-AF65-F5344CB8AC3E}">
        <p14:creationId xmlns:p14="http://schemas.microsoft.com/office/powerpoint/2010/main" val="2111727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42BEF-10CE-4C9C-4493-25D2AA058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376FF-8754-6492-DABA-6604FF7ABA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D0414F-9D2E-A348-1C28-647C7BD0B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/>
              <a:t>Event Brokers</a:t>
            </a:r>
            <a:r>
              <a:rPr lang="en-US" dirty="0"/>
              <a:t>: Middleware that facilitates communication between producers and consumers</a:t>
            </a:r>
          </a:p>
          <a:p>
            <a:pPr lvl="1"/>
            <a:r>
              <a:rPr lang="en-US" dirty="0"/>
              <a:t>Decouples the event generation from event handling by ensuring that producers to not directly interact with consumers.</a:t>
            </a:r>
          </a:p>
          <a:p>
            <a:pPr lvl="1"/>
            <a:r>
              <a:rPr lang="en-US" dirty="0"/>
              <a:t>The event bus enables the asynchronous, reliable delivery of events</a:t>
            </a:r>
          </a:p>
          <a:p>
            <a:pPr lvl="1"/>
            <a:r>
              <a:rPr lang="en-US" dirty="0"/>
              <a:t>Ex: Kafka</a:t>
            </a:r>
          </a:p>
          <a:p>
            <a:r>
              <a:rPr lang="en-US" b="1" dirty="0"/>
              <a:t>Event Bus</a:t>
            </a:r>
            <a:r>
              <a:rPr lang="en-US" dirty="0"/>
              <a:t>: General term for the “pipeline” events flow through. This is a combination of the Broker and other tools (e.g. “Topics” in Kafka)</a:t>
            </a:r>
          </a:p>
          <a:p>
            <a:r>
              <a:rPr lang="en-US" b="1" dirty="0"/>
              <a:t>Event Handlers</a:t>
            </a:r>
            <a:r>
              <a:rPr lang="en-US" dirty="0"/>
              <a:t>: Logic that executes in response to an event</a:t>
            </a:r>
          </a:p>
          <a:p>
            <a:pPr lvl="1"/>
            <a:r>
              <a:rPr lang="en-US" dirty="0"/>
              <a:t>i.e. this is the code a developer writes to perform some action after reading a published event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85E9743-696E-5203-9801-302BFDEF9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| Core Concepts</a:t>
            </a:r>
          </a:p>
        </p:txBody>
      </p:sp>
    </p:spTree>
    <p:extLst>
      <p:ext uri="{BB962C8B-B14F-4D97-AF65-F5344CB8AC3E}">
        <p14:creationId xmlns:p14="http://schemas.microsoft.com/office/powerpoint/2010/main" val="2392225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32F1B-6B50-20B4-1CDF-E3D2C279C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8D97EF-B797-4BC0-B376-D9A750F015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F88B876-5892-F10F-68B3-604D37111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| Core Concepts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DC12188-9F61-3C66-D5D9-E0B132B789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5209"/>
            <a:ext cx="9144000" cy="5103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794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EE219-E9B7-4307-8E50-E3001F23C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C1B8D-2789-3F00-FCFD-D97DCB6AB8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BC94F9-59F9-5C92-72A4-59AFBFA8F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Event Brokers/Event </a:t>
            </a:r>
            <a:r>
              <a:rPr lang="en-US" dirty="0" err="1"/>
              <a:t>Bus’</a:t>
            </a:r>
            <a:r>
              <a:rPr lang="en-US" dirty="0"/>
              <a:t> perform the following roles:</a:t>
            </a:r>
          </a:p>
          <a:p>
            <a:r>
              <a:rPr lang="en-US" b="1" dirty="0"/>
              <a:t>Event Dispatching</a:t>
            </a:r>
            <a:r>
              <a:rPr lang="en-US" dirty="0"/>
              <a:t>: Ensures events are sent from the producer to the appropriate consumer</a:t>
            </a:r>
            <a:endParaRPr lang="en-US" b="1" dirty="0"/>
          </a:p>
          <a:p>
            <a:r>
              <a:rPr lang="en-US" b="1" dirty="0"/>
              <a:t>Message Queuing</a:t>
            </a:r>
            <a:r>
              <a:rPr lang="en-US" dirty="0"/>
              <a:t>: It can temporarily store events, allowing consumers to process events at their own pace. This ensures reliable delivery even if consumers are temporarily unavailable</a:t>
            </a:r>
          </a:p>
          <a:p>
            <a:r>
              <a:rPr lang="en-US" b="1" dirty="0"/>
              <a:t>Routing</a:t>
            </a:r>
            <a:r>
              <a:rPr lang="en-US" dirty="0"/>
              <a:t>: Determines which consumers should receive specific events</a:t>
            </a:r>
            <a:endParaRPr lang="en-US" b="1" dirty="0"/>
          </a:p>
          <a:p>
            <a:r>
              <a:rPr lang="en-US" b="1" dirty="0"/>
              <a:t>Persistence</a:t>
            </a:r>
            <a:r>
              <a:rPr lang="en-US" dirty="0"/>
              <a:t>: Some event brokers can persist events, enabling replay and auditing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7D4B8C-39D5-F716-79E6-397809632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| Core Concepts</a:t>
            </a:r>
          </a:p>
        </p:txBody>
      </p:sp>
    </p:spTree>
    <p:extLst>
      <p:ext uri="{BB962C8B-B14F-4D97-AF65-F5344CB8AC3E}">
        <p14:creationId xmlns:p14="http://schemas.microsoft.com/office/powerpoint/2010/main" val="1144506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017AF-B663-DC28-7CA5-BEE29B695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B2E1A-9339-29A3-9408-04E29B8C83C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5F525F-0426-7826-AC74-668C5EA24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Simple Event Processing</a:t>
            </a:r>
          </a:p>
          <a:p>
            <a:pPr lvl="1"/>
            <a:r>
              <a:rPr lang="en-US" dirty="0"/>
              <a:t>Events trigger specific actions in near real-time.</a:t>
            </a:r>
          </a:p>
          <a:p>
            <a:pPr lvl="1"/>
            <a:r>
              <a:rPr lang="en-US" dirty="0"/>
              <a:t>Example: A motion sensor turning on lights.</a:t>
            </a:r>
          </a:p>
          <a:p>
            <a:r>
              <a:rPr lang="en-US" b="1" dirty="0"/>
              <a:t>Event Stream Processing</a:t>
            </a:r>
            <a:endParaRPr lang="en-US" dirty="0"/>
          </a:p>
          <a:p>
            <a:pPr lvl="1"/>
            <a:r>
              <a:rPr lang="en-US" dirty="0"/>
              <a:t>Events are continuously analyzed in a stream.</a:t>
            </a:r>
          </a:p>
          <a:p>
            <a:pPr lvl="1"/>
            <a:r>
              <a:rPr lang="en-US" dirty="0"/>
              <a:t>Example: Real-time fraud detection in banking.</a:t>
            </a:r>
          </a:p>
          <a:p>
            <a:r>
              <a:rPr lang="en-US" b="1" dirty="0"/>
              <a:t>Complex Event Processing (CEP)</a:t>
            </a:r>
          </a:p>
          <a:p>
            <a:pPr lvl="1"/>
            <a:r>
              <a:rPr lang="en-US" dirty="0"/>
              <a:t>Multiple events are analyzed and correlated to identify patterns.</a:t>
            </a:r>
          </a:p>
          <a:p>
            <a:pPr lvl="1"/>
            <a:r>
              <a:rPr lang="en-US" dirty="0"/>
              <a:t>Example: Monitoring stock trading for unusual patterns.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3789391-56EF-1730-CE7E-4B71A53BE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| Types of EDA Patterns</a:t>
            </a:r>
          </a:p>
        </p:txBody>
      </p:sp>
    </p:spTree>
    <p:extLst>
      <p:ext uri="{BB962C8B-B14F-4D97-AF65-F5344CB8AC3E}">
        <p14:creationId xmlns:p14="http://schemas.microsoft.com/office/powerpoint/2010/main" val="3683723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CA03B-8DB5-F665-74C6-661464AE3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39C3F-6B15-4A09-A25B-B4F65A0388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2A52E5-D43E-830A-4912-1DC68867A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400" b="1" dirty="0"/>
              <a:t>Real-Time Applications</a:t>
            </a:r>
            <a:r>
              <a:rPr lang="en-US" sz="2400" dirty="0"/>
              <a:t>:</a:t>
            </a:r>
          </a:p>
          <a:p>
            <a:pPr lvl="1"/>
            <a:r>
              <a:rPr lang="en-US" dirty="0"/>
              <a:t>Chat applications, live dashboards, and notifications.</a:t>
            </a:r>
          </a:p>
          <a:p>
            <a:r>
              <a:rPr lang="en-US" sz="2400" b="1" dirty="0"/>
              <a:t>IoT Systems:</a:t>
            </a:r>
          </a:p>
          <a:p>
            <a:pPr lvl="1"/>
            <a:r>
              <a:rPr lang="en-US" dirty="0"/>
              <a:t>Sensors generating events for devices to act upon.</a:t>
            </a:r>
          </a:p>
          <a:p>
            <a:r>
              <a:rPr lang="en-US" sz="2400" b="1" dirty="0"/>
              <a:t>Microservices Communication:</a:t>
            </a:r>
          </a:p>
          <a:p>
            <a:pPr lvl="1"/>
            <a:r>
              <a:rPr lang="en-US" dirty="0"/>
              <a:t>Services communicating asynchronously to achieve scalability.</a:t>
            </a:r>
          </a:p>
          <a:p>
            <a:r>
              <a:rPr lang="en-US" sz="2400" b="1" dirty="0"/>
              <a:t>E-commerce:</a:t>
            </a:r>
          </a:p>
          <a:p>
            <a:pPr lvl="1"/>
            <a:r>
              <a:rPr lang="en-US" dirty="0"/>
              <a:t>Order processing workflows with events like "Order Placed" or "Item Shipped."</a:t>
            </a:r>
          </a:p>
          <a:p>
            <a:r>
              <a:rPr lang="en-US" sz="2400" b="1" dirty="0"/>
              <a:t>Event Sourcing:</a:t>
            </a:r>
          </a:p>
          <a:p>
            <a:pPr lvl="1"/>
            <a:r>
              <a:rPr lang="en-US" dirty="0"/>
              <a:t>Capturing the state changes as a sequence of events for reconstructing state.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BF77792-EEF1-3752-3BC3-95D9A6865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| Common Use Cases</a:t>
            </a:r>
          </a:p>
        </p:txBody>
      </p:sp>
    </p:spTree>
    <p:extLst>
      <p:ext uri="{BB962C8B-B14F-4D97-AF65-F5344CB8AC3E}">
        <p14:creationId xmlns:p14="http://schemas.microsoft.com/office/powerpoint/2010/main" val="2368711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D3B10-292D-AFC5-3B60-1286FF14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02434-0227-B315-0912-1039923FCB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347559-E348-28E4-24A3-4C150C8EC5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Event Brokers/Message Queues:</a:t>
            </a:r>
          </a:p>
          <a:p>
            <a:pPr lvl="1"/>
            <a:r>
              <a:rPr lang="en-US" dirty="0"/>
              <a:t>Kafka, RabbitMQ, Apache Pulsar, Amazon SNS/SQS, Azure Event Grid.</a:t>
            </a:r>
          </a:p>
          <a:p>
            <a:r>
              <a:rPr lang="en-US" b="1" dirty="0"/>
              <a:t>Streaming Frameworks:</a:t>
            </a:r>
          </a:p>
          <a:p>
            <a:pPr lvl="1"/>
            <a:r>
              <a:rPr lang="en-US" dirty="0"/>
              <a:t>Apache Flink, Apache Storm, Spark Streaming.</a:t>
            </a:r>
          </a:p>
          <a:p>
            <a:r>
              <a:rPr lang="en-US" b="1" dirty="0"/>
              <a:t>Serverless Solutions:</a:t>
            </a:r>
          </a:p>
          <a:p>
            <a:pPr lvl="1"/>
            <a:r>
              <a:rPr lang="en-US" dirty="0"/>
              <a:t>AWS Lambda, Azure Functions, Google Cloud Functions.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7E5BC56-B5F9-9C22-79D2-735F2D81E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| Key Technologies</a:t>
            </a:r>
          </a:p>
        </p:txBody>
      </p:sp>
    </p:spTree>
    <p:extLst>
      <p:ext uri="{BB962C8B-B14F-4D97-AF65-F5344CB8AC3E}">
        <p14:creationId xmlns:p14="http://schemas.microsoft.com/office/powerpoint/2010/main" val="1211765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FECCB-3774-6A3F-1ED1-CFFB9EAD0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83B11-A426-916F-5D44-B117E7F091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84FBD8-605D-3EB4-C4B9-D3C226B65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Scalability</a:t>
            </a:r>
            <a:endParaRPr lang="en-US" dirty="0"/>
          </a:p>
          <a:p>
            <a:pPr lvl="1"/>
            <a:r>
              <a:rPr lang="en-US" dirty="0"/>
              <a:t>Independent components can be scaled based on load</a:t>
            </a:r>
          </a:p>
          <a:p>
            <a:r>
              <a:rPr lang="en-US" b="1" dirty="0"/>
              <a:t>Loosely Coupled Systems</a:t>
            </a:r>
            <a:endParaRPr lang="en-US" dirty="0"/>
          </a:p>
          <a:p>
            <a:pPr lvl="1"/>
            <a:r>
              <a:rPr lang="en-US" dirty="0"/>
              <a:t>Produces and consumers operation independently, reducing dependencies</a:t>
            </a:r>
          </a:p>
          <a:p>
            <a:r>
              <a:rPr lang="en-US" b="1" dirty="0"/>
              <a:t>Real-Time Processing</a:t>
            </a:r>
            <a:endParaRPr lang="en-US" dirty="0"/>
          </a:p>
          <a:p>
            <a:pPr lvl="1"/>
            <a:r>
              <a:rPr lang="en-US" dirty="0"/>
              <a:t>Events are processed as they occur, enabling near-instantaneous responses.</a:t>
            </a:r>
          </a:p>
          <a:p>
            <a:r>
              <a:rPr lang="en-US" b="1" dirty="0"/>
              <a:t>Flexibility</a:t>
            </a:r>
            <a:endParaRPr lang="en-US" dirty="0"/>
          </a:p>
          <a:p>
            <a:pPr lvl="1"/>
            <a:r>
              <a:rPr lang="en-US" dirty="0"/>
              <a:t>Adding new features or consumers doesn’t require significant changes to existing components</a:t>
            </a:r>
          </a:p>
          <a:p>
            <a:r>
              <a:rPr lang="en-US" b="1" dirty="0"/>
              <a:t>Resilience</a:t>
            </a:r>
            <a:endParaRPr lang="en-US" dirty="0"/>
          </a:p>
          <a:p>
            <a:pPr lvl="1"/>
            <a:r>
              <a:rPr lang="en-US" dirty="0"/>
              <a:t>Systems can continue operations even if some components fail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319A79B-94AE-0C0C-FAAE-161307C9A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| Advantages</a:t>
            </a:r>
          </a:p>
        </p:txBody>
      </p:sp>
    </p:spTree>
    <p:extLst>
      <p:ext uri="{BB962C8B-B14F-4D97-AF65-F5344CB8AC3E}">
        <p14:creationId xmlns:p14="http://schemas.microsoft.com/office/powerpoint/2010/main" val="671935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E9E0F-BA19-C7E1-978A-E2EA9CA7D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33FD4-8BE2-AB38-3E72-8D12B68818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F158D5-481A-F929-CC06-2F90166D22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300" b="1" dirty="0"/>
              <a:t>Event Duplication:</a:t>
            </a:r>
          </a:p>
          <a:p>
            <a:pPr lvl="1"/>
            <a:r>
              <a:rPr lang="en-US" sz="2300" dirty="0"/>
              <a:t>Handling duplicate events due to retries or distributed systems.</a:t>
            </a:r>
          </a:p>
          <a:p>
            <a:pPr lvl="1"/>
            <a:r>
              <a:rPr lang="en-US" sz="2300" dirty="0"/>
              <a:t>Solution: Use idempotent consumers.</a:t>
            </a:r>
          </a:p>
          <a:p>
            <a:r>
              <a:rPr lang="en-US" sz="2300" b="1" dirty="0"/>
              <a:t>Debugging</a:t>
            </a:r>
            <a:r>
              <a:rPr lang="en-US" sz="2300" dirty="0"/>
              <a:t>:</a:t>
            </a:r>
          </a:p>
          <a:p>
            <a:pPr lvl="1"/>
            <a:r>
              <a:rPr lang="en-US" sz="2300" dirty="0"/>
              <a:t>Asynchronous nature can make debugging challenging.</a:t>
            </a:r>
          </a:p>
          <a:p>
            <a:pPr lvl="1"/>
            <a:r>
              <a:rPr lang="en-US" sz="2300" dirty="0"/>
              <a:t>Solution: Implement logging and monitoring.</a:t>
            </a:r>
          </a:p>
          <a:p>
            <a:r>
              <a:rPr lang="en-US" sz="2300" b="1" dirty="0"/>
              <a:t>Complexity</a:t>
            </a:r>
            <a:r>
              <a:rPr lang="en-US" sz="2300" dirty="0"/>
              <a:t>:</a:t>
            </a:r>
          </a:p>
          <a:p>
            <a:pPr lvl="1"/>
            <a:r>
              <a:rPr lang="en-US" sz="2300" dirty="0"/>
              <a:t>Designing and maintaining loosely coupled systems can be difficult.</a:t>
            </a:r>
          </a:p>
          <a:p>
            <a:pPr lvl="1"/>
            <a:r>
              <a:rPr lang="en-US" sz="2300" dirty="0"/>
              <a:t>Solution: Proper documentation and use of standards.</a:t>
            </a:r>
          </a:p>
          <a:p>
            <a:r>
              <a:rPr lang="en-US" sz="2300" b="1" dirty="0"/>
              <a:t>Data Consistency:</a:t>
            </a:r>
          </a:p>
          <a:p>
            <a:pPr lvl="1"/>
            <a:r>
              <a:rPr lang="en-US" sz="2300" dirty="0"/>
              <a:t>Ensuring eventual consistency across components.</a:t>
            </a:r>
          </a:p>
          <a:p>
            <a:pPr lvl="1"/>
            <a:r>
              <a:rPr lang="en-US" sz="2300" dirty="0"/>
              <a:t>Solution: Adopt patterns like Saga for distributed transactions.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BA53FC9-47F9-851D-FA12-D2F17ECAA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 | Challenges</a:t>
            </a:r>
          </a:p>
        </p:txBody>
      </p:sp>
    </p:spTree>
    <p:extLst>
      <p:ext uri="{BB962C8B-B14F-4D97-AF65-F5344CB8AC3E}">
        <p14:creationId xmlns:p14="http://schemas.microsoft.com/office/powerpoint/2010/main" val="3089362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9D687-F365-711F-D41A-967377926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BB8B3B-A20A-2458-3D79-4040782BCAA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956423D1-51DB-2422-332C-1FF23BBC9F7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Kafka Setup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34E02F-D17A-7AC0-6241-8E1011D6D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826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8364D-2DD0-6CE2-6EBF-30323D575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4134DA-9BC7-052E-B21C-1ECBAED3A3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81294F-FD6D-FEC0-D792-F41F80B573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Apache Kafka is an open-source, distributed event stream platform, used to handle large volumes of real-time data.</a:t>
            </a:r>
          </a:p>
          <a:p>
            <a:r>
              <a:rPr lang="en-US" dirty="0"/>
              <a:t>Kafka is typically used for managing streams of data, event sourcing, log aggregation, and message brokering.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4DB3F0D-192A-134E-01A5-D1B7F866B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</a:t>
            </a:r>
          </a:p>
        </p:txBody>
      </p:sp>
    </p:spTree>
    <p:extLst>
      <p:ext uri="{BB962C8B-B14F-4D97-AF65-F5344CB8AC3E}">
        <p14:creationId xmlns:p14="http://schemas.microsoft.com/office/powerpoint/2010/main" val="2683757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D4060-3303-8874-0604-74555271F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C153F-894F-08B6-8DCA-6A4A6910EA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1C1792-F08D-0371-7073-82C689B81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8969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Before writing any code, you need a </a:t>
            </a:r>
            <a:r>
              <a:rPr lang="en-US" b="1" i="1" dirty="0"/>
              <a:t>running Kafka broker</a:t>
            </a:r>
            <a:r>
              <a:rPr lang="en-US" dirty="0"/>
              <a:t> to connect to</a:t>
            </a:r>
          </a:p>
          <a:p>
            <a:pPr lvl="1"/>
            <a:r>
              <a:rPr lang="en-US" dirty="0"/>
              <a:t>Kafka can be run locally for testing/development, or in a managed cluster for a production environment</a:t>
            </a:r>
          </a:p>
          <a:p>
            <a:r>
              <a:rPr lang="en-US" dirty="0"/>
              <a:t>Docker is the fastest, and simplest way to get a local Kafka environment running</a:t>
            </a:r>
          </a:p>
          <a:p>
            <a:pPr lvl="1"/>
            <a:r>
              <a:rPr lang="en-US" dirty="0"/>
              <a:t>Install Docker (</a:t>
            </a:r>
            <a:r>
              <a:rPr lang="en-US" dirty="0">
                <a:hlinkClick r:id="rId2"/>
              </a:rPr>
              <a:t>Install Docker Engine | Docker Docs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[optional but recommended] Install Docker Desktop (</a:t>
            </a:r>
            <a:r>
              <a:rPr lang="en-US" dirty="0">
                <a:hlinkClick r:id="rId3"/>
              </a:rPr>
              <a:t>Install Docker Desktop on Windows | Docker Docs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You can confirm your docker installation with the following command in your terminal:</a:t>
            </a:r>
          </a:p>
          <a:p>
            <a:pPr lvl="2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docker --version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42E4CC-411F-880A-CF21-4712D03DA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Setup</a:t>
            </a:r>
          </a:p>
        </p:txBody>
      </p:sp>
    </p:spTree>
    <p:extLst>
      <p:ext uri="{BB962C8B-B14F-4D97-AF65-F5344CB8AC3E}">
        <p14:creationId xmlns:p14="http://schemas.microsoft.com/office/powerpoint/2010/main" val="70858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1F626-906D-A26E-3DA1-F277FA925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1F7A7-541C-2B4F-AC8F-B00610D4700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EDD189-E082-15BF-EC7C-E0E8C16F8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2243637"/>
          </a:xfrm>
        </p:spPr>
        <p:txBody>
          <a:bodyPr>
            <a:normAutofit fontScale="92500"/>
          </a:bodyPr>
          <a:lstStyle/>
          <a:p>
            <a:r>
              <a:rPr lang="en-US" dirty="0"/>
              <a:t>Navigate to a directory of your choice, and create a docker-</a:t>
            </a:r>
            <a:r>
              <a:rPr lang="en-US" dirty="0" err="1"/>
              <a:t>compose.yml</a:t>
            </a:r>
            <a:r>
              <a:rPr lang="en-US" dirty="0"/>
              <a:t> file to setup a simple broker.</a:t>
            </a:r>
          </a:p>
          <a:p>
            <a:pPr lvl="1"/>
            <a:r>
              <a:rPr lang="en-US" dirty="0"/>
              <a:t>Note: the following docker-</a:t>
            </a:r>
            <a:r>
              <a:rPr lang="en-US" dirty="0" err="1"/>
              <a:t>compose.yml</a:t>
            </a:r>
            <a:r>
              <a:rPr lang="en-US" dirty="0"/>
              <a:t> file showcases a very basic, one-broker setup. Our example will have multiple brokers, with some additional settings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F84DF1B-798F-3972-CEEF-EA870FB99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Setup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CD6400-3372-74AD-B312-54838754D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979" y="3725083"/>
            <a:ext cx="7783011" cy="2791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219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55B95-F964-D43E-96DD-85E8B1003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C631D4-C23A-4301-A427-2ED3BBAEE3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FFD028-8152-C3AA-2E42-2BC72B3E6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62500" lnSpcReduction="2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services</a:t>
            </a:r>
            <a:r>
              <a:rPr lang="en-US" dirty="0"/>
              <a:t>: declares the list of containers docker will manage (3 </a:t>
            </a:r>
            <a:r>
              <a:rPr lang="en-US" dirty="0" err="1"/>
              <a:t>kafka</a:t>
            </a:r>
            <a:r>
              <a:rPr lang="en-US" dirty="0"/>
              <a:t> brokers)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kafka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-{num}</a:t>
            </a:r>
            <a:r>
              <a:rPr lang="en-US" dirty="0"/>
              <a:t>: Name of the service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image</a:t>
            </a:r>
            <a:r>
              <a:rPr lang="en-US" dirty="0"/>
              <a:t>: informs Docker which image to pull and run</a:t>
            </a:r>
          </a:p>
          <a:p>
            <a:pPr lvl="1"/>
            <a:r>
              <a:rPr lang="en-US" dirty="0"/>
              <a:t>In this case, the latest, official </a:t>
            </a:r>
            <a:r>
              <a:rPr lang="en-US" dirty="0" err="1"/>
              <a:t>kafka</a:t>
            </a:r>
            <a:r>
              <a:rPr lang="en-US" dirty="0"/>
              <a:t> image.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ports</a:t>
            </a:r>
            <a:r>
              <a:rPr lang="en-US" dirty="0"/>
              <a:t>: which port the container will use.</a:t>
            </a:r>
          </a:p>
          <a:p>
            <a:pPr lvl="1"/>
            <a:r>
              <a:rPr lang="en-US" dirty="0"/>
              <a:t>Left port: host machine port</a:t>
            </a:r>
          </a:p>
          <a:p>
            <a:pPr lvl="1"/>
            <a:r>
              <a:rPr lang="en-US" dirty="0"/>
              <a:t>Right port: port inside the docker container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environment</a:t>
            </a:r>
            <a:r>
              <a:rPr lang="en-US" dirty="0"/>
              <a:t> block: details variables to pass to the container, which </a:t>
            </a:r>
            <a:r>
              <a:rPr lang="en-US" dirty="0" err="1"/>
              <a:t>kafka</a:t>
            </a:r>
            <a:r>
              <a:rPr lang="en-US" dirty="0"/>
              <a:t> uses to configure the broker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KAFKA_NODE_ID</a:t>
            </a:r>
            <a:r>
              <a:rPr lang="en-US" dirty="0"/>
              <a:t>: unique integer id to identify each broker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KAFKA_PROCESS_ROLES</a:t>
            </a:r>
            <a:r>
              <a:rPr lang="en-US" dirty="0"/>
              <a:t>: Allows each node to act as a broker (store data and serve clients), and a controller (manage cluster metadata) – required for cluster management, more on this later.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KAFKA_LISENERS</a:t>
            </a:r>
            <a:r>
              <a:rPr lang="en-US" dirty="0"/>
              <a:t>: declares which network interfaces/ports the broker listens on inside the contains.</a:t>
            </a:r>
          </a:p>
          <a:p>
            <a:pPr lvl="1"/>
            <a:r>
              <a:rPr lang="en-US" dirty="0"/>
              <a:t>Regular traffic (unencrypted – “</a:t>
            </a:r>
            <a:r>
              <a:rPr lang="en-US" dirty="0" err="1"/>
              <a:t>platintext</a:t>
            </a:r>
            <a:r>
              <a:rPr lang="en-US" dirty="0"/>
              <a:t>”) and controller-to-controller communication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KAFKA_ADVERTISED_LISENERS</a:t>
            </a:r>
            <a:r>
              <a:rPr lang="en-US" dirty="0"/>
              <a:t>: The address the broker tells </a:t>
            </a:r>
            <a:r>
              <a:rPr lang="en-US" b="1" i="1" dirty="0"/>
              <a:t>clients</a:t>
            </a:r>
            <a:r>
              <a:rPr lang="en-US" dirty="0"/>
              <a:t> to use when connecting to the broker</a:t>
            </a:r>
          </a:p>
          <a:p>
            <a:pPr lvl="1"/>
            <a:r>
              <a:rPr lang="en-US" dirty="0"/>
              <a:t>This is what our Spring Boot app will use</a:t>
            </a:r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8BF9A24-595D-D846-A0BF-69D4BE7C3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Docker-Compose File Breakdown</a:t>
            </a:r>
          </a:p>
        </p:txBody>
      </p:sp>
    </p:spTree>
    <p:extLst>
      <p:ext uri="{BB962C8B-B14F-4D97-AF65-F5344CB8AC3E}">
        <p14:creationId xmlns:p14="http://schemas.microsoft.com/office/powerpoint/2010/main" val="1997631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A7DB5-54AE-05C0-6206-3F403B08D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8C90C-F84E-9F0A-677E-00114993477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7EBE5C-4E46-2626-1D78-15541780A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376554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KAFKA_INTER_BROKER_LISTENER_NAME</a:t>
            </a:r>
            <a:r>
              <a:rPr lang="en-US" dirty="0"/>
              <a:t>: Informs the broker which listener (port) it should use to talk to other brokers.</a:t>
            </a:r>
          </a:p>
          <a:p>
            <a:pPr lvl="1"/>
            <a:r>
              <a:rPr lang="en-US" dirty="0"/>
              <a:t>This is important for replication and syncing metadata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KAFKA_LISTENER_SECURITY_PROTOCOL_MAP</a:t>
            </a:r>
            <a:r>
              <a:rPr lang="en-US" dirty="0"/>
              <a:t>: Tells Kafka what security protocol to use for each named listener.</a:t>
            </a:r>
          </a:p>
          <a:p>
            <a:pPr lvl="1"/>
            <a:r>
              <a:rPr lang="en-US" dirty="0"/>
              <a:t>Format: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LISTENER_NAME: PROTOCOL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‘Plaintext” means no encryption/authentication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KAFKA_CONTROLLER_LISTENER_NAMES</a:t>
            </a:r>
            <a:r>
              <a:rPr lang="en-US" dirty="0"/>
              <a:t>: Tells Kafka which of the listener named (defined above) is used for controller traffic specifically. Used with broker management – more later.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KAFKA_CONTROLLER_QUORUM_VOTERS</a:t>
            </a:r>
            <a:r>
              <a:rPr lang="en-US" dirty="0"/>
              <a:t>: Lists every controller-eligible node in the cluster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nodeId@host:port</a:t>
            </a:r>
            <a:r>
              <a:rPr lang="en-US" dirty="0"/>
              <a:t>).</a:t>
            </a:r>
          </a:p>
          <a:p>
            <a:pPr lvl="1"/>
            <a:r>
              <a:rPr lang="en-US" dirty="0"/>
              <a:t>Used so that all brokers know about each other and can form a consensus group.</a:t>
            </a:r>
          </a:p>
          <a:p>
            <a:pPr lvl="1"/>
            <a:r>
              <a:rPr lang="en-US" dirty="0"/>
              <a:t>This should be identical for all brokers on a cluster. </a:t>
            </a:r>
          </a:p>
          <a:p>
            <a:pPr lvl="1"/>
            <a:r>
              <a:rPr lang="en-US" dirty="0"/>
              <a:t>This is how they find each other and agree on cluster metadata</a:t>
            </a:r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6E6914-C404-BBFB-BF0D-A03E37425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Docker-Compose File Breakdown</a:t>
            </a:r>
          </a:p>
        </p:txBody>
      </p:sp>
    </p:spTree>
    <p:extLst>
      <p:ext uri="{BB962C8B-B14F-4D97-AF65-F5344CB8AC3E}">
        <p14:creationId xmlns:p14="http://schemas.microsoft.com/office/powerpoint/2010/main" val="1212503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6458C-2198-8186-A9BB-3353AC09C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41B26-81DC-C21D-BAC9-5F6EDF4B67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E4ADB8-FC2E-6BF5-3019-88C0CF662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Start the broker using docker compose (terminal opened in the same directory as the docker-</a:t>
            </a:r>
            <a:r>
              <a:rPr lang="en-US" dirty="0" err="1"/>
              <a:t>compose.yml</a:t>
            </a:r>
            <a:r>
              <a:rPr lang="en-US" dirty="0"/>
              <a:t> file: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docker compose up -d</a:t>
            </a:r>
          </a:p>
          <a:p>
            <a:r>
              <a:rPr lang="en-US" dirty="0"/>
              <a:t>You can verify the broker is running using Docker desktop (‘Containers’ tab should show the active container) or using the following command: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docker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You can stop the container using the GUI in Docker desktop, or using the following command: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docker compose down</a:t>
            </a:r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8ACBA9-EE7F-C3E3-CFE9-85D766C05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Setup</a:t>
            </a:r>
          </a:p>
        </p:txBody>
      </p:sp>
    </p:spTree>
    <p:extLst>
      <p:ext uri="{BB962C8B-B14F-4D97-AF65-F5344CB8AC3E}">
        <p14:creationId xmlns:p14="http://schemas.microsoft.com/office/powerpoint/2010/main" val="1621244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F1B98-DCAB-5B55-5AC9-B67FFDB3D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63576D-25E4-3829-DDA5-72ADB433B07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F889C4A2-7A90-7DBE-EBA8-3204165782A1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Kafka Fundamentals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54B911-52E8-2292-F11E-08D4D736E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9889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A98E1-B966-22C1-16C0-97C915AE9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71BABB-26DE-CC52-664D-3209E653E44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AB3671-F453-1585-45EF-7981C4661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26866"/>
            <a:ext cx="8383980" cy="530197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Topic</a:t>
            </a:r>
            <a:r>
              <a:rPr lang="en-US" dirty="0"/>
              <a:t>: A named location, in which event data (messages) are stored.</a:t>
            </a:r>
          </a:p>
          <a:p>
            <a:pPr lvl="1"/>
            <a:r>
              <a:rPr lang="en-US" dirty="0"/>
              <a:t>Topics are split into </a:t>
            </a:r>
            <a:r>
              <a:rPr lang="en-US" b="1" i="1" dirty="0"/>
              <a:t>partitions</a:t>
            </a:r>
            <a:endParaRPr lang="en-US" i="1" dirty="0"/>
          </a:p>
          <a:p>
            <a:r>
              <a:rPr lang="en-US" b="1" dirty="0"/>
              <a:t>Partition</a:t>
            </a:r>
            <a:r>
              <a:rPr lang="en-US" dirty="0"/>
              <a:t>: A smaller, immutable sequence of messages within a topic.</a:t>
            </a:r>
          </a:p>
          <a:p>
            <a:pPr lvl="1"/>
            <a:r>
              <a:rPr lang="en-US" dirty="0"/>
              <a:t>Essentially it is a “bucket” that holds some of the messages for a topic.</a:t>
            </a:r>
          </a:p>
          <a:p>
            <a:pPr lvl="1"/>
            <a:r>
              <a:rPr lang="en-US" dirty="0"/>
              <a:t>Partitions are strictly ordered; however, that ordering is not guaranteed across partitions in the same topic.</a:t>
            </a:r>
          </a:p>
          <a:p>
            <a:pPr lvl="1"/>
            <a:r>
              <a:rPr lang="en-US" dirty="0"/>
              <a:t>Each event in a partition is given an </a:t>
            </a:r>
            <a:r>
              <a:rPr lang="en-US" b="1" i="1" dirty="0"/>
              <a:t>offset</a:t>
            </a:r>
          </a:p>
          <a:p>
            <a:r>
              <a:rPr lang="en-US" b="1" dirty="0"/>
              <a:t>Offset</a:t>
            </a:r>
            <a:r>
              <a:rPr lang="en-US" dirty="0"/>
              <a:t>: a sequential ID marking it’s position in a partition’s log</a:t>
            </a:r>
          </a:p>
          <a:p>
            <a:pPr lvl="1"/>
            <a:r>
              <a:rPr lang="en-US" dirty="0"/>
              <a:t>Offsets are used by consumers to keep track of what data within a topic has been consumed already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5C46F0-AF0B-89C9-BF43-F71DFCB30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| Core Concepts</a:t>
            </a:r>
          </a:p>
        </p:txBody>
      </p:sp>
    </p:spTree>
    <p:extLst>
      <p:ext uri="{BB962C8B-B14F-4D97-AF65-F5344CB8AC3E}">
        <p14:creationId xmlns:p14="http://schemas.microsoft.com/office/powerpoint/2010/main" val="3247076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75A6C-FBCB-5FDD-C9E9-5623C4721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F7FCE2-1FC6-60E8-572D-898451E9CE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24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DC04A6-E9EC-A360-B109-EA968D573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Offset Commits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DF2603-8883-E3AC-DA36-215657212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7" y="1952361"/>
            <a:ext cx="9078726" cy="3909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806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B3317-E41D-3257-E65A-8EEBB3D87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B5614-DF20-6836-F775-C9BD4398D0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63D86F-8306-2A5E-7965-1ACACDC24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060032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Broker</a:t>
            </a:r>
            <a:r>
              <a:rPr lang="en-US" dirty="0"/>
              <a:t>: A single, core servers in Kafka which manages the storage, distribution and retrieval of event messages.</a:t>
            </a:r>
          </a:p>
          <a:p>
            <a:pPr lvl="1"/>
            <a:r>
              <a:rPr lang="en-US" dirty="0"/>
              <a:t>Brokers may replicate partition data across the Kafka cluster to ensure fault tolerance.</a:t>
            </a:r>
          </a:p>
          <a:p>
            <a:pPr lvl="1"/>
            <a:r>
              <a:rPr lang="en-US" b="1" dirty="0"/>
              <a:t>Replication</a:t>
            </a:r>
            <a:r>
              <a:rPr lang="en-US" dirty="0"/>
              <a:t> means multiple brokers hold copies of the same partition data, so Kafka can survive a broker going down without losing data.</a:t>
            </a:r>
          </a:p>
          <a:p>
            <a:pPr lvl="1"/>
            <a:r>
              <a:rPr lang="en-US" dirty="0"/>
              <a:t>Each partition in a topic has a </a:t>
            </a:r>
            <a:r>
              <a:rPr lang="en-US" b="1" i="1" dirty="0"/>
              <a:t>leader</a:t>
            </a:r>
            <a:r>
              <a:rPr lang="en-US" dirty="0"/>
              <a:t> broker that handles all reads/writes for that partition</a:t>
            </a:r>
          </a:p>
          <a:p>
            <a:pPr lvl="1"/>
            <a:r>
              <a:rPr lang="en-US" dirty="0"/>
              <a:t>Each partition has zero or more </a:t>
            </a:r>
            <a:r>
              <a:rPr lang="en-US" b="1" i="1" dirty="0"/>
              <a:t>follower</a:t>
            </a:r>
            <a:r>
              <a:rPr lang="en-US" dirty="0"/>
              <a:t> brokers which replicate the leader’s data.</a:t>
            </a:r>
          </a:p>
          <a:p>
            <a:r>
              <a:rPr lang="en-US" b="1" i="1" dirty="0"/>
              <a:t>Cluster</a:t>
            </a:r>
            <a:r>
              <a:rPr lang="en-US" dirty="0"/>
              <a:t>: A group of brokers working together.</a:t>
            </a:r>
          </a:p>
          <a:p>
            <a:pPr lvl="1"/>
            <a:r>
              <a:rPr lang="en-US" dirty="0"/>
              <a:t>Clusters allow Kafka to scale horizontally.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F7C19B0-E555-B4A8-E46F-2180589B8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| Core Concepts</a:t>
            </a:r>
          </a:p>
        </p:txBody>
      </p:sp>
    </p:spTree>
    <p:extLst>
      <p:ext uri="{BB962C8B-B14F-4D97-AF65-F5344CB8AC3E}">
        <p14:creationId xmlns:p14="http://schemas.microsoft.com/office/powerpoint/2010/main" val="1939677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2237BE-8373-56DB-80A7-AB6626D49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A9491-D937-8092-DA18-3BDA2AA39C9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23514A-6F84-646B-8916-107C2B3027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Producer</a:t>
            </a:r>
            <a:r>
              <a:rPr lang="en-US" dirty="0"/>
              <a:t>: An application or service that sends data to Kafka Topics.</a:t>
            </a:r>
          </a:p>
          <a:p>
            <a:pPr lvl="1"/>
            <a:r>
              <a:rPr lang="en-US" dirty="0"/>
              <a:t>Producers may write events directly or indirectly to a specific partition within a topic</a:t>
            </a:r>
          </a:p>
          <a:p>
            <a:r>
              <a:rPr lang="en-US" b="1" dirty="0"/>
              <a:t>Consumer</a:t>
            </a:r>
            <a:r>
              <a:rPr lang="en-US" dirty="0"/>
              <a:t>: An application or service that subscribes to Kafka topics and processes the message data.</a:t>
            </a:r>
          </a:p>
          <a:p>
            <a:pPr lvl="1"/>
            <a:r>
              <a:rPr lang="en-US" dirty="0"/>
              <a:t>Consumers track their own offset.</a:t>
            </a:r>
          </a:p>
          <a:p>
            <a:pPr lvl="1"/>
            <a:r>
              <a:rPr lang="en-US" dirty="0"/>
              <a:t>This allows consumers to re-read old events by “rewinding” if needed.</a:t>
            </a:r>
          </a:p>
          <a:p>
            <a:r>
              <a:rPr lang="en-US" dirty="0"/>
              <a:t>Kafka retains events for a configurable period (or size), not just until they are read.</a:t>
            </a:r>
          </a:p>
          <a:p>
            <a:pPr lvl="1"/>
            <a:r>
              <a:rPr lang="en-US" dirty="0"/>
              <a:t>Allows multiple consumers to read the same event independently.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6B2E041-561D-1F0C-C5DC-F3E64C99A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| Core Concepts</a:t>
            </a:r>
          </a:p>
        </p:txBody>
      </p:sp>
    </p:spTree>
    <p:extLst>
      <p:ext uri="{BB962C8B-B14F-4D97-AF65-F5344CB8AC3E}">
        <p14:creationId xmlns:p14="http://schemas.microsoft.com/office/powerpoint/2010/main" val="998743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AD2C2-0455-D12A-8F32-92A8758C5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8CA0F-F4A1-12EA-0FFE-18F57BEB06E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8BA3F23-A032-8DE8-572A-1EF37D2EB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| Core Concepts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2F2642-CA2C-5BA5-7115-B555AD3A2A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233" y="1465116"/>
            <a:ext cx="8485533" cy="508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4781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22450-EE9A-CC0D-A30F-DCDA7DBFD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52BD7-7890-A13F-5675-E5B8A90E07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7E85BC-475D-DA7B-5875-4FAFCC841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Consumer Groups</a:t>
            </a:r>
            <a:r>
              <a:rPr lang="en-US" dirty="0"/>
              <a:t>: A group of consumers that jointly consume messages from one or more Kafka topics.</a:t>
            </a:r>
          </a:p>
          <a:p>
            <a:pPr lvl="1"/>
            <a:r>
              <a:rPr lang="en-US" dirty="0"/>
              <a:t>Allows consumers to share work reading partitions on a topic.</a:t>
            </a:r>
          </a:p>
          <a:p>
            <a:pPr lvl="1"/>
            <a:r>
              <a:rPr lang="en-US" dirty="0"/>
              <a:t>Each consumer within a group reads data from an exclusive partition (i.e. one consumer can read from one partition at a time).</a:t>
            </a:r>
          </a:p>
          <a:p>
            <a:pPr lvl="1"/>
            <a:r>
              <a:rPr lang="en-US" dirty="0"/>
              <a:t>Consumer groups enable Kafka to handle parallel processing</a:t>
            </a:r>
          </a:p>
          <a:p>
            <a:r>
              <a:rPr lang="en-US" dirty="0"/>
              <a:t>Different consumer groups are fully independent</a:t>
            </a:r>
          </a:p>
          <a:p>
            <a:pPr lvl="1"/>
            <a:r>
              <a:rPr lang="en-US" dirty="0"/>
              <a:t>The same event can be processed separately by multiple groups (i.e. one group for analytics, another for notifications, etc…)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0E55CCB-5FAD-7D0E-E516-A90815F17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| Core Concepts</a:t>
            </a:r>
          </a:p>
        </p:txBody>
      </p:sp>
    </p:spTree>
    <p:extLst>
      <p:ext uri="{BB962C8B-B14F-4D97-AF65-F5344CB8AC3E}">
        <p14:creationId xmlns:p14="http://schemas.microsoft.com/office/powerpoint/2010/main" val="779196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D8CEC-F01E-D73E-2B3A-494048345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B5084A-2355-2004-F661-6213E4C8056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29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80D56957-A80C-8E73-6FD7-6E3EEC7D3BF1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Kafka CLI Fundamentals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CD9F58-F3D7-A859-2398-E93E89A0A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5559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6CC0A-B2F0-28A8-1FEC-A83C34E40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6889C8-2ED3-BA1A-C684-4E4119DCC7D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353CA9-515F-6824-6770-BEEA1DEF6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Kafka ships with a set of </a:t>
            </a:r>
            <a:r>
              <a:rPr lang="en-US" b="1" i="1" dirty="0"/>
              <a:t>command-line tools</a:t>
            </a:r>
            <a:r>
              <a:rPr lang="en-US" dirty="0"/>
              <a:t> for interacting directly with a cluster</a:t>
            </a:r>
          </a:p>
          <a:p>
            <a:pPr lvl="1"/>
            <a:r>
              <a:rPr lang="en-US" dirty="0"/>
              <a:t>No backend application is required to use Kafka</a:t>
            </a:r>
          </a:p>
          <a:p>
            <a:r>
              <a:rPr lang="en-US" dirty="0"/>
              <a:t>The CLI can be useful for </a:t>
            </a:r>
            <a:r>
              <a:rPr lang="en-US" b="1" dirty="0"/>
              <a:t>local development, debugging, quick verification</a:t>
            </a:r>
            <a:endParaRPr lang="en-US" dirty="0"/>
          </a:p>
          <a:p>
            <a:pPr lvl="1"/>
            <a:r>
              <a:rPr lang="en-US" dirty="0"/>
              <a:t>i.e. confirming a topic exists, checking if messages are being produced, inspecting consumer lag, etc…</a:t>
            </a:r>
          </a:p>
          <a:p>
            <a:r>
              <a:rPr lang="en-US" dirty="0"/>
              <a:t>Even with a project (such as Spring Kafka-based application), developers can use the CLI for sanity-testing</a:t>
            </a:r>
          </a:p>
          <a:p>
            <a:r>
              <a:rPr lang="en-US" dirty="0"/>
              <a:t>CLI tools are typically shell scripts (.</a:t>
            </a:r>
            <a:r>
              <a:rPr lang="en-US" dirty="0" err="1"/>
              <a:t>sh</a:t>
            </a:r>
            <a:r>
              <a:rPr lang="en-US" dirty="0"/>
              <a:t> files on Mac/Linux, .bat on Windows), bundled with Kafka installation (or within a docker container).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329A69-1378-B523-26FD-D7E0D82E1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CLI</a:t>
            </a:r>
          </a:p>
        </p:txBody>
      </p:sp>
    </p:spTree>
    <p:extLst>
      <p:ext uri="{BB962C8B-B14F-4D97-AF65-F5344CB8AC3E}">
        <p14:creationId xmlns:p14="http://schemas.microsoft.com/office/powerpoint/2010/main" val="685975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84F92-D6AA-D6F3-0F16-EE82BA3AF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FFB88-10DB-4751-AD08-FF574B8C9E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9019B6-3098-63E7-0197-F084F8192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kafka-topics.sh</a:t>
            </a:r>
            <a:r>
              <a:rPr lang="en-US" dirty="0"/>
              <a:t>: create, list, describe, and delete topics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kafka-console-producer.sh</a:t>
            </a:r>
            <a:r>
              <a:rPr lang="en-US" dirty="0"/>
              <a:t>: send messages to a topic directly from the terminal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kafka-console-consumer.sh</a:t>
            </a:r>
            <a:r>
              <a:rPr lang="en-US" dirty="0"/>
              <a:t>: read messages from a topic directly in the terminal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kafka-consumer-groups.sh</a:t>
            </a:r>
            <a:r>
              <a:rPr lang="en-US" dirty="0"/>
              <a:t>: inspect consumer groups, their members, and offset/lag information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9DC0E6-8B8A-9E0C-200B-D85A41395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Kafka CLI Command Basics</a:t>
            </a:r>
          </a:p>
        </p:txBody>
      </p:sp>
    </p:spTree>
    <p:extLst>
      <p:ext uri="{BB962C8B-B14F-4D97-AF65-F5344CB8AC3E}">
        <p14:creationId xmlns:p14="http://schemas.microsoft.com/office/powerpoint/2010/main" val="1646319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D9D4-C4A8-B017-8474-40575D3742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B54D2-FDB9-D3F4-D55C-C807BB58BB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C18CA8-26F2-45AC-D96B-6A31C321C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If running Kafka inside a Docker container, CLI commands need to be run </a:t>
            </a:r>
            <a:r>
              <a:rPr lang="en-US" b="1" i="1" dirty="0"/>
              <a:t>inside</a:t>
            </a:r>
            <a:r>
              <a:rPr lang="en-US" dirty="0"/>
              <a:t> a container, using docker exec.</a:t>
            </a:r>
          </a:p>
          <a:p>
            <a:r>
              <a:rPr lang="en-US" dirty="0"/>
              <a:t>Every CLI command requires a -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-bootstrap-server</a:t>
            </a:r>
            <a:r>
              <a:rPr lang="en-US" dirty="0"/>
              <a:t> flag, pointing to a running broker</a:t>
            </a:r>
          </a:p>
          <a:p>
            <a:pPr lvl="1"/>
            <a:r>
              <a:rPr lang="en-US" dirty="0"/>
              <a:t>E.g.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--bootstrap-server localhost:9092</a:t>
            </a:r>
          </a:p>
          <a:p>
            <a:r>
              <a:rPr lang="en-US" dirty="0"/>
              <a:t>Command structure is as follows: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kafka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-&lt;tool&gt;.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--&lt;action&gt; --bootstrap-server &lt;address&gt; [options]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54B5CE-2DA2-3438-B476-5F801348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CLI Commands against Docker</a:t>
            </a:r>
          </a:p>
        </p:txBody>
      </p:sp>
    </p:spTree>
    <p:extLst>
      <p:ext uri="{BB962C8B-B14F-4D97-AF65-F5344CB8AC3E}">
        <p14:creationId xmlns:p14="http://schemas.microsoft.com/office/powerpoint/2010/main" val="3938375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D5D31-AD95-28BD-312A-F1031AC2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FAADD3-76B5-D014-A791-F10E624F560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33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B2567AD3-22A1-AA15-778B-8CAC60AA9964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 to Spring Kafka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7CDD62-3739-FFA5-2289-59C1941F1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1414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3358B-E3E6-47D4-8041-C9C5B61DB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034A4-5595-8A6A-A803-6948922238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36B450-BCD4-C639-7997-93BB9A37D2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Spring Kafka is a wrapper/abstraction layer over the plain Kafka Java client</a:t>
            </a:r>
          </a:p>
          <a:p>
            <a:r>
              <a:rPr lang="en-US" dirty="0"/>
              <a:t>Spring Kafka simplifies how your application code interacts with Kafka architecture (brokers, topics, partitions)</a:t>
            </a:r>
          </a:p>
          <a:p>
            <a:r>
              <a:rPr lang="en-US" dirty="0"/>
              <a:t>Removes a lot of manual boilerplate code (creating producers/consumers, managing connections, handling serialization)</a:t>
            </a:r>
          </a:p>
          <a:p>
            <a:r>
              <a:rPr lang="en-US" dirty="0"/>
              <a:t>Leverages Spring Boot auto-configuration</a:t>
            </a:r>
          </a:p>
          <a:p>
            <a:pPr lvl="1"/>
            <a:r>
              <a:rPr lang="en-US" dirty="0"/>
              <a:t>&lt;dependency&gt;</a:t>
            </a:r>
            <a:br>
              <a:rPr lang="en-US" dirty="0"/>
            </a:br>
            <a:r>
              <a:rPr lang="en-US" dirty="0"/>
              <a:t>    &lt;</a:t>
            </a:r>
            <a:r>
              <a:rPr lang="en-US" dirty="0" err="1"/>
              <a:t>groupId</a:t>
            </a:r>
            <a:r>
              <a:rPr lang="en-US" dirty="0"/>
              <a:t>&gt;</a:t>
            </a:r>
            <a:r>
              <a:rPr lang="en-US" dirty="0" err="1"/>
              <a:t>org.springframework.boot</a:t>
            </a:r>
            <a:r>
              <a:rPr lang="en-US" dirty="0"/>
              <a:t>&lt;/</a:t>
            </a:r>
            <a:r>
              <a:rPr lang="en-US" dirty="0" err="1"/>
              <a:t>groupId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    &lt;</a:t>
            </a:r>
            <a:r>
              <a:rPr lang="en-US" dirty="0" err="1"/>
              <a:t>artifactId</a:t>
            </a:r>
            <a:r>
              <a:rPr lang="en-US" dirty="0"/>
              <a:t>&gt;spring-boot-starter-</a:t>
            </a:r>
            <a:r>
              <a:rPr lang="en-US" dirty="0" err="1"/>
              <a:t>kafka</a:t>
            </a:r>
            <a:r>
              <a:rPr lang="en-US" dirty="0"/>
              <a:t>&lt;/</a:t>
            </a:r>
            <a:r>
              <a:rPr lang="en-US" dirty="0" err="1"/>
              <a:t>artifactId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&lt;/dependency&gt;</a:t>
            </a:r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BA0F997-410E-EB2B-2546-FAFD842FF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Kafka</a:t>
            </a:r>
          </a:p>
        </p:txBody>
      </p:sp>
    </p:spTree>
    <p:extLst>
      <p:ext uri="{BB962C8B-B14F-4D97-AF65-F5344CB8AC3E}">
        <p14:creationId xmlns:p14="http://schemas.microsoft.com/office/powerpoint/2010/main" val="1146780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A97E0-BCAB-69E3-5686-743D8D590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D4527-6E22-96D7-4FDC-1334BF1D88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CCD99B-FCD7-8834-53B3-485565D4B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KafkaTemplate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&lt;K,V&gt;</a:t>
            </a:r>
            <a:r>
              <a:rPr lang="en-US" dirty="0"/>
              <a:t> – A class used as the primary tool for producing (sending) messages</a:t>
            </a:r>
          </a:p>
          <a:p>
            <a:pPr lvl="1"/>
            <a:r>
              <a:rPr lang="en-US" dirty="0"/>
              <a:t>Wraps the underlying Kafka producer client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@KafkaListener</a:t>
            </a:r>
            <a:r>
              <a:rPr lang="en-US" dirty="0"/>
              <a:t> – annotation used to mark a method as a consumer for a given topic</a:t>
            </a:r>
          </a:p>
          <a:p>
            <a:pPr lvl="1"/>
            <a:r>
              <a:rPr lang="en-US" dirty="0"/>
              <a:t>Spring handles the underlying poll (reading) loop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ProducerFactory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ConsumerFactory</a:t>
            </a:r>
            <a:r>
              <a:rPr lang="en-US" dirty="0"/>
              <a:t>: lower-level beans responsible for creating producer/consumer clients using configured properties</a:t>
            </a:r>
          </a:p>
          <a:p>
            <a:r>
              <a:rPr lang="en-US" dirty="0"/>
              <a:t>Spring Boot typically auto-configures the producer/consumer settings for you based on properties set in your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application.yml</a:t>
            </a:r>
            <a:r>
              <a:rPr lang="en-US" dirty="0"/>
              <a:t> /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application.properties</a:t>
            </a:r>
            <a:r>
              <a:rPr lang="en-US" dirty="0"/>
              <a:t>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093C519-7037-8C5F-F617-A3C16592C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Kafka | Core Building Blocks</a:t>
            </a:r>
          </a:p>
        </p:txBody>
      </p:sp>
    </p:spTree>
    <p:extLst>
      <p:ext uri="{BB962C8B-B14F-4D97-AF65-F5344CB8AC3E}">
        <p14:creationId xmlns:p14="http://schemas.microsoft.com/office/powerpoint/2010/main" val="263881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0980F-5055-E9C6-89E5-667A6F821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110EF0-D671-D76E-52F8-C1A306253C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FA8AAE-8858-D7A2-1E58-1CB82EDE5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/>
          </a:bodyPr>
          <a:lstStyle/>
          <a:p>
            <a:r>
              <a:rPr lang="en-US" dirty="0"/>
              <a:t>Connection and behavior settings live in your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application.properties</a:t>
            </a:r>
            <a:r>
              <a:rPr lang="en-US" dirty="0"/>
              <a:t> (or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application.yml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Nearly all settings are set under the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spring.kafka</a:t>
            </a:r>
            <a:r>
              <a:rPr lang="en-US" dirty="0"/>
              <a:t>’ prefix</a:t>
            </a:r>
          </a:p>
          <a:p>
            <a:r>
              <a:rPr lang="en-US" dirty="0"/>
              <a:t>Common settings: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spring.kafka.bootstrap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-servers</a:t>
            </a:r>
            <a:r>
              <a:rPr lang="en-US" dirty="0"/>
              <a:t>: one or more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host:port</a:t>
            </a:r>
            <a:r>
              <a:rPr lang="en-US" dirty="0"/>
              <a:t> addresses used for the client’s </a:t>
            </a:r>
            <a:r>
              <a:rPr lang="en-US" i="1" dirty="0"/>
              <a:t>initial</a:t>
            </a:r>
            <a:r>
              <a:rPr lang="en-US" dirty="0"/>
              <a:t> connection to the cluster.</a:t>
            </a:r>
          </a:p>
          <a:p>
            <a:pPr lvl="2"/>
            <a:r>
              <a:rPr lang="en-US" dirty="0"/>
              <a:t>Once connected, the client learns about the rest of the brokers automatically</a:t>
            </a:r>
          </a:p>
          <a:p>
            <a:pPr lvl="2"/>
            <a:r>
              <a:rPr lang="en-US" dirty="0"/>
              <a:t>Can be a single address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localhost:9092</a:t>
            </a:r>
            <a:r>
              <a:rPr lang="en-US" dirty="0"/>
              <a:t>), or a comma-separated list for multiple brokers (useful for resilience if the first one listed happens to be down when the app starts)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F39D31B-8168-28A8-4AC2-699CFBDC0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Kafka | Configuration Basics</a:t>
            </a:r>
          </a:p>
        </p:txBody>
      </p:sp>
    </p:spTree>
    <p:extLst>
      <p:ext uri="{BB962C8B-B14F-4D97-AF65-F5344CB8AC3E}">
        <p14:creationId xmlns:p14="http://schemas.microsoft.com/office/powerpoint/2010/main" val="1906309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96BF8-81BE-9D10-7DC6-3C7759986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AA3EC8-4428-D1FF-1E7C-ADDC588BF35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A697B9-A5AF-82E8-62A3-40D1D4CE4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spring.kafka.producer.key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-serializer / value-serializer</a:t>
            </a:r>
          </a:p>
          <a:p>
            <a:pPr lvl="1"/>
            <a:r>
              <a:rPr lang="en-US" dirty="0"/>
              <a:t>Tells Spring how to convert your Java objects into bytes before sending them to Kafka</a:t>
            </a:r>
          </a:p>
          <a:p>
            <a:pPr lvl="1"/>
            <a:r>
              <a:rPr lang="en-US" dirty="0"/>
              <a:t>e.g.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StringSerializer</a:t>
            </a:r>
            <a:r>
              <a:rPr lang="en-US" dirty="0"/>
              <a:t> for plain text,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JacksonJsonSerializer</a:t>
            </a:r>
            <a:r>
              <a:rPr lang="en-US" dirty="0"/>
              <a:t> for objects</a:t>
            </a:r>
          </a:p>
          <a:p>
            <a:r>
              <a:rPr lang="en-US" b="1" i="1" dirty="0"/>
              <a:t>Serializers must match the data type you’re actually sending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B9A282F-8BF0-B5A7-223B-7EDF4EDCF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Kafka | Configuration Basics - Producers</a:t>
            </a:r>
          </a:p>
        </p:txBody>
      </p:sp>
    </p:spTree>
    <p:extLst>
      <p:ext uri="{BB962C8B-B14F-4D97-AF65-F5344CB8AC3E}">
        <p14:creationId xmlns:p14="http://schemas.microsoft.com/office/powerpoint/2010/main" val="3822512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95BC-2051-43A4-DD6C-473C4C93A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17716-EC01-B8ED-01D4-3832F5B886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E8B373-20C7-741D-9363-295F95768E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spring.kafka.consumer.group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-id</a:t>
            </a:r>
          </a:p>
          <a:p>
            <a:pPr lvl="1"/>
            <a:r>
              <a:rPr lang="en-US" dirty="0"/>
              <a:t>Assigns this consumer to a consumer group</a:t>
            </a:r>
          </a:p>
          <a:p>
            <a:pPr lvl="1"/>
            <a:r>
              <a:rPr lang="en-US" dirty="0"/>
              <a:t>Required for @KafkaListener to function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spring-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kafka.consumer.auto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-offset-reset</a:t>
            </a:r>
          </a:p>
          <a:p>
            <a:pPr lvl="1"/>
            <a:r>
              <a:rPr lang="en-US" dirty="0"/>
              <a:t>Determines where a consumer starts reading if it has no previously committed offset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earliest</a:t>
            </a:r>
            <a:r>
              <a:rPr lang="en-US" dirty="0"/>
              <a:t>: start reading from the beginning of the topic if no committed offset exists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Latest (default)</a:t>
            </a:r>
            <a:r>
              <a:rPr lang="en-US" dirty="0"/>
              <a:t>: start reading only from new messages produced after the consumer connections. Ignore anything already in the topic.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-US" dirty="0"/>
              <a:t>: Throw an exception if no committed offset is found, rather than picking a starting point automatically.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Spring.kafka.consumer.key-deserializer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/ value-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deserializer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/>
              <a:t>Reverse of a producer’s serializers.</a:t>
            </a:r>
          </a:p>
          <a:p>
            <a:pPr lvl="1"/>
            <a:r>
              <a:rPr lang="en-US" dirty="0"/>
              <a:t>Converts bytes back into usable Java objects</a:t>
            </a:r>
          </a:p>
          <a:p>
            <a:pPr lvl="1"/>
            <a:r>
              <a:rPr lang="en-US" dirty="0"/>
              <a:t>Must match how that data was originally serialized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9F4E991-9790-5610-3D78-B54663EB5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Kafka | Configuration Basics - Consumers</a:t>
            </a:r>
          </a:p>
        </p:txBody>
      </p:sp>
    </p:spTree>
    <p:extLst>
      <p:ext uri="{BB962C8B-B14F-4D97-AF65-F5344CB8AC3E}">
        <p14:creationId xmlns:p14="http://schemas.microsoft.com/office/powerpoint/2010/main" val="3263756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E4F1B-FF22-380C-222C-BC3C1C35E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77176-FA8A-3393-24E1-5D71D772F2D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5F68CB-BF64-D407-5028-EB92211CC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For a simple project, I would recommend starting with just String serialization/deserialization.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JsonSerialization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/Deserialization</a:t>
            </a:r>
            <a:r>
              <a:rPr lang="en-US" dirty="0"/>
              <a:t> requires additional configuration including: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ConcurrentKafkaListenerContainerFactory</a:t>
            </a:r>
            <a:r>
              <a:rPr lang="en-US" dirty="0"/>
              <a:t>: used to inform spring what type of deserialization method to use.</a:t>
            </a:r>
          </a:p>
          <a:p>
            <a:r>
              <a:rPr lang="en-US" dirty="0"/>
              <a:t>Note: You </a:t>
            </a:r>
            <a:r>
              <a:rPr lang="en-US" i="1" dirty="0"/>
              <a:t>can</a:t>
            </a:r>
            <a:r>
              <a:rPr lang="en-US" dirty="0"/>
              <a:t> have a project which contains Json &amp; String serialization/deserialization of events as well</a:t>
            </a:r>
          </a:p>
          <a:p>
            <a:pPr lvl="1"/>
            <a:r>
              <a:rPr lang="en-US" dirty="0"/>
              <a:t>This also requires additional configuration.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C1AC0CC-95C8-2BFC-4B05-6A11A74B1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Kafka | Configuration Basics – Json vs String Serialization</a:t>
            </a:r>
          </a:p>
        </p:txBody>
      </p:sp>
    </p:spTree>
    <p:extLst>
      <p:ext uri="{BB962C8B-B14F-4D97-AF65-F5344CB8AC3E}">
        <p14:creationId xmlns:p14="http://schemas.microsoft.com/office/powerpoint/2010/main" val="41663924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C9461-5FD9-7E6B-D2EF-89D5DDE5B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92E3135-05BE-AADF-7AE0-857822F25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937315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9803</TotalTime>
  <Words>2728</Words>
  <Application>Microsoft Office PowerPoint</Application>
  <PresentationFormat>On-screen Show (4:3)</PresentationFormat>
  <Paragraphs>287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Courier New</vt:lpstr>
      <vt:lpstr>2_Custom Design</vt:lpstr>
      <vt:lpstr>Event Driven Architecture and Kafka</vt:lpstr>
      <vt:lpstr>Outline</vt:lpstr>
      <vt:lpstr>PowerPoint Presentation</vt:lpstr>
      <vt:lpstr>Event Driven Architecture</vt:lpstr>
      <vt:lpstr>EDA | Core Concepts</vt:lpstr>
      <vt:lpstr>EDA | Core Concepts</vt:lpstr>
      <vt:lpstr>EDA | Core Concepts</vt:lpstr>
      <vt:lpstr>EDA | Core Concepts</vt:lpstr>
      <vt:lpstr>EDA | Core Concepts</vt:lpstr>
      <vt:lpstr>EDA | Core Concepts</vt:lpstr>
      <vt:lpstr>EDA | Types of EDA Patterns</vt:lpstr>
      <vt:lpstr>EDA | Common Use Cases</vt:lpstr>
      <vt:lpstr>EDA | Key Technologies</vt:lpstr>
      <vt:lpstr>EDA | Advantages</vt:lpstr>
      <vt:lpstr>EDA | Challenges</vt:lpstr>
      <vt:lpstr>PowerPoint Presentation</vt:lpstr>
      <vt:lpstr>Kafka</vt:lpstr>
      <vt:lpstr>Kafka Setup</vt:lpstr>
      <vt:lpstr>Kafka Setup</vt:lpstr>
      <vt:lpstr>Docker-Compose File Breakdown</vt:lpstr>
      <vt:lpstr>Docker-Compose File Breakdown</vt:lpstr>
      <vt:lpstr>Kafka Setup</vt:lpstr>
      <vt:lpstr>PowerPoint Presentation</vt:lpstr>
      <vt:lpstr>Kafka | Core Concepts</vt:lpstr>
      <vt:lpstr>Offset Commits</vt:lpstr>
      <vt:lpstr>Kafka | Core Concepts</vt:lpstr>
      <vt:lpstr>Kafka | Core Concepts</vt:lpstr>
      <vt:lpstr>Kafka | Core Concepts</vt:lpstr>
      <vt:lpstr>Kafka | Core Concepts</vt:lpstr>
      <vt:lpstr>PowerPoint Presentation</vt:lpstr>
      <vt:lpstr>Kafka CLI</vt:lpstr>
      <vt:lpstr>Kafka CLI Command Basics</vt:lpstr>
      <vt:lpstr>Running CLI Commands against Docker</vt:lpstr>
      <vt:lpstr>PowerPoint Presentation</vt:lpstr>
      <vt:lpstr>Spring Kafka</vt:lpstr>
      <vt:lpstr>Spring Kafka | Core Building Blocks</vt:lpstr>
      <vt:lpstr>Spring Kafka | Configuration Basics</vt:lpstr>
      <vt:lpstr>Spring Kafka | Configuration Basics - Producers</vt:lpstr>
      <vt:lpstr>Spring Kafka | Configuration Basics - Consumers</vt:lpstr>
      <vt:lpstr>Spring Kafka | Configuration Basics – Json vs String Serialization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15</cp:revision>
  <cp:lastPrinted>2016-06-20T20:58:50Z</cp:lastPrinted>
  <dcterms:created xsi:type="dcterms:W3CDTF">2016-11-09T18:19:08Z</dcterms:created>
  <dcterms:modified xsi:type="dcterms:W3CDTF">2026-09-04T20:50:57Z</dcterms:modified>
</cp:coreProperties>
</file>