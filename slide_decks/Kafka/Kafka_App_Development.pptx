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57" r:id="rId4"/>
    <p:sldId id="343" r:id="rId5"/>
    <p:sldId id="406" r:id="rId6"/>
    <p:sldId id="407" r:id="rId7"/>
    <p:sldId id="408" r:id="rId8"/>
    <p:sldId id="409" r:id="rId9"/>
    <p:sldId id="382" r:id="rId10"/>
    <p:sldId id="391" r:id="rId11"/>
    <p:sldId id="411" r:id="rId12"/>
    <p:sldId id="404" r:id="rId13"/>
    <p:sldId id="405" r:id="rId14"/>
    <p:sldId id="412" r:id="rId15"/>
    <p:sldId id="413" r:id="rId16"/>
    <p:sldId id="414" r:id="rId17"/>
    <p:sldId id="415" r:id="rId18"/>
    <p:sldId id="417" r:id="rId19"/>
    <p:sldId id="418" r:id="rId20"/>
    <p:sldId id="416" r:id="rId21"/>
    <p:sldId id="400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740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177" y="320634"/>
            <a:ext cx="7472166" cy="2543545"/>
          </a:xfrm>
        </p:spPr>
        <p:txBody>
          <a:bodyPr/>
          <a:lstStyle/>
          <a:p>
            <a:r>
              <a:rPr lang="en-US" dirty="0"/>
              <a:t>Kafka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 Development</a:t>
            </a:r>
          </a:p>
          <a:p>
            <a:r>
              <a:rPr lang="en-US" dirty="0"/>
              <a:t>Consumer Development</a:t>
            </a:r>
          </a:p>
          <a:p>
            <a:r>
              <a:rPr lang="en-US" dirty="0"/>
              <a:t>Error Handling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Producer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KafkaTemplate.send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is asynchronous by default</a:t>
            </a:r>
          </a:p>
          <a:p>
            <a:pPr lvl="1"/>
            <a:r>
              <a:rPr lang="en-US" dirty="0"/>
              <a:t>It returns immediately with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CompletableFuture</a:t>
            </a:r>
            <a:r>
              <a:rPr lang="en-US" dirty="0"/>
              <a:t> object</a:t>
            </a:r>
          </a:p>
          <a:p>
            <a:r>
              <a:rPr lang="en-US" dirty="0"/>
              <a:t>This means the producer can send manage messages quickly without blocking the program</a:t>
            </a:r>
          </a:p>
          <a:p>
            <a:r>
              <a:rPr lang="en-US" dirty="0"/>
              <a:t>It also means you need a way to know if a send actually succeeded or failed</a:t>
            </a:r>
          </a:p>
          <a:p>
            <a:r>
              <a:rPr lang="en-US" dirty="0"/>
              <a:t>Attaching a callback lets you react to success or failure without slowing down the producer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SendResult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&lt;K, V&gt;</a:t>
            </a:r>
            <a:r>
              <a:rPr lang="en-US" dirty="0"/>
              <a:t> is a wrapper in Spring Kafka that wraps the event data after sending a message to a partition.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SendResults</a:t>
            </a:r>
            <a:r>
              <a:rPr lang="en-US" dirty="0"/>
              <a:t> contains:</a:t>
            </a:r>
          </a:p>
          <a:p>
            <a:pPr lvl="1"/>
            <a:r>
              <a:rPr lang="en-US" dirty="0"/>
              <a:t>A reference to the record’s metadata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getRecordMetadata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), which details </a:t>
            </a:r>
            <a:r>
              <a:rPr lang="en-US" i="1" dirty="0"/>
              <a:t>where</a:t>
            </a:r>
            <a:r>
              <a:rPr lang="en-US" dirty="0"/>
              <a:t> the message landed.</a:t>
            </a:r>
          </a:p>
          <a:p>
            <a:pPr lvl="1"/>
            <a:r>
              <a:rPr lang="en-US" dirty="0"/>
              <a:t>A reference to the original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ProducerRecord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&lt;K, V&gt;</a:t>
            </a:r>
            <a:r>
              <a:rPr lang="en-US" dirty="0"/>
              <a:t> that was actually sent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getProducerRecord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), which contains the event payload.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KafkaTemplate.send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E3F9-6B5D-D0E1-C455-7E384B56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2C7BE-AF01-D0C6-2927-A68A065B40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BE7B8-98D8-006F-525D-109BA42E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The typical callback is set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whenComplete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on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CompletableFuture</a:t>
            </a:r>
            <a:r>
              <a:rPr lang="en-US" dirty="0"/>
              <a:t> object.</a:t>
            </a:r>
          </a:p>
          <a:p>
            <a:r>
              <a:rPr lang="en-US" dirty="0"/>
              <a:t>This method is given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SendResult</a:t>
            </a:r>
            <a:r>
              <a:rPr lang="en-US" dirty="0"/>
              <a:t> object and potentially a throwable object (if the send failed).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C9EF63-43FD-705A-3CBE-D53AE06D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Completable Future</a:t>
            </a:r>
          </a:p>
        </p:txBody>
      </p:sp>
    </p:spTree>
    <p:extLst>
      <p:ext uri="{BB962C8B-B14F-4D97-AF65-F5344CB8AC3E}">
        <p14:creationId xmlns:p14="http://schemas.microsoft.com/office/powerpoint/2010/main" val="63995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E389-E0A7-5621-DB38-EA2E0334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B2E12-8110-04FC-C6A4-8E259C839E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75091-9CE0-B6AF-50B3-D5C336CA7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Providing a </a:t>
            </a:r>
            <a:r>
              <a:rPr lang="en-US" b="1" i="1" dirty="0"/>
              <a:t>key</a:t>
            </a:r>
            <a:r>
              <a:rPr lang="en-US" dirty="0"/>
              <a:t> ensures all messages with that key land on the same partition, preserving order for related events</a:t>
            </a:r>
          </a:p>
          <a:p>
            <a:r>
              <a:rPr lang="en-US" dirty="0"/>
              <a:t>Choosing a good key isn’t just “picking something unique”. Keys should reflect what actually needs to stay ordered, relative to itself </a:t>
            </a:r>
          </a:p>
          <a:p>
            <a:pPr lvl="1"/>
            <a:r>
              <a:rPr lang="en-US" dirty="0"/>
              <a:t>(e.g. all events for one order, not all events for one customer)</a:t>
            </a:r>
          </a:p>
          <a:p>
            <a:r>
              <a:rPr lang="en-US" dirty="0"/>
              <a:t>Without a key, Kafka distributes messages across partitions using some partitioning strategy (typically ‘round-robin’)</a:t>
            </a:r>
          </a:p>
          <a:p>
            <a:r>
              <a:rPr lang="en-US" dirty="0"/>
              <a:t>Kafka does allow you to explicitly specify a target partition; however, is not very common, and should be used deliberately.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32C775-73ED-F578-B0A3-06BE24B1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Keys and Partitioning</a:t>
            </a:r>
          </a:p>
        </p:txBody>
      </p:sp>
    </p:spTree>
    <p:extLst>
      <p:ext uri="{BB962C8B-B14F-4D97-AF65-F5344CB8AC3E}">
        <p14:creationId xmlns:p14="http://schemas.microsoft.com/office/powerpoint/2010/main" val="230207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6E3D-F96F-F6AE-710A-BDA8BA35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7BF98-DD42-D1BF-77EC-579992717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970BE-45AB-333A-04B4-4266DD49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StringSerializer</a:t>
            </a:r>
            <a:r>
              <a:rPr lang="en-US" dirty="0"/>
              <a:t> is useful for simple text payloads; however, real applications typically send </a:t>
            </a:r>
            <a:r>
              <a:rPr lang="en-US" b="1" i="1" dirty="0"/>
              <a:t>structured data</a:t>
            </a:r>
            <a:r>
              <a:rPr lang="en-US" dirty="0"/>
              <a:t> (objects).</a:t>
            </a:r>
          </a:p>
          <a:p>
            <a:pPr lvl="1"/>
            <a:r>
              <a:rPr lang="en-US" dirty="0"/>
              <a:t>This requires a JSON-capable serializer instead</a:t>
            </a:r>
          </a:p>
          <a:p>
            <a:r>
              <a:rPr lang="en-US" dirty="0"/>
              <a:t>Sending structured objects means defining a plain Java class representing the event shape.</a:t>
            </a:r>
          </a:p>
          <a:p>
            <a:pPr lvl="1"/>
            <a:r>
              <a:rPr lang="en-US" dirty="0"/>
              <a:t>You then match producers and consumers to expect this type.</a:t>
            </a:r>
          </a:p>
          <a:p>
            <a:r>
              <a:rPr lang="en-US" dirty="0"/>
              <a:t>Multiple serialization strategies can coexist in one application (different topics can use different producer configurations)</a:t>
            </a:r>
          </a:p>
          <a:p>
            <a:pPr lvl="1"/>
            <a:r>
              <a:rPr lang="en-US" dirty="0"/>
              <a:t>Requires explicit, and separately configured producers (and consumers)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E1FC7C-D9C0-74A5-3896-C84ADC66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259959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CD7B-3BB2-133A-A2E2-0DD39DD8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28F72-EAA4-7FAA-92C6-810FEF800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10F8C-3022-6644-6EC5-ECFAD2260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Since requests are sent asynchronously, brokers need to send some confirmation to an application, acknowledging an event was received.</a:t>
            </a:r>
          </a:p>
          <a:p>
            <a:r>
              <a:rPr lang="en-US" dirty="0"/>
              <a:t>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acks</a:t>
            </a:r>
            <a:r>
              <a:rPr lang="en-US" dirty="0"/>
              <a:t>’ setting (set in your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/>
              <a:t>) is used to control how many brokers must confirm a message before the producer considers it “sent successfully”.</a:t>
            </a:r>
          </a:p>
          <a:p>
            <a:pPr lvl="1"/>
            <a:r>
              <a:rPr lang="en-US" dirty="0"/>
              <a:t>This is a tradeoff between safety and speed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acks=0</a:t>
            </a:r>
            <a:r>
              <a:rPr lang="en-US" dirty="0"/>
              <a:t>: don’t wait for any confirmation. This is the fastest, but could result in silently losing data.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acks=1</a:t>
            </a:r>
            <a:r>
              <a:rPr lang="en-US" dirty="0"/>
              <a:t>: wait for the partition leader only. Middle-ground approach, safe against most failures, but not all.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acks=all</a:t>
            </a:r>
            <a:r>
              <a:rPr lang="en-US" dirty="0"/>
              <a:t>: wait for all in-sync replicas to confirm. Safest, but slowest approach.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BB8B75-5348-3A6E-0E47-CB80481C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Delivery Guarantees vs Throughput</a:t>
            </a:r>
          </a:p>
        </p:txBody>
      </p:sp>
    </p:spTree>
    <p:extLst>
      <p:ext uri="{BB962C8B-B14F-4D97-AF65-F5344CB8AC3E}">
        <p14:creationId xmlns:p14="http://schemas.microsoft.com/office/powerpoint/2010/main" val="167900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5D31-AD95-28BD-312A-F1031AC2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FAADD3-76B5-D014-A791-F10E624F56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2567AD3-22A1-AA15-778B-8CAC60AA996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Consumer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CDD62-3739-FFA5-2289-59C1941F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41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358B-E3E6-47D4-8041-C9C5B61D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034A4-5595-8A6A-A803-6948922238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A0F997-410E-EB2B-2546-FAFD842F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Offset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13417-0CD5-5A9A-F9D7-4282A5C23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default, Spring Kafka </a:t>
            </a:r>
            <a:r>
              <a:rPr lang="en-US" b="1" i="1" dirty="0"/>
              <a:t>automatically commits offsets</a:t>
            </a:r>
            <a:r>
              <a:rPr lang="en-US" dirty="0"/>
              <a:t> on a schedule.</a:t>
            </a:r>
          </a:p>
          <a:p>
            <a:pPr lvl="1"/>
            <a:r>
              <a:rPr lang="en-US" dirty="0"/>
              <a:t>Spring Kafka marks messages as “processed” without any extra code</a:t>
            </a:r>
          </a:p>
          <a:p>
            <a:r>
              <a:rPr lang="en-US" dirty="0"/>
              <a:t>Automatic commits are simple, but create a subtle risk: a message can be marked as processed </a:t>
            </a:r>
            <a:r>
              <a:rPr lang="en-US" b="1" i="1" dirty="0"/>
              <a:t>before</a:t>
            </a:r>
            <a:r>
              <a:rPr lang="en-US" i="1" dirty="0"/>
              <a:t> your business logic actually finishes handling it.</a:t>
            </a:r>
          </a:p>
          <a:p>
            <a:pPr lvl="1"/>
            <a:r>
              <a:rPr lang="en-US" dirty="0"/>
              <a:t>This means a crash at the wrong moment can silently lose work.</a:t>
            </a:r>
          </a:p>
          <a:p>
            <a:r>
              <a:rPr lang="en-US" b="1" dirty="0"/>
              <a:t>Manual offset commits</a:t>
            </a:r>
            <a:r>
              <a:rPr lang="en-US" dirty="0"/>
              <a:t> gives you control over exactly when a message is considered “done” (typically only after your processing logic completes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14678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D637-D704-94C9-923E-E8B3545E9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A9624-BA82-A7A9-3314-4F91FE9D4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B7DF5D-AEFD-8D3D-D0FA-8509C6D5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Configuration | Revisit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2651-C268-0AB7-25F2-6F159C279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Just as producers can be configured for structured (JSON) data, consumers need matching </a:t>
            </a:r>
            <a:r>
              <a:rPr lang="en-US" b="1" i="1" dirty="0" err="1"/>
              <a:t>deserializers</a:t>
            </a:r>
            <a:r>
              <a:rPr lang="en-US" dirty="0"/>
              <a:t> to convert bytes back into a usable Java object.</a:t>
            </a:r>
          </a:p>
          <a:p>
            <a:r>
              <a:rPr lang="en-US" dirty="0"/>
              <a:t>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ConsumerFactory</a:t>
            </a:r>
            <a:r>
              <a:rPr lang="en-US" dirty="0"/>
              <a:t> defines </a:t>
            </a:r>
            <a:r>
              <a:rPr lang="en-US" b="1" i="1" dirty="0"/>
              <a:t>how to build</a:t>
            </a:r>
            <a:r>
              <a:rPr lang="en-US" dirty="0"/>
              <a:t> a properly configured Kafka consumer client.</a:t>
            </a:r>
          </a:p>
          <a:p>
            <a:r>
              <a:rPr lang="en-US" dirty="0"/>
              <a:t>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ListenerContainerFactory</a:t>
            </a:r>
            <a:r>
              <a:rPr lang="en-US" dirty="0"/>
              <a:t> defines </a:t>
            </a:r>
            <a:r>
              <a:rPr lang="en-US" b="1" i="1" dirty="0"/>
              <a:t>how to run</a:t>
            </a:r>
            <a:r>
              <a:rPr lang="en-US" dirty="0"/>
              <a:t> that consumer continuously and deliver records to your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@KafkaListener</a:t>
            </a:r>
            <a:r>
              <a:rPr lang="en-US" dirty="0"/>
              <a:t> method.</a:t>
            </a:r>
          </a:p>
          <a:p>
            <a:r>
              <a:rPr lang="en-US" dirty="0"/>
              <a:t>When an application needs more than one consumer configuration (e.g. one topic using a String, another using JSON), each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@KafkaListener</a:t>
            </a:r>
            <a:r>
              <a:rPr lang="en-US" dirty="0"/>
              <a:t> must be explicitly told which container factory to use.</a:t>
            </a:r>
          </a:p>
          <a:p>
            <a:r>
              <a:rPr lang="en-US" dirty="0"/>
              <a:t>Spring Boot’s auto-configuration handles all of this invisibility when there’s only one default configuration in play. (Typically, your apps would only process JSON data).</a:t>
            </a:r>
          </a:p>
        </p:txBody>
      </p:sp>
    </p:spTree>
    <p:extLst>
      <p:ext uri="{BB962C8B-B14F-4D97-AF65-F5344CB8AC3E}">
        <p14:creationId xmlns:p14="http://schemas.microsoft.com/office/powerpoint/2010/main" val="30577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CFB9-A55A-341F-8395-9736507E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C8DD30-40AE-E281-B957-A8462A87F2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EA64C85-8CB7-D8E9-E5E4-6C6E5883118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Error Handling Techniques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55D9F-2C39-E158-8A93-E521863F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8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F251-953D-5919-E186-D3075534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64104-E07C-2781-1A05-78A71A6A4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B3ED0F-029E-F987-6DF3-678D8F57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4B75-6822-1EB9-9278-F03ADD40F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Failures can occur at different levels when producing and consuming event data</a:t>
            </a:r>
          </a:p>
          <a:p>
            <a:r>
              <a:rPr lang="en-US" b="1" dirty="0"/>
              <a:t>Deserialization failures</a:t>
            </a:r>
            <a:r>
              <a:rPr lang="en-US" dirty="0"/>
              <a:t>: A message arrives in a format the consumer doesn’t expect</a:t>
            </a:r>
          </a:p>
          <a:p>
            <a:pPr lvl="1"/>
            <a:r>
              <a:rPr lang="en-US" dirty="0"/>
              <a:t>E.g. malformed JSON, or JSON that doesn’t match the target class</a:t>
            </a:r>
          </a:p>
          <a:p>
            <a:r>
              <a:rPr lang="en-US" b="1" dirty="0"/>
              <a:t>Processing failures</a:t>
            </a:r>
            <a:r>
              <a:rPr lang="en-US" dirty="0"/>
              <a:t>: The message deserializes fine, but something goes wrong while handling it </a:t>
            </a:r>
          </a:p>
          <a:p>
            <a:pPr lvl="1"/>
            <a:r>
              <a:rPr lang="en-US" dirty="0"/>
              <a:t>E.g. A downstream service is unavailable, a database write fails, business logic throws an exception.</a:t>
            </a:r>
          </a:p>
          <a:p>
            <a:r>
              <a:rPr lang="en-US" b="1" dirty="0"/>
              <a:t>Transient Failures</a:t>
            </a:r>
            <a:r>
              <a:rPr lang="en-US" dirty="0"/>
              <a:t>: A brief network hiccup/blip. This may succeed if reattempted.</a:t>
            </a:r>
          </a:p>
          <a:p>
            <a:pPr lvl="1"/>
            <a:r>
              <a:rPr lang="en-US" dirty="0"/>
              <a:t>E.g. A message queue is currently full.</a:t>
            </a:r>
          </a:p>
          <a:p>
            <a:r>
              <a:rPr lang="en-US" b="1" dirty="0"/>
              <a:t>Permanent Failures</a:t>
            </a:r>
            <a:r>
              <a:rPr lang="en-US" dirty="0"/>
              <a:t>: A consistent issue which will never succeed no matter how many times it’s retried</a:t>
            </a:r>
          </a:p>
          <a:p>
            <a:pPr lvl="1"/>
            <a:r>
              <a:rPr lang="en-US" dirty="0"/>
              <a:t>E.g. service is down, malformed data, etc…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41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E8FBB-8166-5DF5-6167-9E22CEBE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BB411-58C6-5F6D-14F1-09960C4B96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226E31-FDF2-882C-29DD-10B6CC50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2092-1230-578A-7F2F-4FB5FE41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Kafka provides built-in retry support.</a:t>
            </a:r>
          </a:p>
          <a:p>
            <a:r>
              <a:rPr lang="en-US" dirty="0"/>
              <a:t>Failed messages are automatically reprocessed a configurable number of times before giving up.</a:t>
            </a:r>
          </a:p>
          <a:p>
            <a:r>
              <a:rPr lang="en-US" dirty="0"/>
              <a:t>Retires are well-suited for </a:t>
            </a:r>
            <a:r>
              <a:rPr lang="en-US" b="1" i="1" dirty="0"/>
              <a:t>transient</a:t>
            </a:r>
            <a:r>
              <a:rPr lang="en-US" dirty="0"/>
              <a:t> failures.</a:t>
            </a:r>
          </a:p>
          <a:p>
            <a:pPr lvl="1"/>
            <a:r>
              <a:rPr lang="en-US" dirty="0"/>
              <a:t>Temporary unavailability of a service</a:t>
            </a:r>
          </a:p>
          <a:p>
            <a:r>
              <a:rPr lang="en-US" dirty="0"/>
              <a:t>Note: Retrying blindly can delay processing of subsequent messages on the same partition. Retrying on a permanent failure wastes resources without ever succeeding.</a:t>
            </a:r>
          </a:p>
          <a:p>
            <a:r>
              <a:rPr lang="en-US" b="1" dirty="0"/>
              <a:t>Backoff strategies</a:t>
            </a:r>
            <a:r>
              <a:rPr lang="en-US" dirty="0"/>
              <a:t>: waiting longer between each retry attempt.</a:t>
            </a:r>
          </a:p>
          <a:p>
            <a:pPr lvl="1"/>
            <a:r>
              <a:rPr lang="en-US" dirty="0"/>
              <a:t>Helps overwhelming a potentially struggling downstream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0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9FD8-C2D2-F23D-96AA-C925D510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AFB18-3EDC-04DA-D514-8F70BBE3A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8D7E6F-6834-E9B2-9F6C-0D250D33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Letter Topics (DLT)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BD92-69FD-A1D2-B70F-9D7103BA8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i="1" dirty="0"/>
              <a:t>Dead Letter Topic</a:t>
            </a:r>
            <a:r>
              <a:rPr lang="en-US" dirty="0"/>
              <a:t> is a separate topic where messages get routed after they’ve exhausted their retry attempts and still failed.</a:t>
            </a:r>
          </a:p>
          <a:p>
            <a:r>
              <a:rPr lang="en-US" dirty="0"/>
              <a:t>This prevents a single “poison pill” message from blocking an entire partition indefinitely</a:t>
            </a:r>
          </a:p>
          <a:p>
            <a:pPr lvl="1"/>
            <a:r>
              <a:rPr lang="en-US" dirty="0"/>
              <a:t>It allows a consumer to move onto the next message instead of retrying the same one forever.</a:t>
            </a:r>
          </a:p>
          <a:p>
            <a:r>
              <a:rPr lang="en-US" dirty="0"/>
              <a:t>Messages in a DLT aren’t lost, they are preserved for later inspection, manual reprocessing, or alerting.</a:t>
            </a:r>
          </a:p>
          <a:p>
            <a:r>
              <a:rPr lang="en-US" dirty="0"/>
              <a:t>Spring Kafka provides built-in support for automatically routing failed messages to a DLT after retries are exhausted.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9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015F-BC71-98B9-9739-9FE0EC98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0C4FC-DDA7-66C0-DEC4-57500446D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9870D9-E6B0-1136-44EF-C52893B4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Letter Topics (DLT)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9AA54B-D149-A70A-68A0-78D70872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2" y="1365984"/>
            <a:ext cx="7479296" cy="536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805E-0D1C-7ED9-2878-4ACF7F15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18ABE-E484-7468-D135-A1B4544B5E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46D3A5-C0CE-0844-2F21-BAFDEDAC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in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EA3A-8763-F27C-6DD3-FB087DF8B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Your error handling strategy should be decided </a:t>
            </a:r>
            <a:r>
              <a:rPr lang="en-US" b="1" i="1" dirty="0"/>
              <a:t>intentionally up front</a:t>
            </a:r>
            <a:r>
              <a:rPr lang="en-US" dirty="0"/>
              <a:t>, not bolted on reactively after a production incident</a:t>
            </a:r>
          </a:p>
          <a:p>
            <a:r>
              <a:rPr lang="en-US" dirty="0"/>
              <a:t>The right strategy depends on the cost of failure for that specific data</a:t>
            </a:r>
          </a:p>
          <a:p>
            <a:pPr lvl="1"/>
            <a:r>
              <a:rPr lang="en-US" dirty="0"/>
              <a:t>Losing any analytics event might be tolerable, but losing a payment confirmation isn’t</a:t>
            </a:r>
          </a:p>
          <a:p>
            <a:r>
              <a:rPr lang="en-US" dirty="0"/>
              <a:t>A Dead Letter Topic, which is full of unprocessed messages, should be monitored (not created and forgotten)</a:t>
            </a:r>
          </a:p>
          <a:p>
            <a:r>
              <a:rPr lang="en-US" dirty="0"/>
              <a:t>Good error handling turns “the application crashed and we don’t know why” into “we know exactly which messaged failed, why and where to find them”.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4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1775-A020-85CA-D119-C28031A4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79A97-FA42-7BC3-0127-B70E46781B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8BA0CC1-3228-5E96-8B71-46BDADB84EA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Bonus | Tying it all together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A640E-3641-024A-DAB1-D4C0977C4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10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DAD9-695C-3DE3-C59A-A5C90213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A0240-502E-02A2-AB8C-9D72EF5A2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F186F0-10C0-BFA1-3EE3-0D22283E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with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8962B-B077-D35F-407B-796226CAA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Kafka messaging can be modularly added to an existing application quite simply.</a:t>
            </a:r>
          </a:p>
          <a:p>
            <a:r>
              <a:rPr lang="en-US" dirty="0"/>
              <a:t>In a typical application, a Controller calls an appropriate service. </a:t>
            </a:r>
          </a:p>
          <a:p>
            <a:r>
              <a:rPr lang="en-US" dirty="0"/>
              <a:t>That service (containing business logic), is responsible for calling the producer.</a:t>
            </a:r>
          </a:p>
          <a:p>
            <a:r>
              <a:rPr lang="en-US" dirty="0"/>
              <a:t>Message Producer Services should be relatively narrow by design. </a:t>
            </a:r>
          </a:p>
          <a:p>
            <a:pPr lvl="1"/>
            <a:r>
              <a:rPr lang="en-US" dirty="0"/>
              <a:t>Take data, serialize it, send it to Kafka.</a:t>
            </a:r>
          </a:p>
          <a:p>
            <a:pPr lvl="1"/>
            <a:r>
              <a:rPr lang="en-US" dirty="0"/>
              <a:t>Message Producers </a:t>
            </a:r>
            <a:r>
              <a:rPr lang="en-US" b="1" i="1" dirty="0"/>
              <a:t>should not </a:t>
            </a:r>
            <a:r>
              <a:rPr lang="en-US" dirty="0"/>
              <a:t>decide whether an event is valid, perform any calculations, or communicate with a repository – that is the responsibility of the </a:t>
            </a:r>
            <a:r>
              <a:rPr lang="en-US" dirty="0" err="1"/>
              <a:t>preceeding</a:t>
            </a:r>
            <a:r>
              <a:rPr lang="en-US" dirty="0"/>
              <a:t> service.</a:t>
            </a:r>
          </a:p>
          <a:p>
            <a:r>
              <a:rPr lang="en-US" dirty="0"/>
              <a:t>Consumers, additionally, should be quite narrow.</a:t>
            </a:r>
          </a:p>
          <a:p>
            <a:pPr lvl="1"/>
            <a:r>
              <a:rPr lang="en-US" dirty="0"/>
              <a:t>Receive &amp; deserialize available messages, perform light validation/logging, then hand-off business logic to an appropriate service.</a:t>
            </a:r>
          </a:p>
        </p:txBody>
      </p:sp>
    </p:spTree>
    <p:extLst>
      <p:ext uri="{BB962C8B-B14F-4D97-AF65-F5344CB8AC3E}">
        <p14:creationId xmlns:p14="http://schemas.microsoft.com/office/powerpoint/2010/main" val="365043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8D39-D62C-BB96-7DC8-0E61A733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16A25-241A-609B-068A-AC768747D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0DAE99-0E08-D0B0-ECBB-FBC70E1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with Kafka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94212C-8118-B6E0-14B3-B137D628F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1" y="1471090"/>
            <a:ext cx="8071717" cy="499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47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9461-5FD9-7E6B-D2EF-89D5DDE5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E3135-05BE-AADF-7AE0-857822F2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937315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9880</TotalTime>
  <Words>1293</Words>
  <Application>Microsoft Office PowerPoint</Application>
  <PresentationFormat>On-screen Show (4:3)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2_Custom Design</vt:lpstr>
      <vt:lpstr>Kafka Application Development</vt:lpstr>
      <vt:lpstr>Outline</vt:lpstr>
      <vt:lpstr>PowerPoint Presentation</vt:lpstr>
      <vt:lpstr>KafkaTemplate.send()</vt:lpstr>
      <vt:lpstr>Completable Future</vt:lpstr>
      <vt:lpstr>Message Keys and Partitioning</vt:lpstr>
      <vt:lpstr>Serialization</vt:lpstr>
      <vt:lpstr>Delivery Guarantees vs Throughput</vt:lpstr>
      <vt:lpstr>PowerPoint Presentation</vt:lpstr>
      <vt:lpstr>Offset Commits</vt:lpstr>
      <vt:lpstr>Consumer Configuration | Revisit</vt:lpstr>
      <vt:lpstr>PowerPoint Presentation</vt:lpstr>
      <vt:lpstr>Common Failures</vt:lpstr>
      <vt:lpstr>Retry Strategies</vt:lpstr>
      <vt:lpstr>Dead Letter Topics (DLT)</vt:lpstr>
      <vt:lpstr>Dead Letter Topics (DLT)</vt:lpstr>
      <vt:lpstr>Error Handling in Design</vt:lpstr>
      <vt:lpstr>PowerPoint Presentation</vt:lpstr>
      <vt:lpstr>Applications with Kafka</vt:lpstr>
      <vt:lpstr>Applications with Kafka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16</cp:revision>
  <cp:lastPrinted>2016-06-20T20:58:50Z</cp:lastPrinted>
  <dcterms:created xsi:type="dcterms:W3CDTF">2016-11-09T18:19:08Z</dcterms:created>
  <dcterms:modified xsi:type="dcterms:W3CDTF">2026-09-04T20:50:36Z</dcterms:modified>
</cp:coreProperties>
</file>