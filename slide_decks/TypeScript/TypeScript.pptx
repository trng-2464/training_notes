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52"/>
  </p:notesMasterIdLst>
  <p:handoutMasterIdLst>
    <p:handoutMasterId r:id="rId53"/>
  </p:handoutMasterIdLst>
  <p:sldIdLst>
    <p:sldId id="256" r:id="rId2"/>
    <p:sldId id="343" r:id="rId3"/>
    <p:sldId id="357" r:id="rId4"/>
    <p:sldId id="257" r:id="rId5"/>
    <p:sldId id="358" r:id="rId6"/>
    <p:sldId id="390" r:id="rId7"/>
    <p:sldId id="389" r:id="rId8"/>
    <p:sldId id="399" r:id="rId9"/>
    <p:sldId id="359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9" r:id="rId18"/>
    <p:sldId id="368" r:id="rId19"/>
    <p:sldId id="370" r:id="rId20"/>
    <p:sldId id="371" r:id="rId21"/>
    <p:sldId id="372" r:id="rId22"/>
    <p:sldId id="373" r:id="rId23"/>
    <p:sldId id="394" r:id="rId24"/>
    <p:sldId id="377" r:id="rId25"/>
    <p:sldId id="376" r:id="rId26"/>
    <p:sldId id="378" r:id="rId27"/>
    <p:sldId id="383" r:id="rId28"/>
    <p:sldId id="384" r:id="rId29"/>
    <p:sldId id="385" r:id="rId30"/>
    <p:sldId id="397" r:id="rId31"/>
    <p:sldId id="400" r:id="rId32"/>
    <p:sldId id="374" r:id="rId33"/>
    <p:sldId id="379" r:id="rId34"/>
    <p:sldId id="386" r:id="rId35"/>
    <p:sldId id="387" r:id="rId36"/>
    <p:sldId id="395" r:id="rId37"/>
    <p:sldId id="396" r:id="rId38"/>
    <p:sldId id="375" r:id="rId39"/>
    <p:sldId id="382" r:id="rId40"/>
    <p:sldId id="404" r:id="rId41"/>
    <p:sldId id="405" r:id="rId42"/>
    <p:sldId id="391" r:id="rId43"/>
    <p:sldId id="392" r:id="rId44"/>
    <p:sldId id="381" r:id="rId45"/>
    <p:sldId id="380" r:id="rId46"/>
    <p:sldId id="388" r:id="rId47"/>
    <p:sldId id="401" r:id="rId48"/>
    <p:sldId id="402" r:id="rId49"/>
    <p:sldId id="403" r:id="rId50"/>
    <p:sldId id="406" r:id="rId5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776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ypescriptlang.org/tsconfig/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ypescriptlang.org/docs/handbook/utility-types.html" TargetMode="Externa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 lnSpcReduction="10000"/>
          </a:bodyPr>
          <a:lstStyle/>
          <a:p>
            <a:r>
              <a:rPr lang="en-US" dirty="0"/>
              <a:t>Introduction to TypeScript</a:t>
            </a:r>
          </a:p>
          <a:p>
            <a:r>
              <a:rPr lang="en-US" dirty="0"/>
              <a:t>TypeScript Config</a:t>
            </a:r>
          </a:p>
          <a:p>
            <a:r>
              <a:rPr lang="en-US" dirty="0"/>
              <a:t>TypeScript Variables &amp; Datatypes</a:t>
            </a:r>
          </a:p>
          <a:p>
            <a:r>
              <a:rPr lang="en-US" dirty="0"/>
              <a:t>Advanced Types</a:t>
            </a:r>
          </a:p>
          <a:p>
            <a:r>
              <a:rPr lang="en-US" dirty="0"/>
              <a:t>Casting Variables</a:t>
            </a:r>
          </a:p>
          <a:p>
            <a:r>
              <a:rPr lang="en-US" dirty="0"/>
              <a:t>Classes &amp; Inheritance</a:t>
            </a:r>
          </a:p>
          <a:p>
            <a:r>
              <a:rPr lang="en-US" dirty="0"/>
              <a:t>Generics</a:t>
            </a:r>
          </a:p>
          <a:p>
            <a:r>
              <a:rPr lang="en-US" dirty="0"/>
              <a:t>TypeScript Interfaces</a:t>
            </a:r>
          </a:p>
          <a:p>
            <a:r>
              <a:rPr lang="en-US" dirty="0"/>
              <a:t>TypeScript Modules</a:t>
            </a:r>
          </a:p>
          <a:p>
            <a:r>
              <a:rPr lang="en-US" dirty="0"/>
              <a:t>TypeScript Decorators</a:t>
            </a:r>
          </a:p>
          <a:p>
            <a:r>
              <a:rPr lang="en-US" dirty="0"/>
              <a:t>TypeScript Utility Types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TypeScript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306286"/>
            <a:ext cx="8383980" cy="54225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TypeScript is a typed superset of JavaScript</a:t>
            </a:r>
          </a:p>
          <a:p>
            <a:r>
              <a:rPr lang="en-US" dirty="0"/>
              <a:t>It is an open-source and object-oriented programming language that support classes, interfaces, inheritance, modules, etc…</a:t>
            </a:r>
          </a:p>
          <a:p>
            <a:r>
              <a:rPr lang="en-US" dirty="0"/>
              <a:t>Developed by Microsoft</a:t>
            </a:r>
          </a:p>
          <a:p>
            <a:r>
              <a:rPr lang="en-US" dirty="0"/>
              <a:t>Can be used to manipulate the DOM for adding or removing elements, similar to JavaScript</a:t>
            </a:r>
          </a:p>
          <a:p>
            <a:r>
              <a:rPr lang="en-US" dirty="0"/>
              <a:t>It is portable across browsers, devices, and operating systems.</a:t>
            </a:r>
          </a:p>
          <a:p>
            <a:r>
              <a:rPr lang="en-US" dirty="0"/>
              <a:t>It supports strong typing or static typing (unlike JavaScript)</a:t>
            </a:r>
          </a:p>
          <a:p>
            <a:r>
              <a:rPr lang="en-US" dirty="0"/>
              <a:t>TypeScript files are saved with a .</a:t>
            </a:r>
            <a:r>
              <a:rPr lang="en-US" dirty="0" err="1"/>
              <a:t>ts</a:t>
            </a:r>
            <a:r>
              <a:rPr lang="en-US" dirty="0"/>
              <a:t> extension and then </a:t>
            </a:r>
            <a:r>
              <a:rPr lang="en-US" dirty="0" err="1"/>
              <a:t>transpiled</a:t>
            </a:r>
            <a:r>
              <a:rPr lang="en-US" dirty="0"/>
              <a:t> back into JavaScript using the TypeScript compiler.</a:t>
            </a:r>
          </a:p>
          <a:p>
            <a:r>
              <a:rPr lang="en-US" dirty="0"/>
              <a:t>After </a:t>
            </a:r>
            <a:r>
              <a:rPr lang="en-US" dirty="0" err="1"/>
              <a:t>transpiled</a:t>
            </a:r>
            <a:r>
              <a:rPr lang="en-US" dirty="0"/>
              <a:t>, the JavaScript code can run on any JavaScript runtime environment (e.g.: Node.js)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9C4EA-2215-5078-24C5-C57735EE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740C-304C-CD59-AE3A-06648B42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C0D4-FBFE-1141-F106-93671DA3C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can install Typescript using NPM</a:t>
            </a:r>
          </a:p>
          <a:p>
            <a:r>
              <a:rPr lang="en-US" dirty="0"/>
              <a:t>After installing NPM, run: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install –g typescript</a:t>
            </a:r>
          </a:p>
          <a:p>
            <a:r>
              <a:rPr lang="en-US" dirty="0"/>
              <a:t>To verify the installation, and check your version, you can run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-v</a:t>
            </a:r>
            <a:r>
              <a:rPr lang="en-US" dirty="0"/>
              <a:t>’ in your terminal</a:t>
            </a:r>
          </a:p>
          <a:p>
            <a:r>
              <a:rPr lang="en-US" dirty="0"/>
              <a:t>To compile TypeScript code, run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tsc</a:t>
            </a:r>
            <a:r>
              <a:rPr lang="en-US" dirty="0"/>
              <a:t>’ command, followed by the name of the file you are compiling: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After compilation, the typescript compiler creates a JavaScript file with the same name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hello.js</a:t>
            </a:r>
            <a:r>
              <a:rPr lang="en-US" dirty="0"/>
              <a:t>)</a:t>
            </a:r>
          </a:p>
          <a:p>
            <a:r>
              <a:rPr lang="en-US" dirty="0"/>
              <a:t>The resultant JavaScript file can be run in your browser, or with node (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node hello.js</a:t>
            </a:r>
            <a:r>
              <a:rPr lang="en-US" dirty="0"/>
              <a:t>’ 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E549A-4828-ADA9-C2B7-F571CB98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65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C9F3-F35A-07E7-5EA2-BD2815B3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BEEB3B-0550-9803-0F6A-BE8AAF2554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8A7F3F4-39C0-94C5-7AA7-ED862DB91ED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Configuration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ABDC0-8927-0A3B-D412-D2CE20F2B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761E-D3A3-D9BA-D9B2-E4318CCD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D514-0824-FA27-8E8E-D17744F0D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C772E-46D6-7759-C9E1-7056BAE3E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3993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tsconfig.json</a:t>
            </a:r>
            <a:r>
              <a:rPr lang="en-US" dirty="0"/>
              <a:t>’ file is used to define configurations for your TypeScript project.</a:t>
            </a:r>
          </a:p>
          <a:p>
            <a:r>
              <a:rPr lang="en-US" dirty="0"/>
              <a:t>To create the configuration file, use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/>
              <a:t>'</a:t>
            </a:r>
          </a:p>
          <a:p>
            <a:r>
              <a:rPr lang="en-US" dirty="0"/>
              <a:t>Configurations for your TypeScript compiler will be placed in a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compilerOptions</a:t>
            </a:r>
            <a:r>
              <a:rPr lang="en-US" dirty="0"/>
              <a:t>” object.</a:t>
            </a:r>
          </a:p>
          <a:p>
            <a:r>
              <a:rPr lang="en-US" dirty="0"/>
              <a:t>Common configuration options include: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rootDir</a:t>
            </a:r>
            <a:r>
              <a:rPr lang="en-US" dirty="0"/>
              <a:t>: defines directory of typescript files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outDir</a:t>
            </a:r>
            <a:r>
              <a:rPr lang="en-US" dirty="0"/>
              <a:t>: defines directory of </a:t>
            </a:r>
            <a:r>
              <a:rPr lang="en-US" dirty="0" err="1"/>
              <a:t>transpiled</a:t>
            </a:r>
            <a:r>
              <a:rPr lang="en-US" dirty="0"/>
              <a:t> </a:t>
            </a:r>
            <a:r>
              <a:rPr lang="en-US" dirty="0" err="1"/>
              <a:t>js</a:t>
            </a:r>
            <a:r>
              <a:rPr lang="en-US" dirty="0"/>
              <a:t> files.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en-US" dirty="0"/>
              <a:t>: version of </a:t>
            </a:r>
            <a:r>
              <a:rPr lang="en-US" dirty="0" err="1"/>
              <a:t>js</a:t>
            </a:r>
            <a:r>
              <a:rPr lang="en-US" dirty="0"/>
              <a:t> the typescript compiler will generate (ES2016 should support all common browsers)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removeComments</a:t>
            </a:r>
            <a:r>
              <a:rPr lang="en-US" dirty="0"/>
              <a:t>: tells compiler to remove any comments we add to compiled </a:t>
            </a:r>
            <a:r>
              <a:rPr lang="en-US" dirty="0" err="1"/>
              <a:t>js</a:t>
            </a:r>
            <a:r>
              <a:rPr lang="en-US" dirty="0"/>
              <a:t> code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noEmitOnError</a:t>
            </a:r>
            <a:r>
              <a:rPr lang="en-US" dirty="0"/>
              <a:t>: prevents compiler from generating </a:t>
            </a:r>
            <a:r>
              <a:rPr lang="en-US" dirty="0" err="1"/>
              <a:t>js</a:t>
            </a:r>
            <a:r>
              <a:rPr lang="en-US" dirty="0"/>
              <a:t> files if an error is present in TypeScript code</a:t>
            </a:r>
          </a:p>
          <a:p>
            <a:pPr lvl="1"/>
            <a:endParaRPr lang="en-US" dirty="0"/>
          </a:p>
          <a:p>
            <a:r>
              <a:rPr lang="en-US" dirty="0"/>
              <a:t>You can find more information on config options here: </a:t>
            </a:r>
            <a:r>
              <a:rPr lang="en-US" dirty="0">
                <a:hlinkClick r:id="rId2"/>
              </a:rPr>
              <a:t>https://www.typescriptlang.org/tsconfig/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36BA7-C5E8-1EA2-F4E0-6BB61CB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45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15A9-71EE-91C9-53BA-00175E77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2F16AD-E490-0B60-ED89-85512DE0E5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70B7AA8-57B4-7C54-D570-88EAA7108BE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Variables &amp; Datatypes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7A3D2-C326-1497-B7EE-CAC0B1B2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64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511A-8F52-E918-777C-4A876C3B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2A73-EFCA-4BFF-69FA-0A8EC36F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Declaration in 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DDF86-7B46-EC44-99F2-3103228E3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367335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TypeScript variables also follow JavaScript variable naming conventions</a:t>
            </a:r>
          </a:p>
          <a:p>
            <a:r>
              <a:rPr lang="en-US" dirty="0"/>
              <a:t>Similar to JavaScript, we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,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/>
              <a:t> keywords to declare variables.</a:t>
            </a:r>
          </a:p>
          <a:p>
            <a:r>
              <a:rPr lang="en-US" dirty="0"/>
              <a:t>Since TypeScript is a strongly typed programming language, we specify the type when we declare a variable</a:t>
            </a:r>
          </a:p>
          <a:p>
            <a:pPr lvl="1"/>
            <a:r>
              <a:rPr lang="en-US" dirty="0"/>
              <a:t>Note: TypeScript can infer the type of your variable without a type annotation, if you initialize the variable with some value, based on the type of the value assigned.</a:t>
            </a:r>
          </a:p>
          <a:p>
            <a:r>
              <a:rPr lang="en-US" dirty="0"/>
              <a:t>The Syntax for declaring a variable in TypeScript: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let/var/const [identifier] : [type] = value;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05020-6C7C-C30B-B863-6D12E257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96D45A-25F5-A4A6-2DC2-44ECE9B1BD62}"/>
              </a:ext>
            </a:extLst>
          </p:cNvPr>
          <p:cNvSpPr/>
          <p:nvPr/>
        </p:nvSpPr>
        <p:spPr>
          <a:xfrm>
            <a:off x="241161" y="5255288"/>
            <a:ext cx="8661678" cy="120890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1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'This is my String'</a:t>
            </a:r>
          </a:p>
          <a:p>
            <a:r>
              <a:rPr 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Error: Type ‘number’ not assignable to type ‘string’</a:t>
            </a:r>
          </a:p>
        </p:txBody>
      </p:sp>
    </p:spTree>
    <p:extLst>
      <p:ext uri="{BB962C8B-B14F-4D97-AF65-F5344CB8AC3E}">
        <p14:creationId xmlns:p14="http://schemas.microsoft.com/office/powerpoint/2010/main" val="10011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1A402-E776-E336-8055-CA073EF9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EBF4-3E35-7A59-ACED-5730718A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14CC-A7D4-D34A-58CA-894016DAA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Boolean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 type is used to represent true or false values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r>
              <a:rPr lang="en-US" b="1" dirty="0"/>
              <a:t>Number</a:t>
            </a:r>
          </a:p>
          <a:p>
            <a:pPr lvl="1"/>
            <a:r>
              <a:rPr lang="en-US" dirty="0"/>
              <a:t>The number type is used to store decimal, hexadecimal, binary and octal literals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a: number = 6;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b: number = 0xf00d; //hexadecimal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c: number = 0b1010; //binary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d: number = 0o744; //octal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0B362-A21A-50FE-5761-58D27DD9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3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CD46-5448-7740-7CE9-F22699D4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FA7F-7AEB-622F-A59F-55DF983D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FFDF-8E71-10F0-FBBC-E7C79438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String</a:t>
            </a:r>
          </a:p>
          <a:p>
            <a:pPr lvl="1"/>
            <a:r>
              <a:rPr lang="en-US" dirty="0"/>
              <a:t>TypeScript uses the string type to represent text characters enclosed within double quotes or single quotes.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color: string = “yellow”;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color = “blue”;</a:t>
            </a:r>
          </a:p>
          <a:p>
            <a:pPr lvl="1"/>
            <a:r>
              <a:rPr lang="en-US" dirty="0"/>
              <a:t>You can also declare template literals, which can span multiple lines, and have embedded expressions using backticks ( ` 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string = ‘Bob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Bobberson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age: number = 37;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greeting: string = “Hello, my name is ${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fullName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 am ${age} years old.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 is great to meet you!`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14E59-7C3C-7321-D9A1-14408EF4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0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0031-E8AC-DF3E-8433-5EEC2240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4C38-6D9A-BDB9-B595-10985CC4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55DF-D744-BEF5-7800-4552EFD0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Undefined and Null</a:t>
            </a:r>
          </a:p>
          <a:p>
            <a:pPr lvl="1"/>
            <a:r>
              <a:rPr lang="en-US" dirty="0"/>
              <a:t>In TypeScript, both undefined and null have their own types, named ‘undefined’ and ‘null’, respectively</a:t>
            </a:r>
          </a:p>
          <a:p>
            <a:pPr lvl="1"/>
            <a:r>
              <a:rPr lang="en-US" dirty="0"/>
              <a:t>By default, null and undefined are subtypes of all other types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u: undefined = undefined;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n: null = null;</a:t>
            </a:r>
          </a:p>
          <a:p>
            <a:r>
              <a:rPr lang="en-US" b="1" dirty="0"/>
              <a:t>Any</a:t>
            </a:r>
          </a:p>
          <a:p>
            <a:pPr lvl="1"/>
            <a:r>
              <a:rPr lang="en-US" dirty="0"/>
              <a:t>We may need to describe a type of a variable that we do not know when we are writing an application.</a:t>
            </a:r>
          </a:p>
          <a:p>
            <a:pPr lvl="1"/>
            <a:r>
              <a:rPr lang="en-US" dirty="0"/>
              <a:t>Although this is not encouraged, we can do so using the ‘any’ type: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any = 14;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“maybe a string instead”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0A8-85FE-BF66-DBFB-D2C2E2DC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6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4A7FB-64B9-C508-78C5-9BE083BA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BF5F-1F4F-5E20-0948-6EEB4150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E3073-EAAD-194F-B6AA-5A6C40CDD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void</a:t>
            </a:r>
          </a:p>
          <a:p>
            <a:pPr lvl="1"/>
            <a:r>
              <a:rPr lang="en-US" dirty="0"/>
              <a:t>In TypeScript, the void type is used as the return type of functions that do not return a value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sayHello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(): void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console.log(“Hello!”);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/>
              <a:t>Declaring variables of type void is not useful, because we can then only assign an undefined value to them.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048E3-9669-D4EF-6F40-AC21FA8E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7B19-EAD2-9073-79EA-2E82D033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F411-2188-6D11-F4C0-302B5B49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21380-73EA-3B47-7068-2B610B8A3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Arrays</a:t>
            </a:r>
          </a:p>
          <a:p>
            <a:pPr lvl="1"/>
            <a:r>
              <a:rPr lang="en-US" dirty="0"/>
              <a:t>Like JavaScript, TypeScript allows you to work with arrays of values.</a:t>
            </a:r>
          </a:p>
          <a:p>
            <a:pPr lvl="1"/>
            <a:r>
              <a:rPr lang="en-US" dirty="0"/>
              <a:t>We can use the type of the elements followed by square braces, or use a generic array type for declaring the Array type.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list: number[] = [1, 2, 3];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list: Array&lt;number&gt; = [1, 2, 3]; 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list: any[] = [1, "two", 3];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5634B-5166-C9DA-5DA6-6AFBDF67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7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A9C5-53DB-ABD0-797E-43298E61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97108-F23D-ED20-CC82-5374F9E4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B4F3C-592F-9BFB-B358-1172C0B3A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Tuples</a:t>
            </a:r>
          </a:p>
          <a:p>
            <a:pPr lvl="1"/>
            <a:r>
              <a:rPr lang="en-US" dirty="0"/>
              <a:t>TypeScript introduced a new type called ‘Tuple’, which is an array with a fixed number of elements, whose types are known.</a:t>
            </a:r>
          </a:p>
          <a:p>
            <a:pPr lvl="1"/>
            <a:r>
              <a:rPr lang="en-US" dirty="0"/>
              <a:t>To declare a tuple, you use square brackets, and state the datatype of each element in the tuple.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user: [number, string] = [1, “John”];</a:t>
            </a:r>
          </a:p>
          <a:p>
            <a:pPr lvl="1"/>
            <a:r>
              <a:rPr lang="en-US" dirty="0"/>
              <a:t>You can access elements of a Tuple in the same manner as an array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user[0]; // returns 1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user[1]; // returns “John”</a:t>
            </a:r>
          </a:p>
          <a:p>
            <a:pPr lvl="1"/>
            <a:r>
              <a:rPr lang="en-US" dirty="0"/>
              <a:t>Typically, tuples are best with fewer elements, oftentimes, 2 elements representing a key-value pair.</a:t>
            </a:r>
          </a:p>
          <a:p>
            <a:pPr lvl="1"/>
            <a:r>
              <a:rPr lang="en-US" dirty="0"/>
              <a:t>Note, you can also declare Arrays of Tuples: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employees: [number, string][]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employees = [[1, ‘Amber’], [2, ‘Blake’], [3, ‘Chirag’]];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EE76F-53AB-700F-9C9F-62BC1417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83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3F21-07D3-A355-8182-A798B208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FD8A-E5B4-3570-96A2-E63AFC11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11A8-9241-ABA4-A473-00ED0636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791" y="1481445"/>
            <a:ext cx="8604418" cy="488226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Enum</a:t>
            </a:r>
          </a:p>
          <a:p>
            <a:pPr lvl="1"/>
            <a:r>
              <a:rPr lang="en-US" dirty="0"/>
              <a:t>The Enum datatype in TypeScript represents a related list of named constants</a:t>
            </a:r>
          </a:p>
          <a:p>
            <a:pPr lvl="1"/>
            <a:r>
              <a:rPr lang="en-US" dirty="0"/>
              <a:t>Enums may be assigned a numeric or string value</a:t>
            </a:r>
          </a:p>
          <a:p>
            <a:pPr lvl="1"/>
            <a:r>
              <a:rPr lang="en-US" dirty="0"/>
              <a:t>You can assign different values to each Enum. </a:t>
            </a:r>
          </a:p>
          <a:p>
            <a:pPr lvl="2"/>
            <a:r>
              <a:rPr lang="en-US" dirty="0"/>
              <a:t>Note: If you assign a string value to one </a:t>
            </a:r>
            <a:r>
              <a:rPr lang="en-US" dirty="0" err="1"/>
              <a:t>enum</a:t>
            </a:r>
            <a:r>
              <a:rPr lang="en-US" dirty="0"/>
              <a:t> constant, you must explicitly assign a value to all </a:t>
            </a:r>
            <a:r>
              <a:rPr lang="en-US" dirty="0" err="1"/>
              <a:t>enums</a:t>
            </a:r>
            <a:endParaRPr lang="en-US" dirty="0"/>
          </a:p>
          <a:p>
            <a:pPr lvl="1"/>
            <a:r>
              <a:rPr lang="en-US" dirty="0"/>
              <a:t>By default, Enums are given a value of 0, 1, 2, etc… (think, Array Index)</a:t>
            </a:r>
          </a:p>
          <a:p>
            <a:pPr lvl="1"/>
            <a:r>
              <a:rPr lang="en-US" dirty="0"/>
              <a:t>To declare an Enum, you use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/>
              <a:t>’ keyword, followed by curly braces which contain a comma, separated list of named Enums.</a:t>
            </a:r>
          </a:p>
          <a:p>
            <a:pPr lvl="1"/>
            <a:r>
              <a:rPr lang="en-US" dirty="0"/>
              <a:t>After creating an Enum, you may use it as a type.</a:t>
            </a:r>
          </a:p>
          <a:p>
            <a:pPr lvl="1"/>
            <a:r>
              <a:rPr lang="en-US" dirty="0"/>
              <a:t>You can access an </a:t>
            </a:r>
            <a:r>
              <a:rPr lang="en-US" dirty="0" err="1"/>
              <a:t>enum</a:t>
            </a:r>
            <a:r>
              <a:rPr lang="en-US" dirty="0"/>
              <a:t>, using the Enum name with a dot operator followed by the constant.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Color { Red, Green, Blue };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c: Color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Color.Blue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Size { Small = “s”, Medium = “m”, Large = “l”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F037D-BF91-673E-1C0D-7BC6BD0D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79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22EE-D710-32B4-B659-40FEFB8F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03D70C-9CE1-3C31-7B52-35D0079F7D4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E82582E-FAEB-B5D7-B0F2-77EF4A61DAC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Advanced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8357E-E5BC-C79B-3580-12E5F22C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96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0058-FF7C-3154-2FBC-66121AAD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6E1B-08B2-566F-8BD4-A4C50D6E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6ABE-7BDB-6E54-0AF9-34C678268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Never</a:t>
            </a:r>
          </a:p>
          <a:p>
            <a:pPr lvl="1"/>
            <a:r>
              <a:rPr lang="en-US" dirty="0"/>
              <a:t>The ‘never’ type represents a type of values that never occur.</a:t>
            </a:r>
          </a:p>
          <a:p>
            <a:pPr lvl="1"/>
            <a:r>
              <a:rPr lang="en-US" dirty="0"/>
              <a:t>It is most often used for functions that always throws an exception, or one that never returns.</a:t>
            </a:r>
          </a:p>
          <a:p>
            <a:pPr lvl="1"/>
            <a:r>
              <a:rPr lang="en-US" dirty="0"/>
              <a:t>Note, although you can assign a variable the never type, it is not very useful.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n : never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undefined as never;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null as never;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A9A05-2D55-3D56-83E0-093665CF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30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0017-4283-E2EB-4350-92D5C956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4E2D-70C6-5D2C-F8E2-1BE028F5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6F5FA-3010-0C36-C679-E443078FF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Type Alias</a:t>
            </a:r>
          </a:p>
          <a:p>
            <a:pPr lvl="1"/>
            <a:r>
              <a:rPr lang="en-US" dirty="0"/>
              <a:t>Can be used to define custom types. The Syntax is similar to that of an Object, but, allows for the reuse of the structure later in the code.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 Point = {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x: number;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y: number;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2DA32-1C50-963A-E94F-F771C8DD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21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9537-603D-1B58-7221-D3301983D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DA81-A852-1AAB-E893-879E9657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DDD1-C986-A207-0336-43D28541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Union</a:t>
            </a:r>
          </a:p>
          <a:p>
            <a:pPr lvl="1"/>
            <a:r>
              <a:rPr lang="en-US" dirty="0"/>
              <a:t>The Union type allows you to specify that a variable or function parameter may by more than one type.</a:t>
            </a:r>
          </a:p>
          <a:p>
            <a:pPr lvl="1"/>
            <a:r>
              <a:rPr lang="en-US" dirty="0"/>
              <a:t>Union types can be declared using a single vertical pipe ( ‘|’ 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weight: number | string;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weight = 10;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weight = ‘10kg’;</a:t>
            </a:r>
          </a:p>
          <a:p>
            <a:pPr lvl="1"/>
            <a:r>
              <a:rPr lang="en-US" dirty="0"/>
              <a:t>When using Union types, you should employee a technique known as ‘Narrowing’, wherein you narrow functionality based on the </a:t>
            </a:r>
            <a:r>
              <a:rPr lang="en-US" b="1" i="1" dirty="0" err="1"/>
              <a:t>typeof</a:t>
            </a:r>
            <a:r>
              <a:rPr lang="en-US" dirty="0"/>
              <a:t> the variable.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kgToLbs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(weight: number | string): number {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let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calcWeight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number;  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weight === "number") 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calcWeight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weight;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 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calcWeight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(weight);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calcWeight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2.20462;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91435-8A33-D0E0-A3BA-8ED323EB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270D1-D4D1-DAC9-3481-0F1F0D1C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6F20-04AB-4A99-3B01-EBD2B95D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73C2-6CE7-59FE-E13C-EE52BA4CC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/>
              <a:t>Literal Types</a:t>
            </a:r>
          </a:p>
          <a:p>
            <a:pPr lvl="1"/>
            <a:r>
              <a:rPr lang="en-US" dirty="0"/>
              <a:t>In TypeScript, the ‘Literal’ type allows you to limit the values you can assign to a variable.</a:t>
            </a:r>
          </a:p>
          <a:p>
            <a:pPr lvl="1"/>
            <a:r>
              <a:rPr lang="en-US" dirty="0"/>
              <a:t>The syntax is similar a Union Type (single vertical pipe), but instead of declaring potential types for the variable, you declare values.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 Amount =  1 | 2 | 3;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quantity:Amount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quantity = 5; // throws an error</a:t>
            </a:r>
          </a:p>
          <a:p>
            <a:pPr lvl="1"/>
            <a:r>
              <a:rPr lang="en-US" dirty="0"/>
              <a:t>You may use literal types with strings, numbers and other types.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D677F-665B-12F9-86AB-5077414A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23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BD94-39D7-5BFC-FC45-05D53954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7A3E7-0E57-6B59-225E-9EF94821A1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2F4854A-05A6-72D1-7A36-AB6379E5E73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Casting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7E6A28-CFC6-3679-0F92-697528823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62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E8EA-9C35-932D-087E-11773A5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69A64-C16E-AC71-8F24-6D2C29C7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EA653-0C90-BA52-9821-E1566847B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791" y="1481446"/>
            <a:ext cx="8604418" cy="4882266"/>
          </a:xfrm>
        </p:spPr>
        <p:txBody>
          <a:bodyPr>
            <a:normAutofit/>
          </a:bodyPr>
          <a:lstStyle/>
          <a:p>
            <a:r>
              <a:rPr lang="en-US" b="1" dirty="0"/>
              <a:t>Type Casting </a:t>
            </a:r>
            <a:r>
              <a:rPr lang="en-US" dirty="0"/>
              <a:t>(also called a </a:t>
            </a:r>
            <a:r>
              <a:rPr lang="en-US" b="1" dirty="0"/>
              <a:t>type assertion</a:t>
            </a:r>
            <a:r>
              <a:rPr lang="en-US" dirty="0"/>
              <a:t>) tells typescript to treat a value as a specific type, overriding TypeScript’s own inferred type.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Type casting does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not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convert or transform the value at runtime – it is purely a compile-time instruction.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underlying JavaScript value is completely unchanged.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467F3-5F32-79CE-85BA-8A6AE421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1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1E462-A0D6-09A8-E421-B8D2C5F5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D036-3D44-B24E-555C-1AB6BDF2C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Casting TypeScript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F816E-1B32-F1F2-CF2C-3A294DBEE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60" y="1481446"/>
            <a:ext cx="8743268" cy="4882266"/>
          </a:xfrm>
        </p:spPr>
        <p:txBody>
          <a:bodyPr>
            <a:normAutofit/>
          </a:bodyPr>
          <a:lstStyle/>
          <a:p>
            <a:r>
              <a:rPr lang="en-US" dirty="0"/>
              <a:t>In TypeScript, you can represent Types as another type (if applicable) using two methods:</a:t>
            </a:r>
          </a:p>
          <a:p>
            <a:r>
              <a:rPr lang="en-US" b="1" dirty="0"/>
              <a:t>As </a:t>
            </a:r>
            <a:r>
              <a:rPr lang="en-US" dirty="0"/>
              <a:t>keyword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x: any = ‘hello’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 (x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string).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toUpperCase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b="1" dirty="0"/>
              <a:t>Angle Brackets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x: any = ‘hello’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 (&lt;string&gt; x).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toUpperCase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);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BFEE3-8CE7-BA44-2B25-A5BE8444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6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E300-9397-5B1B-FC7F-07C93E20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959AA9-5559-217C-08D6-96B1A6931E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B75C867-4429-817F-0C7B-DE4B2FD0827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Classes &amp; Inheritance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2DAFA-3740-06AC-66C7-BA156E1A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26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8CE8-1DEC-7312-0D6D-10254EA0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94E6-567C-E125-848B-C7312013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3656-3349-47F1-B741-7212AA042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16637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 err="1"/>
              <a:t>’</a:t>
            </a:r>
            <a:r>
              <a:rPr lang="en-US" dirty="0"/>
              <a:t> keyword is used to declare a class in typescript</a:t>
            </a:r>
          </a:p>
          <a:p>
            <a:r>
              <a:rPr lang="en-US" dirty="0"/>
              <a:t>An instance of the class can be created using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’ Keyword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A68FC-309A-1340-E9BD-0C991621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A24A57F-78B1-D534-6756-F4F1359D1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145235"/>
            <a:ext cx="5600700" cy="340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65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ADE3-3CA9-C63F-7FE3-DA492571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C404-58B1-DA01-396C-20B02B2E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in 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2834-A578-04AC-85F6-A3165CB7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Inheritance hierarchies can be established using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dirty="0"/>
              <a:t>’ keyword, similar to other object-oriented programming languages.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670D0-F2ED-4E16-5CE7-5AA22E7B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2086CF-ADB3-3103-C9DB-B99F5D967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7" y="2996933"/>
            <a:ext cx="60293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939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AE2B-B963-7EEB-9898-7D4904A0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30A1-A86E-8D51-ADBA-110F373B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3AB89-FAD5-B1E4-BCAA-0914EF139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/>
              <a:t> - In TypeScript, each member is public by default. We can still mark a member public explicitly.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- We can mark a member as private that cannot be visible outside of the class.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/>
              <a:t> - If a member marked as protected, then the member can be accessed only by its containing class and deriving classes.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DD8CF-05D8-A67C-E1F1-56E028D5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58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CF9D-24B1-6CC4-91AE-9991CFCC6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33D4-1BE5-A487-F38C-0FAF1330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readonly</a:t>
            </a:r>
            <a:r>
              <a:rPr lang="en-US" dirty="0"/>
              <a:t>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2F465-7C02-E5A6-5063-C61B85460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We can make properties accessible but immutable by using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dirty="0"/>
              <a:t>’ keyword.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dirty="0"/>
              <a:t> properties must be initialized at their declaration or in the constructor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E57E9-7CD1-88E8-785C-687CEE1C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FC87B07-15B8-BBB2-C605-2223B702D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3615948"/>
            <a:ext cx="51435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274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E1D7-62E1-452E-0C33-23C49801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6045-82F1-2881-4DC0-7FDC55B8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keyof</a:t>
            </a:r>
            <a:r>
              <a:rPr lang="en-US" dirty="0"/>
              <a:t>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77A1-4C4A-0544-33F0-D129301FF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keyof</a:t>
            </a:r>
            <a:r>
              <a:rPr lang="en-US" dirty="0"/>
              <a:t> operator produces a type representing all the property names (keys) of a given object type.</a:t>
            </a:r>
          </a:p>
          <a:p>
            <a:r>
              <a:rPr lang="en-US" dirty="0"/>
              <a:t>The result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keyof</a:t>
            </a:r>
            <a:r>
              <a:rPr lang="en-US" dirty="0"/>
              <a:t> is a union of string literal types – one for each key on the object type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keyof</a:t>
            </a:r>
            <a:r>
              <a:rPr lang="en-US" dirty="0"/>
              <a:t> is commonly used to write functions that access a property of an object safely.</a:t>
            </a:r>
          </a:p>
          <a:p>
            <a:pPr lvl="1"/>
            <a:r>
              <a:rPr lang="en-US" dirty="0"/>
              <a:t>It restricts the allowed key names to only those that actually exist on the object.</a:t>
            </a:r>
          </a:p>
          <a:p>
            <a:r>
              <a:rPr lang="en-US" dirty="0"/>
              <a:t>Compile-time only construct – it does not exist in the compile JavaScript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656FA-2C8B-EA65-52C9-35CFC564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87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3F87-D558-A571-ADCC-9D110B3F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E162-60B6-BDCE-CEDC-2AA93662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const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366C1-240B-03BC-0613-F3867FC2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const</a:t>
            </a:r>
            <a:r>
              <a:rPr lang="en-US" dirty="0"/>
              <a:t> is a type assertion that tells TypeScript to infer the most specific, literal type possible for a value, rather than widening it to a general type.</a:t>
            </a:r>
          </a:p>
          <a:p>
            <a:r>
              <a:rPr lang="en-US" dirty="0"/>
              <a:t>Without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const</a:t>
            </a:r>
            <a:r>
              <a:rPr lang="en-US" dirty="0"/>
              <a:t>, TypeScript widens literals to their general type: a string literal like “active” becomes string, and a number literal like 5 becomes number.</a:t>
            </a:r>
          </a:p>
          <a:p>
            <a:r>
              <a:rPr lang="en-US" dirty="0"/>
              <a:t>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const </a:t>
            </a:r>
            <a:r>
              <a:rPr lang="en-US" dirty="0"/>
              <a:t>applied to an object, every property becomes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dirty="0"/>
              <a:t>, and each property’s value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const</a:t>
            </a:r>
            <a:r>
              <a:rPr lang="en-US" dirty="0"/>
              <a:t> is especially useful for defining a fixed, known set of values (similar to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/>
              <a:t>)</a:t>
            </a:r>
          </a:p>
          <a:p>
            <a:r>
              <a:rPr lang="en-US" dirty="0"/>
              <a:t>Because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 const</a:t>
            </a:r>
            <a:r>
              <a:rPr lang="en-US" dirty="0"/>
              <a:t> makes values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dirty="0"/>
              <a:t>, attempting to reassign or mutate them afterward will cause a compile-time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87B58-F5F9-9C7F-ADB5-2A0DFB27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714D-9110-C820-59B1-043236C7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CB711D-7982-73E9-EA35-87D4ED3DE0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8637EE2-46F8-1746-245D-DB3894598B7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Interfaces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C8DA5-4034-FC13-1DB9-3837D54D9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41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B4DC-7430-4FC7-7BB8-FBA2B2FF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299C-25A8-3AF9-F3A2-561FE279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C8A6-8C30-DB8C-41D4-EED1F4059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Interfaces allow us to create </a:t>
            </a:r>
            <a:r>
              <a:rPr lang="en-US" b="1" dirty="0"/>
              <a:t>contracts</a:t>
            </a:r>
            <a:r>
              <a:rPr lang="en-US" dirty="0"/>
              <a:t> that other classes / objects can implement. </a:t>
            </a:r>
          </a:p>
          <a:p>
            <a:r>
              <a:rPr lang="en-US" dirty="0"/>
              <a:t>Interfaces are defined using the interface keyword that includes properties and methods. </a:t>
            </a:r>
          </a:p>
          <a:p>
            <a:r>
              <a:rPr lang="en-US" dirty="0"/>
              <a:t>We can have </a:t>
            </a:r>
            <a:r>
              <a:rPr lang="en-US" b="1" dirty="0"/>
              <a:t>optional properties</a:t>
            </a:r>
            <a:r>
              <a:rPr lang="en-US" dirty="0"/>
              <a:t>, marked with a "?" that do not have to be implemented.</a:t>
            </a:r>
          </a:p>
          <a:p>
            <a:r>
              <a:rPr lang="en-US" dirty="0"/>
              <a:t>The TypeScript compiler </a:t>
            </a:r>
            <a:r>
              <a:rPr lang="en-US" b="1" dirty="0"/>
              <a:t>does not convert the interface</a:t>
            </a:r>
            <a:r>
              <a:rPr lang="en-US" dirty="0"/>
              <a:t> to JavaScript. </a:t>
            </a:r>
          </a:p>
          <a:p>
            <a:r>
              <a:rPr lang="en-US" dirty="0"/>
              <a:t>Instead they are only used for </a:t>
            </a:r>
            <a:r>
              <a:rPr lang="en-US" b="1" dirty="0"/>
              <a:t>type checking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011EF-B07F-D0BD-5DFB-51DF6601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9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C920-E96E-FED6-9B83-272B20F6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9409E-6070-123B-40F5-DBC7D26A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E1A08-44F9-BCFE-8283-7282C345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9F1024B-2BB1-B75C-77F1-FC25D53AA4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29606"/>
            <a:ext cx="5486400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530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713B-5ED6-E1CB-FDD0-E43AE04B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5238-C057-D879-BDDC-B7C952D8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vs Interfaces vs Type Alias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5211F-82BA-2575-08E9-2B77CF81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3FE52E-067D-B79E-68B1-8583DC08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81585"/>
              </p:ext>
            </p:extLst>
          </p:nvPr>
        </p:nvGraphicFramePr>
        <p:xfrm>
          <a:off x="180270" y="1721652"/>
          <a:ext cx="8783460" cy="448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7820">
                  <a:extLst>
                    <a:ext uri="{9D8B030D-6E8A-4147-A177-3AD203B41FA5}">
                      <a16:colId xmlns:a16="http://schemas.microsoft.com/office/drawing/2014/main" val="2402204475"/>
                    </a:ext>
                  </a:extLst>
                </a:gridCol>
                <a:gridCol w="2927820">
                  <a:extLst>
                    <a:ext uri="{9D8B030D-6E8A-4147-A177-3AD203B41FA5}">
                      <a16:colId xmlns:a16="http://schemas.microsoft.com/office/drawing/2014/main" val="301633326"/>
                    </a:ext>
                  </a:extLst>
                </a:gridCol>
                <a:gridCol w="2927820">
                  <a:extLst>
                    <a:ext uri="{9D8B030D-6E8A-4147-A177-3AD203B41FA5}">
                      <a16:colId xmlns:a16="http://schemas.microsoft.com/office/drawing/2014/main" val="2006664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Alias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196056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Acts as blueprints to create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Defines contracts regarding functionality of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Creates named types for any kind of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195820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Created using the ‘</a:t>
                      </a:r>
                      <a:r>
                        <a:rPr lang="en-US" sz="1600" dirty="0" err="1"/>
                        <a:t>class’</a:t>
                      </a:r>
                      <a:r>
                        <a:rPr lang="en-US" sz="1600" dirty="0"/>
                        <a:t> keyword.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Created using the ‘interface’ keyword.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Created using the ‘type’ keyword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74400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Can extend one class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Can implement multiple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 extend multiple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Cannot extend directly, but can combine types using intersections ( single &amp; operator)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987102"/>
                  </a:ext>
                </a:extLst>
              </a:tr>
              <a:tr h="873238">
                <a:tc>
                  <a:txBody>
                    <a:bodyPr/>
                    <a:lstStyle/>
                    <a:p>
                      <a:r>
                        <a:rPr lang="en-US" sz="1600" dirty="0"/>
                        <a:t>Used when you need instances, behavior and OOP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when defining object contracts, APIs or other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when you need flexible support for unions, intersections, primitives, tuples or advanced type composition.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58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894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C44CC-CF68-B087-1037-29088C3D0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6E7828-842F-09DD-B9F2-1A80B5FF18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718D8A3-6CD0-D5CC-8116-D62BBEB550A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E06A6-A577-433F-8FF2-9FBFC1620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3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B2FBE-1B3B-07BA-9E56-25811FCD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E96D-FC12-C9E4-211E-434B029D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F141-F41B-5B40-F83C-5061CD8B3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Generics allow a function, interface or class to work with multiple types while still preserving type safety, instead of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</a:p>
          <a:p>
            <a:r>
              <a:rPr lang="en-US" dirty="0"/>
              <a:t>A generic type is written using angle brackets with a placeholder letter, most commonly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/>
              <a:t>’ (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  <a:r>
              <a:rPr lang="en-US" dirty="0"/>
              <a:t> )</a:t>
            </a:r>
          </a:p>
          <a:p>
            <a:r>
              <a:rPr lang="en-US" dirty="0"/>
              <a:t>Generics can have multiple placeholders, separated with a comma (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&lt;T, U&gt;</a:t>
            </a:r>
            <a:r>
              <a:rPr lang="en-US" dirty="0"/>
              <a:t> )</a:t>
            </a:r>
          </a:p>
          <a:p>
            <a:r>
              <a:rPr lang="en-US" dirty="0"/>
              <a:t>The specific type used for the generic placeholder is inferred automatically by TypeScript based the argument passed in.</a:t>
            </a:r>
          </a:p>
          <a:p>
            <a:r>
              <a:rPr lang="en-US" dirty="0"/>
              <a:t>Generics can be used with functions, interfaces and classes.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6DF7-EDE7-0E09-FC50-48C7AD93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18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40DAE-26D8-0B31-7804-9A1A5400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0F6D9-1230-3039-FC15-C32377391D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6CFADAD-4A02-537D-0376-F2222B5C1E8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 Guards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AC2641-08F2-FBFC-6FBC-8AAB50CB2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68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9104-C67C-B718-2AEC-ABAAED684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7573-532D-E535-60A9-D5037941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Guards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A30E7-E623-2103-7547-0ABEF0FE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Type Guards are runtime checks that narrow the type of a variable within a certain scope.</a:t>
            </a:r>
          </a:p>
          <a:p>
            <a:r>
              <a:rPr lang="en-US" dirty="0"/>
              <a:t>They allow you to understand and enforce types safely and more precisely.</a:t>
            </a:r>
          </a:p>
          <a:p>
            <a:r>
              <a:rPr lang="en-US" dirty="0"/>
              <a:t>There are many strategies for implementing Type Guards: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dirty="0"/>
              <a:t> : 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typeof</a:t>
            </a:r>
            <a:r>
              <a:rPr lang="en-US" dirty="0"/>
              <a:t> operator, TypeScript can perform actions in conditional blocks knowing the value is the matching type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dirty="0"/>
              <a:t> :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instanceof</a:t>
            </a:r>
            <a:r>
              <a:rPr lang="en-US" dirty="0"/>
              <a:t> operator with an object can safely reference class fields/interface methods, etc…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: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operator can be used with objects that don’t share a common class, to check for the existence of a field or method.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FBE8D-178F-270A-0F46-CDE11347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2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971E-A338-EDA8-19F7-237A691C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3AB8F2-828F-8FE1-9FD7-F8EFA7DFDC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6D81507-9FE9-DC53-73A5-C6860CABAEB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Modules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56153-6B53-79D3-70E0-72AA76F1D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32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2915-F5FD-BE0F-8B90-874059219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A5B3-2461-4233-D770-3D58A01E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C50C-6BAF-62C3-7F7C-9FD4BBC1F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In TypeScript (and JavaScript), code we write is globally scoped by default.</a:t>
            </a:r>
          </a:p>
          <a:p>
            <a:r>
              <a:rPr lang="en-US" dirty="0"/>
              <a:t>Modules are entities which allows for organization and management of larger codebases.</a:t>
            </a:r>
          </a:p>
          <a:p>
            <a:r>
              <a:rPr lang="en-US" dirty="0"/>
              <a:t>All variables, classes, and functions declared in a module are not accessible outside the module.</a:t>
            </a:r>
          </a:p>
          <a:p>
            <a:r>
              <a:rPr lang="en-US" dirty="0"/>
              <a:t>A module is created using the export keyword and used in another module using the import keyword.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BFD08-B38A-CA19-FFD4-1F273786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26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A2A4-18FC-9002-804A-2FCFEF89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FAF8-FFA9-FE4B-EBD0-72F92152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0643A-8A8C-055B-3964-DF0D982C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D88F161-DFA5-991C-53F3-4AF397DA0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55" y="2683532"/>
            <a:ext cx="7958137" cy="3942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99788-ABEF-DDC5-AE81-7B97C687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9398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export a class, function or variable, add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</a:t>
            </a:r>
            <a:r>
              <a:rPr lang="en-US" dirty="0"/>
              <a:t> keyword at the beginning.</a:t>
            </a:r>
          </a:p>
        </p:txBody>
      </p:sp>
    </p:spTree>
    <p:extLst>
      <p:ext uri="{BB962C8B-B14F-4D97-AF65-F5344CB8AC3E}">
        <p14:creationId xmlns:p14="http://schemas.microsoft.com/office/powerpoint/2010/main" val="1590946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6906-AEDF-1436-96D4-11D697E3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4004-4AFE-9FE7-7BDC-4CDFF7FE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FAD2A-8EE6-51C9-2AF9-0F36C363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60116E-2CC4-3C40-130B-2B3636A04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210581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syntax for importing a module is: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export_name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} from “file path”</a:t>
            </a:r>
          </a:p>
          <a:p>
            <a:pPr lvl="2"/>
            <a:r>
              <a:rPr lang="en-US" dirty="0"/>
              <a:t>Note: You can list multiple named imports from a single file path by comma-separating the list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Employee from “./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myFolder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/module”</a:t>
            </a:r>
          </a:p>
          <a:p>
            <a:pPr lvl="1"/>
            <a:r>
              <a:rPr lang="en-US" dirty="0"/>
              <a:t>Note: you should include the file extension in your import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C0DCE-C82C-F2C5-9B4F-E3998FB50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7" y="3744427"/>
            <a:ext cx="7629525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971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C05F3-315C-56B0-CBD0-5F40EF23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3F434-09A1-1758-A1CE-A200AB0FEE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A673C96-87D9-B708-9E02-8221C14A9E5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Decorators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ECA46-9946-B346-0283-0809699CF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78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E9C4-9C96-5BC6-E18B-61522131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05D04-17AB-71C1-9C91-34C799B8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B3A1B-D94C-F51D-657B-458B4D8C2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1054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Decorator is a special kind of declaration attached to a class declaration, method, accessor, property, or parameter. </a:t>
            </a:r>
          </a:p>
          <a:p>
            <a:r>
              <a:rPr lang="en-US" dirty="0"/>
              <a:t>They are used as a mechanism for adding metadata information to source code and/or providing some functionality.</a:t>
            </a:r>
          </a:p>
          <a:p>
            <a:r>
              <a:rPr lang="en-US" dirty="0"/>
              <a:t>Decorators are used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@expression</a:t>
            </a:r>
            <a:r>
              <a:rPr lang="en-US" dirty="0"/>
              <a:t> format, where ‘expression’ evaluates a function that called at runtime.</a:t>
            </a:r>
          </a:p>
          <a:p>
            <a:pPr lvl="1"/>
            <a:r>
              <a:rPr lang="en-US" dirty="0"/>
              <a:t>Note: Most often, you will use built-in decorators, rather than creating your own.</a:t>
            </a:r>
          </a:p>
          <a:p>
            <a:r>
              <a:rPr lang="en-US" dirty="0"/>
              <a:t>For the decorator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@frozen</a:t>
            </a:r>
            <a:r>
              <a:rPr lang="en-US" dirty="0"/>
              <a:t>, we write the frozen function as follows: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A6A40-4F8E-0450-684C-9364CF5D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D1446E0-84F9-DCAF-C88F-99DC8E965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586884"/>
            <a:ext cx="3962400" cy="1065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278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1E5E-3CEA-6C7F-0A57-76C8CB92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530B-0D24-491E-C0D2-6DE11503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01053-AAC4-B8F6-3087-3BAD99F54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105438"/>
          </a:xfrm>
        </p:spPr>
        <p:txBody>
          <a:bodyPr>
            <a:normAutofit/>
          </a:bodyPr>
          <a:lstStyle/>
          <a:p>
            <a:r>
              <a:rPr lang="en-US" dirty="0"/>
              <a:t>There are 4 different types of decorators:</a:t>
            </a:r>
          </a:p>
          <a:p>
            <a:pPr lvl="1"/>
            <a:r>
              <a:rPr lang="en-US" dirty="0"/>
              <a:t>Class decorators</a:t>
            </a:r>
          </a:p>
          <a:p>
            <a:pPr lvl="1"/>
            <a:r>
              <a:rPr lang="en-US" dirty="0"/>
              <a:t>Method decorators</a:t>
            </a:r>
          </a:p>
          <a:p>
            <a:pPr lvl="1"/>
            <a:r>
              <a:rPr lang="en-US" dirty="0"/>
              <a:t>Property decorators</a:t>
            </a:r>
          </a:p>
          <a:p>
            <a:pPr lvl="1"/>
            <a:r>
              <a:rPr lang="en-US" dirty="0"/>
              <a:t>Parameter decorators</a:t>
            </a:r>
          </a:p>
          <a:p>
            <a:pPr lvl="1"/>
            <a:endParaRPr lang="en-US" dirty="0"/>
          </a:p>
          <a:p>
            <a:r>
              <a:rPr lang="en-US" dirty="0"/>
              <a:t>Note: you are not expected to create your own decorators – just know what they 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000B5-3CF7-7D72-7148-D33DB255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3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0268-BDBB-9D36-F9FD-F8214DD3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618079-F69E-F566-00F0-9F000B28A01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BC77359-6324-D1CB-B727-02DD1CD2B41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Utility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0891D-F5DB-DA2C-413C-E2BDFC5B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166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CA60-861C-1ECD-802D-8D17B447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4085-8709-387D-52AB-A6CA8C87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95C59-9341-1D68-692E-9AACFB2FB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Utility Types are built-in generic types provided by TypeScript that transform an existing type into a new one, without needing to manually rewrite that type from scratch</a:t>
            </a:r>
          </a:p>
          <a:p>
            <a:r>
              <a:rPr lang="en-US" dirty="0"/>
              <a:t>Utility types are especially useful for reusing an existing type in a slightly different form, such as making all it’s properties optional, required or read-only</a:t>
            </a:r>
          </a:p>
          <a:p>
            <a:r>
              <a:rPr lang="en-US" dirty="0"/>
              <a:t>Utility types work by taking an existing type as an input (often written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UtilityType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produces a new, related type as the output.</a:t>
            </a:r>
          </a:p>
          <a:p>
            <a:r>
              <a:rPr lang="en-US" dirty="0"/>
              <a:t>Since Utility types are built into TypeScript itself, they require no additional setup or imports to use.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7C5FF-59BB-6A97-5874-22234DEAE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6017E-1518-F72E-06F4-5F68C4C8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ED3C-302D-9187-ED99-F293B48C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Types 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AA697-D1D0-90C9-C9F2-2C659653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0396E1-3839-3BE9-B879-23E04931D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871100"/>
              </p:ext>
            </p:extLst>
          </p:nvPr>
        </p:nvGraphicFramePr>
        <p:xfrm>
          <a:off x="316223" y="1642457"/>
          <a:ext cx="851155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4520">
                  <a:extLst>
                    <a:ext uri="{9D8B030D-6E8A-4147-A177-3AD203B41FA5}">
                      <a16:colId xmlns:a16="http://schemas.microsoft.com/office/drawing/2014/main" val="2402204475"/>
                    </a:ext>
                  </a:extLst>
                </a:gridCol>
                <a:gridCol w="4517034">
                  <a:extLst>
                    <a:ext uri="{9D8B030D-6E8A-4147-A177-3AD203B41FA5}">
                      <a16:colId xmlns:a16="http://schemas.microsoft.com/office/drawing/2014/main" val="301633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Utility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196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Partial&lt;Type&gt;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Makes all properties of Type optional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195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Required&lt;Type&gt;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Makes all properties of Type required (opposite of Partial)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7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Readonly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&lt;Type&gt;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Makes all properties of Type read-only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987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Record&lt;Keys, Type&gt;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Builds an object type with a specific set of keys, all mapped to the same value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586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Pick&lt;Type, Keys&gt;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a new type containing only the specified keys from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74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Omit&lt;Type, Keys&gt;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a new type containing all properties of Type except the specified keys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7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Exclude&lt;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UnionType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ExcludedMembers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Removes specific members from a union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808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Extract&lt;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UnionType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Members&gt;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Keeps only the specified members from a union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855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ReturnType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FunctionType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Extracts the return type of a given function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339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Parameters&lt;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FunctionType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Extracts the parameter types of a given function type as a tuple.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70588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7E1791-D928-7182-7C09-798A693A6F3A}"/>
              </a:ext>
            </a:extLst>
          </p:cNvPr>
          <p:cNvSpPr txBox="1"/>
          <p:nvPr/>
        </p:nvSpPr>
        <p:spPr>
          <a:xfrm>
            <a:off x="0" y="6546274"/>
            <a:ext cx="8259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More information about Utility Types can be found here: </a:t>
            </a:r>
            <a:r>
              <a:rPr lang="en-US" sz="1400" dirty="0">
                <a:hlinkClick r:id="rId2"/>
              </a:rPr>
              <a:t>TypeScript: Documentation - Utility Types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10440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6696-A892-F031-91BE-8E30FF3F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98A276-1B19-EC49-4E31-DC37C6B6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16372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8035</TotalTime>
  <Words>3121</Words>
  <Application>Microsoft Office PowerPoint</Application>
  <PresentationFormat>On-screen Show (4:3)</PresentationFormat>
  <Paragraphs>349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Courier New</vt:lpstr>
      <vt:lpstr>2_Custom Design</vt:lpstr>
      <vt:lpstr>TypeScript</vt:lpstr>
      <vt:lpstr>Outline</vt:lpstr>
      <vt:lpstr>PowerPoint Presentation</vt:lpstr>
      <vt:lpstr>TypeScript</vt:lpstr>
      <vt:lpstr>TypeScript Setup</vt:lpstr>
      <vt:lpstr>PowerPoint Presentation</vt:lpstr>
      <vt:lpstr>TypeScript Config</vt:lpstr>
      <vt:lpstr>PowerPoint Presentation</vt:lpstr>
      <vt:lpstr>Variable Declaration in TypeScript</vt:lpstr>
      <vt:lpstr>TypeScript Datatypes</vt:lpstr>
      <vt:lpstr>TypeScript Datatypes</vt:lpstr>
      <vt:lpstr>TypeScript Datatypes</vt:lpstr>
      <vt:lpstr>TypeScript Datatypes</vt:lpstr>
      <vt:lpstr>TypeScript Datatypes</vt:lpstr>
      <vt:lpstr>TypeScript Datatypes</vt:lpstr>
      <vt:lpstr>TypeScript Datatypes</vt:lpstr>
      <vt:lpstr>PowerPoint Presentation</vt:lpstr>
      <vt:lpstr>TypeScript Datatypes</vt:lpstr>
      <vt:lpstr>TypeScript Datatypes</vt:lpstr>
      <vt:lpstr>TypeScript Datatypes</vt:lpstr>
      <vt:lpstr>TypeScript Datatypes</vt:lpstr>
      <vt:lpstr>PowerPoint Presentation</vt:lpstr>
      <vt:lpstr>Type Casting</vt:lpstr>
      <vt:lpstr>Casting TypeScript Variables</vt:lpstr>
      <vt:lpstr>PowerPoint Presentation</vt:lpstr>
      <vt:lpstr>TypeScript Classes</vt:lpstr>
      <vt:lpstr>Inheritance in TypeScript</vt:lpstr>
      <vt:lpstr>TypeScript Access Modifiers</vt:lpstr>
      <vt:lpstr>readonly modifier</vt:lpstr>
      <vt:lpstr>keyof operator</vt:lpstr>
      <vt:lpstr>as const</vt:lpstr>
      <vt:lpstr>PowerPoint Presentation</vt:lpstr>
      <vt:lpstr>TypeScript Interfaces</vt:lpstr>
      <vt:lpstr>TypeScript Interfaces</vt:lpstr>
      <vt:lpstr>Classes vs Interfaces vs Type Alias</vt:lpstr>
      <vt:lpstr>PowerPoint Presentation</vt:lpstr>
      <vt:lpstr>TypeScript Interfaces</vt:lpstr>
      <vt:lpstr>PowerPoint Presentation</vt:lpstr>
      <vt:lpstr>Type Guards</vt:lpstr>
      <vt:lpstr>PowerPoint Presentation</vt:lpstr>
      <vt:lpstr>Modules</vt:lpstr>
      <vt:lpstr>Modules</vt:lpstr>
      <vt:lpstr>Modules</vt:lpstr>
      <vt:lpstr>PowerPoint Presentation</vt:lpstr>
      <vt:lpstr>TypeScript Decorator</vt:lpstr>
      <vt:lpstr>TypeScript Decorator</vt:lpstr>
      <vt:lpstr>PowerPoint Presentation</vt:lpstr>
      <vt:lpstr>Utility Types</vt:lpstr>
      <vt:lpstr>Utility Types Reference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23</cp:revision>
  <cp:lastPrinted>2016-06-20T20:58:50Z</cp:lastPrinted>
  <dcterms:created xsi:type="dcterms:W3CDTF">2016-11-09T18:19:08Z</dcterms:created>
  <dcterms:modified xsi:type="dcterms:W3CDTF">2026-08-14T19:20:34Z</dcterms:modified>
</cp:coreProperties>
</file>