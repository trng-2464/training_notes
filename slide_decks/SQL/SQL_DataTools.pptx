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61" r:id="rId1"/>
  </p:sldMasterIdLst>
  <p:notesMasterIdLst>
    <p:notesMasterId r:id="rId23"/>
  </p:notesMasterIdLst>
  <p:sldIdLst>
    <p:sldId id="256" r:id="rId2"/>
    <p:sldId id="343" r:id="rId3"/>
    <p:sldId id="362" r:id="rId4"/>
    <p:sldId id="328" r:id="rId5"/>
    <p:sldId id="265" r:id="rId6"/>
    <p:sldId id="358" r:id="rId7"/>
    <p:sldId id="326" r:id="rId8"/>
    <p:sldId id="329" r:id="rId9"/>
    <p:sldId id="322" r:id="rId10"/>
    <p:sldId id="359" r:id="rId11"/>
    <p:sldId id="324" r:id="rId12"/>
    <p:sldId id="323" r:id="rId13"/>
    <p:sldId id="325" r:id="rId14"/>
    <p:sldId id="360" r:id="rId15"/>
    <p:sldId id="327" r:id="rId16"/>
    <p:sldId id="361" r:id="rId17"/>
    <p:sldId id="318" r:id="rId18"/>
    <p:sldId id="320" r:id="rId19"/>
    <p:sldId id="363" r:id="rId20"/>
    <p:sldId id="364" r:id="rId21"/>
    <p:sldId id="270" r:id="rId22"/>
  </p:sldIdLst>
  <p:sldSz cx="9144000" cy="6858000" type="screen4x3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846" y="60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829965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"/>
          <p:cNvPicPr preferRelativeResize="0"/>
          <p:nvPr/>
        </p:nvPicPr>
        <p:blipFill rotWithShape="1">
          <a:blip r:embed="rId2">
            <a:alphaModFix/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2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36" name="Google Shape;36;p2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 rot="10800000" flipH="1">
            <a:off x="0" y="1219200"/>
            <a:ext cx="9144000" cy="563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5" name="Google Shape;65;p4"/>
          <p:cNvGrpSpPr/>
          <p:nvPr/>
        </p:nvGrpSpPr>
        <p:grpSpPr>
          <a:xfrm>
            <a:off x="7264458" y="365740"/>
            <a:ext cx="1553308" cy="487719"/>
            <a:chOff x="7264458" y="365740"/>
            <a:chExt cx="1553308" cy="487719"/>
          </a:xfrm>
        </p:grpSpPr>
        <p:sp>
          <p:nvSpPr>
            <p:cNvPr id="66" name="Google Shape;66;p4"/>
            <p:cNvSpPr/>
            <p:nvPr/>
          </p:nvSpPr>
          <p:spPr>
            <a:xfrm>
              <a:off x="7264458" y="705011"/>
              <a:ext cx="148988" cy="144669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7450153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7613446" y="705011"/>
              <a:ext cx="154116" cy="144669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7767562" y="705011"/>
              <a:ext cx="173010" cy="144669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7934364" y="705011"/>
              <a:ext cx="157895" cy="144669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8122758" y="705011"/>
              <a:ext cx="154116" cy="148448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8321678" y="705011"/>
              <a:ext cx="148448" cy="144669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8507374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7785916" y="618911"/>
              <a:ext cx="25911" cy="24831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7868507" y="539289"/>
              <a:ext cx="37247" cy="44804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7965403" y="477481"/>
              <a:ext cx="37787" cy="69366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8070936" y="427548"/>
              <a:ext cx="32119" cy="95546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8178358" y="392731"/>
              <a:ext cx="29690" cy="119568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8280113" y="371948"/>
              <a:ext cx="46154" cy="14143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8379438" y="365740"/>
              <a:ext cx="68826" cy="16167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8477144" y="377076"/>
              <a:ext cx="95007" cy="176788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8573230" y="405416"/>
              <a:ext cx="122537" cy="187584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8663109" y="450760"/>
              <a:ext cx="154656" cy="19352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5"/>
          <p:cNvPicPr preferRelativeResize="0"/>
          <p:nvPr/>
        </p:nvPicPr>
        <p:blipFill rotWithShape="1">
          <a:blip r:embed="rId2">
            <a:alphaModFix/>
          </a:blip>
          <a:srcRect t="33085" b="1379"/>
          <a:stretch/>
        </p:blipFill>
        <p:spPr>
          <a:xfrm rot="10800000" flipH="1">
            <a:off x="0" y="0"/>
            <a:ext cx="9144000" cy="50300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5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87" name="Google Shape;87;p5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5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5"/>
          <p:cNvSpPr txBox="1"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section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6"/>
          <p:cNvPicPr preferRelativeResize="0"/>
          <p:nvPr/>
        </p:nvPicPr>
        <p:blipFill rotWithShape="1">
          <a:blip r:embed="rId2">
            <a:alphaModFix/>
          </a:blip>
          <a:srcRect t="67499" b="6701"/>
          <a:stretch/>
        </p:blipFill>
        <p:spPr>
          <a:xfrm rot="10800000" flipH="1">
            <a:off x="0" y="1740436"/>
            <a:ext cx="9144000" cy="1502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6"/>
          <p:cNvPicPr preferRelativeResize="0"/>
          <p:nvPr/>
        </p:nvPicPr>
        <p:blipFill rotWithShape="1">
          <a:blip r:embed="rId3">
            <a:alphaModFix/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6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3" name="Google Shape;113;p6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6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6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6"/>
          <p:cNvSpPr txBox="1">
            <a:spLocks noGrp="1"/>
          </p:cNvSpPr>
          <p:nvPr>
            <p:ph type="body" idx="1"/>
          </p:nvPr>
        </p:nvSpPr>
        <p:spPr>
          <a:xfrm>
            <a:off x="323135" y="1846263"/>
            <a:ext cx="8441453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2">
  <p:cSld name="section 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7"/>
          <p:cNvPicPr preferRelativeResize="0"/>
          <p:nvPr/>
        </p:nvPicPr>
        <p:blipFill rotWithShape="1">
          <a:blip r:embed="rId2">
            <a:alphaModFix/>
          </a:blip>
          <a:srcRect l="6614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7"/>
          <p:cNvPicPr preferRelativeResize="0"/>
          <p:nvPr/>
        </p:nvPicPr>
        <p:blipFill rotWithShape="1">
          <a:blip r:embed="rId3">
            <a:alphaModFix/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" name="Google Shape;136;p7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37" name="Google Shape;137;p7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7"/>
          <p:cNvSpPr txBox="1">
            <a:spLocks noGrp="1"/>
          </p:cNvSpPr>
          <p:nvPr>
            <p:ph type="body" idx="1"/>
          </p:nvPr>
        </p:nvSpPr>
        <p:spPr>
          <a:xfrm>
            <a:off x="323135" y="1846263"/>
            <a:ext cx="8441453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white">
  <p:cSld name="title only - white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1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6" name="Google Shape;176;p11"/>
          <p:cNvGrpSpPr/>
          <p:nvPr/>
        </p:nvGrpSpPr>
        <p:grpSpPr>
          <a:xfrm>
            <a:off x="7264458" y="365740"/>
            <a:ext cx="1553308" cy="487719"/>
            <a:chOff x="7264458" y="365740"/>
            <a:chExt cx="1553308" cy="487719"/>
          </a:xfrm>
        </p:grpSpPr>
        <p:sp>
          <p:nvSpPr>
            <p:cNvPr id="177" name="Google Shape;177;p11"/>
            <p:cNvSpPr/>
            <p:nvPr/>
          </p:nvSpPr>
          <p:spPr>
            <a:xfrm>
              <a:off x="7264458" y="705011"/>
              <a:ext cx="148988" cy="144669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7450153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7613446" y="705011"/>
              <a:ext cx="154116" cy="144669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7767562" y="705011"/>
              <a:ext cx="173010" cy="144669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7934364" y="705011"/>
              <a:ext cx="157895" cy="144669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8122758" y="705011"/>
              <a:ext cx="154116" cy="148448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8321678" y="705011"/>
              <a:ext cx="148448" cy="144669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8507374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7785916" y="618911"/>
              <a:ext cx="25911" cy="24831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7868507" y="539289"/>
              <a:ext cx="37247" cy="44804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7965403" y="477481"/>
              <a:ext cx="37787" cy="69366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8070936" y="427548"/>
              <a:ext cx="32119" cy="95546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8178358" y="392731"/>
              <a:ext cx="29690" cy="119568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8280113" y="371948"/>
              <a:ext cx="46154" cy="14143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8379438" y="365740"/>
              <a:ext cx="68826" cy="16167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8477144" y="377076"/>
              <a:ext cx="95007" cy="176788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8573230" y="405416"/>
              <a:ext cx="122537" cy="187584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8663109" y="450760"/>
              <a:ext cx="154656" cy="19352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Title Only">
  <p:cSld name="3_Title Only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2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2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12"/>
          <p:cNvSpPr>
            <a:spLocks noGrp="1"/>
          </p:cNvSpPr>
          <p:nvPr>
            <p:ph type="dgm" idx="2"/>
          </p:nvPr>
        </p:nvSpPr>
        <p:spPr>
          <a:xfrm>
            <a:off x="133350" y="125413"/>
            <a:ext cx="8850313" cy="6008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Title Only">
  <p:cSld name="2_Title Only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3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2" name="Google Shape;20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7765" y="6367323"/>
            <a:ext cx="1260213" cy="39476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3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3"/>
          <p:cNvSpPr txBox="1">
            <a:spLocks noGrp="1"/>
          </p:cNvSpPr>
          <p:nvPr>
            <p:ph type="body" idx="1"/>
          </p:nvPr>
        </p:nvSpPr>
        <p:spPr>
          <a:xfrm>
            <a:off x="380010" y="1097280"/>
            <a:ext cx="8383980" cy="491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4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808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Google Shape;12;p1"/>
            <p:cNvSpPr/>
            <p:nvPr/>
          </p:nvSpPr>
          <p:spPr>
            <a:xfrm>
              <a:off x="166688" y="-1244600"/>
              <a:ext cx="876300" cy="850900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1258888" y="-1244600"/>
              <a:ext cx="774700" cy="850900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2219326" y="-1244600"/>
              <a:ext cx="906463" cy="850900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3125788" y="-1244600"/>
              <a:ext cx="1017588" cy="850900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4106863" y="-1244600"/>
              <a:ext cx="928688" cy="850900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5214938" y="-1244600"/>
              <a:ext cx="906463" cy="873125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6384926" y="-1244600"/>
              <a:ext cx="873125" cy="850900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7477126" y="-1244600"/>
              <a:ext cx="774700" cy="850900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233738" y="-1751013"/>
              <a:ext cx="152400" cy="146050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719513" y="-2219325"/>
              <a:ext cx="219075" cy="263525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4289426" y="-2582863"/>
              <a:ext cx="222250" cy="407988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4910138" y="-2876550"/>
              <a:ext cx="188913" cy="561975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5541963" y="-3081338"/>
              <a:ext cx="174625" cy="70326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6140451" y="-3203575"/>
              <a:ext cx="271463" cy="83185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6724651" y="-3240088"/>
              <a:ext cx="404813" cy="95091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7299326" y="-3173413"/>
              <a:ext cx="558800" cy="1039813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7864476" y="-3006725"/>
              <a:ext cx="720725" cy="1103313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8393113" y="-2740025"/>
              <a:ext cx="909638" cy="1138238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1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1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1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2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docs/10/functions-math.html" TargetMode="External"/><Relationship Id="rId2" Type="http://schemas.openxmlformats.org/officeDocument/2006/relationships/hyperlink" Target="https://www.postgresql.org/docs/10/functions-string.html" TargetMode="Externa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 dirty="0"/>
              <a:t>SQL Data Tools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47FC-ED58-14EC-766E-B345CBB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0A314-1889-7642-D5E4-583ADD03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5247391"/>
          </a:xfrm>
        </p:spPr>
        <p:txBody>
          <a:bodyPr numCol="1">
            <a:normAutofit/>
          </a:bodyPr>
          <a:lstStyle/>
          <a:p>
            <a:r>
              <a:rPr lang="en-US" dirty="0"/>
              <a:t>Built-in Functions</a:t>
            </a:r>
          </a:p>
          <a:p>
            <a:r>
              <a:rPr lang="en-US" dirty="0"/>
              <a:t>Joins</a:t>
            </a:r>
          </a:p>
          <a:p>
            <a:r>
              <a:rPr lang="en-US" dirty="0"/>
              <a:t>Set Operations</a:t>
            </a:r>
          </a:p>
          <a:p>
            <a:r>
              <a:rPr lang="en-US" dirty="0"/>
              <a:t>Sub-Queries</a:t>
            </a:r>
          </a:p>
          <a:p>
            <a:r>
              <a:rPr lang="en-US" dirty="0"/>
              <a:t>Views</a:t>
            </a:r>
          </a:p>
          <a:p>
            <a:r>
              <a:rPr lang="en-US" dirty="0"/>
              <a:t>Indexes</a:t>
            </a:r>
          </a:p>
          <a:p>
            <a:pPr marL="508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8E87B-7B9D-AD34-4B49-C7138ED0A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AEE010-6442-DDC5-2764-C42FFD649C4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4415F32B-CD9A-6097-53C5-A9BBFD7AEBE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Built-in Functions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8FCCF9-2634-CB02-6DA8-44329D04E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70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FF0AA-0C10-4ED2-AA92-DFA6314EE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52D0E-02CF-4A4B-8B11-1ADDB4D7E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Aggregate Functions</a:t>
            </a:r>
            <a:r>
              <a:rPr lang="en-US" dirty="0"/>
              <a:t>: perform an operation across all the rows of a given query and return a single result. </a:t>
            </a:r>
          </a:p>
          <a:p>
            <a:pPr lvl="1"/>
            <a:r>
              <a:rPr lang="en-US" dirty="0"/>
              <a:t>AVG()</a:t>
            </a:r>
          </a:p>
          <a:p>
            <a:pPr lvl="1"/>
            <a:r>
              <a:rPr lang="en-US" dirty="0"/>
              <a:t>COUNT()</a:t>
            </a:r>
          </a:p>
          <a:p>
            <a:pPr lvl="1"/>
            <a:r>
              <a:rPr lang="en-US" dirty="0"/>
              <a:t>MAX()</a:t>
            </a:r>
          </a:p>
          <a:p>
            <a:pPr lvl="1"/>
            <a:r>
              <a:rPr lang="en-US" dirty="0"/>
              <a:t>MIN()</a:t>
            </a:r>
          </a:p>
          <a:p>
            <a:pPr lvl="1"/>
            <a:r>
              <a:rPr lang="en-US" dirty="0"/>
              <a:t>SUM()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AA355-6B2E-490E-A171-960A13712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294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FF0AA-0C10-4ED2-AA92-DFA6314EE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52D0E-02CF-4A4B-8B11-1ADDB4D7E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Scalar Functions</a:t>
            </a:r>
            <a:r>
              <a:rPr lang="en-US" dirty="0"/>
              <a:t>: Perform an operation on a single value and return a single value as well.</a:t>
            </a:r>
          </a:p>
          <a:p>
            <a:r>
              <a:rPr lang="en-US" dirty="0"/>
              <a:t>Scalar functions should, therefore, be used with queries that return a single result.</a:t>
            </a:r>
          </a:p>
          <a:p>
            <a:r>
              <a:rPr lang="en-US" dirty="0"/>
              <a:t>String Functions:</a:t>
            </a:r>
          </a:p>
          <a:p>
            <a:pPr lvl="1"/>
            <a:r>
              <a:rPr lang="en-US" dirty="0"/>
              <a:t>TRIM()</a:t>
            </a:r>
          </a:p>
          <a:p>
            <a:pPr lvl="1"/>
            <a:r>
              <a:rPr lang="en-US" dirty="0"/>
              <a:t>LOWER()</a:t>
            </a:r>
          </a:p>
          <a:p>
            <a:pPr lvl="1"/>
            <a:r>
              <a:rPr lang="en-US" dirty="0"/>
              <a:t>UPPER()</a:t>
            </a:r>
          </a:p>
          <a:p>
            <a:pPr lvl="1"/>
            <a:r>
              <a:rPr lang="en-US" dirty="0">
                <a:hlinkClick r:id="rId2"/>
              </a:rPr>
              <a:t>https://www.postgresql.org/docs/10/functions-string.html</a:t>
            </a:r>
            <a:endParaRPr lang="en-US" dirty="0"/>
          </a:p>
          <a:p>
            <a:r>
              <a:rPr lang="en-US" dirty="0"/>
              <a:t>Math Functions:</a:t>
            </a:r>
          </a:p>
          <a:p>
            <a:pPr lvl="1"/>
            <a:r>
              <a:rPr lang="en-US" dirty="0"/>
              <a:t>FLOOR()</a:t>
            </a:r>
          </a:p>
          <a:p>
            <a:pPr lvl="1"/>
            <a:r>
              <a:rPr lang="en-US" dirty="0"/>
              <a:t>ROUND()</a:t>
            </a:r>
          </a:p>
          <a:p>
            <a:pPr lvl="1"/>
            <a:r>
              <a:rPr lang="en-US" dirty="0"/>
              <a:t>ABS()</a:t>
            </a:r>
          </a:p>
          <a:p>
            <a:pPr lvl="1"/>
            <a:r>
              <a:rPr lang="en-US" dirty="0">
                <a:hlinkClick r:id="rId3"/>
              </a:rPr>
              <a:t>https://www.postgresql.org/docs/10/functions-math.html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AA355-6B2E-490E-A171-960A13712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1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ADB4C-F3F1-A7E0-C7AF-F6869DD59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ADFA2B-DC3A-C6F1-F9C6-7AF050DA81F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0FDF8D0D-B86E-D62D-AA02-C6D79BA34033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Joins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0A475B-6951-7A3E-0F45-D1380B970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542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Joins are used to combine columns from one (self-join) or more tables based on the values of common columns between the related tables.</a:t>
            </a:r>
          </a:p>
          <a:p>
            <a:r>
              <a:rPr lang="en-US" dirty="0"/>
              <a:t>The common columns are typically the primary key of the first table and the foreign key column of the second table.</a:t>
            </a:r>
          </a:p>
          <a:p>
            <a:r>
              <a:rPr lang="en-US" dirty="0"/>
              <a:t>Different SQL dialects support different types of joins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918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074DA-1CC4-B7B4-331E-578C1C83B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4CBF7-EE51-3EA4-5B91-386FD5123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C1130-81EA-EF00-E85D-27404B7F4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Equi</a:t>
            </a:r>
            <a:r>
              <a:rPr lang="en-US" dirty="0"/>
              <a:t> joins </a:t>
            </a:r>
          </a:p>
          <a:p>
            <a:pPr lvl="1"/>
            <a:r>
              <a:rPr lang="en-US" dirty="0"/>
              <a:t>It is a simple </a:t>
            </a:r>
            <a:r>
              <a:rPr lang="en-US" dirty="0" err="1"/>
              <a:t>sql</a:t>
            </a:r>
            <a:r>
              <a:rPr lang="en-US" dirty="0"/>
              <a:t> join condition which uses the equal sign as the comparison operator. </a:t>
            </a:r>
          </a:p>
          <a:p>
            <a:pPr lvl="1"/>
            <a:r>
              <a:rPr lang="en-US" dirty="0"/>
              <a:t>Two types of </a:t>
            </a:r>
            <a:r>
              <a:rPr lang="en-US" dirty="0" err="1"/>
              <a:t>equi</a:t>
            </a:r>
            <a:r>
              <a:rPr lang="en-US" dirty="0"/>
              <a:t> joins are ‘Outer Join’ and ‘Inner Join’. </a:t>
            </a:r>
          </a:p>
          <a:p>
            <a:r>
              <a:rPr lang="en-US" dirty="0"/>
              <a:t>Inner Join (a.k.a. ‘natural’ join)</a:t>
            </a:r>
          </a:p>
          <a:p>
            <a:pPr lvl="1"/>
            <a:r>
              <a:rPr lang="en-US" dirty="0"/>
              <a:t>All the rows returned by the </a:t>
            </a:r>
            <a:r>
              <a:rPr lang="en-US" dirty="0" err="1"/>
              <a:t>sql</a:t>
            </a:r>
            <a:r>
              <a:rPr lang="en-US" dirty="0"/>
              <a:t> query satisfy the </a:t>
            </a:r>
            <a:r>
              <a:rPr lang="en-US" dirty="0" err="1"/>
              <a:t>sql</a:t>
            </a:r>
            <a:r>
              <a:rPr lang="en-US" dirty="0"/>
              <a:t> join condition specified. </a:t>
            </a:r>
          </a:p>
          <a:p>
            <a:r>
              <a:rPr lang="en-US" dirty="0"/>
              <a:t>Outer Join</a:t>
            </a:r>
          </a:p>
          <a:p>
            <a:pPr lvl="1"/>
            <a:r>
              <a:rPr lang="en-US" dirty="0"/>
              <a:t>This </a:t>
            </a:r>
            <a:r>
              <a:rPr lang="en-US" dirty="0" err="1"/>
              <a:t>sql</a:t>
            </a:r>
            <a:r>
              <a:rPr lang="en-US" dirty="0"/>
              <a:t> join returns all rows from both tables which satisfy the join condition along with rows which do not satisfy the join condition from one of the tables. </a:t>
            </a:r>
          </a:p>
          <a:p>
            <a:pPr lvl="1"/>
            <a:r>
              <a:rPr lang="en-US" dirty="0"/>
              <a:t>Full, Left and Right joins are all considered types of outer joins</a:t>
            </a:r>
          </a:p>
          <a:p>
            <a:r>
              <a:rPr lang="en-US" dirty="0"/>
              <a:t>Non </a:t>
            </a:r>
            <a:r>
              <a:rPr lang="en-US" dirty="0" err="1"/>
              <a:t>equi</a:t>
            </a:r>
            <a:r>
              <a:rPr lang="en-US" dirty="0"/>
              <a:t> joins (a.k.a. theta joins)</a:t>
            </a:r>
          </a:p>
          <a:p>
            <a:pPr lvl="1"/>
            <a:r>
              <a:rPr lang="en-US" dirty="0"/>
              <a:t>It is a </a:t>
            </a:r>
            <a:r>
              <a:rPr lang="en-US" dirty="0" err="1"/>
              <a:t>sql</a:t>
            </a:r>
            <a:r>
              <a:rPr lang="en-US" dirty="0"/>
              <a:t> join condition which makes use of some comparison operator other than the equal sign (e.g. “&gt;”, “&lt;”, “&gt;=”, “&lt;=”)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09447-3249-A94F-0F25-9FB80D64B6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454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0AE3A1DE-C283-4B35-884E-FD0310EAD9F9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9792" y="1219200"/>
            <a:ext cx="75438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0681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B576A-7637-EECF-4F3A-E55FF2AE6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EE9CC8-2D4E-BE14-33D9-CD927B5A71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991BE065-F7C3-4011-1E3E-425914F274EE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Set Operations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3648B8-96BF-298F-A970-119933E31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85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Operations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2949876"/>
          </a:xfrm>
        </p:spPr>
        <p:txBody>
          <a:bodyPr>
            <a:normAutofit/>
          </a:bodyPr>
          <a:lstStyle/>
          <a:p>
            <a:r>
              <a:rPr lang="en-US" dirty="0"/>
              <a:t>Set operations are used to manipulate two result sets, or the results of two select statements.</a:t>
            </a:r>
          </a:p>
          <a:p>
            <a:r>
              <a:rPr lang="en-US" dirty="0"/>
              <a:t>PostgreSQL supports the UNION, INTERSECT and EXCEPT operations.</a:t>
            </a:r>
          </a:p>
          <a:p>
            <a:r>
              <a:rPr lang="en-US" dirty="0"/>
              <a:t>We can optionally use the ALL keyword with a set operation to select all duplicate values.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015058-E1BA-4456-A3C3-F178C2BBB981}"/>
              </a:ext>
            </a:extLst>
          </p:cNvPr>
          <p:cNvSpPr/>
          <p:nvPr/>
        </p:nvSpPr>
        <p:spPr>
          <a:xfrm>
            <a:off x="894934" y="4431322"/>
            <a:ext cx="7354131" cy="193239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fontScale="55000" lnSpcReduction="20000"/>
          </a:bodyPr>
          <a:lstStyle/>
          <a:p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query1 UNION [optional ALL] query2</a:t>
            </a:r>
          </a:p>
          <a:p>
            <a:endParaRPr lang="en-US" sz="4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query1 INTERSECT [optional ALL] query2</a:t>
            </a:r>
          </a:p>
          <a:p>
            <a:endParaRPr lang="en-US" sz="4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query1 EXCEPT [optional ALL] query2</a:t>
            </a:r>
          </a:p>
        </p:txBody>
      </p:sp>
    </p:spTree>
    <p:extLst>
      <p:ext uri="{BB962C8B-B14F-4D97-AF65-F5344CB8AC3E}">
        <p14:creationId xmlns:p14="http://schemas.microsoft.com/office/powerpoint/2010/main" val="741110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 descr="Chart, bubble chart&#10;&#10;Description automatically generated">
            <a:extLst>
              <a:ext uri="{FF2B5EF4-FFF2-40B4-BE49-F238E27FC236}">
                <a16:creationId xmlns:a16="http://schemas.microsoft.com/office/drawing/2014/main" id="{E4A2D13E-3932-4F75-85EB-D909CA60D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73" y="1655072"/>
            <a:ext cx="8565454" cy="440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061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 vs Unions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1026" name="Picture 2" descr="enter image description here">
            <a:extLst>
              <a:ext uri="{FF2B5EF4-FFF2-40B4-BE49-F238E27FC236}">
                <a16:creationId xmlns:a16="http://schemas.microsoft.com/office/drawing/2014/main" id="{0C90396B-33B9-4D55-B17E-32A39F14E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6681" y="1339948"/>
            <a:ext cx="4572000" cy="2089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nter image description here">
            <a:extLst>
              <a:ext uri="{FF2B5EF4-FFF2-40B4-BE49-F238E27FC236}">
                <a16:creationId xmlns:a16="http://schemas.microsoft.com/office/drawing/2014/main" id="{7DD762E5-AFEF-4930-9208-FCC651E85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6681" y="3872218"/>
            <a:ext cx="4572000" cy="267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F924409-4DB7-4ECD-8982-86AC2C678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1" y="1481446"/>
            <a:ext cx="3741416" cy="4882266"/>
          </a:xfrm>
        </p:spPr>
        <p:txBody>
          <a:bodyPr>
            <a:normAutofit/>
          </a:bodyPr>
          <a:lstStyle/>
          <a:p>
            <a:r>
              <a:rPr lang="en-US" dirty="0"/>
              <a:t>Join statements will return a result which combines columns from each table</a:t>
            </a:r>
          </a:p>
          <a:p>
            <a:endParaRPr lang="en-US" dirty="0"/>
          </a:p>
          <a:p>
            <a:r>
              <a:rPr lang="en-US" dirty="0"/>
              <a:t>Unions will return a result which combines rows from each table</a:t>
            </a:r>
          </a:p>
        </p:txBody>
      </p:sp>
    </p:spTree>
    <p:extLst>
      <p:ext uri="{BB962C8B-B14F-4D97-AF65-F5344CB8AC3E}">
        <p14:creationId xmlns:p14="http://schemas.microsoft.com/office/powerpoint/2010/main" val="1000428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99430-8CC7-62B4-6903-739169FF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64FAEE-1069-EFD8-0DCF-A0549E218FA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3D044370-38A1-FB38-2448-C389D75630FE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 Queries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1CCE78-8FB9-05D8-C171-3E4C8A576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972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 Queries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1947554"/>
          </a:xfrm>
        </p:spPr>
        <p:txBody>
          <a:bodyPr>
            <a:normAutofit fontScale="92500"/>
          </a:bodyPr>
          <a:lstStyle/>
          <a:p>
            <a:r>
              <a:rPr lang="en-US" dirty="0"/>
              <a:t>As its name implies, a subquery is a query that is nested inside of a SELECT, INSERT, UPDATE or DELETE statement, or inside of another subquery. </a:t>
            </a:r>
          </a:p>
          <a:p>
            <a:pPr marL="50800" indent="0">
              <a:buNone/>
            </a:pPr>
            <a:r>
              <a:rPr lang="en-US" dirty="0"/>
              <a:t>EX: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B6ED19-C004-4F46-B391-ACD0A0B600EB}"/>
              </a:ext>
            </a:extLst>
          </p:cNvPr>
          <p:cNvSpPr/>
          <p:nvPr/>
        </p:nvSpPr>
        <p:spPr>
          <a:xfrm>
            <a:off x="894934" y="3429000"/>
            <a:ext cx="7354131" cy="267246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fontScale="47500" lnSpcReduction="20000"/>
          </a:bodyPr>
          <a:lstStyle/>
          <a:p>
            <a:r>
              <a:rPr lang="en-US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</a:p>
          <a:p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endParaRPr lang="en-US" sz="4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</a:p>
          <a:p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endParaRPr lang="en-US" sz="4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</a:p>
          <a:p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	column &gt; (</a:t>
            </a:r>
            <a:r>
              <a:rPr lang="en-US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</a:p>
          <a:p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			avg(</a:t>
            </a:r>
            <a:r>
              <a:rPr lang="en-US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</a:p>
          <a:p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endParaRPr lang="en-US" sz="4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	);</a:t>
            </a:r>
          </a:p>
        </p:txBody>
      </p:sp>
    </p:spTree>
    <p:extLst>
      <p:ext uri="{BB962C8B-B14F-4D97-AF65-F5344CB8AC3E}">
        <p14:creationId xmlns:p14="http://schemas.microsoft.com/office/powerpoint/2010/main" val="3322754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42238-DE81-479F-4BEC-AB891BD14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DF59EB-CF6D-16D9-1EF3-F589EC07E2B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C34EAEA1-BE4C-3F30-286C-086A3648F205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Views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307E2A-F5B1-48C9-34CD-7043AAE2D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496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DC7C6-CF44-4669-9CBB-E0B34F02A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286C3-658F-4484-A542-68B6E2523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298883"/>
            <a:ext cx="8383980" cy="1396203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A view is a named, virtual table based on the result-set of an SQL Query. They provide an interface through which to access your underlying tables.</a:t>
            </a:r>
          </a:p>
          <a:p>
            <a:r>
              <a:rPr lang="en-US" sz="2400" dirty="0"/>
              <a:t>The Syntax to create a view is: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7852B-C496-48A1-9A81-51A9CCE56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6040AB-24B9-39C0-7139-D1F29F64ECFE}"/>
              </a:ext>
            </a:extLst>
          </p:cNvPr>
          <p:cNvSpPr/>
          <p:nvPr/>
        </p:nvSpPr>
        <p:spPr>
          <a:xfrm>
            <a:off x="894933" y="2695086"/>
            <a:ext cx="7354131" cy="15546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r>
              <a:rPr lang="en-US" sz="2000" b="1" dirty="0"/>
              <a:t>CREATE [ OR REPLACE ] VIEW </a:t>
            </a:r>
            <a:r>
              <a:rPr lang="en-US" sz="2000" dirty="0" err="1"/>
              <a:t>view_name</a:t>
            </a:r>
            <a:r>
              <a:rPr lang="en-US" sz="2000" b="1" dirty="0"/>
              <a:t> AS</a:t>
            </a:r>
          </a:p>
          <a:p>
            <a:r>
              <a:rPr lang="en-US" sz="2000" b="1" dirty="0"/>
              <a:t>	SELECT </a:t>
            </a:r>
            <a:r>
              <a:rPr lang="en-US" sz="2000" dirty="0"/>
              <a:t>col_1</a:t>
            </a:r>
            <a:r>
              <a:rPr lang="en-US" sz="2000" b="1" dirty="0"/>
              <a:t>, </a:t>
            </a:r>
            <a:r>
              <a:rPr lang="en-US" sz="2000" dirty="0"/>
              <a:t>col_2</a:t>
            </a:r>
            <a:r>
              <a:rPr lang="en-US" sz="2000" b="1" dirty="0"/>
              <a:t>, </a:t>
            </a:r>
            <a:r>
              <a:rPr lang="en-US" sz="2000" dirty="0"/>
              <a:t>etc…</a:t>
            </a:r>
          </a:p>
          <a:p>
            <a:r>
              <a:rPr lang="en-US" sz="2000" b="1" dirty="0"/>
              <a:t>	FROM </a:t>
            </a:r>
            <a:r>
              <a:rPr lang="en-US" sz="2000" dirty="0" err="1"/>
              <a:t>table_name</a:t>
            </a:r>
            <a:endParaRPr lang="en-US" sz="2000" dirty="0"/>
          </a:p>
          <a:p>
            <a:r>
              <a:rPr lang="en-US" sz="2000" b="1" dirty="0"/>
              <a:t>	WHERE </a:t>
            </a:r>
            <a:r>
              <a:rPr lang="en-US" sz="2000" dirty="0"/>
              <a:t>condition</a:t>
            </a:r>
            <a:r>
              <a:rPr lang="en-US" sz="2000" b="1" dirty="0"/>
              <a:t>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B42518-F92C-3A66-00C8-B29B5B1F8770}"/>
              </a:ext>
            </a:extLst>
          </p:cNvPr>
          <p:cNvSpPr txBox="1">
            <a:spLocks/>
          </p:cNvSpPr>
          <p:nvPr/>
        </p:nvSpPr>
        <p:spPr>
          <a:xfrm>
            <a:off x="380009" y="4554908"/>
            <a:ext cx="8383980" cy="2173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After creation, you can query from the view, as you would another table:</a:t>
            </a:r>
          </a:p>
          <a:p>
            <a:pPr lvl="1"/>
            <a:r>
              <a:rPr lang="en-US" dirty="0"/>
              <a:t>SELECT * FROM </a:t>
            </a:r>
            <a:r>
              <a:rPr lang="en-US" dirty="0" err="1"/>
              <a:t>view_name</a:t>
            </a:r>
            <a:r>
              <a:rPr lang="en-US" dirty="0"/>
              <a:t>;</a:t>
            </a:r>
          </a:p>
          <a:p>
            <a:r>
              <a:rPr lang="en-US" dirty="0"/>
              <a:t>View are useful when you want to access some filtered data frequently these frequently.</a:t>
            </a:r>
          </a:p>
          <a:p>
            <a:r>
              <a:rPr lang="en-US" dirty="0"/>
              <a:t>You can DROP and modify (using CREATE OR REPLACE) existing views as needed.</a:t>
            </a:r>
          </a:p>
        </p:txBody>
      </p:sp>
    </p:spTree>
    <p:extLst>
      <p:ext uri="{BB962C8B-B14F-4D97-AF65-F5344CB8AC3E}">
        <p14:creationId xmlns:p14="http://schemas.microsoft.com/office/powerpoint/2010/main" val="32484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DC7C6-CF44-4669-9CBB-E0B34F02A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 (example)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7852B-C496-48A1-9A81-51A9CCE56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CF9603-6D4E-41AD-9C36-E3B8CF77785D}"/>
              </a:ext>
            </a:extLst>
          </p:cNvPr>
          <p:cNvSpPr/>
          <p:nvPr/>
        </p:nvSpPr>
        <p:spPr>
          <a:xfrm>
            <a:off x="380010" y="2159984"/>
            <a:ext cx="8383980" cy="25380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CREATE OR REPLACE VIEW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high_salaries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AS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SELECT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emp_name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emp_salary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FROM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examples.employees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WHERE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emp_salary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&gt; 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(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SELECT avg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emp_salary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)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FROM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examples.employees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);</a:t>
            </a:r>
          </a:p>
          <a:p>
            <a:pPr defTabSz="228600"/>
            <a:endParaRPr lang="en-US" sz="2000" b="1" dirty="0">
              <a:latin typeface="+mj-lt"/>
              <a:cs typeface="Courier New" panose="02070309020205020404" pitchFamily="49" charset="0"/>
            </a:endParaRP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SELECT 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*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FROM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high_salaries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967142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EA3F7-648F-B946-C369-5819104B0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EAEC29-E458-5C0C-410B-AFBFE8BAB73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6EA9452E-92A9-6C91-8D9D-AD49A1956648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Indexes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D78AFF-6B0F-E0DD-3C19-9E3031D16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254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91CAE-FBF7-585F-0CCA-EC874EC9E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D013D-86D1-0773-0734-061B07861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67A15-58AD-EEC3-15B6-2FD79C8FA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298883"/>
            <a:ext cx="8383980" cy="5429954"/>
          </a:xfrm>
        </p:spPr>
        <p:txBody>
          <a:bodyPr>
            <a:normAutofit fontScale="70000" lnSpcReduction="20000"/>
          </a:bodyPr>
          <a:lstStyle/>
          <a:p>
            <a:r>
              <a:rPr lang="en-US" sz="2400" dirty="0"/>
              <a:t>An index is a separate data structure your RDBMS maintains alongside a table to allow rows to be located faster, without scanning every row (a sequential scan)</a:t>
            </a:r>
          </a:p>
          <a:p>
            <a:r>
              <a:rPr lang="en-US" sz="2400" dirty="0"/>
              <a:t>Indexes are most valuable on large tables, and on columns used frequently in WHERE, JOIN and ORDER BY clauses</a:t>
            </a:r>
          </a:p>
          <a:p>
            <a:r>
              <a:rPr lang="en-US" sz="2400" dirty="0"/>
              <a:t>A clustered index determines the physical order rows are stored on disk</a:t>
            </a:r>
          </a:p>
          <a:p>
            <a:pPr lvl="1"/>
            <a:r>
              <a:rPr lang="en-US" sz="2000" dirty="0"/>
              <a:t>A table can only have one clustered index since rows can only be physically ordered one way</a:t>
            </a:r>
          </a:p>
          <a:p>
            <a:r>
              <a:rPr lang="en-US" sz="2400" dirty="0"/>
              <a:t>In PostgreSQL, clustering is applied with the CLUSTER command and is not automatically maintained, meaning it must be re-run periodically on write-active tables</a:t>
            </a:r>
          </a:p>
          <a:p>
            <a:r>
              <a:rPr lang="en-US" sz="2400" dirty="0"/>
              <a:t>A non-clustered index is a separate structure storing indexed values with pointers back to the actual rows</a:t>
            </a:r>
          </a:p>
          <a:p>
            <a:pPr lvl="1"/>
            <a:r>
              <a:rPr lang="en-US" sz="2000" dirty="0"/>
              <a:t>The physical storage order of the table is unaffected</a:t>
            </a:r>
          </a:p>
          <a:p>
            <a:r>
              <a:rPr lang="en-US" sz="2400" dirty="0"/>
              <a:t>A table can have many non-clustered indexes, each optimizing a different query pattern.</a:t>
            </a:r>
          </a:p>
          <a:p>
            <a:r>
              <a:rPr lang="en-US" sz="2400" dirty="0"/>
              <a:t>Every index adds overhead to INSERT, UPDATE and DELETE operations, since the index must be kept in sync with the table on every write.</a:t>
            </a:r>
          </a:p>
          <a:p>
            <a:r>
              <a:rPr lang="en-US" sz="2400" dirty="0"/>
              <a:t>PostgreSQL uses the keywords ‘EXPLAIN ANALYZE’ to verify and diagnose index usage.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1966A-A674-5AAC-2EBF-40269FA06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849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310" name="Google Shape;310;p29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rgbClr val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25191</TotalTime>
  <Words>891</Words>
  <Application>Microsoft Office PowerPoint</Application>
  <PresentationFormat>On-screen Show (4:3)</PresentationFormat>
  <Paragraphs>125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2_Custom Design</vt:lpstr>
      <vt:lpstr>SQL Data Tools</vt:lpstr>
      <vt:lpstr>Outline</vt:lpstr>
      <vt:lpstr>PowerPoint Presentation</vt:lpstr>
      <vt:lpstr>Aggregate Functions</vt:lpstr>
      <vt:lpstr>Scalar Functions</vt:lpstr>
      <vt:lpstr>PowerPoint Presentation</vt:lpstr>
      <vt:lpstr>Joins</vt:lpstr>
      <vt:lpstr>Joins</vt:lpstr>
      <vt:lpstr>Joins</vt:lpstr>
      <vt:lpstr>PowerPoint Presentation</vt:lpstr>
      <vt:lpstr>Set Operations</vt:lpstr>
      <vt:lpstr>Unions</vt:lpstr>
      <vt:lpstr>Joins vs Unions</vt:lpstr>
      <vt:lpstr>PowerPoint Presentation</vt:lpstr>
      <vt:lpstr>Sub Queries</vt:lpstr>
      <vt:lpstr>PowerPoint Presentation</vt:lpstr>
      <vt:lpstr>VIEWS</vt:lpstr>
      <vt:lpstr>VIEWS (example)</vt:lpstr>
      <vt:lpstr>PowerPoint Presentation</vt:lpstr>
      <vt:lpstr>Indexes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and OOP</dc:title>
  <dc:creator>Joseph Highe</dc:creator>
  <cp:lastModifiedBy>Joseph Highe</cp:lastModifiedBy>
  <cp:revision>224</cp:revision>
  <dcterms:modified xsi:type="dcterms:W3CDTF">2026-07-23T17:55:07Z</dcterms:modified>
</cp:coreProperties>
</file>