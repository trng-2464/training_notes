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0"/>
  </p:notesMasterIdLst>
  <p:sldIdLst>
    <p:sldId id="256" r:id="rId2"/>
    <p:sldId id="343" r:id="rId3"/>
    <p:sldId id="362" r:id="rId4"/>
    <p:sldId id="274" r:id="rId5"/>
    <p:sldId id="366" r:id="rId6"/>
    <p:sldId id="364" r:id="rId7"/>
    <p:sldId id="365" r:id="rId8"/>
    <p:sldId id="317" r:id="rId9"/>
    <p:sldId id="318" r:id="rId10"/>
    <p:sldId id="319" r:id="rId11"/>
    <p:sldId id="363" r:id="rId12"/>
    <p:sldId id="294" r:id="rId13"/>
    <p:sldId id="300" r:id="rId14"/>
    <p:sldId id="299" r:id="rId15"/>
    <p:sldId id="367" r:id="rId16"/>
    <p:sldId id="368" r:id="rId17"/>
    <p:sldId id="301" r:id="rId18"/>
    <p:sldId id="270" r:id="rId1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14" y="6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FBF54-D46F-48F7-AC61-EED38DB2F72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31971-612A-4A21-A4EE-16E1B1A35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3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771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EC7D-3A60-404A-91DB-E1AE2D168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DCL</a:t>
            </a:r>
            <a:br>
              <a:rPr lang="en-US" dirty="0"/>
            </a:br>
            <a:r>
              <a:rPr lang="en-US" dirty="0"/>
              <a:t>Transactions &amp;</a:t>
            </a:r>
            <a:br>
              <a:rPr lang="en-US" dirty="0"/>
            </a:br>
            <a:r>
              <a:rPr lang="en-US" dirty="0"/>
              <a:t>ACID</a:t>
            </a:r>
          </a:p>
        </p:txBody>
      </p:sp>
    </p:spTree>
    <p:extLst>
      <p:ext uri="{BB962C8B-B14F-4D97-AF65-F5344CB8AC3E}">
        <p14:creationId xmlns:p14="http://schemas.microsoft.com/office/powerpoint/2010/main" val="230947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DCL</a:t>
            </a:r>
          </a:p>
          <a:p>
            <a:r>
              <a:rPr lang="en-US" dirty="0"/>
              <a:t>Transactions &amp; TCL</a:t>
            </a:r>
          </a:p>
          <a:p>
            <a:r>
              <a:rPr lang="en-US" dirty="0"/>
              <a:t>ACID</a:t>
            </a:r>
          </a:p>
          <a:p>
            <a:pPr marL="508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E87B-7B9D-AD34-4B49-C7138ED0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EE010-6442-DDC5-2764-C42FFD649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415F32B-CD9A-6097-53C5-A9BBFD7AE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Control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CCF9-2634-CB02-6DA8-44329D0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Data Control Language (DCL) is used to </a:t>
            </a:r>
            <a:r>
              <a:rPr lang="en-US" b="1" dirty="0"/>
              <a:t>control access</a:t>
            </a:r>
            <a:r>
              <a:rPr lang="en-US" dirty="0"/>
              <a:t> to data</a:t>
            </a:r>
          </a:p>
          <a:p>
            <a:r>
              <a:rPr lang="en-US" dirty="0"/>
              <a:t>It defines </a:t>
            </a:r>
            <a:r>
              <a:rPr lang="en-US" i="1" dirty="0"/>
              <a:t>who</a:t>
            </a:r>
            <a:r>
              <a:rPr lang="en-US" dirty="0"/>
              <a:t> can do </a:t>
            </a:r>
            <a:r>
              <a:rPr lang="en-US" i="1" dirty="0"/>
              <a:t>what</a:t>
            </a:r>
            <a:r>
              <a:rPr lang="en-US" dirty="0"/>
              <a:t> on </a:t>
            </a:r>
            <a:r>
              <a:rPr lang="en-US" i="1" dirty="0"/>
              <a:t>which</a:t>
            </a:r>
            <a:r>
              <a:rPr lang="en-US" dirty="0"/>
              <a:t> database objects</a:t>
            </a:r>
          </a:p>
          <a:p>
            <a:r>
              <a:rPr lang="en-US" dirty="0"/>
              <a:t>Keywords:</a:t>
            </a:r>
          </a:p>
          <a:p>
            <a:pPr lvl="1"/>
            <a:r>
              <a:rPr lang="en-US" b="1" dirty="0"/>
              <a:t>GRANT</a:t>
            </a:r>
            <a:r>
              <a:rPr lang="en-US" dirty="0"/>
              <a:t>: Give privileges to users or roles</a:t>
            </a:r>
          </a:p>
          <a:p>
            <a:pPr lvl="1"/>
            <a:r>
              <a:rPr lang="en-US" b="1" dirty="0"/>
              <a:t>REVOKE</a:t>
            </a:r>
            <a:r>
              <a:rPr lang="en-US" dirty="0"/>
              <a:t>: Remove privileges from users or roles</a:t>
            </a:r>
          </a:p>
          <a:p>
            <a:r>
              <a:rPr lang="en-US" b="1" dirty="0"/>
              <a:t>Users</a:t>
            </a:r>
            <a:r>
              <a:rPr lang="en-US" dirty="0"/>
              <a:t> – specific users with passwords that can access a database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USER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WITH PASSWORD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 dirty="0"/>
              <a:t>Roles</a:t>
            </a:r>
            <a:r>
              <a:rPr lang="en-US" dirty="0"/>
              <a:t> – Grouping used to maintain a set of privileges to easily assign to users.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ROLE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4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641F-AF01-5306-E9FB-C5286BAB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0AAB-7510-5A25-7E2B-3FB89478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E6B4C-A433-A9C6-C8B4-C3D7D7ABD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19200"/>
            <a:ext cx="838398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After creating users or roles, privileges (functionality related to operations) must be given to the entity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&lt;privilege&gt; ON &lt;table&gt; IN &lt;schema&gt; TO &lt;role/user&gt;</a:t>
            </a:r>
          </a:p>
          <a:p>
            <a:pPr lvl="1"/>
            <a:r>
              <a:rPr lang="en-US" dirty="0"/>
              <a:t>Common privileges are the CRUD operations. </a:t>
            </a:r>
          </a:p>
          <a:p>
            <a:pPr lvl="1"/>
            <a:r>
              <a:rPr lang="en-US" dirty="0"/>
              <a:t>Although not encouraged, you can provide all Privileges: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GRANT ALL PRIVILEGES ON ALL TABLES IN SCHEMA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TO &lt;role/user&gt;</a:t>
            </a:r>
          </a:p>
          <a:p>
            <a:r>
              <a:rPr lang="en-US" dirty="0"/>
              <a:t>Privileges are removed using the REVOKE keyword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REVOKE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&lt;privilege (or role)&gt;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&lt;role (or user)&gt;</a:t>
            </a:r>
          </a:p>
          <a:p>
            <a:pPr lvl="2"/>
            <a:r>
              <a:rPr lang="en-US" dirty="0"/>
              <a:t>NOTE: Best practice is to revoke roles from a user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1B92-286D-85C1-9E6B-F3B4F6B5BF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8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5B21-7BD9-0CE7-170B-C68A7E813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CBB114-EE49-907E-D79C-4F020AB438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B8F2336-94E7-577B-7CAC-53E1A35DAD6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Transactions &amp; TCL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52919-075A-0B78-E83F-B812463F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5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3259-795B-BD31-1A19-86667EED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0B83-EFB5-C79E-1818-05F8C516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0E4DF-8282-7D73-C567-38ED5C60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Transaction is a unit of work performed against a database. It is the propagation of one or more changes to the database.</a:t>
            </a:r>
          </a:p>
          <a:p>
            <a:pPr lvl="1"/>
            <a:r>
              <a:rPr lang="en-US" dirty="0"/>
              <a:t>Ex: </a:t>
            </a:r>
            <a:r>
              <a:rPr lang="en-US" b="1" dirty="0"/>
              <a:t>UPDATE, DELETE, INSERT</a:t>
            </a:r>
          </a:p>
          <a:p>
            <a:r>
              <a:rPr lang="en-US" dirty="0"/>
              <a:t>In practice, you will group multiple operations together and then execute them all at once.</a:t>
            </a:r>
          </a:p>
          <a:p>
            <a:r>
              <a:rPr lang="en-US" dirty="0"/>
              <a:t>Note: Libraries that handle communication with SQL (JDBC / psycopg3, etc…) have tools to manage transactions automatically.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F9527-B44D-84EE-3E82-8358D2651A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2D3E-DE4A-4D69-BB27-2F51C8AA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Control Language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50D3F-47B1-4AC0-8E3B-EC95A40A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Allows us to manage the transactions that are saved to the database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(TRANSACTION)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COMMIT (TRANSACTION)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Note: Some SQL dialects require the keyword ‘transaction’ to indicate the beginning of a Transaction. Others (like PostgreSQL) do not require the ‘Transaction’ keyword.</a:t>
            </a:r>
          </a:p>
          <a:p>
            <a:r>
              <a:rPr lang="en-US" dirty="0"/>
              <a:t>We can group multiple transactional commands together.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SAVEPOINT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name_of_savepoint</a:t>
            </a:r>
            <a:r>
              <a:rPr lang="en-US" dirty="0"/>
              <a:t>; can be used to more granularly control transactions.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ROLLBACK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ROLLBACK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name_of_savepoint</a:t>
            </a:r>
            <a:r>
              <a:rPr lang="en-US" dirty="0"/>
              <a:t>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3199-95E0-44BD-A9FF-B1251074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3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2D3E-DE4A-4D69-BB27-2F51C8AA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TCL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3199-95E0-44BD-A9FF-B1251074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AD7B5-CC81-6C98-4317-A17B1FF5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6785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COMMIT</a:t>
            </a:r>
            <a:r>
              <a:rPr lang="en-US" dirty="0"/>
              <a:t> – saves all transactions to the database.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95C4E2-95D5-23E1-E7BB-30D944C3F07E}"/>
              </a:ext>
            </a:extLst>
          </p:cNvPr>
          <p:cNvSpPr/>
          <p:nvPr/>
        </p:nvSpPr>
        <p:spPr>
          <a:xfrm>
            <a:off x="380010" y="2157884"/>
            <a:ext cx="8383980" cy="17539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 TRANSACTION;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INSERT INTO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orders(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cust_id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order_total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)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(1111, 87.52);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UPDATE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order_total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=19.63)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= 1234;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DELETE FROM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=2275;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 TRANSACTION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3C24014-AAD7-A95A-251F-303817E5CFA0}"/>
              </a:ext>
            </a:extLst>
          </p:cNvPr>
          <p:cNvSpPr txBox="1">
            <a:spLocks/>
          </p:cNvSpPr>
          <p:nvPr/>
        </p:nvSpPr>
        <p:spPr>
          <a:xfrm>
            <a:off x="380010" y="4249041"/>
            <a:ext cx="8383980" cy="11738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ROLLBACK</a:t>
            </a:r>
            <a:r>
              <a:rPr lang="en-US" dirty="0"/>
              <a:t> – Undo all transactions since the last COMMIT or ROLLBACK. This is useful in combination with the ‘SAVEPOINT’ command.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6A307B-5CDB-93F7-3DCA-54004C9666F0}"/>
              </a:ext>
            </a:extLst>
          </p:cNvPr>
          <p:cNvSpPr/>
          <p:nvPr/>
        </p:nvSpPr>
        <p:spPr>
          <a:xfrm>
            <a:off x="380010" y="5422927"/>
            <a:ext cx="8383980" cy="12721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DELETE FROM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cust_id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=1111;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ROLLBACK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442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9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2D3E-DE4A-4D69-BB27-2F51C8AA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TCL Commands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43199-95E0-44BD-A9FF-B1251074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AD7B5-CC81-6C98-4317-A17B1FF5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6785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SAVEPOINT</a:t>
            </a:r>
            <a:r>
              <a:rPr lang="en-US" dirty="0"/>
              <a:t> – Creates a point within a transaction which can be referenced and rolled back to.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95C4E2-95D5-23E1-E7BB-30D944C3F07E}"/>
              </a:ext>
            </a:extLst>
          </p:cNvPr>
          <p:cNvSpPr/>
          <p:nvPr/>
        </p:nvSpPr>
        <p:spPr>
          <a:xfrm>
            <a:off x="380010" y="2157884"/>
            <a:ext cx="8383980" cy="2140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INSERT INTO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orders(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cust_id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order_total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)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(1111, 87.52);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SAVEPOINT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my_save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DELETE FROM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orders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order_id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=1111;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ROLLBACK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TO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my_save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180BC4F-4071-5737-3B2A-E4F76B94D9CD}"/>
              </a:ext>
            </a:extLst>
          </p:cNvPr>
          <p:cNvSpPr txBox="1">
            <a:spLocks/>
          </p:cNvSpPr>
          <p:nvPr/>
        </p:nvSpPr>
        <p:spPr>
          <a:xfrm>
            <a:off x="380010" y="4700187"/>
            <a:ext cx="8383980" cy="8063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SET TRANSACTION</a:t>
            </a:r>
            <a:r>
              <a:rPr lang="en-US" dirty="0"/>
              <a:t> – Change the Isolation Level for the Transaction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E2B7C-15D3-DC8E-4D31-CE81320DBF29}"/>
              </a:ext>
            </a:extLst>
          </p:cNvPr>
          <p:cNvSpPr/>
          <p:nvPr/>
        </p:nvSpPr>
        <p:spPr>
          <a:xfrm>
            <a:off x="380010" y="5494945"/>
            <a:ext cx="8383980" cy="12338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 TRANSACTION 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ISOLATION LEVEL SERIALIZABLE; 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BEGIN;</a:t>
            </a:r>
          </a:p>
          <a:p>
            <a:pPr defTabSz="228600"/>
            <a:r>
              <a:rPr lang="en-US" sz="20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SQL Commands…</a:t>
            </a:r>
          </a:p>
          <a:p>
            <a:pPr defTabSz="228600"/>
            <a:r>
              <a:rPr lang="en-US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692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3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38A8-533F-BE64-DE37-7F54C073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373C0-758B-C057-72A5-CA5EC272FC9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36F241A-D862-11E0-34D9-D3733FF82DC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D548E-48BE-92EF-D871-76F4CA6D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37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ACID: Properties of a transaction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A</a:t>
            </a:r>
            <a:r>
              <a:rPr lang="en-US" dirty="0"/>
              <a:t>tomicity – Ensures that all operations either successfully complete or none will, and the transaction will be aborted and the changed reverted.</a:t>
            </a:r>
          </a:p>
          <a:p>
            <a:r>
              <a:rPr lang="en-US" b="1" u="sng" dirty="0"/>
              <a:t>C</a:t>
            </a:r>
            <a:r>
              <a:rPr lang="en-US" dirty="0"/>
              <a:t>onsistency – Ensure that the database properly changes states upon successfully committed transactions. No transaction should have any adverse effect on the data residing in the database/table. Referential integrity and constraints are maintained.</a:t>
            </a:r>
          </a:p>
          <a:p>
            <a:r>
              <a:rPr lang="en-US" b="1" u="sng" dirty="0"/>
              <a:t>I</a:t>
            </a:r>
            <a:r>
              <a:rPr lang="en-US" dirty="0"/>
              <a:t>solation – Enables transactions to operate independently of each other</a:t>
            </a:r>
          </a:p>
          <a:p>
            <a:r>
              <a:rPr lang="en-US" b="1" u="sng" dirty="0"/>
              <a:t>D</a:t>
            </a:r>
            <a:r>
              <a:rPr lang="en-US" dirty="0"/>
              <a:t>urability – Ensures that the result or effect of a committed transaction persists, even in the case of system failure.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9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Isolation Levels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Isolation levels measure the degree to which two transactions will interact with each other over the same data.</a:t>
            </a:r>
          </a:p>
          <a:p>
            <a:r>
              <a:rPr lang="en-US" dirty="0"/>
              <a:t>As our applications become more complex, we must account for transactions that may occur at the same time.</a:t>
            </a:r>
          </a:p>
          <a:p>
            <a:r>
              <a:rPr lang="en-US" dirty="0"/>
              <a:t>The higher the isolation level, the more careful the system is to avoid conflicts; however, locking overhead can increase processing time and decrease concurrency.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Anomalies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35664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Dirty Read</a:t>
            </a:r>
            <a:r>
              <a:rPr lang="en-US" dirty="0"/>
              <a:t> – When a transaction reads data that has been added by a different transaction, which has not yet been committed.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9891A-9A03-2EAF-1924-76E117F8B2CF}"/>
              </a:ext>
            </a:extLst>
          </p:cNvPr>
          <p:cNvSpPr/>
          <p:nvPr/>
        </p:nvSpPr>
        <p:spPr>
          <a:xfrm>
            <a:off x="681487" y="3278039"/>
            <a:ext cx="3571336" cy="34507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>
            <a:normAutofit/>
          </a:bodyPr>
          <a:lstStyle/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 TRANSACTION ISOLATION LEVEL READ UNCOMMITTED;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BEGIN;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balance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accounts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WHERE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id = 1</a:t>
            </a: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Sees $5000 but it was never committed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F76C2C8-9D34-C2A6-5F89-DE956BE8609B}"/>
              </a:ext>
            </a:extLst>
          </p:cNvPr>
          <p:cNvSpPr txBox="1">
            <a:spLocks/>
          </p:cNvSpPr>
          <p:nvPr/>
        </p:nvSpPr>
        <p:spPr>
          <a:xfrm>
            <a:off x="0" y="2866557"/>
            <a:ext cx="9144000" cy="383016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Transaction A</a:t>
            </a:r>
          </a:p>
          <a:p>
            <a:pPr marL="0" indent="0" algn="ctr">
              <a:buNone/>
            </a:pPr>
            <a:r>
              <a:rPr lang="en-US" b="1" dirty="0"/>
              <a:t>Transaction B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9B740-DA4A-2B09-65B9-FE3E394FAB01}"/>
              </a:ext>
            </a:extLst>
          </p:cNvPr>
          <p:cNvSpPr/>
          <p:nvPr/>
        </p:nvSpPr>
        <p:spPr>
          <a:xfrm>
            <a:off x="5020574" y="3278039"/>
            <a:ext cx="3571336" cy="34507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>
            <a:normAutofit lnSpcReduction="10000"/>
          </a:bodyPr>
          <a:lstStyle/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UPDATE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accounts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SET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balance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= 5000.00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WHERE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id = 1</a:t>
            </a: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Other Commands…</a:t>
            </a: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ROLLBACK;</a:t>
            </a:r>
          </a:p>
        </p:txBody>
      </p:sp>
    </p:spTree>
    <p:extLst>
      <p:ext uri="{BB962C8B-B14F-4D97-AF65-F5344CB8AC3E}">
        <p14:creationId xmlns:p14="http://schemas.microsoft.com/office/powerpoint/2010/main" val="3456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build="allAtOnce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61D1D-87FB-7BB0-A17D-CA62D7EE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CF33-F6E6-E2F2-D43B-FFC86C968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Anomalies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E8166-D40A-2686-0A05-D08ADEAC4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Non-repeatable read</a:t>
            </a:r>
            <a:r>
              <a:rPr lang="en-US" dirty="0"/>
              <a:t> – Transactions re-read data that it has previously read, and finds another committed transaction as modified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BBE13-977D-9515-2382-740B4EC954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8289B-E1C0-16D3-4E6E-A562269E38BC}"/>
              </a:ext>
            </a:extLst>
          </p:cNvPr>
          <p:cNvSpPr/>
          <p:nvPr/>
        </p:nvSpPr>
        <p:spPr>
          <a:xfrm>
            <a:off x="681487" y="3278039"/>
            <a:ext cx="3571336" cy="34507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>
            <a:normAutofit fontScale="92500" lnSpcReduction="20000"/>
          </a:bodyPr>
          <a:lstStyle/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 TRANSACTION ISOLATION LEVEL READ COMMITTED;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BEGIN;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balance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accounts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WHERE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id = 1;</a:t>
            </a: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Sees $1000</a:t>
            </a: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   -- Other Commands… </a:t>
            </a: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SELECT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balance</a:t>
            </a:r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 FROM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accounts</a:t>
            </a:r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 WHERE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id = 1;</a:t>
            </a:r>
          </a:p>
          <a:p>
            <a:pPr defTabSz="228600"/>
            <a:r>
              <a:rPr lang="en-US" sz="1600" b="1" dirty="0">
                <a:solidFill>
                  <a:srgbClr val="00B050"/>
                </a:solidFill>
                <a:cs typeface="Courier New" panose="02070309020205020404" pitchFamily="49" charset="0"/>
              </a:rPr>
              <a:t>	-- Now sees $3000 from the same row – this transaction was affected by another</a:t>
            </a:r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75791D-3A25-12DC-4D2E-4C303194452E}"/>
              </a:ext>
            </a:extLst>
          </p:cNvPr>
          <p:cNvSpPr/>
          <p:nvPr/>
        </p:nvSpPr>
        <p:spPr>
          <a:xfrm>
            <a:off x="5020574" y="3278039"/>
            <a:ext cx="3571336" cy="34507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>
            <a:normAutofit/>
          </a:bodyPr>
          <a:lstStyle/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UPDATE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accounts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SET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balance = 3000.00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WHERE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id = 1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COMMIT;</a:t>
            </a:r>
            <a:r>
              <a:rPr lang="en-US" sz="1600" b="1" dirty="0">
                <a:solidFill>
                  <a:srgbClr val="00B050"/>
                </a:solidFill>
                <a:cs typeface="Courier New" panose="02070309020205020404" pitchFamily="49" charset="0"/>
              </a:rPr>
              <a:t> -- Successful Commit</a:t>
            </a:r>
            <a:endParaRPr lang="en-US" sz="1600" b="1" dirty="0">
              <a:solidFill>
                <a:srgbClr val="7030A0"/>
              </a:solidFill>
              <a:cs typeface="Courier New" panose="02070309020205020404" pitchFamily="49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C441B7F-F571-96CA-8EC5-01BEBE559FE9}"/>
              </a:ext>
            </a:extLst>
          </p:cNvPr>
          <p:cNvSpPr txBox="1">
            <a:spLocks/>
          </p:cNvSpPr>
          <p:nvPr/>
        </p:nvSpPr>
        <p:spPr>
          <a:xfrm>
            <a:off x="0" y="2866557"/>
            <a:ext cx="9144000" cy="383016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Transaction A</a:t>
            </a:r>
          </a:p>
          <a:p>
            <a:pPr marL="0" indent="0" algn="ctr">
              <a:buNone/>
            </a:pPr>
            <a:r>
              <a:rPr lang="en-US" b="1" dirty="0"/>
              <a:t>Transaction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35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3635-2FB3-43E5-22A7-E226C8EF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A0DE-BD47-6593-E1AC-2B6A923F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Anomalies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B47EC-BD61-4708-7018-636AE6B5F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385111"/>
          </a:xfrm>
        </p:spPr>
        <p:txBody>
          <a:bodyPr>
            <a:normAutofit/>
          </a:bodyPr>
          <a:lstStyle/>
          <a:p>
            <a:r>
              <a:rPr lang="en-US" b="1" dirty="0"/>
              <a:t>Phantom Read</a:t>
            </a:r>
            <a:r>
              <a:rPr lang="en-US" dirty="0"/>
              <a:t> – Transaction returns a query to find that the number of records that satisfies a certain condition has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EB03-2104-CB9A-4644-88C65B842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64516D-048D-B8E6-357C-6527D81A30BC}"/>
              </a:ext>
            </a:extLst>
          </p:cNvPr>
          <p:cNvSpPr/>
          <p:nvPr/>
        </p:nvSpPr>
        <p:spPr>
          <a:xfrm>
            <a:off x="681487" y="3278039"/>
            <a:ext cx="3571336" cy="34507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>
            <a:normAutofit fontScale="92500" lnSpcReduction="20000"/>
          </a:bodyPr>
          <a:lstStyle/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SET TRANSACTION ISOLATION LEVEL REPEATABLE READ;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BEGIN;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accounts</a:t>
            </a:r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WHERE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balance &gt; 500;</a:t>
            </a: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Returns 1 row</a:t>
            </a: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   -- Other Commands… </a:t>
            </a: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00B05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SELECT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 FROM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accounts</a:t>
            </a:r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 WHERE </a:t>
            </a:r>
            <a:r>
              <a:rPr lang="en-US" sz="1600" b="1" dirty="0">
                <a:solidFill>
                  <a:schemeClr val="tx1"/>
                </a:solidFill>
                <a:cs typeface="Courier New" panose="02070309020205020404" pitchFamily="49" charset="0"/>
              </a:rPr>
              <a:t>balance &gt; 500;</a:t>
            </a:r>
          </a:p>
          <a:p>
            <a:pPr defTabSz="228600"/>
            <a:r>
              <a:rPr lang="en-US" sz="1600" b="1" dirty="0">
                <a:solidFill>
                  <a:srgbClr val="00B050"/>
                </a:solidFill>
                <a:cs typeface="Courier New" panose="02070309020205020404" pitchFamily="49" charset="0"/>
              </a:rPr>
              <a:t>	-- Now returns 2 rows</a:t>
            </a:r>
          </a:p>
          <a:p>
            <a:pPr defTabSz="228600"/>
            <a:r>
              <a:rPr lang="en-US" sz="16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	-- ‘Bob’ is the phantom that appeared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83AE6E-DED7-96DD-880D-C37DB68B4E2E}"/>
              </a:ext>
            </a:extLst>
          </p:cNvPr>
          <p:cNvSpPr/>
          <p:nvPr/>
        </p:nvSpPr>
        <p:spPr>
          <a:xfrm>
            <a:off x="5020574" y="3278039"/>
            <a:ext cx="3571336" cy="34507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>
            <a:normAutofit/>
          </a:bodyPr>
          <a:lstStyle/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endParaRPr lang="en-US" sz="1600" b="1" dirty="0">
              <a:solidFill>
                <a:srgbClr val="7030A0"/>
              </a:solidFill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INSERT INTO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accounts</a:t>
            </a:r>
          </a:p>
          <a:p>
            <a:pPr defTabSz="228600"/>
            <a:r>
              <a:rPr lang="en-US" sz="16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	VALUES 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(2, ‘Bob’, 750.00) </a:t>
            </a:r>
            <a:r>
              <a:rPr lang="en-US" sz="1600" b="1" dirty="0">
                <a:solidFill>
                  <a:srgbClr val="7030A0"/>
                </a:solidFill>
                <a:cs typeface="Courier New" panose="02070309020205020404" pitchFamily="49" charset="0"/>
              </a:rPr>
              <a:t>COMMIT;</a:t>
            </a:r>
            <a:r>
              <a:rPr lang="en-US" sz="1600" b="1" dirty="0">
                <a:solidFill>
                  <a:srgbClr val="00B050"/>
                </a:solidFill>
                <a:cs typeface="Courier New" panose="02070309020205020404" pitchFamily="49" charset="0"/>
              </a:rPr>
              <a:t> -- Successful Commit</a:t>
            </a:r>
            <a:endParaRPr lang="en-US" sz="1600" b="1" dirty="0">
              <a:solidFill>
                <a:srgbClr val="7030A0"/>
              </a:solidFill>
              <a:cs typeface="Courier New" panose="02070309020205020404" pitchFamily="49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BA8753A-E763-5F5E-01E0-BD9C8847F2D9}"/>
              </a:ext>
            </a:extLst>
          </p:cNvPr>
          <p:cNvSpPr txBox="1">
            <a:spLocks/>
          </p:cNvSpPr>
          <p:nvPr/>
        </p:nvSpPr>
        <p:spPr>
          <a:xfrm>
            <a:off x="0" y="2866557"/>
            <a:ext cx="9144000" cy="383016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Transaction A</a:t>
            </a:r>
          </a:p>
          <a:p>
            <a:pPr marL="0" indent="0" algn="ctr">
              <a:buNone/>
            </a:pPr>
            <a:r>
              <a:rPr lang="en-US" b="1" dirty="0"/>
              <a:t>Transaction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0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Levels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Read Uncommitted</a:t>
            </a:r>
            <a:r>
              <a:rPr lang="en-US" dirty="0"/>
              <a:t> – Allows the application to read uncommitted data</a:t>
            </a:r>
          </a:p>
          <a:p>
            <a:r>
              <a:rPr lang="en-US" dirty="0"/>
              <a:t>*</a:t>
            </a:r>
            <a:r>
              <a:rPr lang="en-US" b="1" dirty="0"/>
              <a:t>Read Committed</a:t>
            </a:r>
            <a:r>
              <a:rPr lang="en-US" dirty="0"/>
              <a:t> – Only permits the application to read data that has been successfully committed</a:t>
            </a:r>
          </a:p>
          <a:p>
            <a:pPr lvl="1"/>
            <a:r>
              <a:rPr lang="en-US" dirty="0"/>
              <a:t>Prevents Dirty Read</a:t>
            </a:r>
          </a:p>
          <a:p>
            <a:r>
              <a:rPr lang="en-US" b="1" dirty="0"/>
              <a:t>Repeatable Read</a:t>
            </a:r>
            <a:r>
              <a:rPr lang="en-US" dirty="0"/>
              <a:t> – Allows transactions to read a record multiple times, but return the same result, even if another committed transaction modifies the record in between</a:t>
            </a:r>
          </a:p>
          <a:p>
            <a:pPr lvl="1"/>
            <a:r>
              <a:rPr lang="en-US" dirty="0"/>
              <a:t>Prevents non-repeatable read</a:t>
            </a:r>
          </a:p>
          <a:p>
            <a:r>
              <a:rPr lang="en-US" b="1" dirty="0"/>
              <a:t>Serializable</a:t>
            </a:r>
            <a:r>
              <a:rPr lang="en-US" dirty="0"/>
              <a:t> – Does not allow transactions to occur simultaneously</a:t>
            </a:r>
          </a:p>
          <a:p>
            <a:pPr lvl="1"/>
            <a:r>
              <a:rPr lang="en-US" dirty="0"/>
              <a:t>Prevents Phantom Read</a:t>
            </a:r>
          </a:p>
          <a:p>
            <a:endParaRPr lang="en-US" dirty="0"/>
          </a:p>
          <a:p>
            <a:pPr marL="50800" indent="0">
              <a:buNone/>
            </a:pPr>
            <a:r>
              <a:rPr lang="en-US" dirty="0"/>
              <a:t>*Default level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0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1971</TotalTime>
  <Words>1124</Words>
  <Application>Microsoft Office PowerPoint</Application>
  <PresentationFormat>On-screen Show (4:3)</PresentationFormat>
  <Paragraphs>175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Revature</vt:lpstr>
      <vt:lpstr>DCL Transactions &amp; ACID</vt:lpstr>
      <vt:lpstr>Outline</vt:lpstr>
      <vt:lpstr>PowerPoint Presentation</vt:lpstr>
      <vt:lpstr>DCL</vt:lpstr>
      <vt:lpstr>Privileges</vt:lpstr>
      <vt:lpstr>PowerPoint Presentation</vt:lpstr>
      <vt:lpstr>Transactions</vt:lpstr>
      <vt:lpstr>Transaction Control Language </vt:lpstr>
      <vt:lpstr>TCL Commands</vt:lpstr>
      <vt:lpstr>TCL Commands </vt:lpstr>
      <vt:lpstr>PowerPoint Presentation</vt:lpstr>
      <vt:lpstr>ACID: Properties of a transaction</vt:lpstr>
      <vt:lpstr>Transaction Isolation Levels</vt:lpstr>
      <vt:lpstr>Transaction Anomalies</vt:lpstr>
      <vt:lpstr>Transaction Anomalies</vt:lpstr>
      <vt:lpstr>Transaction Anomalies</vt:lpstr>
      <vt:lpstr>Transaction Levels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Continued</dc:title>
  <dc:creator>Bryn Portella</dc:creator>
  <cp:lastModifiedBy>Joseph Highe</cp:lastModifiedBy>
  <cp:revision>20</cp:revision>
  <dcterms:created xsi:type="dcterms:W3CDTF">2021-04-26T13:52:06Z</dcterms:created>
  <dcterms:modified xsi:type="dcterms:W3CDTF">2026-07-23T17:55:02Z</dcterms:modified>
</cp:coreProperties>
</file>