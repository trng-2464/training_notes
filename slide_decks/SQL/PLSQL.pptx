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sldIdLst>
    <p:sldId id="256" r:id="rId2"/>
    <p:sldId id="343" r:id="rId3"/>
    <p:sldId id="362" r:id="rId4"/>
    <p:sldId id="302" r:id="rId5"/>
    <p:sldId id="363" r:id="rId6"/>
    <p:sldId id="305" r:id="rId7"/>
    <p:sldId id="316" r:id="rId8"/>
    <p:sldId id="364" r:id="rId9"/>
    <p:sldId id="304" r:id="rId10"/>
    <p:sldId id="313" r:id="rId11"/>
    <p:sldId id="321" r:id="rId12"/>
    <p:sldId id="365" r:id="rId13"/>
    <p:sldId id="306" r:id="rId14"/>
    <p:sldId id="314" r:id="rId15"/>
    <p:sldId id="366" r:id="rId16"/>
    <p:sldId id="319" r:id="rId1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>
          <p15:clr>
            <a:srgbClr val="A4A3A4"/>
          </p15:clr>
        </p15:guide>
        <p15:guide id="2" pos="2282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69" autoAdjust="0"/>
    <p:restoredTop sz="94660"/>
  </p:normalViewPr>
  <p:slideViewPr>
    <p:cSldViewPr snapToGrid="0">
      <p:cViewPr varScale="1">
        <p:scale>
          <a:sx n="69" d="100"/>
          <a:sy n="69" d="100"/>
        </p:scale>
        <p:origin x="1560" y="60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notesTextViewPr>
    <p:cViewPr>
      <p:scale>
        <a:sx n="3" d="2"/>
        <a:sy n="3" d="2"/>
      </p:scale>
      <p:origin x="-6" y="-18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>
  <p:cSld name="4_Title Only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157163" y="133350"/>
            <a:ext cx="8826500" cy="595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lvl="0" indent="-228600" algn="l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7998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6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tutorial.com/postgresql-create-function/" TargetMode="Externa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postgresqltutorial.com/postgresql-create-procedure/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F8D8-6650-4C10-9E6B-652A926CA7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Procedural Language SQL (PLSQL)</a:t>
            </a:r>
          </a:p>
        </p:txBody>
      </p:sp>
    </p:spTree>
    <p:extLst>
      <p:ext uri="{BB962C8B-B14F-4D97-AF65-F5344CB8AC3E}">
        <p14:creationId xmlns:p14="http://schemas.microsoft.com/office/powerpoint/2010/main" val="1656679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947FC-ED58-14EC-766E-B345CBB21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D0A314-1889-7642-D5E4-583ADD03E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5247391"/>
          </a:xfrm>
        </p:spPr>
        <p:txBody>
          <a:bodyPr numCol="1">
            <a:normAutofit/>
          </a:bodyPr>
          <a:lstStyle/>
          <a:p>
            <a:r>
              <a:rPr lang="en-US" dirty="0"/>
              <a:t>PLSQL</a:t>
            </a:r>
          </a:p>
          <a:p>
            <a:r>
              <a:rPr lang="en-US" dirty="0"/>
              <a:t>Custom Functions</a:t>
            </a:r>
          </a:p>
          <a:p>
            <a:r>
              <a:rPr lang="en-US" dirty="0"/>
              <a:t>Sequences</a:t>
            </a:r>
          </a:p>
          <a:p>
            <a:r>
              <a:rPr lang="en-US" dirty="0"/>
              <a:t>Triggers</a:t>
            </a:r>
          </a:p>
          <a:p>
            <a:r>
              <a:rPr lang="en-US" dirty="0"/>
              <a:t>Stored Procedures</a:t>
            </a:r>
          </a:p>
          <a:p>
            <a:endParaRPr lang="en-US" dirty="0"/>
          </a:p>
          <a:p>
            <a:pPr marL="5080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DCEA2-50D6-C516-65CC-742821A02E1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433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8E87B-7B9D-AD34-4B49-C7138ED0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6AEE010-6442-DDC5-2764-C42FFD649C42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4415F32B-CD9A-6097-53C5-A9BBFD7AEBE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PLSQL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8FCCF9-2634-CB02-6DA8-44329D04E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870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PL/</a:t>
            </a:r>
            <a:r>
              <a:rPr lang="en-US" dirty="0" err="1"/>
              <a:t>Pg</a:t>
            </a:r>
            <a:r>
              <a:rPr lang="en-US" dirty="0"/>
              <a:t> SQL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/>
          <a:lstStyle/>
          <a:p>
            <a:r>
              <a:rPr lang="en-US" dirty="0"/>
              <a:t>Procedural Language/SQL (PLSQL) is a programming language, supported by various SQL dialects (primarily Oracle SQL), that provides a means to write code in SQL that more reminiscent of a programming-type language</a:t>
            </a:r>
          </a:p>
          <a:p>
            <a:pPr lvl="1"/>
            <a:r>
              <a:rPr lang="en-US" dirty="0"/>
              <a:t>PLSQL allows you to: </a:t>
            </a:r>
          </a:p>
          <a:p>
            <a:pPr lvl="1"/>
            <a:r>
              <a:rPr lang="en-US" dirty="0"/>
              <a:t>Create functions, sequences and triggers</a:t>
            </a:r>
          </a:p>
          <a:p>
            <a:pPr lvl="1"/>
            <a:r>
              <a:rPr lang="en-US" dirty="0"/>
              <a:t>Handle exceptions</a:t>
            </a:r>
          </a:p>
          <a:p>
            <a:r>
              <a:rPr lang="en-US" dirty="0"/>
              <a:t>PostgreSQL uses “PL/</a:t>
            </a:r>
            <a:r>
              <a:rPr lang="en-US" dirty="0" err="1"/>
              <a:t>pgSQL</a:t>
            </a:r>
            <a:r>
              <a:rPr lang="en-US" dirty="0"/>
              <a:t>” which closely resembles Oracle’s PL/SQL Language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08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A588C-1891-1DFB-3E66-1FE61616DE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72E436-545B-7BF4-84C0-DB1BBC4FE8AF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CBA6DFF1-F145-92AF-D552-C9A37473AB2D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Custom Functions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18FD7D-82DA-E5DF-B6BC-33A942F8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473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Functions are a series of operations and/or statements which can be referenced and executed as a batch when invoked.</a:t>
            </a:r>
          </a:p>
          <a:p>
            <a:pPr lvl="1"/>
            <a:r>
              <a:rPr lang="en-US" dirty="0"/>
              <a:t>Functions cannot be used to execute transactions (CRUD operations).</a:t>
            </a:r>
          </a:p>
          <a:p>
            <a:pPr lvl="1"/>
            <a:r>
              <a:rPr lang="en-US" dirty="0"/>
              <a:t>Stored Procedures, which were introduced in </a:t>
            </a:r>
            <a:r>
              <a:rPr lang="en-US" dirty="0" err="1"/>
              <a:t>postgresql</a:t>
            </a:r>
            <a:r>
              <a:rPr lang="en-US" dirty="0"/>
              <a:t> 11, provide that functionality.</a:t>
            </a:r>
          </a:p>
          <a:p>
            <a:r>
              <a:rPr lang="en-US" dirty="0"/>
              <a:t>If you drop, then recreate a function, </a:t>
            </a:r>
            <a:r>
              <a:rPr lang="en-US" b="1" u="sng" dirty="0"/>
              <a:t>the new function is not the same entity as the old</a:t>
            </a:r>
            <a:r>
              <a:rPr lang="en-US" dirty="0"/>
              <a:t>. You will have to drop existing rules, triggers, views, </a:t>
            </a:r>
            <a:r>
              <a:rPr lang="en-US" dirty="0" err="1"/>
              <a:t>etc</a:t>
            </a:r>
            <a:r>
              <a:rPr lang="en-US" dirty="0"/>
              <a:t>… which reference the old function.</a:t>
            </a:r>
          </a:p>
          <a:p>
            <a:r>
              <a:rPr lang="en-US" dirty="0"/>
              <a:t>To change a function definition without breaking old references use the CREATE OR REPLACE statement</a:t>
            </a:r>
          </a:p>
          <a:p>
            <a:r>
              <a:rPr lang="en-US" dirty="0">
                <a:hlinkClick r:id="rId2"/>
              </a:rPr>
              <a:t>https://www.postgresqltutorial.com/postgresql-create-function/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68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-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5288A2-D124-4AC5-95C7-4609B62B90F5}"/>
              </a:ext>
            </a:extLst>
          </p:cNvPr>
          <p:cNvSpPr/>
          <p:nvPr/>
        </p:nvSpPr>
        <p:spPr>
          <a:xfrm>
            <a:off x="380010" y="1338470"/>
            <a:ext cx="8383980" cy="253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85000" lnSpcReduction="20000"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 OR REPLACE FUNCTION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count_emp_salary_in_range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min_sal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INTEGER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max_sal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INTEGER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RETURNS INTEGER AS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$$ DECLARE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sal_count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INTEGER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BEGIN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SELECT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count(*)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INTO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sal_count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FROM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employees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WHERE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BETWEEN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min_sal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AND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max_sal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RETURN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sal_count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END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$$ LANGUAGE PLPGSQL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14B595-A0BE-40F8-ACD0-785DDAD07EA8}"/>
              </a:ext>
            </a:extLst>
          </p:cNvPr>
          <p:cNvSpPr/>
          <p:nvPr/>
        </p:nvSpPr>
        <p:spPr>
          <a:xfrm>
            <a:off x="380010" y="4061250"/>
            <a:ext cx="8383980" cy="253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92500" lnSpcReduction="10000"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 OR REPLACE FUNCTION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emp_id_func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()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RETURNS TRIGGER AS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$$ BEGIN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IF 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NEW.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IS NULL THEN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NEW.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emp_id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:=NEXTVAL(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‘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emp_seq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’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);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	RETURN NEW;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END IF;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END;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$$ LANGUAGE PLPGSQL;</a:t>
            </a:r>
          </a:p>
        </p:txBody>
      </p:sp>
    </p:spTree>
    <p:extLst>
      <p:ext uri="{BB962C8B-B14F-4D97-AF65-F5344CB8AC3E}">
        <p14:creationId xmlns:p14="http://schemas.microsoft.com/office/powerpoint/2010/main" val="2226379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4C8AFF-ADD5-25B2-4A6B-F31C06F4C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FD6540-C665-3272-61CB-98A11622B20E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9E36D336-95BE-387B-AC5C-F179B8B1B383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Sequences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BFC02A-3CE5-48E0-2C3C-EFAC9D5A2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7943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Sequence is an object that will maintain a counter for you.</a:t>
            </a:r>
          </a:p>
          <a:p>
            <a:r>
              <a:rPr lang="en-US" dirty="0"/>
              <a:t>A counter can be used to automatically increment a value.</a:t>
            </a:r>
          </a:p>
          <a:p>
            <a:r>
              <a:rPr lang="en-US" dirty="0"/>
              <a:t>You can use the built-in ‘NEXTVAL’ function to reference the next value of a given sequence.</a:t>
            </a:r>
          </a:p>
          <a:p>
            <a:pPr lvl="1"/>
            <a:r>
              <a:rPr lang="en-US" b="1" dirty="0" err="1"/>
              <a:t>nextval</a:t>
            </a:r>
            <a:r>
              <a:rPr lang="en-US" dirty="0"/>
              <a:t>(‘</a:t>
            </a:r>
            <a:r>
              <a:rPr lang="en-US" dirty="0" err="1"/>
              <a:t>sequnce_name</a:t>
            </a:r>
            <a:r>
              <a:rPr lang="en-US" dirty="0"/>
              <a:t>’)</a:t>
            </a:r>
          </a:p>
          <a:p>
            <a:r>
              <a:rPr lang="en-US" dirty="0"/>
              <a:t>You can use a sequence directly within an insert statement, or you can create a custom function and trigger which can reference the sequence to be utilized given a particular event.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913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Examples - Sequences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982571-BD7F-4E8D-8BF6-F71046DDE24A}"/>
              </a:ext>
            </a:extLst>
          </p:cNvPr>
          <p:cNvSpPr/>
          <p:nvPr/>
        </p:nvSpPr>
        <p:spPr>
          <a:xfrm>
            <a:off x="2089144" y="1789043"/>
            <a:ext cx="4965712" cy="106176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SEQUENCE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user_id_seq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START WITH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1000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INCREMENT BY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1;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DA51B1-E9E7-4303-998A-5589860BD9AD}"/>
              </a:ext>
            </a:extLst>
          </p:cNvPr>
          <p:cNvSpPr/>
          <p:nvPr/>
        </p:nvSpPr>
        <p:spPr>
          <a:xfrm>
            <a:off x="267417" y="3531963"/>
            <a:ext cx="8609163" cy="9504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INSERT INTO 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users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 VALUES (</a:t>
            </a:r>
            <a:r>
              <a:rPr lang="en-US" sz="2000" b="1" dirty="0" err="1">
                <a:latin typeface="+mj-lt"/>
                <a:cs typeface="Courier New" panose="02070309020205020404" pitchFamily="49" charset="0"/>
              </a:rPr>
              <a:t>nextval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(‘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user_id_seq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’), 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‘Example Name’);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5B4CEA-43A3-4E57-8579-89D78A22F8F8}"/>
              </a:ext>
            </a:extLst>
          </p:cNvPr>
          <p:cNvSpPr/>
          <p:nvPr/>
        </p:nvSpPr>
        <p:spPr>
          <a:xfrm>
            <a:off x="1231947" y="5163572"/>
            <a:ext cx="6680101" cy="9504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DROP SEQUENCE IF EXISTS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user_id_seq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CASCADE;</a:t>
            </a:r>
          </a:p>
        </p:txBody>
      </p:sp>
    </p:spTree>
    <p:extLst>
      <p:ext uri="{BB962C8B-B14F-4D97-AF65-F5344CB8AC3E}">
        <p14:creationId xmlns:p14="http://schemas.microsoft.com/office/powerpoint/2010/main" val="2293781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Sequences &amp; DDL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1639258"/>
          </a:xfrm>
        </p:spPr>
        <p:txBody>
          <a:bodyPr>
            <a:normAutofit/>
          </a:bodyPr>
          <a:lstStyle/>
          <a:p>
            <a:r>
              <a:rPr lang="en-US" dirty="0"/>
              <a:t>Additionally, Sequences can be used in place of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SERIAL</a:t>
            </a:r>
            <a:r>
              <a:rPr lang="en-US" dirty="0"/>
              <a:t> datatype when defining Database tables: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E61E73-A4C2-484F-A49B-EF692012DD67}"/>
              </a:ext>
            </a:extLst>
          </p:cNvPr>
          <p:cNvSpPr/>
          <p:nvPr/>
        </p:nvSpPr>
        <p:spPr>
          <a:xfrm>
            <a:off x="1023458" y="3120704"/>
            <a:ext cx="7099300" cy="218742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CREATE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SEQUENCE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emp_id_seq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START WITH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 2000 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INCREMENT BY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 1;</a:t>
            </a:r>
          </a:p>
          <a:p>
            <a:pPr defTabSz="228600"/>
            <a:endParaRPr lang="en-US" sz="1600" b="1" dirty="0"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CREATE TABLE 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examples.employees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(</a:t>
            </a:r>
          </a:p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emp_id</a:t>
            </a:r>
            <a:r>
              <a:rPr lang="en-US" sz="16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INTEGER DEFAULT </a:t>
            </a:r>
            <a:r>
              <a:rPr lang="en-US" sz="1600" b="1" dirty="0" err="1">
                <a:latin typeface="+mj-lt"/>
                <a:cs typeface="Courier New" panose="02070309020205020404" pitchFamily="49" charset="0"/>
              </a:rPr>
              <a:t>nextval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('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emp_id_seq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') PRIMARY KEY,</a:t>
            </a:r>
          </a:p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emp_name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 VARCHAR(200),</a:t>
            </a:r>
          </a:p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emp_title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 VARCHAR(50),</a:t>
            </a:r>
          </a:p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16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1600" b="1" dirty="0">
                <a:latin typeface="+mj-lt"/>
                <a:cs typeface="Courier New" panose="02070309020205020404" pitchFamily="49" charset="0"/>
              </a:rPr>
              <a:t> NUMERIC</a:t>
            </a:r>
          </a:p>
          <a:p>
            <a:pPr defTabSz="228600"/>
            <a:r>
              <a:rPr lang="en-US" sz="1600" b="1" dirty="0">
                <a:latin typeface="+mj-lt"/>
                <a:cs typeface="Courier New" panose="02070309020205020404" pitchFamily="49" charset="0"/>
              </a:rPr>
              <a:t>);</a:t>
            </a:r>
            <a:endParaRPr lang="en-US" sz="16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1529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AE1D0-A3C9-D490-316D-7AC454CB4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5FFFC8A-01DD-E033-22AE-F2DC9B51BC4A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AABC76C5-E95A-EE60-6EB4-F02FA5AB1E19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Triggers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65615F-A023-7D10-0566-DF94120A0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207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6BA468-B2FB-4410-8CC4-82872A4103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0010" y="1481446"/>
            <a:ext cx="8383980" cy="4882266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A Trigger is an object that we can create that waits for actions to occur on a specific table that the trigger was made for.</a:t>
            </a:r>
          </a:p>
          <a:p>
            <a:r>
              <a:rPr lang="en-US" sz="2400" dirty="0"/>
              <a:t>A trigger can be coded to react to events which correspond with transactional CRUD operations (non-select).</a:t>
            </a:r>
          </a:p>
          <a:p>
            <a:r>
              <a:rPr lang="en-US" sz="2400" dirty="0"/>
              <a:t>These events are: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INSERT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UPDATE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</a:p>
          <a:p>
            <a:pPr lvl="1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TRUNCATE</a:t>
            </a:r>
          </a:p>
          <a:p>
            <a:r>
              <a:rPr lang="en-US" sz="2400" dirty="0"/>
              <a:t>Triggers can be configured to occur “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BEFORE</a:t>
            </a:r>
            <a:r>
              <a:rPr lang="en-US" sz="2400" dirty="0"/>
              <a:t>” or “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AFTER</a:t>
            </a:r>
            <a:r>
              <a:rPr lang="en-US" sz="2400" dirty="0"/>
              <a:t>” the event in question.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99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930B4-E996-4435-B9F1-D407853E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Syntax Example - Triggers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A7CCD-D4F0-4527-9651-963B238943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CF14CA-1333-499F-97DD-8CAF5F0F2467}"/>
              </a:ext>
            </a:extLst>
          </p:cNvPr>
          <p:cNvSpPr/>
          <p:nvPr/>
        </p:nvSpPr>
        <p:spPr>
          <a:xfrm>
            <a:off x="380010" y="1859066"/>
            <a:ext cx="8383980" cy="19323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 TRIGGER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user_id_trigger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BEFORE INSERT ON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users 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FOR EACH ROW 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EXECUTE FUNCTION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user_id_func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();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A6F7079-7D00-455B-B06B-F630D9DE4C76}"/>
              </a:ext>
            </a:extLst>
          </p:cNvPr>
          <p:cNvSpPr/>
          <p:nvPr/>
        </p:nvSpPr>
        <p:spPr>
          <a:xfrm>
            <a:off x="380010" y="4431322"/>
            <a:ext cx="8383980" cy="193239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 TRIGGER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purchase_time_trigger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BEFORE INSERT ON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orders 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FOR EACH ROW 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EXECUTE FUNCTION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insert_current_datetime_func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()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833709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7FC35-CF4F-59BB-A142-3CED64EE9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5621CB-B3E5-5AD5-4457-15CC48F192F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Aft>
                <a:spcPts val="600"/>
              </a:spcAft>
            </a:pPr>
            <a:fld id="{00000000-1234-1234-1234-1234123412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4" name="Google Shape;212;p15">
            <a:extLst>
              <a:ext uri="{FF2B5EF4-FFF2-40B4-BE49-F238E27FC236}">
                <a16:creationId xmlns:a16="http://schemas.microsoft.com/office/drawing/2014/main" id="{0DE13A78-EC66-6E70-8B6A-D5D5503625F7}"/>
              </a:ext>
            </a:extLst>
          </p:cNvPr>
          <p:cNvSpPr txBox="1">
            <a:spLocks/>
          </p:cNvSpPr>
          <p:nvPr/>
        </p:nvSpPr>
        <p:spPr>
          <a:xfrm>
            <a:off x="157163" y="2493034"/>
            <a:ext cx="8826500" cy="3591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457200" indent="-228600" algn="ctr">
              <a:spcBef>
                <a:spcPts val="560"/>
              </a:spcBef>
              <a:buClr>
                <a:schemeClr val="accent1"/>
              </a:buClr>
              <a:buSzPts val="2800"/>
            </a:pPr>
            <a:r>
              <a:rPr lang="en-US" sz="4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Stored Procedures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5521A2-2E40-71B2-5FDF-DD403DF1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8472" y="0"/>
            <a:ext cx="2355528" cy="864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3276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32BDC-60C6-42B2-9A05-7C70219C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Stored Procedure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039C8B-8CCD-4451-9AD7-E92E3A860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7"/>
            <a:ext cx="8383980" cy="2526796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hlinkClick r:id="rId2"/>
              </a:rPr>
              <a:t>https://www.postgresqltutorial.com/postgresql-create-procedure/</a:t>
            </a:r>
            <a:endParaRPr lang="en-US" dirty="0"/>
          </a:p>
          <a:p>
            <a:r>
              <a:rPr lang="en-US" dirty="0"/>
              <a:t>Do not return a value </a:t>
            </a:r>
          </a:p>
          <a:p>
            <a:r>
              <a:rPr lang="en-US" dirty="0"/>
              <a:t>Take in some input </a:t>
            </a:r>
          </a:p>
          <a:p>
            <a:r>
              <a:rPr lang="en-US" dirty="0"/>
              <a:t>Perform some transaction or set of transactions</a:t>
            </a:r>
          </a:p>
          <a:p>
            <a:r>
              <a:rPr lang="en-US" dirty="0"/>
              <a:t>Executed using the CALL command– </a:t>
            </a:r>
          </a:p>
          <a:p>
            <a:r>
              <a:rPr lang="en-US" dirty="0"/>
              <a:t>CALL </a:t>
            </a:r>
            <a:r>
              <a:rPr lang="en-US" dirty="0" err="1"/>
              <a:t>stored_proc_name</a:t>
            </a:r>
            <a:r>
              <a:rPr lang="en-US" dirty="0"/>
              <a:t>(</a:t>
            </a:r>
            <a:r>
              <a:rPr lang="en-US" dirty="0" err="1"/>
              <a:t>argument_list</a:t>
            </a:r>
            <a:r>
              <a:rPr lang="en-US" dirty="0"/>
              <a:t>);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1F7F5B-54DF-4CD2-A6C1-142EAD34F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728BC2-ACA3-447C-A909-F3F49211C06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CCAFDA-05E8-42C6-AD76-6D65D75E8DA5}"/>
              </a:ext>
            </a:extLst>
          </p:cNvPr>
          <p:cNvSpPr/>
          <p:nvPr/>
        </p:nvSpPr>
        <p:spPr>
          <a:xfrm>
            <a:off x="455511" y="4008242"/>
            <a:ext cx="8383980" cy="25380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>
            <a:normAutofit fontScale="92500" lnSpcReduction="20000"/>
          </a:bodyPr>
          <a:lstStyle/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CREATE OR REPLACE PROCEDURE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percentage_raise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(increase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DEC,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employee_id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INT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)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LANGUAGE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plpgsql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AS $$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BEGIN</a:t>
            </a: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UPDATE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example.employees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  <a:p>
            <a:pPr defTabSz="228600"/>
            <a:r>
              <a:rPr lang="en-US" sz="2000" dirty="0">
                <a:latin typeface="+mj-lt"/>
                <a:cs typeface="Courier New" panose="02070309020205020404" pitchFamily="49" charset="0"/>
              </a:rPr>
              <a:t>	</a:t>
            </a:r>
            <a:r>
              <a:rPr lang="en-US" sz="2000" b="1" dirty="0">
                <a:latin typeface="+mj-lt"/>
                <a:cs typeface="Courier New" panose="02070309020205020404" pitchFamily="49" charset="0"/>
              </a:rPr>
              <a:t>SET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emp_salary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* increase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	WHERE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emp_id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+mj-lt"/>
                <a:cs typeface="Courier New" panose="02070309020205020404" pitchFamily="49" charset="0"/>
              </a:rPr>
              <a:t>employee_id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  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COMMIT</a:t>
            </a:r>
            <a:r>
              <a:rPr lang="en-US" sz="2000" dirty="0">
                <a:latin typeface="+mj-lt"/>
                <a:cs typeface="Courier New" panose="02070309020205020404" pitchFamily="49" charset="0"/>
              </a:rPr>
              <a:t>;</a:t>
            </a:r>
          </a:p>
          <a:p>
            <a:pPr defTabSz="228600"/>
            <a:r>
              <a:rPr lang="en-US" sz="2000" b="1" dirty="0">
                <a:latin typeface="+mj-lt"/>
                <a:cs typeface="Courier New" panose="02070309020205020404" pitchFamily="49" charset="0"/>
              </a:rPr>
              <a:t>END; $$</a:t>
            </a:r>
            <a:endParaRPr lang="en-US" sz="2000" dirty="0">
              <a:latin typeface="+mj-lt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233692"/>
      </p:ext>
    </p:extLst>
  </p:cSld>
  <p:clrMapOvr>
    <a:masterClrMapping/>
  </p:clrMapOvr>
</p:sld>
</file>

<file path=ppt/theme/theme1.xml><?xml version="1.0" encoding="utf-8"?>
<a:theme xmlns:a="http://schemas.openxmlformats.org/drawingml/2006/main" name="Revature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" id="{24F846AD-0162-44D4-93E8-2F393369D2EF}" vid="{C2372A91-FFE2-4AA5-895E-1FECFBB281D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</Template>
  <TotalTime>2106</TotalTime>
  <Words>780</Words>
  <Application>Microsoft Office PowerPoint</Application>
  <PresentationFormat>On-screen Show (4:3)</PresentationFormat>
  <Paragraphs>118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Courier New</vt:lpstr>
      <vt:lpstr>Revature</vt:lpstr>
      <vt:lpstr>Procedural Language SQL (PLSQL)</vt:lpstr>
      <vt:lpstr>Outline</vt:lpstr>
      <vt:lpstr>PowerPoint Presentation</vt:lpstr>
      <vt:lpstr>PL/Pg SQL</vt:lpstr>
      <vt:lpstr>PowerPoint Presentation</vt:lpstr>
      <vt:lpstr>Functions</vt:lpstr>
      <vt:lpstr>Syntax - Functions</vt:lpstr>
      <vt:lpstr>PowerPoint Presentation</vt:lpstr>
      <vt:lpstr>Sequence</vt:lpstr>
      <vt:lpstr>Syntax Examples - Sequences</vt:lpstr>
      <vt:lpstr>Sequences &amp; DDL</vt:lpstr>
      <vt:lpstr>PowerPoint Presentation</vt:lpstr>
      <vt:lpstr>Triggers</vt:lpstr>
      <vt:lpstr>Syntax Example - Triggers</vt:lpstr>
      <vt:lpstr>PowerPoint Presentation</vt:lpstr>
      <vt:lpstr>Stored Procedure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Manipulation Language</dc:title>
  <dc:creator>Bryn Portella</dc:creator>
  <cp:lastModifiedBy>Joseph Highe</cp:lastModifiedBy>
  <cp:revision>11</cp:revision>
  <dcterms:created xsi:type="dcterms:W3CDTF">2021-04-20T18:35:45Z</dcterms:created>
  <dcterms:modified xsi:type="dcterms:W3CDTF">2026-07-24T18:43:41Z</dcterms:modified>
</cp:coreProperties>
</file>