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90" r:id="rId1"/>
  </p:sldMasterIdLst>
  <p:notesMasterIdLst>
    <p:notesMasterId r:id="rId35"/>
  </p:notesMasterIdLst>
  <p:sldIdLst>
    <p:sldId id="256" r:id="rId2"/>
    <p:sldId id="343" r:id="rId3"/>
    <p:sldId id="357" r:id="rId4"/>
    <p:sldId id="363" r:id="rId5"/>
    <p:sldId id="323" r:id="rId6"/>
    <p:sldId id="364" r:id="rId7"/>
    <p:sldId id="358" r:id="rId8"/>
    <p:sldId id="297" r:id="rId9"/>
    <p:sldId id="365" r:id="rId10"/>
    <p:sldId id="359" r:id="rId11"/>
    <p:sldId id="298" r:id="rId12"/>
    <p:sldId id="303" r:id="rId13"/>
    <p:sldId id="304" r:id="rId14"/>
    <p:sldId id="305" r:id="rId15"/>
    <p:sldId id="360" r:id="rId16"/>
    <p:sldId id="294" r:id="rId17"/>
    <p:sldId id="295" r:id="rId18"/>
    <p:sldId id="296" r:id="rId19"/>
    <p:sldId id="366" r:id="rId20"/>
    <p:sldId id="361" r:id="rId21"/>
    <p:sldId id="324" r:id="rId22"/>
    <p:sldId id="299" r:id="rId23"/>
    <p:sldId id="287" r:id="rId24"/>
    <p:sldId id="286" r:id="rId25"/>
    <p:sldId id="288" r:id="rId26"/>
    <p:sldId id="362" r:id="rId27"/>
    <p:sldId id="321" r:id="rId28"/>
    <p:sldId id="290" r:id="rId29"/>
    <p:sldId id="309" r:id="rId30"/>
    <p:sldId id="291" r:id="rId31"/>
    <p:sldId id="292" r:id="rId32"/>
    <p:sldId id="311" r:id="rId33"/>
    <p:sldId id="319" r:id="rId34"/>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p15:clr>
            <a:srgbClr val="A4A3A4"/>
          </p15:clr>
        </p15:guide>
        <p15:guide id="2" pos="2282">
          <p15:clr>
            <a:srgbClr val="A4A3A4"/>
          </p15:clr>
        </p15:guide>
        <p15:guide id="3" orient="horz" pos="292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9" autoAdjust="0"/>
    <p:restoredTop sz="94660"/>
  </p:normalViewPr>
  <p:slideViewPr>
    <p:cSldViewPr snapToGrid="0">
      <p:cViewPr varScale="1">
        <p:scale>
          <a:sx n="69" d="100"/>
          <a:sy n="69" d="100"/>
        </p:scale>
        <p:origin x="1440" y="60"/>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CE4CFADC-D723-474C-BC23-00E14133A490}" type="datetimeFigureOut">
              <a:rPr lang="en-US" smtClean="0"/>
              <a:t>6/24/2026</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44501B3-9A73-4B4F-86F1-79553C5B41F6}" type="slidenum">
              <a:rPr lang="en-US" smtClean="0"/>
              <a:t>‹#›</a:t>
            </a:fld>
            <a:endParaRPr lang="en-US"/>
          </a:p>
        </p:txBody>
      </p:sp>
    </p:spTree>
    <p:extLst>
      <p:ext uri="{BB962C8B-B14F-4D97-AF65-F5344CB8AC3E}">
        <p14:creationId xmlns:p14="http://schemas.microsoft.com/office/powerpoint/2010/main" val="1268815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980635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C5590-4BF8-D76A-573B-ED140B6E75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8143DB-4C15-2071-B8F1-2A025BE2AE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32F84-EACB-DCD4-8CF7-F8C88AE264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46C646-ED60-AD72-CEC3-40D10B50EAC3}"/>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635085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t="33848" b="649"/>
          <a:stretch/>
        </p:blipFill>
        <p:spPr>
          <a:xfrm>
            <a:off x="-1" y="0"/>
            <a:ext cx="9144002" cy="5030078"/>
          </a:xfrm>
          <a:prstGeom prst="rect">
            <a:avLst/>
          </a:prstGeom>
        </p:spPr>
      </p:pic>
      <p:grpSp>
        <p:nvGrpSpPr>
          <p:cNvPr id="27" name="Group 26"/>
          <p:cNvGrpSpPr/>
          <p:nvPr/>
        </p:nvGrpSpPr>
        <p:grpSpPr>
          <a:xfrm>
            <a:off x="496176" y="5451818"/>
            <a:ext cx="3105481" cy="975083"/>
            <a:chOff x="2814452" y="4625522"/>
            <a:chExt cx="5459889" cy="1714337"/>
          </a:xfrm>
        </p:grpSpPr>
        <p:sp>
          <p:nvSpPr>
            <p:cNvPr id="9" name="Freeform 6"/>
            <p:cNvSpPr>
              <a:spLocks noEditPoints="1"/>
            </p:cNvSpPr>
            <p:nvPr/>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accent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496176" y="2924299"/>
            <a:ext cx="6814614" cy="1752600"/>
          </a:xfrm>
        </p:spPr>
        <p:txBody>
          <a:bodyPr/>
          <a:lstStyle>
            <a:lvl1pPr marL="0" indent="0" algn="l">
              <a:buNone/>
              <a:defRPr b="1" baseline="0">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71138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28" name="Picture 27"/>
          <p:cNvPicPr>
            <a:picLocks noChangeAspect="1"/>
          </p:cNvPicPr>
          <p:nvPr/>
        </p:nvPicPr>
        <p:blipFill rotWithShape="1">
          <a:blip r:embed="rId2" cstate="print">
            <a:extLst>
              <a:ext uri="{28A0092B-C50C-407E-A947-70E740481C1C}">
                <a14:useLocalDpi xmlns:a14="http://schemas.microsoft.com/office/drawing/2010/main" val="0"/>
              </a:ext>
            </a:extLst>
          </a:blip>
          <a:srcRect t="33086" b="1379"/>
          <a:stretch/>
        </p:blipFill>
        <p:spPr>
          <a:xfrm flipV="1">
            <a:off x="0" y="0"/>
            <a:ext cx="9144000" cy="5030078"/>
          </a:xfrm>
          <a:prstGeom prst="rect">
            <a:avLst/>
          </a:prstGeom>
        </p:spPr>
      </p:pic>
      <p:grpSp>
        <p:nvGrpSpPr>
          <p:cNvPr id="27" name="Group 26"/>
          <p:cNvGrpSpPr/>
          <p:nvPr/>
        </p:nvGrpSpPr>
        <p:grpSpPr>
          <a:xfrm>
            <a:off x="496176" y="5451818"/>
            <a:ext cx="3105481" cy="975083"/>
            <a:chOff x="2814452" y="4625522"/>
            <a:chExt cx="5459889" cy="1714337"/>
          </a:xfrm>
        </p:grpSpPr>
        <p:sp>
          <p:nvSpPr>
            <p:cNvPr id="9" name="Freeform 6"/>
            <p:cNvSpPr>
              <a:spLocks noEditPoints="1"/>
            </p:cNvSpPr>
            <p:nvPr/>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bg1"/>
                </a:solidFill>
                <a:latin typeface="Arial" panose="020B0604020202020204" pitchFamily="34" charset="0"/>
                <a:cs typeface="Arial" panose="020B0604020202020204" pitchFamily="34" charset="0"/>
              </a:defRPr>
            </a:lvl1pPr>
          </a:lstStyle>
          <a:p>
            <a:r>
              <a:rPr lang="en-US" dirty="0"/>
              <a:t>Click to edit master</a:t>
            </a:r>
          </a:p>
        </p:txBody>
      </p:sp>
      <p:sp>
        <p:nvSpPr>
          <p:cNvPr id="3" name="Subtitle 2"/>
          <p:cNvSpPr>
            <a:spLocks noGrp="1"/>
          </p:cNvSpPr>
          <p:nvPr>
            <p:ph type="subTitle" idx="1"/>
          </p:nvPr>
        </p:nvSpPr>
        <p:spPr>
          <a:xfrm>
            <a:off x="496176" y="2924299"/>
            <a:ext cx="6814614" cy="1752600"/>
          </a:xfrm>
        </p:spPr>
        <p:txBody>
          <a:bodyPr/>
          <a:lstStyle>
            <a:lvl1pPr marL="0" indent="0" algn="l">
              <a:buNone/>
              <a:defRPr baseline="0">
                <a:solidFill>
                  <a:schemeClr val="tx2"/>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21615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t="67499" b="6701"/>
          <a:stretch/>
        </p:blipFill>
        <p:spPr>
          <a:xfrm flipV="1">
            <a:off x="0" y="1740436"/>
            <a:ext cx="9144000" cy="1502227"/>
          </a:xfrm>
          <a:prstGeom prst="rect">
            <a:avLst/>
          </a:prstGeom>
        </p:spPr>
      </p:pic>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t="24620" b="16130"/>
          <a:stretch/>
        </p:blipFill>
        <p:spPr>
          <a:xfrm flipH="1">
            <a:off x="2766" y="3242663"/>
            <a:ext cx="9144000" cy="3615334"/>
          </a:xfrm>
          <a:prstGeom prst="rect">
            <a:avLst/>
          </a:prstGeom>
        </p:spPr>
      </p:pic>
      <p:sp>
        <p:nvSpPr>
          <p:cNvPr id="9" name="Rectangle 8"/>
          <p:cNvSpPr/>
          <p:nvPr/>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496176" y="382676"/>
            <a:ext cx="3105481" cy="975083"/>
            <a:chOff x="2814452" y="4625522"/>
            <a:chExt cx="5459889" cy="1714337"/>
          </a:xfrm>
        </p:grpSpPr>
        <p:sp>
          <p:nvSpPr>
            <p:cNvPr id="11" name="Freeform 6"/>
            <p:cNvSpPr>
              <a:spLocks noEditPoints="1"/>
            </p:cNvSpPr>
            <p:nvPr/>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272890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3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0-#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1" decel="10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750" fill="hold"/>
                                        <p:tgtEl>
                                          <p:spTgt spid="6"/>
                                        </p:tgtEl>
                                        <p:attrNameLst>
                                          <p:attrName>ppt_x</p:attrName>
                                        </p:attrNameLst>
                                      </p:cBhvr>
                                      <p:tavLst>
                                        <p:tav tm="0">
                                          <p:val>
                                            <p:strVal val="#ppt_x"/>
                                          </p:val>
                                        </p:tav>
                                        <p:tav tm="100000">
                                          <p:val>
                                            <p:strVal val="#ppt_x"/>
                                          </p:val>
                                        </p:tav>
                                      </p:tavLst>
                                    </p:anim>
                                    <p:anim calcmode="lin" valueType="num">
                                      <p:cBhvr additive="base">
                                        <p:cTn id="12" dur="75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2">
    <p:spTree>
      <p:nvGrpSpPr>
        <p:cNvPr id="1" name=""/>
        <p:cNvGrpSpPr/>
        <p:nvPr/>
      </p:nvGrpSpPr>
      <p:grpSpPr>
        <a:xfrm>
          <a:off x="0" y="0"/>
          <a:ext cx="0" cy="0"/>
          <a:chOff x="0" y="0"/>
          <a:chExt cx="0" cy="0"/>
        </a:xfrm>
      </p:grpSpPr>
      <p:pic>
        <p:nvPicPr>
          <p:cNvPr id="53" name="Picture 52"/>
          <p:cNvPicPr>
            <a:picLocks noChangeAspect="1"/>
          </p:cNvPicPr>
          <p:nvPr/>
        </p:nvPicPr>
        <p:blipFill rotWithShape="1">
          <a:blip r:embed="rId2" cstate="print">
            <a:extLst>
              <a:ext uri="{28A0092B-C50C-407E-A947-70E740481C1C}">
                <a14:useLocalDpi xmlns:a14="http://schemas.microsoft.com/office/drawing/2010/main" val="0"/>
              </a:ext>
            </a:extLst>
          </a:blip>
          <a:srcRect l="6615" t="2065" r="80083" b="1471"/>
          <a:stretch/>
        </p:blipFill>
        <p:spPr>
          <a:xfrm rot="5400000">
            <a:off x="3820885" y="-2080448"/>
            <a:ext cx="1502227" cy="9143997"/>
          </a:xfrm>
          <a:prstGeom prst="rect">
            <a:avLst/>
          </a:prstGeom>
        </p:spPr>
      </p:pic>
      <p:pic>
        <p:nvPicPr>
          <p:cNvPr id="54" name="Picture 53"/>
          <p:cNvPicPr>
            <a:picLocks noChangeAspect="1"/>
          </p:cNvPicPr>
          <p:nvPr/>
        </p:nvPicPr>
        <p:blipFill rotWithShape="1">
          <a:blip r:embed="rId3" cstate="print">
            <a:extLst>
              <a:ext uri="{28A0092B-C50C-407E-A947-70E740481C1C}">
                <a14:useLocalDpi xmlns:a14="http://schemas.microsoft.com/office/drawing/2010/main" val="0"/>
              </a:ext>
            </a:extLst>
          </a:blip>
          <a:srcRect t="20282" b="20282"/>
          <a:stretch/>
        </p:blipFill>
        <p:spPr>
          <a:xfrm>
            <a:off x="0" y="3242662"/>
            <a:ext cx="9144000" cy="3623223"/>
          </a:xfrm>
          <a:prstGeom prst="rect">
            <a:avLst/>
          </a:prstGeom>
        </p:spPr>
      </p:pic>
      <p:sp>
        <p:nvSpPr>
          <p:cNvPr id="9" name="Rectangle 8"/>
          <p:cNvSpPr/>
          <p:nvPr/>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496176" y="382676"/>
            <a:ext cx="3105481" cy="975083"/>
            <a:chOff x="2814452" y="4625522"/>
            <a:chExt cx="5459889" cy="1714337"/>
          </a:xfrm>
        </p:grpSpPr>
        <p:sp>
          <p:nvSpPr>
            <p:cNvPr id="11" name="Freeform 6"/>
            <p:cNvSpPr>
              <a:spLocks noEditPoints="1"/>
            </p:cNvSpPr>
            <p:nvPr/>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140989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750" fill="hold"/>
                                        <p:tgtEl>
                                          <p:spTgt spid="53"/>
                                        </p:tgtEl>
                                        <p:attrNameLst>
                                          <p:attrName>ppt_x</p:attrName>
                                        </p:attrNameLst>
                                      </p:cBhvr>
                                      <p:tavLst>
                                        <p:tav tm="0">
                                          <p:val>
                                            <p:strVal val="#ppt_x"/>
                                          </p:val>
                                        </p:tav>
                                        <p:tav tm="100000">
                                          <p:val>
                                            <p:strVal val="#ppt_x"/>
                                          </p:val>
                                        </p:tav>
                                      </p:tavLst>
                                    </p:anim>
                                    <p:anim calcmode="lin" valueType="num">
                                      <p:cBhvr additive="base">
                                        <p:cTn id="8" dur="750" fill="hold"/>
                                        <p:tgtEl>
                                          <p:spTgt spid="53"/>
                                        </p:tgtEl>
                                        <p:attrNameLst>
                                          <p:attrName>ppt_y</p:attrName>
                                        </p:attrNameLst>
                                      </p:cBhvr>
                                      <p:tavLst>
                                        <p:tav tm="0">
                                          <p:val>
                                            <p:strVal val="0-#ppt_h/2"/>
                                          </p:val>
                                        </p:tav>
                                        <p:tav tm="100000">
                                          <p:val>
                                            <p:strVal val="#ppt_y"/>
                                          </p:val>
                                        </p:tav>
                                      </p:tavLst>
                                    </p:anim>
                                  </p:childTnLst>
                                </p:cTn>
                              </p:par>
                              <p:par>
                                <p:cTn id="9" presetID="2" presetClass="entr" presetSubtype="8" decel="100000" fill="hold" nodeType="withEffect">
                                  <p:stCondLst>
                                    <p:cond delay="30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750" fill="hold"/>
                                        <p:tgtEl>
                                          <p:spTgt spid="54"/>
                                        </p:tgtEl>
                                        <p:attrNameLst>
                                          <p:attrName>ppt_x</p:attrName>
                                        </p:attrNameLst>
                                      </p:cBhvr>
                                      <p:tavLst>
                                        <p:tav tm="0">
                                          <p:val>
                                            <p:strVal val="0-#ppt_w/2"/>
                                          </p:val>
                                        </p:tav>
                                        <p:tav tm="100000">
                                          <p:val>
                                            <p:strVal val="#ppt_x"/>
                                          </p:val>
                                        </p:tav>
                                      </p:tavLst>
                                    </p:anim>
                                    <p:anim calcmode="lin" valueType="num">
                                      <p:cBhvr additive="base">
                                        <p:cTn id="12" dur="75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820702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8001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1">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7" name="Content Placeholder 2"/>
          <p:cNvSpPr>
            <a:spLocks noGrp="1"/>
          </p:cNvSpPr>
          <p:nvPr>
            <p:ph idx="13"/>
          </p:nvPr>
        </p:nvSpPr>
        <p:spPr>
          <a:xfrm>
            <a:off x="464444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37227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8" name="Content Placeholder 5"/>
          <p:cNvSpPr>
            <a:spLocks noGrp="1"/>
          </p:cNvSpPr>
          <p:nvPr>
            <p:ph sz="quarter" idx="16" hasCustomPrompt="1"/>
          </p:nvPr>
        </p:nvSpPr>
        <p:spPr>
          <a:xfrm>
            <a:off x="4708408" y="153883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9" name="Content Placeholder 5"/>
          <p:cNvSpPr>
            <a:spLocks noGrp="1"/>
          </p:cNvSpPr>
          <p:nvPr>
            <p:ph sz="quarter" idx="17"/>
          </p:nvPr>
        </p:nvSpPr>
        <p:spPr>
          <a:xfrm>
            <a:off x="351116" y="154035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Click to edit Master text styles</a:t>
            </a:r>
          </a:p>
          <a:p>
            <a:pPr lvl="1"/>
            <a:r>
              <a:rPr lang="en-US"/>
              <a:t>Second level</a:t>
            </a:r>
          </a:p>
        </p:txBody>
      </p:sp>
      <p:sp>
        <p:nvSpPr>
          <p:cNvPr id="12" name="Content Placeholder 5"/>
          <p:cNvSpPr>
            <a:spLocks noGrp="1"/>
          </p:cNvSpPr>
          <p:nvPr>
            <p:ph sz="quarter" idx="18" hasCustomPrompt="1"/>
          </p:nvPr>
        </p:nvSpPr>
        <p:spPr>
          <a:xfrm>
            <a:off x="4708408" y="409915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13" name="Content Placeholder 5"/>
          <p:cNvSpPr>
            <a:spLocks noGrp="1"/>
          </p:cNvSpPr>
          <p:nvPr>
            <p:ph sz="quarter" idx="19"/>
          </p:nvPr>
        </p:nvSpPr>
        <p:spPr>
          <a:xfrm>
            <a:off x="351116" y="410067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352677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pic>
        <p:nvPicPr>
          <p:cNvPr id="24" name="Picture 23"/>
          <p:cNvPicPr>
            <a:picLocks noChangeAspect="1"/>
          </p:cNvPicPr>
          <p:nvPr/>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46" name="Content Placeholder 45"/>
          <p:cNvSpPr>
            <a:spLocks noGrp="1"/>
          </p:cNvSpPr>
          <p:nvPr>
            <p:ph sz="quarter" idx="13"/>
          </p:nvPr>
        </p:nvSpPr>
        <p:spPr>
          <a:xfrm>
            <a:off x="157163" y="133350"/>
            <a:ext cx="8826500" cy="5951538"/>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1626810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 white">
    <p:spTree>
      <p:nvGrpSpPr>
        <p:cNvPr id="1" name=""/>
        <p:cNvGrpSpPr/>
        <p:nvPr/>
      </p:nvGrpSpPr>
      <p:grpSpPr>
        <a:xfrm>
          <a:off x="0" y="0"/>
          <a:ext cx="0" cy="0"/>
          <a:chOff x="0" y="0"/>
          <a:chExt cx="0" cy="0"/>
        </a:xfrm>
      </p:grpSpPr>
      <p:sp>
        <p:nvSpPr>
          <p:cNvPr id="4" name="Rectangle 3"/>
          <p:cNvSpPr/>
          <p:nvPr/>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7" name="Group 6"/>
          <p:cNvGrpSpPr/>
          <p:nvPr/>
        </p:nvGrpSpPr>
        <p:grpSpPr>
          <a:xfrm>
            <a:off x="7264458" y="365740"/>
            <a:ext cx="1553307" cy="487719"/>
            <a:chOff x="7264458" y="365740"/>
            <a:chExt cx="1553307" cy="487719"/>
          </a:xfrm>
        </p:grpSpPr>
        <p:sp>
          <p:nvSpPr>
            <p:cNvPr id="8" name="Freeform 6"/>
            <p:cNvSpPr>
              <a:spLocks noEditPoints="1"/>
            </p:cNvSpPr>
            <p:nvPr/>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96413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3_Title Only">
    <p:spTree>
      <p:nvGrpSpPr>
        <p:cNvPr id="1" name=""/>
        <p:cNvGrpSpPr/>
        <p:nvPr/>
      </p:nvGrpSpPr>
      <p:grpSpPr>
        <a:xfrm>
          <a:off x="0" y="0"/>
          <a:ext cx="0" cy="0"/>
          <a:chOff x="0" y="0"/>
          <a:chExt cx="0" cy="0"/>
        </a:xfrm>
      </p:grpSpPr>
      <p:pic>
        <p:nvPicPr>
          <p:cNvPr id="24" name="Picture 23"/>
          <p:cNvPicPr>
            <a:picLocks noChangeAspect="1"/>
          </p:cNvPicPr>
          <p:nvPr/>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3" name="SmartArt Placeholder 2"/>
          <p:cNvSpPr>
            <a:spLocks noGrp="1"/>
          </p:cNvSpPr>
          <p:nvPr>
            <p:ph type="dgm" sz="quarter" idx="13"/>
          </p:nvPr>
        </p:nvSpPr>
        <p:spPr>
          <a:xfrm>
            <a:off x="133350" y="125413"/>
            <a:ext cx="8850313" cy="6008687"/>
          </a:xfrm>
        </p:spPr>
        <p:txBody>
          <a:bodyPr/>
          <a:lstStyle/>
          <a:p>
            <a:r>
              <a:rPr lang="en-US"/>
              <a:t>Click icon to add SmartArt graphic</a:t>
            </a:r>
          </a:p>
        </p:txBody>
      </p:sp>
    </p:spTree>
    <p:extLst>
      <p:ext uri="{BB962C8B-B14F-4D97-AF65-F5344CB8AC3E}">
        <p14:creationId xmlns:p14="http://schemas.microsoft.com/office/powerpoint/2010/main" val="2998561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2_Title Only">
    <p:spTree>
      <p:nvGrpSpPr>
        <p:cNvPr id="1" name=""/>
        <p:cNvGrpSpPr/>
        <p:nvPr/>
      </p:nvGrpSpPr>
      <p:grpSpPr>
        <a:xfrm>
          <a:off x="0" y="0"/>
          <a:ext cx="0" cy="0"/>
          <a:chOff x="0" y="0"/>
          <a:chExt cx="0" cy="0"/>
        </a:xfrm>
      </p:grpSpPr>
      <p:sp>
        <p:nvSpPr>
          <p:cNvPr id="2" name="Rectangle 1"/>
          <p:cNvSpPr/>
          <p:nvPr/>
        </p:nvSpPr>
        <p:spPr>
          <a:xfrm>
            <a:off x="0" y="6251171"/>
            <a:ext cx="9144000" cy="606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7765" y="6367323"/>
            <a:ext cx="1260213" cy="394766"/>
          </a:xfrm>
          <a:prstGeom prst="rect">
            <a:avLst/>
          </a:prstGeom>
        </p:spPr>
      </p:pic>
      <p:sp>
        <p:nvSpPr>
          <p:cNvPr id="7" name="Title 1"/>
          <p:cNvSpPr>
            <a:spLocks noGrp="1"/>
          </p:cNvSpPr>
          <p:nvPr>
            <p:ph type="title"/>
          </p:nvPr>
        </p:nvSpPr>
        <p:spPr>
          <a:xfrm>
            <a:off x="380010" y="-4950"/>
            <a:ext cx="8383980" cy="844535"/>
          </a:xfrm>
        </p:spPr>
        <p:txBody>
          <a:bodyPr/>
          <a:lstStyle>
            <a:lvl1pPr>
              <a:defRPr baseline="0">
                <a:solidFill>
                  <a:schemeClr val="accent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8" name="Content Placeholder 2"/>
          <p:cNvSpPr>
            <a:spLocks noGrp="1"/>
          </p:cNvSpPr>
          <p:nvPr>
            <p:ph idx="1"/>
          </p:nvPr>
        </p:nvSpPr>
        <p:spPr>
          <a:xfrm>
            <a:off x="380010" y="1097280"/>
            <a:ext cx="8383980" cy="4910129"/>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30251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4" name="Rectangle 3"/>
          <p:cNvSpPr/>
          <p:nvPr/>
        </p:nvSpPr>
        <p:spPr>
          <a:xfrm flipV="1">
            <a:off x="0" y="1219200"/>
            <a:ext cx="9144000" cy="563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tx2"/>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3" name="Group 2"/>
          <p:cNvGrpSpPr/>
          <p:nvPr/>
        </p:nvGrpSpPr>
        <p:grpSpPr>
          <a:xfrm>
            <a:off x="7264458" y="365740"/>
            <a:ext cx="1553307" cy="487719"/>
            <a:chOff x="7264458" y="365740"/>
            <a:chExt cx="1553307" cy="487719"/>
          </a:xfrm>
        </p:grpSpPr>
        <p:sp>
          <p:nvSpPr>
            <p:cNvPr id="8" name="Freeform 6"/>
            <p:cNvSpPr>
              <a:spLocks noEditPoints="1"/>
            </p:cNvSpPr>
            <p:nvPr/>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338531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725119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Only">
  <p:cSld name="4_Title Only">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10"/>
          <p:cNvSpPr txBox="1">
            <a:spLocks noGrp="1"/>
          </p:cNvSpPr>
          <p:nvPr>
            <p:ph type="body" idx="1"/>
          </p:nvPr>
        </p:nvSpPr>
        <p:spPr>
          <a:xfrm>
            <a:off x="157163" y="133350"/>
            <a:ext cx="8826500" cy="5951538"/>
          </a:xfrm>
          <a:prstGeom prst="rect">
            <a:avLst/>
          </a:prstGeom>
          <a:noFill/>
          <a:ln>
            <a:noFill/>
          </a:ln>
        </p:spPr>
        <p:txBody>
          <a:bodyPr spcFirstLastPara="1" wrap="square" lIns="91425" tIns="45700" rIns="91425" bIns="45700" anchor="t" anchorCtr="0"/>
          <a:lstStyle>
            <a:lvl1pPr marL="457200" lvl="0" indent="-228600" algn="l">
              <a:spcBef>
                <a:spcPts val="560"/>
              </a:spcBef>
              <a:spcAft>
                <a:spcPts val="0"/>
              </a:spcAft>
              <a:buSzPts val="2800"/>
              <a:buNone/>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484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0"/>
            <a:ext cx="9144000" cy="1219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p:cNvGrpSpPr/>
          <p:nvPr/>
        </p:nvGrpSpPr>
        <p:grpSpPr>
          <a:xfrm>
            <a:off x="7264458" y="365740"/>
            <a:ext cx="1553307" cy="487719"/>
            <a:chOff x="166688" y="-3240088"/>
            <a:chExt cx="9136063" cy="2868613"/>
          </a:xfrm>
        </p:grpSpPr>
        <p:sp>
          <p:nvSpPr>
            <p:cNvPr id="12" name="Freeform 6"/>
            <p:cNvSpPr>
              <a:spLocks noEditPoints="1"/>
            </p:cNvSpPr>
            <p:nvPr/>
          </p:nvSpPr>
          <p:spPr bwMode="auto">
            <a:xfrm>
              <a:off x="166688" y="-1244600"/>
              <a:ext cx="876300" cy="850900"/>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7"/>
            <p:cNvSpPr>
              <a:spLocks/>
            </p:cNvSpPr>
            <p:nvPr/>
          </p:nvSpPr>
          <p:spPr bwMode="auto">
            <a:xfrm>
              <a:off x="1258888" y="-1244600"/>
              <a:ext cx="774700" cy="850900"/>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8"/>
            <p:cNvSpPr>
              <a:spLocks/>
            </p:cNvSpPr>
            <p:nvPr/>
          </p:nvSpPr>
          <p:spPr bwMode="auto">
            <a:xfrm>
              <a:off x="2219326" y="-1244600"/>
              <a:ext cx="906463" cy="850900"/>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9"/>
            <p:cNvSpPr>
              <a:spLocks noEditPoints="1"/>
            </p:cNvSpPr>
            <p:nvPr/>
          </p:nvSpPr>
          <p:spPr bwMode="auto">
            <a:xfrm>
              <a:off x="3125788" y="-1244600"/>
              <a:ext cx="1017588" cy="850900"/>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0"/>
            <p:cNvSpPr>
              <a:spLocks/>
            </p:cNvSpPr>
            <p:nvPr/>
          </p:nvSpPr>
          <p:spPr bwMode="auto">
            <a:xfrm>
              <a:off x="4106863" y="-1244600"/>
              <a:ext cx="928688" cy="850900"/>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1"/>
            <p:cNvSpPr>
              <a:spLocks/>
            </p:cNvSpPr>
            <p:nvPr/>
          </p:nvSpPr>
          <p:spPr bwMode="auto">
            <a:xfrm>
              <a:off x="5214938" y="-1244600"/>
              <a:ext cx="906463" cy="873125"/>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2"/>
            <p:cNvSpPr>
              <a:spLocks noEditPoints="1"/>
            </p:cNvSpPr>
            <p:nvPr/>
          </p:nvSpPr>
          <p:spPr bwMode="auto">
            <a:xfrm>
              <a:off x="6384926" y="-1244600"/>
              <a:ext cx="873125" cy="850900"/>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3"/>
            <p:cNvSpPr>
              <a:spLocks/>
            </p:cNvSpPr>
            <p:nvPr/>
          </p:nvSpPr>
          <p:spPr bwMode="auto">
            <a:xfrm>
              <a:off x="7477126" y="-1244600"/>
              <a:ext cx="774700" cy="850900"/>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4"/>
            <p:cNvSpPr>
              <a:spLocks/>
            </p:cNvSpPr>
            <p:nvPr/>
          </p:nvSpPr>
          <p:spPr bwMode="auto">
            <a:xfrm>
              <a:off x="3233738" y="-1751013"/>
              <a:ext cx="152400" cy="146050"/>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5"/>
            <p:cNvSpPr>
              <a:spLocks/>
            </p:cNvSpPr>
            <p:nvPr/>
          </p:nvSpPr>
          <p:spPr bwMode="auto">
            <a:xfrm>
              <a:off x="3719513" y="-2219325"/>
              <a:ext cx="219075" cy="263525"/>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6"/>
            <p:cNvSpPr>
              <a:spLocks/>
            </p:cNvSpPr>
            <p:nvPr/>
          </p:nvSpPr>
          <p:spPr bwMode="auto">
            <a:xfrm>
              <a:off x="4289426" y="-2582863"/>
              <a:ext cx="222250" cy="407988"/>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7"/>
            <p:cNvSpPr>
              <a:spLocks/>
            </p:cNvSpPr>
            <p:nvPr/>
          </p:nvSpPr>
          <p:spPr bwMode="auto">
            <a:xfrm>
              <a:off x="4910138" y="-2876550"/>
              <a:ext cx="188913" cy="561975"/>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8"/>
            <p:cNvSpPr>
              <a:spLocks/>
            </p:cNvSpPr>
            <p:nvPr/>
          </p:nvSpPr>
          <p:spPr bwMode="auto">
            <a:xfrm>
              <a:off x="5541963" y="-3081338"/>
              <a:ext cx="174625" cy="70326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19"/>
            <p:cNvSpPr>
              <a:spLocks/>
            </p:cNvSpPr>
            <p:nvPr/>
          </p:nvSpPr>
          <p:spPr bwMode="auto">
            <a:xfrm>
              <a:off x="6140451" y="-3203575"/>
              <a:ext cx="271463" cy="83185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0"/>
            <p:cNvSpPr>
              <a:spLocks/>
            </p:cNvSpPr>
            <p:nvPr/>
          </p:nvSpPr>
          <p:spPr bwMode="auto">
            <a:xfrm>
              <a:off x="6724651" y="-3240088"/>
              <a:ext cx="404813" cy="95091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1"/>
            <p:cNvSpPr>
              <a:spLocks/>
            </p:cNvSpPr>
            <p:nvPr/>
          </p:nvSpPr>
          <p:spPr bwMode="auto">
            <a:xfrm>
              <a:off x="7299326" y="-3173413"/>
              <a:ext cx="558800" cy="1039813"/>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2"/>
            <p:cNvSpPr>
              <a:spLocks/>
            </p:cNvSpPr>
            <p:nvPr/>
          </p:nvSpPr>
          <p:spPr bwMode="auto">
            <a:xfrm>
              <a:off x="7864476" y="-3006725"/>
              <a:ext cx="720725" cy="1103313"/>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 name="Freeform 23"/>
            <p:cNvSpPr>
              <a:spLocks/>
            </p:cNvSpPr>
            <p:nvPr/>
          </p:nvSpPr>
          <p:spPr bwMode="auto">
            <a:xfrm>
              <a:off x="8393113" y="-2740025"/>
              <a:ext cx="909638" cy="1138238"/>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 name="Text Placeholder 2"/>
          <p:cNvSpPr>
            <a:spLocks noGrp="1"/>
          </p:cNvSpPr>
          <p:nvPr>
            <p:ph type="body" idx="1"/>
          </p:nvPr>
        </p:nvSpPr>
        <p:spPr>
          <a:xfrm>
            <a:off x="380010" y="1481446"/>
            <a:ext cx="838398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8122757" y="6363712"/>
            <a:ext cx="861671" cy="365125"/>
          </a:xfrm>
          <a:prstGeom prst="rect">
            <a:avLst/>
          </a:prstGeom>
        </p:spPr>
        <p:txBody>
          <a:bodyPr vert="horz" lIns="91440" tIns="45720" rIns="91440" bIns="45720" rtlCol="0" anchor="ctr"/>
          <a:lstStyle>
            <a:lvl1pPr algn="r">
              <a:defRPr sz="1200" b="0">
                <a:solidFill>
                  <a:schemeClr val="accent2"/>
                </a:solidFill>
              </a:defRPr>
            </a:lvl1pPr>
          </a:lstStyle>
          <a:p>
            <a:fld id="{F6728BC2-ACA3-447C-A909-F3F49211C066}" type="slidenum">
              <a:rPr lang="en-US" smtClean="0"/>
              <a:pPr/>
              <a:t>‹#›</a:t>
            </a:fld>
            <a:endParaRPr lang="en-US" dirty="0"/>
          </a:p>
        </p:txBody>
      </p:sp>
      <p:sp>
        <p:nvSpPr>
          <p:cNvPr id="2" name="Title Placeholder 1"/>
          <p:cNvSpPr>
            <a:spLocks noGrp="1"/>
          </p:cNvSpPr>
          <p:nvPr>
            <p:ph type="title"/>
          </p:nvPr>
        </p:nvSpPr>
        <p:spPr>
          <a:xfrm>
            <a:off x="380010" y="-4950"/>
            <a:ext cx="6222671" cy="1224150"/>
          </a:xfrm>
          <a:prstGeom prst="rect">
            <a:avLst/>
          </a:prstGeom>
        </p:spPr>
        <p:txBody>
          <a:bodyPr vert="horz" lIns="91440" tIns="45720" rIns="91440" bIns="45720" rtlCol="0" anchor="ctr">
            <a:noAutofit/>
          </a:bodyPr>
          <a:lstStyle/>
          <a:p>
            <a:r>
              <a:rPr lang="en-US"/>
              <a:t>Click to edit Master title style</a:t>
            </a:r>
            <a:endParaRPr lang="en-US" dirty="0"/>
          </a:p>
        </p:txBody>
      </p:sp>
    </p:spTree>
    <p:extLst>
      <p:ext uri="{BB962C8B-B14F-4D97-AF65-F5344CB8AC3E}">
        <p14:creationId xmlns:p14="http://schemas.microsoft.com/office/powerpoint/2010/main" val="146004641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704" r:id="rId3"/>
    <p:sldLayoutId id="2147483705" r:id="rId4"/>
    <p:sldLayoutId id="2147483694" r:id="rId5"/>
    <p:sldLayoutId id="2147483698" r:id="rId6"/>
    <p:sldLayoutId id="2147483699" r:id="rId7"/>
    <p:sldLayoutId id="2147483695" r:id="rId8"/>
    <p:sldLayoutId id="2147483703" r:id="rId9"/>
    <p:sldLayoutId id="2147483701" r:id="rId10"/>
    <p:sldLayoutId id="2147483702" r:id="rId11"/>
    <p:sldLayoutId id="2147483696" r:id="rId12"/>
    <p:sldLayoutId id="2147483697" r:id="rId13"/>
    <p:sldLayoutId id="2147483706" r:id="rId14"/>
  </p:sldLayoutIdLst>
  <p:hf hdr="0" ftr="0" dt="0"/>
  <p:txStyles>
    <p:titleStyle>
      <a:lvl1pPr algn="l" defTabSz="914400" rtl="0" eaLnBrk="1" latinLnBrk="0" hangingPunct="1">
        <a:spcBef>
          <a:spcPct val="0"/>
        </a:spcBef>
        <a:buNone/>
        <a:defRPr sz="2400" b="1" kern="1200" spc="100" baseline="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buClr>
        <a:buFont typeface="Arial" panose="020B0604020202020204" pitchFamily="34" charset="0"/>
        <a:buChar char="•"/>
        <a:defRPr sz="2800"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E0318-B31B-4D90-9599-F0ED5C3F3731}"/>
              </a:ext>
            </a:extLst>
          </p:cNvPr>
          <p:cNvSpPr>
            <a:spLocks noGrp="1"/>
          </p:cNvSpPr>
          <p:nvPr>
            <p:ph type="ctrTitle"/>
          </p:nvPr>
        </p:nvSpPr>
        <p:spPr/>
        <p:txBody>
          <a:bodyPr/>
          <a:lstStyle/>
          <a:p>
            <a:r>
              <a:rPr lang="en-US" dirty="0"/>
              <a:t>Database Relationship Management</a:t>
            </a:r>
          </a:p>
        </p:txBody>
      </p:sp>
      <p:sp>
        <p:nvSpPr>
          <p:cNvPr id="3" name="Subtitle 2">
            <a:extLst>
              <a:ext uri="{FF2B5EF4-FFF2-40B4-BE49-F238E27FC236}">
                <a16:creationId xmlns:a16="http://schemas.microsoft.com/office/drawing/2014/main" id="{4C4BC605-D554-4C64-A628-213ABA910D2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5013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947FC-ED58-14EC-766E-B345CBB2129B}"/>
              </a:ext>
            </a:extLst>
          </p:cNvPr>
          <p:cNvSpPr>
            <a:spLocks noGrp="1"/>
          </p:cNvSpPr>
          <p:nvPr>
            <p:ph type="title"/>
          </p:nvPr>
        </p:nvSpPr>
        <p:spPr/>
        <p:txBody>
          <a:bodyPr/>
          <a:lstStyle/>
          <a:p>
            <a:r>
              <a:rPr lang="en-US" dirty="0"/>
              <a:t>Outline</a:t>
            </a:r>
          </a:p>
        </p:txBody>
      </p:sp>
      <p:sp>
        <p:nvSpPr>
          <p:cNvPr id="3" name="Text Placeholder 2">
            <a:extLst>
              <a:ext uri="{FF2B5EF4-FFF2-40B4-BE49-F238E27FC236}">
                <a16:creationId xmlns:a16="http://schemas.microsoft.com/office/drawing/2014/main" id="{31D0A314-1889-7642-D5E4-583ADD03E47C}"/>
              </a:ext>
            </a:extLst>
          </p:cNvPr>
          <p:cNvSpPr>
            <a:spLocks noGrp="1"/>
          </p:cNvSpPr>
          <p:nvPr>
            <p:ph type="body" idx="1"/>
          </p:nvPr>
        </p:nvSpPr>
        <p:spPr>
          <a:xfrm>
            <a:off x="380010" y="1481446"/>
            <a:ext cx="8383980" cy="5247391"/>
          </a:xfrm>
        </p:spPr>
        <p:txBody>
          <a:bodyPr numCol="1">
            <a:normAutofit/>
          </a:bodyPr>
          <a:lstStyle/>
          <a:p>
            <a:r>
              <a:rPr lang="en-US" dirty="0"/>
              <a:t>Constraints &amp; Referential Integrity</a:t>
            </a:r>
          </a:p>
          <a:p>
            <a:r>
              <a:rPr lang="en-US" dirty="0"/>
              <a:t>Primary Keys</a:t>
            </a:r>
          </a:p>
          <a:p>
            <a:r>
              <a:rPr lang="en-US" dirty="0"/>
              <a:t>Foreign Keys &amp; Orphaned Records</a:t>
            </a:r>
          </a:p>
          <a:p>
            <a:r>
              <a:rPr lang="en-US" dirty="0"/>
              <a:t>Other Keys</a:t>
            </a:r>
          </a:p>
          <a:p>
            <a:r>
              <a:rPr lang="en-US" dirty="0"/>
              <a:t>Multiplicity</a:t>
            </a:r>
          </a:p>
          <a:p>
            <a:r>
              <a:rPr lang="en-US" dirty="0"/>
              <a:t>Normalization</a:t>
            </a:r>
          </a:p>
        </p:txBody>
      </p:sp>
      <p:sp>
        <p:nvSpPr>
          <p:cNvPr id="4" name="Slide Number Placeholder 3">
            <a:extLst>
              <a:ext uri="{FF2B5EF4-FFF2-40B4-BE49-F238E27FC236}">
                <a16:creationId xmlns:a16="http://schemas.microsoft.com/office/drawing/2014/main" id="{E6ADCEA2-50D6-C516-65CC-742821A02E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extLst>
      <p:ext uri="{BB962C8B-B14F-4D97-AF65-F5344CB8AC3E}">
        <p14:creationId xmlns:p14="http://schemas.microsoft.com/office/powerpoint/2010/main" val="1957433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8AAE37-6C44-EFD1-A224-1FC82F61AD64}"/>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a:t>
            </a:fld>
            <a:endParaRPr lang="en-US"/>
          </a:p>
        </p:txBody>
      </p:sp>
      <p:sp>
        <p:nvSpPr>
          <p:cNvPr id="4" name="Google Shape;212;p15">
            <a:extLst>
              <a:ext uri="{FF2B5EF4-FFF2-40B4-BE49-F238E27FC236}">
                <a16:creationId xmlns:a16="http://schemas.microsoft.com/office/drawing/2014/main" id="{597E6BDC-DC3A-A131-3C64-1F04AFB6626D}"/>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Constraints &amp; Referential Integrity</a:t>
            </a:r>
          </a:p>
        </p:txBody>
      </p:sp>
      <p:pic>
        <p:nvPicPr>
          <p:cNvPr id="6" name="Picture 5">
            <a:extLst>
              <a:ext uri="{FF2B5EF4-FFF2-40B4-BE49-F238E27FC236}">
                <a16:creationId xmlns:a16="http://schemas.microsoft.com/office/drawing/2014/main" id="{8A8E09B7-A980-6E75-DAC8-46C12A48941D}"/>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72010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9AE9B-A34B-24EF-5781-482490E699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1EE131-15BD-946E-1313-E05E91E132D0}"/>
              </a:ext>
            </a:extLst>
          </p:cNvPr>
          <p:cNvSpPr>
            <a:spLocks noGrp="1"/>
          </p:cNvSpPr>
          <p:nvPr>
            <p:ph type="title"/>
          </p:nvPr>
        </p:nvSpPr>
        <p:spPr/>
        <p:txBody>
          <a:bodyPr/>
          <a:lstStyle/>
          <a:p>
            <a:r>
              <a:rPr lang="en-US" dirty="0"/>
              <a:t>Data Integrity</a:t>
            </a:r>
          </a:p>
        </p:txBody>
      </p:sp>
      <p:sp>
        <p:nvSpPr>
          <p:cNvPr id="3" name="Text Placeholder 2">
            <a:extLst>
              <a:ext uri="{FF2B5EF4-FFF2-40B4-BE49-F238E27FC236}">
                <a16:creationId xmlns:a16="http://schemas.microsoft.com/office/drawing/2014/main" id="{45D69A1A-38D5-225F-3D0E-68EA465F5245}"/>
              </a:ext>
            </a:extLst>
          </p:cNvPr>
          <p:cNvSpPr>
            <a:spLocks noGrp="1"/>
          </p:cNvSpPr>
          <p:nvPr>
            <p:ph type="body" idx="1"/>
          </p:nvPr>
        </p:nvSpPr>
        <p:spPr>
          <a:xfrm>
            <a:off x="380010" y="1481446"/>
            <a:ext cx="8383980" cy="4882266"/>
          </a:xfrm>
        </p:spPr>
        <p:txBody>
          <a:bodyPr>
            <a:normAutofit fontScale="92500" lnSpcReduction="10000"/>
          </a:bodyPr>
          <a:lstStyle/>
          <a:p>
            <a:r>
              <a:rPr lang="en-US" dirty="0"/>
              <a:t>The term </a:t>
            </a:r>
            <a:r>
              <a:rPr lang="en-US" b="1" i="1" dirty="0"/>
              <a:t>data integrity</a:t>
            </a:r>
            <a:r>
              <a:rPr lang="en-US" dirty="0"/>
              <a:t> refers to the accuracy and consistency of data</a:t>
            </a:r>
          </a:p>
          <a:p>
            <a:r>
              <a:rPr lang="en-US" dirty="0"/>
              <a:t>In the database world, data integrity is often placed into the following types:</a:t>
            </a:r>
          </a:p>
          <a:p>
            <a:pPr lvl="1"/>
            <a:r>
              <a:rPr lang="en-US" dirty="0"/>
              <a:t>Entity integrity : </a:t>
            </a:r>
            <a:r>
              <a:rPr lang="en-US" i="1" dirty="0"/>
              <a:t>Entity integrity</a:t>
            </a:r>
            <a:r>
              <a:rPr lang="en-US" dirty="0"/>
              <a:t> defines each row to be unique within its table. No two rows can be the same.</a:t>
            </a:r>
          </a:p>
          <a:p>
            <a:pPr lvl="1"/>
            <a:r>
              <a:rPr lang="en-US" b="1" i="1" u="sng" dirty="0"/>
              <a:t>Referential integrity</a:t>
            </a:r>
            <a:r>
              <a:rPr lang="en-US" b="1" i="1" dirty="0"/>
              <a:t> </a:t>
            </a:r>
            <a:r>
              <a:rPr lang="en-US" dirty="0"/>
              <a:t>: </a:t>
            </a:r>
            <a:r>
              <a:rPr lang="en-US" i="1" dirty="0"/>
              <a:t>Referential integrity</a:t>
            </a:r>
            <a:r>
              <a:rPr lang="en-US" dirty="0"/>
              <a:t> is concerned with relationships.</a:t>
            </a:r>
          </a:p>
          <a:p>
            <a:pPr lvl="1"/>
            <a:r>
              <a:rPr lang="en-US" dirty="0"/>
              <a:t>Domain integrity : </a:t>
            </a:r>
            <a:r>
              <a:rPr lang="en-US" i="1" dirty="0"/>
              <a:t>Domain integrity</a:t>
            </a:r>
            <a:r>
              <a:rPr lang="en-US" dirty="0"/>
              <a:t> concerns the validity of entries for a given column. </a:t>
            </a:r>
          </a:p>
          <a:p>
            <a:pPr lvl="1"/>
            <a:r>
              <a:rPr lang="en-US" dirty="0"/>
              <a:t>User-defined integrity : </a:t>
            </a:r>
            <a:r>
              <a:rPr lang="en-US" i="1" dirty="0"/>
              <a:t>User-defined integrity</a:t>
            </a:r>
            <a:r>
              <a:rPr lang="en-US" dirty="0"/>
              <a:t> allows the user to apply business rules to the database that aren’t covered by any of the other three data integrity types.</a:t>
            </a:r>
          </a:p>
        </p:txBody>
      </p:sp>
      <p:sp>
        <p:nvSpPr>
          <p:cNvPr id="4" name="Slide Number Placeholder 3">
            <a:extLst>
              <a:ext uri="{FF2B5EF4-FFF2-40B4-BE49-F238E27FC236}">
                <a16:creationId xmlns:a16="http://schemas.microsoft.com/office/drawing/2014/main" id="{84DC5A3E-D3B3-80C2-7C80-83F48E59C0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211473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Constraints &amp; Referential Integrity</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p:txBody>
          <a:bodyPr>
            <a:normAutofit/>
          </a:bodyPr>
          <a:lstStyle/>
          <a:p>
            <a:r>
              <a:rPr lang="en-US" b="1" dirty="0"/>
              <a:t>Referential Integrity</a:t>
            </a:r>
            <a:r>
              <a:rPr lang="en-US" dirty="0"/>
              <a:t> – The consistency and accuracy of data within a table as it relates to other information within an RDBMS.</a:t>
            </a:r>
          </a:p>
          <a:p>
            <a:pPr lvl="1"/>
            <a:r>
              <a:rPr lang="en-US" dirty="0"/>
              <a:t>Referential integrity is maintained using constraints, particularly </a:t>
            </a:r>
            <a:r>
              <a:rPr lang="en-US" dirty="0">
                <a:latin typeface="Courier New" panose="02070309020205020404" pitchFamily="49" charset="0"/>
                <a:cs typeface="Courier New" panose="02070309020205020404" pitchFamily="49" charset="0"/>
              </a:rPr>
              <a:t>foreign keys </a:t>
            </a:r>
            <a:r>
              <a:rPr lang="en-US" dirty="0"/>
              <a:t>which reference </a:t>
            </a:r>
            <a:r>
              <a:rPr lang="en-US" dirty="0">
                <a:latin typeface="Courier New" panose="02070309020205020404" pitchFamily="49" charset="0"/>
                <a:cs typeface="Courier New" panose="02070309020205020404" pitchFamily="49" charset="0"/>
              </a:rPr>
              <a:t>primary keys</a:t>
            </a:r>
            <a:r>
              <a:rPr lang="en-US" dirty="0"/>
              <a:t>.</a:t>
            </a:r>
          </a:p>
          <a:p>
            <a:r>
              <a:rPr lang="en-US" b="1" dirty="0"/>
              <a:t>Constraints</a:t>
            </a:r>
            <a:r>
              <a:rPr lang="en-US" dirty="0"/>
              <a:t> – Rules which may be applied to the database schema which enforces restrictions to database data.</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2943746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4EA25-A0D8-5D1F-948F-014D1CBF26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DB7A28-29CE-43AF-C9FD-AB8B593CAC1D}"/>
              </a:ext>
            </a:extLst>
          </p:cNvPr>
          <p:cNvSpPr>
            <a:spLocks noGrp="1"/>
          </p:cNvSpPr>
          <p:nvPr>
            <p:ph type="title"/>
          </p:nvPr>
        </p:nvSpPr>
        <p:spPr/>
        <p:txBody>
          <a:bodyPr/>
          <a:lstStyle/>
          <a:p>
            <a:r>
              <a:rPr lang="en-US" dirty="0"/>
              <a:t>Referential Integrity</a:t>
            </a:r>
          </a:p>
        </p:txBody>
      </p:sp>
      <p:sp>
        <p:nvSpPr>
          <p:cNvPr id="3" name="Text Placeholder 2">
            <a:extLst>
              <a:ext uri="{FF2B5EF4-FFF2-40B4-BE49-F238E27FC236}">
                <a16:creationId xmlns:a16="http://schemas.microsoft.com/office/drawing/2014/main" id="{002FEEB3-8375-11B1-9743-E8E11953774C}"/>
              </a:ext>
            </a:extLst>
          </p:cNvPr>
          <p:cNvSpPr>
            <a:spLocks noGrp="1"/>
          </p:cNvSpPr>
          <p:nvPr>
            <p:ph type="body" idx="1"/>
          </p:nvPr>
        </p:nvSpPr>
        <p:spPr/>
        <p:txBody>
          <a:bodyPr>
            <a:normAutofit/>
          </a:bodyPr>
          <a:lstStyle/>
          <a:p>
            <a:r>
              <a:rPr lang="en-US" b="1" dirty="0"/>
              <a:t>Referential Integrity</a:t>
            </a:r>
            <a:r>
              <a:rPr lang="en-US" dirty="0"/>
              <a:t> will prevent users from:</a:t>
            </a:r>
          </a:p>
          <a:p>
            <a:pPr lvl="1"/>
            <a:r>
              <a:rPr lang="en-US" dirty="0"/>
              <a:t>Adding rows to a related table (FK) if there is no associated row in the primary table (PK)</a:t>
            </a:r>
          </a:p>
          <a:p>
            <a:pPr lvl="1"/>
            <a:r>
              <a:rPr lang="en-US" dirty="0"/>
              <a:t>Changing values in a primary table that result in orphaned records in a related table</a:t>
            </a:r>
          </a:p>
          <a:p>
            <a:pPr lvl="1"/>
            <a:r>
              <a:rPr lang="en-US" dirty="0"/>
              <a:t>Deleting rows from a primary table if there are matching related rows</a:t>
            </a:r>
          </a:p>
        </p:txBody>
      </p:sp>
      <p:sp>
        <p:nvSpPr>
          <p:cNvPr id="4" name="Slide Number Placeholder 3">
            <a:extLst>
              <a:ext uri="{FF2B5EF4-FFF2-40B4-BE49-F238E27FC236}">
                <a16:creationId xmlns:a16="http://schemas.microsoft.com/office/drawing/2014/main" id="{2728D013-17AC-C3B9-00BE-8C2A667ABD1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3910093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1F082-F98C-57DE-5525-3133213E624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A0DA36D-06D2-EE02-6649-4BF2D163C2A3}"/>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6</a:t>
            </a:fld>
            <a:endParaRPr lang="en-US"/>
          </a:p>
        </p:txBody>
      </p:sp>
      <p:sp>
        <p:nvSpPr>
          <p:cNvPr id="4" name="Google Shape;212;p15">
            <a:extLst>
              <a:ext uri="{FF2B5EF4-FFF2-40B4-BE49-F238E27FC236}">
                <a16:creationId xmlns:a16="http://schemas.microsoft.com/office/drawing/2014/main" id="{0ACDA11C-45AA-1DE5-6165-0D310092BF5D}"/>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Primary Keys</a:t>
            </a:r>
          </a:p>
        </p:txBody>
      </p:sp>
      <p:pic>
        <p:nvPicPr>
          <p:cNvPr id="6" name="Picture 5">
            <a:extLst>
              <a:ext uri="{FF2B5EF4-FFF2-40B4-BE49-F238E27FC236}">
                <a16:creationId xmlns:a16="http://schemas.microsoft.com/office/drawing/2014/main" id="{913769C5-9CD9-C750-7F73-85A142EE8013}"/>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739110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Types of Keys in DBMS</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764079"/>
          </a:xfrm>
        </p:spPr>
        <p:txBody>
          <a:bodyPr/>
          <a:lstStyle/>
          <a:p>
            <a:r>
              <a:rPr lang="en-US" dirty="0"/>
              <a:t>A </a:t>
            </a:r>
            <a:r>
              <a:rPr lang="en-US" b="1" dirty="0"/>
              <a:t>KEY</a:t>
            </a:r>
            <a:r>
              <a:rPr lang="en-US" dirty="0"/>
              <a:t> in DBMS is an attribute or set of attributes which helps you to identify a row in a relation</a:t>
            </a:r>
          </a:p>
          <a:p>
            <a:r>
              <a:rPr lang="en-US" dirty="0"/>
              <a:t>They allow you to find the relation between two tables</a:t>
            </a:r>
          </a:p>
          <a:p>
            <a:r>
              <a:rPr lang="en-US" dirty="0"/>
              <a:t>Keys help you uniquely identify a row in a table by a combination of one or more columns in that table.</a:t>
            </a:r>
          </a:p>
          <a:p>
            <a:r>
              <a:rPr lang="en-US" dirty="0"/>
              <a:t>Keys are also helpful for finding unique records or rows from a table.</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992401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985A7-A0E1-D27C-5933-C837A9343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FEC9F3-77D8-ADB4-27B9-610A2055E670}"/>
              </a:ext>
            </a:extLst>
          </p:cNvPr>
          <p:cNvSpPr>
            <a:spLocks noGrp="1"/>
          </p:cNvSpPr>
          <p:nvPr>
            <p:ph type="title"/>
          </p:nvPr>
        </p:nvSpPr>
        <p:spPr/>
        <p:txBody>
          <a:bodyPr/>
          <a:lstStyle/>
          <a:p>
            <a:r>
              <a:rPr lang="en-US" dirty="0"/>
              <a:t>PRIMARY KEY</a:t>
            </a:r>
          </a:p>
        </p:txBody>
      </p:sp>
      <p:sp>
        <p:nvSpPr>
          <p:cNvPr id="3" name="Text Placeholder 2">
            <a:extLst>
              <a:ext uri="{FF2B5EF4-FFF2-40B4-BE49-F238E27FC236}">
                <a16:creationId xmlns:a16="http://schemas.microsoft.com/office/drawing/2014/main" id="{0300717F-6EF3-6517-75D1-1E4E2C7D555B}"/>
              </a:ext>
            </a:extLst>
          </p:cNvPr>
          <p:cNvSpPr>
            <a:spLocks noGrp="1"/>
          </p:cNvSpPr>
          <p:nvPr>
            <p:ph type="body" idx="1"/>
          </p:nvPr>
        </p:nvSpPr>
        <p:spPr>
          <a:xfrm>
            <a:off x="380010" y="1481446"/>
            <a:ext cx="8383980" cy="2463477"/>
          </a:xfrm>
        </p:spPr>
        <p:txBody>
          <a:bodyPr/>
          <a:lstStyle/>
          <a:p>
            <a:r>
              <a:rPr lang="en-US" b="1" dirty="0"/>
              <a:t>Primary Key</a:t>
            </a:r>
            <a:r>
              <a:rPr lang="en-US" dirty="0"/>
              <a:t>: Data in this column is </a:t>
            </a:r>
            <a:r>
              <a:rPr lang="en-US" dirty="0">
                <a:latin typeface="Courier New" panose="02070309020205020404" pitchFamily="49" charset="0"/>
                <a:cs typeface="Courier New" panose="02070309020205020404" pitchFamily="49" charset="0"/>
              </a:rPr>
              <a:t>unique</a:t>
            </a:r>
            <a:r>
              <a:rPr lang="en-US" dirty="0"/>
              <a:t>, </a:t>
            </a:r>
            <a:r>
              <a:rPr lang="en-US" dirty="0">
                <a:latin typeface="Courier New" panose="02070309020205020404" pitchFamily="49" charset="0"/>
                <a:cs typeface="Courier New" panose="02070309020205020404" pitchFamily="49" charset="0"/>
              </a:rPr>
              <a:t>not null</a:t>
            </a:r>
            <a:r>
              <a:rPr lang="en-US" dirty="0"/>
              <a:t>, and uniquely identifies all records in a table</a:t>
            </a:r>
          </a:p>
          <a:p>
            <a:pPr lvl="1"/>
            <a:r>
              <a:rPr lang="en-US" dirty="0"/>
              <a:t>A Primary Key that consists of more than one column is known as a composite key.</a:t>
            </a:r>
          </a:p>
        </p:txBody>
      </p:sp>
      <p:sp>
        <p:nvSpPr>
          <p:cNvPr id="4" name="Slide Number Placeholder 3">
            <a:extLst>
              <a:ext uri="{FF2B5EF4-FFF2-40B4-BE49-F238E27FC236}">
                <a16:creationId xmlns:a16="http://schemas.microsoft.com/office/drawing/2014/main" id="{7853AD3D-EED1-E1A1-4664-0E29444D479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5" name="Google Shape;219;p16">
            <a:extLst>
              <a:ext uri="{FF2B5EF4-FFF2-40B4-BE49-F238E27FC236}">
                <a16:creationId xmlns:a16="http://schemas.microsoft.com/office/drawing/2014/main" id="{67B5D199-ABB9-12B9-454F-8B067048C6B6}"/>
              </a:ext>
            </a:extLst>
          </p:cNvPr>
          <p:cNvSpPr txBox="1">
            <a:spLocks/>
          </p:cNvSpPr>
          <p:nvPr/>
        </p:nvSpPr>
        <p:spPr>
          <a:xfrm>
            <a:off x="269792" y="4093698"/>
            <a:ext cx="4081772" cy="1955410"/>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CREATE TABLE users (</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	id INTEGER </a:t>
            </a:r>
            <a:r>
              <a:rPr lang="en-US" sz="1800" b="1" dirty="0">
                <a:solidFill>
                  <a:schemeClr val="accent6">
                    <a:lumMod val="75000"/>
                  </a:schemeClr>
                </a:solidFill>
                <a:latin typeface="Courier New" panose="02070309020205020404" pitchFamily="49" charset="0"/>
                <a:cs typeface="Courier New" panose="02070309020205020404" pitchFamily="49" charset="0"/>
              </a:rPr>
              <a:t>PRIMARY KEY</a:t>
            </a:r>
            <a:r>
              <a:rPr lang="en-US" sz="18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	name VARCHAR(20)</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a:t>
            </a:r>
          </a:p>
        </p:txBody>
      </p:sp>
      <p:sp>
        <p:nvSpPr>
          <p:cNvPr id="6" name="Google Shape;219;p16">
            <a:extLst>
              <a:ext uri="{FF2B5EF4-FFF2-40B4-BE49-F238E27FC236}">
                <a16:creationId xmlns:a16="http://schemas.microsoft.com/office/drawing/2014/main" id="{A6D3AA43-BA2A-DEED-5376-7B45649034D5}"/>
              </a:ext>
            </a:extLst>
          </p:cNvPr>
          <p:cNvSpPr txBox="1">
            <a:spLocks/>
          </p:cNvSpPr>
          <p:nvPr/>
        </p:nvSpPr>
        <p:spPr>
          <a:xfrm>
            <a:off x="4572000" y="3927868"/>
            <a:ext cx="4302209" cy="2287069"/>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CREATE TABLE directory (</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	name VARCHAR(20),</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	phone VARCHAR(20),</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	</a:t>
            </a:r>
            <a:r>
              <a:rPr lang="en-US" sz="1800" b="1" dirty="0">
                <a:solidFill>
                  <a:schemeClr val="accent6">
                    <a:lumMod val="75000"/>
                  </a:schemeClr>
                </a:solidFill>
                <a:latin typeface="Courier New" panose="02070309020205020404" pitchFamily="49" charset="0"/>
                <a:cs typeface="Courier New" panose="02070309020205020404" pitchFamily="49" charset="0"/>
              </a:rPr>
              <a:t>PRIMARY KEY(name, phone)</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750195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bg/>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animBg="1"/>
      <p:bldP spid="6" grpId="0" uiExpand="1"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6CBA6-4EF2-3600-3F67-01CD6E6E472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BE0D1D-16CF-A38E-6099-5446F5583146}"/>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9</a:t>
            </a:fld>
            <a:endParaRPr lang="en-US"/>
          </a:p>
        </p:txBody>
      </p:sp>
      <p:sp>
        <p:nvSpPr>
          <p:cNvPr id="4" name="Google Shape;212;p15">
            <a:extLst>
              <a:ext uri="{FF2B5EF4-FFF2-40B4-BE49-F238E27FC236}">
                <a16:creationId xmlns:a16="http://schemas.microsoft.com/office/drawing/2014/main" id="{94D1A3D2-18D4-7C87-B8D8-DFE0FC0B34A1}"/>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Foreign Keys &amp; Orphaned Records</a:t>
            </a:r>
          </a:p>
        </p:txBody>
      </p:sp>
      <p:pic>
        <p:nvPicPr>
          <p:cNvPr id="6" name="Picture 5">
            <a:extLst>
              <a:ext uri="{FF2B5EF4-FFF2-40B4-BE49-F238E27FC236}">
                <a16:creationId xmlns:a16="http://schemas.microsoft.com/office/drawing/2014/main" id="{D24D227F-BBB1-7524-AFD8-E5159DBF577D}"/>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409442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FOREIGN KEY</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2837336"/>
          </a:xfrm>
        </p:spPr>
        <p:txBody>
          <a:bodyPr>
            <a:normAutofit lnSpcReduction="10000"/>
          </a:bodyPr>
          <a:lstStyle/>
          <a:p>
            <a:r>
              <a:rPr lang="en-US" b="1" dirty="0"/>
              <a:t>Foreign Key</a:t>
            </a:r>
            <a:r>
              <a:rPr lang="en-US" dirty="0"/>
              <a:t>: Any Column in a table referencing the primary key of another table.</a:t>
            </a:r>
          </a:p>
          <a:p>
            <a:pPr lvl="1"/>
            <a:r>
              <a:rPr lang="en-US" dirty="0"/>
              <a:t>Establishes relationships between two columns in the same table, or between different tables.</a:t>
            </a:r>
          </a:p>
          <a:p>
            <a:pPr lvl="1"/>
            <a:r>
              <a:rPr lang="en-US" dirty="0"/>
              <a:t>*</a:t>
            </a:r>
            <a:r>
              <a:rPr lang="en-US" b="1" dirty="0"/>
              <a:t>Orphaned records </a:t>
            </a:r>
            <a:r>
              <a:rPr lang="en-US" dirty="0"/>
              <a:t>are those with a foreign key constraint that do not have a related record in a parent table</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5" name="Google Shape;219;p16">
            <a:extLst>
              <a:ext uri="{FF2B5EF4-FFF2-40B4-BE49-F238E27FC236}">
                <a16:creationId xmlns:a16="http://schemas.microsoft.com/office/drawing/2014/main" id="{6BBA4364-8E37-4DA4-B902-BCFD2E6E9692}"/>
              </a:ext>
            </a:extLst>
          </p:cNvPr>
          <p:cNvSpPr txBox="1">
            <a:spLocks/>
          </p:cNvSpPr>
          <p:nvPr/>
        </p:nvSpPr>
        <p:spPr>
          <a:xfrm>
            <a:off x="269790" y="4318782"/>
            <a:ext cx="8604419" cy="2410055"/>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Font typeface="Arial"/>
              <a:buNone/>
            </a:pPr>
            <a:r>
              <a:rPr lang="en-US" sz="1600" dirty="0">
                <a:latin typeface="Courier New" panose="02070309020205020404" pitchFamily="49" charset="0"/>
                <a:cs typeface="Courier New" panose="02070309020205020404" pitchFamily="49" charset="0"/>
              </a:rPr>
              <a:t>CREATE TABLE table_a (</a:t>
            </a:r>
          </a:p>
          <a:p>
            <a:pPr marL="182880" lvl="1" indent="0" defTabSz="457200">
              <a:lnSpc>
                <a:spcPct val="90000"/>
              </a:lnSpc>
              <a:buFont typeface="Arial"/>
              <a:buNone/>
            </a:pPr>
            <a:r>
              <a:rPr lang="en-US" sz="1600" dirty="0">
                <a:latin typeface="Courier New" panose="02070309020205020404" pitchFamily="49" charset="0"/>
                <a:cs typeface="Courier New" panose="02070309020205020404" pitchFamily="49" charset="0"/>
              </a:rPr>
              <a:t>	a_id INTEGER PRIMARY KEY,</a:t>
            </a:r>
          </a:p>
          <a:p>
            <a:pPr marL="182880" lvl="1" indent="0" defTabSz="457200">
              <a:lnSpc>
                <a:spcPct val="90000"/>
              </a:lnSpc>
              <a:buFont typeface="Arial"/>
              <a:buNone/>
            </a:pPr>
            <a:r>
              <a:rPr lang="en-US" sz="16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endParaRPr lang="en-US" sz="1600" dirty="0">
              <a:latin typeface="Courier New" panose="02070309020205020404" pitchFamily="49" charset="0"/>
              <a:cs typeface="Courier New" panose="02070309020205020404" pitchFamily="49" charset="0"/>
            </a:endParaRPr>
          </a:p>
          <a:p>
            <a:pPr marL="182880" lvl="1" indent="0" defTabSz="457200">
              <a:lnSpc>
                <a:spcPct val="90000"/>
              </a:lnSpc>
              <a:buFont typeface="Arial"/>
              <a:buNone/>
            </a:pPr>
            <a:r>
              <a:rPr lang="en-US" sz="1600" dirty="0">
                <a:latin typeface="Courier New" panose="02070309020205020404" pitchFamily="49" charset="0"/>
                <a:cs typeface="Courier New" panose="02070309020205020404" pitchFamily="49" charset="0"/>
              </a:rPr>
              <a:t>CREATE TABLE table_b (</a:t>
            </a:r>
          </a:p>
          <a:p>
            <a:pPr marL="182880" lvl="1" indent="0" defTabSz="457200">
              <a:lnSpc>
                <a:spcPct val="90000"/>
              </a:lnSpc>
              <a:buNone/>
            </a:pPr>
            <a:r>
              <a:rPr lang="en-US" sz="1600" dirty="0">
                <a:latin typeface="Courier New" panose="02070309020205020404" pitchFamily="49" charset="0"/>
                <a:cs typeface="Courier New" panose="02070309020205020404" pitchFamily="49" charset="0"/>
              </a:rPr>
              <a:t>	b_id INTEGER PRIMARY KEY,</a:t>
            </a:r>
          </a:p>
          <a:p>
            <a:pPr marL="182880" lvl="1" indent="0" defTabSz="457200">
              <a:lnSpc>
                <a:spcPct val="90000"/>
              </a:lnSpc>
              <a:buNone/>
            </a:pPr>
            <a:r>
              <a:rPr lang="en-US" sz="1600" dirty="0">
                <a:latin typeface="Courier New" panose="02070309020205020404" pitchFamily="49" charset="0"/>
                <a:cs typeface="Courier New" panose="02070309020205020404" pitchFamily="49" charset="0"/>
              </a:rPr>
              <a:t>	table_a_reference INTEGER </a:t>
            </a:r>
            <a:r>
              <a:rPr lang="en-US" sz="1600" b="1" dirty="0">
                <a:solidFill>
                  <a:schemeClr val="accent6">
                    <a:lumMod val="75000"/>
                  </a:schemeClr>
                </a:solidFill>
                <a:latin typeface="Courier New" panose="02070309020205020404" pitchFamily="49" charset="0"/>
                <a:cs typeface="Courier New" panose="02070309020205020404" pitchFamily="49" charset="0"/>
              </a:rPr>
              <a:t>REFERENCES table_a(a_id)</a:t>
            </a:r>
          </a:p>
          <a:p>
            <a:pPr marL="182880" lvl="1" indent="0" defTabSz="457200">
              <a:lnSpc>
                <a:spcPct val="90000"/>
              </a:lnSpc>
              <a:buFont typeface="Arial"/>
              <a:buNone/>
            </a:pPr>
            <a:r>
              <a:rPr lang="en-US" sz="16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595268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bg/>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uiExpand="1"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Orphaned Records</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graphicFrame>
        <p:nvGraphicFramePr>
          <p:cNvPr id="7" name="Table 7">
            <a:extLst>
              <a:ext uri="{FF2B5EF4-FFF2-40B4-BE49-F238E27FC236}">
                <a16:creationId xmlns:a16="http://schemas.microsoft.com/office/drawing/2014/main" id="{5A352F8F-F563-4E8B-B408-E249E82218E8}"/>
              </a:ext>
            </a:extLst>
          </p:cNvPr>
          <p:cNvGraphicFramePr>
            <a:graphicFrameLocks noGrp="1"/>
          </p:cNvGraphicFramePr>
          <p:nvPr/>
        </p:nvGraphicFramePr>
        <p:xfrm>
          <a:off x="159572" y="1856741"/>
          <a:ext cx="4679852" cy="1483360"/>
        </p:xfrm>
        <a:graphic>
          <a:graphicData uri="http://schemas.openxmlformats.org/drawingml/2006/table">
            <a:tbl>
              <a:tblPr firstRow="1" bandRow="1">
                <a:tableStyleId>{5C22544A-7EE6-4342-B048-85BDC9FD1C3A}</a:tableStyleId>
              </a:tblPr>
              <a:tblGrid>
                <a:gridCol w="2339926">
                  <a:extLst>
                    <a:ext uri="{9D8B030D-6E8A-4147-A177-3AD203B41FA5}">
                      <a16:colId xmlns:a16="http://schemas.microsoft.com/office/drawing/2014/main" val="4137861329"/>
                    </a:ext>
                  </a:extLst>
                </a:gridCol>
                <a:gridCol w="2339926">
                  <a:extLst>
                    <a:ext uri="{9D8B030D-6E8A-4147-A177-3AD203B41FA5}">
                      <a16:colId xmlns:a16="http://schemas.microsoft.com/office/drawing/2014/main" val="3623652933"/>
                    </a:ext>
                  </a:extLst>
                </a:gridCol>
              </a:tblGrid>
              <a:tr h="370840">
                <a:tc>
                  <a:txBody>
                    <a:bodyPr/>
                    <a:lstStyle/>
                    <a:p>
                      <a:pPr algn="ctr"/>
                      <a:r>
                        <a:rPr lang="en-US" sz="1800" dirty="0">
                          <a:latin typeface="Courier New" panose="02070309020205020404" pitchFamily="49" charset="0"/>
                          <a:cs typeface="Courier New" panose="02070309020205020404" pitchFamily="49" charset="0"/>
                        </a:rPr>
                        <a:t>User_Id (PK)</a:t>
                      </a:r>
                    </a:p>
                  </a:txBody>
                  <a:tcPr/>
                </a:tc>
                <a:tc>
                  <a:txBody>
                    <a:bodyPr/>
                    <a:lstStyle/>
                    <a:p>
                      <a:pPr algn="ctr"/>
                      <a:r>
                        <a:rPr lang="en-US" sz="1800" dirty="0" err="1">
                          <a:latin typeface="Courier New" panose="02070309020205020404" pitchFamily="49" charset="0"/>
                          <a:cs typeface="Courier New" panose="02070309020205020404" pitchFamily="49" charset="0"/>
                        </a:rPr>
                        <a:t>User_Name</a:t>
                      </a:r>
                      <a:endParaRPr lang="en-US" sz="180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552537977"/>
                  </a:ext>
                </a:extLst>
              </a:tr>
              <a:tr h="370840">
                <a:tc>
                  <a:txBody>
                    <a:bodyPr/>
                    <a:lstStyle/>
                    <a:p>
                      <a:pPr algn="ctr"/>
                      <a:r>
                        <a:rPr lang="en-US" sz="1800" dirty="0">
                          <a:latin typeface="Courier New" panose="02070309020205020404" pitchFamily="49" charset="0"/>
                          <a:cs typeface="Courier New" panose="02070309020205020404" pitchFamily="49" charset="0"/>
                        </a:rPr>
                        <a:t>1001</a:t>
                      </a:r>
                    </a:p>
                  </a:txBody>
                  <a:tcPr/>
                </a:tc>
                <a:tc>
                  <a:txBody>
                    <a:bodyPr/>
                    <a:lstStyle/>
                    <a:p>
                      <a:pPr algn="ctr"/>
                      <a:r>
                        <a:rPr lang="en-US" sz="1800" dirty="0">
                          <a:latin typeface="Courier New" panose="02070309020205020404" pitchFamily="49" charset="0"/>
                          <a:cs typeface="Courier New" panose="02070309020205020404" pitchFamily="49" charset="0"/>
                        </a:rPr>
                        <a:t>John Smith</a:t>
                      </a:r>
                    </a:p>
                  </a:txBody>
                  <a:tcPr/>
                </a:tc>
                <a:extLst>
                  <a:ext uri="{0D108BD9-81ED-4DB2-BD59-A6C34878D82A}">
                    <a16:rowId xmlns:a16="http://schemas.microsoft.com/office/drawing/2014/main" val="2347748658"/>
                  </a:ext>
                </a:extLst>
              </a:tr>
              <a:tr h="370840">
                <a:tc>
                  <a:txBody>
                    <a:bodyPr/>
                    <a:lstStyle/>
                    <a:p>
                      <a:pPr algn="ctr"/>
                      <a:r>
                        <a:rPr lang="en-US" sz="1800" dirty="0">
                          <a:latin typeface="Courier New" panose="02070309020205020404" pitchFamily="49" charset="0"/>
                          <a:cs typeface="Courier New" panose="02070309020205020404" pitchFamily="49" charset="0"/>
                        </a:rPr>
                        <a:t>1002</a:t>
                      </a:r>
                    </a:p>
                  </a:txBody>
                  <a:tcPr/>
                </a:tc>
                <a:tc>
                  <a:txBody>
                    <a:bodyPr/>
                    <a:lstStyle/>
                    <a:p>
                      <a:pPr algn="ctr"/>
                      <a:r>
                        <a:rPr lang="en-US" sz="1800" dirty="0">
                          <a:latin typeface="Courier New" panose="02070309020205020404" pitchFamily="49" charset="0"/>
                          <a:cs typeface="Courier New" panose="02070309020205020404" pitchFamily="49" charset="0"/>
                        </a:rPr>
                        <a:t>Sally Hill</a:t>
                      </a:r>
                    </a:p>
                  </a:txBody>
                  <a:tcPr/>
                </a:tc>
                <a:extLst>
                  <a:ext uri="{0D108BD9-81ED-4DB2-BD59-A6C34878D82A}">
                    <a16:rowId xmlns:a16="http://schemas.microsoft.com/office/drawing/2014/main" val="2747620939"/>
                  </a:ext>
                </a:extLst>
              </a:tr>
              <a:tr h="370840">
                <a:tc>
                  <a:txBody>
                    <a:bodyPr/>
                    <a:lstStyle/>
                    <a:p>
                      <a:pPr algn="ctr"/>
                      <a:r>
                        <a:rPr lang="en-US" sz="1800" dirty="0">
                          <a:latin typeface="Courier New" panose="02070309020205020404" pitchFamily="49" charset="0"/>
                          <a:cs typeface="Courier New" panose="02070309020205020404" pitchFamily="49" charset="0"/>
                        </a:rPr>
                        <a:t>1003</a:t>
                      </a:r>
                    </a:p>
                  </a:txBody>
                  <a:tcPr/>
                </a:tc>
                <a:tc>
                  <a:txBody>
                    <a:bodyPr/>
                    <a:lstStyle/>
                    <a:p>
                      <a:pPr algn="ctr"/>
                      <a:r>
                        <a:rPr lang="en-US" sz="1800" dirty="0">
                          <a:latin typeface="Courier New" panose="02070309020205020404" pitchFamily="49" charset="0"/>
                          <a:cs typeface="Courier New" panose="02070309020205020404" pitchFamily="49" charset="0"/>
                        </a:rPr>
                        <a:t>Hank Jacobs</a:t>
                      </a:r>
                    </a:p>
                  </a:txBody>
                  <a:tcPr/>
                </a:tc>
                <a:extLst>
                  <a:ext uri="{0D108BD9-81ED-4DB2-BD59-A6C34878D82A}">
                    <a16:rowId xmlns:a16="http://schemas.microsoft.com/office/drawing/2014/main" val="2947918921"/>
                  </a:ext>
                </a:extLst>
              </a:tr>
            </a:tbl>
          </a:graphicData>
        </a:graphic>
      </p:graphicFrame>
      <p:graphicFrame>
        <p:nvGraphicFramePr>
          <p:cNvPr id="8" name="Table 7">
            <a:extLst>
              <a:ext uri="{FF2B5EF4-FFF2-40B4-BE49-F238E27FC236}">
                <a16:creationId xmlns:a16="http://schemas.microsoft.com/office/drawing/2014/main" id="{0762C22D-6CA2-442C-A360-146FAEEB3276}"/>
              </a:ext>
            </a:extLst>
          </p:cNvPr>
          <p:cNvGraphicFramePr>
            <a:graphicFrameLocks noGrp="1"/>
          </p:cNvGraphicFramePr>
          <p:nvPr>
            <p:extLst>
              <p:ext uri="{D42A27DB-BD31-4B8C-83A1-F6EECF244321}">
                <p14:modId xmlns:p14="http://schemas.microsoft.com/office/powerpoint/2010/main" val="2147192398"/>
              </p:ext>
            </p:extLst>
          </p:nvPr>
        </p:nvGraphicFramePr>
        <p:xfrm>
          <a:off x="3828616" y="3884003"/>
          <a:ext cx="5155812" cy="2384865"/>
        </p:xfrm>
        <a:graphic>
          <a:graphicData uri="http://schemas.openxmlformats.org/drawingml/2006/table">
            <a:tbl>
              <a:tblPr firstRow="1" bandRow="1">
                <a:tableStyleId>{5C22544A-7EE6-4342-B048-85BDC9FD1C3A}</a:tableStyleId>
              </a:tblPr>
              <a:tblGrid>
                <a:gridCol w="1718604">
                  <a:extLst>
                    <a:ext uri="{9D8B030D-6E8A-4147-A177-3AD203B41FA5}">
                      <a16:colId xmlns:a16="http://schemas.microsoft.com/office/drawing/2014/main" val="4137861329"/>
                    </a:ext>
                  </a:extLst>
                </a:gridCol>
                <a:gridCol w="1827801">
                  <a:extLst>
                    <a:ext uri="{9D8B030D-6E8A-4147-A177-3AD203B41FA5}">
                      <a16:colId xmlns:a16="http://schemas.microsoft.com/office/drawing/2014/main" val="3623652933"/>
                    </a:ext>
                  </a:extLst>
                </a:gridCol>
                <a:gridCol w="1609407">
                  <a:extLst>
                    <a:ext uri="{9D8B030D-6E8A-4147-A177-3AD203B41FA5}">
                      <a16:colId xmlns:a16="http://schemas.microsoft.com/office/drawing/2014/main" val="620943936"/>
                    </a:ext>
                  </a:extLst>
                </a:gridCol>
              </a:tblGrid>
              <a:tr h="340695">
                <a:tc>
                  <a:txBody>
                    <a:bodyPr/>
                    <a:lstStyle/>
                    <a:p>
                      <a:pPr algn="ctr"/>
                      <a:r>
                        <a:rPr lang="en-US" sz="1600" dirty="0">
                          <a:latin typeface="Courier New" panose="02070309020205020404" pitchFamily="49" charset="0"/>
                          <a:cs typeface="Courier New" panose="02070309020205020404" pitchFamily="49" charset="0"/>
                        </a:rPr>
                        <a:t>User_Id (FK)</a:t>
                      </a:r>
                    </a:p>
                  </a:txBody>
                  <a:tcPr/>
                </a:tc>
                <a:tc>
                  <a:txBody>
                    <a:bodyPr/>
                    <a:lstStyle/>
                    <a:p>
                      <a:pPr algn="ctr"/>
                      <a:r>
                        <a:rPr lang="en-US" sz="1600" dirty="0" err="1">
                          <a:latin typeface="Courier New" panose="02070309020205020404" pitchFamily="49" charset="0"/>
                          <a:cs typeface="Courier New" panose="02070309020205020404" pitchFamily="49" charset="0"/>
                        </a:rPr>
                        <a:t>Order_Id</a:t>
                      </a:r>
                      <a:r>
                        <a:rPr lang="en-US" sz="1600" dirty="0">
                          <a:latin typeface="Courier New" panose="02070309020205020404" pitchFamily="49" charset="0"/>
                          <a:cs typeface="Courier New" panose="02070309020205020404" pitchFamily="49" charset="0"/>
                        </a:rPr>
                        <a:t> (PK)</a:t>
                      </a:r>
                    </a:p>
                  </a:txBody>
                  <a:tcPr/>
                </a:tc>
                <a:tc>
                  <a:txBody>
                    <a:bodyPr/>
                    <a:lstStyle/>
                    <a:p>
                      <a:pPr algn="ctr"/>
                      <a:r>
                        <a:rPr lang="en-US" sz="1600" dirty="0" err="1">
                          <a:latin typeface="Courier New" panose="02070309020205020404" pitchFamily="49" charset="0"/>
                          <a:cs typeface="Courier New" panose="02070309020205020404" pitchFamily="49" charset="0"/>
                        </a:rPr>
                        <a:t>Order_Total</a:t>
                      </a:r>
                      <a:endParaRPr lang="en-US" sz="160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552537977"/>
                  </a:ext>
                </a:extLst>
              </a:tr>
              <a:tr h="340695">
                <a:tc>
                  <a:txBody>
                    <a:bodyPr/>
                    <a:lstStyle/>
                    <a:p>
                      <a:pPr algn="ctr"/>
                      <a:r>
                        <a:rPr lang="en-US" sz="1600" dirty="0">
                          <a:latin typeface="Courier New" panose="02070309020205020404" pitchFamily="49" charset="0"/>
                          <a:cs typeface="Courier New" panose="02070309020205020404" pitchFamily="49" charset="0"/>
                        </a:rPr>
                        <a:t>1001</a:t>
                      </a:r>
                    </a:p>
                  </a:txBody>
                  <a:tcPr/>
                </a:tc>
                <a:tc>
                  <a:txBody>
                    <a:bodyPr/>
                    <a:lstStyle/>
                    <a:p>
                      <a:pPr algn="ctr"/>
                      <a:r>
                        <a:rPr lang="en-US" sz="1600" dirty="0">
                          <a:latin typeface="Courier New" panose="02070309020205020404" pitchFamily="49" charset="0"/>
                          <a:cs typeface="Courier New" panose="02070309020205020404" pitchFamily="49" charset="0"/>
                        </a:rPr>
                        <a:t>2201</a:t>
                      </a:r>
                    </a:p>
                  </a:txBody>
                  <a:tcPr/>
                </a:tc>
                <a:tc>
                  <a:txBody>
                    <a:bodyPr/>
                    <a:lstStyle/>
                    <a:p>
                      <a:pPr algn="ctr"/>
                      <a:r>
                        <a:rPr lang="en-US" sz="1600" dirty="0">
                          <a:latin typeface="Courier New" panose="02070309020205020404" pitchFamily="49" charset="0"/>
                          <a:cs typeface="Courier New" panose="02070309020205020404" pitchFamily="49" charset="0"/>
                        </a:rPr>
                        <a:t>99.17</a:t>
                      </a:r>
                    </a:p>
                  </a:txBody>
                  <a:tcPr/>
                </a:tc>
                <a:extLst>
                  <a:ext uri="{0D108BD9-81ED-4DB2-BD59-A6C34878D82A}">
                    <a16:rowId xmlns:a16="http://schemas.microsoft.com/office/drawing/2014/main" val="2347748658"/>
                  </a:ext>
                </a:extLst>
              </a:tr>
              <a:tr h="340695">
                <a:tc>
                  <a:txBody>
                    <a:bodyPr/>
                    <a:lstStyle/>
                    <a:p>
                      <a:pPr algn="ctr"/>
                      <a:r>
                        <a:rPr lang="en-US" sz="1600" dirty="0">
                          <a:latin typeface="Courier New" panose="02070309020205020404" pitchFamily="49" charset="0"/>
                          <a:cs typeface="Courier New" panose="02070309020205020404" pitchFamily="49" charset="0"/>
                        </a:rPr>
                        <a:t>1001</a:t>
                      </a:r>
                    </a:p>
                  </a:txBody>
                  <a:tcPr/>
                </a:tc>
                <a:tc>
                  <a:txBody>
                    <a:bodyPr/>
                    <a:lstStyle/>
                    <a:p>
                      <a:pPr algn="ctr"/>
                      <a:r>
                        <a:rPr lang="en-US" sz="1600" dirty="0">
                          <a:latin typeface="Courier New" panose="02070309020205020404" pitchFamily="49" charset="0"/>
                          <a:cs typeface="Courier New" panose="02070309020205020404" pitchFamily="49" charset="0"/>
                        </a:rPr>
                        <a:t>2202</a:t>
                      </a:r>
                    </a:p>
                  </a:txBody>
                  <a:tcPr/>
                </a:tc>
                <a:tc>
                  <a:txBody>
                    <a:bodyPr/>
                    <a:lstStyle/>
                    <a:p>
                      <a:pPr algn="ctr"/>
                      <a:r>
                        <a:rPr lang="en-US" sz="1600" dirty="0">
                          <a:latin typeface="Courier New" panose="02070309020205020404" pitchFamily="49" charset="0"/>
                          <a:cs typeface="Courier New" panose="02070309020205020404" pitchFamily="49" charset="0"/>
                        </a:rPr>
                        <a:t>112.25</a:t>
                      </a:r>
                    </a:p>
                  </a:txBody>
                  <a:tcPr/>
                </a:tc>
                <a:extLst>
                  <a:ext uri="{0D108BD9-81ED-4DB2-BD59-A6C34878D82A}">
                    <a16:rowId xmlns:a16="http://schemas.microsoft.com/office/drawing/2014/main" val="2885425131"/>
                  </a:ext>
                </a:extLst>
              </a:tr>
              <a:tr h="340695">
                <a:tc>
                  <a:txBody>
                    <a:bodyPr/>
                    <a:lstStyle/>
                    <a:p>
                      <a:pPr algn="ctr"/>
                      <a:r>
                        <a:rPr lang="en-US" sz="1600" dirty="0">
                          <a:latin typeface="Courier New" panose="02070309020205020404" pitchFamily="49" charset="0"/>
                          <a:cs typeface="Courier New" panose="02070309020205020404" pitchFamily="49" charset="0"/>
                        </a:rPr>
                        <a:t>1002</a:t>
                      </a:r>
                    </a:p>
                  </a:txBody>
                  <a:tcPr/>
                </a:tc>
                <a:tc>
                  <a:txBody>
                    <a:bodyPr/>
                    <a:lstStyle/>
                    <a:p>
                      <a:pPr algn="ctr"/>
                      <a:r>
                        <a:rPr lang="en-US" sz="1600" dirty="0">
                          <a:latin typeface="Courier New" panose="02070309020205020404" pitchFamily="49" charset="0"/>
                          <a:cs typeface="Courier New" panose="02070309020205020404" pitchFamily="49" charset="0"/>
                        </a:rPr>
                        <a:t>2203</a:t>
                      </a:r>
                    </a:p>
                  </a:txBody>
                  <a:tcPr/>
                </a:tc>
                <a:tc>
                  <a:txBody>
                    <a:bodyPr/>
                    <a:lstStyle/>
                    <a:p>
                      <a:pPr algn="ctr"/>
                      <a:r>
                        <a:rPr lang="en-US" sz="1600" dirty="0">
                          <a:latin typeface="Courier New" panose="02070309020205020404" pitchFamily="49" charset="0"/>
                          <a:cs typeface="Courier New" panose="02070309020205020404" pitchFamily="49" charset="0"/>
                        </a:rPr>
                        <a:t>19.74</a:t>
                      </a:r>
                    </a:p>
                  </a:txBody>
                  <a:tcPr/>
                </a:tc>
                <a:extLst>
                  <a:ext uri="{0D108BD9-81ED-4DB2-BD59-A6C34878D82A}">
                    <a16:rowId xmlns:a16="http://schemas.microsoft.com/office/drawing/2014/main" val="3243382153"/>
                  </a:ext>
                </a:extLst>
              </a:tr>
              <a:tr h="340695">
                <a:tc>
                  <a:txBody>
                    <a:bodyPr/>
                    <a:lstStyle/>
                    <a:p>
                      <a:pPr algn="ctr"/>
                      <a:r>
                        <a:rPr lang="en-US" sz="1600" dirty="0">
                          <a:latin typeface="Courier New" panose="02070309020205020404" pitchFamily="49" charset="0"/>
                          <a:cs typeface="Courier New" panose="02070309020205020404" pitchFamily="49" charset="0"/>
                        </a:rPr>
                        <a:t>1003</a:t>
                      </a:r>
                    </a:p>
                  </a:txBody>
                  <a:tcPr/>
                </a:tc>
                <a:tc>
                  <a:txBody>
                    <a:bodyPr/>
                    <a:lstStyle/>
                    <a:p>
                      <a:pPr algn="ctr"/>
                      <a:r>
                        <a:rPr lang="en-US" sz="1600" dirty="0">
                          <a:latin typeface="Courier New" panose="02070309020205020404" pitchFamily="49" charset="0"/>
                          <a:cs typeface="Courier New" panose="02070309020205020404" pitchFamily="49" charset="0"/>
                        </a:rPr>
                        <a:t>2204</a:t>
                      </a:r>
                    </a:p>
                  </a:txBody>
                  <a:tcPr/>
                </a:tc>
                <a:tc>
                  <a:txBody>
                    <a:bodyPr/>
                    <a:lstStyle/>
                    <a:p>
                      <a:pPr algn="ctr"/>
                      <a:r>
                        <a:rPr lang="en-US" sz="1600" dirty="0">
                          <a:latin typeface="Courier New" panose="02070309020205020404" pitchFamily="49" charset="0"/>
                          <a:cs typeface="Courier New" panose="02070309020205020404" pitchFamily="49" charset="0"/>
                        </a:rPr>
                        <a:t>101.59</a:t>
                      </a:r>
                    </a:p>
                  </a:txBody>
                  <a:tcPr/>
                </a:tc>
                <a:extLst>
                  <a:ext uri="{0D108BD9-81ED-4DB2-BD59-A6C34878D82A}">
                    <a16:rowId xmlns:a16="http://schemas.microsoft.com/office/drawing/2014/main" val="213406176"/>
                  </a:ext>
                </a:extLst>
              </a:tr>
              <a:tr h="340695">
                <a:tc>
                  <a:txBody>
                    <a:bodyPr/>
                    <a:lstStyle/>
                    <a:p>
                      <a:pPr algn="ctr"/>
                      <a:r>
                        <a:rPr lang="en-US" sz="1600" dirty="0">
                          <a:latin typeface="Courier New" panose="02070309020205020404" pitchFamily="49" charset="0"/>
                          <a:cs typeface="Courier New" panose="02070309020205020404" pitchFamily="49" charset="0"/>
                        </a:rPr>
                        <a:t>1002</a:t>
                      </a:r>
                    </a:p>
                  </a:txBody>
                  <a:tcPr/>
                </a:tc>
                <a:tc>
                  <a:txBody>
                    <a:bodyPr/>
                    <a:lstStyle/>
                    <a:p>
                      <a:pPr algn="ctr"/>
                      <a:r>
                        <a:rPr lang="en-US" sz="1600" dirty="0">
                          <a:latin typeface="Courier New" panose="02070309020205020404" pitchFamily="49" charset="0"/>
                          <a:cs typeface="Courier New" panose="02070309020205020404" pitchFamily="49" charset="0"/>
                        </a:rPr>
                        <a:t>2205</a:t>
                      </a:r>
                    </a:p>
                  </a:txBody>
                  <a:tcPr/>
                </a:tc>
                <a:tc>
                  <a:txBody>
                    <a:bodyPr/>
                    <a:lstStyle/>
                    <a:p>
                      <a:pPr algn="ctr"/>
                      <a:r>
                        <a:rPr lang="en-US" sz="1600" dirty="0">
                          <a:latin typeface="Courier New" panose="02070309020205020404" pitchFamily="49" charset="0"/>
                          <a:cs typeface="Courier New" panose="02070309020205020404" pitchFamily="49" charset="0"/>
                        </a:rPr>
                        <a:t>55.42</a:t>
                      </a:r>
                    </a:p>
                  </a:txBody>
                  <a:tcPr/>
                </a:tc>
                <a:extLst>
                  <a:ext uri="{0D108BD9-81ED-4DB2-BD59-A6C34878D82A}">
                    <a16:rowId xmlns:a16="http://schemas.microsoft.com/office/drawing/2014/main" val="3561326908"/>
                  </a:ext>
                </a:extLst>
              </a:tr>
              <a:tr h="340695">
                <a:tc>
                  <a:txBody>
                    <a:bodyPr/>
                    <a:lstStyle/>
                    <a:p>
                      <a:pPr algn="ctr"/>
                      <a:r>
                        <a:rPr lang="en-US" sz="1600" dirty="0">
                          <a:latin typeface="Courier New" panose="02070309020205020404" pitchFamily="49" charset="0"/>
                          <a:cs typeface="Courier New" panose="02070309020205020404" pitchFamily="49" charset="0"/>
                        </a:rPr>
                        <a:t>1003</a:t>
                      </a:r>
                    </a:p>
                  </a:txBody>
                  <a:tcPr/>
                </a:tc>
                <a:tc>
                  <a:txBody>
                    <a:bodyPr/>
                    <a:lstStyle/>
                    <a:p>
                      <a:pPr algn="ctr"/>
                      <a:r>
                        <a:rPr lang="en-US" sz="1600" dirty="0">
                          <a:latin typeface="Courier New" panose="02070309020205020404" pitchFamily="49" charset="0"/>
                          <a:cs typeface="Courier New" panose="02070309020205020404" pitchFamily="49" charset="0"/>
                        </a:rPr>
                        <a:t>2206</a:t>
                      </a:r>
                    </a:p>
                  </a:txBody>
                  <a:tcPr/>
                </a:tc>
                <a:tc>
                  <a:txBody>
                    <a:bodyPr/>
                    <a:lstStyle/>
                    <a:p>
                      <a:pPr algn="ctr"/>
                      <a:r>
                        <a:rPr lang="en-US" sz="1600" dirty="0">
                          <a:latin typeface="Courier New" panose="02070309020205020404" pitchFamily="49" charset="0"/>
                          <a:cs typeface="Courier New" panose="02070309020205020404" pitchFamily="49" charset="0"/>
                        </a:rPr>
                        <a:t>27.93</a:t>
                      </a:r>
                    </a:p>
                  </a:txBody>
                  <a:tcPr/>
                </a:tc>
                <a:extLst>
                  <a:ext uri="{0D108BD9-81ED-4DB2-BD59-A6C34878D82A}">
                    <a16:rowId xmlns:a16="http://schemas.microsoft.com/office/drawing/2014/main" val="2007567373"/>
                  </a:ext>
                </a:extLst>
              </a:tr>
            </a:tbl>
          </a:graphicData>
        </a:graphic>
      </p:graphicFrame>
      <p:sp>
        <p:nvSpPr>
          <p:cNvPr id="11" name="Text Placeholder 2">
            <a:extLst>
              <a:ext uri="{FF2B5EF4-FFF2-40B4-BE49-F238E27FC236}">
                <a16:creationId xmlns:a16="http://schemas.microsoft.com/office/drawing/2014/main" id="{8EDE791E-F170-4C6E-934B-7B3828EE3E6B}"/>
              </a:ext>
            </a:extLst>
          </p:cNvPr>
          <p:cNvSpPr txBox="1">
            <a:spLocks/>
          </p:cNvSpPr>
          <p:nvPr/>
        </p:nvSpPr>
        <p:spPr>
          <a:xfrm>
            <a:off x="380010" y="1219200"/>
            <a:ext cx="2602341" cy="63754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50800" indent="0">
              <a:buNone/>
            </a:pPr>
            <a:r>
              <a:rPr lang="en-US" dirty="0"/>
              <a:t>Primary Table</a:t>
            </a:r>
          </a:p>
        </p:txBody>
      </p:sp>
      <p:sp>
        <p:nvSpPr>
          <p:cNvPr id="14" name="Text Placeholder 2">
            <a:extLst>
              <a:ext uri="{FF2B5EF4-FFF2-40B4-BE49-F238E27FC236}">
                <a16:creationId xmlns:a16="http://schemas.microsoft.com/office/drawing/2014/main" id="{A8568A64-F63A-4BE6-8FA2-4B554E1F93F5}"/>
              </a:ext>
            </a:extLst>
          </p:cNvPr>
          <p:cNvSpPr txBox="1">
            <a:spLocks/>
          </p:cNvSpPr>
          <p:nvPr/>
        </p:nvSpPr>
        <p:spPr>
          <a:xfrm>
            <a:off x="6382087" y="3246462"/>
            <a:ext cx="2602341" cy="63754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50800" indent="0">
              <a:buNone/>
            </a:pPr>
            <a:r>
              <a:rPr lang="en-US" dirty="0"/>
              <a:t>Related Table</a:t>
            </a:r>
          </a:p>
        </p:txBody>
      </p:sp>
      <p:sp>
        <p:nvSpPr>
          <p:cNvPr id="15" name="Rectangle: Rounded Corners 14">
            <a:extLst>
              <a:ext uri="{FF2B5EF4-FFF2-40B4-BE49-F238E27FC236}">
                <a16:creationId xmlns:a16="http://schemas.microsoft.com/office/drawing/2014/main" id="{594E406E-7F32-4E82-A43A-510C83447C8D}"/>
              </a:ext>
            </a:extLst>
          </p:cNvPr>
          <p:cNvSpPr/>
          <p:nvPr/>
        </p:nvSpPr>
        <p:spPr>
          <a:xfrm>
            <a:off x="4389119" y="4269645"/>
            <a:ext cx="576775" cy="239151"/>
          </a:xfrm>
          <a:prstGeom prst="roundRect">
            <a:avLst/>
          </a:prstGeom>
          <a:noFill/>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6466D386-D0A6-4FA3-BE6D-58391E8857C1}"/>
              </a:ext>
            </a:extLst>
          </p:cNvPr>
          <p:cNvCxnSpPr>
            <a:cxnSpLocks/>
            <a:stCxn id="15" idx="1"/>
          </p:cNvCxnSpPr>
          <p:nvPr/>
        </p:nvCxnSpPr>
        <p:spPr>
          <a:xfrm flipH="1" flipV="1">
            <a:off x="1681180" y="2447946"/>
            <a:ext cx="2707939" cy="194127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B8FE7188-DD23-4F23-807A-628D4217297B}"/>
              </a:ext>
            </a:extLst>
          </p:cNvPr>
          <p:cNvSpPr/>
          <p:nvPr/>
        </p:nvSpPr>
        <p:spPr>
          <a:xfrm>
            <a:off x="4389119" y="5291603"/>
            <a:ext cx="576775" cy="239151"/>
          </a:xfrm>
          <a:prstGeom prst="roundRect">
            <a:avLst/>
          </a:prstGeom>
          <a:noFill/>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85947C93-0EB7-4F6E-BCBD-C170975E46F3}"/>
              </a:ext>
            </a:extLst>
          </p:cNvPr>
          <p:cNvCxnSpPr>
            <a:cxnSpLocks/>
            <a:stCxn id="18" idx="1"/>
          </p:cNvCxnSpPr>
          <p:nvPr/>
        </p:nvCxnSpPr>
        <p:spPr>
          <a:xfrm flipH="1" flipV="1">
            <a:off x="1681180" y="3260530"/>
            <a:ext cx="2707939" cy="2150649"/>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0C78A910-B311-470D-9ADB-C63938EB02FE}"/>
              </a:ext>
            </a:extLst>
          </p:cNvPr>
          <p:cNvSpPr/>
          <p:nvPr/>
        </p:nvSpPr>
        <p:spPr>
          <a:xfrm>
            <a:off x="4389119" y="4954685"/>
            <a:ext cx="576775" cy="239151"/>
          </a:xfrm>
          <a:prstGeom prst="roundRect">
            <a:avLst/>
          </a:prstGeom>
          <a:noFill/>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1F7018F1-5E4B-42E6-8220-099FFAD5087B}"/>
              </a:ext>
            </a:extLst>
          </p:cNvPr>
          <p:cNvCxnSpPr>
            <a:cxnSpLocks/>
            <a:stCxn id="25" idx="1"/>
          </p:cNvCxnSpPr>
          <p:nvPr/>
        </p:nvCxnSpPr>
        <p:spPr>
          <a:xfrm flipH="1" flipV="1">
            <a:off x="1681180" y="2837911"/>
            <a:ext cx="2707939" cy="223635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0766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par>
                          <p:cTn id="19" fill="hold">
                            <p:stCondLst>
                              <p:cond delay="500"/>
                            </p:stCondLst>
                            <p:childTnLst>
                              <p:par>
                                <p:cTn id="20" presetID="10" presetClass="entr" presetSubtype="0" fill="hold" nodeType="after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8" grpId="0" animBg="1"/>
      <p:bldP spid="2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Orphaned Records (</a:t>
            </a:r>
            <a:r>
              <a:rPr lang="en-US" dirty="0" err="1"/>
              <a:t>cont</a:t>
            </a:r>
            <a:r>
              <a:rPr lang="en-US" dirty="0"/>
              <a:t>…)</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graphicFrame>
        <p:nvGraphicFramePr>
          <p:cNvPr id="7" name="Table 7">
            <a:extLst>
              <a:ext uri="{FF2B5EF4-FFF2-40B4-BE49-F238E27FC236}">
                <a16:creationId xmlns:a16="http://schemas.microsoft.com/office/drawing/2014/main" id="{5A352F8F-F563-4E8B-B408-E249E82218E8}"/>
              </a:ext>
            </a:extLst>
          </p:cNvPr>
          <p:cNvGraphicFramePr>
            <a:graphicFrameLocks noGrp="1"/>
          </p:cNvGraphicFramePr>
          <p:nvPr/>
        </p:nvGraphicFramePr>
        <p:xfrm>
          <a:off x="159572" y="1856741"/>
          <a:ext cx="4679852" cy="1483360"/>
        </p:xfrm>
        <a:graphic>
          <a:graphicData uri="http://schemas.openxmlformats.org/drawingml/2006/table">
            <a:tbl>
              <a:tblPr firstRow="1" bandRow="1">
                <a:tableStyleId>{5C22544A-7EE6-4342-B048-85BDC9FD1C3A}</a:tableStyleId>
              </a:tblPr>
              <a:tblGrid>
                <a:gridCol w="2339926">
                  <a:extLst>
                    <a:ext uri="{9D8B030D-6E8A-4147-A177-3AD203B41FA5}">
                      <a16:colId xmlns:a16="http://schemas.microsoft.com/office/drawing/2014/main" val="4137861329"/>
                    </a:ext>
                  </a:extLst>
                </a:gridCol>
                <a:gridCol w="2339926">
                  <a:extLst>
                    <a:ext uri="{9D8B030D-6E8A-4147-A177-3AD203B41FA5}">
                      <a16:colId xmlns:a16="http://schemas.microsoft.com/office/drawing/2014/main" val="3623652933"/>
                    </a:ext>
                  </a:extLst>
                </a:gridCol>
              </a:tblGrid>
              <a:tr h="370840">
                <a:tc>
                  <a:txBody>
                    <a:bodyPr/>
                    <a:lstStyle/>
                    <a:p>
                      <a:pPr algn="ctr"/>
                      <a:r>
                        <a:rPr lang="en-US" sz="1800" dirty="0">
                          <a:latin typeface="Courier New" panose="02070309020205020404" pitchFamily="49" charset="0"/>
                          <a:cs typeface="Courier New" panose="02070309020205020404" pitchFamily="49" charset="0"/>
                        </a:rPr>
                        <a:t>User_Id (PK)</a:t>
                      </a:r>
                    </a:p>
                  </a:txBody>
                  <a:tcPr/>
                </a:tc>
                <a:tc>
                  <a:txBody>
                    <a:bodyPr/>
                    <a:lstStyle/>
                    <a:p>
                      <a:pPr algn="ctr"/>
                      <a:r>
                        <a:rPr lang="en-US" sz="1800" dirty="0" err="1">
                          <a:latin typeface="Courier New" panose="02070309020205020404" pitchFamily="49" charset="0"/>
                          <a:cs typeface="Courier New" panose="02070309020205020404" pitchFamily="49" charset="0"/>
                        </a:rPr>
                        <a:t>User_Name</a:t>
                      </a:r>
                      <a:endParaRPr lang="en-US" sz="180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552537977"/>
                  </a:ext>
                </a:extLst>
              </a:tr>
              <a:tr h="370840">
                <a:tc>
                  <a:txBody>
                    <a:bodyPr/>
                    <a:lstStyle/>
                    <a:p>
                      <a:pPr algn="ctr"/>
                      <a:r>
                        <a:rPr lang="en-US" sz="1800" dirty="0">
                          <a:latin typeface="Courier New" panose="02070309020205020404" pitchFamily="49" charset="0"/>
                          <a:cs typeface="Courier New" panose="02070309020205020404" pitchFamily="49" charset="0"/>
                        </a:rPr>
                        <a:t>1001</a:t>
                      </a:r>
                    </a:p>
                  </a:txBody>
                  <a:tcPr/>
                </a:tc>
                <a:tc>
                  <a:txBody>
                    <a:bodyPr/>
                    <a:lstStyle/>
                    <a:p>
                      <a:pPr algn="ctr"/>
                      <a:r>
                        <a:rPr lang="en-US" sz="1800" dirty="0">
                          <a:latin typeface="Courier New" panose="02070309020205020404" pitchFamily="49" charset="0"/>
                          <a:cs typeface="Courier New" panose="02070309020205020404" pitchFamily="49" charset="0"/>
                        </a:rPr>
                        <a:t>John Smith</a:t>
                      </a:r>
                    </a:p>
                  </a:txBody>
                  <a:tcPr/>
                </a:tc>
                <a:extLst>
                  <a:ext uri="{0D108BD9-81ED-4DB2-BD59-A6C34878D82A}">
                    <a16:rowId xmlns:a16="http://schemas.microsoft.com/office/drawing/2014/main" val="2347748658"/>
                  </a:ext>
                </a:extLst>
              </a:tr>
              <a:tr h="370840">
                <a:tc>
                  <a:txBody>
                    <a:bodyPr/>
                    <a:lstStyle/>
                    <a:p>
                      <a:pPr algn="ctr"/>
                      <a:r>
                        <a:rPr lang="en-US" sz="1800" dirty="0">
                          <a:latin typeface="Courier New" panose="02070309020205020404" pitchFamily="49" charset="0"/>
                          <a:cs typeface="Courier New" panose="02070309020205020404" pitchFamily="49" charset="0"/>
                        </a:rPr>
                        <a:t>1002</a:t>
                      </a:r>
                    </a:p>
                  </a:txBody>
                  <a:tcPr/>
                </a:tc>
                <a:tc>
                  <a:txBody>
                    <a:bodyPr/>
                    <a:lstStyle/>
                    <a:p>
                      <a:pPr algn="ctr"/>
                      <a:r>
                        <a:rPr lang="en-US" sz="1800" dirty="0">
                          <a:latin typeface="Courier New" panose="02070309020205020404" pitchFamily="49" charset="0"/>
                          <a:cs typeface="Courier New" panose="02070309020205020404" pitchFamily="49" charset="0"/>
                        </a:rPr>
                        <a:t>Sally Hill</a:t>
                      </a:r>
                    </a:p>
                  </a:txBody>
                  <a:tcPr/>
                </a:tc>
                <a:extLst>
                  <a:ext uri="{0D108BD9-81ED-4DB2-BD59-A6C34878D82A}">
                    <a16:rowId xmlns:a16="http://schemas.microsoft.com/office/drawing/2014/main" val="2747620939"/>
                  </a:ext>
                </a:extLst>
              </a:tr>
              <a:tr h="370840">
                <a:tc>
                  <a:txBody>
                    <a:bodyPr/>
                    <a:lstStyle/>
                    <a:p>
                      <a:pPr algn="ctr"/>
                      <a:r>
                        <a:rPr lang="en-US" sz="1800" strike="sngStrike" dirty="0">
                          <a:latin typeface="Courier New" panose="02070309020205020404" pitchFamily="49" charset="0"/>
                          <a:cs typeface="Courier New" panose="02070309020205020404" pitchFamily="49" charset="0"/>
                        </a:rPr>
                        <a:t>1003</a:t>
                      </a:r>
                    </a:p>
                  </a:txBody>
                  <a:tcPr/>
                </a:tc>
                <a:tc>
                  <a:txBody>
                    <a:bodyPr/>
                    <a:lstStyle/>
                    <a:p>
                      <a:pPr algn="ctr"/>
                      <a:r>
                        <a:rPr lang="en-US" sz="1800" strike="sngStrike" dirty="0">
                          <a:latin typeface="Courier New" panose="02070309020205020404" pitchFamily="49" charset="0"/>
                          <a:cs typeface="Courier New" panose="02070309020205020404" pitchFamily="49" charset="0"/>
                        </a:rPr>
                        <a:t>Hank Jacobs</a:t>
                      </a:r>
                    </a:p>
                  </a:txBody>
                  <a:tcPr/>
                </a:tc>
                <a:extLst>
                  <a:ext uri="{0D108BD9-81ED-4DB2-BD59-A6C34878D82A}">
                    <a16:rowId xmlns:a16="http://schemas.microsoft.com/office/drawing/2014/main" val="2947918921"/>
                  </a:ext>
                </a:extLst>
              </a:tr>
            </a:tbl>
          </a:graphicData>
        </a:graphic>
      </p:graphicFrame>
      <p:graphicFrame>
        <p:nvGraphicFramePr>
          <p:cNvPr id="8" name="Table 7">
            <a:extLst>
              <a:ext uri="{FF2B5EF4-FFF2-40B4-BE49-F238E27FC236}">
                <a16:creationId xmlns:a16="http://schemas.microsoft.com/office/drawing/2014/main" id="{0762C22D-6CA2-442C-A360-146FAEEB3276}"/>
              </a:ext>
            </a:extLst>
          </p:cNvPr>
          <p:cNvGraphicFramePr>
            <a:graphicFrameLocks noGrp="1"/>
          </p:cNvGraphicFramePr>
          <p:nvPr>
            <p:extLst>
              <p:ext uri="{D42A27DB-BD31-4B8C-83A1-F6EECF244321}">
                <p14:modId xmlns:p14="http://schemas.microsoft.com/office/powerpoint/2010/main" val="243676474"/>
              </p:ext>
            </p:extLst>
          </p:nvPr>
        </p:nvGraphicFramePr>
        <p:xfrm>
          <a:off x="3828616" y="3884003"/>
          <a:ext cx="5155812" cy="2384865"/>
        </p:xfrm>
        <a:graphic>
          <a:graphicData uri="http://schemas.openxmlformats.org/drawingml/2006/table">
            <a:tbl>
              <a:tblPr firstRow="1" bandRow="1">
                <a:tableStyleId>{5C22544A-7EE6-4342-B048-85BDC9FD1C3A}</a:tableStyleId>
              </a:tblPr>
              <a:tblGrid>
                <a:gridCol w="1718604">
                  <a:extLst>
                    <a:ext uri="{9D8B030D-6E8A-4147-A177-3AD203B41FA5}">
                      <a16:colId xmlns:a16="http://schemas.microsoft.com/office/drawing/2014/main" val="4137861329"/>
                    </a:ext>
                  </a:extLst>
                </a:gridCol>
                <a:gridCol w="1718604">
                  <a:extLst>
                    <a:ext uri="{9D8B030D-6E8A-4147-A177-3AD203B41FA5}">
                      <a16:colId xmlns:a16="http://schemas.microsoft.com/office/drawing/2014/main" val="3623652933"/>
                    </a:ext>
                  </a:extLst>
                </a:gridCol>
                <a:gridCol w="1718604">
                  <a:extLst>
                    <a:ext uri="{9D8B030D-6E8A-4147-A177-3AD203B41FA5}">
                      <a16:colId xmlns:a16="http://schemas.microsoft.com/office/drawing/2014/main" val="620943936"/>
                    </a:ext>
                  </a:extLst>
                </a:gridCol>
              </a:tblGrid>
              <a:tr h="340695">
                <a:tc>
                  <a:txBody>
                    <a:bodyPr/>
                    <a:lstStyle/>
                    <a:p>
                      <a:pPr algn="ctr"/>
                      <a:r>
                        <a:rPr lang="en-US" sz="1600" dirty="0">
                          <a:latin typeface="Courier New" panose="02070309020205020404" pitchFamily="49" charset="0"/>
                          <a:cs typeface="Courier New" panose="02070309020205020404" pitchFamily="49" charset="0"/>
                        </a:rPr>
                        <a:t>User_Id (FK)</a:t>
                      </a:r>
                    </a:p>
                  </a:txBody>
                  <a:tcPr/>
                </a:tc>
                <a:tc>
                  <a:txBody>
                    <a:bodyPr/>
                    <a:lstStyle/>
                    <a:p>
                      <a:pPr algn="ctr"/>
                      <a:r>
                        <a:rPr lang="en-US" sz="1600" dirty="0" err="1">
                          <a:latin typeface="Courier New" panose="02070309020205020404" pitchFamily="49" charset="0"/>
                          <a:cs typeface="Courier New" panose="02070309020205020404" pitchFamily="49" charset="0"/>
                        </a:rPr>
                        <a:t>Order_Id</a:t>
                      </a:r>
                      <a:endParaRPr lang="en-US" sz="1600" dirty="0">
                        <a:latin typeface="Courier New" panose="02070309020205020404" pitchFamily="49" charset="0"/>
                        <a:cs typeface="Courier New" panose="02070309020205020404" pitchFamily="49" charset="0"/>
                      </a:endParaRPr>
                    </a:p>
                  </a:txBody>
                  <a:tcPr/>
                </a:tc>
                <a:tc>
                  <a:txBody>
                    <a:bodyPr/>
                    <a:lstStyle/>
                    <a:p>
                      <a:pPr algn="ctr"/>
                      <a:r>
                        <a:rPr lang="en-US" sz="1600" dirty="0" err="1">
                          <a:latin typeface="Courier New" panose="02070309020205020404" pitchFamily="49" charset="0"/>
                          <a:cs typeface="Courier New" panose="02070309020205020404" pitchFamily="49" charset="0"/>
                        </a:rPr>
                        <a:t>Order_Total</a:t>
                      </a:r>
                      <a:endParaRPr lang="en-US" sz="160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552537977"/>
                  </a:ext>
                </a:extLst>
              </a:tr>
              <a:tr h="340695">
                <a:tc>
                  <a:txBody>
                    <a:bodyPr/>
                    <a:lstStyle/>
                    <a:p>
                      <a:pPr algn="ctr"/>
                      <a:r>
                        <a:rPr lang="en-US" sz="1600" dirty="0">
                          <a:latin typeface="Courier New" panose="02070309020205020404" pitchFamily="49" charset="0"/>
                          <a:cs typeface="Courier New" panose="02070309020205020404" pitchFamily="49" charset="0"/>
                        </a:rPr>
                        <a:t>1001</a:t>
                      </a:r>
                    </a:p>
                  </a:txBody>
                  <a:tcPr/>
                </a:tc>
                <a:tc>
                  <a:txBody>
                    <a:bodyPr/>
                    <a:lstStyle/>
                    <a:p>
                      <a:pPr algn="ctr"/>
                      <a:r>
                        <a:rPr lang="en-US" sz="1600" dirty="0">
                          <a:latin typeface="Courier New" panose="02070309020205020404" pitchFamily="49" charset="0"/>
                          <a:cs typeface="Courier New" panose="02070309020205020404" pitchFamily="49" charset="0"/>
                        </a:rPr>
                        <a:t>2201</a:t>
                      </a:r>
                    </a:p>
                  </a:txBody>
                  <a:tcPr/>
                </a:tc>
                <a:tc>
                  <a:txBody>
                    <a:bodyPr/>
                    <a:lstStyle/>
                    <a:p>
                      <a:pPr algn="ctr"/>
                      <a:r>
                        <a:rPr lang="en-US" sz="1600" dirty="0">
                          <a:latin typeface="Courier New" panose="02070309020205020404" pitchFamily="49" charset="0"/>
                          <a:cs typeface="Courier New" panose="02070309020205020404" pitchFamily="49" charset="0"/>
                        </a:rPr>
                        <a:t>99.17</a:t>
                      </a:r>
                    </a:p>
                  </a:txBody>
                  <a:tcPr/>
                </a:tc>
                <a:extLst>
                  <a:ext uri="{0D108BD9-81ED-4DB2-BD59-A6C34878D82A}">
                    <a16:rowId xmlns:a16="http://schemas.microsoft.com/office/drawing/2014/main" val="2347748658"/>
                  </a:ext>
                </a:extLst>
              </a:tr>
              <a:tr h="340695">
                <a:tc>
                  <a:txBody>
                    <a:bodyPr/>
                    <a:lstStyle/>
                    <a:p>
                      <a:pPr algn="ctr"/>
                      <a:r>
                        <a:rPr lang="en-US" sz="1600" dirty="0">
                          <a:latin typeface="Courier New" panose="02070309020205020404" pitchFamily="49" charset="0"/>
                          <a:cs typeface="Courier New" panose="02070309020205020404" pitchFamily="49" charset="0"/>
                        </a:rPr>
                        <a:t>1001</a:t>
                      </a:r>
                    </a:p>
                  </a:txBody>
                  <a:tcPr/>
                </a:tc>
                <a:tc>
                  <a:txBody>
                    <a:bodyPr/>
                    <a:lstStyle/>
                    <a:p>
                      <a:pPr algn="ctr"/>
                      <a:r>
                        <a:rPr lang="en-US" sz="1600" dirty="0">
                          <a:latin typeface="Courier New" panose="02070309020205020404" pitchFamily="49" charset="0"/>
                          <a:cs typeface="Courier New" panose="02070309020205020404" pitchFamily="49" charset="0"/>
                        </a:rPr>
                        <a:t>2202</a:t>
                      </a:r>
                    </a:p>
                  </a:txBody>
                  <a:tcPr/>
                </a:tc>
                <a:tc>
                  <a:txBody>
                    <a:bodyPr/>
                    <a:lstStyle/>
                    <a:p>
                      <a:pPr algn="ctr"/>
                      <a:r>
                        <a:rPr lang="en-US" sz="1600" dirty="0">
                          <a:latin typeface="Courier New" panose="02070309020205020404" pitchFamily="49" charset="0"/>
                          <a:cs typeface="Courier New" panose="02070309020205020404" pitchFamily="49" charset="0"/>
                        </a:rPr>
                        <a:t>112.25</a:t>
                      </a:r>
                    </a:p>
                  </a:txBody>
                  <a:tcPr/>
                </a:tc>
                <a:extLst>
                  <a:ext uri="{0D108BD9-81ED-4DB2-BD59-A6C34878D82A}">
                    <a16:rowId xmlns:a16="http://schemas.microsoft.com/office/drawing/2014/main" val="2885425131"/>
                  </a:ext>
                </a:extLst>
              </a:tr>
              <a:tr h="340695">
                <a:tc>
                  <a:txBody>
                    <a:bodyPr/>
                    <a:lstStyle/>
                    <a:p>
                      <a:pPr algn="ctr"/>
                      <a:r>
                        <a:rPr lang="en-US" sz="1600" dirty="0">
                          <a:latin typeface="Courier New" panose="02070309020205020404" pitchFamily="49" charset="0"/>
                          <a:cs typeface="Courier New" panose="02070309020205020404" pitchFamily="49" charset="0"/>
                        </a:rPr>
                        <a:t>1002</a:t>
                      </a:r>
                    </a:p>
                  </a:txBody>
                  <a:tcPr/>
                </a:tc>
                <a:tc>
                  <a:txBody>
                    <a:bodyPr/>
                    <a:lstStyle/>
                    <a:p>
                      <a:pPr algn="ctr"/>
                      <a:r>
                        <a:rPr lang="en-US" sz="1600" dirty="0">
                          <a:latin typeface="Courier New" panose="02070309020205020404" pitchFamily="49" charset="0"/>
                          <a:cs typeface="Courier New" panose="02070309020205020404" pitchFamily="49" charset="0"/>
                        </a:rPr>
                        <a:t>2203</a:t>
                      </a:r>
                    </a:p>
                  </a:txBody>
                  <a:tcPr/>
                </a:tc>
                <a:tc>
                  <a:txBody>
                    <a:bodyPr/>
                    <a:lstStyle/>
                    <a:p>
                      <a:pPr algn="ctr"/>
                      <a:r>
                        <a:rPr lang="en-US" sz="1600" dirty="0">
                          <a:latin typeface="Courier New" panose="02070309020205020404" pitchFamily="49" charset="0"/>
                          <a:cs typeface="Courier New" panose="02070309020205020404" pitchFamily="49" charset="0"/>
                        </a:rPr>
                        <a:t>19.74</a:t>
                      </a:r>
                    </a:p>
                  </a:txBody>
                  <a:tcPr/>
                </a:tc>
                <a:extLst>
                  <a:ext uri="{0D108BD9-81ED-4DB2-BD59-A6C34878D82A}">
                    <a16:rowId xmlns:a16="http://schemas.microsoft.com/office/drawing/2014/main" val="3243382153"/>
                  </a:ext>
                </a:extLst>
              </a:tr>
              <a:tr h="340695">
                <a:tc>
                  <a:txBody>
                    <a:bodyPr/>
                    <a:lstStyle/>
                    <a:p>
                      <a:pPr algn="ctr"/>
                      <a:r>
                        <a:rPr lang="en-US" sz="1600" dirty="0">
                          <a:latin typeface="Courier New" panose="02070309020205020404" pitchFamily="49" charset="0"/>
                          <a:cs typeface="Courier New" panose="02070309020205020404" pitchFamily="49" charset="0"/>
                        </a:rPr>
                        <a:t>1003</a:t>
                      </a:r>
                    </a:p>
                  </a:txBody>
                  <a:tcPr/>
                </a:tc>
                <a:tc>
                  <a:txBody>
                    <a:bodyPr/>
                    <a:lstStyle/>
                    <a:p>
                      <a:pPr algn="ctr"/>
                      <a:r>
                        <a:rPr lang="en-US" sz="1600" dirty="0">
                          <a:latin typeface="Courier New" panose="02070309020205020404" pitchFamily="49" charset="0"/>
                          <a:cs typeface="Courier New" panose="02070309020205020404" pitchFamily="49" charset="0"/>
                        </a:rPr>
                        <a:t>2204</a:t>
                      </a:r>
                    </a:p>
                  </a:txBody>
                  <a:tcPr/>
                </a:tc>
                <a:tc>
                  <a:txBody>
                    <a:bodyPr/>
                    <a:lstStyle/>
                    <a:p>
                      <a:pPr algn="ctr"/>
                      <a:r>
                        <a:rPr lang="en-US" sz="1600" dirty="0">
                          <a:latin typeface="Courier New" panose="02070309020205020404" pitchFamily="49" charset="0"/>
                          <a:cs typeface="Courier New" panose="02070309020205020404" pitchFamily="49" charset="0"/>
                        </a:rPr>
                        <a:t>101.59</a:t>
                      </a:r>
                    </a:p>
                  </a:txBody>
                  <a:tcPr/>
                </a:tc>
                <a:extLst>
                  <a:ext uri="{0D108BD9-81ED-4DB2-BD59-A6C34878D82A}">
                    <a16:rowId xmlns:a16="http://schemas.microsoft.com/office/drawing/2014/main" val="213406176"/>
                  </a:ext>
                </a:extLst>
              </a:tr>
              <a:tr h="340695">
                <a:tc>
                  <a:txBody>
                    <a:bodyPr/>
                    <a:lstStyle/>
                    <a:p>
                      <a:pPr algn="ctr"/>
                      <a:r>
                        <a:rPr lang="en-US" sz="1600">
                          <a:latin typeface="Courier New" panose="02070309020205020404" pitchFamily="49" charset="0"/>
                          <a:cs typeface="Courier New" panose="02070309020205020404" pitchFamily="49" charset="0"/>
                        </a:rPr>
                        <a:t>1002</a:t>
                      </a:r>
                      <a:endParaRPr lang="en-US" sz="1600" dirty="0">
                        <a:latin typeface="Courier New" panose="02070309020205020404" pitchFamily="49" charset="0"/>
                        <a:cs typeface="Courier New" panose="02070309020205020404" pitchFamily="49" charset="0"/>
                      </a:endParaRPr>
                    </a:p>
                  </a:txBody>
                  <a:tcPr/>
                </a:tc>
                <a:tc>
                  <a:txBody>
                    <a:bodyPr/>
                    <a:lstStyle/>
                    <a:p>
                      <a:pPr algn="ctr"/>
                      <a:r>
                        <a:rPr lang="en-US" sz="1600" dirty="0">
                          <a:latin typeface="Courier New" panose="02070309020205020404" pitchFamily="49" charset="0"/>
                          <a:cs typeface="Courier New" panose="02070309020205020404" pitchFamily="49" charset="0"/>
                        </a:rPr>
                        <a:t>2205</a:t>
                      </a:r>
                    </a:p>
                  </a:txBody>
                  <a:tcPr/>
                </a:tc>
                <a:tc>
                  <a:txBody>
                    <a:bodyPr/>
                    <a:lstStyle/>
                    <a:p>
                      <a:pPr algn="ctr"/>
                      <a:r>
                        <a:rPr lang="en-US" sz="1600" dirty="0">
                          <a:latin typeface="Courier New" panose="02070309020205020404" pitchFamily="49" charset="0"/>
                          <a:cs typeface="Courier New" panose="02070309020205020404" pitchFamily="49" charset="0"/>
                        </a:rPr>
                        <a:t>55.42</a:t>
                      </a:r>
                    </a:p>
                  </a:txBody>
                  <a:tcPr/>
                </a:tc>
                <a:extLst>
                  <a:ext uri="{0D108BD9-81ED-4DB2-BD59-A6C34878D82A}">
                    <a16:rowId xmlns:a16="http://schemas.microsoft.com/office/drawing/2014/main" val="3561326908"/>
                  </a:ext>
                </a:extLst>
              </a:tr>
              <a:tr h="340695">
                <a:tc>
                  <a:txBody>
                    <a:bodyPr/>
                    <a:lstStyle/>
                    <a:p>
                      <a:pPr algn="ctr"/>
                      <a:r>
                        <a:rPr lang="en-US" sz="1600" dirty="0">
                          <a:latin typeface="Courier New" panose="02070309020205020404" pitchFamily="49" charset="0"/>
                          <a:cs typeface="Courier New" panose="02070309020205020404" pitchFamily="49" charset="0"/>
                        </a:rPr>
                        <a:t>1003</a:t>
                      </a:r>
                    </a:p>
                  </a:txBody>
                  <a:tcPr/>
                </a:tc>
                <a:tc>
                  <a:txBody>
                    <a:bodyPr/>
                    <a:lstStyle/>
                    <a:p>
                      <a:pPr algn="ctr"/>
                      <a:r>
                        <a:rPr lang="en-US" sz="1600" dirty="0">
                          <a:latin typeface="Courier New" panose="02070309020205020404" pitchFamily="49" charset="0"/>
                          <a:cs typeface="Courier New" panose="02070309020205020404" pitchFamily="49" charset="0"/>
                        </a:rPr>
                        <a:t>2206</a:t>
                      </a:r>
                    </a:p>
                  </a:txBody>
                  <a:tcPr/>
                </a:tc>
                <a:tc>
                  <a:txBody>
                    <a:bodyPr/>
                    <a:lstStyle/>
                    <a:p>
                      <a:pPr algn="ctr"/>
                      <a:r>
                        <a:rPr lang="en-US" sz="1600" dirty="0">
                          <a:latin typeface="Courier New" panose="02070309020205020404" pitchFamily="49" charset="0"/>
                          <a:cs typeface="Courier New" panose="02070309020205020404" pitchFamily="49" charset="0"/>
                        </a:rPr>
                        <a:t>27.93</a:t>
                      </a:r>
                    </a:p>
                  </a:txBody>
                  <a:tcPr/>
                </a:tc>
                <a:extLst>
                  <a:ext uri="{0D108BD9-81ED-4DB2-BD59-A6C34878D82A}">
                    <a16:rowId xmlns:a16="http://schemas.microsoft.com/office/drawing/2014/main" val="2007567373"/>
                  </a:ext>
                </a:extLst>
              </a:tr>
            </a:tbl>
          </a:graphicData>
        </a:graphic>
      </p:graphicFrame>
      <p:sp>
        <p:nvSpPr>
          <p:cNvPr id="11" name="Text Placeholder 2">
            <a:extLst>
              <a:ext uri="{FF2B5EF4-FFF2-40B4-BE49-F238E27FC236}">
                <a16:creationId xmlns:a16="http://schemas.microsoft.com/office/drawing/2014/main" id="{8EDE791E-F170-4C6E-934B-7B3828EE3E6B}"/>
              </a:ext>
            </a:extLst>
          </p:cNvPr>
          <p:cNvSpPr txBox="1">
            <a:spLocks/>
          </p:cNvSpPr>
          <p:nvPr/>
        </p:nvSpPr>
        <p:spPr>
          <a:xfrm>
            <a:off x="380010" y="1219200"/>
            <a:ext cx="2602341" cy="63754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50800" indent="0">
              <a:buNone/>
            </a:pPr>
            <a:r>
              <a:rPr lang="en-US" dirty="0"/>
              <a:t>Primary Table</a:t>
            </a:r>
          </a:p>
        </p:txBody>
      </p:sp>
      <p:sp>
        <p:nvSpPr>
          <p:cNvPr id="14" name="Text Placeholder 2">
            <a:extLst>
              <a:ext uri="{FF2B5EF4-FFF2-40B4-BE49-F238E27FC236}">
                <a16:creationId xmlns:a16="http://schemas.microsoft.com/office/drawing/2014/main" id="{A8568A64-F63A-4BE6-8FA2-4B554E1F93F5}"/>
              </a:ext>
            </a:extLst>
          </p:cNvPr>
          <p:cNvSpPr txBox="1">
            <a:spLocks/>
          </p:cNvSpPr>
          <p:nvPr/>
        </p:nvSpPr>
        <p:spPr>
          <a:xfrm>
            <a:off x="6382087" y="3246462"/>
            <a:ext cx="2602341" cy="63754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50800" indent="0">
              <a:buNone/>
            </a:pPr>
            <a:r>
              <a:rPr lang="en-US" dirty="0"/>
              <a:t>Related Table</a:t>
            </a:r>
          </a:p>
        </p:txBody>
      </p:sp>
      <p:sp>
        <p:nvSpPr>
          <p:cNvPr id="15" name="Rectangle: Rounded Corners 14">
            <a:extLst>
              <a:ext uri="{FF2B5EF4-FFF2-40B4-BE49-F238E27FC236}">
                <a16:creationId xmlns:a16="http://schemas.microsoft.com/office/drawing/2014/main" id="{594E406E-7F32-4E82-A43A-510C83447C8D}"/>
              </a:ext>
            </a:extLst>
          </p:cNvPr>
          <p:cNvSpPr/>
          <p:nvPr/>
        </p:nvSpPr>
        <p:spPr>
          <a:xfrm>
            <a:off x="4389119" y="4269645"/>
            <a:ext cx="576775" cy="239151"/>
          </a:xfrm>
          <a:prstGeom prst="roundRect">
            <a:avLst/>
          </a:prstGeom>
          <a:noFill/>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6466D386-D0A6-4FA3-BE6D-58391E8857C1}"/>
              </a:ext>
            </a:extLst>
          </p:cNvPr>
          <p:cNvCxnSpPr>
            <a:cxnSpLocks/>
            <a:stCxn id="15" idx="1"/>
          </p:cNvCxnSpPr>
          <p:nvPr/>
        </p:nvCxnSpPr>
        <p:spPr>
          <a:xfrm flipH="1" flipV="1">
            <a:off x="1681180" y="2447946"/>
            <a:ext cx="2707939" cy="194127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B8FE7188-DD23-4F23-807A-628D4217297B}"/>
              </a:ext>
            </a:extLst>
          </p:cNvPr>
          <p:cNvSpPr/>
          <p:nvPr/>
        </p:nvSpPr>
        <p:spPr>
          <a:xfrm>
            <a:off x="4389119" y="5291603"/>
            <a:ext cx="576775" cy="239151"/>
          </a:xfrm>
          <a:prstGeom prst="round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0C78A910-B311-470D-9ADB-C63938EB02FE}"/>
              </a:ext>
            </a:extLst>
          </p:cNvPr>
          <p:cNvSpPr/>
          <p:nvPr/>
        </p:nvSpPr>
        <p:spPr>
          <a:xfrm>
            <a:off x="4389119" y="4954685"/>
            <a:ext cx="576775" cy="239151"/>
          </a:xfrm>
          <a:prstGeom prst="roundRect">
            <a:avLst/>
          </a:prstGeom>
          <a:noFill/>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1F7018F1-5E4B-42E6-8220-099FFAD5087B}"/>
              </a:ext>
            </a:extLst>
          </p:cNvPr>
          <p:cNvCxnSpPr>
            <a:cxnSpLocks/>
            <a:stCxn id="25" idx="1"/>
          </p:cNvCxnSpPr>
          <p:nvPr/>
        </p:nvCxnSpPr>
        <p:spPr>
          <a:xfrm flipH="1" flipV="1">
            <a:off x="1681180" y="2837911"/>
            <a:ext cx="2707939" cy="223635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8552590-568B-452D-A9C9-CC490B49C435}"/>
              </a:ext>
            </a:extLst>
          </p:cNvPr>
          <p:cNvCxnSpPr>
            <a:cxnSpLocks/>
            <a:stCxn id="18" idx="1"/>
            <a:endCxn id="10" idx="3"/>
          </p:cNvCxnSpPr>
          <p:nvPr/>
        </p:nvCxnSpPr>
        <p:spPr>
          <a:xfrm flipH="1" flipV="1">
            <a:off x="1230875" y="4393141"/>
            <a:ext cx="3158244" cy="101803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E61D882-C975-445E-8DAC-216B68A20D83}"/>
              </a:ext>
            </a:extLst>
          </p:cNvPr>
          <p:cNvSpPr txBox="1"/>
          <p:nvPr/>
        </p:nvSpPr>
        <p:spPr>
          <a:xfrm>
            <a:off x="722256" y="3977642"/>
            <a:ext cx="508619" cy="830997"/>
          </a:xfrm>
          <a:prstGeom prst="rect">
            <a:avLst/>
          </a:prstGeom>
          <a:noFill/>
        </p:spPr>
        <p:txBody>
          <a:bodyPr wrap="square" rtlCol="0">
            <a:spAutoFit/>
          </a:bodyPr>
          <a:lstStyle/>
          <a:p>
            <a:r>
              <a:rPr lang="en-US" sz="4800" b="1" dirty="0">
                <a:solidFill>
                  <a:srgbClr val="FF0000"/>
                </a:solidFill>
                <a:latin typeface="Courier New" panose="02070309020205020404" pitchFamily="49" charset="0"/>
                <a:cs typeface="Courier New" panose="02070309020205020404" pitchFamily="49" charset="0"/>
              </a:rPr>
              <a:t>?</a:t>
            </a:r>
          </a:p>
        </p:txBody>
      </p:sp>
      <p:sp>
        <p:nvSpPr>
          <p:cNvPr id="21" name="Rectangle: Rounded Corners 20">
            <a:extLst>
              <a:ext uri="{FF2B5EF4-FFF2-40B4-BE49-F238E27FC236}">
                <a16:creationId xmlns:a16="http://schemas.microsoft.com/office/drawing/2014/main" id="{0AD08F46-603E-41C8-8920-A6EFFAA6BB91}"/>
              </a:ext>
            </a:extLst>
          </p:cNvPr>
          <p:cNvSpPr/>
          <p:nvPr/>
        </p:nvSpPr>
        <p:spPr>
          <a:xfrm>
            <a:off x="4389119" y="5966059"/>
            <a:ext cx="576775" cy="239151"/>
          </a:xfrm>
          <a:prstGeom prst="round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CB76E6F7-FD06-4151-96F7-D8B0692E4294}"/>
              </a:ext>
            </a:extLst>
          </p:cNvPr>
          <p:cNvCxnSpPr>
            <a:cxnSpLocks/>
            <a:stCxn id="21" idx="1"/>
            <a:endCxn id="10" idx="3"/>
          </p:cNvCxnSpPr>
          <p:nvPr/>
        </p:nvCxnSpPr>
        <p:spPr>
          <a:xfrm flipH="1" flipV="1">
            <a:off x="1230875" y="4393141"/>
            <a:ext cx="3158244" cy="169249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148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0" grpId="0"/>
      <p:bldP spid="2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Concerns for Referential Integrity</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p:txBody>
          <a:bodyPr>
            <a:normAutofit/>
          </a:bodyPr>
          <a:lstStyle/>
          <a:p>
            <a:r>
              <a:rPr lang="en-US" dirty="0"/>
              <a:t>A lack of referential integrity can lead to:</a:t>
            </a:r>
          </a:p>
          <a:p>
            <a:pPr lvl="1"/>
            <a:r>
              <a:rPr lang="en-US" dirty="0"/>
              <a:t>Incomplete retrieval of data, generally with no indication of an error.</a:t>
            </a:r>
          </a:p>
          <a:p>
            <a:pPr lvl="1"/>
            <a:r>
              <a:rPr lang="en-US" dirty="0"/>
              <a:t>Confusion or misleading information due to “lost” records or missing column data</a:t>
            </a:r>
          </a:p>
          <a:p>
            <a:pPr lvl="1"/>
            <a:r>
              <a:rPr lang="en-US" dirty="0"/>
              <a:t>Loss of business - user orders/information which is not accounted for, incomplete medical patient records, missing supplies, </a:t>
            </a:r>
            <a:r>
              <a:rPr lang="en-US" dirty="0" err="1"/>
              <a:t>etc</a:t>
            </a:r>
            <a:r>
              <a:rPr lang="en-US" dirty="0"/>
              <a:t>…</a:t>
            </a:r>
          </a:p>
          <a:p>
            <a:pPr lvl="2"/>
            <a:endParaRPr lang="en-US" dirty="0"/>
          </a:p>
          <a:p>
            <a:endParaRPr lang="en-US" dirty="0"/>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1939762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FAF1F-79EC-9737-E14C-FB052EB0EB8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42B5E6-FB24-4106-6540-04B62FC51CD0}"/>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14</a:t>
            </a:fld>
            <a:endParaRPr lang="en-US"/>
          </a:p>
        </p:txBody>
      </p:sp>
      <p:sp>
        <p:nvSpPr>
          <p:cNvPr id="4" name="Google Shape;212;p15">
            <a:extLst>
              <a:ext uri="{FF2B5EF4-FFF2-40B4-BE49-F238E27FC236}">
                <a16:creationId xmlns:a16="http://schemas.microsoft.com/office/drawing/2014/main" id="{75753469-BE9E-5BE2-AC73-0CB6005B0FD5}"/>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Other Keys</a:t>
            </a:r>
          </a:p>
        </p:txBody>
      </p:sp>
      <p:pic>
        <p:nvPicPr>
          <p:cNvPr id="6" name="Picture 5">
            <a:extLst>
              <a:ext uri="{FF2B5EF4-FFF2-40B4-BE49-F238E27FC236}">
                <a16:creationId xmlns:a16="http://schemas.microsoft.com/office/drawing/2014/main" id="{B46589BD-524F-DF25-5F01-B2FB38D26B20}"/>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2256520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CHECK</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2204289"/>
          </a:xfrm>
        </p:spPr>
        <p:txBody>
          <a:bodyPr/>
          <a:lstStyle/>
          <a:p>
            <a:r>
              <a:rPr lang="en-US" dirty="0"/>
              <a:t>Additional conditions placed on data before it can be inserted into a column.</a:t>
            </a:r>
          </a:p>
          <a:p>
            <a:r>
              <a:rPr lang="en-US" dirty="0"/>
              <a:t>Check constraints utilize </a:t>
            </a:r>
            <a:r>
              <a:rPr lang="en-US" dirty="0" err="1"/>
              <a:t>boolean</a:t>
            </a:r>
            <a:r>
              <a:rPr lang="en-US" dirty="0"/>
              <a:t> expressions to determine if appropriate data is being provided</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5" name="Google Shape;219;p16">
            <a:extLst>
              <a:ext uri="{FF2B5EF4-FFF2-40B4-BE49-F238E27FC236}">
                <a16:creationId xmlns:a16="http://schemas.microsoft.com/office/drawing/2014/main" id="{6DCD5EAE-66ED-413B-972C-8ED2A9D49E33}"/>
              </a:ext>
            </a:extLst>
          </p:cNvPr>
          <p:cNvSpPr txBox="1">
            <a:spLocks/>
          </p:cNvSpPr>
          <p:nvPr/>
        </p:nvSpPr>
        <p:spPr>
          <a:xfrm>
            <a:off x="436189" y="4159423"/>
            <a:ext cx="8271621" cy="2204289"/>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CREATE TABLE grades (</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	id INTEGER PRIMARY KEY,</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	student_id INTEGER REFERENCES students(id),</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	assignment_id INTEGER REFERENCES assignments(id),</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	grade DECIMAL </a:t>
            </a:r>
            <a:r>
              <a:rPr lang="en-US" sz="1800" b="1" dirty="0">
                <a:solidFill>
                  <a:schemeClr val="accent6">
                    <a:lumMod val="75000"/>
                  </a:schemeClr>
                </a:solidFill>
                <a:latin typeface="Courier New" panose="02070309020205020404" pitchFamily="49" charset="0"/>
                <a:cs typeface="Courier New" panose="02070309020205020404" pitchFamily="49" charset="0"/>
              </a:rPr>
              <a:t>CHECK(grade &gt;= 0 AND grade &lt;= 100)</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4265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uiExpand="1"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NOT NULL</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7"/>
            <a:ext cx="8383980" cy="2176154"/>
          </a:xfrm>
        </p:spPr>
        <p:txBody>
          <a:bodyPr/>
          <a:lstStyle/>
          <a:p>
            <a:r>
              <a:rPr lang="en-US" dirty="0"/>
              <a:t>Establish that a column cannot contain null values</a:t>
            </a:r>
          </a:p>
          <a:p>
            <a:r>
              <a:rPr lang="en-US" dirty="0"/>
              <a:t>A value for this column MUST be supplied when inserting a record into a table.</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
        <p:nvSpPr>
          <p:cNvPr id="5" name="Google Shape;219;p16">
            <a:extLst>
              <a:ext uri="{FF2B5EF4-FFF2-40B4-BE49-F238E27FC236}">
                <a16:creationId xmlns:a16="http://schemas.microsoft.com/office/drawing/2014/main" id="{0758C812-09F5-4371-9E4D-5D3190A5354D}"/>
              </a:ext>
            </a:extLst>
          </p:cNvPr>
          <p:cNvSpPr txBox="1">
            <a:spLocks/>
          </p:cNvSpPr>
          <p:nvPr/>
        </p:nvSpPr>
        <p:spPr>
          <a:xfrm>
            <a:off x="269790" y="4159423"/>
            <a:ext cx="8604419" cy="2204289"/>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CREATE TABLE grades (</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	id INTEGER PRIMARY KEY,</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	student_id INTEGER REFERENCES students(id) </a:t>
            </a:r>
            <a:r>
              <a:rPr lang="en-US" sz="1800" b="1" dirty="0">
                <a:solidFill>
                  <a:schemeClr val="accent6">
                    <a:lumMod val="75000"/>
                  </a:schemeClr>
                </a:solidFill>
                <a:latin typeface="Courier New" panose="02070309020205020404" pitchFamily="49" charset="0"/>
                <a:cs typeface="Courier New" panose="02070309020205020404" pitchFamily="49" charset="0"/>
              </a:rPr>
              <a:t>NOT NULL</a:t>
            </a:r>
            <a:r>
              <a:rPr lang="en-US" sz="18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	assignment_id INTEGER REFERENCES assignments(id) </a:t>
            </a:r>
            <a:r>
              <a:rPr lang="en-US" sz="1800" b="1" dirty="0">
                <a:solidFill>
                  <a:schemeClr val="accent6">
                    <a:lumMod val="75000"/>
                  </a:schemeClr>
                </a:solidFill>
                <a:latin typeface="Courier New" panose="02070309020205020404" pitchFamily="49" charset="0"/>
                <a:cs typeface="Courier New" panose="02070309020205020404" pitchFamily="49" charset="0"/>
              </a:rPr>
              <a:t>NOT NULL</a:t>
            </a:r>
            <a:r>
              <a:rPr lang="en-US" sz="18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	grade </a:t>
            </a:r>
            <a:r>
              <a:rPr lang="en-US" sz="1800" dirty="0">
                <a:solidFill>
                  <a:srgbClr val="474C55"/>
                </a:solidFill>
                <a:latin typeface="Courier New" panose="02070309020205020404" pitchFamily="49" charset="0"/>
                <a:cs typeface="Courier New" panose="02070309020205020404" pitchFamily="49" charset="0"/>
              </a:rPr>
              <a:t>FLOAT</a:t>
            </a:r>
            <a:r>
              <a:rPr lang="en-US" sz="1800" dirty="0">
                <a:latin typeface="Courier New" panose="02070309020205020404" pitchFamily="49" charset="0"/>
                <a:cs typeface="Courier New" panose="02070309020205020404" pitchFamily="49" charset="0"/>
              </a:rPr>
              <a:t> </a:t>
            </a:r>
            <a:r>
              <a:rPr lang="en-US" sz="1800" dirty="0">
                <a:solidFill>
                  <a:srgbClr val="474C55"/>
                </a:solidFill>
                <a:latin typeface="Courier New" panose="02070309020205020404" pitchFamily="49" charset="0"/>
                <a:cs typeface="Courier New" panose="02070309020205020404" pitchFamily="49" charset="0"/>
              </a:rPr>
              <a:t>CHECK(grade &gt;= 0 AND grade &lt;= 100)</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endParaRPr lang="en-US" sz="1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794228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uiExpand="1"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UNIQUE</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7"/>
            <a:ext cx="8383980" cy="2446421"/>
          </a:xfrm>
        </p:spPr>
        <p:txBody>
          <a:bodyPr/>
          <a:lstStyle/>
          <a:p>
            <a:r>
              <a:rPr lang="en-US" sz="2400" dirty="0"/>
              <a:t>Establishes that there are no duplicate values for a column across all records within a table.</a:t>
            </a:r>
          </a:p>
          <a:p>
            <a:r>
              <a:rPr lang="en-US" sz="2400" dirty="0"/>
              <a:t>Unique constraints can be applied to multiple columns to designate that the included columns combined must be unique.</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
        <p:nvSpPr>
          <p:cNvPr id="5" name="Google Shape;219;p16">
            <a:extLst>
              <a:ext uri="{FF2B5EF4-FFF2-40B4-BE49-F238E27FC236}">
                <a16:creationId xmlns:a16="http://schemas.microsoft.com/office/drawing/2014/main" id="{EA554E6B-BB54-4E4A-80D9-FAE118AB6D8D}"/>
              </a:ext>
            </a:extLst>
          </p:cNvPr>
          <p:cNvSpPr txBox="1">
            <a:spLocks/>
          </p:cNvSpPr>
          <p:nvPr/>
        </p:nvSpPr>
        <p:spPr>
          <a:xfrm>
            <a:off x="269792" y="4093698"/>
            <a:ext cx="4081772" cy="1955410"/>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CREATE TABLE directory (</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	id INTEGER PRIMARY KEY,</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	name VARCHAR(20),</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	email VARCHAR(20) </a:t>
            </a:r>
            <a:r>
              <a:rPr lang="en-US" sz="1800" b="1" dirty="0">
                <a:solidFill>
                  <a:schemeClr val="accent6">
                    <a:lumMod val="75000"/>
                  </a:schemeClr>
                </a:solidFill>
                <a:latin typeface="Courier New" panose="02070309020205020404" pitchFamily="49" charset="0"/>
                <a:cs typeface="Courier New" panose="02070309020205020404" pitchFamily="49" charset="0"/>
              </a:rPr>
              <a:t>UNIQUE</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a:t>
            </a:r>
          </a:p>
        </p:txBody>
      </p:sp>
      <p:sp>
        <p:nvSpPr>
          <p:cNvPr id="6" name="Google Shape;219;p16">
            <a:extLst>
              <a:ext uri="{FF2B5EF4-FFF2-40B4-BE49-F238E27FC236}">
                <a16:creationId xmlns:a16="http://schemas.microsoft.com/office/drawing/2014/main" id="{887AA8F6-22DE-49F4-A164-389F2DD1158D}"/>
              </a:ext>
            </a:extLst>
          </p:cNvPr>
          <p:cNvSpPr txBox="1">
            <a:spLocks/>
          </p:cNvSpPr>
          <p:nvPr/>
        </p:nvSpPr>
        <p:spPr>
          <a:xfrm>
            <a:off x="4572000" y="3927868"/>
            <a:ext cx="4302209" cy="2287069"/>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CREATE TABLE accounts (</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	id INTEGER PRIMARY KEY,</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	name VARCHAR(20),</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	email VARCHAR(20),</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	</a:t>
            </a:r>
            <a:r>
              <a:rPr lang="en-US" sz="1800" b="1" dirty="0">
                <a:solidFill>
                  <a:schemeClr val="accent6">
                    <a:lumMod val="75000"/>
                  </a:schemeClr>
                </a:solidFill>
                <a:latin typeface="Courier New" panose="02070309020205020404" pitchFamily="49" charset="0"/>
                <a:cs typeface="Courier New" panose="02070309020205020404" pitchFamily="49" charset="0"/>
              </a:rPr>
              <a:t>UNIQUE(name, email)</a:t>
            </a:r>
          </a:p>
          <a:p>
            <a:pPr marL="182880" lvl="1" indent="0" defTabSz="457200">
              <a:lnSpc>
                <a:spcPct val="90000"/>
              </a:lnSpc>
              <a:buFont typeface="Arial"/>
              <a:buNone/>
            </a:pPr>
            <a:r>
              <a:rPr lang="en-US" sz="18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376543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bg/>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xEl>
                                              <p:pRg st="1" end="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txEl>
                                              <p:pRg st="3" end="3"/>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
                                            <p:txEl>
                                              <p:pRg st="4" end="4"/>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uiExpand="1" build="p" animBg="1"/>
      <p:bldP spid="6" grpId="0" uiExpand="1"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BF0B2-6B03-68F5-A597-E6ED326332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60E82D-F85C-38F7-C675-0974DF4D7DB1}"/>
              </a:ext>
            </a:extLst>
          </p:cNvPr>
          <p:cNvSpPr>
            <a:spLocks noGrp="1"/>
          </p:cNvSpPr>
          <p:nvPr>
            <p:ph type="title"/>
          </p:nvPr>
        </p:nvSpPr>
        <p:spPr/>
        <p:txBody>
          <a:bodyPr/>
          <a:lstStyle/>
          <a:p>
            <a:r>
              <a:rPr lang="en-US" dirty="0"/>
              <a:t>Composite Keys</a:t>
            </a:r>
          </a:p>
        </p:txBody>
      </p:sp>
      <p:sp>
        <p:nvSpPr>
          <p:cNvPr id="3" name="Text Placeholder 2">
            <a:extLst>
              <a:ext uri="{FF2B5EF4-FFF2-40B4-BE49-F238E27FC236}">
                <a16:creationId xmlns:a16="http://schemas.microsoft.com/office/drawing/2014/main" id="{1AD48DCC-35E7-E983-F97F-15E2A1D422CB}"/>
              </a:ext>
            </a:extLst>
          </p:cNvPr>
          <p:cNvSpPr>
            <a:spLocks noGrp="1"/>
          </p:cNvSpPr>
          <p:nvPr>
            <p:ph type="body" idx="1"/>
          </p:nvPr>
        </p:nvSpPr>
        <p:spPr>
          <a:xfrm>
            <a:off x="380010" y="1481447"/>
            <a:ext cx="8383980" cy="2446421"/>
          </a:xfrm>
        </p:spPr>
        <p:txBody>
          <a:bodyPr/>
          <a:lstStyle/>
          <a:p>
            <a:r>
              <a:rPr lang="en-US" sz="2400" dirty="0"/>
              <a:t>A composite key is a specific type of primary key which uses the contents of two or more fields from a table to create a unique value.</a:t>
            </a:r>
          </a:p>
        </p:txBody>
      </p:sp>
      <p:sp>
        <p:nvSpPr>
          <p:cNvPr id="4" name="Slide Number Placeholder 3">
            <a:extLst>
              <a:ext uri="{FF2B5EF4-FFF2-40B4-BE49-F238E27FC236}">
                <a16:creationId xmlns:a16="http://schemas.microsoft.com/office/drawing/2014/main" id="{923A662B-B283-4585-983C-8FBC0C32D37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
        <p:nvSpPr>
          <p:cNvPr id="5" name="Google Shape;219;p16">
            <a:extLst>
              <a:ext uri="{FF2B5EF4-FFF2-40B4-BE49-F238E27FC236}">
                <a16:creationId xmlns:a16="http://schemas.microsoft.com/office/drawing/2014/main" id="{7F9AAC62-6FC0-B994-4A8B-5E47B7567DBC}"/>
              </a:ext>
            </a:extLst>
          </p:cNvPr>
          <p:cNvSpPr txBox="1">
            <a:spLocks/>
          </p:cNvSpPr>
          <p:nvPr/>
        </p:nvSpPr>
        <p:spPr>
          <a:xfrm>
            <a:off x="1666084" y="3748641"/>
            <a:ext cx="5811831" cy="1955410"/>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None/>
            </a:pPr>
            <a:r>
              <a:rPr lang="en-US" sz="1800" dirty="0">
                <a:latin typeface="Courier New" panose="02070309020205020404" pitchFamily="49" charset="0"/>
                <a:cs typeface="Courier New" panose="02070309020205020404" pitchFamily="49" charset="0"/>
              </a:rPr>
              <a:t>CREATE TABLE </a:t>
            </a:r>
            <a:r>
              <a:rPr lang="en-US" sz="1800" dirty="0" err="1">
                <a:latin typeface="Courier New" panose="02070309020205020404" pitchFamily="49" charset="0"/>
                <a:cs typeface="Courier New" panose="02070309020205020404" pitchFamily="49" charset="0"/>
              </a:rPr>
              <a:t>student_courses</a:t>
            </a:r>
            <a:r>
              <a:rPr lang="en-US" sz="1800" dirty="0">
                <a:latin typeface="Courier New" panose="02070309020205020404" pitchFamily="49" charset="0"/>
                <a:cs typeface="Courier New" panose="02070309020205020404" pitchFamily="49" charset="0"/>
              </a:rPr>
              <a:t> (</a:t>
            </a:r>
          </a:p>
          <a:p>
            <a:pPr marL="182880" lvl="1" indent="0" defTabSz="457200">
              <a:lnSpc>
                <a:spcPct val="90000"/>
              </a:lnSpc>
              <a:buNone/>
            </a:pP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student_id</a:t>
            </a:r>
            <a:r>
              <a:rPr lang="en-US" sz="1800" dirty="0">
                <a:latin typeface="Courier New" panose="02070309020205020404" pitchFamily="49" charset="0"/>
                <a:cs typeface="Courier New" panose="02070309020205020404" pitchFamily="49" charset="0"/>
              </a:rPr>
              <a:t> INTEGER,</a:t>
            </a:r>
          </a:p>
          <a:p>
            <a:pPr marL="182880" lvl="1" indent="0" defTabSz="457200">
              <a:lnSpc>
                <a:spcPct val="90000"/>
              </a:lnSpc>
              <a:buNone/>
            </a:pP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course_id</a:t>
            </a:r>
            <a:r>
              <a:rPr lang="en-US" sz="1800" dirty="0">
                <a:latin typeface="Courier New" panose="02070309020205020404" pitchFamily="49" charset="0"/>
                <a:cs typeface="Courier New" panose="02070309020205020404" pitchFamily="49" charset="0"/>
              </a:rPr>
              <a:t> INTEGER,</a:t>
            </a:r>
          </a:p>
          <a:p>
            <a:pPr marL="182880" lvl="1" indent="0" defTabSz="457200">
              <a:lnSpc>
                <a:spcPct val="90000"/>
              </a:lnSpc>
              <a:buNone/>
            </a:pP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enrollment_date</a:t>
            </a:r>
            <a:r>
              <a:rPr lang="en-US" sz="1800" dirty="0">
                <a:latin typeface="Courier New" panose="02070309020205020404" pitchFamily="49" charset="0"/>
                <a:cs typeface="Courier New" panose="02070309020205020404" pitchFamily="49" charset="0"/>
              </a:rPr>
              <a:t> DATE,</a:t>
            </a:r>
          </a:p>
          <a:p>
            <a:pPr marL="182880" lvl="1" indent="0" defTabSz="457200">
              <a:lnSpc>
                <a:spcPct val="90000"/>
              </a:lnSpc>
              <a:buNone/>
            </a:pPr>
            <a:r>
              <a:rPr lang="en-US" sz="1800" b="1" dirty="0">
                <a:solidFill>
                  <a:schemeClr val="accent1"/>
                </a:solidFill>
                <a:latin typeface="Courier New" panose="02070309020205020404" pitchFamily="49" charset="0"/>
                <a:cs typeface="Courier New" panose="02070309020205020404" pitchFamily="49" charset="0"/>
              </a:rPr>
              <a:t>	PRIMARY KEY (</a:t>
            </a:r>
            <a:r>
              <a:rPr lang="en-US" sz="1800" b="1" dirty="0" err="1">
                <a:solidFill>
                  <a:schemeClr val="accent1"/>
                </a:solidFill>
                <a:latin typeface="Courier New" panose="02070309020205020404" pitchFamily="49" charset="0"/>
                <a:cs typeface="Courier New" panose="02070309020205020404" pitchFamily="49" charset="0"/>
              </a:rPr>
              <a:t>student_id</a:t>
            </a:r>
            <a:r>
              <a:rPr lang="en-US" sz="1800" b="1" dirty="0">
                <a:solidFill>
                  <a:schemeClr val="accent1"/>
                </a:solidFill>
                <a:latin typeface="Courier New" panose="02070309020205020404" pitchFamily="49" charset="0"/>
                <a:cs typeface="Courier New" panose="02070309020205020404" pitchFamily="49" charset="0"/>
              </a:rPr>
              <a:t>, </a:t>
            </a:r>
            <a:r>
              <a:rPr lang="en-US" sz="1800" b="1" dirty="0" err="1">
                <a:solidFill>
                  <a:schemeClr val="accent1"/>
                </a:solidFill>
                <a:latin typeface="Courier New" panose="02070309020205020404" pitchFamily="49" charset="0"/>
                <a:cs typeface="Courier New" panose="02070309020205020404" pitchFamily="49" charset="0"/>
              </a:rPr>
              <a:t>course_id</a:t>
            </a:r>
            <a:r>
              <a:rPr lang="en-US" sz="1800" b="1" dirty="0">
                <a:solidFill>
                  <a:schemeClr val="accent1"/>
                </a:solidFill>
                <a:latin typeface="Courier New" panose="02070309020205020404" pitchFamily="49" charset="0"/>
                <a:cs typeface="Courier New" panose="02070309020205020404" pitchFamily="49" charset="0"/>
              </a:rPr>
              <a:t>)</a:t>
            </a:r>
          </a:p>
          <a:p>
            <a:pPr marL="182880" lvl="1" indent="0" defTabSz="457200">
              <a:lnSpc>
                <a:spcPct val="90000"/>
              </a:lnSpc>
              <a:buNone/>
            </a:pPr>
            <a:r>
              <a:rPr lang="en-US" sz="18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112015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D8359-0B92-3D99-EC2E-A321DDCC6B5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7C349A-AB04-AC06-40C0-8F403A54E47B}"/>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19</a:t>
            </a:fld>
            <a:endParaRPr lang="en-US"/>
          </a:p>
        </p:txBody>
      </p:sp>
      <p:sp>
        <p:nvSpPr>
          <p:cNvPr id="4" name="Google Shape;212;p15">
            <a:extLst>
              <a:ext uri="{FF2B5EF4-FFF2-40B4-BE49-F238E27FC236}">
                <a16:creationId xmlns:a16="http://schemas.microsoft.com/office/drawing/2014/main" id="{23C0BC3D-CFBB-5B64-B32D-667BF34643C6}"/>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Multiplicity</a:t>
            </a:r>
          </a:p>
        </p:txBody>
      </p:sp>
      <p:pic>
        <p:nvPicPr>
          <p:cNvPr id="6" name="Picture 5">
            <a:extLst>
              <a:ext uri="{FF2B5EF4-FFF2-40B4-BE49-F238E27FC236}">
                <a16:creationId xmlns:a16="http://schemas.microsoft.com/office/drawing/2014/main" id="{AB75B433-8A21-6B8B-39F9-B519C66B7AD5}"/>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9093103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35CB1-FC65-4AC7-83C5-D9E8749D97F2}"/>
              </a:ext>
            </a:extLst>
          </p:cNvPr>
          <p:cNvSpPr>
            <a:spLocks noGrp="1"/>
          </p:cNvSpPr>
          <p:nvPr>
            <p:ph type="title"/>
          </p:nvPr>
        </p:nvSpPr>
        <p:spPr/>
        <p:txBody>
          <a:bodyPr/>
          <a:lstStyle/>
          <a:p>
            <a:r>
              <a:rPr lang="en-US" dirty="0"/>
              <a:t>Relationships [Review]</a:t>
            </a:r>
          </a:p>
        </p:txBody>
      </p:sp>
      <p:sp>
        <p:nvSpPr>
          <p:cNvPr id="3" name="Text Placeholder 2">
            <a:extLst>
              <a:ext uri="{FF2B5EF4-FFF2-40B4-BE49-F238E27FC236}">
                <a16:creationId xmlns:a16="http://schemas.microsoft.com/office/drawing/2014/main" id="{C6F51D0E-4D82-4BD3-A377-0C4E3AA74EF7}"/>
              </a:ext>
            </a:extLst>
          </p:cNvPr>
          <p:cNvSpPr>
            <a:spLocks noGrp="1"/>
          </p:cNvSpPr>
          <p:nvPr>
            <p:ph type="body" idx="1"/>
          </p:nvPr>
        </p:nvSpPr>
        <p:spPr>
          <a:xfrm>
            <a:off x="380010" y="1631849"/>
            <a:ext cx="8604418" cy="1073747"/>
          </a:xfrm>
        </p:spPr>
        <p:txBody>
          <a:bodyPr>
            <a:normAutofit/>
          </a:bodyPr>
          <a:lstStyle/>
          <a:p>
            <a:r>
              <a:rPr lang="en-US" dirty="0"/>
              <a:t>A relationship in a RDBMS such as is a logical link between two tables.</a:t>
            </a:r>
          </a:p>
        </p:txBody>
      </p:sp>
      <p:sp>
        <p:nvSpPr>
          <p:cNvPr id="4" name="Slide Number Placeholder 3">
            <a:extLst>
              <a:ext uri="{FF2B5EF4-FFF2-40B4-BE49-F238E27FC236}">
                <a16:creationId xmlns:a16="http://schemas.microsoft.com/office/drawing/2014/main" id="{7B9A9BDE-83F8-4120-9B0A-D765603A17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pic>
        <p:nvPicPr>
          <p:cNvPr id="5" name="Picture 2">
            <a:extLst>
              <a:ext uri="{FF2B5EF4-FFF2-40B4-BE49-F238E27FC236}">
                <a16:creationId xmlns:a16="http://schemas.microsoft.com/office/drawing/2014/main" id="{601E2A17-321D-2D43-AC31-79BCDD48A8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6224" y="2827765"/>
            <a:ext cx="3984537" cy="3535947"/>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2">
            <a:extLst>
              <a:ext uri="{FF2B5EF4-FFF2-40B4-BE49-F238E27FC236}">
                <a16:creationId xmlns:a16="http://schemas.microsoft.com/office/drawing/2014/main" id="{0C97052E-5E45-85D3-2D4B-BF55CC6EF709}"/>
              </a:ext>
            </a:extLst>
          </p:cNvPr>
          <p:cNvSpPr txBox="1">
            <a:spLocks/>
          </p:cNvSpPr>
          <p:nvPr/>
        </p:nvSpPr>
        <p:spPr>
          <a:xfrm>
            <a:off x="380010" y="2827765"/>
            <a:ext cx="4431272" cy="3535947"/>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We visually represent relationships using Entity Relationship Diagrams (ERDs)</a:t>
            </a:r>
          </a:p>
          <a:p>
            <a:r>
              <a:rPr lang="en-US" dirty="0"/>
              <a:t>We can mathematically describe these relationships using</a:t>
            </a:r>
            <a:r>
              <a:rPr lang="en-US" b="1" dirty="0"/>
              <a:t> Multiplicity</a:t>
            </a:r>
            <a:endParaRPr lang="en-US" dirty="0"/>
          </a:p>
        </p:txBody>
      </p:sp>
    </p:spTree>
    <p:extLst>
      <p:ext uri="{BB962C8B-B14F-4D97-AF65-F5344CB8AC3E}">
        <p14:creationId xmlns:p14="http://schemas.microsoft.com/office/powerpoint/2010/main" val="429604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35CB1-FC65-4AC7-83C5-D9E8749D97F2}"/>
              </a:ext>
            </a:extLst>
          </p:cNvPr>
          <p:cNvSpPr>
            <a:spLocks noGrp="1"/>
          </p:cNvSpPr>
          <p:nvPr>
            <p:ph type="title"/>
          </p:nvPr>
        </p:nvSpPr>
        <p:spPr/>
        <p:txBody>
          <a:bodyPr/>
          <a:lstStyle/>
          <a:p>
            <a:r>
              <a:rPr lang="en-US" dirty="0"/>
              <a:t>Multiplicity</a:t>
            </a:r>
          </a:p>
        </p:txBody>
      </p:sp>
      <p:sp>
        <p:nvSpPr>
          <p:cNvPr id="3" name="Text Placeholder 2">
            <a:extLst>
              <a:ext uri="{FF2B5EF4-FFF2-40B4-BE49-F238E27FC236}">
                <a16:creationId xmlns:a16="http://schemas.microsoft.com/office/drawing/2014/main" id="{C6F51D0E-4D82-4BD3-A377-0C4E3AA74EF7}"/>
              </a:ext>
            </a:extLst>
          </p:cNvPr>
          <p:cNvSpPr>
            <a:spLocks noGrp="1"/>
          </p:cNvSpPr>
          <p:nvPr>
            <p:ph type="body" idx="1"/>
          </p:nvPr>
        </p:nvSpPr>
        <p:spPr/>
        <p:txBody>
          <a:bodyPr>
            <a:normAutofit/>
          </a:bodyPr>
          <a:lstStyle/>
          <a:p>
            <a:r>
              <a:rPr lang="en-US" dirty="0"/>
              <a:t>A description of the numeric relationship between two tables.</a:t>
            </a:r>
          </a:p>
          <a:p>
            <a:r>
              <a:rPr lang="en-US" dirty="0"/>
              <a:t>There are 3 (technically 4) ratios.</a:t>
            </a:r>
          </a:p>
          <a:p>
            <a:pPr lvl="1"/>
            <a:r>
              <a:rPr lang="en-US" dirty="0"/>
              <a:t>One-to-One [1:1]</a:t>
            </a:r>
          </a:p>
          <a:p>
            <a:pPr lvl="1"/>
            <a:r>
              <a:rPr lang="en-US" dirty="0"/>
              <a:t>One-to-Many [1:n] | Many-to-One [n:1]</a:t>
            </a:r>
          </a:p>
          <a:p>
            <a:pPr lvl="1"/>
            <a:r>
              <a:rPr lang="en-US" dirty="0"/>
              <a:t>Many-to-Many [</a:t>
            </a:r>
            <a:r>
              <a:rPr lang="en-US" dirty="0" err="1"/>
              <a:t>m:n</a:t>
            </a:r>
            <a:r>
              <a:rPr lang="en-US" dirty="0"/>
              <a:t>]</a:t>
            </a:r>
          </a:p>
          <a:p>
            <a:r>
              <a:rPr lang="en-US" dirty="0"/>
              <a:t>Note: each type of relationship can have a ‘lower bound’ of zero, i.e. there is no associated record.</a:t>
            </a:r>
          </a:p>
        </p:txBody>
      </p:sp>
      <p:sp>
        <p:nvSpPr>
          <p:cNvPr id="4" name="Slide Number Placeholder 3">
            <a:extLst>
              <a:ext uri="{FF2B5EF4-FFF2-40B4-BE49-F238E27FC236}">
                <a16:creationId xmlns:a16="http://schemas.microsoft.com/office/drawing/2014/main" id="{7B9A9BDE-83F8-4120-9B0A-D765603A17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3016637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35CB1-FC65-4AC7-83C5-D9E8749D97F2}"/>
              </a:ext>
            </a:extLst>
          </p:cNvPr>
          <p:cNvSpPr>
            <a:spLocks noGrp="1"/>
          </p:cNvSpPr>
          <p:nvPr>
            <p:ph type="title"/>
          </p:nvPr>
        </p:nvSpPr>
        <p:spPr/>
        <p:txBody>
          <a:bodyPr/>
          <a:lstStyle/>
          <a:p>
            <a:r>
              <a:rPr lang="en-US" dirty="0"/>
              <a:t>1:1</a:t>
            </a:r>
          </a:p>
        </p:txBody>
      </p:sp>
      <p:sp>
        <p:nvSpPr>
          <p:cNvPr id="3" name="Text Placeholder 2">
            <a:extLst>
              <a:ext uri="{FF2B5EF4-FFF2-40B4-BE49-F238E27FC236}">
                <a16:creationId xmlns:a16="http://schemas.microsoft.com/office/drawing/2014/main" id="{C6F51D0E-4D82-4BD3-A377-0C4E3AA74EF7}"/>
              </a:ext>
            </a:extLst>
          </p:cNvPr>
          <p:cNvSpPr>
            <a:spLocks noGrp="1"/>
          </p:cNvSpPr>
          <p:nvPr>
            <p:ph type="body" idx="1"/>
          </p:nvPr>
        </p:nvSpPr>
        <p:spPr>
          <a:xfrm>
            <a:off x="380010" y="1481446"/>
            <a:ext cx="8383980" cy="4882266"/>
          </a:xfrm>
        </p:spPr>
        <p:txBody>
          <a:bodyPr>
            <a:normAutofit/>
          </a:bodyPr>
          <a:lstStyle/>
          <a:p>
            <a:r>
              <a:rPr lang="en-US" dirty="0"/>
              <a:t>1:1 (mandatory) For a given table there is </a:t>
            </a:r>
            <a:r>
              <a:rPr lang="en-US" b="1" dirty="0"/>
              <a:t>one and only one</a:t>
            </a:r>
            <a:r>
              <a:rPr lang="en-US" dirty="0"/>
              <a:t> counterpart record in another table.</a:t>
            </a:r>
          </a:p>
          <a:p>
            <a:pPr lvl="1"/>
            <a:r>
              <a:rPr lang="en-US" dirty="0"/>
              <a:t>Examples:</a:t>
            </a:r>
          </a:p>
          <a:p>
            <a:pPr lvl="2"/>
            <a:r>
              <a:rPr lang="en-US" dirty="0"/>
              <a:t>social security numbers</a:t>
            </a:r>
          </a:p>
          <a:p>
            <a:pPr lvl="2"/>
            <a:r>
              <a:rPr lang="en-US" dirty="0"/>
              <a:t>seat and ticket in theater</a:t>
            </a:r>
          </a:p>
          <a:p>
            <a:r>
              <a:rPr lang="en-US" dirty="0"/>
              <a:t>0:1 (optional) For a given table there is </a:t>
            </a:r>
            <a:r>
              <a:rPr lang="en-US" b="1" dirty="0"/>
              <a:t>up to one</a:t>
            </a:r>
            <a:r>
              <a:rPr lang="en-US" dirty="0"/>
              <a:t> counterpart record in another table.</a:t>
            </a:r>
          </a:p>
          <a:p>
            <a:pPr lvl="1"/>
            <a:r>
              <a:rPr lang="en-US" dirty="0"/>
              <a:t>Examples:</a:t>
            </a:r>
          </a:p>
          <a:p>
            <a:pPr lvl="2"/>
            <a:r>
              <a:rPr lang="en-US" dirty="0"/>
              <a:t>person and significant other</a:t>
            </a:r>
          </a:p>
          <a:p>
            <a:pPr lvl="2"/>
            <a:r>
              <a:rPr lang="en-US" dirty="0"/>
              <a:t>user account and profile photo</a:t>
            </a:r>
          </a:p>
          <a:p>
            <a:pPr lvl="2"/>
            <a:endParaRPr lang="en-US" dirty="0"/>
          </a:p>
        </p:txBody>
      </p:sp>
      <p:sp>
        <p:nvSpPr>
          <p:cNvPr id="4" name="Slide Number Placeholder 3">
            <a:extLst>
              <a:ext uri="{FF2B5EF4-FFF2-40B4-BE49-F238E27FC236}">
                <a16:creationId xmlns:a16="http://schemas.microsoft.com/office/drawing/2014/main" id="{7B9A9BDE-83F8-4120-9B0A-D765603A17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extLst>
      <p:ext uri="{BB962C8B-B14F-4D97-AF65-F5344CB8AC3E}">
        <p14:creationId xmlns:p14="http://schemas.microsoft.com/office/powerpoint/2010/main" val="1566514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35CB1-FC65-4AC7-83C5-D9E8749D97F2}"/>
              </a:ext>
            </a:extLst>
          </p:cNvPr>
          <p:cNvSpPr>
            <a:spLocks noGrp="1"/>
          </p:cNvSpPr>
          <p:nvPr>
            <p:ph type="title"/>
          </p:nvPr>
        </p:nvSpPr>
        <p:spPr/>
        <p:txBody>
          <a:bodyPr/>
          <a:lstStyle/>
          <a:p>
            <a:r>
              <a:rPr lang="en-US" dirty="0"/>
              <a:t>1:n (and n:1)</a:t>
            </a:r>
          </a:p>
        </p:txBody>
      </p:sp>
      <p:sp>
        <p:nvSpPr>
          <p:cNvPr id="3" name="Text Placeholder 2">
            <a:extLst>
              <a:ext uri="{FF2B5EF4-FFF2-40B4-BE49-F238E27FC236}">
                <a16:creationId xmlns:a16="http://schemas.microsoft.com/office/drawing/2014/main" id="{C6F51D0E-4D82-4BD3-A377-0C4E3AA74EF7}"/>
              </a:ext>
            </a:extLst>
          </p:cNvPr>
          <p:cNvSpPr>
            <a:spLocks noGrp="1"/>
          </p:cNvSpPr>
          <p:nvPr>
            <p:ph type="body" idx="1"/>
          </p:nvPr>
        </p:nvSpPr>
        <p:spPr>
          <a:xfrm>
            <a:off x="380010" y="1481446"/>
            <a:ext cx="8383980" cy="4882266"/>
          </a:xfrm>
        </p:spPr>
        <p:txBody>
          <a:bodyPr>
            <a:normAutofit lnSpcReduction="10000"/>
          </a:bodyPr>
          <a:lstStyle/>
          <a:p>
            <a:r>
              <a:rPr lang="en-US" dirty="0"/>
              <a:t>1:n (mandatory) For a record in a given table, there is </a:t>
            </a:r>
            <a:r>
              <a:rPr lang="en-US" b="1" dirty="0"/>
              <a:t>at least one and up to many </a:t>
            </a:r>
            <a:r>
              <a:rPr lang="en-US" dirty="0"/>
              <a:t>associated records.</a:t>
            </a:r>
          </a:p>
          <a:p>
            <a:r>
              <a:rPr lang="en-US" dirty="0"/>
              <a:t>Most common database relationship.</a:t>
            </a:r>
          </a:p>
          <a:p>
            <a:pPr lvl="1"/>
            <a:r>
              <a:rPr lang="en-US" dirty="0"/>
              <a:t>Examples:</a:t>
            </a:r>
          </a:p>
          <a:p>
            <a:pPr lvl="2"/>
            <a:r>
              <a:rPr lang="en-US" dirty="0"/>
              <a:t>Beehive and bees</a:t>
            </a:r>
          </a:p>
          <a:p>
            <a:pPr lvl="2"/>
            <a:r>
              <a:rPr lang="en-US" dirty="0"/>
              <a:t>Author and books</a:t>
            </a:r>
          </a:p>
          <a:p>
            <a:r>
              <a:rPr lang="en-US" dirty="0"/>
              <a:t>0:n (optional) For a record in a given table, there are </a:t>
            </a:r>
            <a:r>
              <a:rPr lang="en-US" b="1" dirty="0"/>
              <a:t>up to many</a:t>
            </a:r>
            <a:r>
              <a:rPr lang="en-US" dirty="0"/>
              <a:t> associated records.</a:t>
            </a:r>
          </a:p>
          <a:p>
            <a:pPr lvl="1"/>
            <a:r>
              <a:rPr lang="en-US" dirty="0"/>
              <a:t>Examples:</a:t>
            </a:r>
          </a:p>
          <a:p>
            <a:pPr lvl="2"/>
            <a:r>
              <a:rPr lang="en-US" dirty="0"/>
              <a:t>Customer and Orders</a:t>
            </a:r>
          </a:p>
          <a:p>
            <a:pPr lvl="2"/>
            <a:r>
              <a:rPr lang="en-US" dirty="0"/>
              <a:t>Employee and paychecks</a:t>
            </a:r>
          </a:p>
          <a:p>
            <a:endParaRPr lang="en-US" dirty="0"/>
          </a:p>
          <a:p>
            <a:pPr lvl="1"/>
            <a:endParaRPr lang="en-US" dirty="0"/>
          </a:p>
        </p:txBody>
      </p:sp>
      <p:sp>
        <p:nvSpPr>
          <p:cNvPr id="4" name="Slide Number Placeholder 3">
            <a:extLst>
              <a:ext uri="{FF2B5EF4-FFF2-40B4-BE49-F238E27FC236}">
                <a16:creationId xmlns:a16="http://schemas.microsoft.com/office/drawing/2014/main" id="{7B9A9BDE-83F8-4120-9B0A-D765603A17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Tree>
    <p:extLst>
      <p:ext uri="{BB962C8B-B14F-4D97-AF65-F5344CB8AC3E}">
        <p14:creationId xmlns:p14="http://schemas.microsoft.com/office/powerpoint/2010/main" val="3346678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35CB1-FC65-4AC7-83C5-D9E8749D97F2}"/>
              </a:ext>
            </a:extLst>
          </p:cNvPr>
          <p:cNvSpPr>
            <a:spLocks noGrp="1"/>
          </p:cNvSpPr>
          <p:nvPr>
            <p:ph type="title"/>
          </p:nvPr>
        </p:nvSpPr>
        <p:spPr/>
        <p:txBody>
          <a:bodyPr/>
          <a:lstStyle/>
          <a:p>
            <a:r>
              <a:rPr lang="en-US" dirty="0"/>
              <a:t>m:n</a:t>
            </a:r>
          </a:p>
        </p:txBody>
      </p:sp>
      <p:sp>
        <p:nvSpPr>
          <p:cNvPr id="3" name="Text Placeholder 2">
            <a:extLst>
              <a:ext uri="{FF2B5EF4-FFF2-40B4-BE49-F238E27FC236}">
                <a16:creationId xmlns:a16="http://schemas.microsoft.com/office/drawing/2014/main" id="{C6F51D0E-4D82-4BD3-A377-0C4E3AA74EF7}"/>
              </a:ext>
            </a:extLst>
          </p:cNvPr>
          <p:cNvSpPr>
            <a:spLocks noGrp="1"/>
          </p:cNvSpPr>
          <p:nvPr>
            <p:ph type="body" idx="1"/>
          </p:nvPr>
        </p:nvSpPr>
        <p:spPr>
          <a:xfrm>
            <a:off x="380010" y="1481445"/>
            <a:ext cx="8383980" cy="4979175"/>
          </a:xfrm>
        </p:spPr>
        <p:txBody>
          <a:bodyPr>
            <a:normAutofit fontScale="92500" lnSpcReduction="10000"/>
          </a:bodyPr>
          <a:lstStyle/>
          <a:p>
            <a:r>
              <a:rPr lang="en-US" dirty="0"/>
              <a:t>Two tables have such a relationship where many records from one table may be associated with many records from another table.</a:t>
            </a:r>
          </a:p>
          <a:p>
            <a:r>
              <a:rPr lang="en-US" dirty="0"/>
              <a:t>Most DBs will break a many-to-many relationship into two 1:n relationships.</a:t>
            </a:r>
          </a:p>
          <a:p>
            <a:r>
              <a:rPr lang="en-US" dirty="0"/>
              <a:t>A ‘Join Table’ generally best represents this relationship.</a:t>
            </a:r>
          </a:p>
          <a:p>
            <a:r>
              <a:rPr lang="en-US" dirty="0"/>
              <a:t>Examples:</a:t>
            </a:r>
          </a:p>
          <a:p>
            <a:pPr lvl="1"/>
            <a:r>
              <a:rPr lang="en-US" dirty="0"/>
              <a:t>Join Tables</a:t>
            </a:r>
          </a:p>
          <a:p>
            <a:pPr lvl="1"/>
            <a:r>
              <a:rPr lang="en-US" dirty="0"/>
              <a:t>Actors and Movies</a:t>
            </a:r>
          </a:p>
          <a:p>
            <a:pPr lvl="1"/>
            <a:r>
              <a:rPr lang="en-US" dirty="0"/>
              <a:t>Students and Classes</a:t>
            </a:r>
          </a:p>
          <a:p>
            <a:pPr lvl="1"/>
            <a:r>
              <a:rPr lang="en-US" dirty="0"/>
              <a:t>Products and Orders</a:t>
            </a:r>
          </a:p>
        </p:txBody>
      </p:sp>
      <p:sp>
        <p:nvSpPr>
          <p:cNvPr id="4" name="Slide Number Placeholder 3">
            <a:extLst>
              <a:ext uri="{FF2B5EF4-FFF2-40B4-BE49-F238E27FC236}">
                <a16:creationId xmlns:a16="http://schemas.microsoft.com/office/drawing/2014/main" id="{7B9A9BDE-83F8-4120-9B0A-D765603A17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Tree>
    <p:extLst>
      <p:ext uri="{BB962C8B-B14F-4D97-AF65-F5344CB8AC3E}">
        <p14:creationId xmlns:p14="http://schemas.microsoft.com/office/powerpoint/2010/main" val="2062468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24CD4-C17A-B381-02B5-840F47A9623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1E3554-AB4A-BEAB-0614-AB0821763D07}"/>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25</a:t>
            </a:fld>
            <a:endParaRPr lang="en-US"/>
          </a:p>
        </p:txBody>
      </p:sp>
      <p:sp>
        <p:nvSpPr>
          <p:cNvPr id="4" name="Google Shape;212;p15">
            <a:extLst>
              <a:ext uri="{FF2B5EF4-FFF2-40B4-BE49-F238E27FC236}">
                <a16:creationId xmlns:a16="http://schemas.microsoft.com/office/drawing/2014/main" id="{97963709-1F0F-6D36-795E-00205D190D94}"/>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Normalization</a:t>
            </a:r>
          </a:p>
        </p:txBody>
      </p:sp>
      <p:pic>
        <p:nvPicPr>
          <p:cNvPr id="6" name="Picture 5">
            <a:extLst>
              <a:ext uri="{FF2B5EF4-FFF2-40B4-BE49-F238E27FC236}">
                <a16:creationId xmlns:a16="http://schemas.microsoft.com/office/drawing/2014/main" id="{870C82F3-B653-78D5-6D88-B8BEDB3D9FE3}"/>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5654897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Normalization</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882266"/>
          </a:xfrm>
        </p:spPr>
        <p:txBody>
          <a:bodyPr>
            <a:normAutofit/>
          </a:bodyPr>
          <a:lstStyle/>
          <a:p>
            <a:r>
              <a:rPr lang="en-US" dirty="0"/>
              <a:t>Database normalization is a design pattern which aims to reduce duplicate data and reduce redundancy.</a:t>
            </a:r>
          </a:p>
          <a:p>
            <a:r>
              <a:rPr lang="en-US" dirty="0"/>
              <a:t>Additionally, aims to ensure reference integrity</a:t>
            </a:r>
          </a:p>
          <a:p>
            <a:r>
              <a:rPr lang="en-US" dirty="0"/>
              <a:t>Tables should be atomic (granular).</a:t>
            </a:r>
          </a:p>
          <a:p>
            <a:pPr lvl="1"/>
            <a:r>
              <a:rPr lang="en-US" b="1" dirty="0"/>
              <a:t>Atomic Data</a:t>
            </a:r>
            <a:r>
              <a:rPr lang="en-US" dirty="0"/>
              <a:t>: Data that has been broken down into the smallest possible unit of meaningful data.</a:t>
            </a:r>
          </a:p>
          <a:p>
            <a:r>
              <a:rPr lang="en-US" dirty="0"/>
              <a:t>Tables should only store information related to that table</a:t>
            </a:r>
          </a:p>
          <a:p>
            <a:r>
              <a:rPr lang="en-US" dirty="0"/>
              <a:t>Each table should have its own unique identifier</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Tree>
    <p:extLst>
      <p:ext uri="{BB962C8B-B14F-4D97-AF65-F5344CB8AC3E}">
        <p14:creationId xmlns:p14="http://schemas.microsoft.com/office/powerpoint/2010/main" val="3127437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0NF</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882266"/>
          </a:xfrm>
        </p:spPr>
        <p:txBody>
          <a:bodyPr/>
          <a:lstStyle/>
          <a:p>
            <a:r>
              <a:rPr lang="en-US" dirty="0"/>
              <a:t>0NF [Zero Normal Form]: no normalization</a:t>
            </a:r>
          </a:p>
          <a:p>
            <a:pPr lvl="1"/>
            <a:r>
              <a:rPr lang="en-US" dirty="0"/>
              <a:t>Ex: name, address, movies owned, contact</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graphicFrame>
        <p:nvGraphicFramePr>
          <p:cNvPr id="5" name="Table 5">
            <a:extLst>
              <a:ext uri="{FF2B5EF4-FFF2-40B4-BE49-F238E27FC236}">
                <a16:creationId xmlns:a16="http://schemas.microsoft.com/office/drawing/2014/main" id="{E43820B1-1538-4CEA-8476-0DC48B7FE8A0}"/>
              </a:ext>
            </a:extLst>
          </p:cNvPr>
          <p:cNvGraphicFramePr>
            <a:graphicFrameLocks noGrp="1"/>
          </p:cNvGraphicFramePr>
          <p:nvPr/>
        </p:nvGraphicFramePr>
        <p:xfrm>
          <a:off x="380010" y="3185733"/>
          <a:ext cx="8439250" cy="2839720"/>
        </p:xfrm>
        <a:graphic>
          <a:graphicData uri="http://schemas.openxmlformats.org/drawingml/2006/table">
            <a:tbl>
              <a:tblPr firstRow="1" bandRow="1">
                <a:tableStyleId>{5C22544A-7EE6-4342-B048-85BDC9FD1C3A}</a:tableStyleId>
              </a:tblPr>
              <a:tblGrid>
                <a:gridCol w="2095995">
                  <a:extLst>
                    <a:ext uri="{9D8B030D-6E8A-4147-A177-3AD203B41FA5}">
                      <a16:colId xmlns:a16="http://schemas.microsoft.com/office/drawing/2014/main" val="3291405774"/>
                    </a:ext>
                  </a:extLst>
                </a:gridCol>
                <a:gridCol w="2095995">
                  <a:extLst>
                    <a:ext uri="{9D8B030D-6E8A-4147-A177-3AD203B41FA5}">
                      <a16:colId xmlns:a16="http://schemas.microsoft.com/office/drawing/2014/main" val="3084846301"/>
                    </a:ext>
                  </a:extLst>
                </a:gridCol>
                <a:gridCol w="2170632">
                  <a:extLst>
                    <a:ext uri="{9D8B030D-6E8A-4147-A177-3AD203B41FA5}">
                      <a16:colId xmlns:a16="http://schemas.microsoft.com/office/drawing/2014/main" val="2055399707"/>
                    </a:ext>
                  </a:extLst>
                </a:gridCol>
                <a:gridCol w="2076628">
                  <a:extLst>
                    <a:ext uri="{9D8B030D-6E8A-4147-A177-3AD203B41FA5}">
                      <a16:colId xmlns:a16="http://schemas.microsoft.com/office/drawing/2014/main" val="3347116633"/>
                    </a:ext>
                  </a:extLst>
                </a:gridCol>
              </a:tblGrid>
              <a:tr h="370840">
                <a:tc>
                  <a:txBody>
                    <a:bodyPr/>
                    <a:lstStyle/>
                    <a:p>
                      <a:pPr algn="ctr"/>
                      <a:r>
                        <a:rPr lang="en-US" dirty="0"/>
                        <a:t>Name</a:t>
                      </a:r>
                    </a:p>
                  </a:txBody>
                  <a:tcPr/>
                </a:tc>
                <a:tc>
                  <a:txBody>
                    <a:bodyPr/>
                    <a:lstStyle/>
                    <a:p>
                      <a:pPr algn="ctr"/>
                      <a:r>
                        <a:rPr lang="en-US" dirty="0"/>
                        <a:t>address</a:t>
                      </a:r>
                    </a:p>
                  </a:txBody>
                  <a:tcPr/>
                </a:tc>
                <a:tc>
                  <a:txBody>
                    <a:bodyPr/>
                    <a:lstStyle/>
                    <a:p>
                      <a:pPr algn="ctr"/>
                      <a:r>
                        <a:rPr lang="en-US" dirty="0" err="1"/>
                        <a:t>Movies_borrowed</a:t>
                      </a:r>
                      <a:endParaRPr lang="en-US" dirty="0"/>
                    </a:p>
                  </a:txBody>
                  <a:tcPr/>
                </a:tc>
                <a:tc>
                  <a:txBody>
                    <a:bodyPr/>
                    <a:lstStyle/>
                    <a:p>
                      <a:pPr algn="ctr"/>
                      <a:r>
                        <a:rPr lang="en-US" dirty="0" err="1"/>
                        <a:t>Contact_info</a:t>
                      </a:r>
                      <a:endParaRPr lang="en-US" dirty="0"/>
                    </a:p>
                  </a:txBody>
                  <a:tcPr/>
                </a:tc>
                <a:extLst>
                  <a:ext uri="{0D108BD9-81ED-4DB2-BD59-A6C34878D82A}">
                    <a16:rowId xmlns:a16="http://schemas.microsoft.com/office/drawing/2014/main" val="3831509558"/>
                  </a:ext>
                </a:extLst>
              </a:tr>
              <a:tr h="370840">
                <a:tc>
                  <a:txBody>
                    <a:bodyPr/>
                    <a:lstStyle/>
                    <a:p>
                      <a:pPr algn="ctr"/>
                      <a:r>
                        <a:rPr lang="en-US" dirty="0"/>
                        <a:t>John Smith</a:t>
                      </a:r>
                    </a:p>
                  </a:txBody>
                  <a:tcPr/>
                </a:tc>
                <a:tc>
                  <a:txBody>
                    <a:bodyPr/>
                    <a:lstStyle/>
                    <a:p>
                      <a:pPr algn="ctr"/>
                      <a:r>
                        <a:rPr lang="en-US" dirty="0"/>
                        <a:t>123 main street, Denver</a:t>
                      </a:r>
                    </a:p>
                  </a:txBody>
                  <a:tcPr/>
                </a:tc>
                <a:tc>
                  <a:txBody>
                    <a:bodyPr/>
                    <a:lstStyle/>
                    <a:p>
                      <a:pPr algn="ctr"/>
                      <a:r>
                        <a:rPr lang="en-US" dirty="0"/>
                        <a:t>Harry Potter, The Incredibles</a:t>
                      </a:r>
                    </a:p>
                  </a:txBody>
                  <a:tcPr/>
                </a:tc>
                <a:tc>
                  <a:txBody>
                    <a:bodyPr/>
                    <a:lstStyle/>
                    <a:p>
                      <a:pPr algn="ctr"/>
                      <a:r>
                        <a:rPr lang="en-US" dirty="0"/>
                        <a:t>555-5555, john.smith@email.com</a:t>
                      </a:r>
                    </a:p>
                  </a:txBody>
                  <a:tcPr/>
                </a:tc>
                <a:extLst>
                  <a:ext uri="{0D108BD9-81ED-4DB2-BD59-A6C34878D82A}">
                    <a16:rowId xmlns:a16="http://schemas.microsoft.com/office/drawing/2014/main" val="539188170"/>
                  </a:ext>
                </a:extLst>
              </a:tr>
              <a:tr h="370840">
                <a:tc>
                  <a:txBody>
                    <a:bodyPr/>
                    <a:lstStyle/>
                    <a:p>
                      <a:pPr algn="ctr"/>
                      <a:r>
                        <a:rPr lang="en-US" dirty="0"/>
                        <a:t>Mary Jones</a:t>
                      </a:r>
                    </a:p>
                  </a:txBody>
                  <a:tcPr/>
                </a:tc>
                <a:tc>
                  <a:txBody>
                    <a:bodyPr/>
                    <a:lstStyle/>
                    <a:p>
                      <a:pPr algn="ctr"/>
                      <a:r>
                        <a:rPr lang="en-US" dirty="0"/>
                        <a:t>456 south street, Dallas</a:t>
                      </a:r>
                    </a:p>
                  </a:txBody>
                  <a:tcPr/>
                </a:tc>
                <a:tc>
                  <a:txBody>
                    <a:bodyPr/>
                    <a:lstStyle/>
                    <a:p>
                      <a:pPr algn="ctr"/>
                      <a:r>
                        <a:rPr lang="en-US" dirty="0"/>
                        <a:t>The Martian, Avengers</a:t>
                      </a:r>
                    </a:p>
                  </a:txBody>
                  <a:tcPr/>
                </a:tc>
                <a:tc>
                  <a:txBody>
                    <a:bodyPr/>
                    <a:lstStyle/>
                    <a:p>
                      <a:pPr algn="ctr"/>
                      <a:r>
                        <a:rPr lang="en-US" dirty="0"/>
                        <a:t>444-4444</a:t>
                      </a:r>
                    </a:p>
                    <a:p>
                      <a:pPr algn="ctr"/>
                      <a:r>
                        <a:rPr lang="en-US" dirty="0"/>
                        <a:t>Mary.jones@email.com</a:t>
                      </a:r>
                    </a:p>
                  </a:txBody>
                  <a:tcPr/>
                </a:tc>
                <a:extLst>
                  <a:ext uri="{0D108BD9-81ED-4DB2-BD59-A6C34878D82A}">
                    <a16:rowId xmlns:a16="http://schemas.microsoft.com/office/drawing/2014/main" val="4114299666"/>
                  </a:ext>
                </a:extLst>
              </a:tr>
              <a:tr h="370840">
                <a:tc>
                  <a:txBody>
                    <a:bodyPr/>
                    <a:lstStyle/>
                    <a:p>
                      <a:pPr algn="ctr"/>
                      <a:r>
                        <a:rPr lang="en-US" dirty="0"/>
                        <a:t>Sally Brown</a:t>
                      </a:r>
                    </a:p>
                  </a:txBody>
                  <a:tcPr/>
                </a:tc>
                <a:tc>
                  <a:txBody>
                    <a:bodyPr/>
                    <a:lstStyle/>
                    <a:p>
                      <a:pPr algn="ctr"/>
                      <a:r>
                        <a:rPr lang="en-US" dirty="0"/>
                        <a:t>123 main street, Denver</a:t>
                      </a:r>
                    </a:p>
                  </a:txBody>
                  <a:tcPr/>
                </a:tc>
                <a:tc>
                  <a:txBody>
                    <a:bodyPr/>
                    <a:lstStyle/>
                    <a:p>
                      <a:pPr algn="ctr"/>
                      <a:r>
                        <a:rPr lang="en-US" dirty="0"/>
                        <a:t>Lord of the Rings</a:t>
                      </a:r>
                    </a:p>
                  </a:txBody>
                  <a:tcPr/>
                </a:tc>
                <a:tc>
                  <a:txBody>
                    <a:bodyPr/>
                    <a:lstStyle/>
                    <a:p>
                      <a:pPr algn="ctr"/>
                      <a:r>
                        <a:rPr lang="en-US" dirty="0"/>
                        <a:t>555-5555</a:t>
                      </a:r>
                    </a:p>
                  </a:txBody>
                  <a:tcPr/>
                </a:tc>
                <a:extLst>
                  <a:ext uri="{0D108BD9-81ED-4DB2-BD59-A6C34878D82A}">
                    <a16:rowId xmlns:a16="http://schemas.microsoft.com/office/drawing/2014/main" val="3943126984"/>
                  </a:ext>
                </a:extLst>
              </a:tr>
            </a:tbl>
          </a:graphicData>
        </a:graphic>
      </p:graphicFrame>
    </p:spTree>
    <p:extLst>
      <p:ext uri="{BB962C8B-B14F-4D97-AF65-F5344CB8AC3E}">
        <p14:creationId xmlns:p14="http://schemas.microsoft.com/office/powerpoint/2010/main" val="32829978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1NF</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77108"/>
            <a:ext cx="8383980" cy="2785403"/>
          </a:xfrm>
        </p:spPr>
        <p:txBody>
          <a:bodyPr>
            <a:normAutofit fontScale="92500" lnSpcReduction="20000"/>
          </a:bodyPr>
          <a:lstStyle/>
          <a:p>
            <a:r>
              <a:rPr lang="en-US" dirty="0"/>
              <a:t>1NF [First Normal Form] – All data must be atomic.</a:t>
            </a:r>
          </a:p>
          <a:p>
            <a:pPr lvl="1"/>
            <a:r>
              <a:rPr lang="en-US" dirty="0"/>
              <a:t>Ex: name can be split into “</a:t>
            </a:r>
            <a:r>
              <a:rPr lang="en-US" dirty="0" err="1"/>
              <a:t>first_name</a:t>
            </a:r>
            <a:r>
              <a:rPr lang="en-US" dirty="0"/>
              <a:t>” and “</a:t>
            </a:r>
            <a:r>
              <a:rPr lang="en-US" dirty="0" err="1"/>
              <a:t>last_name</a:t>
            </a:r>
            <a:r>
              <a:rPr lang="en-US" dirty="0"/>
              <a:t>”.</a:t>
            </a:r>
          </a:p>
          <a:p>
            <a:pPr lvl="1"/>
            <a:r>
              <a:rPr lang="en-US" dirty="0"/>
              <a:t>Address can be split to into street, city, state, and zip</a:t>
            </a:r>
          </a:p>
          <a:p>
            <a:pPr lvl="1"/>
            <a:r>
              <a:rPr lang="en-US" dirty="0"/>
              <a:t>Movies can be split into individual values</a:t>
            </a:r>
          </a:p>
          <a:p>
            <a:pPr lvl="1"/>
            <a:r>
              <a:rPr lang="en-US" dirty="0"/>
              <a:t>Contact can be split into ‘phone’ and ‘email’</a:t>
            </a:r>
          </a:p>
          <a:p>
            <a:r>
              <a:rPr lang="en-US" dirty="0"/>
              <a:t>Each record should be unique</a:t>
            </a:r>
          </a:p>
          <a:p>
            <a:r>
              <a:rPr lang="en-US" dirty="0"/>
              <a:t>All tables should have an identifying column (PK)</a:t>
            </a:r>
          </a:p>
          <a:p>
            <a:endParaRPr lang="en-US" dirty="0"/>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graphicFrame>
        <p:nvGraphicFramePr>
          <p:cNvPr id="5" name="Table 5">
            <a:extLst>
              <a:ext uri="{FF2B5EF4-FFF2-40B4-BE49-F238E27FC236}">
                <a16:creationId xmlns:a16="http://schemas.microsoft.com/office/drawing/2014/main" id="{F6DD58FE-DCB2-41AD-9F42-2D3CF4702727}"/>
              </a:ext>
            </a:extLst>
          </p:cNvPr>
          <p:cNvGraphicFramePr>
            <a:graphicFrameLocks noGrp="1"/>
          </p:cNvGraphicFramePr>
          <p:nvPr/>
        </p:nvGraphicFramePr>
        <p:xfrm>
          <a:off x="34183" y="4153069"/>
          <a:ext cx="9075634" cy="2062480"/>
        </p:xfrm>
        <a:graphic>
          <a:graphicData uri="http://schemas.openxmlformats.org/drawingml/2006/table">
            <a:tbl>
              <a:tblPr firstRow="1" bandRow="1">
                <a:tableStyleId>{5C22544A-7EE6-4342-B048-85BDC9FD1C3A}</a:tableStyleId>
              </a:tblPr>
              <a:tblGrid>
                <a:gridCol w="1296519">
                  <a:extLst>
                    <a:ext uri="{9D8B030D-6E8A-4147-A177-3AD203B41FA5}">
                      <a16:colId xmlns:a16="http://schemas.microsoft.com/office/drawing/2014/main" val="3063934791"/>
                    </a:ext>
                  </a:extLst>
                </a:gridCol>
                <a:gridCol w="1296519">
                  <a:extLst>
                    <a:ext uri="{9D8B030D-6E8A-4147-A177-3AD203B41FA5}">
                      <a16:colId xmlns:a16="http://schemas.microsoft.com/office/drawing/2014/main" val="2103592626"/>
                    </a:ext>
                  </a:extLst>
                </a:gridCol>
                <a:gridCol w="1296519">
                  <a:extLst>
                    <a:ext uri="{9D8B030D-6E8A-4147-A177-3AD203B41FA5}">
                      <a16:colId xmlns:a16="http://schemas.microsoft.com/office/drawing/2014/main" val="3291405774"/>
                    </a:ext>
                  </a:extLst>
                </a:gridCol>
                <a:gridCol w="1554114">
                  <a:extLst>
                    <a:ext uri="{9D8B030D-6E8A-4147-A177-3AD203B41FA5}">
                      <a16:colId xmlns:a16="http://schemas.microsoft.com/office/drawing/2014/main" val="3084846301"/>
                    </a:ext>
                  </a:extLst>
                </a:gridCol>
                <a:gridCol w="1038925">
                  <a:extLst>
                    <a:ext uri="{9D8B030D-6E8A-4147-A177-3AD203B41FA5}">
                      <a16:colId xmlns:a16="http://schemas.microsoft.com/office/drawing/2014/main" val="2055399707"/>
                    </a:ext>
                  </a:extLst>
                </a:gridCol>
                <a:gridCol w="1413718">
                  <a:extLst>
                    <a:ext uri="{9D8B030D-6E8A-4147-A177-3AD203B41FA5}">
                      <a16:colId xmlns:a16="http://schemas.microsoft.com/office/drawing/2014/main" val="2477988970"/>
                    </a:ext>
                  </a:extLst>
                </a:gridCol>
                <a:gridCol w="1179320">
                  <a:extLst>
                    <a:ext uri="{9D8B030D-6E8A-4147-A177-3AD203B41FA5}">
                      <a16:colId xmlns:a16="http://schemas.microsoft.com/office/drawing/2014/main" val="3347116633"/>
                    </a:ext>
                  </a:extLst>
                </a:gridCol>
              </a:tblGrid>
              <a:tr h="370840">
                <a:tc>
                  <a:txBody>
                    <a:bodyPr/>
                    <a:lstStyle/>
                    <a:p>
                      <a:pPr algn="ctr"/>
                      <a:r>
                        <a:rPr lang="en-US" sz="1600" dirty="0" err="1"/>
                        <a:t>Record_id</a:t>
                      </a:r>
                      <a:endParaRPr lang="en-US" sz="1600" dirty="0"/>
                    </a:p>
                  </a:txBody>
                  <a:tcPr/>
                </a:tc>
                <a:tc>
                  <a:txBody>
                    <a:bodyPr/>
                    <a:lstStyle/>
                    <a:p>
                      <a:pPr algn="ctr"/>
                      <a:r>
                        <a:rPr lang="en-US" sz="1600" dirty="0" err="1"/>
                        <a:t>first_name</a:t>
                      </a:r>
                      <a:endParaRPr lang="en-US" sz="1600" dirty="0"/>
                    </a:p>
                  </a:txBody>
                  <a:tcPr/>
                </a:tc>
                <a:tc>
                  <a:txBody>
                    <a:bodyPr/>
                    <a:lstStyle/>
                    <a:p>
                      <a:pPr algn="ctr"/>
                      <a:r>
                        <a:rPr lang="en-US" sz="1600" dirty="0" err="1"/>
                        <a:t>last_name</a:t>
                      </a:r>
                      <a:endParaRPr lang="en-US" sz="1600" dirty="0"/>
                    </a:p>
                  </a:txBody>
                  <a:tcPr/>
                </a:tc>
                <a:tc>
                  <a:txBody>
                    <a:bodyPr/>
                    <a:lstStyle/>
                    <a:p>
                      <a:pPr algn="ctr"/>
                      <a:r>
                        <a:rPr lang="en-US" sz="1600" dirty="0" err="1"/>
                        <a:t>Street_addr</a:t>
                      </a:r>
                      <a:endParaRPr lang="en-US" sz="1600" dirty="0"/>
                    </a:p>
                  </a:txBody>
                  <a:tcPr/>
                </a:tc>
                <a:tc>
                  <a:txBody>
                    <a:bodyPr/>
                    <a:lstStyle/>
                    <a:p>
                      <a:pPr algn="ctr"/>
                      <a:r>
                        <a:rPr lang="en-US" sz="1600" dirty="0"/>
                        <a:t>city</a:t>
                      </a:r>
                    </a:p>
                  </a:txBody>
                  <a:tcPr/>
                </a:tc>
                <a:tc>
                  <a:txBody>
                    <a:bodyPr/>
                    <a:lstStyle/>
                    <a:p>
                      <a:pPr algn="ctr"/>
                      <a:r>
                        <a:rPr lang="en-US" sz="1600" dirty="0"/>
                        <a:t>movies</a:t>
                      </a:r>
                    </a:p>
                  </a:txBody>
                  <a:tcPr/>
                </a:tc>
                <a:tc>
                  <a:txBody>
                    <a:bodyPr/>
                    <a:lstStyle/>
                    <a:p>
                      <a:pPr algn="ctr"/>
                      <a:r>
                        <a:rPr lang="en-US" sz="1600" dirty="0"/>
                        <a:t>phone</a:t>
                      </a:r>
                    </a:p>
                  </a:txBody>
                  <a:tcPr/>
                </a:tc>
                <a:extLst>
                  <a:ext uri="{0D108BD9-81ED-4DB2-BD59-A6C34878D82A}">
                    <a16:rowId xmlns:a16="http://schemas.microsoft.com/office/drawing/2014/main" val="3831509558"/>
                  </a:ext>
                </a:extLst>
              </a:tr>
              <a:tr h="370840">
                <a:tc>
                  <a:txBody>
                    <a:bodyPr/>
                    <a:lstStyle/>
                    <a:p>
                      <a:pPr algn="ctr"/>
                      <a:r>
                        <a:rPr lang="en-US" sz="1600" dirty="0"/>
                        <a:t>1</a:t>
                      </a:r>
                    </a:p>
                  </a:txBody>
                  <a:tcPr/>
                </a:tc>
                <a:tc>
                  <a:txBody>
                    <a:bodyPr/>
                    <a:lstStyle/>
                    <a:p>
                      <a:pPr algn="ctr"/>
                      <a:r>
                        <a:rPr lang="en-US" sz="1600" dirty="0"/>
                        <a:t>John</a:t>
                      </a:r>
                    </a:p>
                  </a:txBody>
                  <a:tcPr/>
                </a:tc>
                <a:tc>
                  <a:txBody>
                    <a:bodyPr/>
                    <a:lstStyle/>
                    <a:p>
                      <a:pPr algn="ctr"/>
                      <a:r>
                        <a:rPr lang="en-US" sz="1600" dirty="0"/>
                        <a:t>Smith</a:t>
                      </a:r>
                    </a:p>
                  </a:txBody>
                  <a:tcPr/>
                </a:tc>
                <a:tc>
                  <a:txBody>
                    <a:bodyPr/>
                    <a:lstStyle/>
                    <a:p>
                      <a:pPr algn="ctr"/>
                      <a:r>
                        <a:rPr lang="en-US" sz="1600" dirty="0"/>
                        <a:t>123 main </a:t>
                      </a:r>
                      <a:r>
                        <a:rPr lang="en-US" sz="1600" dirty="0" err="1"/>
                        <a:t>st</a:t>
                      </a:r>
                      <a:endParaRPr lang="en-US" sz="1600" dirty="0"/>
                    </a:p>
                  </a:txBody>
                  <a:tcPr/>
                </a:tc>
                <a:tc>
                  <a:txBody>
                    <a:bodyPr/>
                    <a:lstStyle/>
                    <a:p>
                      <a:pPr algn="ctr"/>
                      <a:r>
                        <a:rPr lang="en-US" sz="1600" dirty="0"/>
                        <a:t>Denver</a:t>
                      </a:r>
                    </a:p>
                  </a:txBody>
                  <a:tcPr/>
                </a:tc>
                <a:tc>
                  <a:txBody>
                    <a:bodyPr/>
                    <a:lstStyle/>
                    <a:p>
                      <a:pPr algn="ctr"/>
                      <a:r>
                        <a:rPr lang="en-US" sz="1600" dirty="0"/>
                        <a:t>Harry Potter</a:t>
                      </a:r>
                    </a:p>
                  </a:txBody>
                  <a:tcPr/>
                </a:tc>
                <a:tc>
                  <a:txBody>
                    <a:bodyPr/>
                    <a:lstStyle/>
                    <a:p>
                      <a:pPr algn="ctr"/>
                      <a:r>
                        <a:rPr lang="en-US" sz="1600" dirty="0"/>
                        <a:t>555-5555</a:t>
                      </a:r>
                    </a:p>
                  </a:txBody>
                  <a:tcPr/>
                </a:tc>
                <a:extLst>
                  <a:ext uri="{0D108BD9-81ED-4DB2-BD59-A6C34878D82A}">
                    <a16:rowId xmlns:a16="http://schemas.microsoft.com/office/drawing/2014/main" val="539188170"/>
                  </a:ext>
                </a:extLst>
              </a:tr>
              <a:tr h="370840">
                <a:tc>
                  <a:txBody>
                    <a:bodyPr/>
                    <a:lstStyle/>
                    <a:p>
                      <a:pPr algn="ctr"/>
                      <a:r>
                        <a:rPr lang="en-US" sz="1600" dirty="0"/>
                        <a:t>2</a:t>
                      </a:r>
                    </a:p>
                  </a:txBody>
                  <a:tcPr/>
                </a:tc>
                <a:tc>
                  <a:txBody>
                    <a:bodyPr/>
                    <a:lstStyle/>
                    <a:p>
                      <a:pPr algn="ctr"/>
                      <a:r>
                        <a:rPr lang="en-US" sz="1600" dirty="0"/>
                        <a:t>John</a:t>
                      </a:r>
                    </a:p>
                  </a:txBody>
                  <a:tcPr/>
                </a:tc>
                <a:tc>
                  <a:txBody>
                    <a:bodyPr/>
                    <a:lstStyle/>
                    <a:p>
                      <a:pPr algn="ctr"/>
                      <a:r>
                        <a:rPr lang="en-US" sz="1600" dirty="0"/>
                        <a:t>Smith</a:t>
                      </a:r>
                    </a:p>
                  </a:txBody>
                  <a:tcPr/>
                </a:tc>
                <a:tc>
                  <a:txBody>
                    <a:bodyPr/>
                    <a:lstStyle/>
                    <a:p>
                      <a:pPr algn="ctr"/>
                      <a:r>
                        <a:rPr lang="en-US" sz="1600" dirty="0"/>
                        <a:t>123 main </a:t>
                      </a:r>
                      <a:r>
                        <a:rPr lang="en-US" sz="1600" dirty="0" err="1"/>
                        <a:t>st</a:t>
                      </a:r>
                      <a:endParaRPr lang="en-US" sz="1600" dirty="0"/>
                    </a:p>
                  </a:txBody>
                  <a:tcPr/>
                </a:tc>
                <a:tc>
                  <a:txBody>
                    <a:bodyPr/>
                    <a:lstStyle/>
                    <a:p>
                      <a:pPr algn="ctr"/>
                      <a:r>
                        <a:rPr lang="en-US" sz="1600" dirty="0"/>
                        <a:t>Denver</a:t>
                      </a:r>
                    </a:p>
                  </a:txBody>
                  <a:tcPr/>
                </a:tc>
                <a:tc>
                  <a:txBody>
                    <a:bodyPr/>
                    <a:lstStyle/>
                    <a:p>
                      <a:pPr algn="ctr"/>
                      <a:r>
                        <a:rPr lang="en-US" sz="1600" dirty="0"/>
                        <a:t>The Incredibles</a:t>
                      </a:r>
                    </a:p>
                  </a:txBody>
                  <a:tcPr/>
                </a:tc>
                <a:tc>
                  <a:txBody>
                    <a:bodyPr/>
                    <a:lstStyle/>
                    <a:p>
                      <a:pPr algn="ctr"/>
                      <a:r>
                        <a:rPr lang="en-US" sz="1600" dirty="0"/>
                        <a:t>555-5555</a:t>
                      </a:r>
                    </a:p>
                  </a:txBody>
                  <a:tcPr/>
                </a:tc>
                <a:extLst>
                  <a:ext uri="{0D108BD9-81ED-4DB2-BD59-A6C34878D82A}">
                    <a16:rowId xmlns:a16="http://schemas.microsoft.com/office/drawing/2014/main" val="4114299666"/>
                  </a:ext>
                </a:extLst>
              </a:tr>
              <a:tr h="370840">
                <a:tc>
                  <a:txBody>
                    <a:bodyPr/>
                    <a:lstStyle/>
                    <a:p>
                      <a:pPr algn="ctr"/>
                      <a:r>
                        <a:rPr lang="en-US" sz="1600" dirty="0"/>
                        <a:t>3</a:t>
                      </a:r>
                    </a:p>
                  </a:txBody>
                  <a:tcPr/>
                </a:tc>
                <a:tc>
                  <a:txBody>
                    <a:bodyPr/>
                    <a:lstStyle/>
                    <a:p>
                      <a:pPr algn="ctr"/>
                      <a:r>
                        <a:rPr lang="en-US" sz="1600" dirty="0"/>
                        <a:t>Mary</a:t>
                      </a:r>
                    </a:p>
                  </a:txBody>
                  <a:tcPr/>
                </a:tc>
                <a:tc>
                  <a:txBody>
                    <a:bodyPr/>
                    <a:lstStyle/>
                    <a:p>
                      <a:pPr algn="ctr"/>
                      <a:r>
                        <a:rPr lang="en-US" sz="1600" dirty="0"/>
                        <a:t>Jones</a:t>
                      </a:r>
                    </a:p>
                  </a:txBody>
                  <a:tcPr/>
                </a:tc>
                <a:tc>
                  <a:txBody>
                    <a:bodyPr/>
                    <a:lstStyle/>
                    <a:p>
                      <a:pPr algn="ctr"/>
                      <a:r>
                        <a:rPr lang="en-US" sz="1600" dirty="0"/>
                        <a:t>456 south </a:t>
                      </a:r>
                      <a:r>
                        <a:rPr lang="en-US" sz="1600" dirty="0" err="1"/>
                        <a:t>ave</a:t>
                      </a:r>
                      <a:endParaRPr lang="en-US" sz="1600" dirty="0"/>
                    </a:p>
                  </a:txBody>
                  <a:tcPr/>
                </a:tc>
                <a:tc>
                  <a:txBody>
                    <a:bodyPr/>
                    <a:lstStyle/>
                    <a:p>
                      <a:pPr algn="ctr"/>
                      <a:r>
                        <a:rPr lang="en-US" sz="1600" dirty="0"/>
                        <a:t>Dallas</a:t>
                      </a:r>
                    </a:p>
                  </a:txBody>
                  <a:tcPr/>
                </a:tc>
                <a:tc>
                  <a:txBody>
                    <a:bodyPr/>
                    <a:lstStyle/>
                    <a:p>
                      <a:pPr algn="ctr"/>
                      <a:r>
                        <a:rPr lang="en-US" sz="1600" dirty="0"/>
                        <a:t>The Martian</a:t>
                      </a:r>
                    </a:p>
                  </a:txBody>
                  <a:tcPr/>
                </a:tc>
                <a:tc>
                  <a:txBody>
                    <a:bodyPr/>
                    <a:lstStyle/>
                    <a:p>
                      <a:pPr algn="ctr"/>
                      <a:r>
                        <a:rPr lang="en-US" sz="1600" dirty="0"/>
                        <a:t>444-4444</a:t>
                      </a:r>
                    </a:p>
                  </a:txBody>
                  <a:tcPr/>
                </a:tc>
                <a:extLst>
                  <a:ext uri="{0D108BD9-81ED-4DB2-BD59-A6C34878D82A}">
                    <a16:rowId xmlns:a16="http://schemas.microsoft.com/office/drawing/2014/main" val="3943126984"/>
                  </a:ext>
                </a:extLst>
              </a:tr>
              <a:tr h="370840">
                <a:tc>
                  <a:txBody>
                    <a:bodyPr/>
                    <a:lstStyle/>
                    <a:p>
                      <a:pPr algn="ctr"/>
                      <a:r>
                        <a:rPr lang="en-US" sz="1600" dirty="0"/>
                        <a:t>4</a:t>
                      </a:r>
                    </a:p>
                  </a:txBody>
                  <a:tcPr/>
                </a:tc>
                <a:tc>
                  <a:txBody>
                    <a:bodyPr/>
                    <a:lstStyle/>
                    <a:p>
                      <a:pPr algn="ctr"/>
                      <a:r>
                        <a:rPr lang="en-US" sz="1600" dirty="0"/>
                        <a:t>Mary</a:t>
                      </a:r>
                    </a:p>
                  </a:txBody>
                  <a:tcPr/>
                </a:tc>
                <a:tc>
                  <a:txBody>
                    <a:bodyPr/>
                    <a:lstStyle/>
                    <a:p>
                      <a:pPr algn="ctr"/>
                      <a:r>
                        <a:rPr lang="en-US" sz="1600" dirty="0"/>
                        <a:t>Jones</a:t>
                      </a:r>
                    </a:p>
                  </a:txBody>
                  <a:tcPr/>
                </a:tc>
                <a:tc>
                  <a:txBody>
                    <a:bodyPr/>
                    <a:lstStyle/>
                    <a:p>
                      <a:pPr algn="ctr"/>
                      <a:r>
                        <a:rPr lang="en-US" sz="1600" dirty="0"/>
                        <a:t>456 south </a:t>
                      </a:r>
                      <a:r>
                        <a:rPr lang="en-US" sz="1600" dirty="0" err="1"/>
                        <a:t>ave</a:t>
                      </a:r>
                      <a:endParaRPr lang="en-US" sz="1600" dirty="0"/>
                    </a:p>
                  </a:txBody>
                  <a:tcPr/>
                </a:tc>
                <a:tc>
                  <a:txBody>
                    <a:bodyPr/>
                    <a:lstStyle/>
                    <a:p>
                      <a:pPr algn="ctr"/>
                      <a:r>
                        <a:rPr lang="en-US" sz="1600" dirty="0"/>
                        <a:t>Dallas</a:t>
                      </a:r>
                    </a:p>
                  </a:txBody>
                  <a:tcPr/>
                </a:tc>
                <a:tc>
                  <a:txBody>
                    <a:bodyPr/>
                    <a:lstStyle/>
                    <a:p>
                      <a:pPr algn="ctr"/>
                      <a:r>
                        <a:rPr lang="en-US" sz="1600" dirty="0"/>
                        <a:t>Avengers</a:t>
                      </a:r>
                    </a:p>
                  </a:txBody>
                  <a:tcPr/>
                </a:tc>
                <a:tc>
                  <a:txBody>
                    <a:bodyPr/>
                    <a:lstStyle/>
                    <a:p>
                      <a:pPr algn="ctr"/>
                      <a:r>
                        <a:rPr lang="en-US" sz="1600" dirty="0"/>
                        <a:t>444-4444</a:t>
                      </a:r>
                    </a:p>
                  </a:txBody>
                  <a:tcPr/>
                </a:tc>
                <a:extLst>
                  <a:ext uri="{0D108BD9-81ED-4DB2-BD59-A6C34878D82A}">
                    <a16:rowId xmlns:a16="http://schemas.microsoft.com/office/drawing/2014/main" val="1676472032"/>
                  </a:ext>
                </a:extLst>
              </a:tr>
            </a:tbl>
          </a:graphicData>
        </a:graphic>
      </p:graphicFrame>
    </p:spTree>
    <p:extLst>
      <p:ext uri="{BB962C8B-B14F-4D97-AF65-F5344CB8AC3E}">
        <p14:creationId xmlns:p14="http://schemas.microsoft.com/office/powerpoint/2010/main" val="2308446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2NF</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606609"/>
            <a:ext cx="8678532" cy="555478"/>
          </a:xfrm>
        </p:spPr>
        <p:txBody>
          <a:bodyPr/>
          <a:lstStyle/>
          <a:p>
            <a:r>
              <a:rPr lang="en-US" dirty="0"/>
              <a:t>First Normal Form, plus, no partial dependencies</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graphicFrame>
        <p:nvGraphicFramePr>
          <p:cNvPr id="5" name="Table 4">
            <a:extLst>
              <a:ext uri="{FF2B5EF4-FFF2-40B4-BE49-F238E27FC236}">
                <a16:creationId xmlns:a16="http://schemas.microsoft.com/office/drawing/2014/main" id="{CB5D9B06-4CC5-6EFF-EF9C-9EDCEE2A8193}"/>
              </a:ext>
            </a:extLst>
          </p:cNvPr>
          <p:cNvGraphicFramePr>
            <a:graphicFrameLocks noGrp="1"/>
          </p:cNvGraphicFramePr>
          <p:nvPr/>
        </p:nvGraphicFramePr>
        <p:xfrm>
          <a:off x="5562521" y="2234448"/>
          <a:ext cx="3412569" cy="2453640"/>
        </p:xfrm>
        <a:graphic>
          <a:graphicData uri="http://schemas.openxmlformats.org/drawingml/2006/table">
            <a:tbl>
              <a:tblPr firstRow="1" bandRow="1">
                <a:tableStyleId>{5C22544A-7EE6-4342-B048-85BDC9FD1C3A}</a:tableStyleId>
              </a:tblPr>
              <a:tblGrid>
                <a:gridCol w="1057295">
                  <a:extLst>
                    <a:ext uri="{9D8B030D-6E8A-4147-A177-3AD203B41FA5}">
                      <a16:colId xmlns:a16="http://schemas.microsoft.com/office/drawing/2014/main" val="1832882233"/>
                    </a:ext>
                  </a:extLst>
                </a:gridCol>
                <a:gridCol w="1057295">
                  <a:extLst>
                    <a:ext uri="{9D8B030D-6E8A-4147-A177-3AD203B41FA5}">
                      <a16:colId xmlns:a16="http://schemas.microsoft.com/office/drawing/2014/main" val="3561806936"/>
                    </a:ext>
                  </a:extLst>
                </a:gridCol>
                <a:gridCol w="1297979">
                  <a:extLst>
                    <a:ext uri="{9D8B030D-6E8A-4147-A177-3AD203B41FA5}">
                      <a16:colId xmlns:a16="http://schemas.microsoft.com/office/drawing/2014/main" val="4041480804"/>
                    </a:ext>
                  </a:extLst>
                </a:gridCol>
              </a:tblGrid>
              <a:tr h="0">
                <a:tc>
                  <a:txBody>
                    <a:bodyPr/>
                    <a:lstStyle/>
                    <a:p>
                      <a:pPr algn="ctr"/>
                      <a:r>
                        <a:rPr lang="en-US" sz="1400" dirty="0" err="1"/>
                        <a:t>movie_id</a:t>
                      </a:r>
                      <a:endParaRPr lang="en-US" sz="1400" dirty="0"/>
                    </a:p>
                  </a:txBody>
                  <a:tcPr/>
                </a:tc>
                <a:tc>
                  <a:txBody>
                    <a:bodyPr/>
                    <a:lstStyle/>
                    <a:p>
                      <a:pPr algn="ctr"/>
                      <a:r>
                        <a:rPr lang="en-US" sz="1400" dirty="0" err="1"/>
                        <a:t>person_Id</a:t>
                      </a:r>
                      <a:endParaRPr lang="en-US" sz="1400" dirty="0"/>
                    </a:p>
                  </a:txBody>
                  <a:tcPr/>
                </a:tc>
                <a:tc>
                  <a:txBody>
                    <a:bodyPr/>
                    <a:lstStyle/>
                    <a:p>
                      <a:pPr algn="ctr"/>
                      <a:r>
                        <a:rPr lang="en-US" sz="1400" dirty="0" err="1"/>
                        <a:t>movie_name</a:t>
                      </a:r>
                      <a:endParaRPr lang="en-US" sz="1400" dirty="0"/>
                    </a:p>
                  </a:txBody>
                  <a:tcPr/>
                </a:tc>
                <a:extLst>
                  <a:ext uri="{0D108BD9-81ED-4DB2-BD59-A6C34878D82A}">
                    <a16:rowId xmlns:a16="http://schemas.microsoft.com/office/drawing/2014/main" val="1492990565"/>
                  </a:ext>
                </a:extLst>
              </a:tr>
              <a:tr h="370840">
                <a:tc>
                  <a:txBody>
                    <a:bodyPr/>
                    <a:lstStyle/>
                    <a:p>
                      <a:pPr algn="ctr"/>
                      <a:r>
                        <a:rPr lang="en-US" sz="1400" dirty="0"/>
                        <a:t>1</a:t>
                      </a:r>
                    </a:p>
                  </a:txBody>
                  <a:tcPr/>
                </a:tc>
                <a:tc>
                  <a:txBody>
                    <a:bodyPr/>
                    <a:lstStyle/>
                    <a:p>
                      <a:pPr algn="ctr"/>
                      <a:r>
                        <a:rPr lang="en-US" sz="1400" dirty="0"/>
                        <a:t>1001</a:t>
                      </a:r>
                    </a:p>
                  </a:txBody>
                  <a:tcPr/>
                </a:tc>
                <a:tc>
                  <a:txBody>
                    <a:bodyPr/>
                    <a:lstStyle/>
                    <a:p>
                      <a:pPr algn="ctr"/>
                      <a:r>
                        <a:rPr lang="en-US" sz="1400" dirty="0"/>
                        <a:t>Harry Potter</a:t>
                      </a:r>
                    </a:p>
                  </a:txBody>
                  <a:tcPr/>
                </a:tc>
                <a:extLst>
                  <a:ext uri="{0D108BD9-81ED-4DB2-BD59-A6C34878D82A}">
                    <a16:rowId xmlns:a16="http://schemas.microsoft.com/office/drawing/2014/main" val="3014115787"/>
                  </a:ext>
                </a:extLst>
              </a:tr>
              <a:tr h="370840">
                <a:tc>
                  <a:txBody>
                    <a:bodyPr/>
                    <a:lstStyle/>
                    <a:p>
                      <a:pPr algn="ctr"/>
                      <a:r>
                        <a:rPr lang="en-US" sz="1400" dirty="0"/>
                        <a:t>2</a:t>
                      </a:r>
                    </a:p>
                  </a:txBody>
                  <a:tcPr/>
                </a:tc>
                <a:tc>
                  <a:txBody>
                    <a:bodyPr/>
                    <a:lstStyle/>
                    <a:p>
                      <a:pPr algn="ctr"/>
                      <a:r>
                        <a:rPr lang="en-US" sz="1400" dirty="0"/>
                        <a:t>1001</a:t>
                      </a:r>
                    </a:p>
                  </a:txBody>
                  <a:tcPr/>
                </a:tc>
                <a:tc>
                  <a:txBody>
                    <a:bodyPr/>
                    <a:lstStyle/>
                    <a:p>
                      <a:pPr algn="ctr"/>
                      <a:r>
                        <a:rPr lang="en-US" sz="1400" dirty="0"/>
                        <a:t>The Incredibles</a:t>
                      </a:r>
                    </a:p>
                  </a:txBody>
                  <a:tcPr/>
                </a:tc>
                <a:extLst>
                  <a:ext uri="{0D108BD9-81ED-4DB2-BD59-A6C34878D82A}">
                    <a16:rowId xmlns:a16="http://schemas.microsoft.com/office/drawing/2014/main" val="4107963131"/>
                  </a:ext>
                </a:extLst>
              </a:tr>
              <a:tr h="370840">
                <a:tc>
                  <a:txBody>
                    <a:bodyPr/>
                    <a:lstStyle/>
                    <a:p>
                      <a:pPr algn="ctr"/>
                      <a:r>
                        <a:rPr lang="en-US" sz="1400" dirty="0"/>
                        <a:t>3</a:t>
                      </a:r>
                    </a:p>
                  </a:txBody>
                  <a:tcPr/>
                </a:tc>
                <a:tc>
                  <a:txBody>
                    <a:bodyPr/>
                    <a:lstStyle/>
                    <a:p>
                      <a:pPr algn="ctr"/>
                      <a:r>
                        <a:rPr lang="en-US" sz="1400" dirty="0"/>
                        <a:t>1002</a:t>
                      </a:r>
                    </a:p>
                  </a:txBody>
                  <a:tcPr/>
                </a:tc>
                <a:tc>
                  <a:txBody>
                    <a:bodyPr/>
                    <a:lstStyle/>
                    <a:p>
                      <a:pPr algn="ctr"/>
                      <a:r>
                        <a:rPr lang="en-US" sz="1400" dirty="0"/>
                        <a:t>The Martian</a:t>
                      </a:r>
                    </a:p>
                  </a:txBody>
                  <a:tcPr/>
                </a:tc>
                <a:extLst>
                  <a:ext uri="{0D108BD9-81ED-4DB2-BD59-A6C34878D82A}">
                    <a16:rowId xmlns:a16="http://schemas.microsoft.com/office/drawing/2014/main" val="3294600792"/>
                  </a:ext>
                </a:extLst>
              </a:tr>
              <a:tr h="370840">
                <a:tc>
                  <a:txBody>
                    <a:bodyPr/>
                    <a:lstStyle/>
                    <a:p>
                      <a:pPr algn="ctr"/>
                      <a:r>
                        <a:rPr lang="en-US" sz="1400" dirty="0"/>
                        <a:t>4</a:t>
                      </a:r>
                    </a:p>
                  </a:txBody>
                  <a:tcPr/>
                </a:tc>
                <a:tc>
                  <a:txBody>
                    <a:bodyPr/>
                    <a:lstStyle/>
                    <a:p>
                      <a:pPr algn="ctr"/>
                      <a:r>
                        <a:rPr lang="en-US" sz="1400" dirty="0"/>
                        <a:t>1002</a:t>
                      </a:r>
                    </a:p>
                  </a:txBody>
                  <a:tcPr/>
                </a:tc>
                <a:tc>
                  <a:txBody>
                    <a:bodyPr/>
                    <a:lstStyle/>
                    <a:p>
                      <a:pPr algn="ctr"/>
                      <a:r>
                        <a:rPr lang="en-US" sz="1400" dirty="0"/>
                        <a:t>Avengers</a:t>
                      </a:r>
                    </a:p>
                  </a:txBody>
                  <a:tcPr/>
                </a:tc>
                <a:extLst>
                  <a:ext uri="{0D108BD9-81ED-4DB2-BD59-A6C34878D82A}">
                    <a16:rowId xmlns:a16="http://schemas.microsoft.com/office/drawing/2014/main" val="1389462563"/>
                  </a:ext>
                </a:extLst>
              </a:tr>
              <a:tr h="370840">
                <a:tc>
                  <a:txBody>
                    <a:bodyPr/>
                    <a:lstStyle/>
                    <a:p>
                      <a:pPr algn="ctr"/>
                      <a:r>
                        <a:rPr lang="en-US" sz="1400" dirty="0"/>
                        <a:t>5</a:t>
                      </a:r>
                    </a:p>
                  </a:txBody>
                  <a:tcPr/>
                </a:tc>
                <a:tc>
                  <a:txBody>
                    <a:bodyPr/>
                    <a:lstStyle/>
                    <a:p>
                      <a:pPr algn="ctr"/>
                      <a:r>
                        <a:rPr lang="en-US" sz="1400" dirty="0"/>
                        <a:t>1003</a:t>
                      </a:r>
                    </a:p>
                  </a:txBody>
                  <a:tcPr/>
                </a:tc>
                <a:tc>
                  <a:txBody>
                    <a:bodyPr/>
                    <a:lstStyle/>
                    <a:p>
                      <a:pPr algn="ctr"/>
                      <a:r>
                        <a:rPr lang="en-US" sz="1400" dirty="0"/>
                        <a:t>Lord of the Rings</a:t>
                      </a:r>
                    </a:p>
                  </a:txBody>
                  <a:tcPr/>
                </a:tc>
                <a:extLst>
                  <a:ext uri="{0D108BD9-81ED-4DB2-BD59-A6C34878D82A}">
                    <a16:rowId xmlns:a16="http://schemas.microsoft.com/office/drawing/2014/main" val="2680654040"/>
                  </a:ext>
                </a:extLst>
              </a:tr>
            </a:tbl>
          </a:graphicData>
        </a:graphic>
      </p:graphicFrame>
      <p:graphicFrame>
        <p:nvGraphicFramePr>
          <p:cNvPr id="6" name="Table 5">
            <a:extLst>
              <a:ext uri="{FF2B5EF4-FFF2-40B4-BE49-F238E27FC236}">
                <a16:creationId xmlns:a16="http://schemas.microsoft.com/office/drawing/2014/main" id="{B6A0DB5D-F7E1-A98E-0B51-EA14C4D4F040}"/>
              </a:ext>
            </a:extLst>
          </p:cNvPr>
          <p:cNvGraphicFramePr>
            <a:graphicFrameLocks noGrp="1"/>
          </p:cNvGraphicFramePr>
          <p:nvPr/>
        </p:nvGraphicFramePr>
        <p:xfrm>
          <a:off x="675337" y="4950837"/>
          <a:ext cx="8299753" cy="1778000"/>
        </p:xfrm>
        <a:graphic>
          <a:graphicData uri="http://schemas.openxmlformats.org/drawingml/2006/table">
            <a:tbl>
              <a:tblPr firstRow="1" bandRow="1">
                <a:tableStyleId>{5C22544A-7EE6-4342-B048-85BDC9FD1C3A}</a:tableStyleId>
              </a:tblPr>
              <a:tblGrid>
                <a:gridCol w="1185679">
                  <a:extLst>
                    <a:ext uri="{9D8B030D-6E8A-4147-A177-3AD203B41FA5}">
                      <a16:colId xmlns:a16="http://schemas.microsoft.com/office/drawing/2014/main" val="3155980071"/>
                    </a:ext>
                  </a:extLst>
                </a:gridCol>
                <a:gridCol w="1185679">
                  <a:extLst>
                    <a:ext uri="{9D8B030D-6E8A-4147-A177-3AD203B41FA5}">
                      <a16:colId xmlns:a16="http://schemas.microsoft.com/office/drawing/2014/main" val="2103592626"/>
                    </a:ext>
                  </a:extLst>
                </a:gridCol>
                <a:gridCol w="1185679">
                  <a:extLst>
                    <a:ext uri="{9D8B030D-6E8A-4147-A177-3AD203B41FA5}">
                      <a16:colId xmlns:a16="http://schemas.microsoft.com/office/drawing/2014/main" val="3291405774"/>
                    </a:ext>
                  </a:extLst>
                </a:gridCol>
                <a:gridCol w="1185679">
                  <a:extLst>
                    <a:ext uri="{9D8B030D-6E8A-4147-A177-3AD203B41FA5}">
                      <a16:colId xmlns:a16="http://schemas.microsoft.com/office/drawing/2014/main" val="3084846301"/>
                    </a:ext>
                  </a:extLst>
                </a:gridCol>
                <a:gridCol w="1185679">
                  <a:extLst>
                    <a:ext uri="{9D8B030D-6E8A-4147-A177-3AD203B41FA5}">
                      <a16:colId xmlns:a16="http://schemas.microsoft.com/office/drawing/2014/main" val="2055399707"/>
                    </a:ext>
                  </a:extLst>
                </a:gridCol>
                <a:gridCol w="1185679">
                  <a:extLst>
                    <a:ext uri="{9D8B030D-6E8A-4147-A177-3AD203B41FA5}">
                      <a16:colId xmlns:a16="http://schemas.microsoft.com/office/drawing/2014/main" val="3347116633"/>
                    </a:ext>
                  </a:extLst>
                </a:gridCol>
                <a:gridCol w="1185679">
                  <a:extLst>
                    <a:ext uri="{9D8B030D-6E8A-4147-A177-3AD203B41FA5}">
                      <a16:colId xmlns:a16="http://schemas.microsoft.com/office/drawing/2014/main" val="4233679342"/>
                    </a:ext>
                  </a:extLst>
                </a:gridCol>
              </a:tblGrid>
              <a:tr h="370840">
                <a:tc>
                  <a:txBody>
                    <a:bodyPr/>
                    <a:lstStyle/>
                    <a:p>
                      <a:pPr algn="ctr"/>
                      <a:r>
                        <a:rPr lang="en-US" sz="1400" dirty="0" err="1"/>
                        <a:t>Person_Id</a:t>
                      </a:r>
                      <a:endParaRPr lang="en-US" sz="1400" dirty="0"/>
                    </a:p>
                  </a:txBody>
                  <a:tcPr/>
                </a:tc>
                <a:tc>
                  <a:txBody>
                    <a:bodyPr/>
                    <a:lstStyle/>
                    <a:p>
                      <a:pPr algn="ctr"/>
                      <a:r>
                        <a:rPr lang="en-US" sz="1400" dirty="0" err="1"/>
                        <a:t>first_name</a:t>
                      </a:r>
                      <a:endParaRPr lang="en-US" sz="1400" dirty="0"/>
                    </a:p>
                  </a:txBody>
                  <a:tcPr/>
                </a:tc>
                <a:tc>
                  <a:txBody>
                    <a:bodyPr/>
                    <a:lstStyle/>
                    <a:p>
                      <a:pPr algn="ctr"/>
                      <a:r>
                        <a:rPr lang="en-US" sz="1400" dirty="0" err="1"/>
                        <a:t>last_name</a:t>
                      </a:r>
                      <a:endParaRPr lang="en-US" sz="1400" dirty="0"/>
                    </a:p>
                  </a:txBody>
                  <a:tcPr/>
                </a:tc>
                <a:tc>
                  <a:txBody>
                    <a:bodyPr/>
                    <a:lstStyle/>
                    <a:p>
                      <a:pPr algn="ctr"/>
                      <a:r>
                        <a:rPr lang="en-US" sz="1400" dirty="0" err="1"/>
                        <a:t>Street_addr</a:t>
                      </a:r>
                      <a:endParaRPr lang="en-US" sz="1400" dirty="0"/>
                    </a:p>
                  </a:txBody>
                  <a:tcPr/>
                </a:tc>
                <a:tc>
                  <a:txBody>
                    <a:bodyPr/>
                    <a:lstStyle/>
                    <a:p>
                      <a:pPr algn="ctr"/>
                      <a:r>
                        <a:rPr lang="en-US" sz="1400" dirty="0"/>
                        <a:t>city</a:t>
                      </a:r>
                    </a:p>
                  </a:txBody>
                  <a:tcPr/>
                </a:tc>
                <a:tc>
                  <a:txBody>
                    <a:bodyPr/>
                    <a:lstStyle/>
                    <a:p>
                      <a:pPr algn="ctr"/>
                      <a:r>
                        <a:rPr lang="en-US" sz="1400" dirty="0"/>
                        <a:t>phone</a:t>
                      </a:r>
                    </a:p>
                  </a:txBody>
                  <a:tcPr/>
                </a:tc>
                <a:tc>
                  <a:txBody>
                    <a:bodyPr/>
                    <a:lstStyle/>
                    <a:p>
                      <a:pPr algn="ctr"/>
                      <a:r>
                        <a:rPr lang="en-US" sz="1400" dirty="0"/>
                        <a:t>Email</a:t>
                      </a:r>
                    </a:p>
                  </a:txBody>
                  <a:tcPr/>
                </a:tc>
                <a:extLst>
                  <a:ext uri="{0D108BD9-81ED-4DB2-BD59-A6C34878D82A}">
                    <a16:rowId xmlns:a16="http://schemas.microsoft.com/office/drawing/2014/main" val="3831509558"/>
                  </a:ext>
                </a:extLst>
              </a:tr>
              <a:tr h="370840">
                <a:tc>
                  <a:txBody>
                    <a:bodyPr/>
                    <a:lstStyle/>
                    <a:p>
                      <a:pPr algn="ctr"/>
                      <a:r>
                        <a:rPr lang="en-US" sz="1400" dirty="0"/>
                        <a:t>1001</a:t>
                      </a:r>
                    </a:p>
                  </a:txBody>
                  <a:tcPr/>
                </a:tc>
                <a:tc>
                  <a:txBody>
                    <a:bodyPr/>
                    <a:lstStyle/>
                    <a:p>
                      <a:pPr algn="ctr"/>
                      <a:r>
                        <a:rPr lang="en-US" sz="1400" dirty="0"/>
                        <a:t>John</a:t>
                      </a:r>
                    </a:p>
                  </a:txBody>
                  <a:tcPr/>
                </a:tc>
                <a:tc>
                  <a:txBody>
                    <a:bodyPr/>
                    <a:lstStyle/>
                    <a:p>
                      <a:pPr algn="ctr"/>
                      <a:r>
                        <a:rPr lang="en-US" sz="1400" dirty="0"/>
                        <a:t>Smith</a:t>
                      </a:r>
                    </a:p>
                  </a:txBody>
                  <a:tcPr/>
                </a:tc>
                <a:tc>
                  <a:txBody>
                    <a:bodyPr/>
                    <a:lstStyle/>
                    <a:p>
                      <a:pPr algn="ctr"/>
                      <a:r>
                        <a:rPr lang="en-US" sz="1400" dirty="0"/>
                        <a:t>123 main</a:t>
                      </a:r>
                    </a:p>
                  </a:txBody>
                  <a:tcPr/>
                </a:tc>
                <a:tc>
                  <a:txBody>
                    <a:bodyPr/>
                    <a:lstStyle/>
                    <a:p>
                      <a:pPr algn="ctr"/>
                      <a:r>
                        <a:rPr lang="en-US" sz="1400" dirty="0"/>
                        <a:t>Denver</a:t>
                      </a:r>
                    </a:p>
                  </a:txBody>
                  <a:tcPr/>
                </a:tc>
                <a:tc>
                  <a:txBody>
                    <a:bodyPr/>
                    <a:lstStyle/>
                    <a:p>
                      <a:pPr algn="ctr"/>
                      <a:r>
                        <a:rPr lang="en-US" sz="1400" dirty="0"/>
                        <a:t>555-5555</a:t>
                      </a:r>
                    </a:p>
                  </a:txBody>
                  <a:tcPr/>
                </a:tc>
                <a:tc>
                  <a:txBody>
                    <a:bodyPr/>
                    <a:lstStyle/>
                    <a:p>
                      <a:pPr algn="ctr"/>
                      <a:r>
                        <a:rPr lang="en-US" sz="1400" dirty="0"/>
                        <a:t>john.smith@email.com</a:t>
                      </a:r>
                    </a:p>
                  </a:txBody>
                  <a:tcPr/>
                </a:tc>
                <a:extLst>
                  <a:ext uri="{0D108BD9-81ED-4DB2-BD59-A6C34878D82A}">
                    <a16:rowId xmlns:a16="http://schemas.microsoft.com/office/drawing/2014/main" val="539188170"/>
                  </a:ext>
                </a:extLst>
              </a:tr>
              <a:tr h="370840">
                <a:tc>
                  <a:txBody>
                    <a:bodyPr/>
                    <a:lstStyle/>
                    <a:p>
                      <a:pPr algn="ctr"/>
                      <a:r>
                        <a:rPr lang="en-US" sz="1400" dirty="0"/>
                        <a:t>1002</a:t>
                      </a:r>
                    </a:p>
                  </a:txBody>
                  <a:tcPr/>
                </a:tc>
                <a:tc>
                  <a:txBody>
                    <a:bodyPr/>
                    <a:lstStyle/>
                    <a:p>
                      <a:pPr algn="ctr"/>
                      <a:r>
                        <a:rPr lang="en-US" sz="1400" dirty="0"/>
                        <a:t>Mary</a:t>
                      </a:r>
                    </a:p>
                  </a:txBody>
                  <a:tcPr/>
                </a:tc>
                <a:tc>
                  <a:txBody>
                    <a:bodyPr/>
                    <a:lstStyle/>
                    <a:p>
                      <a:pPr algn="ctr"/>
                      <a:r>
                        <a:rPr lang="en-US" sz="1400" dirty="0"/>
                        <a:t>Jones</a:t>
                      </a:r>
                    </a:p>
                  </a:txBody>
                  <a:tcPr/>
                </a:tc>
                <a:tc>
                  <a:txBody>
                    <a:bodyPr/>
                    <a:lstStyle/>
                    <a:p>
                      <a:pPr algn="ctr"/>
                      <a:r>
                        <a:rPr lang="en-US" sz="1400" dirty="0"/>
                        <a:t>456 south</a:t>
                      </a:r>
                    </a:p>
                  </a:txBody>
                  <a:tcPr/>
                </a:tc>
                <a:tc>
                  <a:txBody>
                    <a:bodyPr/>
                    <a:lstStyle/>
                    <a:p>
                      <a:pPr algn="ctr"/>
                      <a:r>
                        <a:rPr lang="en-US" sz="1400" dirty="0"/>
                        <a:t>Dallas</a:t>
                      </a:r>
                    </a:p>
                  </a:txBody>
                  <a:tcPr/>
                </a:tc>
                <a:tc>
                  <a:txBody>
                    <a:bodyPr/>
                    <a:lstStyle/>
                    <a:p>
                      <a:pPr algn="ctr"/>
                      <a:r>
                        <a:rPr lang="en-US" sz="1400" dirty="0"/>
                        <a:t>444-4444</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t>Mary.jones@email.com</a:t>
                      </a:r>
                    </a:p>
                  </a:txBody>
                  <a:tcPr/>
                </a:tc>
                <a:extLst>
                  <a:ext uri="{0D108BD9-81ED-4DB2-BD59-A6C34878D82A}">
                    <a16:rowId xmlns:a16="http://schemas.microsoft.com/office/drawing/2014/main" val="4114299666"/>
                  </a:ext>
                </a:extLst>
              </a:tr>
              <a:tr h="370840">
                <a:tc>
                  <a:txBody>
                    <a:bodyPr/>
                    <a:lstStyle/>
                    <a:p>
                      <a:pPr algn="ctr"/>
                      <a:r>
                        <a:rPr lang="en-US" sz="1400" dirty="0"/>
                        <a:t>1003</a:t>
                      </a:r>
                    </a:p>
                  </a:txBody>
                  <a:tcPr/>
                </a:tc>
                <a:tc>
                  <a:txBody>
                    <a:bodyPr/>
                    <a:lstStyle/>
                    <a:p>
                      <a:pPr algn="ctr"/>
                      <a:r>
                        <a:rPr lang="en-US" sz="1400" dirty="0"/>
                        <a:t>Sally</a:t>
                      </a:r>
                    </a:p>
                  </a:txBody>
                  <a:tcPr/>
                </a:tc>
                <a:tc>
                  <a:txBody>
                    <a:bodyPr/>
                    <a:lstStyle/>
                    <a:p>
                      <a:pPr algn="ctr"/>
                      <a:r>
                        <a:rPr lang="en-US" sz="1400" dirty="0"/>
                        <a:t>Brown</a:t>
                      </a:r>
                    </a:p>
                  </a:txBody>
                  <a:tcPr/>
                </a:tc>
                <a:tc>
                  <a:txBody>
                    <a:bodyPr/>
                    <a:lstStyle/>
                    <a:p>
                      <a:pPr algn="ctr"/>
                      <a:r>
                        <a:rPr lang="en-US" sz="1400" dirty="0"/>
                        <a:t>123 main</a:t>
                      </a:r>
                    </a:p>
                  </a:txBody>
                  <a:tcPr/>
                </a:tc>
                <a:tc>
                  <a:txBody>
                    <a:bodyPr/>
                    <a:lstStyle/>
                    <a:p>
                      <a:pPr algn="ctr"/>
                      <a:r>
                        <a:rPr lang="en-US" sz="1400" dirty="0"/>
                        <a:t>Denver</a:t>
                      </a:r>
                    </a:p>
                  </a:txBody>
                  <a:tcPr/>
                </a:tc>
                <a:tc>
                  <a:txBody>
                    <a:bodyPr/>
                    <a:lstStyle/>
                    <a:p>
                      <a:pPr algn="ctr"/>
                      <a:r>
                        <a:rPr lang="en-US" sz="1400" dirty="0"/>
                        <a:t>555-5555</a:t>
                      </a:r>
                    </a:p>
                  </a:txBody>
                  <a:tcPr/>
                </a:tc>
                <a:tc>
                  <a:txBody>
                    <a:bodyPr/>
                    <a:lstStyle/>
                    <a:p>
                      <a:pPr algn="ctr"/>
                      <a:endParaRPr lang="en-US" sz="1400" dirty="0"/>
                    </a:p>
                  </a:txBody>
                  <a:tcPr/>
                </a:tc>
                <a:extLst>
                  <a:ext uri="{0D108BD9-81ED-4DB2-BD59-A6C34878D82A}">
                    <a16:rowId xmlns:a16="http://schemas.microsoft.com/office/drawing/2014/main" val="3943126984"/>
                  </a:ext>
                </a:extLst>
              </a:tr>
            </a:tbl>
          </a:graphicData>
        </a:graphic>
      </p:graphicFrame>
      <p:sp>
        <p:nvSpPr>
          <p:cNvPr id="7" name="Text Placeholder 2">
            <a:extLst>
              <a:ext uri="{FF2B5EF4-FFF2-40B4-BE49-F238E27FC236}">
                <a16:creationId xmlns:a16="http://schemas.microsoft.com/office/drawing/2014/main" id="{A95F7E9F-FE69-BB62-1351-DEAF7DAA5C8A}"/>
              </a:ext>
            </a:extLst>
          </p:cNvPr>
          <p:cNvSpPr txBox="1">
            <a:spLocks/>
          </p:cNvSpPr>
          <p:nvPr/>
        </p:nvSpPr>
        <p:spPr>
          <a:xfrm>
            <a:off x="380010" y="2318035"/>
            <a:ext cx="5182511" cy="2533827"/>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r>
              <a:rPr lang="en-US" dirty="0"/>
              <a:t>All values must be fully functionally dependent on the primary key</a:t>
            </a:r>
          </a:p>
          <a:p>
            <a:pPr lvl="1"/>
            <a:r>
              <a:rPr lang="en-US" dirty="0"/>
              <a:t>This only really matters for composite keys – all columns must be dependent on the entire primary key, not part of a composite</a:t>
            </a:r>
          </a:p>
          <a:p>
            <a:pPr lvl="1"/>
            <a:r>
              <a:rPr lang="en-US" dirty="0"/>
              <a:t>This typically means we will get rid of most redundant data.</a:t>
            </a:r>
          </a:p>
        </p:txBody>
      </p:sp>
    </p:spTree>
    <p:extLst>
      <p:ext uri="{BB962C8B-B14F-4D97-AF65-F5344CB8AC3E}">
        <p14:creationId xmlns:p14="http://schemas.microsoft.com/office/powerpoint/2010/main" val="1955141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3NF</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p:txBody>
          <a:bodyPr/>
          <a:lstStyle/>
          <a:p>
            <a:r>
              <a:rPr lang="en-US" dirty="0"/>
              <a:t>Second normal form, plus, no transitive dependencies.</a:t>
            </a:r>
          </a:p>
          <a:p>
            <a:pPr lvl="1"/>
            <a:r>
              <a:rPr lang="en-US" dirty="0"/>
              <a:t>A Transitive dependency is one in which the data is dependent on the primary key, because of the nature of the data the key is describing, but not necessarily the key itself…</a:t>
            </a:r>
          </a:p>
          <a:p>
            <a:pPr lvl="1"/>
            <a:r>
              <a:rPr lang="en-US" dirty="0"/>
              <a:t>No columns in any given table are dependent on a column that is not the primary key of that given table</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Tree>
    <p:extLst>
      <p:ext uri="{BB962C8B-B14F-4D97-AF65-F5344CB8AC3E}">
        <p14:creationId xmlns:p14="http://schemas.microsoft.com/office/powerpoint/2010/main" val="352854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3NF</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graphicFrame>
        <p:nvGraphicFramePr>
          <p:cNvPr id="7" name="Table 5">
            <a:extLst>
              <a:ext uri="{FF2B5EF4-FFF2-40B4-BE49-F238E27FC236}">
                <a16:creationId xmlns:a16="http://schemas.microsoft.com/office/drawing/2014/main" id="{A6404DE5-AB56-42CC-A72E-340B126D5017}"/>
              </a:ext>
            </a:extLst>
          </p:cNvPr>
          <p:cNvGraphicFramePr>
            <a:graphicFrameLocks noGrp="1"/>
          </p:cNvGraphicFramePr>
          <p:nvPr/>
        </p:nvGraphicFramePr>
        <p:xfrm>
          <a:off x="209289" y="4585712"/>
          <a:ext cx="8569248" cy="1778000"/>
        </p:xfrm>
        <a:graphic>
          <a:graphicData uri="http://schemas.openxmlformats.org/drawingml/2006/table">
            <a:tbl>
              <a:tblPr firstRow="1" bandRow="1">
                <a:tableStyleId>{5C22544A-7EE6-4342-B048-85BDC9FD1C3A}</a:tableStyleId>
              </a:tblPr>
              <a:tblGrid>
                <a:gridCol w="1428208">
                  <a:extLst>
                    <a:ext uri="{9D8B030D-6E8A-4147-A177-3AD203B41FA5}">
                      <a16:colId xmlns:a16="http://schemas.microsoft.com/office/drawing/2014/main" val="3155980071"/>
                    </a:ext>
                  </a:extLst>
                </a:gridCol>
                <a:gridCol w="1428208">
                  <a:extLst>
                    <a:ext uri="{9D8B030D-6E8A-4147-A177-3AD203B41FA5}">
                      <a16:colId xmlns:a16="http://schemas.microsoft.com/office/drawing/2014/main" val="2103592626"/>
                    </a:ext>
                  </a:extLst>
                </a:gridCol>
                <a:gridCol w="1428208">
                  <a:extLst>
                    <a:ext uri="{9D8B030D-6E8A-4147-A177-3AD203B41FA5}">
                      <a16:colId xmlns:a16="http://schemas.microsoft.com/office/drawing/2014/main" val="3291405774"/>
                    </a:ext>
                  </a:extLst>
                </a:gridCol>
                <a:gridCol w="1428208">
                  <a:extLst>
                    <a:ext uri="{9D8B030D-6E8A-4147-A177-3AD203B41FA5}">
                      <a16:colId xmlns:a16="http://schemas.microsoft.com/office/drawing/2014/main" val="3084846301"/>
                    </a:ext>
                  </a:extLst>
                </a:gridCol>
                <a:gridCol w="1428208">
                  <a:extLst>
                    <a:ext uri="{9D8B030D-6E8A-4147-A177-3AD203B41FA5}">
                      <a16:colId xmlns:a16="http://schemas.microsoft.com/office/drawing/2014/main" val="3347116633"/>
                    </a:ext>
                  </a:extLst>
                </a:gridCol>
                <a:gridCol w="1428208">
                  <a:extLst>
                    <a:ext uri="{9D8B030D-6E8A-4147-A177-3AD203B41FA5}">
                      <a16:colId xmlns:a16="http://schemas.microsoft.com/office/drawing/2014/main" val="4233679342"/>
                    </a:ext>
                  </a:extLst>
                </a:gridCol>
              </a:tblGrid>
              <a:tr h="370840">
                <a:tc>
                  <a:txBody>
                    <a:bodyPr/>
                    <a:lstStyle/>
                    <a:p>
                      <a:pPr algn="ctr"/>
                      <a:r>
                        <a:rPr lang="en-US" sz="1400" dirty="0" err="1"/>
                        <a:t>Person_Id</a:t>
                      </a:r>
                      <a:endParaRPr lang="en-US" sz="1400" dirty="0"/>
                    </a:p>
                  </a:txBody>
                  <a:tcPr/>
                </a:tc>
                <a:tc>
                  <a:txBody>
                    <a:bodyPr/>
                    <a:lstStyle/>
                    <a:p>
                      <a:pPr algn="ctr"/>
                      <a:r>
                        <a:rPr lang="en-US" sz="1400" dirty="0" err="1"/>
                        <a:t>first_name</a:t>
                      </a:r>
                      <a:endParaRPr lang="en-US" sz="1400" dirty="0"/>
                    </a:p>
                  </a:txBody>
                  <a:tcPr/>
                </a:tc>
                <a:tc>
                  <a:txBody>
                    <a:bodyPr/>
                    <a:lstStyle/>
                    <a:p>
                      <a:pPr algn="ctr"/>
                      <a:r>
                        <a:rPr lang="en-US" sz="1400" dirty="0" err="1"/>
                        <a:t>last_name</a:t>
                      </a:r>
                      <a:endParaRPr lang="en-US" sz="1400" dirty="0"/>
                    </a:p>
                  </a:txBody>
                  <a:tcPr/>
                </a:tc>
                <a:tc>
                  <a:txBody>
                    <a:bodyPr/>
                    <a:lstStyle/>
                    <a:p>
                      <a:pPr algn="ctr"/>
                      <a:r>
                        <a:rPr lang="en-US" sz="1400" dirty="0" err="1"/>
                        <a:t>addr_id</a:t>
                      </a:r>
                      <a:endParaRPr lang="en-US" sz="1400" dirty="0"/>
                    </a:p>
                  </a:txBody>
                  <a:tcPr/>
                </a:tc>
                <a:tc>
                  <a:txBody>
                    <a:bodyPr/>
                    <a:lstStyle/>
                    <a:p>
                      <a:pPr algn="ctr"/>
                      <a:r>
                        <a:rPr lang="en-US" sz="1400" dirty="0"/>
                        <a:t>phone</a:t>
                      </a:r>
                    </a:p>
                  </a:txBody>
                  <a:tcPr/>
                </a:tc>
                <a:tc>
                  <a:txBody>
                    <a:bodyPr/>
                    <a:lstStyle/>
                    <a:p>
                      <a:pPr algn="ctr"/>
                      <a:r>
                        <a:rPr lang="en-US" sz="1400" dirty="0"/>
                        <a:t>Email</a:t>
                      </a:r>
                    </a:p>
                  </a:txBody>
                  <a:tcPr/>
                </a:tc>
                <a:extLst>
                  <a:ext uri="{0D108BD9-81ED-4DB2-BD59-A6C34878D82A}">
                    <a16:rowId xmlns:a16="http://schemas.microsoft.com/office/drawing/2014/main" val="3831509558"/>
                  </a:ext>
                </a:extLst>
              </a:tr>
              <a:tr h="370840">
                <a:tc>
                  <a:txBody>
                    <a:bodyPr/>
                    <a:lstStyle/>
                    <a:p>
                      <a:pPr algn="ctr"/>
                      <a:r>
                        <a:rPr lang="en-US" sz="1400" dirty="0"/>
                        <a:t>1001</a:t>
                      </a:r>
                    </a:p>
                  </a:txBody>
                  <a:tcPr/>
                </a:tc>
                <a:tc>
                  <a:txBody>
                    <a:bodyPr/>
                    <a:lstStyle/>
                    <a:p>
                      <a:pPr algn="ctr"/>
                      <a:r>
                        <a:rPr lang="en-US" sz="1400" dirty="0"/>
                        <a:t>John</a:t>
                      </a:r>
                    </a:p>
                  </a:txBody>
                  <a:tcPr/>
                </a:tc>
                <a:tc>
                  <a:txBody>
                    <a:bodyPr/>
                    <a:lstStyle/>
                    <a:p>
                      <a:pPr algn="ctr"/>
                      <a:r>
                        <a:rPr lang="en-US" sz="1400" dirty="0"/>
                        <a:t>Smith</a:t>
                      </a:r>
                    </a:p>
                  </a:txBody>
                  <a:tcPr/>
                </a:tc>
                <a:tc>
                  <a:txBody>
                    <a:bodyPr/>
                    <a:lstStyle/>
                    <a:p>
                      <a:pPr algn="ctr"/>
                      <a:r>
                        <a:rPr lang="en-US" sz="1400" dirty="0"/>
                        <a:t>1</a:t>
                      </a:r>
                    </a:p>
                  </a:txBody>
                  <a:tcPr/>
                </a:tc>
                <a:tc>
                  <a:txBody>
                    <a:bodyPr/>
                    <a:lstStyle/>
                    <a:p>
                      <a:pPr algn="ctr"/>
                      <a:r>
                        <a:rPr lang="en-US" sz="1400" dirty="0"/>
                        <a:t>2</a:t>
                      </a:r>
                    </a:p>
                  </a:txBody>
                  <a:tcPr/>
                </a:tc>
                <a:tc>
                  <a:txBody>
                    <a:bodyPr/>
                    <a:lstStyle/>
                    <a:p>
                      <a:pPr algn="ctr"/>
                      <a:r>
                        <a:rPr lang="en-US" sz="1400" dirty="0"/>
                        <a:t>john.smith@email.com</a:t>
                      </a:r>
                    </a:p>
                  </a:txBody>
                  <a:tcPr/>
                </a:tc>
                <a:extLst>
                  <a:ext uri="{0D108BD9-81ED-4DB2-BD59-A6C34878D82A}">
                    <a16:rowId xmlns:a16="http://schemas.microsoft.com/office/drawing/2014/main" val="539188170"/>
                  </a:ext>
                </a:extLst>
              </a:tr>
              <a:tr h="370840">
                <a:tc>
                  <a:txBody>
                    <a:bodyPr/>
                    <a:lstStyle/>
                    <a:p>
                      <a:pPr algn="ctr"/>
                      <a:r>
                        <a:rPr lang="en-US" sz="1400" dirty="0"/>
                        <a:t>1002</a:t>
                      </a:r>
                    </a:p>
                  </a:txBody>
                  <a:tcPr/>
                </a:tc>
                <a:tc>
                  <a:txBody>
                    <a:bodyPr/>
                    <a:lstStyle/>
                    <a:p>
                      <a:pPr algn="ctr"/>
                      <a:r>
                        <a:rPr lang="en-US" sz="1400" dirty="0"/>
                        <a:t>Mary</a:t>
                      </a:r>
                    </a:p>
                  </a:txBody>
                  <a:tcPr/>
                </a:tc>
                <a:tc>
                  <a:txBody>
                    <a:bodyPr/>
                    <a:lstStyle/>
                    <a:p>
                      <a:pPr algn="ctr"/>
                      <a:r>
                        <a:rPr lang="en-US" sz="1400" dirty="0"/>
                        <a:t>Jones</a:t>
                      </a:r>
                    </a:p>
                  </a:txBody>
                  <a:tcPr/>
                </a:tc>
                <a:tc>
                  <a:txBody>
                    <a:bodyPr/>
                    <a:lstStyle/>
                    <a:p>
                      <a:pPr algn="ctr"/>
                      <a:r>
                        <a:rPr lang="en-US" sz="1400" dirty="0"/>
                        <a:t>2</a:t>
                      </a:r>
                    </a:p>
                  </a:txBody>
                  <a:tcPr/>
                </a:tc>
                <a:tc>
                  <a:txBody>
                    <a:bodyPr/>
                    <a:lstStyle/>
                    <a:p>
                      <a:pPr algn="ctr"/>
                      <a:r>
                        <a:rPr lang="en-US" sz="1400" dirty="0"/>
                        <a:t>1</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t>Mary.jones@email.com</a:t>
                      </a:r>
                    </a:p>
                  </a:txBody>
                  <a:tcPr/>
                </a:tc>
                <a:extLst>
                  <a:ext uri="{0D108BD9-81ED-4DB2-BD59-A6C34878D82A}">
                    <a16:rowId xmlns:a16="http://schemas.microsoft.com/office/drawing/2014/main" val="4114299666"/>
                  </a:ext>
                </a:extLst>
              </a:tr>
              <a:tr h="370840">
                <a:tc>
                  <a:txBody>
                    <a:bodyPr/>
                    <a:lstStyle/>
                    <a:p>
                      <a:pPr algn="ctr"/>
                      <a:r>
                        <a:rPr lang="en-US" sz="1400" dirty="0"/>
                        <a:t>1003</a:t>
                      </a:r>
                    </a:p>
                  </a:txBody>
                  <a:tcPr/>
                </a:tc>
                <a:tc>
                  <a:txBody>
                    <a:bodyPr/>
                    <a:lstStyle/>
                    <a:p>
                      <a:pPr algn="ctr"/>
                      <a:r>
                        <a:rPr lang="en-US" sz="1400" dirty="0"/>
                        <a:t>Sally</a:t>
                      </a:r>
                    </a:p>
                  </a:txBody>
                  <a:tcPr/>
                </a:tc>
                <a:tc>
                  <a:txBody>
                    <a:bodyPr/>
                    <a:lstStyle/>
                    <a:p>
                      <a:pPr algn="ctr"/>
                      <a:r>
                        <a:rPr lang="en-US" sz="1400" dirty="0"/>
                        <a:t>Brown</a:t>
                      </a:r>
                    </a:p>
                  </a:txBody>
                  <a:tcPr/>
                </a:tc>
                <a:tc>
                  <a:txBody>
                    <a:bodyPr/>
                    <a:lstStyle/>
                    <a:p>
                      <a:pPr algn="ctr"/>
                      <a:r>
                        <a:rPr lang="en-US" sz="1400" dirty="0"/>
                        <a:t>1</a:t>
                      </a:r>
                    </a:p>
                  </a:txBody>
                  <a:tcPr/>
                </a:tc>
                <a:tc>
                  <a:txBody>
                    <a:bodyPr/>
                    <a:lstStyle/>
                    <a:p>
                      <a:pPr algn="ctr"/>
                      <a:r>
                        <a:rPr lang="en-US" sz="1400" dirty="0"/>
                        <a:t>2</a:t>
                      </a:r>
                    </a:p>
                  </a:txBody>
                  <a:tcPr/>
                </a:tc>
                <a:tc>
                  <a:txBody>
                    <a:bodyPr/>
                    <a:lstStyle/>
                    <a:p>
                      <a:pPr algn="ctr"/>
                      <a:endParaRPr lang="en-US" sz="1400" dirty="0"/>
                    </a:p>
                  </a:txBody>
                  <a:tcPr/>
                </a:tc>
                <a:extLst>
                  <a:ext uri="{0D108BD9-81ED-4DB2-BD59-A6C34878D82A}">
                    <a16:rowId xmlns:a16="http://schemas.microsoft.com/office/drawing/2014/main" val="3943126984"/>
                  </a:ext>
                </a:extLst>
              </a:tr>
            </a:tbl>
          </a:graphicData>
        </a:graphic>
      </p:graphicFrame>
      <p:graphicFrame>
        <p:nvGraphicFramePr>
          <p:cNvPr id="3" name="Table 2">
            <a:extLst>
              <a:ext uri="{FF2B5EF4-FFF2-40B4-BE49-F238E27FC236}">
                <a16:creationId xmlns:a16="http://schemas.microsoft.com/office/drawing/2014/main" id="{AB2A0AF2-A12D-45D9-A96D-5F989BF246E4}"/>
              </a:ext>
            </a:extLst>
          </p:cNvPr>
          <p:cNvGraphicFramePr>
            <a:graphicFrameLocks noGrp="1"/>
          </p:cNvGraphicFramePr>
          <p:nvPr/>
        </p:nvGraphicFramePr>
        <p:xfrm>
          <a:off x="522668" y="1721488"/>
          <a:ext cx="4049332" cy="1112520"/>
        </p:xfrm>
        <a:graphic>
          <a:graphicData uri="http://schemas.openxmlformats.org/drawingml/2006/table">
            <a:tbl>
              <a:tblPr firstRow="1" bandRow="1">
                <a:tableStyleId>{5C22544A-7EE6-4342-B048-85BDC9FD1C3A}</a:tableStyleId>
              </a:tblPr>
              <a:tblGrid>
                <a:gridCol w="1209312">
                  <a:extLst>
                    <a:ext uri="{9D8B030D-6E8A-4147-A177-3AD203B41FA5}">
                      <a16:colId xmlns:a16="http://schemas.microsoft.com/office/drawing/2014/main" val="856919155"/>
                    </a:ext>
                  </a:extLst>
                </a:gridCol>
                <a:gridCol w="1831888">
                  <a:extLst>
                    <a:ext uri="{9D8B030D-6E8A-4147-A177-3AD203B41FA5}">
                      <a16:colId xmlns:a16="http://schemas.microsoft.com/office/drawing/2014/main" val="722213254"/>
                    </a:ext>
                  </a:extLst>
                </a:gridCol>
                <a:gridCol w="1008132">
                  <a:extLst>
                    <a:ext uri="{9D8B030D-6E8A-4147-A177-3AD203B41FA5}">
                      <a16:colId xmlns:a16="http://schemas.microsoft.com/office/drawing/2014/main" val="3571340534"/>
                    </a:ext>
                  </a:extLst>
                </a:gridCol>
              </a:tblGrid>
              <a:tr h="370840">
                <a:tc>
                  <a:txBody>
                    <a:bodyPr/>
                    <a:lstStyle/>
                    <a:p>
                      <a:pPr algn="ctr"/>
                      <a:r>
                        <a:rPr lang="en-US" sz="1400" dirty="0" err="1"/>
                        <a:t>addr_id</a:t>
                      </a:r>
                      <a:endParaRPr lang="en-US" sz="1400" dirty="0"/>
                    </a:p>
                  </a:txBody>
                  <a:tcPr/>
                </a:tc>
                <a:tc>
                  <a:txBody>
                    <a:bodyPr/>
                    <a:lstStyle/>
                    <a:p>
                      <a:pPr algn="ctr"/>
                      <a:r>
                        <a:rPr lang="en-US" sz="1400" dirty="0" err="1"/>
                        <a:t>Street_addr</a:t>
                      </a:r>
                      <a:endParaRPr lang="en-US" sz="1400" dirty="0"/>
                    </a:p>
                  </a:txBody>
                  <a:tcPr/>
                </a:tc>
                <a:tc>
                  <a:txBody>
                    <a:bodyPr/>
                    <a:lstStyle/>
                    <a:p>
                      <a:pPr algn="ctr"/>
                      <a:r>
                        <a:rPr lang="en-US" sz="1400" dirty="0"/>
                        <a:t>city</a:t>
                      </a:r>
                    </a:p>
                  </a:txBody>
                  <a:tcPr/>
                </a:tc>
                <a:extLst>
                  <a:ext uri="{0D108BD9-81ED-4DB2-BD59-A6C34878D82A}">
                    <a16:rowId xmlns:a16="http://schemas.microsoft.com/office/drawing/2014/main" val="3584755737"/>
                  </a:ext>
                </a:extLst>
              </a:tr>
              <a:tr h="370840">
                <a:tc>
                  <a:txBody>
                    <a:bodyPr/>
                    <a:lstStyle/>
                    <a:p>
                      <a:pPr algn="ctr"/>
                      <a:r>
                        <a:rPr lang="en-US" sz="1400" dirty="0"/>
                        <a:t>1</a:t>
                      </a:r>
                    </a:p>
                  </a:txBody>
                  <a:tcPr/>
                </a:tc>
                <a:tc>
                  <a:txBody>
                    <a:bodyPr/>
                    <a:lstStyle/>
                    <a:p>
                      <a:pPr algn="ctr"/>
                      <a:r>
                        <a:rPr lang="en-US" sz="1400" dirty="0"/>
                        <a:t>123 main </a:t>
                      </a:r>
                      <a:r>
                        <a:rPr lang="en-US" sz="1400" dirty="0" err="1"/>
                        <a:t>st</a:t>
                      </a:r>
                      <a:endParaRPr lang="en-US" sz="1400" dirty="0"/>
                    </a:p>
                  </a:txBody>
                  <a:tcPr/>
                </a:tc>
                <a:tc>
                  <a:txBody>
                    <a:bodyPr/>
                    <a:lstStyle/>
                    <a:p>
                      <a:pPr algn="ctr"/>
                      <a:r>
                        <a:rPr lang="en-US" sz="1400" dirty="0"/>
                        <a:t>Denver</a:t>
                      </a:r>
                    </a:p>
                  </a:txBody>
                  <a:tcPr/>
                </a:tc>
                <a:extLst>
                  <a:ext uri="{0D108BD9-81ED-4DB2-BD59-A6C34878D82A}">
                    <a16:rowId xmlns:a16="http://schemas.microsoft.com/office/drawing/2014/main" val="3161367728"/>
                  </a:ext>
                </a:extLst>
              </a:tr>
              <a:tr h="370840">
                <a:tc>
                  <a:txBody>
                    <a:bodyPr/>
                    <a:lstStyle/>
                    <a:p>
                      <a:pPr algn="ctr"/>
                      <a:r>
                        <a:rPr lang="en-US" sz="1400" dirty="0"/>
                        <a:t>2</a:t>
                      </a:r>
                    </a:p>
                  </a:txBody>
                  <a:tcPr/>
                </a:tc>
                <a:tc>
                  <a:txBody>
                    <a:bodyPr/>
                    <a:lstStyle/>
                    <a:p>
                      <a:pPr algn="ctr"/>
                      <a:r>
                        <a:rPr lang="en-US" sz="1400" dirty="0"/>
                        <a:t>456 south </a:t>
                      </a:r>
                      <a:r>
                        <a:rPr lang="en-US" sz="1400" dirty="0" err="1"/>
                        <a:t>ave</a:t>
                      </a:r>
                      <a:endParaRPr lang="en-US" sz="1400" dirty="0"/>
                    </a:p>
                  </a:txBody>
                  <a:tcPr/>
                </a:tc>
                <a:tc>
                  <a:txBody>
                    <a:bodyPr/>
                    <a:lstStyle/>
                    <a:p>
                      <a:pPr algn="ctr"/>
                      <a:r>
                        <a:rPr lang="en-US" sz="1400" dirty="0"/>
                        <a:t>Dallas</a:t>
                      </a:r>
                    </a:p>
                  </a:txBody>
                  <a:tcPr/>
                </a:tc>
                <a:extLst>
                  <a:ext uri="{0D108BD9-81ED-4DB2-BD59-A6C34878D82A}">
                    <a16:rowId xmlns:a16="http://schemas.microsoft.com/office/drawing/2014/main" val="2008638113"/>
                  </a:ext>
                </a:extLst>
              </a:tr>
            </a:tbl>
          </a:graphicData>
        </a:graphic>
      </p:graphicFrame>
      <p:graphicFrame>
        <p:nvGraphicFramePr>
          <p:cNvPr id="5" name="Table 4">
            <a:extLst>
              <a:ext uri="{FF2B5EF4-FFF2-40B4-BE49-F238E27FC236}">
                <a16:creationId xmlns:a16="http://schemas.microsoft.com/office/drawing/2014/main" id="{1D08CE60-6365-168B-EB49-25A2252CD3CE}"/>
              </a:ext>
            </a:extLst>
          </p:cNvPr>
          <p:cNvGraphicFramePr>
            <a:graphicFrameLocks noGrp="1"/>
          </p:cNvGraphicFramePr>
          <p:nvPr/>
        </p:nvGraphicFramePr>
        <p:xfrm>
          <a:off x="5365967" y="1721488"/>
          <a:ext cx="3412569" cy="2453640"/>
        </p:xfrm>
        <a:graphic>
          <a:graphicData uri="http://schemas.openxmlformats.org/drawingml/2006/table">
            <a:tbl>
              <a:tblPr firstRow="1" bandRow="1">
                <a:tableStyleId>{5C22544A-7EE6-4342-B048-85BDC9FD1C3A}</a:tableStyleId>
              </a:tblPr>
              <a:tblGrid>
                <a:gridCol w="1057295">
                  <a:extLst>
                    <a:ext uri="{9D8B030D-6E8A-4147-A177-3AD203B41FA5}">
                      <a16:colId xmlns:a16="http://schemas.microsoft.com/office/drawing/2014/main" val="1832882233"/>
                    </a:ext>
                  </a:extLst>
                </a:gridCol>
                <a:gridCol w="1057295">
                  <a:extLst>
                    <a:ext uri="{9D8B030D-6E8A-4147-A177-3AD203B41FA5}">
                      <a16:colId xmlns:a16="http://schemas.microsoft.com/office/drawing/2014/main" val="3561806936"/>
                    </a:ext>
                  </a:extLst>
                </a:gridCol>
                <a:gridCol w="1297979">
                  <a:extLst>
                    <a:ext uri="{9D8B030D-6E8A-4147-A177-3AD203B41FA5}">
                      <a16:colId xmlns:a16="http://schemas.microsoft.com/office/drawing/2014/main" val="4041480804"/>
                    </a:ext>
                  </a:extLst>
                </a:gridCol>
              </a:tblGrid>
              <a:tr h="0">
                <a:tc>
                  <a:txBody>
                    <a:bodyPr/>
                    <a:lstStyle/>
                    <a:p>
                      <a:pPr algn="ctr"/>
                      <a:r>
                        <a:rPr lang="en-US" sz="1400" dirty="0" err="1"/>
                        <a:t>movie_id</a:t>
                      </a:r>
                      <a:endParaRPr lang="en-US" sz="1400" dirty="0"/>
                    </a:p>
                  </a:txBody>
                  <a:tcPr/>
                </a:tc>
                <a:tc>
                  <a:txBody>
                    <a:bodyPr/>
                    <a:lstStyle/>
                    <a:p>
                      <a:pPr algn="ctr"/>
                      <a:r>
                        <a:rPr lang="en-US" sz="1400" dirty="0" err="1"/>
                        <a:t>person_Id</a:t>
                      </a:r>
                      <a:endParaRPr lang="en-US" sz="1400" dirty="0"/>
                    </a:p>
                  </a:txBody>
                  <a:tcPr/>
                </a:tc>
                <a:tc>
                  <a:txBody>
                    <a:bodyPr/>
                    <a:lstStyle/>
                    <a:p>
                      <a:pPr algn="ctr"/>
                      <a:r>
                        <a:rPr lang="en-US" sz="1400" dirty="0" err="1"/>
                        <a:t>movie_name</a:t>
                      </a:r>
                      <a:endParaRPr lang="en-US" sz="1400" dirty="0"/>
                    </a:p>
                  </a:txBody>
                  <a:tcPr/>
                </a:tc>
                <a:extLst>
                  <a:ext uri="{0D108BD9-81ED-4DB2-BD59-A6C34878D82A}">
                    <a16:rowId xmlns:a16="http://schemas.microsoft.com/office/drawing/2014/main" val="1492990565"/>
                  </a:ext>
                </a:extLst>
              </a:tr>
              <a:tr h="370840">
                <a:tc>
                  <a:txBody>
                    <a:bodyPr/>
                    <a:lstStyle/>
                    <a:p>
                      <a:pPr algn="ctr"/>
                      <a:r>
                        <a:rPr lang="en-US" sz="1400" dirty="0"/>
                        <a:t>1</a:t>
                      </a:r>
                    </a:p>
                  </a:txBody>
                  <a:tcPr/>
                </a:tc>
                <a:tc>
                  <a:txBody>
                    <a:bodyPr/>
                    <a:lstStyle/>
                    <a:p>
                      <a:pPr algn="ctr"/>
                      <a:r>
                        <a:rPr lang="en-US" sz="1400" dirty="0"/>
                        <a:t>1001</a:t>
                      </a:r>
                    </a:p>
                  </a:txBody>
                  <a:tcPr/>
                </a:tc>
                <a:tc>
                  <a:txBody>
                    <a:bodyPr/>
                    <a:lstStyle/>
                    <a:p>
                      <a:pPr algn="ctr"/>
                      <a:r>
                        <a:rPr lang="en-US" sz="1400" dirty="0"/>
                        <a:t>Harry Potter</a:t>
                      </a:r>
                    </a:p>
                  </a:txBody>
                  <a:tcPr/>
                </a:tc>
                <a:extLst>
                  <a:ext uri="{0D108BD9-81ED-4DB2-BD59-A6C34878D82A}">
                    <a16:rowId xmlns:a16="http://schemas.microsoft.com/office/drawing/2014/main" val="3014115787"/>
                  </a:ext>
                </a:extLst>
              </a:tr>
              <a:tr h="370840">
                <a:tc>
                  <a:txBody>
                    <a:bodyPr/>
                    <a:lstStyle/>
                    <a:p>
                      <a:pPr algn="ctr"/>
                      <a:r>
                        <a:rPr lang="en-US" sz="1400" dirty="0"/>
                        <a:t>2</a:t>
                      </a:r>
                    </a:p>
                  </a:txBody>
                  <a:tcPr/>
                </a:tc>
                <a:tc>
                  <a:txBody>
                    <a:bodyPr/>
                    <a:lstStyle/>
                    <a:p>
                      <a:pPr algn="ctr"/>
                      <a:r>
                        <a:rPr lang="en-US" sz="1400" dirty="0"/>
                        <a:t>1001</a:t>
                      </a:r>
                    </a:p>
                  </a:txBody>
                  <a:tcPr/>
                </a:tc>
                <a:tc>
                  <a:txBody>
                    <a:bodyPr/>
                    <a:lstStyle/>
                    <a:p>
                      <a:pPr algn="ctr"/>
                      <a:r>
                        <a:rPr lang="en-US" sz="1400" dirty="0"/>
                        <a:t>The Incredibles</a:t>
                      </a:r>
                    </a:p>
                  </a:txBody>
                  <a:tcPr/>
                </a:tc>
                <a:extLst>
                  <a:ext uri="{0D108BD9-81ED-4DB2-BD59-A6C34878D82A}">
                    <a16:rowId xmlns:a16="http://schemas.microsoft.com/office/drawing/2014/main" val="4107963131"/>
                  </a:ext>
                </a:extLst>
              </a:tr>
              <a:tr h="370840">
                <a:tc>
                  <a:txBody>
                    <a:bodyPr/>
                    <a:lstStyle/>
                    <a:p>
                      <a:pPr algn="ctr"/>
                      <a:r>
                        <a:rPr lang="en-US" sz="1400" dirty="0"/>
                        <a:t>3</a:t>
                      </a:r>
                    </a:p>
                  </a:txBody>
                  <a:tcPr/>
                </a:tc>
                <a:tc>
                  <a:txBody>
                    <a:bodyPr/>
                    <a:lstStyle/>
                    <a:p>
                      <a:pPr algn="ctr"/>
                      <a:r>
                        <a:rPr lang="en-US" sz="1400" dirty="0"/>
                        <a:t>1002</a:t>
                      </a:r>
                    </a:p>
                  </a:txBody>
                  <a:tcPr/>
                </a:tc>
                <a:tc>
                  <a:txBody>
                    <a:bodyPr/>
                    <a:lstStyle/>
                    <a:p>
                      <a:pPr algn="ctr"/>
                      <a:r>
                        <a:rPr lang="en-US" sz="1400" dirty="0"/>
                        <a:t>The Martian</a:t>
                      </a:r>
                    </a:p>
                  </a:txBody>
                  <a:tcPr/>
                </a:tc>
                <a:extLst>
                  <a:ext uri="{0D108BD9-81ED-4DB2-BD59-A6C34878D82A}">
                    <a16:rowId xmlns:a16="http://schemas.microsoft.com/office/drawing/2014/main" val="3294600792"/>
                  </a:ext>
                </a:extLst>
              </a:tr>
              <a:tr h="370840">
                <a:tc>
                  <a:txBody>
                    <a:bodyPr/>
                    <a:lstStyle/>
                    <a:p>
                      <a:pPr algn="ctr"/>
                      <a:r>
                        <a:rPr lang="en-US" sz="1400" dirty="0"/>
                        <a:t>4</a:t>
                      </a:r>
                    </a:p>
                  </a:txBody>
                  <a:tcPr/>
                </a:tc>
                <a:tc>
                  <a:txBody>
                    <a:bodyPr/>
                    <a:lstStyle/>
                    <a:p>
                      <a:pPr algn="ctr"/>
                      <a:r>
                        <a:rPr lang="en-US" sz="1400" dirty="0"/>
                        <a:t>1002</a:t>
                      </a:r>
                    </a:p>
                  </a:txBody>
                  <a:tcPr/>
                </a:tc>
                <a:tc>
                  <a:txBody>
                    <a:bodyPr/>
                    <a:lstStyle/>
                    <a:p>
                      <a:pPr algn="ctr"/>
                      <a:r>
                        <a:rPr lang="en-US" sz="1400" dirty="0"/>
                        <a:t>Avengers</a:t>
                      </a:r>
                    </a:p>
                  </a:txBody>
                  <a:tcPr/>
                </a:tc>
                <a:extLst>
                  <a:ext uri="{0D108BD9-81ED-4DB2-BD59-A6C34878D82A}">
                    <a16:rowId xmlns:a16="http://schemas.microsoft.com/office/drawing/2014/main" val="1389462563"/>
                  </a:ext>
                </a:extLst>
              </a:tr>
              <a:tr h="370840">
                <a:tc>
                  <a:txBody>
                    <a:bodyPr/>
                    <a:lstStyle/>
                    <a:p>
                      <a:pPr algn="ctr"/>
                      <a:r>
                        <a:rPr lang="en-US" sz="1400" dirty="0"/>
                        <a:t>5</a:t>
                      </a:r>
                    </a:p>
                  </a:txBody>
                  <a:tcPr/>
                </a:tc>
                <a:tc>
                  <a:txBody>
                    <a:bodyPr/>
                    <a:lstStyle/>
                    <a:p>
                      <a:pPr algn="ctr"/>
                      <a:r>
                        <a:rPr lang="en-US" sz="1400" dirty="0"/>
                        <a:t>1003</a:t>
                      </a:r>
                    </a:p>
                  </a:txBody>
                  <a:tcPr/>
                </a:tc>
                <a:tc>
                  <a:txBody>
                    <a:bodyPr/>
                    <a:lstStyle/>
                    <a:p>
                      <a:pPr algn="ctr"/>
                      <a:r>
                        <a:rPr lang="en-US" sz="1400" dirty="0"/>
                        <a:t>Lord of the Rings</a:t>
                      </a:r>
                    </a:p>
                  </a:txBody>
                  <a:tcPr/>
                </a:tc>
                <a:extLst>
                  <a:ext uri="{0D108BD9-81ED-4DB2-BD59-A6C34878D82A}">
                    <a16:rowId xmlns:a16="http://schemas.microsoft.com/office/drawing/2014/main" val="2680654040"/>
                  </a:ext>
                </a:extLst>
              </a:tr>
            </a:tbl>
          </a:graphicData>
        </a:graphic>
      </p:graphicFrame>
      <p:graphicFrame>
        <p:nvGraphicFramePr>
          <p:cNvPr id="8" name="Table 7">
            <a:extLst>
              <a:ext uri="{FF2B5EF4-FFF2-40B4-BE49-F238E27FC236}">
                <a16:creationId xmlns:a16="http://schemas.microsoft.com/office/drawing/2014/main" id="{4CC7DE7A-70E1-23D3-A7D3-568E4BB827A0}"/>
              </a:ext>
            </a:extLst>
          </p:cNvPr>
          <p:cNvGraphicFramePr>
            <a:graphicFrameLocks noGrp="1"/>
          </p:cNvGraphicFramePr>
          <p:nvPr/>
        </p:nvGraphicFramePr>
        <p:xfrm>
          <a:off x="540552" y="3062608"/>
          <a:ext cx="3041200" cy="1112520"/>
        </p:xfrm>
        <a:graphic>
          <a:graphicData uri="http://schemas.openxmlformats.org/drawingml/2006/table">
            <a:tbl>
              <a:tblPr firstRow="1" bandRow="1">
                <a:tableStyleId>{5C22544A-7EE6-4342-B048-85BDC9FD1C3A}</a:tableStyleId>
              </a:tblPr>
              <a:tblGrid>
                <a:gridCol w="1209312">
                  <a:extLst>
                    <a:ext uri="{9D8B030D-6E8A-4147-A177-3AD203B41FA5}">
                      <a16:colId xmlns:a16="http://schemas.microsoft.com/office/drawing/2014/main" val="856919155"/>
                    </a:ext>
                  </a:extLst>
                </a:gridCol>
                <a:gridCol w="1831888">
                  <a:extLst>
                    <a:ext uri="{9D8B030D-6E8A-4147-A177-3AD203B41FA5}">
                      <a16:colId xmlns:a16="http://schemas.microsoft.com/office/drawing/2014/main" val="722213254"/>
                    </a:ext>
                  </a:extLst>
                </a:gridCol>
              </a:tblGrid>
              <a:tr h="370840">
                <a:tc>
                  <a:txBody>
                    <a:bodyPr/>
                    <a:lstStyle/>
                    <a:p>
                      <a:pPr algn="ctr"/>
                      <a:r>
                        <a:rPr lang="en-US" sz="1400" dirty="0" err="1"/>
                        <a:t>phone_id</a:t>
                      </a:r>
                      <a:endParaRPr lang="en-US" sz="1400" dirty="0"/>
                    </a:p>
                  </a:txBody>
                  <a:tcPr/>
                </a:tc>
                <a:tc>
                  <a:txBody>
                    <a:bodyPr/>
                    <a:lstStyle/>
                    <a:p>
                      <a:pPr algn="ctr"/>
                      <a:r>
                        <a:rPr lang="en-US" sz="1400" dirty="0" err="1"/>
                        <a:t>phone_number</a:t>
                      </a:r>
                      <a:endParaRPr lang="en-US" sz="1400" dirty="0"/>
                    </a:p>
                  </a:txBody>
                  <a:tcPr/>
                </a:tc>
                <a:extLst>
                  <a:ext uri="{0D108BD9-81ED-4DB2-BD59-A6C34878D82A}">
                    <a16:rowId xmlns:a16="http://schemas.microsoft.com/office/drawing/2014/main" val="3584755737"/>
                  </a:ext>
                </a:extLst>
              </a:tr>
              <a:tr h="370840">
                <a:tc>
                  <a:txBody>
                    <a:bodyPr/>
                    <a:lstStyle/>
                    <a:p>
                      <a:pPr algn="ctr"/>
                      <a:r>
                        <a:rPr lang="en-US" sz="1400" dirty="0"/>
                        <a:t>1</a:t>
                      </a:r>
                    </a:p>
                  </a:txBody>
                  <a:tcPr/>
                </a:tc>
                <a:tc>
                  <a:txBody>
                    <a:bodyPr/>
                    <a:lstStyle/>
                    <a:p>
                      <a:pPr algn="ctr"/>
                      <a:r>
                        <a:rPr lang="en-US" sz="1400" dirty="0"/>
                        <a:t>444-4444</a:t>
                      </a:r>
                    </a:p>
                  </a:txBody>
                  <a:tcPr/>
                </a:tc>
                <a:extLst>
                  <a:ext uri="{0D108BD9-81ED-4DB2-BD59-A6C34878D82A}">
                    <a16:rowId xmlns:a16="http://schemas.microsoft.com/office/drawing/2014/main" val="3161367728"/>
                  </a:ext>
                </a:extLst>
              </a:tr>
              <a:tr h="370840">
                <a:tc>
                  <a:txBody>
                    <a:bodyPr/>
                    <a:lstStyle/>
                    <a:p>
                      <a:pPr algn="ctr"/>
                      <a:r>
                        <a:rPr lang="en-US" sz="1400" dirty="0"/>
                        <a:t>2</a:t>
                      </a:r>
                    </a:p>
                  </a:txBody>
                  <a:tcPr/>
                </a:tc>
                <a:tc>
                  <a:txBody>
                    <a:bodyPr/>
                    <a:lstStyle/>
                    <a:p>
                      <a:pPr algn="ctr"/>
                      <a:r>
                        <a:rPr lang="en-US" sz="1400" dirty="0"/>
                        <a:t>555-5555</a:t>
                      </a:r>
                    </a:p>
                  </a:txBody>
                  <a:tcPr/>
                </a:tc>
                <a:extLst>
                  <a:ext uri="{0D108BD9-81ED-4DB2-BD59-A6C34878D82A}">
                    <a16:rowId xmlns:a16="http://schemas.microsoft.com/office/drawing/2014/main" val="2008638113"/>
                  </a:ext>
                </a:extLst>
              </a:tr>
            </a:tbl>
          </a:graphicData>
        </a:graphic>
      </p:graphicFrame>
    </p:spTree>
    <p:extLst>
      <p:ext uri="{BB962C8B-B14F-4D97-AF65-F5344CB8AC3E}">
        <p14:creationId xmlns:p14="http://schemas.microsoft.com/office/powerpoint/2010/main" val="26063118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Denormalization</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882266"/>
          </a:xfrm>
        </p:spPr>
        <p:txBody>
          <a:bodyPr>
            <a:normAutofit fontScale="92500" lnSpcReduction="10000"/>
          </a:bodyPr>
          <a:lstStyle/>
          <a:p>
            <a:r>
              <a:rPr lang="en-US" dirty="0"/>
              <a:t>Adding redundancy and duplication to a database in order to improve reading data.</a:t>
            </a:r>
          </a:p>
          <a:p>
            <a:pPr lvl="1"/>
            <a:r>
              <a:rPr lang="en-US" dirty="0"/>
              <a:t>This should not be done if avoidable</a:t>
            </a:r>
          </a:p>
          <a:p>
            <a:r>
              <a:rPr lang="en-US" dirty="0"/>
              <a:t>Normalized data can take less space; however, it may require the use of a join or other technique to construct the desired result set. </a:t>
            </a:r>
          </a:p>
          <a:p>
            <a:pPr lvl="1"/>
            <a:r>
              <a:rPr lang="en-US" dirty="0"/>
              <a:t>Additionally, normalized data can take longer to read data from the query</a:t>
            </a:r>
          </a:p>
          <a:p>
            <a:pPr lvl="1"/>
            <a:r>
              <a:rPr lang="en-US" dirty="0"/>
              <a:t>indexes work best on normalized data</a:t>
            </a:r>
          </a:p>
          <a:p>
            <a:r>
              <a:rPr lang="en-US" dirty="0"/>
              <a:t>Denormalization can improve reading data (because data is readily available in multiple locations); however, updating and maintaining data becomes more costly.</a:t>
            </a:r>
          </a:p>
          <a:p>
            <a:endParaRPr lang="en-US" dirty="0"/>
          </a:p>
          <a:p>
            <a:endParaRPr lang="en-US" dirty="0"/>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Tree>
    <p:extLst>
      <p:ext uri="{BB962C8B-B14F-4D97-AF65-F5344CB8AC3E}">
        <p14:creationId xmlns:p14="http://schemas.microsoft.com/office/powerpoint/2010/main" val="1567511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Revature">
  <a:themeElements>
    <a:clrScheme name="Revature">
      <a:dk1>
        <a:sysClr val="windowText" lastClr="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F36A2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evature" id="{24F846AD-0162-44D4-93E8-2F393369D2EF}" vid="{C2372A91-FFE2-4AA5-895E-1FECFBB281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Revature</Template>
  <TotalTime>1884</TotalTime>
  <Words>2015</Words>
  <Application>Microsoft Office PowerPoint</Application>
  <PresentationFormat>On-screen Show (4:3)</PresentationFormat>
  <Paragraphs>430</Paragraphs>
  <Slides>33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Courier New</vt:lpstr>
      <vt:lpstr>Revature</vt:lpstr>
      <vt:lpstr>Database Relationship Management</vt:lpstr>
      <vt:lpstr>Outline</vt:lpstr>
      <vt:lpstr>PowerPoint Presentation</vt:lpstr>
      <vt:lpstr>Data Integrity</vt:lpstr>
      <vt:lpstr>Constraints &amp; Referential Integrity</vt:lpstr>
      <vt:lpstr>Referential Integrity</vt:lpstr>
      <vt:lpstr>PowerPoint Presentation</vt:lpstr>
      <vt:lpstr>Types of Keys in DBMS</vt:lpstr>
      <vt:lpstr>PRIMARY KEY</vt:lpstr>
      <vt:lpstr>PowerPoint Presentation</vt:lpstr>
      <vt:lpstr>FOREIGN KEY</vt:lpstr>
      <vt:lpstr>Orphaned Records</vt:lpstr>
      <vt:lpstr>Orphaned Records (cont…)</vt:lpstr>
      <vt:lpstr>Concerns for Referential Integrity</vt:lpstr>
      <vt:lpstr>PowerPoint Presentation</vt:lpstr>
      <vt:lpstr>CHECK</vt:lpstr>
      <vt:lpstr>NOT NULL</vt:lpstr>
      <vt:lpstr>UNIQUE</vt:lpstr>
      <vt:lpstr>Composite Keys</vt:lpstr>
      <vt:lpstr>PowerPoint Presentation</vt:lpstr>
      <vt:lpstr>Relationships [Review]</vt:lpstr>
      <vt:lpstr>Multiplicity</vt:lpstr>
      <vt:lpstr>1:1</vt:lpstr>
      <vt:lpstr>1:n (and n:1)</vt:lpstr>
      <vt:lpstr>m:n</vt:lpstr>
      <vt:lpstr>PowerPoint Presentation</vt:lpstr>
      <vt:lpstr>Normalization</vt:lpstr>
      <vt:lpstr>0NF</vt:lpstr>
      <vt:lpstr>1NF</vt:lpstr>
      <vt:lpstr>2NF</vt:lpstr>
      <vt:lpstr>3NF</vt:lpstr>
      <vt:lpstr>3NF</vt:lpstr>
      <vt:lpstr>Denormalization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Bryn Portella</dc:creator>
  <cp:lastModifiedBy>Joseph Highe</cp:lastModifiedBy>
  <cp:revision>15</cp:revision>
  <dcterms:created xsi:type="dcterms:W3CDTF">2021-04-22T12:54:53Z</dcterms:created>
  <dcterms:modified xsi:type="dcterms:W3CDTF">2026-06-24T18:18:08Z</dcterms:modified>
</cp:coreProperties>
</file>