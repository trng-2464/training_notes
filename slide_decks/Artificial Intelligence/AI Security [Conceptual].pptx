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357" r:id="rId4"/>
    <p:sldId id="343" r:id="rId5"/>
    <p:sldId id="445" r:id="rId6"/>
    <p:sldId id="443" r:id="rId7"/>
    <p:sldId id="442" r:id="rId8"/>
    <p:sldId id="444" r:id="rId9"/>
    <p:sldId id="448" r:id="rId10"/>
    <p:sldId id="446" r:id="rId11"/>
    <p:sldId id="447" r:id="rId12"/>
    <p:sldId id="451" r:id="rId13"/>
    <p:sldId id="452" r:id="rId14"/>
    <p:sldId id="453" r:id="rId15"/>
    <p:sldId id="449" r:id="rId16"/>
    <p:sldId id="450" r:id="rId17"/>
    <p:sldId id="454" r:id="rId18"/>
    <p:sldId id="358" r:id="rId1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389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Security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 Injection Prevention</a:t>
            </a:r>
          </a:p>
          <a:p>
            <a:r>
              <a:rPr lang="en-US" dirty="0"/>
              <a:t>Input validation &amp; Sanitization</a:t>
            </a:r>
          </a:p>
          <a:p>
            <a:r>
              <a:rPr lang="en-US" dirty="0"/>
              <a:t>Strengthening Internal Prompts</a:t>
            </a:r>
          </a:p>
          <a:p>
            <a:r>
              <a:rPr lang="en-US" dirty="0"/>
              <a:t>PII Masking Overview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Prompt Injection Prevention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Prompt Injection (recap): Security vulnerability in which an attacker embeds hidden instruction in content an LLM processes – designed to manipulate the model into ignoring its original instructions.</a:t>
            </a:r>
          </a:p>
          <a:p>
            <a:r>
              <a:rPr lang="en-US" dirty="0"/>
              <a:t>Two broad categories of prompt injection:</a:t>
            </a:r>
          </a:p>
          <a:p>
            <a:pPr lvl="1"/>
            <a:r>
              <a:rPr lang="en-US" b="1" dirty="0"/>
              <a:t>Direct Injection</a:t>
            </a:r>
            <a:r>
              <a:rPr lang="en-US" dirty="0"/>
              <a:t>: The attacker is the person actually typing into the prompt/chat interface themselves</a:t>
            </a:r>
          </a:p>
          <a:p>
            <a:pPr lvl="1"/>
            <a:r>
              <a:rPr lang="en-US" b="1" dirty="0"/>
              <a:t>Indirect Injection</a:t>
            </a:r>
            <a:r>
              <a:rPr lang="en-US" dirty="0"/>
              <a:t>: The malicious instructions arrive embedded in </a:t>
            </a:r>
            <a:r>
              <a:rPr lang="en-US" i="1" dirty="0"/>
              <a:t>external</a:t>
            </a:r>
            <a:r>
              <a:rPr lang="en-US" dirty="0"/>
              <a:t> content the model processes as part of its task</a:t>
            </a:r>
          </a:p>
          <a:p>
            <a:pPr lvl="2"/>
            <a:r>
              <a:rPr lang="en-US" dirty="0"/>
              <a:t>Indirect Injection is typically considered the more dangerous type of Injection attack, since the end user may not realize an attack occurred until its too late.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Injection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518E4-8043-0EA9-8E95-8ADACB5F5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80238-23B2-0788-132B-7247D61FAF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4BE6BA-42AB-505D-DEBA-368D023D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Core Prevention Techniques:</a:t>
            </a:r>
          </a:p>
          <a:p>
            <a:pPr lvl="1"/>
            <a:r>
              <a:rPr lang="en-US" b="1" dirty="0"/>
              <a:t>Instruction/data separation</a:t>
            </a:r>
            <a:r>
              <a:rPr lang="en-US" dirty="0"/>
              <a:t>: clearly and structurally distinguishing “trusted instructions” from “untrusted content to process”.</a:t>
            </a:r>
          </a:p>
          <a:p>
            <a:pPr lvl="2"/>
            <a:r>
              <a:rPr lang="en-US" dirty="0"/>
              <a:t>This could be in the form of formatting input, and giving clear instructions to a model for how to process each part of a request.</a:t>
            </a:r>
          </a:p>
          <a:p>
            <a:pPr lvl="1"/>
            <a:r>
              <a:rPr lang="en-US" b="1" dirty="0"/>
              <a:t>Privilege limiting</a:t>
            </a:r>
            <a:r>
              <a:rPr lang="en-US" dirty="0"/>
              <a:t>: a.k.a. “least privilege’, restricting what an LLM-powered system can do, regardless of what it’s told.</a:t>
            </a:r>
          </a:p>
          <a:p>
            <a:pPr lvl="1"/>
            <a:r>
              <a:rPr lang="en-US" b="1" dirty="0"/>
              <a:t>Instruction hierarchies</a:t>
            </a:r>
            <a:r>
              <a:rPr lang="en-US" dirty="0"/>
              <a:t>: Designing the system so that certain instructions (e.g. system-level rules) are explicitly treated as higher priority and non-overridable by anything found in a lower-priority content</a:t>
            </a:r>
          </a:p>
          <a:p>
            <a:pPr lvl="1"/>
            <a:r>
              <a:rPr lang="en-US" b="1" dirty="0"/>
              <a:t>Input/output filtering and classifiers</a:t>
            </a:r>
            <a:r>
              <a:rPr lang="en-US" dirty="0"/>
              <a:t>: Using a separate, dedicated screening step to check incoming content for injection, before it reaches the primary model.</a:t>
            </a:r>
          </a:p>
          <a:p>
            <a:pPr lvl="2"/>
            <a:r>
              <a:rPr lang="en-US" dirty="0"/>
              <a:t>Additionally, adding checks to the output for signs of an injection attack prior to outputting the message.</a:t>
            </a:r>
          </a:p>
          <a:p>
            <a:pPr lvl="1"/>
            <a:r>
              <a:rPr lang="en-US" b="1" dirty="0"/>
              <a:t>Sandboxing/isolation</a:t>
            </a:r>
            <a:r>
              <a:rPr lang="en-US" dirty="0"/>
              <a:t>: Running any actions an LLM-powered agent takes in an isolated, restricted environment, so manipulation is contained and limited in the potential damage it can cause.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3F5461-0D3C-B7B5-9A2C-4D70A30B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Injection</a:t>
            </a:r>
          </a:p>
        </p:txBody>
      </p:sp>
    </p:spTree>
    <p:extLst>
      <p:ext uri="{BB962C8B-B14F-4D97-AF65-F5344CB8AC3E}">
        <p14:creationId xmlns:p14="http://schemas.microsoft.com/office/powerpoint/2010/main" val="425801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A9E83-70F2-67C6-052F-55C086CCE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9CD47-04E8-E039-1121-58214DBF19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5B0EB-D0F4-00F7-B386-4E2ADEAF9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 single technique is sufficient on its own</a:t>
            </a:r>
          </a:p>
          <a:p>
            <a:r>
              <a:rPr lang="en-US" dirty="0"/>
              <a:t>Defense in depth: laying multiple techniques together to strengthen overall security and reduce vulnerabilities.</a:t>
            </a:r>
          </a:p>
          <a:p>
            <a:r>
              <a:rPr lang="en-US" dirty="0"/>
              <a:t>Testing Matters: Organizations building LLM-powered systems should routinely and rigorously test their systems (proactively try to break the system).</a:t>
            </a:r>
          </a:p>
          <a:p>
            <a:r>
              <a:rPr lang="en-US" dirty="0"/>
              <a:t>LLM-powered systems are becoming increasingly more common, and process more external data. Any level of trust from external content grows the risk of injection attacks.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3691C6-0F04-F9A1-8140-A1637E12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Injection</a:t>
            </a:r>
          </a:p>
        </p:txBody>
      </p:sp>
    </p:spTree>
    <p:extLst>
      <p:ext uri="{BB962C8B-B14F-4D97-AF65-F5344CB8AC3E}">
        <p14:creationId xmlns:p14="http://schemas.microsoft.com/office/powerpoint/2010/main" val="308934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23972-09B5-B1B3-6336-7165343F7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6D9541-3E48-1156-AA5D-F1F74C9FFB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8568F2B-A109-F5C7-03C5-B776ACAF76D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Input Validation &amp; Sanitization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00A7F-5C53-E1C7-C997-7D2C6F3D9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96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117F-FA10-FAA4-AE3F-E2653E81E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2316F-0ECC-EB8E-6130-67CFCD0681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D67336-9833-A314-6516-4AB967538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Input Validation</a:t>
            </a:r>
            <a:r>
              <a:rPr lang="en-US" dirty="0"/>
              <a:t>: Checking that incoming input conforms to expected characteristics (length, format, structure) before it’s processed.</a:t>
            </a:r>
          </a:p>
          <a:p>
            <a:r>
              <a:rPr lang="en-US" dirty="0"/>
              <a:t>Input that does not pass validation checks should be rejected or flagged rather than processed.</a:t>
            </a:r>
          </a:p>
          <a:p>
            <a:r>
              <a:rPr lang="en-US" b="1" dirty="0"/>
              <a:t>Input sanitization</a:t>
            </a:r>
            <a:r>
              <a:rPr lang="en-US" dirty="0"/>
              <a:t>: actively modifying or cleaning incoming input to remove or neutralize potentially harmful context before it’s processed, rather than rejecting it outright.</a:t>
            </a:r>
          </a:p>
          <a:p>
            <a:r>
              <a:rPr lang="en-US" dirty="0"/>
              <a:t>In traditional software, validating structure is done against known schemas (‘@’ symbol is required for an email address, age must be a number, etc…)</a:t>
            </a:r>
          </a:p>
          <a:p>
            <a:r>
              <a:rPr lang="en-US" dirty="0"/>
              <a:t>With LLMs the “input” is often open-ended, natural language, making validation more difficult.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B22337-3263-B315-46D9-22A88E24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Validation &amp; Sanitization</a:t>
            </a:r>
          </a:p>
        </p:txBody>
      </p:sp>
    </p:spTree>
    <p:extLst>
      <p:ext uri="{BB962C8B-B14F-4D97-AF65-F5344CB8AC3E}">
        <p14:creationId xmlns:p14="http://schemas.microsoft.com/office/powerpoint/2010/main" val="367044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37D87-4F7E-B70A-1EED-830949F1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58592-140D-59F3-CA86-225802286C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FBD58-739C-2AD6-9E0B-AAB2C3660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Common Validation Techniques:</a:t>
            </a:r>
          </a:p>
          <a:p>
            <a:r>
              <a:rPr lang="en-US" b="1" dirty="0"/>
              <a:t>Length Limits</a:t>
            </a:r>
            <a:r>
              <a:rPr lang="en-US" dirty="0"/>
              <a:t>: capping input size</a:t>
            </a:r>
          </a:p>
          <a:p>
            <a:pPr lvl="1"/>
            <a:r>
              <a:rPr lang="en-US" dirty="0"/>
              <a:t>Control cost</a:t>
            </a:r>
          </a:p>
          <a:p>
            <a:pPr lvl="1"/>
            <a:r>
              <a:rPr lang="en-US" dirty="0"/>
              <a:t>Reduce the space available for an attacker to embed complex, multipart injections</a:t>
            </a:r>
          </a:p>
          <a:p>
            <a:r>
              <a:rPr lang="en-US" b="1" dirty="0"/>
              <a:t>Format/schema validation</a:t>
            </a:r>
            <a:r>
              <a:rPr lang="en-US" dirty="0"/>
              <a:t>: Input is validated against expected structure</a:t>
            </a:r>
          </a:p>
          <a:p>
            <a:pPr lvl="1"/>
            <a:r>
              <a:rPr lang="en-US" dirty="0"/>
              <a:t>Anything that doesn’t conform can be rejected</a:t>
            </a:r>
          </a:p>
          <a:p>
            <a:r>
              <a:rPr lang="en-US" b="1" dirty="0"/>
              <a:t>Allow-lists vs Deny-lists</a:t>
            </a:r>
            <a:r>
              <a:rPr lang="en-US" dirty="0"/>
              <a:t>: Allow lists define what is permitted. Deny-lists define what is forbidden.</a:t>
            </a:r>
          </a:p>
          <a:p>
            <a:pPr lvl="1"/>
            <a:r>
              <a:rPr lang="en-US" dirty="0"/>
              <a:t>Typically, allow-lists are more secure.</a:t>
            </a:r>
          </a:p>
          <a:p>
            <a:pPr lvl="1"/>
            <a:r>
              <a:rPr lang="en-US" dirty="0"/>
              <a:t>Allow-lists/Deny-lists might specify:</a:t>
            </a:r>
          </a:p>
          <a:p>
            <a:pPr lvl="2"/>
            <a:r>
              <a:rPr lang="en-US" dirty="0"/>
              <a:t>acceptable doc types (deny: .exe vs allow: .pdf/.csv)</a:t>
            </a:r>
          </a:p>
          <a:p>
            <a:pPr lvl="2"/>
            <a:r>
              <a:rPr lang="en-US" dirty="0"/>
              <a:t>Only answer questions available in a FAQ</a:t>
            </a:r>
          </a:p>
          <a:p>
            <a:pPr lvl="2"/>
            <a:r>
              <a:rPr lang="en-US" dirty="0"/>
              <a:t>Allow LLM to read a certain file, but do not allow LLM to modify files</a:t>
            </a:r>
          </a:p>
          <a:p>
            <a:r>
              <a:rPr lang="en-US" dirty="0"/>
              <a:t>Note: Validation and sanitization can apply to output as well. Checking the model output before it is displayed can catch cases where harmful content made it through.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A437E7-34A0-C4B5-F360-F1810F45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Validation &amp; Sanitization</a:t>
            </a:r>
          </a:p>
        </p:txBody>
      </p:sp>
    </p:spTree>
    <p:extLst>
      <p:ext uri="{BB962C8B-B14F-4D97-AF65-F5344CB8AC3E}">
        <p14:creationId xmlns:p14="http://schemas.microsoft.com/office/powerpoint/2010/main" val="102091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2EDC1-C0CB-EEDF-64CD-CF74840D8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F4B86F-A5A4-4AF1-AEC3-8FF8EFAA1A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88CD7AD-A19D-4EE7-05E6-09DAF606582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Strengthening Internal Prompts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16A4FB-2939-1B92-5394-E116B42B4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60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25CB0-2F57-E9BD-CBBC-24B46551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18832-A83D-F099-B1EB-811C146D00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BC5F37-22B6-2016-E5DB-77A6DA880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</a:t>
            </a:r>
            <a:r>
              <a:rPr lang="en-US" b="1" dirty="0"/>
              <a:t>Internal Prompt</a:t>
            </a:r>
            <a:r>
              <a:rPr lang="en-US" dirty="0"/>
              <a:t> is the persistent instruction set that defines an LLM-powered application’s behavior, persona, rules and boundaries.</a:t>
            </a:r>
          </a:p>
          <a:p>
            <a:pPr lvl="1"/>
            <a:r>
              <a:rPr lang="en-US" dirty="0"/>
              <a:t>This is typically invisible to the end user</a:t>
            </a:r>
          </a:p>
          <a:p>
            <a:pPr lvl="1"/>
            <a:r>
              <a:rPr lang="en-US" dirty="0"/>
              <a:t>Contains business logic, behavioral rules, or proprietary approach worth protecting</a:t>
            </a:r>
          </a:p>
          <a:p>
            <a:r>
              <a:rPr lang="en-US" dirty="0"/>
              <a:t>Typically, the two main goals when strengthening internal prompts:</a:t>
            </a:r>
          </a:p>
          <a:p>
            <a:pPr lvl="1"/>
            <a:r>
              <a:rPr lang="en-US" b="1" dirty="0"/>
              <a:t>Resistance to override</a:t>
            </a:r>
            <a:r>
              <a:rPr lang="en-US" dirty="0"/>
              <a:t>: prevent user input or external content from successfully convincing the model to abandon or contradict internal instructions.</a:t>
            </a:r>
          </a:p>
          <a:p>
            <a:pPr lvl="1"/>
            <a:r>
              <a:rPr lang="en-US" b="1" dirty="0"/>
              <a:t>Resistance to leakage</a:t>
            </a:r>
            <a:r>
              <a:rPr lang="en-US" dirty="0"/>
              <a:t>: prevent the model from revealing the contents of its own internal prompt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9C4E92-E301-6477-B1EC-E727FE70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Prompts</a:t>
            </a:r>
          </a:p>
        </p:txBody>
      </p:sp>
    </p:spTree>
    <p:extLst>
      <p:ext uri="{BB962C8B-B14F-4D97-AF65-F5344CB8AC3E}">
        <p14:creationId xmlns:p14="http://schemas.microsoft.com/office/powerpoint/2010/main" val="377882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AE6B9-E21D-FA12-7BE7-83D62E03A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53A05-A816-DA54-8B08-B6D10E78DA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073DA-11A3-C8BF-5ABB-008294EA1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Explicit priority statements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Directly telling the model that system-level instructions take precedence over anything encountered later.</a:t>
            </a:r>
          </a:p>
          <a:p>
            <a:pPr lvl="1"/>
            <a:r>
              <a:rPr lang="en-US" dirty="0"/>
              <a:t>Directly instructing model that system-level instructions should never be overridden be user claims of special authority</a:t>
            </a:r>
          </a:p>
          <a:p>
            <a:r>
              <a:rPr lang="en-US" b="1" dirty="0"/>
              <a:t>Reinforcement/repetition of critical rules</a:t>
            </a:r>
          </a:p>
          <a:p>
            <a:pPr lvl="1"/>
            <a:r>
              <a:rPr lang="en-US" dirty="0"/>
              <a:t>Restating the most important constraints in more than one place within the prompt </a:t>
            </a:r>
          </a:p>
          <a:p>
            <a:pPr lvl="1"/>
            <a:r>
              <a:rPr lang="en-US" dirty="0"/>
              <a:t>“Sandwiching”: A technique in which critical instructions are placed before and after user-provided content</a:t>
            </a:r>
          </a:p>
          <a:p>
            <a:r>
              <a:rPr lang="en-US" b="1" dirty="0"/>
              <a:t>Clear structural delimiting</a:t>
            </a:r>
          </a:p>
          <a:p>
            <a:pPr lvl="1"/>
            <a:r>
              <a:rPr lang="en-US" dirty="0"/>
              <a:t>Using explicit formatting (like XML-style tags) to separate system instructions from user input or retrieved content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9995A3-81BC-5FD5-FE69-BEBDD50B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Prompts | Override Resistance Techniques</a:t>
            </a:r>
          </a:p>
        </p:txBody>
      </p:sp>
    </p:spTree>
    <p:extLst>
      <p:ext uri="{BB962C8B-B14F-4D97-AF65-F5344CB8AC3E}">
        <p14:creationId xmlns:p14="http://schemas.microsoft.com/office/powerpoint/2010/main" val="208877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4ED82-3A07-A6ED-0F3F-7A2612BAB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7C5D9-DC56-0ECC-F817-E8EB1A1C71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1294F4-5BB6-5DD1-BED2-FDA21214C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Explicit non-disclosure instructions</a:t>
            </a:r>
            <a:endParaRPr lang="en-US" dirty="0"/>
          </a:p>
          <a:p>
            <a:pPr lvl="1"/>
            <a:r>
              <a:rPr lang="en-US" dirty="0"/>
              <a:t>Directly instructing the model not to reveal its system prompt, instructions, or internal configuration, even if asked directly, rephrases cleverly, or asked to “repeat everything above”</a:t>
            </a:r>
          </a:p>
          <a:p>
            <a:r>
              <a:rPr lang="en-US" b="1" dirty="0"/>
              <a:t>Avoid unnecessary sensitive content in the prompt</a:t>
            </a:r>
          </a:p>
          <a:p>
            <a:pPr lvl="1"/>
            <a:r>
              <a:rPr lang="en-US" dirty="0"/>
              <a:t>The most reliable defense against leakage</a:t>
            </a:r>
          </a:p>
          <a:p>
            <a:pPr lvl="1"/>
            <a:r>
              <a:rPr lang="en-US" dirty="0"/>
              <a:t>You should assume </a:t>
            </a:r>
            <a:r>
              <a:rPr lang="en-US" i="1" dirty="0"/>
              <a:t>any system prompt could eventually leak</a:t>
            </a:r>
            <a:r>
              <a:rPr lang="en-US" dirty="0"/>
              <a:t> and design prompts and instructions accordingly</a:t>
            </a:r>
          </a:p>
          <a:p>
            <a:r>
              <a:rPr lang="en-US" b="1" dirty="0"/>
              <a:t>Separate sensitive logic from prompt where possible</a:t>
            </a:r>
          </a:p>
          <a:p>
            <a:pPr lvl="1"/>
            <a:r>
              <a:rPr lang="en-US" dirty="0"/>
              <a:t>Business rules that are highly sensitive or proprietary can sometimes be enforced outside the LLM (within application code)</a:t>
            </a:r>
          </a:p>
          <a:p>
            <a:pPr lvl="1"/>
            <a:r>
              <a:rPr lang="en-US" dirty="0"/>
              <a:t>Model does not have direct access to this sensitive information.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D8D8BC-9B4D-A002-DE0C-DAC3D213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Prompts | Leakage Resistance Techniques</a:t>
            </a:r>
          </a:p>
        </p:txBody>
      </p:sp>
    </p:spTree>
    <p:extLst>
      <p:ext uri="{BB962C8B-B14F-4D97-AF65-F5344CB8AC3E}">
        <p14:creationId xmlns:p14="http://schemas.microsoft.com/office/powerpoint/2010/main" val="245769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8E2CA-FF28-CE60-5203-7639F7D5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5798B-E47F-710D-34A9-2D1B1BC9AC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5FCE59-6945-804B-5213-E17D68033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b="1" dirty="0"/>
              <a:t>Security through obscurity</a:t>
            </a:r>
            <a:r>
              <a:rPr lang="en-US" dirty="0"/>
              <a:t>: The idea that a system can be protected primarily because an attacker doesn’t know how it works.</a:t>
            </a:r>
          </a:p>
          <a:p>
            <a:r>
              <a:rPr lang="en-US" dirty="0"/>
              <a:t>This is famously fragile!</a:t>
            </a:r>
          </a:p>
          <a:p>
            <a:r>
              <a:rPr lang="en-US" dirty="0"/>
              <a:t>Prompts can leak through direct requests, clever rephrasing or indirect extraction techniques.</a:t>
            </a:r>
          </a:p>
          <a:p>
            <a:r>
              <a:rPr lang="en-US" dirty="0"/>
              <a:t>A well-designed system remains reasonably secure, even if it’s system prompt becomes fully known.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847F02-9D86-3756-2ECB-168D359B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through obscurity</a:t>
            </a:r>
          </a:p>
        </p:txBody>
      </p:sp>
    </p:spTree>
    <p:extLst>
      <p:ext uri="{BB962C8B-B14F-4D97-AF65-F5344CB8AC3E}">
        <p14:creationId xmlns:p14="http://schemas.microsoft.com/office/powerpoint/2010/main" val="212565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46F13-B9DA-86A6-8FFD-1795F4847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889787-09B9-E5C2-1A2F-7EA252E2020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263D791D-6B9E-EEE7-C295-57A92884005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PII Masking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59B512-CA4E-1272-EF4B-5B516C2D4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08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69C8-69BA-1A5C-4F8B-E1B1948FC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CC915-B1C2-6B21-E6C6-51CF9FDDEF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D26B6-7FB5-256A-0562-B95181EF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PII</a:t>
            </a:r>
            <a:r>
              <a:rPr lang="en-US" dirty="0"/>
              <a:t> (</a:t>
            </a:r>
            <a:r>
              <a:rPr lang="en-US" b="1" dirty="0"/>
              <a:t>Personal Identifiable Information</a:t>
            </a:r>
            <a:r>
              <a:rPr lang="en-US" dirty="0"/>
              <a:t>): Any data that could identify a specific individual, either on its own or combined with other data.</a:t>
            </a:r>
          </a:p>
          <a:p>
            <a:r>
              <a:rPr lang="en-US" dirty="0"/>
              <a:t>Common categories:</a:t>
            </a:r>
          </a:p>
          <a:p>
            <a:pPr lvl="1"/>
            <a:r>
              <a:rPr lang="en-US" b="1" dirty="0"/>
              <a:t>Direct identifiers</a:t>
            </a:r>
            <a:r>
              <a:rPr lang="en-US" dirty="0"/>
              <a:t>: name, social security number, email address, phone number, physical address</a:t>
            </a:r>
          </a:p>
          <a:p>
            <a:pPr lvl="1"/>
            <a:r>
              <a:rPr lang="en-US" b="1" dirty="0"/>
              <a:t>Indirect/quasi-identifiers</a:t>
            </a:r>
            <a:r>
              <a:rPr lang="en-US" dirty="0"/>
              <a:t>: date of birth, ZIP code, job title, employer. These are not identifying on their own, but could potentially identify when combines with other quasi-identifiers.</a:t>
            </a:r>
          </a:p>
          <a:p>
            <a:pPr lvl="1"/>
            <a:r>
              <a:rPr lang="en-US" b="1" dirty="0"/>
              <a:t>Sensitive PII</a:t>
            </a:r>
            <a:r>
              <a:rPr lang="en-US" dirty="0"/>
              <a:t>: A heightened category including health information, financial account details, biometric data, or information about protected characteristics. Often subject to stricter legal protections.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877B09-505E-BA75-15EE-F2A9AB96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Personally Identifiable Information</a:t>
            </a:r>
          </a:p>
        </p:txBody>
      </p:sp>
    </p:spTree>
    <p:extLst>
      <p:ext uri="{BB962C8B-B14F-4D97-AF65-F5344CB8AC3E}">
        <p14:creationId xmlns:p14="http://schemas.microsoft.com/office/powerpoint/2010/main" val="316213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75E0E-92AA-3C12-EA3F-45200C539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0FB07-AC7A-FFB4-4A44-D1081C3419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961884-6EA9-9818-74DD-35F5E8871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Common masking techniques</a:t>
            </a:r>
          </a:p>
          <a:p>
            <a:r>
              <a:rPr lang="en-US" b="1" dirty="0"/>
              <a:t>Redaction</a:t>
            </a:r>
            <a:r>
              <a:rPr lang="en-US" dirty="0"/>
              <a:t>: Removing PII entirely, often replacing it with placeholder (e.g. replacing a name with “[NAME]”)</a:t>
            </a:r>
          </a:p>
          <a:p>
            <a:r>
              <a:rPr lang="en-US" b="1" dirty="0"/>
              <a:t>Tokenization/pseudonymization</a:t>
            </a:r>
            <a:r>
              <a:rPr lang="en-US" dirty="0"/>
              <a:t>: replacing PII with consistent substitute token (always replacing “john smith” with “</a:t>
            </a:r>
            <a:r>
              <a:rPr lang="en-US" dirty="0" err="1"/>
              <a:t>Person_A</a:t>
            </a:r>
            <a:r>
              <a:rPr lang="en-US" dirty="0"/>
              <a:t>”, with a given document).</a:t>
            </a:r>
          </a:p>
          <a:p>
            <a:r>
              <a:rPr lang="en-US" b="1" dirty="0"/>
              <a:t>Generalization</a:t>
            </a:r>
            <a:r>
              <a:rPr lang="en-US" dirty="0"/>
              <a:t>: Reducing precision rather than fully removing data (replacing an exact birthdate with just a birth year, or address with just a city/state).</a:t>
            </a:r>
          </a:p>
          <a:p>
            <a:r>
              <a:rPr lang="en-US" b="1" dirty="0"/>
              <a:t>Encryption</a:t>
            </a:r>
            <a:r>
              <a:rPr lang="en-US" dirty="0"/>
              <a:t>: Protecting PII so it’s unreadable without a decryption key. Often used for data at rest or in transit, rather than data actively being processed by a model.</a:t>
            </a:r>
          </a:p>
          <a:p>
            <a:pPr marL="0" indent="0">
              <a:buNone/>
            </a:pPr>
            <a:r>
              <a:rPr lang="en-US" dirty="0"/>
              <a:t>Before PII can be masked, it must be detected, which presents its own challenges:</a:t>
            </a:r>
          </a:p>
          <a:p>
            <a:r>
              <a:rPr lang="en-US" b="1" dirty="0"/>
              <a:t>Pattern/format-based detection</a:t>
            </a:r>
            <a:r>
              <a:rPr lang="en-US" dirty="0"/>
              <a:t>: Effective for PII with a predictable structure using defined patterns to identify likely matches</a:t>
            </a:r>
          </a:p>
          <a:p>
            <a:pPr lvl="1"/>
            <a:r>
              <a:rPr lang="en-US" dirty="0"/>
              <a:t>E.g. email address, SSN, phone number</a:t>
            </a:r>
          </a:p>
          <a:p>
            <a:r>
              <a:rPr lang="en-US" b="1" dirty="0"/>
              <a:t>Model/ML-based detection</a:t>
            </a:r>
            <a:r>
              <a:rPr lang="en-US" dirty="0"/>
              <a:t>: For PII without predictable structure, often requiring a dedicated detection model trained to recognize PII.</a:t>
            </a:r>
          </a:p>
          <a:p>
            <a:pPr lvl="1"/>
            <a:r>
              <a:rPr lang="en-US" dirty="0"/>
              <a:t>E.g. person’s name in free flowing text, full address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BD0481-234F-B33A-BF10-05EC1A77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Masking PII</a:t>
            </a:r>
          </a:p>
        </p:txBody>
      </p:sp>
    </p:spTree>
    <p:extLst>
      <p:ext uri="{BB962C8B-B14F-4D97-AF65-F5344CB8AC3E}">
        <p14:creationId xmlns:p14="http://schemas.microsoft.com/office/powerpoint/2010/main" val="332124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11177</TotalTime>
  <Words>1345</Words>
  <Application>Microsoft Office PowerPoint</Application>
  <PresentationFormat>On-screen Show (4:3)</PresentationFormat>
  <Paragraphs>115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2_Custom Design</vt:lpstr>
      <vt:lpstr>AI Security</vt:lpstr>
      <vt:lpstr>Outline</vt:lpstr>
      <vt:lpstr>PowerPoint Presentation</vt:lpstr>
      <vt:lpstr>Prompt Injection</vt:lpstr>
      <vt:lpstr>Prompt Injection</vt:lpstr>
      <vt:lpstr>Prompt Injection</vt:lpstr>
      <vt:lpstr>PowerPoint Presentation</vt:lpstr>
      <vt:lpstr>Input Validation &amp; Sanitization</vt:lpstr>
      <vt:lpstr>Input Validation &amp; Sanitization</vt:lpstr>
      <vt:lpstr>PowerPoint Presentation</vt:lpstr>
      <vt:lpstr>Internal Prompts</vt:lpstr>
      <vt:lpstr>Internal Prompts | Override Resistance Techniques</vt:lpstr>
      <vt:lpstr>Internal Prompts | Leakage Resistance Techniques</vt:lpstr>
      <vt:lpstr>Security through obscurity</vt:lpstr>
      <vt:lpstr>PowerPoint Presentation</vt:lpstr>
      <vt:lpstr>Personally Identifiable Information</vt:lpstr>
      <vt:lpstr>Masking PII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15</cp:revision>
  <cp:lastPrinted>2016-06-20T20:58:50Z</cp:lastPrinted>
  <dcterms:created xsi:type="dcterms:W3CDTF">2016-11-09T18:19:08Z</dcterms:created>
  <dcterms:modified xsi:type="dcterms:W3CDTF">2026-07-21T20:04:52Z</dcterms:modified>
</cp:coreProperties>
</file>