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4"/>
  </p:notesMasterIdLst>
  <p:handoutMasterIdLst>
    <p:handoutMasterId r:id="rId35"/>
  </p:handoutMasterIdLst>
  <p:sldIdLst>
    <p:sldId id="256" r:id="rId2"/>
    <p:sldId id="343" r:id="rId3"/>
    <p:sldId id="357" r:id="rId4"/>
    <p:sldId id="257" r:id="rId5"/>
    <p:sldId id="454" r:id="rId6"/>
    <p:sldId id="448" r:id="rId7"/>
    <p:sldId id="442" r:id="rId8"/>
    <p:sldId id="443" r:id="rId9"/>
    <p:sldId id="449" r:id="rId10"/>
    <p:sldId id="450" r:id="rId11"/>
    <p:sldId id="451" r:id="rId12"/>
    <p:sldId id="441" r:id="rId13"/>
    <p:sldId id="444" r:id="rId14"/>
    <p:sldId id="445" r:id="rId15"/>
    <p:sldId id="453" r:id="rId16"/>
    <p:sldId id="455" r:id="rId17"/>
    <p:sldId id="456" r:id="rId18"/>
    <p:sldId id="457" r:id="rId19"/>
    <p:sldId id="458" r:id="rId20"/>
    <p:sldId id="459" r:id="rId21"/>
    <p:sldId id="460" r:id="rId22"/>
    <p:sldId id="461" r:id="rId23"/>
    <p:sldId id="462" r:id="rId24"/>
    <p:sldId id="463" r:id="rId25"/>
    <p:sldId id="464" r:id="rId26"/>
    <p:sldId id="465" r:id="rId27"/>
    <p:sldId id="466" r:id="rId28"/>
    <p:sldId id="446" r:id="rId29"/>
    <p:sldId id="447" r:id="rId30"/>
    <p:sldId id="467" r:id="rId31"/>
    <p:sldId id="468" r:id="rId32"/>
    <p:sldId id="358" r:id="rId3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59" d="100"/>
          <a:sy n="59" d="100"/>
        </p:scale>
        <p:origin x="1698" y="72"/>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7/21/2026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7/21/2026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9</a:t>
            </a:fld>
            <a:endParaRPr lang="en-US" dirty="0"/>
          </a:p>
        </p:txBody>
      </p:sp>
    </p:spTree>
    <p:extLst>
      <p:ext uri="{BB962C8B-B14F-4D97-AF65-F5344CB8AC3E}">
        <p14:creationId xmlns:p14="http://schemas.microsoft.com/office/powerpoint/2010/main" val="1296605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Large Language Models</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a:bodyPr>
          <a:lstStyle/>
          <a:p>
            <a:r>
              <a:rPr lang="en-US" dirty="0"/>
              <a:t>Intro to LLMs</a:t>
            </a:r>
          </a:p>
          <a:p>
            <a:r>
              <a:rPr lang="en-US" dirty="0"/>
              <a:t>Major LLM Players</a:t>
            </a:r>
          </a:p>
          <a:p>
            <a:r>
              <a:rPr lang="en-US" dirty="0"/>
              <a:t>Responsible AI Usage</a:t>
            </a:r>
          </a:p>
          <a:p>
            <a:r>
              <a:rPr lang="en-US" dirty="0"/>
              <a:t>Cost &amp; Token Considerations</a:t>
            </a:r>
          </a:p>
          <a:p>
            <a:endParaRPr lang="en-US" dirty="0"/>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LLM Intro</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3</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LLM Introduction</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a:xfrm>
            <a:off x="380010" y="1481446"/>
            <a:ext cx="8383980" cy="4882266"/>
          </a:xfrm>
        </p:spPr>
        <p:txBody>
          <a:bodyPr>
            <a:normAutofit fontScale="92500" lnSpcReduction="20000"/>
          </a:bodyPr>
          <a:lstStyle/>
          <a:p>
            <a:r>
              <a:rPr lang="en-US" dirty="0"/>
              <a:t>Large Language Models are a type of Generative AI training on massive amounts of text</a:t>
            </a:r>
          </a:p>
          <a:p>
            <a:r>
              <a:rPr lang="en-US" dirty="0"/>
              <a:t>LLMs specialize in generating human-like text to answer questions, summarize content and write code</a:t>
            </a:r>
          </a:p>
          <a:p>
            <a:r>
              <a:rPr lang="en-US" dirty="0"/>
              <a:t>LLMs are general-purpose tools, the same underlying model can support many different use cases, unlike traditional narrow AI systems built for one specific task.</a:t>
            </a:r>
          </a:p>
          <a:p>
            <a:r>
              <a:rPr lang="en-US" b="1" dirty="0"/>
              <a:t>Note</a:t>
            </a:r>
            <a:r>
              <a:rPr lang="en-US" dirty="0"/>
              <a:t>: LLMs are best suited to language-based and pattern-based tasks, they are not universal replacements for deterministic systems (e.g. precise math, database lookups, mission critical calculations)</a:t>
            </a:r>
          </a:p>
          <a:p>
            <a:r>
              <a:rPr lang="en-US" dirty="0"/>
              <a:t>In these instances, traditional software is often still the better tool.</a:t>
            </a:r>
          </a:p>
        </p:txBody>
      </p:sp>
    </p:spTree>
    <p:extLst>
      <p:ext uri="{BB962C8B-B14F-4D97-AF65-F5344CB8AC3E}">
        <p14:creationId xmlns:p14="http://schemas.microsoft.com/office/powerpoint/2010/main" val="3975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6ED6-7764-9795-3F57-70D6082E595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D1C365-C521-DC4C-3B6C-318A407DA4FA}"/>
              </a:ext>
            </a:extLst>
          </p:cNvPr>
          <p:cNvSpPr>
            <a:spLocks noGrp="1"/>
          </p:cNvSpPr>
          <p:nvPr>
            <p:ph type="title"/>
          </p:nvPr>
        </p:nvSpPr>
        <p:spPr>
          <a:xfrm>
            <a:off x="380010" y="-4950"/>
            <a:ext cx="6222671" cy="1224150"/>
          </a:xfrm>
        </p:spPr>
        <p:txBody>
          <a:bodyPr anchor="ctr">
            <a:normAutofit/>
          </a:bodyPr>
          <a:lstStyle/>
          <a:p>
            <a:r>
              <a:rPr lang="en-US" dirty="0"/>
              <a:t>LLM Introduction</a:t>
            </a:r>
          </a:p>
        </p:txBody>
      </p:sp>
      <p:pic>
        <p:nvPicPr>
          <p:cNvPr id="7" name="Picture 6">
            <a:extLst>
              <a:ext uri="{FF2B5EF4-FFF2-40B4-BE49-F238E27FC236}">
                <a16:creationId xmlns:a16="http://schemas.microsoft.com/office/drawing/2014/main" id="{C2400A18-0404-FDB7-7080-E295B47229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2886" y="1415861"/>
            <a:ext cx="7018227" cy="4947851"/>
          </a:xfrm>
          <a:prstGeom prst="rect">
            <a:avLst/>
          </a:prstGeom>
          <a:noFill/>
        </p:spPr>
      </p:pic>
      <p:sp>
        <p:nvSpPr>
          <p:cNvPr id="4" name="Slide Number Placeholder 3">
            <a:extLst>
              <a:ext uri="{FF2B5EF4-FFF2-40B4-BE49-F238E27FC236}">
                <a16:creationId xmlns:a16="http://schemas.microsoft.com/office/drawing/2014/main" id="{7672891F-23B1-E926-0D04-16582EA68B42}"/>
              </a:ext>
            </a:extLst>
          </p:cNvPr>
          <p:cNvSpPr>
            <a:spLocks noGrp="1"/>
          </p:cNvSpPr>
          <p:nvPr>
            <p:ph type="sldNum" sz="quarter" idx="12"/>
          </p:nvPr>
        </p:nvSpPr>
        <p:spPr>
          <a:xfrm>
            <a:off x="8122757" y="6363712"/>
            <a:ext cx="861671" cy="365125"/>
          </a:xfrm>
        </p:spPr>
        <p:txBody>
          <a:bodyPr anchor="ctr">
            <a:normAutofit/>
          </a:bodyPr>
          <a:lstStyle/>
          <a:p>
            <a:pPr>
              <a:spcAft>
                <a:spcPts val="600"/>
              </a:spcAft>
            </a:pPr>
            <a:fld id="{F6728BC2-ACA3-447C-A909-F3F49211C066}" type="slidenum">
              <a:rPr lang="en-US" smtClean="0"/>
              <a:pPr>
                <a:spcAft>
                  <a:spcPts val="600"/>
                </a:spcAft>
              </a:pPr>
              <a:t>4</a:t>
            </a:fld>
            <a:endParaRPr lang="en-US"/>
          </a:p>
        </p:txBody>
      </p:sp>
    </p:spTree>
    <p:extLst>
      <p:ext uri="{BB962C8B-B14F-4D97-AF65-F5344CB8AC3E}">
        <p14:creationId xmlns:p14="http://schemas.microsoft.com/office/powerpoint/2010/main" val="3741735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9188-21E5-ABEC-0561-4E27C82356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640ACA-F04D-D828-1839-3535922ED042}"/>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
        <p:nvSpPr>
          <p:cNvPr id="8" name="Title 7">
            <a:extLst>
              <a:ext uri="{FF2B5EF4-FFF2-40B4-BE49-F238E27FC236}">
                <a16:creationId xmlns:a16="http://schemas.microsoft.com/office/drawing/2014/main" id="{27B7676D-3FDC-4D2E-984A-56C5A6212AF6}"/>
              </a:ext>
            </a:extLst>
          </p:cNvPr>
          <p:cNvSpPr>
            <a:spLocks noGrp="1"/>
          </p:cNvSpPr>
          <p:nvPr>
            <p:ph type="title"/>
          </p:nvPr>
        </p:nvSpPr>
        <p:spPr/>
        <p:txBody>
          <a:bodyPr/>
          <a:lstStyle/>
          <a:p>
            <a:r>
              <a:rPr lang="en-US" dirty="0"/>
              <a:t>LLM Use Cases</a:t>
            </a:r>
          </a:p>
        </p:txBody>
      </p:sp>
      <p:sp>
        <p:nvSpPr>
          <p:cNvPr id="3" name="Content Placeholder 2">
            <a:extLst>
              <a:ext uri="{FF2B5EF4-FFF2-40B4-BE49-F238E27FC236}">
                <a16:creationId xmlns:a16="http://schemas.microsoft.com/office/drawing/2014/main" id="{8D99A226-5865-39C9-0B9A-7BFF16262D86}"/>
              </a:ext>
            </a:extLst>
          </p:cNvPr>
          <p:cNvSpPr>
            <a:spLocks noGrp="1"/>
          </p:cNvSpPr>
          <p:nvPr>
            <p:ph idx="1"/>
          </p:nvPr>
        </p:nvSpPr>
        <p:spPr>
          <a:xfrm>
            <a:off x="380010" y="1481446"/>
            <a:ext cx="8383980" cy="5247391"/>
          </a:xfrm>
        </p:spPr>
        <p:txBody>
          <a:bodyPr>
            <a:normAutofit fontScale="70000" lnSpcReduction="20000"/>
          </a:bodyPr>
          <a:lstStyle/>
          <a:p>
            <a:r>
              <a:rPr lang="en-US" b="1" dirty="0"/>
              <a:t>Content Creation</a:t>
            </a:r>
            <a:r>
              <a:rPr lang="en-US" dirty="0"/>
              <a:t>: Drafting emails, blog posts, marketing copy and other written material</a:t>
            </a:r>
          </a:p>
          <a:p>
            <a:r>
              <a:rPr lang="en-US" b="1" dirty="0"/>
              <a:t>Summarization</a:t>
            </a:r>
            <a:r>
              <a:rPr lang="en-US" dirty="0"/>
              <a:t>: condensing long documents, meeting transcripts, shortening articles, creating digestible summaries</a:t>
            </a:r>
          </a:p>
          <a:p>
            <a:r>
              <a:rPr lang="en-US" b="1" dirty="0"/>
              <a:t>Question Answering</a:t>
            </a:r>
            <a:r>
              <a:rPr lang="en-US" dirty="0"/>
              <a:t>: retrieving and synthesizing information in response to natural-language questions.</a:t>
            </a:r>
          </a:p>
          <a:p>
            <a:pPr lvl="1"/>
            <a:r>
              <a:rPr lang="en-US" dirty="0"/>
              <a:t>RAG (retrieval-augmented generation) can be used to include data from private/internal documents</a:t>
            </a:r>
          </a:p>
          <a:p>
            <a:r>
              <a:rPr lang="en-US" b="1" dirty="0"/>
              <a:t>Code Assistance</a:t>
            </a:r>
            <a:r>
              <a:rPr lang="en-US" dirty="0"/>
              <a:t>: Writing, explaining, debugging and refactoring code</a:t>
            </a:r>
          </a:p>
          <a:p>
            <a:r>
              <a:rPr lang="en-US" b="1" dirty="0"/>
              <a:t>Conversational Agents</a:t>
            </a:r>
            <a:r>
              <a:rPr lang="en-US" dirty="0"/>
              <a:t>: customer support chatbots, virtual assistances and other interactive tools</a:t>
            </a:r>
          </a:p>
          <a:p>
            <a:r>
              <a:rPr lang="en-US" b="1" dirty="0"/>
              <a:t>Translation and Language Tasks</a:t>
            </a:r>
            <a:r>
              <a:rPr lang="en-US" dirty="0"/>
              <a:t>: translating text, adjusting tone/formality, grammar correction</a:t>
            </a:r>
          </a:p>
          <a:p>
            <a:r>
              <a:rPr lang="en-US" b="1" dirty="0"/>
              <a:t>Data Extraction and Structuring</a:t>
            </a:r>
            <a:r>
              <a:rPr lang="en-US" dirty="0"/>
              <a:t>: pulling structured information (e.g. names, dates, categories) out of unstructured text, like emails or PDFs</a:t>
            </a:r>
          </a:p>
          <a:p>
            <a:r>
              <a:rPr lang="en-US" b="1" dirty="0"/>
              <a:t>Reasoning and Analysis</a:t>
            </a:r>
            <a:r>
              <a:rPr lang="en-US" dirty="0"/>
              <a:t>: Working through multi-step problems, comparing options, analyzing data described in natural language</a:t>
            </a:r>
          </a:p>
        </p:txBody>
      </p:sp>
    </p:spTree>
    <p:extLst>
      <p:ext uri="{BB962C8B-B14F-4D97-AF65-F5344CB8AC3E}">
        <p14:creationId xmlns:p14="http://schemas.microsoft.com/office/powerpoint/2010/main" val="62842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BC6D-D4F4-34CA-C027-8D1E4F5C3D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2A88E5-4D59-73F5-B01C-7E990EA485B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a:t>
            </a:fld>
            <a:endParaRPr lang="en-US"/>
          </a:p>
        </p:txBody>
      </p:sp>
      <p:sp>
        <p:nvSpPr>
          <p:cNvPr id="4" name="Google Shape;212;p15">
            <a:extLst>
              <a:ext uri="{FF2B5EF4-FFF2-40B4-BE49-F238E27FC236}">
                <a16:creationId xmlns:a16="http://schemas.microsoft.com/office/drawing/2014/main" id="{A0B11017-CBBF-DAE4-8193-A22757228F4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Major LLM Players</a:t>
            </a:r>
          </a:p>
        </p:txBody>
      </p:sp>
      <p:pic>
        <p:nvPicPr>
          <p:cNvPr id="6" name="Picture 5">
            <a:extLst>
              <a:ext uri="{FF2B5EF4-FFF2-40B4-BE49-F238E27FC236}">
                <a16:creationId xmlns:a16="http://schemas.microsoft.com/office/drawing/2014/main" id="{ED3B8246-C448-EF2D-8276-BFAAAD4CF461}"/>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9351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15F7B-8374-7F69-45E8-48FDD7A458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A597D6-DFA4-7409-B698-5EB422D7A798}"/>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8" name="Title 7">
            <a:extLst>
              <a:ext uri="{FF2B5EF4-FFF2-40B4-BE49-F238E27FC236}">
                <a16:creationId xmlns:a16="http://schemas.microsoft.com/office/drawing/2014/main" id="{47843CB1-5684-DF90-5134-C9BC615B51AF}"/>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87A22363-0359-7D66-54E6-3AED60628821}"/>
              </a:ext>
            </a:extLst>
          </p:cNvPr>
          <p:cNvSpPr>
            <a:spLocks noGrp="1"/>
          </p:cNvSpPr>
          <p:nvPr>
            <p:ph idx="1"/>
          </p:nvPr>
        </p:nvSpPr>
        <p:spPr/>
        <p:txBody>
          <a:bodyPr>
            <a:normAutofit fontScale="85000" lnSpcReduction="20000"/>
          </a:bodyPr>
          <a:lstStyle/>
          <a:p>
            <a:r>
              <a:rPr lang="en-US" dirty="0"/>
              <a:t>LLMs are build and released by a mix of large tech companies, dedicated AI labs, and open-source communities.</a:t>
            </a:r>
          </a:p>
          <a:p>
            <a:r>
              <a:rPr lang="en-US" dirty="0"/>
              <a:t>No single organization “owns” the space</a:t>
            </a:r>
          </a:p>
          <a:p>
            <a:r>
              <a:rPr lang="en-US" dirty="0"/>
              <a:t>Note: This list is a current snapshot of some major players in the LLM and AI space.</a:t>
            </a:r>
          </a:p>
          <a:p>
            <a:r>
              <a:rPr lang="en-US" dirty="0"/>
              <a:t>New models, merges, rebrands and entirely new players are common in this field.</a:t>
            </a:r>
          </a:p>
          <a:p>
            <a:r>
              <a:rPr lang="en-US" b="1" dirty="0"/>
              <a:t>GPT (Open AI)</a:t>
            </a:r>
            <a:r>
              <a:rPr lang="en-US" dirty="0"/>
              <a:t>: One of the most widely recognized LLM families</a:t>
            </a:r>
          </a:p>
          <a:p>
            <a:pPr lvl="1"/>
            <a:r>
              <a:rPr lang="en-US" dirty="0"/>
              <a:t>Powers ChatGPT</a:t>
            </a:r>
          </a:p>
          <a:p>
            <a:pPr lvl="1"/>
            <a:r>
              <a:rPr lang="en-US" dirty="0"/>
              <a:t>Lineup: GPT 5.6 (Sol, Terra and Luna)</a:t>
            </a:r>
          </a:p>
          <a:p>
            <a:pPr lvl="1"/>
            <a:r>
              <a:rPr lang="en-US" dirty="0"/>
              <a:t>GPT 5.5</a:t>
            </a:r>
          </a:p>
        </p:txBody>
      </p:sp>
    </p:spTree>
    <p:extLst>
      <p:ext uri="{BB962C8B-B14F-4D97-AF65-F5344CB8AC3E}">
        <p14:creationId xmlns:p14="http://schemas.microsoft.com/office/powerpoint/2010/main" val="114553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931B-8A9C-E2EE-AFF5-E440DC37A0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6C48FF-2348-C885-3ACF-BC3D43156956}"/>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
        <p:nvSpPr>
          <p:cNvPr id="8" name="Title 7">
            <a:extLst>
              <a:ext uri="{FF2B5EF4-FFF2-40B4-BE49-F238E27FC236}">
                <a16:creationId xmlns:a16="http://schemas.microsoft.com/office/drawing/2014/main" id="{6CE21124-29CE-29B8-367B-D21E04630C6D}"/>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E8ABF3B6-A45E-78A6-6DB0-CF9172282A75}"/>
              </a:ext>
            </a:extLst>
          </p:cNvPr>
          <p:cNvSpPr>
            <a:spLocks noGrp="1"/>
          </p:cNvSpPr>
          <p:nvPr>
            <p:ph idx="1"/>
          </p:nvPr>
        </p:nvSpPr>
        <p:spPr/>
        <p:txBody>
          <a:bodyPr>
            <a:normAutofit fontScale="92500" lnSpcReduction="20000"/>
          </a:bodyPr>
          <a:lstStyle/>
          <a:p>
            <a:r>
              <a:rPr lang="en-US" b="1" dirty="0"/>
              <a:t>BERT (Google)</a:t>
            </a:r>
            <a:endParaRPr lang="en-US" dirty="0"/>
          </a:p>
          <a:p>
            <a:pPr lvl="1"/>
            <a:r>
              <a:rPr lang="en-US" dirty="0"/>
              <a:t>One of the foundational LLM architectures. </a:t>
            </a:r>
          </a:p>
          <a:p>
            <a:pPr lvl="1"/>
            <a:r>
              <a:rPr lang="en-US" dirty="0"/>
              <a:t>Released in 2018</a:t>
            </a:r>
          </a:p>
          <a:p>
            <a:pPr lvl="1"/>
            <a:r>
              <a:rPr lang="en-US" dirty="0"/>
              <a:t>Unlike GPT-style models built for generating text, BERT was designed primarily for understanding text.</a:t>
            </a:r>
          </a:p>
          <a:p>
            <a:pPr lvl="1"/>
            <a:r>
              <a:rPr lang="en-US" dirty="0"/>
              <a:t>Largely replaced Gemini</a:t>
            </a:r>
          </a:p>
          <a:p>
            <a:r>
              <a:rPr lang="en-US" b="1" dirty="0"/>
              <a:t>Claude (Anthropic)</a:t>
            </a:r>
            <a:endParaRPr lang="en-US" dirty="0"/>
          </a:p>
          <a:p>
            <a:pPr lvl="1"/>
            <a:r>
              <a:rPr lang="en-US" dirty="0" err="1"/>
              <a:t>Anthropic’s</a:t>
            </a:r>
            <a:r>
              <a:rPr lang="en-US" dirty="0"/>
              <a:t> LLM family</a:t>
            </a:r>
          </a:p>
          <a:p>
            <a:pPr lvl="1"/>
            <a:r>
              <a:rPr lang="en-US" dirty="0"/>
              <a:t>Organized into named tiers - Haiku, Sonnet, Opus, and Fable (as of June 2026). </a:t>
            </a:r>
          </a:p>
          <a:p>
            <a:pPr lvl="1"/>
            <a:r>
              <a:rPr lang="en-US" dirty="0"/>
              <a:t>Powers Claude.ai, Claude Code, and Claude Developer Platform.</a:t>
            </a:r>
          </a:p>
          <a:p>
            <a:pPr lvl="1"/>
            <a:r>
              <a:rPr lang="en-US" dirty="0"/>
              <a:t>Known for strong coding and agentic task performance.</a:t>
            </a:r>
          </a:p>
        </p:txBody>
      </p:sp>
    </p:spTree>
    <p:extLst>
      <p:ext uri="{BB962C8B-B14F-4D97-AF65-F5344CB8AC3E}">
        <p14:creationId xmlns:p14="http://schemas.microsoft.com/office/powerpoint/2010/main" val="396227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B52DC-3A55-CE53-662B-B30F2C4706B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589F45-1F20-BCBC-4D4C-63DB6A22C51C}"/>
              </a:ext>
            </a:extLst>
          </p:cNvPr>
          <p:cNvSpPr>
            <a:spLocks noGrp="1"/>
          </p:cNvSpPr>
          <p:nvPr>
            <p:ph type="sldNum" sz="quarter" idx="12"/>
          </p:nvPr>
        </p:nvSpPr>
        <p:spPr/>
        <p:txBody>
          <a:bodyPr/>
          <a:lstStyle/>
          <a:p>
            <a:fld id="{F6728BC2-ACA3-447C-A909-F3F49211C066}" type="slidenum">
              <a:rPr lang="en-US" smtClean="0"/>
              <a:pPr/>
              <a:t>9</a:t>
            </a:fld>
            <a:endParaRPr lang="en-US" dirty="0"/>
          </a:p>
        </p:txBody>
      </p:sp>
      <p:sp>
        <p:nvSpPr>
          <p:cNvPr id="8" name="Title 7">
            <a:extLst>
              <a:ext uri="{FF2B5EF4-FFF2-40B4-BE49-F238E27FC236}">
                <a16:creationId xmlns:a16="http://schemas.microsoft.com/office/drawing/2014/main" id="{E40E543C-4A75-7C85-C083-59BEEFD7DC09}"/>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28F660D2-DE62-2FA6-975A-CC5CA1E3526B}"/>
              </a:ext>
            </a:extLst>
          </p:cNvPr>
          <p:cNvSpPr>
            <a:spLocks noGrp="1"/>
          </p:cNvSpPr>
          <p:nvPr>
            <p:ph idx="1"/>
          </p:nvPr>
        </p:nvSpPr>
        <p:spPr/>
        <p:txBody>
          <a:bodyPr>
            <a:normAutofit fontScale="92500" lnSpcReduction="10000"/>
          </a:bodyPr>
          <a:lstStyle/>
          <a:p>
            <a:r>
              <a:rPr lang="en-US" b="1" dirty="0"/>
              <a:t>Llama (Meta)</a:t>
            </a:r>
          </a:p>
          <a:p>
            <a:pPr lvl="1"/>
            <a:r>
              <a:rPr lang="en-US" dirty="0"/>
              <a:t>Meta’s open-weight model family.</a:t>
            </a:r>
          </a:p>
          <a:p>
            <a:pPr lvl="1"/>
            <a:r>
              <a:rPr lang="en-US" dirty="0"/>
              <a:t>As of 2026, Meta has not released a Llama 5</a:t>
            </a:r>
          </a:p>
          <a:p>
            <a:pPr lvl="1"/>
            <a:r>
              <a:rPr lang="en-US" dirty="0"/>
              <a:t>The company has shifted its frontier research toward a separate, closed-weight model. </a:t>
            </a:r>
          </a:p>
          <a:p>
            <a:pPr lvl="1"/>
            <a:r>
              <a:rPr lang="en-US" dirty="0"/>
              <a:t>Llama is Meta’s open-weight offering for self-hosting and developer customization</a:t>
            </a:r>
          </a:p>
          <a:p>
            <a:r>
              <a:rPr lang="en-US" b="1" dirty="0"/>
              <a:t>Copilot (GitHub / Microsoft)</a:t>
            </a:r>
          </a:p>
          <a:p>
            <a:pPr lvl="1"/>
            <a:r>
              <a:rPr lang="en-US" dirty="0"/>
              <a:t>Not a model itself</a:t>
            </a:r>
          </a:p>
          <a:p>
            <a:pPr lvl="1"/>
            <a:r>
              <a:rPr lang="en-US" dirty="0"/>
              <a:t>A </a:t>
            </a:r>
            <a:r>
              <a:rPr lang="en-US" i="1" dirty="0"/>
              <a:t>product</a:t>
            </a:r>
            <a:r>
              <a:rPr lang="en-US" dirty="0"/>
              <a:t> that integrates multiple underlying LLMs (including OpenAI) directly into developer tools</a:t>
            </a:r>
          </a:p>
          <a:p>
            <a:pPr lvl="1"/>
            <a:r>
              <a:rPr lang="en-US" dirty="0"/>
              <a:t>Can integrate into: VS Code, Visual Studio and the CLI</a:t>
            </a:r>
          </a:p>
          <a:p>
            <a:endParaRPr lang="en-US" dirty="0"/>
          </a:p>
          <a:p>
            <a:endParaRPr lang="en-US" dirty="0"/>
          </a:p>
        </p:txBody>
      </p:sp>
    </p:spTree>
    <p:extLst>
      <p:ext uri="{BB962C8B-B14F-4D97-AF65-F5344CB8AC3E}">
        <p14:creationId xmlns:p14="http://schemas.microsoft.com/office/powerpoint/2010/main" val="81001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8634-EAD1-650F-F378-85E762BDA37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04A9BA-38FB-0C76-7683-9899BC321890}"/>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8" name="Title 7">
            <a:extLst>
              <a:ext uri="{FF2B5EF4-FFF2-40B4-BE49-F238E27FC236}">
                <a16:creationId xmlns:a16="http://schemas.microsoft.com/office/drawing/2014/main" id="{DCFF7E89-D160-6902-0680-1BB383D6C687}"/>
              </a:ext>
            </a:extLst>
          </p:cNvPr>
          <p:cNvSpPr>
            <a:spLocks noGrp="1"/>
          </p:cNvSpPr>
          <p:nvPr>
            <p:ph type="title"/>
          </p:nvPr>
        </p:nvSpPr>
        <p:spPr/>
        <p:txBody>
          <a:bodyPr/>
          <a:lstStyle/>
          <a:p>
            <a:r>
              <a:rPr lang="en-US" dirty="0"/>
              <a:t>LLMs</a:t>
            </a:r>
          </a:p>
        </p:txBody>
      </p:sp>
      <p:sp>
        <p:nvSpPr>
          <p:cNvPr id="3" name="Content Placeholder 2">
            <a:extLst>
              <a:ext uri="{FF2B5EF4-FFF2-40B4-BE49-F238E27FC236}">
                <a16:creationId xmlns:a16="http://schemas.microsoft.com/office/drawing/2014/main" id="{4E2A147B-98F9-D277-B320-74115A233F05}"/>
              </a:ext>
            </a:extLst>
          </p:cNvPr>
          <p:cNvSpPr>
            <a:spLocks noGrp="1"/>
          </p:cNvSpPr>
          <p:nvPr>
            <p:ph idx="1"/>
          </p:nvPr>
        </p:nvSpPr>
        <p:spPr>
          <a:xfrm>
            <a:off x="380010" y="1481446"/>
            <a:ext cx="8383980" cy="4882266"/>
          </a:xfrm>
        </p:spPr>
        <p:txBody>
          <a:bodyPr>
            <a:normAutofit fontScale="92500"/>
          </a:bodyPr>
          <a:lstStyle/>
          <a:p>
            <a:r>
              <a:rPr lang="en-US" b="1" dirty="0"/>
              <a:t>Codeium -&gt; Windsurf -&gt; Devin Desktop (Cognition)</a:t>
            </a:r>
            <a:r>
              <a:rPr lang="en-US" dirty="0"/>
              <a:t>: </a:t>
            </a:r>
          </a:p>
          <a:p>
            <a:pPr lvl="1"/>
            <a:r>
              <a:rPr lang="en-US" dirty="0"/>
              <a:t>Originally an independent coding assistant (Codeium)</a:t>
            </a:r>
          </a:p>
          <a:p>
            <a:pPr lvl="1"/>
            <a:r>
              <a:rPr lang="en-US" dirty="0"/>
              <a:t>Rebranded to windsurf when it became a full agentic IDE</a:t>
            </a:r>
          </a:p>
          <a:p>
            <a:pPr lvl="1"/>
            <a:r>
              <a:rPr lang="en-US" dirty="0"/>
              <a:t>Acquired by Cognition (maker of the Devin autonomous agent) and rebranded again to Devin Desktop in mid-2026.</a:t>
            </a:r>
          </a:p>
          <a:p>
            <a:r>
              <a:rPr lang="en-US" dirty="0"/>
              <a:t>As you can see, this field is constantly evolving.</a:t>
            </a:r>
          </a:p>
          <a:p>
            <a:r>
              <a:rPr lang="en-US" dirty="0"/>
              <a:t>Treat the underlying concepts (how LLMs work, how to evaluate them) as durable.</a:t>
            </a:r>
          </a:p>
          <a:p>
            <a:r>
              <a:rPr lang="en-US" dirty="0"/>
              <a:t>Product names + features are likely to shift, possibly significantly over the next 5-10 years.</a:t>
            </a:r>
          </a:p>
          <a:p>
            <a:endParaRPr lang="en-US" dirty="0"/>
          </a:p>
          <a:p>
            <a:endParaRPr lang="en-US" dirty="0"/>
          </a:p>
        </p:txBody>
      </p:sp>
    </p:spTree>
    <p:extLst>
      <p:ext uri="{BB962C8B-B14F-4D97-AF65-F5344CB8AC3E}">
        <p14:creationId xmlns:p14="http://schemas.microsoft.com/office/powerpoint/2010/main" val="7443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28C1-B13B-84ED-00FE-6DEEE75175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CD466-78D9-20F5-3DD4-98A0666CD4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Title 4">
            <a:extLst>
              <a:ext uri="{FF2B5EF4-FFF2-40B4-BE49-F238E27FC236}">
                <a16:creationId xmlns:a16="http://schemas.microsoft.com/office/drawing/2014/main" id="{A873F74E-2E29-9AFE-763E-38BA770347ED}"/>
              </a:ext>
            </a:extLst>
          </p:cNvPr>
          <p:cNvSpPr>
            <a:spLocks noGrp="1"/>
          </p:cNvSpPr>
          <p:nvPr>
            <p:ph type="title"/>
          </p:nvPr>
        </p:nvSpPr>
        <p:spPr/>
        <p:txBody>
          <a:bodyPr/>
          <a:lstStyle/>
          <a:p>
            <a:r>
              <a:rPr lang="en-US" dirty="0"/>
              <a:t>LLM Players</a:t>
            </a:r>
          </a:p>
        </p:txBody>
      </p:sp>
      <p:graphicFrame>
        <p:nvGraphicFramePr>
          <p:cNvPr id="2" name="Table 1">
            <a:extLst>
              <a:ext uri="{FF2B5EF4-FFF2-40B4-BE49-F238E27FC236}">
                <a16:creationId xmlns:a16="http://schemas.microsoft.com/office/drawing/2014/main" id="{6FFB0F31-F016-7BCA-357E-380EFD1647BE}"/>
              </a:ext>
            </a:extLst>
          </p:cNvPr>
          <p:cNvGraphicFramePr>
            <a:graphicFrameLocks noGrp="1"/>
          </p:cNvGraphicFramePr>
          <p:nvPr>
            <p:extLst>
              <p:ext uri="{D42A27DB-BD31-4B8C-83A1-F6EECF244321}">
                <p14:modId xmlns:p14="http://schemas.microsoft.com/office/powerpoint/2010/main" val="3250836244"/>
              </p:ext>
            </p:extLst>
          </p:nvPr>
        </p:nvGraphicFramePr>
        <p:xfrm>
          <a:off x="159574" y="1350012"/>
          <a:ext cx="8824856" cy="4612640"/>
        </p:xfrm>
        <a:graphic>
          <a:graphicData uri="http://schemas.openxmlformats.org/drawingml/2006/table">
            <a:tbl>
              <a:tblPr firstRow="1" bandRow="1">
                <a:tableStyleId>{5C22544A-7EE6-4342-B048-85BDC9FD1C3A}</a:tableStyleId>
              </a:tblPr>
              <a:tblGrid>
                <a:gridCol w="2206214">
                  <a:extLst>
                    <a:ext uri="{9D8B030D-6E8A-4147-A177-3AD203B41FA5}">
                      <a16:colId xmlns:a16="http://schemas.microsoft.com/office/drawing/2014/main" val="4202507141"/>
                    </a:ext>
                  </a:extLst>
                </a:gridCol>
                <a:gridCol w="2206214">
                  <a:extLst>
                    <a:ext uri="{9D8B030D-6E8A-4147-A177-3AD203B41FA5}">
                      <a16:colId xmlns:a16="http://schemas.microsoft.com/office/drawing/2014/main" val="2251533104"/>
                    </a:ext>
                  </a:extLst>
                </a:gridCol>
                <a:gridCol w="2206214">
                  <a:extLst>
                    <a:ext uri="{9D8B030D-6E8A-4147-A177-3AD203B41FA5}">
                      <a16:colId xmlns:a16="http://schemas.microsoft.com/office/drawing/2014/main" val="2653014772"/>
                    </a:ext>
                  </a:extLst>
                </a:gridCol>
                <a:gridCol w="2206214">
                  <a:extLst>
                    <a:ext uri="{9D8B030D-6E8A-4147-A177-3AD203B41FA5}">
                      <a16:colId xmlns:a16="http://schemas.microsoft.com/office/drawing/2014/main" val="3231311561"/>
                    </a:ext>
                  </a:extLst>
                </a:gridCol>
              </a:tblGrid>
              <a:tr h="370840">
                <a:tc>
                  <a:txBody>
                    <a:bodyPr/>
                    <a:lstStyle/>
                    <a:p>
                      <a:r>
                        <a:rPr lang="en-US" dirty="0"/>
                        <a:t>Technology</a:t>
                      </a:r>
                    </a:p>
                  </a:txBody>
                  <a:tcPr/>
                </a:tc>
                <a:tc>
                  <a:txBody>
                    <a:bodyPr/>
                    <a:lstStyle/>
                    <a:p>
                      <a:r>
                        <a:rPr lang="en-US" dirty="0"/>
                        <a:t>Organization</a:t>
                      </a:r>
                    </a:p>
                  </a:txBody>
                  <a:tcPr/>
                </a:tc>
                <a:tc>
                  <a:txBody>
                    <a:bodyPr/>
                    <a:lstStyle/>
                    <a:p>
                      <a:r>
                        <a:rPr lang="en-US" dirty="0"/>
                        <a:t>Type</a:t>
                      </a:r>
                    </a:p>
                  </a:txBody>
                  <a:tcPr/>
                </a:tc>
                <a:tc>
                  <a:txBody>
                    <a:bodyPr/>
                    <a:lstStyle/>
                    <a:p>
                      <a:r>
                        <a:rPr lang="en-US" dirty="0"/>
                        <a:t>Key Takeaway(s)</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GPT</a:t>
                      </a:r>
                    </a:p>
                  </a:txBody>
                  <a:tcPr/>
                </a:tc>
                <a:tc>
                  <a:txBody>
                    <a:bodyPr/>
                    <a:lstStyle/>
                    <a:p>
                      <a:r>
                        <a:rPr lang="en-US" sz="1400" dirty="0">
                          <a:latin typeface="Courier New" panose="02070309020205020404" pitchFamily="49" charset="0"/>
                          <a:cs typeface="Courier New" panose="02070309020205020404" pitchFamily="49" charset="0"/>
                        </a:rPr>
                        <a:t>OpenAI</a:t>
                      </a:r>
                    </a:p>
                  </a:txBody>
                  <a:tcPr/>
                </a:tc>
                <a:tc>
                  <a:txBody>
                    <a:bodyPr/>
                    <a:lstStyle/>
                    <a:p>
                      <a:r>
                        <a:rPr lang="en-US" sz="1400" dirty="0">
                          <a:latin typeface="Courier New" panose="02070309020205020404" pitchFamily="49" charset="0"/>
                          <a:cs typeface="Courier New" panose="02070309020205020404" pitchFamily="49" charset="0"/>
                        </a:rPr>
                        <a:t>Proprietary LLM</a:t>
                      </a:r>
                    </a:p>
                  </a:txBody>
                  <a:tcPr/>
                </a:tc>
                <a:tc>
                  <a:txBody>
                    <a:bodyPr/>
                    <a:lstStyle/>
                    <a:p>
                      <a:r>
                        <a:rPr lang="en-US" sz="1400" dirty="0">
                          <a:latin typeface="Courier New" panose="02070309020205020404" pitchFamily="49" charset="0"/>
                          <a:cs typeface="Courier New" panose="02070309020205020404" pitchFamily="49" charset="0"/>
                        </a:rPr>
                        <a:t>Powers Chat GPT;</a:t>
                      </a:r>
                    </a:p>
                    <a:p>
                      <a:r>
                        <a:rPr lang="en-US" sz="1400" dirty="0">
                          <a:latin typeface="Courier New" panose="02070309020205020404" pitchFamily="49" charset="0"/>
                          <a:cs typeface="Courier New" panose="02070309020205020404" pitchFamily="49" charset="0"/>
                        </a:rPr>
                        <a:t>Frequent versioning/renaming</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BERT</a:t>
                      </a:r>
                    </a:p>
                  </a:txBody>
                  <a:tcPr/>
                </a:tc>
                <a:tc>
                  <a:txBody>
                    <a:bodyPr/>
                    <a:lstStyle/>
                    <a:p>
                      <a:r>
                        <a:rPr lang="en-US" sz="1400" dirty="0">
                          <a:latin typeface="Courier New" panose="02070309020205020404" pitchFamily="49" charset="0"/>
                          <a:cs typeface="Courier New" panose="02070309020205020404" pitchFamily="49" charset="0"/>
                        </a:rPr>
                        <a:t>Google</a:t>
                      </a:r>
                    </a:p>
                  </a:txBody>
                  <a:tcPr/>
                </a:tc>
                <a:tc>
                  <a:txBody>
                    <a:bodyPr/>
                    <a:lstStyle/>
                    <a:p>
                      <a:r>
                        <a:rPr lang="en-US" sz="1400" dirty="0">
                          <a:latin typeface="Courier New" panose="02070309020205020404" pitchFamily="49" charset="0"/>
                          <a:cs typeface="Courier New" panose="02070309020205020404" pitchFamily="49" charset="0"/>
                        </a:rPr>
                        <a:t>Foundational LLM Architecture</a:t>
                      </a:r>
                    </a:p>
                  </a:txBody>
                  <a:tcPr/>
                </a:tc>
                <a:tc>
                  <a:txBody>
                    <a:bodyPr/>
                    <a:lstStyle/>
                    <a:p>
                      <a:r>
                        <a:rPr lang="en-US" sz="1400" dirty="0">
                          <a:latin typeface="Courier New" panose="02070309020205020404" pitchFamily="49" charset="0"/>
                          <a:cs typeface="Courier New" panose="02070309020205020404" pitchFamily="49" charset="0"/>
                        </a:rPr>
                        <a:t>Understanding-focused, not generation-focused</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Claude</a:t>
                      </a:r>
                    </a:p>
                  </a:txBody>
                  <a:tcPr/>
                </a:tc>
                <a:tc>
                  <a:txBody>
                    <a:bodyPr/>
                    <a:lstStyle/>
                    <a:p>
                      <a:r>
                        <a:rPr lang="en-US" sz="1400" dirty="0">
                          <a:latin typeface="Courier New" panose="02070309020205020404" pitchFamily="49" charset="0"/>
                          <a:cs typeface="Courier New" panose="02070309020205020404" pitchFamily="49" charset="0"/>
                        </a:rPr>
                        <a:t>Anthropic</a:t>
                      </a:r>
                    </a:p>
                  </a:txBody>
                  <a:tcPr/>
                </a:tc>
                <a:tc>
                  <a:txBody>
                    <a:bodyPr/>
                    <a:lstStyle/>
                    <a:p>
                      <a:r>
                        <a:rPr lang="en-US" sz="1400" dirty="0">
                          <a:latin typeface="Courier New" panose="02070309020205020404" pitchFamily="49" charset="0"/>
                          <a:cs typeface="Courier New" panose="02070309020205020404" pitchFamily="49" charset="0"/>
                        </a:rPr>
                        <a:t>Proprietary LLM</a:t>
                      </a:r>
                    </a:p>
                  </a:txBody>
                  <a:tcPr/>
                </a:tc>
                <a:tc>
                  <a:txBody>
                    <a:bodyPr/>
                    <a:lstStyle/>
                    <a:p>
                      <a:r>
                        <a:rPr lang="en-US" sz="1400" dirty="0">
                          <a:latin typeface="Courier New" panose="02070309020205020404" pitchFamily="49" charset="0"/>
                          <a:cs typeface="Courier New" panose="02070309020205020404" pitchFamily="49" charset="0"/>
                        </a:rPr>
                        <a:t>Tiered naming system;</a:t>
                      </a:r>
                    </a:p>
                    <a:p>
                      <a:r>
                        <a:rPr lang="en-US" sz="1400" dirty="0">
                          <a:latin typeface="Courier New" panose="02070309020205020404" pitchFamily="49" charset="0"/>
                          <a:cs typeface="Courier New" panose="02070309020205020404" pitchFamily="49" charset="0"/>
                        </a:rPr>
                        <a:t>Strong coding &amp; agentic performance</a:t>
                      </a:r>
                    </a:p>
                  </a:txBody>
                  <a:tcPr/>
                </a:tc>
                <a:extLst>
                  <a:ext uri="{0D108BD9-81ED-4DB2-BD59-A6C34878D82A}">
                    <a16:rowId xmlns:a16="http://schemas.microsoft.com/office/drawing/2014/main" val="1418808306"/>
                  </a:ext>
                </a:extLst>
              </a:tr>
              <a:tr h="370840">
                <a:tc>
                  <a:txBody>
                    <a:bodyPr/>
                    <a:lstStyle/>
                    <a:p>
                      <a:r>
                        <a:rPr lang="en-US" sz="1400" dirty="0">
                          <a:latin typeface="Courier New" panose="02070309020205020404" pitchFamily="49" charset="0"/>
                          <a:cs typeface="Courier New" panose="02070309020205020404" pitchFamily="49" charset="0"/>
                        </a:rPr>
                        <a:t>Llama</a:t>
                      </a:r>
                    </a:p>
                  </a:txBody>
                  <a:tcPr/>
                </a:tc>
                <a:tc>
                  <a:txBody>
                    <a:bodyPr/>
                    <a:lstStyle/>
                    <a:p>
                      <a:r>
                        <a:rPr lang="en-US" sz="1400" dirty="0">
                          <a:latin typeface="Courier New" panose="02070309020205020404" pitchFamily="49" charset="0"/>
                          <a:cs typeface="Courier New" panose="02070309020205020404" pitchFamily="49" charset="0"/>
                        </a:rPr>
                        <a:t>Meta</a:t>
                      </a:r>
                    </a:p>
                  </a:txBody>
                  <a:tcPr/>
                </a:tc>
                <a:tc>
                  <a:txBody>
                    <a:bodyPr/>
                    <a:lstStyle/>
                    <a:p>
                      <a:r>
                        <a:rPr lang="en-US" sz="1400" dirty="0">
                          <a:latin typeface="Courier New" panose="02070309020205020404" pitchFamily="49" charset="0"/>
                          <a:cs typeface="Courier New" panose="02070309020205020404" pitchFamily="49" charset="0"/>
                        </a:rPr>
                        <a:t>Open-weight LLM</a:t>
                      </a:r>
                    </a:p>
                  </a:txBody>
                  <a:tcPr/>
                </a:tc>
                <a:tc>
                  <a:txBody>
                    <a:bodyPr/>
                    <a:lstStyle/>
                    <a:p>
                      <a:r>
                        <a:rPr lang="en-US" sz="1400" dirty="0">
                          <a:latin typeface="Courier New" panose="02070309020205020404" pitchFamily="49" charset="0"/>
                          <a:cs typeface="Courier New" panose="02070309020205020404" pitchFamily="49" charset="0"/>
                        </a:rPr>
                        <a:t>Self-hostable</a:t>
                      </a:r>
                    </a:p>
                  </a:txBody>
                  <a:tcPr/>
                </a:tc>
                <a:extLst>
                  <a:ext uri="{0D108BD9-81ED-4DB2-BD59-A6C34878D82A}">
                    <a16:rowId xmlns:a16="http://schemas.microsoft.com/office/drawing/2014/main" val="2693395756"/>
                  </a:ext>
                </a:extLst>
              </a:tr>
              <a:tr h="370840">
                <a:tc>
                  <a:txBody>
                    <a:bodyPr/>
                    <a:lstStyle/>
                    <a:p>
                      <a:r>
                        <a:rPr lang="en-US" sz="1400" dirty="0">
                          <a:latin typeface="Courier New" panose="02070309020205020404" pitchFamily="49" charset="0"/>
                          <a:cs typeface="Courier New" panose="02070309020205020404" pitchFamily="49" charset="0"/>
                        </a:rPr>
                        <a:t>Copilot</a:t>
                      </a:r>
                    </a:p>
                  </a:txBody>
                  <a:tcPr/>
                </a:tc>
                <a:tc>
                  <a:txBody>
                    <a:bodyPr/>
                    <a:lstStyle/>
                    <a:p>
                      <a:r>
                        <a:rPr lang="en-US" sz="1400" dirty="0">
                          <a:latin typeface="Courier New" panose="02070309020205020404" pitchFamily="49" charset="0"/>
                          <a:cs typeface="Courier New" panose="02070309020205020404" pitchFamily="49" charset="0"/>
                        </a:rPr>
                        <a:t>GitHub / Microsoft</a:t>
                      </a:r>
                    </a:p>
                  </a:txBody>
                  <a:tcPr/>
                </a:tc>
                <a:tc>
                  <a:txBody>
                    <a:bodyPr/>
                    <a:lstStyle/>
                    <a:p>
                      <a:r>
                        <a:rPr lang="en-US" sz="1400" dirty="0">
                          <a:latin typeface="Courier New" panose="02070309020205020404" pitchFamily="49" charset="0"/>
                          <a:cs typeface="Courier New" panose="02070309020205020404" pitchFamily="49" charset="0"/>
                        </a:rPr>
                        <a:t>Product (leverages multiple LLMs)</a:t>
                      </a:r>
                    </a:p>
                  </a:txBody>
                  <a:tcPr/>
                </a:tc>
                <a:tc>
                  <a:txBody>
                    <a:bodyPr/>
                    <a:lstStyle/>
                    <a:p>
                      <a:r>
                        <a:rPr lang="en-US" sz="1400" dirty="0">
                          <a:latin typeface="Courier New" panose="02070309020205020404" pitchFamily="49" charset="0"/>
                          <a:cs typeface="Courier New" panose="02070309020205020404" pitchFamily="49" charset="0"/>
                        </a:rPr>
                        <a:t>Integrated directly into developer tools</a:t>
                      </a:r>
                    </a:p>
                  </a:txBody>
                  <a:tcPr/>
                </a:tc>
                <a:extLst>
                  <a:ext uri="{0D108BD9-81ED-4DB2-BD59-A6C34878D82A}">
                    <a16:rowId xmlns:a16="http://schemas.microsoft.com/office/drawing/2014/main" val="1564051272"/>
                  </a:ext>
                </a:extLst>
              </a:tr>
              <a:tr h="370840">
                <a:tc>
                  <a:txBody>
                    <a:bodyPr/>
                    <a:lstStyle/>
                    <a:p>
                      <a:r>
                        <a:rPr lang="en-US" sz="1400" dirty="0">
                          <a:latin typeface="Courier New" panose="02070309020205020404" pitchFamily="49" charset="0"/>
                          <a:cs typeface="Courier New" panose="02070309020205020404" pitchFamily="49" charset="0"/>
                        </a:rPr>
                        <a:t>Codeium (Windsurf/Devin Desktop)</a:t>
                      </a:r>
                    </a:p>
                  </a:txBody>
                  <a:tcPr/>
                </a:tc>
                <a:tc>
                  <a:txBody>
                    <a:bodyPr/>
                    <a:lstStyle/>
                    <a:p>
                      <a:r>
                        <a:rPr lang="en-US" sz="1400" dirty="0">
                          <a:latin typeface="Courier New" panose="02070309020205020404" pitchFamily="49" charset="0"/>
                          <a:cs typeface="Courier New" panose="02070309020205020404" pitchFamily="49" charset="0"/>
                        </a:rPr>
                        <a:t>Cognition (formerly independent)</a:t>
                      </a:r>
                    </a:p>
                  </a:txBody>
                  <a:tcPr/>
                </a:tc>
                <a:tc>
                  <a:txBody>
                    <a:bodyPr/>
                    <a:lstStyle/>
                    <a:p>
                      <a:r>
                        <a:rPr lang="en-US" sz="1400" dirty="0">
                          <a:latin typeface="Courier New" panose="02070309020205020404" pitchFamily="49" charset="0"/>
                          <a:cs typeface="Courier New" panose="02070309020205020404" pitchFamily="49" charset="0"/>
                        </a:rPr>
                        <a:t>Product (AI coding IDE)</a:t>
                      </a:r>
                    </a:p>
                  </a:txBody>
                  <a:tcPr/>
                </a:tc>
                <a:tc>
                  <a:txBody>
                    <a:bodyPr/>
                    <a:lstStyle/>
                    <a:p>
                      <a:r>
                        <a:rPr lang="en-US" sz="1400" dirty="0">
                          <a:latin typeface="Courier New" panose="02070309020205020404" pitchFamily="49" charset="0"/>
                          <a:cs typeface="Courier New" panose="02070309020205020404" pitchFamily="49" charset="0"/>
                        </a:rPr>
                        <a:t>Rebranded twice in 2 years – showcases industry pace</a:t>
                      </a:r>
                    </a:p>
                  </a:txBody>
                  <a:tcPr/>
                </a:tc>
                <a:extLst>
                  <a:ext uri="{0D108BD9-81ED-4DB2-BD59-A6C34878D82A}">
                    <a16:rowId xmlns:a16="http://schemas.microsoft.com/office/drawing/2014/main" val="1859701164"/>
                  </a:ext>
                </a:extLst>
              </a:tr>
            </a:tbl>
          </a:graphicData>
        </a:graphic>
      </p:graphicFrame>
    </p:spTree>
    <p:extLst>
      <p:ext uri="{BB962C8B-B14F-4D97-AF65-F5344CB8AC3E}">
        <p14:creationId xmlns:p14="http://schemas.microsoft.com/office/powerpoint/2010/main" val="311121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1094-AF75-283C-6AC7-69D656DE61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7B81AD-0459-6F1C-B7DC-AED8D8678F69}"/>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12</a:t>
            </a:fld>
            <a:endParaRPr lang="en-US"/>
          </a:p>
        </p:txBody>
      </p:sp>
      <p:sp>
        <p:nvSpPr>
          <p:cNvPr id="4" name="Google Shape;212;p15">
            <a:extLst>
              <a:ext uri="{FF2B5EF4-FFF2-40B4-BE49-F238E27FC236}">
                <a16:creationId xmlns:a16="http://schemas.microsoft.com/office/drawing/2014/main" id="{F4572231-4658-3DE7-3E48-1E856687DCD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Responsible AI Usage</a:t>
            </a:r>
          </a:p>
        </p:txBody>
      </p:sp>
      <p:pic>
        <p:nvPicPr>
          <p:cNvPr id="6" name="Picture 5">
            <a:extLst>
              <a:ext uri="{FF2B5EF4-FFF2-40B4-BE49-F238E27FC236}">
                <a16:creationId xmlns:a16="http://schemas.microsoft.com/office/drawing/2014/main" id="{FE5705E2-3036-7ED5-7D30-F6D593BAE77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708674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DABE2-FA50-6DDE-9EC9-9D1775344E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83C210-5888-2FE0-A676-D3F7D4B5B5A1}"/>
              </a:ext>
            </a:extLst>
          </p:cNvPr>
          <p:cNvSpPr>
            <a:spLocks noGrp="1"/>
          </p:cNvSpPr>
          <p:nvPr>
            <p:ph type="sldNum" sz="quarter" idx="12"/>
          </p:nvPr>
        </p:nvSpPr>
        <p:spPr/>
        <p:txBody>
          <a:bodyPr/>
          <a:lstStyle/>
          <a:p>
            <a:fld id="{F6728BC2-ACA3-447C-A909-F3F49211C066}" type="slidenum">
              <a:rPr lang="en-US" smtClean="0"/>
              <a:pPr/>
              <a:t>13</a:t>
            </a:fld>
            <a:endParaRPr lang="en-US" dirty="0"/>
          </a:p>
        </p:txBody>
      </p:sp>
      <p:sp>
        <p:nvSpPr>
          <p:cNvPr id="8" name="Title 7">
            <a:extLst>
              <a:ext uri="{FF2B5EF4-FFF2-40B4-BE49-F238E27FC236}">
                <a16:creationId xmlns:a16="http://schemas.microsoft.com/office/drawing/2014/main" id="{ACA89CB6-C516-6084-E698-C25182C7882B}"/>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BF12F3CE-8FAE-300A-AC22-022EAC1465C2}"/>
              </a:ext>
            </a:extLst>
          </p:cNvPr>
          <p:cNvSpPr>
            <a:spLocks noGrp="1"/>
          </p:cNvSpPr>
          <p:nvPr>
            <p:ph idx="1"/>
          </p:nvPr>
        </p:nvSpPr>
        <p:spPr/>
        <p:txBody>
          <a:bodyPr>
            <a:normAutofit/>
          </a:bodyPr>
          <a:lstStyle/>
          <a:p>
            <a:r>
              <a:rPr lang="en-US" dirty="0"/>
              <a:t>To properly leverage LLMs and Generative AI models, it is important to keep the following techniques in mind.</a:t>
            </a:r>
          </a:p>
          <a:p>
            <a:r>
              <a:rPr lang="en-US" dirty="0"/>
              <a:t>Note: None of these techniques are inherently required to use LLMs, nor will they “solve” any problem for you</a:t>
            </a:r>
          </a:p>
          <a:p>
            <a:r>
              <a:rPr lang="en-US" dirty="0"/>
              <a:t>These techniques should be always considered and employed as needed to ensure you get the highest quality outputs</a:t>
            </a:r>
          </a:p>
        </p:txBody>
      </p:sp>
    </p:spTree>
    <p:extLst>
      <p:ext uri="{BB962C8B-B14F-4D97-AF65-F5344CB8AC3E}">
        <p14:creationId xmlns:p14="http://schemas.microsoft.com/office/powerpoint/2010/main" val="293209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AFEF-3D96-250E-DF70-6AD3E2127E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C615F9-9057-FAA1-DF91-00BFA0723954}"/>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
        <p:nvSpPr>
          <p:cNvPr id="8" name="Title 7">
            <a:extLst>
              <a:ext uri="{FF2B5EF4-FFF2-40B4-BE49-F238E27FC236}">
                <a16:creationId xmlns:a16="http://schemas.microsoft.com/office/drawing/2014/main" id="{582EDFDA-C733-7890-53B3-4FB12E4C0038}"/>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9212AC26-384E-5949-EFB2-EEFB3328E22D}"/>
              </a:ext>
            </a:extLst>
          </p:cNvPr>
          <p:cNvSpPr>
            <a:spLocks noGrp="1"/>
          </p:cNvSpPr>
          <p:nvPr>
            <p:ph idx="1"/>
          </p:nvPr>
        </p:nvSpPr>
        <p:spPr/>
        <p:txBody>
          <a:bodyPr>
            <a:normAutofit/>
          </a:bodyPr>
          <a:lstStyle/>
          <a:p>
            <a:r>
              <a:rPr lang="en-US" b="1" dirty="0"/>
              <a:t>Be Clear and Specific</a:t>
            </a:r>
          </a:p>
          <a:p>
            <a:pPr lvl="1"/>
            <a:r>
              <a:rPr lang="en-US" dirty="0"/>
              <a:t>LLMs perform better with details, unambiguous instructions than with vague requests</a:t>
            </a:r>
          </a:p>
          <a:p>
            <a:pPr lvl="1"/>
            <a:r>
              <a:rPr lang="en-US" b="1" dirty="0"/>
              <a:t>Specify</a:t>
            </a:r>
            <a:r>
              <a:rPr lang="en-US" dirty="0"/>
              <a:t>: format, tone, length and constraints as relevant.</a:t>
            </a:r>
          </a:p>
        </p:txBody>
      </p:sp>
      <p:pic>
        <p:nvPicPr>
          <p:cNvPr id="5" name="Picture 4">
            <a:extLst>
              <a:ext uri="{FF2B5EF4-FFF2-40B4-BE49-F238E27FC236}">
                <a16:creationId xmlns:a16="http://schemas.microsoft.com/office/drawing/2014/main" id="{B1BC7086-0841-D304-8858-7E48FEFAB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5947" y="3429000"/>
            <a:ext cx="6672105" cy="3532291"/>
          </a:xfrm>
          <a:prstGeom prst="rect">
            <a:avLst/>
          </a:prstGeom>
        </p:spPr>
      </p:pic>
    </p:spTree>
    <p:extLst>
      <p:ext uri="{BB962C8B-B14F-4D97-AF65-F5344CB8AC3E}">
        <p14:creationId xmlns:p14="http://schemas.microsoft.com/office/powerpoint/2010/main" val="202029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ED1B4-58F2-513C-B497-EBB961B2B81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E4085E-1C52-3F6D-1BF7-C4FEFB4730D8}"/>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
        <p:nvSpPr>
          <p:cNvPr id="8" name="Title 7">
            <a:extLst>
              <a:ext uri="{FF2B5EF4-FFF2-40B4-BE49-F238E27FC236}">
                <a16:creationId xmlns:a16="http://schemas.microsoft.com/office/drawing/2014/main" id="{53DD5FEB-854F-EFB4-8850-C3D57DD6D427}"/>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0C345D1B-6DDE-DDB4-9F24-723D5AD8AA71}"/>
              </a:ext>
            </a:extLst>
          </p:cNvPr>
          <p:cNvSpPr>
            <a:spLocks noGrp="1"/>
          </p:cNvSpPr>
          <p:nvPr>
            <p:ph idx="1"/>
          </p:nvPr>
        </p:nvSpPr>
        <p:spPr/>
        <p:txBody>
          <a:bodyPr>
            <a:normAutofit/>
          </a:bodyPr>
          <a:lstStyle/>
          <a:p>
            <a:r>
              <a:rPr lang="en-US" b="1" dirty="0"/>
              <a:t>Provide Context</a:t>
            </a:r>
          </a:p>
          <a:p>
            <a:pPr lvl="1"/>
            <a:r>
              <a:rPr lang="en-US" dirty="0"/>
              <a:t>Give the model relevant background information (audience, goals, etc)</a:t>
            </a:r>
          </a:p>
        </p:txBody>
      </p:sp>
      <p:pic>
        <p:nvPicPr>
          <p:cNvPr id="5" name="Picture 4">
            <a:extLst>
              <a:ext uri="{FF2B5EF4-FFF2-40B4-BE49-F238E27FC236}">
                <a16:creationId xmlns:a16="http://schemas.microsoft.com/office/drawing/2014/main" id="{9950C0F6-B831-0AAB-B5F1-AAD1DAB7C7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5947" y="3000308"/>
            <a:ext cx="6672105" cy="3728529"/>
          </a:xfrm>
          <a:prstGeom prst="rect">
            <a:avLst/>
          </a:prstGeom>
        </p:spPr>
      </p:pic>
    </p:spTree>
    <p:extLst>
      <p:ext uri="{BB962C8B-B14F-4D97-AF65-F5344CB8AC3E}">
        <p14:creationId xmlns:p14="http://schemas.microsoft.com/office/powerpoint/2010/main" val="63158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6331-4068-F378-9695-C86CD3DC6C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7EEE11-F44A-119B-CCF4-595633A61CF9}"/>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8" name="Title 7">
            <a:extLst>
              <a:ext uri="{FF2B5EF4-FFF2-40B4-BE49-F238E27FC236}">
                <a16:creationId xmlns:a16="http://schemas.microsoft.com/office/drawing/2014/main" id="{DC920992-AB8E-A657-50D5-23F3638CCD7D}"/>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59AA6357-B781-FB92-CC96-0D7A1C0CC4C9}"/>
              </a:ext>
            </a:extLst>
          </p:cNvPr>
          <p:cNvSpPr>
            <a:spLocks noGrp="1"/>
          </p:cNvSpPr>
          <p:nvPr>
            <p:ph idx="1"/>
          </p:nvPr>
        </p:nvSpPr>
        <p:spPr>
          <a:xfrm>
            <a:off x="380010" y="1481446"/>
            <a:ext cx="8383980" cy="2236443"/>
          </a:xfrm>
        </p:spPr>
        <p:txBody>
          <a:bodyPr>
            <a:normAutofit fontScale="92500" lnSpcReduction="10000"/>
          </a:bodyPr>
          <a:lstStyle/>
          <a:p>
            <a:r>
              <a:rPr lang="en-US" b="1" dirty="0"/>
              <a:t>Use Examples (few-shot/multi-shot prompting)</a:t>
            </a:r>
          </a:p>
          <a:p>
            <a:pPr lvl="1"/>
            <a:r>
              <a:rPr lang="en-US" dirty="0"/>
              <a:t>Show the model one or more examples of input/output patterns expected.</a:t>
            </a:r>
          </a:p>
          <a:p>
            <a:pPr lvl="1"/>
            <a:r>
              <a:rPr lang="en-US" dirty="0"/>
              <a:t>Improves accuracy and consistency</a:t>
            </a:r>
          </a:p>
          <a:p>
            <a:pPr lvl="1"/>
            <a:r>
              <a:rPr lang="en-US" dirty="0"/>
              <a:t>Can provide better clarity than long-winded and detailed instructions</a:t>
            </a:r>
          </a:p>
        </p:txBody>
      </p:sp>
      <p:pic>
        <p:nvPicPr>
          <p:cNvPr id="5" name="Picture 4">
            <a:extLst>
              <a:ext uri="{FF2B5EF4-FFF2-40B4-BE49-F238E27FC236}">
                <a16:creationId xmlns:a16="http://schemas.microsoft.com/office/drawing/2014/main" id="{51CECB07-3E36-7391-25A0-D1CD9199E0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8621" y="3498694"/>
            <a:ext cx="7094136" cy="3755720"/>
          </a:xfrm>
          <a:prstGeom prst="rect">
            <a:avLst/>
          </a:prstGeom>
        </p:spPr>
      </p:pic>
    </p:spTree>
    <p:extLst>
      <p:ext uri="{BB962C8B-B14F-4D97-AF65-F5344CB8AC3E}">
        <p14:creationId xmlns:p14="http://schemas.microsoft.com/office/powerpoint/2010/main" val="346691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44E7-FB55-2AB6-860B-93D60C77D7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96DA1B-E4F1-45C7-F2DC-703DBCCC390F}"/>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
        <p:nvSpPr>
          <p:cNvPr id="8" name="Title 7">
            <a:extLst>
              <a:ext uri="{FF2B5EF4-FFF2-40B4-BE49-F238E27FC236}">
                <a16:creationId xmlns:a16="http://schemas.microsoft.com/office/drawing/2014/main" id="{5A0205F0-E740-FCA6-7BA2-D85CE053E3CD}"/>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D15F441D-4CDD-05D2-C993-5786EDA20EF4}"/>
              </a:ext>
            </a:extLst>
          </p:cNvPr>
          <p:cNvSpPr>
            <a:spLocks noGrp="1"/>
          </p:cNvSpPr>
          <p:nvPr>
            <p:ph idx="1"/>
          </p:nvPr>
        </p:nvSpPr>
        <p:spPr>
          <a:xfrm>
            <a:off x="380010" y="1481447"/>
            <a:ext cx="8383980" cy="2176154"/>
          </a:xfrm>
        </p:spPr>
        <p:txBody>
          <a:bodyPr>
            <a:normAutofit lnSpcReduction="10000"/>
          </a:bodyPr>
          <a:lstStyle/>
          <a:p>
            <a:r>
              <a:rPr lang="en-US" b="1" dirty="0"/>
              <a:t>Break complex tasks into steps (Chain of thought prompting)</a:t>
            </a:r>
          </a:p>
          <a:p>
            <a:pPr lvl="1"/>
            <a:r>
              <a:rPr lang="en-US" dirty="0"/>
              <a:t>Ask the model to work through problems, step-by-step</a:t>
            </a:r>
          </a:p>
          <a:p>
            <a:pPr lvl="1"/>
            <a:r>
              <a:rPr lang="en-US" dirty="0"/>
              <a:t>Tends to produce more accurate results</a:t>
            </a:r>
          </a:p>
          <a:p>
            <a:pPr lvl="1"/>
            <a:r>
              <a:rPr lang="en-US" dirty="0"/>
              <a:t>Best for complex tasks</a:t>
            </a:r>
          </a:p>
        </p:txBody>
      </p:sp>
      <p:pic>
        <p:nvPicPr>
          <p:cNvPr id="5" name="Picture 4">
            <a:extLst>
              <a:ext uri="{FF2B5EF4-FFF2-40B4-BE49-F238E27FC236}">
                <a16:creationId xmlns:a16="http://schemas.microsoft.com/office/drawing/2014/main" id="{3F6E363F-EAE5-03EF-0421-CFCA5B4E80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7301" y="3574700"/>
            <a:ext cx="6109398" cy="3414075"/>
          </a:xfrm>
          <a:prstGeom prst="rect">
            <a:avLst/>
          </a:prstGeom>
        </p:spPr>
      </p:pic>
    </p:spTree>
    <p:extLst>
      <p:ext uri="{BB962C8B-B14F-4D97-AF65-F5344CB8AC3E}">
        <p14:creationId xmlns:p14="http://schemas.microsoft.com/office/powerpoint/2010/main" val="6142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6783E-4D71-E0C1-8423-A4CFFF65F4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277720-6D61-32BB-65B8-5C0DC54A45F5}"/>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8" name="Title 7">
            <a:extLst>
              <a:ext uri="{FF2B5EF4-FFF2-40B4-BE49-F238E27FC236}">
                <a16:creationId xmlns:a16="http://schemas.microsoft.com/office/drawing/2014/main" id="{FBF29028-BEBC-9AB0-626A-E209A3F66232}"/>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733E959A-3E21-DADA-57E5-8364EDF3855A}"/>
              </a:ext>
            </a:extLst>
          </p:cNvPr>
          <p:cNvSpPr>
            <a:spLocks noGrp="1"/>
          </p:cNvSpPr>
          <p:nvPr>
            <p:ph idx="1"/>
          </p:nvPr>
        </p:nvSpPr>
        <p:spPr>
          <a:xfrm>
            <a:off x="380010" y="1481446"/>
            <a:ext cx="8383980" cy="1583597"/>
          </a:xfrm>
        </p:spPr>
        <p:txBody>
          <a:bodyPr>
            <a:normAutofit/>
          </a:bodyPr>
          <a:lstStyle/>
          <a:p>
            <a:r>
              <a:rPr lang="en-US" b="1" dirty="0"/>
              <a:t>Give the model a role or persona</a:t>
            </a:r>
          </a:p>
          <a:p>
            <a:pPr lvl="1"/>
            <a:r>
              <a:rPr lang="en-US" dirty="0"/>
              <a:t>Can help calibrate tone and the type of feedback given</a:t>
            </a:r>
          </a:p>
          <a:p>
            <a:pPr lvl="1"/>
            <a:r>
              <a:rPr lang="en-US" dirty="0"/>
              <a:t>Particularly useful open-ended tasks</a:t>
            </a:r>
          </a:p>
        </p:txBody>
      </p:sp>
      <p:pic>
        <p:nvPicPr>
          <p:cNvPr id="5" name="Picture 4">
            <a:extLst>
              <a:ext uri="{FF2B5EF4-FFF2-40B4-BE49-F238E27FC236}">
                <a16:creationId xmlns:a16="http://schemas.microsoft.com/office/drawing/2014/main" id="{84CDB12A-56BA-F521-999E-CFC1B4AB36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8510" y="2935880"/>
            <a:ext cx="5606980" cy="3792957"/>
          </a:xfrm>
          <a:prstGeom prst="rect">
            <a:avLst/>
          </a:prstGeom>
        </p:spPr>
      </p:pic>
    </p:spTree>
    <p:extLst>
      <p:ext uri="{BB962C8B-B14F-4D97-AF65-F5344CB8AC3E}">
        <p14:creationId xmlns:p14="http://schemas.microsoft.com/office/powerpoint/2010/main" val="252663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2D09B-F849-3508-8E07-660365C8EE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3DB2D7-4017-26AB-21A8-0E5CAB8595F2}"/>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
        <p:nvSpPr>
          <p:cNvPr id="8" name="Title 7">
            <a:extLst>
              <a:ext uri="{FF2B5EF4-FFF2-40B4-BE49-F238E27FC236}">
                <a16:creationId xmlns:a16="http://schemas.microsoft.com/office/drawing/2014/main" id="{43D22F17-89A1-F057-2F29-3B01A501B6F3}"/>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D120FF31-9D6D-C27B-90F5-C342D42250A1}"/>
              </a:ext>
            </a:extLst>
          </p:cNvPr>
          <p:cNvSpPr>
            <a:spLocks noGrp="1"/>
          </p:cNvSpPr>
          <p:nvPr>
            <p:ph idx="1"/>
          </p:nvPr>
        </p:nvSpPr>
        <p:spPr>
          <a:xfrm>
            <a:off x="380010" y="1481446"/>
            <a:ext cx="8383980" cy="5247391"/>
          </a:xfrm>
        </p:spPr>
        <p:txBody>
          <a:bodyPr>
            <a:normAutofit/>
          </a:bodyPr>
          <a:lstStyle/>
          <a:p>
            <a:r>
              <a:rPr lang="en-US" b="1" dirty="0"/>
              <a:t>Iterate</a:t>
            </a:r>
          </a:p>
          <a:p>
            <a:pPr lvl="1"/>
            <a:r>
              <a:rPr lang="en-US" dirty="0"/>
              <a:t>Treat the first prompt as a draft</a:t>
            </a:r>
          </a:p>
          <a:p>
            <a:pPr lvl="1"/>
            <a:r>
              <a:rPr lang="en-US" dirty="0"/>
              <a:t>Refine the prompts based on the output you get</a:t>
            </a:r>
          </a:p>
          <a:p>
            <a:pPr lvl="1"/>
            <a:r>
              <a:rPr lang="en-US" dirty="0"/>
              <a:t>Should be considered a phase in normal workflow, not a sign that something went wrong</a:t>
            </a:r>
          </a:p>
          <a:p>
            <a:r>
              <a:rPr lang="en-US" b="1" dirty="0"/>
              <a:t>Be mindful of context window limits</a:t>
            </a:r>
          </a:p>
          <a:p>
            <a:pPr lvl="1"/>
            <a:r>
              <a:rPr lang="en-US" dirty="0"/>
              <a:t>Models can only “see” a limited amount of text at once (its context window)</a:t>
            </a:r>
          </a:p>
          <a:p>
            <a:pPr lvl="1"/>
            <a:r>
              <a:rPr lang="en-US" dirty="0"/>
              <a:t>Long conversations or large documents may cause earlier information to be dropped or deprioritized</a:t>
            </a:r>
          </a:p>
          <a:p>
            <a:pPr lvl="1"/>
            <a:r>
              <a:rPr lang="en-US" dirty="0"/>
              <a:t>Create new chats to reset current context</a:t>
            </a:r>
          </a:p>
        </p:txBody>
      </p:sp>
    </p:spTree>
    <p:extLst>
      <p:ext uri="{BB962C8B-B14F-4D97-AF65-F5344CB8AC3E}">
        <p14:creationId xmlns:p14="http://schemas.microsoft.com/office/powerpoint/2010/main" val="275104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AD1E-D110-9A51-F597-0C206F49A5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83E9CA-4177-528B-2050-61757866DFEF}"/>
              </a:ext>
            </a:extLst>
          </p:cNvPr>
          <p:cNvSpPr>
            <a:spLocks noGrp="1"/>
          </p:cNvSpPr>
          <p:nvPr>
            <p:ph type="sldNum" sz="quarter" idx="12"/>
          </p:nvPr>
        </p:nvSpPr>
        <p:spPr/>
        <p:txBody>
          <a:bodyPr/>
          <a:lstStyle/>
          <a:p>
            <a:fld id="{F6728BC2-ACA3-447C-A909-F3F49211C066}" type="slidenum">
              <a:rPr lang="en-US" smtClean="0"/>
              <a:pPr/>
              <a:t>20</a:t>
            </a:fld>
            <a:endParaRPr lang="en-US" dirty="0"/>
          </a:p>
        </p:txBody>
      </p:sp>
      <p:sp>
        <p:nvSpPr>
          <p:cNvPr id="8" name="Title 7">
            <a:extLst>
              <a:ext uri="{FF2B5EF4-FFF2-40B4-BE49-F238E27FC236}">
                <a16:creationId xmlns:a16="http://schemas.microsoft.com/office/drawing/2014/main" id="{656A757B-7DF0-8A30-7044-1DD094F3E5A1}"/>
              </a:ext>
            </a:extLst>
          </p:cNvPr>
          <p:cNvSpPr>
            <a:spLocks noGrp="1"/>
          </p:cNvSpPr>
          <p:nvPr>
            <p:ph type="title"/>
          </p:nvPr>
        </p:nvSpPr>
        <p:spPr/>
        <p:txBody>
          <a:bodyPr/>
          <a:lstStyle/>
          <a:p>
            <a:r>
              <a:rPr lang="en-US" dirty="0"/>
              <a:t>Responsible AI Usage | Best Practices</a:t>
            </a:r>
          </a:p>
        </p:txBody>
      </p:sp>
      <p:sp>
        <p:nvSpPr>
          <p:cNvPr id="3" name="Content Placeholder 2">
            <a:extLst>
              <a:ext uri="{FF2B5EF4-FFF2-40B4-BE49-F238E27FC236}">
                <a16:creationId xmlns:a16="http://schemas.microsoft.com/office/drawing/2014/main" id="{879EC0D5-39FC-35D7-EAAB-8B10AA8CF9E5}"/>
              </a:ext>
            </a:extLst>
          </p:cNvPr>
          <p:cNvSpPr>
            <a:spLocks noGrp="1"/>
          </p:cNvSpPr>
          <p:nvPr>
            <p:ph idx="1"/>
          </p:nvPr>
        </p:nvSpPr>
        <p:spPr>
          <a:xfrm>
            <a:off x="380010" y="1286192"/>
            <a:ext cx="8383980" cy="5491424"/>
          </a:xfrm>
        </p:spPr>
        <p:txBody>
          <a:bodyPr>
            <a:normAutofit fontScale="92500" lnSpcReduction="10000"/>
          </a:bodyPr>
          <a:lstStyle/>
          <a:p>
            <a:r>
              <a:rPr lang="en-US" b="1" dirty="0"/>
              <a:t>Ask LLM to cite sources</a:t>
            </a:r>
          </a:p>
          <a:p>
            <a:pPr lvl="1"/>
            <a:r>
              <a:rPr lang="en-US" dirty="0"/>
              <a:t>Most LLMs have some feature to search the web for relevant information</a:t>
            </a:r>
          </a:p>
          <a:p>
            <a:pPr lvl="1"/>
            <a:r>
              <a:rPr lang="en-US" dirty="0"/>
              <a:t>Always verify sources of information (invalid links can sometimes be cited)</a:t>
            </a:r>
          </a:p>
          <a:p>
            <a:pPr lvl="1"/>
            <a:r>
              <a:rPr lang="en-US" dirty="0"/>
              <a:t>Sources can be provided documents, or web searches</a:t>
            </a:r>
          </a:p>
          <a:p>
            <a:r>
              <a:rPr lang="en-US" b="1" dirty="0"/>
              <a:t>Always review and verify output</a:t>
            </a:r>
          </a:p>
          <a:p>
            <a:pPr lvl="1"/>
            <a:r>
              <a:rPr lang="en-US" dirty="0"/>
              <a:t>“Factual Claims” should be particularly scrutinized</a:t>
            </a:r>
          </a:p>
          <a:p>
            <a:pPr lvl="1"/>
            <a:r>
              <a:rPr lang="en-US" dirty="0"/>
              <a:t>Treat LLM output as a first draft or a knowledgeable collaborator’s suggestion</a:t>
            </a:r>
          </a:p>
          <a:p>
            <a:r>
              <a:rPr lang="en-US" b="1" dirty="0"/>
              <a:t>Don’t treat single response as final answer</a:t>
            </a:r>
          </a:p>
          <a:p>
            <a:pPr lvl="1"/>
            <a:r>
              <a:rPr lang="en-US" dirty="0"/>
              <a:t>Especially important for anything high-stakes or anything with large consequences (legal, medical, financial, security-related)</a:t>
            </a:r>
          </a:p>
          <a:p>
            <a:pPr lvl="1"/>
            <a:r>
              <a:rPr lang="en-US" dirty="0"/>
              <a:t>Use LLM output as a starting point for human review</a:t>
            </a:r>
          </a:p>
        </p:txBody>
      </p:sp>
    </p:spTree>
    <p:extLst>
      <p:ext uri="{BB962C8B-B14F-4D97-AF65-F5344CB8AC3E}">
        <p14:creationId xmlns:p14="http://schemas.microsoft.com/office/powerpoint/2010/main" val="132018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03D8-C463-3CCA-502F-25C693FBFD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E2F26F-3B00-DB8F-341B-880FDB7648A2}"/>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
        <p:nvSpPr>
          <p:cNvPr id="8" name="Title 7">
            <a:extLst>
              <a:ext uri="{FF2B5EF4-FFF2-40B4-BE49-F238E27FC236}">
                <a16:creationId xmlns:a16="http://schemas.microsoft.com/office/drawing/2014/main" id="{7A41AD53-1978-F2B6-0783-023C6AA36AD0}"/>
              </a:ext>
            </a:extLst>
          </p:cNvPr>
          <p:cNvSpPr>
            <a:spLocks noGrp="1"/>
          </p:cNvSpPr>
          <p:nvPr>
            <p:ph type="title"/>
          </p:nvPr>
        </p:nvSpPr>
        <p:spPr/>
        <p:txBody>
          <a:bodyPr/>
          <a:lstStyle/>
          <a:p>
            <a:r>
              <a:rPr lang="en-US" dirty="0"/>
              <a:t>Responsible AI Usage | Bias</a:t>
            </a:r>
          </a:p>
        </p:txBody>
      </p:sp>
      <p:sp>
        <p:nvSpPr>
          <p:cNvPr id="3" name="Content Placeholder 2">
            <a:extLst>
              <a:ext uri="{FF2B5EF4-FFF2-40B4-BE49-F238E27FC236}">
                <a16:creationId xmlns:a16="http://schemas.microsoft.com/office/drawing/2014/main" id="{943CBBB6-95CB-297E-2931-0F899917527C}"/>
              </a:ext>
            </a:extLst>
          </p:cNvPr>
          <p:cNvSpPr>
            <a:spLocks noGrp="1"/>
          </p:cNvSpPr>
          <p:nvPr>
            <p:ph idx="1"/>
          </p:nvPr>
        </p:nvSpPr>
        <p:spPr>
          <a:xfrm>
            <a:off x="380010" y="1481446"/>
            <a:ext cx="8383980" cy="5247391"/>
          </a:xfrm>
        </p:spPr>
        <p:txBody>
          <a:bodyPr>
            <a:normAutofit fontScale="85000" lnSpcReduction="20000"/>
          </a:bodyPr>
          <a:lstStyle/>
          <a:p>
            <a:r>
              <a:rPr lang="en-US" b="1" dirty="0"/>
              <a:t>Bais</a:t>
            </a:r>
            <a:r>
              <a:rPr lang="en-US" dirty="0"/>
              <a:t> in an LLM refers to systematic skew in its outputs that reflects imbalances, stereotypes, or gaps present in its training data, rather than fair or accurate reasoning</a:t>
            </a:r>
          </a:p>
          <a:p>
            <a:r>
              <a:rPr lang="en-US" b="1" dirty="0"/>
              <a:t>Common sources of Bias:</a:t>
            </a:r>
          </a:p>
          <a:p>
            <a:pPr lvl="1"/>
            <a:r>
              <a:rPr lang="en-US" b="1" i="1" dirty="0"/>
              <a:t>Training Data imbalance</a:t>
            </a:r>
            <a:r>
              <a:rPr lang="en-US" dirty="0"/>
              <a:t>: If certain groups, viewpoints or languages, or dialects are underrepresented in training data, model performance and fairness can suffer for those groups</a:t>
            </a:r>
          </a:p>
          <a:p>
            <a:pPr lvl="1"/>
            <a:r>
              <a:rPr lang="en-US" b="1" i="1" dirty="0"/>
              <a:t>Historical bias</a:t>
            </a:r>
            <a:r>
              <a:rPr lang="en-US" dirty="0"/>
              <a:t>: data reflecting past human decisions (e.g. hiring records, load approvals) can encode and perpetuate historical inequities</a:t>
            </a:r>
          </a:p>
          <a:p>
            <a:pPr lvl="1"/>
            <a:r>
              <a:rPr lang="en-US" b="1" i="1" dirty="0"/>
              <a:t>Labeling bias</a:t>
            </a:r>
            <a:r>
              <a:rPr lang="en-US" dirty="0"/>
              <a:t>: human annotators involved in training and fine-tuning can introduce their own subjective judgements into the data.</a:t>
            </a:r>
          </a:p>
          <a:p>
            <a:r>
              <a:rPr lang="en-US" dirty="0"/>
              <a:t>Bias can show up in subtle ways</a:t>
            </a:r>
          </a:p>
          <a:p>
            <a:pPr lvl="1"/>
            <a:r>
              <a:rPr lang="en-US" dirty="0"/>
              <a:t>Differing quality of responses across languages</a:t>
            </a:r>
          </a:p>
          <a:p>
            <a:pPr lvl="1"/>
            <a:r>
              <a:rPr lang="en-US" dirty="0"/>
              <a:t>Stereotyped assumptions in generated content</a:t>
            </a:r>
          </a:p>
          <a:p>
            <a:pPr lvl="1"/>
            <a:r>
              <a:rPr lang="en-US" dirty="0"/>
              <a:t>Uneven performance across demographic groups on the same task</a:t>
            </a:r>
          </a:p>
        </p:txBody>
      </p:sp>
    </p:spTree>
    <p:extLst>
      <p:ext uri="{BB962C8B-B14F-4D97-AF65-F5344CB8AC3E}">
        <p14:creationId xmlns:p14="http://schemas.microsoft.com/office/powerpoint/2010/main" val="350122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5D62-DD5B-88AE-8B09-570AF07E83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5AE390-7ED0-878C-0551-C10CD1872B8D}"/>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8" name="Title 7">
            <a:extLst>
              <a:ext uri="{FF2B5EF4-FFF2-40B4-BE49-F238E27FC236}">
                <a16:creationId xmlns:a16="http://schemas.microsoft.com/office/drawing/2014/main" id="{737B0931-38D4-F9F5-2FDC-A8F8D03362D6}"/>
              </a:ext>
            </a:extLst>
          </p:cNvPr>
          <p:cNvSpPr>
            <a:spLocks noGrp="1"/>
          </p:cNvSpPr>
          <p:nvPr>
            <p:ph type="title"/>
          </p:nvPr>
        </p:nvSpPr>
        <p:spPr/>
        <p:txBody>
          <a:bodyPr/>
          <a:lstStyle/>
          <a:p>
            <a:r>
              <a:rPr lang="en-US" dirty="0"/>
              <a:t>Responsible AI Usage | Limitations</a:t>
            </a:r>
          </a:p>
        </p:txBody>
      </p:sp>
      <p:sp>
        <p:nvSpPr>
          <p:cNvPr id="3" name="Content Placeholder 2">
            <a:extLst>
              <a:ext uri="{FF2B5EF4-FFF2-40B4-BE49-F238E27FC236}">
                <a16:creationId xmlns:a16="http://schemas.microsoft.com/office/drawing/2014/main" id="{7AA4AFFA-2352-AA2B-2781-9FC2C5E1876E}"/>
              </a:ext>
            </a:extLst>
          </p:cNvPr>
          <p:cNvSpPr>
            <a:spLocks noGrp="1"/>
          </p:cNvSpPr>
          <p:nvPr>
            <p:ph idx="1"/>
          </p:nvPr>
        </p:nvSpPr>
        <p:spPr>
          <a:xfrm>
            <a:off x="380010" y="1356528"/>
            <a:ext cx="8383980" cy="5372310"/>
          </a:xfrm>
        </p:spPr>
        <p:txBody>
          <a:bodyPr>
            <a:normAutofit fontScale="70000" lnSpcReduction="20000"/>
          </a:bodyPr>
          <a:lstStyle/>
          <a:p>
            <a:r>
              <a:rPr lang="en-US" b="1" dirty="0"/>
              <a:t>Limitations</a:t>
            </a:r>
            <a:r>
              <a:rPr lang="en-US" dirty="0"/>
              <a:t> are distinct from bias</a:t>
            </a:r>
          </a:p>
          <a:p>
            <a:r>
              <a:rPr lang="en-US" dirty="0"/>
              <a:t>Inherent constraints in what an LLM can reliable do, regardless of fairness concerns</a:t>
            </a:r>
          </a:p>
          <a:p>
            <a:r>
              <a:rPr lang="en-US" b="1" dirty="0"/>
              <a:t>Common Limitations</a:t>
            </a:r>
            <a:r>
              <a:rPr lang="en-US" dirty="0"/>
              <a:t>:</a:t>
            </a:r>
          </a:p>
          <a:p>
            <a:pPr lvl="1"/>
            <a:r>
              <a:rPr lang="en-US" b="1" i="1" dirty="0"/>
              <a:t>Knowledge Cutoff</a:t>
            </a:r>
            <a:r>
              <a:rPr lang="en-US" dirty="0"/>
              <a:t>: A model’s training data has a fixed end date; it doesn’t automatically know about events after that point unless given external information</a:t>
            </a:r>
          </a:p>
          <a:p>
            <a:pPr lvl="1"/>
            <a:r>
              <a:rPr lang="en-US" b="1" i="1" dirty="0"/>
              <a:t>No True understanding</a:t>
            </a:r>
            <a:r>
              <a:rPr lang="en-US" dirty="0"/>
              <a:t>: Models predict statistically likely text; they don’t “understand” concepts the way humans do. This can lead to confidently incorrect reasoning.</a:t>
            </a:r>
          </a:p>
          <a:p>
            <a:pPr lvl="1"/>
            <a:r>
              <a:rPr lang="en-US" b="1" i="1" dirty="0"/>
              <a:t>Inconsistency</a:t>
            </a:r>
            <a:r>
              <a:rPr lang="en-US" dirty="0"/>
              <a:t>: The same prompt can sometimes produce different quality answers across attempts</a:t>
            </a:r>
          </a:p>
          <a:p>
            <a:pPr lvl="1"/>
            <a:r>
              <a:rPr lang="en-US" b="1" i="1" dirty="0"/>
              <a:t>Struggles with precise, multi-step logic</a:t>
            </a:r>
            <a:r>
              <a:rPr lang="en-US" dirty="0"/>
              <a:t>: Especially with arithmetic, exact counting, or highly rigorous formal reasoning, without extra support</a:t>
            </a:r>
          </a:p>
          <a:p>
            <a:r>
              <a:rPr lang="en-US" dirty="0"/>
              <a:t>If you’re building a product using an LLM, undetected bias or unrecognized limitations can lead to real harm to users, legal/compliance risk, and reputational damage.</a:t>
            </a:r>
          </a:p>
          <a:p>
            <a:r>
              <a:rPr lang="en-US" dirty="0"/>
              <a:t>Mitigation is a shared responsibility across model providers and developers/teams building on top of models.</a:t>
            </a:r>
          </a:p>
          <a:p>
            <a:pPr lvl="1"/>
            <a:r>
              <a:rPr lang="en-US" dirty="0"/>
              <a:t>Training practices, safety testing, testing for bias, adding guardrails, human review for sensitive decisions.</a:t>
            </a:r>
          </a:p>
        </p:txBody>
      </p:sp>
    </p:spTree>
    <p:extLst>
      <p:ext uri="{BB962C8B-B14F-4D97-AF65-F5344CB8AC3E}">
        <p14:creationId xmlns:p14="http://schemas.microsoft.com/office/powerpoint/2010/main" val="96201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89B63-61F6-02E9-357B-DF0B170536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7C6A80-0253-BADC-29F2-1AD8B864084D}"/>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8" name="Title 7">
            <a:extLst>
              <a:ext uri="{FF2B5EF4-FFF2-40B4-BE49-F238E27FC236}">
                <a16:creationId xmlns:a16="http://schemas.microsoft.com/office/drawing/2014/main" id="{A37FA6ED-CD62-0D55-C21B-384FEB375620}"/>
              </a:ext>
            </a:extLst>
          </p:cNvPr>
          <p:cNvSpPr>
            <a:spLocks noGrp="1"/>
          </p:cNvSpPr>
          <p:nvPr>
            <p:ph type="title"/>
          </p:nvPr>
        </p:nvSpPr>
        <p:spPr/>
        <p:txBody>
          <a:bodyPr/>
          <a:lstStyle/>
          <a:p>
            <a:r>
              <a:rPr lang="en-US" dirty="0"/>
              <a:t>Responsible AI Usage | Hallucinations</a:t>
            </a:r>
          </a:p>
        </p:txBody>
      </p:sp>
      <p:sp>
        <p:nvSpPr>
          <p:cNvPr id="3" name="Content Placeholder 2">
            <a:extLst>
              <a:ext uri="{FF2B5EF4-FFF2-40B4-BE49-F238E27FC236}">
                <a16:creationId xmlns:a16="http://schemas.microsoft.com/office/drawing/2014/main" id="{8CB6E0B2-EB8D-6642-4274-35E5FB81305E}"/>
              </a:ext>
            </a:extLst>
          </p:cNvPr>
          <p:cNvSpPr>
            <a:spLocks noGrp="1"/>
          </p:cNvSpPr>
          <p:nvPr>
            <p:ph idx="1"/>
          </p:nvPr>
        </p:nvSpPr>
        <p:spPr>
          <a:xfrm>
            <a:off x="380010" y="1356529"/>
            <a:ext cx="8383980" cy="5372308"/>
          </a:xfrm>
        </p:spPr>
        <p:txBody>
          <a:bodyPr>
            <a:normAutofit fontScale="77500" lnSpcReduction="20000"/>
          </a:bodyPr>
          <a:lstStyle/>
          <a:p>
            <a:r>
              <a:rPr lang="en-US" dirty="0"/>
              <a:t>A </a:t>
            </a:r>
            <a:r>
              <a:rPr lang="en-US" b="1" dirty="0"/>
              <a:t>Hallucination </a:t>
            </a:r>
            <a:r>
              <a:rPr lang="en-US" dirty="0"/>
              <a:t>refers to an LLM generating output that is factually incorrect, fabricated, or unsupported, while still sounding confident and plausible</a:t>
            </a:r>
          </a:p>
          <a:p>
            <a:r>
              <a:rPr lang="en-US" dirty="0"/>
              <a:t>Common Types of Hallucinations:</a:t>
            </a:r>
          </a:p>
          <a:p>
            <a:pPr lvl="1"/>
            <a:r>
              <a:rPr lang="en-US" b="1" i="1" dirty="0"/>
              <a:t>Factual hallucination</a:t>
            </a:r>
            <a:r>
              <a:rPr lang="en-US" dirty="0"/>
              <a:t>: Stating incorrect facts (wrong dates, statistics or details) with confidence</a:t>
            </a:r>
          </a:p>
          <a:p>
            <a:pPr lvl="1"/>
            <a:r>
              <a:rPr lang="en-US" b="1" i="1" dirty="0"/>
              <a:t>Fabricated sources/citations</a:t>
            </a:r>
            <a:r>
              <a:rPr lang="en-US" dirty="0"/>
              <a:t>: inventing article titles, authors, studies, or URLs that don’t exist</a:t>
            </a:r>
          </a:p>
          <a:p>
            <a:pPr lvl="1"/>
            <a:r>
              <a:rPr lang="en-US" b="1" i="1" dirty="0"/>
              <a:t>Fabricated code/API references</a:t>
            </a:r>
            <a:r>
              <a:rPr lang="en-US" dirty="0"/>
              <a:t>: generating code that calls functions, methods, or libraries that don’t exist</a:t>
            </a:r>
          </a:p>
          <a:p>
            <a:pPr lvl="2"/>
            <a:r>
              <a:rPr lang="en-US" dirty="0"/>
              <a:t>Sometimes referred to as “package hallucination”</a:t>
            </a:r>
          </a:p>
          <a:p>
            <a:pPr lvl="1"/>
            <a:r>
              <a:rPr lang="en-US" b="1" i="1" dirty="0"/>
              <a:t>Reasoning hallucination</a:t>
            </a:r>
            <a:r>
              <a:rPr lang="en-US" dirty="0"/>
              <a:t>: arriving at an incorrect conclusion through flawed logic, even if individual facts used along the way were accurate</a:t>
            </a:r>
          </a:p>
          <a:p>
            <a:pPr lvl="1"/>
            <a:r>
              <a:rPr lang="en-US" b="1" i="1" dirty="0"/>
              <a:t>Context contradiction</a:t>
            </a:r>
            <a:r>
              <a:rPr lang="en-US" dirty="0"/>
              <a:t>: generating output that contradicts information provided earlier in the same conversation</a:t>
            </a:r>
          </a:p>
          <a:p>
            <a:r>
              <a:rPr lang="en-US" dirty="0"/>
              <a:t>Hallucinations can look completely correct; but still fail – for instance hallucinated code can introduce bugs, security issues or silent errors if merged without review.</a:t>
            </a:r>
          </a:p>
        </p:txBody>
      </p:sp>
    </p:spTree>
    <p:extLst>
      <p:ext uri="{BB962C8B-B14F-4D97-AF65-F5344CB8AC3E}">
        <p14:creationId xmlns:p14="http://schemas.microsoft.com/office/powerpoint/2010/main" val="412057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788A-CC30-B4F8-E1EB-98284D5589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ABD765-0039-F718-D8FF-CDEE0ED58639}"/>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8" name="Title 7">
            <a:extLst>
              <a:ext uri="{FF2B5EF4-FFF2-40B4-BE49-F238E27FC236}">
                <a16:creationId xmlns:a16="http://schemas.microsoft.com/office/drawing/2014/main" id="{E1C2EE8D-4D8E-F899-BD72-DD782D294831}"/>
              </a:ext>
            </a:extLst>
          </p:cNvPr>
          <p:cNvSpPr>
            <a:spLocks noGrp="1"/>
          </p:cNvSpPr>
          <p:nvPr>
            <p:ph type="title"/>
          </p:nvPr>
        </p:nvSpPr>
        <p:spPr/>
        <p:txBody>
          <a:bodyPr/>
          <a:lstStyle/>
          <a:p>
            <a:r>
              <a:rPr lang="en-US" dirty="0"/>
              <a:t>Responsible AI Usage | Hallucinations</a:t>
            </a:r>
          </a:p>
        </p:txBody>
      </p:sp>
      <p:sp>
        <p:nvSpPr>
          <p:cNvPr id="3" name="Content Placeholder 2">
            <a:extLst>
              <a:ext uri="{FF2B5EF4-FFF2-40B4-BE49-F238E27FC236}">
                <a16:creationId xmlns:a16="http://schemas.microsoft.com/office/drawing/2014/main" id="{066D1A4D-B135-3A73-FCFC-88E83438BC7B}"/>
              </a:ext>
            </a:extLst>
          </p:cNvPr>
          <p:cNvSpPr>
            <a:spLocks noGrp="1"/>
          </p:cNvSpPr>
          <p:nvPr>
            <p:ph idx="1"/>
          </p:nvPr>
        </p:nvSpPr>
        <p:spPr>
          <a:xfrm>
            <a:off x="380010" y="1356529"/>
            <a:ext cx="8383980" cy="5372308"/>
          </a:xfrm>
        </p:spPr>
        <p:txBody>
          <a:bodyPr>
            <a:normAutofit fontScale="62500" lnSpcReduction="20000"/>
          </a:bodyPr>
          <a:lstStyle/>
          <a:p>
            <a:r>
              <a:rPr lang="en-US" b="1" dirty="0"/>
              <a:t>Why do Hallucinations</a:t>
            </a:r>
            <a:r>
              <a:rPr lang="en-US" dirty="0"/>
              <a:t> </a:t>
            </a:r>
            <a:r>
              <a:rPr lang="en-US" b="1" dirty="0"/>
              <a:t>happen?</a:t>
            </a:r>
            <a:endParaRPr lang="en-US" dirty="0"/>
          </a:p>
          <a:p>
            <a:pPr lvl="1"/>
            <a:r>
              <a:rPr lang="en-US" dirty="0"/>
              <a:t>LLMs generate text by predicting statistically likely output based on patterns, not by looking up or verifying facts in a database. When the model doesn’t have reliable “knowledge” of something, it may still generate a fluent, confident-sounding response rather than indicating uncertainty.</a:t>
            </a:r>
          </a:p>
          <a:p>
            <a:r>
              <a:rPr lang="en-US" i="1" dirty="0"/>
              <a:t>Prevention and mitigation strategies</a:t>
            </a:r>
          </a:p>
          <a:p>
            <a:pPr lvl="1"/>
            <a:r>
              <a:rPr lang="en-US" b="1" i="1" dirty="0"/>
              <a:t>Retrieval-augmented generation (RAG)</a:t>
            </a:r>
            <a:r>
              <a:rPr lang="en-US" dirty="0"/>
              <a:t>: Grounding the model’s response in retrieved, verified source documents</a:t>
            </a:r>
          </a:p>
          <a:p>
            <a:pPr lvl="1"/>
            <a:r>
              <a:rPr lang="en-US" b="1" i="1" dirty="0"/>
              <a:t>Ask for sources, then verify</a:t>
            </a:r>
            <a:r>
              <a:rPr lang="en-US" dirty="0"/>
              <a:t>: Prompting the model to cite where information came from, and independently checking that those sources actually exist and match LLM claims</a:t>
            </a:r>
          </a:p>
          <a:p>
            <a:pPr lvl="1"/>
            <a:r>
              <a:rPr lang="en-US" b="1" i="1" dirty="0"/>
              <a:t>Encourage uncertainty acknowledgement</a:t>
            </a:r>
            <a:r>
              <a:rPr lang="en-US" dirty="0"/>
              <a:t>: prompting the model to say “I’m not sure” or flag low-confidence areas, rather than always producing a fully confident-sounding answer</a:t>
            </a:r>
          </a:p>
          <a:p>
            <a:pPr lvl="1"/>
            <a:r>
              <a:rPr lang="en-US" b="1" i="1" dirty="0"/>
              <a:t>Human review</a:t>
            </a:r>
            <a:r>
              <a:rPr lang="en-US" dirty="0"/>
              <a:t>: Especially for factual claims, code, citations, and any high-stakes content, before it’s used or published</a:t>
            </a:r>
          </a:p>
          <a:p>
            <a:pPr lvl="1"/>
            <a:r>
              <a:rPr lang="en-US" b="1" i="1" dirty="0"/>
              <a:t>Cross-checking with independent tools</a:t>
            </a:r>
            <a:r>
              <a:rPr lang="en-US" dirty="0"/>
              <a:t>: Running generated code, or verifying generated citation with a search engine, rather than trusting it at face value</a:t>
            </a:r>
          </a:p>
          <a:p>
            <a:pPr lvl="1"/>
            <a:r>
              <a:rPr lang="en-US" b="1" i="1" dirty="0"/>
              <a:t>Lower “temperature” settings</a:t>
            </a:r>
            <a:r>
              <a:rPr lang="en-US" dirty="0"/>
              <a:t>: can sometimes reduce creative/fabricated output for tasks that require higher factual precision.</a:t>
            </a:r>
          </a:p>
          <a:p>
            <a:pPr lvl="2"/>
            <a:r>
              <a:rPr lang="en-US" b="1" dirty="0"/>
              <a:t>Temperature</a:t>
            </a:r>
            <a:r>
              <a:rPr lang="en-US" dirty="0"/>
              <a:t>: allowed variance/determinism of LLM output</a:t>
            </a:r>
          </a:p>
          <a:p>
            <a:pPr lvl="2"/>
            <a:r>
              <a:rPr lang="en-US" b="1" dirty="0"/>
              <a:t>Lower temperature</a:t>
            </a:r>
            <a:r>
              <a:rPr lang="en-US" dirty="0"/>
              <a:t> = More deterministic</a:t>
            </a:r>
          </a:p>
          <a:p>
            <a:pPr lvl="2"/>
            <a:r>
              <a:rPr lang="en-US" b="1" dirty="0"/>
              <a:t>Higher temperature</a:t>
            </a:r>
            <a:r>
              <a:rPr lang="en-US" dirty="0"/>
              <a:t> = More variance/randomness</a:t>
            </a:r>
          </a:p>
          <a:p>
            <a:pPr lvl="2"/>
            <a:r>
              <a:rPr lang="en-US" dirty="0"/>
              <a:t>Lowering temperature is typically more relevant to teams building directly with the API than a typical chat usage.</a:t>
            </a:r>
          </a:p>
        </p:txBody>
      </p:sp>
    </p:spTree>
    <p:extLst>
      <p:ext uri="{BB962C8B-B14F-4D97-AF65-F5344CB8AC3E}">
        <p14:creationId xmlns:p14="http://schemas.microsoft.com/office/powerpoint/2010/main" val="16898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9EAB-00F4-5696-637D-4C077A724F6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770C53-2078-8269-7E77-8ABBEFF4C37D}"/>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
        <p:nvSpPr>
          <p:cNvPr id="8" name="Title 7">
            <a:extLst>
              <a:ext uri="{FF2B5EF4-FFF2-40B4-BE49-F238E27FC236}">
                <a16:creationId xmlns:a16="http://schemas.microsoft.com/office/drawing/2014/main" id="{E2633CD9-4128-0644-78FC-F995EB6986FC}"/>
              </a:ext>
            </a:extLst>
          </p:cNvPr>
          <p:cNvSpPr>
            <a:spLocks noGrp="1"/>
          </p:cNvSpPr>
          <p:nvPr>
            <p:ph type="title"/>
          </p:nvPr>
        </p:nvSpPr>
        <p:spPr/>
        <p:txBody>
          <a:bodyPr/>
          <a:lstStyle/>
          <a:p>
            <a:r>
              <a:rPr lang="en-US" dirty="0"/>
              <a:t>Responsible AI Usage | Security Considerations</a:t>
            </a:r>
          </a:p>
        </p:txBody>
      </p:sp>
      <p:sp>
        <p:nvSpPr>
          <p:cNvPr id="3" name="Content Placeholder 2">
            <a:extLst>
              <a:ext uri="{FF2B5EF4-FFF2-40B4-BE49-F238E27FC236}">
                <a16:creationId xmlns:a16="http://schemas.microsoft.com/office/drawing/2014/main" id="{D546FB69-742A-4C9B-ABCD-DE40461C9284}"/>
              </a:ext>
            </a:extLst>
          </p:cNvPr>
          <p:cNvSpPr>
            <a:spLocks noGrp="1"/>
          </p:cNvSpPr>
          <p:nvPr>
            <p:ph idx="1"/>
          </p:nvPr>
        </p:nvSpPr>
        <p:spPr>
          <a:xfrm>
            <a:off x="380010" y="1356529"/>
            <a:ext cx="8383980" cy="5372308"/>
          </a:xfrm>
        </p:spPr>
        <p:txBody>
          <a:bodyPr>
            <a:normAutofit fontScale="70000" lnSpcReduction="20000"/>
          </a:bodyPr>
          <a:lstStyle/>
          <a:p>
            <a:r>
              <a:rPr lang="en-US" dirty="0"/>
              <a:t>Using LLMs introduces security considerations distinct from traditional software risks.</a:t>
            </a:r>
          </a:p>
          <a:p>
            <a:r>
              <a:rPr lang="en-US" b="1" dirty="0"/>
              <a:t>Prompt injection</a:t>
            </a:r>
            <a:r>
              <a:rPr lang="en-US" dirty="0"/>
              <a:t>: A malicious user embeds hidden instructions in input (e.g. in a document, webpage, or user message), designed to manipulate the model into ignoring its original instructions or leaking information</a:t>
            </a:r>
          </a:p>
          <a:p>
            <a:r>
              <a:rPr lang="en-US" b="1" dirty="0"/>
              <a:t>Data privacy and leakage</a:t>
            </a:r>
            <a:r>
              <a:rPr lang="en-US" dirty="0"/>
              <a:t>: sensitive information (customer data, credentials, proprietary code) shared in a prompt may be logged, stored, or in some cases used to improve a provider’s models, depending on the platform and its data policies.</a:t>
            </a:r>
          </a:p>
          <a:p>
            <a:r>
              <a:rPr lang="en-US" b="1" dirty="0"/>
              <a:t>Insecure generated code</a:t>
            </a:r>
            <a:r>
              <a:rPr lang="en-US" dirty="0"/>
              <a:t>: LLMs can generate code that is functionally correct, but has security vulnerabilities (missing validation, weak authentication, SQL injection risk) since the model is optimizing for a working solution, not necessarily a maximally secure one.</a:t>
            </a:r>
          </a:p>
          <a:p>
            <a:r>
              <a:rPr lang="en-US" b="1" dirty="0"/>
              <a:t>Never blindly execute LLM-generated code or commands</a:t>
            </a:r>
            <a:r>
              <a:rPr lang="en-US" dirty="0"/>
              <a:t>: LLM generated code may have negative impacts you did not expect or desire. Any code, particularly anything involving system access, file deletion, network requests, or credentials should never by executed without review.</a:t>
            </a:r>
          </a:p>
        </p:txBody>
      </p:sp>
    </p:spTree>
    <p:extLst>
      <p:ext uri="{BB962C8B-B14F-4D97-AF65-F5344CB8AC3E}">
        <p14:creationId xmlns:p14="http://schemas.microsoft.com/office/powerpoint/2010/main" val="237649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145F-C20C-2940-51C8-FB3D20BBF3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D1A1D8-0ABB-3393-1FED-1E5E0534282D}"/>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
        <p:nvSpPr>
          <p:cNvPr id="8" name="Title 7">
            <a:extLst>
              <a:ext uri="{FF2B5EF4-FFF2-40B4-BE49-F238E27FC236}">
                <a16:creationId xmlns:a16="http://schemas.microsoft.com/office/drawing/2014/main" id="{CF8E1768-6B19-6CC0-AAED-CC699190383A}"/>
              </a:ext>
            </a:extLst>
          </p:cNvPr>
          <p:cNvSpPr>
            <a:spLocks noGrp="1"/>
          </p:cNvSpPr>
          <p:nvPr>
            <p:ph type="title"/>
          </p:nvPr>
        </p:nvSpPr>
        <p:spPr/>
        <p:txBody>
          <a:bodyPr/>
          <a:lstStyle/>
          <a:p>
            <a:r>
              <a:rPr lang="en-US" dirty="0"/>
              <a:t>Responsible AI Usage | Security Considerations</a:t>
            </a:r>
          </a:p>
        </p:txBody>
      </p:sp>
      <p:sp>
        <p:nvSpPr>
          <p:cNvPr id="3" name="Content Placeholder 2">
            <a:extLst>
              <a:ext uri="{FF2B5EF4-FFF2-40B4-BE49-F238E27FC236}">
                <a16:creationId xmlns:a16="http://schemas.microsoft.com/office/drawing/2014/main" id="{E1D00A10-37AF-92A3-A6C5-DF65E8B9B9CA}"/>
              </a:ext>
            </a:extLst>
          </p:cNvPr>
          <p:cNvSpPr>
            <a:spLocks noGrp="1"/>
          </p:cNvSpPr>
          <p:nvPr>
            <p:ph idx="1"/>
          </p:nvPr>
        </p:nvSpPr>
        <p:spPr>
          <a:xfrm>
            <a:off x="380010" y="1356529"/>
            <a:ext cx="8383980" cy="5372308"/>
          </a:xfrm>
        </p:spPr>
        <p:txBody>
          <a:bodyPr>
            <a:normAutofit fontScale="92500" lnSpcReduction="20000"/>
          </a:bodyPr>
          <a:lstStyle/>
          <a:p>
            <a:r>
              <a:rPr lang="en-US" b="1" dirty="0"/>
              <a:t>Over-reliance / automation bias</a:t>
            </a:r>
            <a:r>
              <a:rPr lang="en-US" dirty="0"/>
              <a:t>: Developers may unwittingly gain a tendency to trust AI-generated output more than warranted simply because it’s fast and sounds confident. This may lead to skipped security review steps.</a:t>
            </a:r>
          </a:p>
          <a:p>
            <a:r>
              <a:rPr lang="en-US" b="1" dirty="0"/>
              <a:t>Supply chain considerations</a:t>
            </a:r>
            <a:r>
              <a:rPr lang="en-US" dirty="0"/>
              <a:t>: When integrating third-party LLM-powered tools or plugins into your workflow or product, you are extending trust to that provider's security practices as well as your own</a:t>
            </a:r>
          </a:p>
          <a:p>
            <a:r>
              <a:rPr lang="en-US" b="1" dirty="0"/>
              <a:t>Best Practice:</a:t>
            </a:r>
          </a:p>
          <a:p>
            <a:pPr lvl="1"/>
            <a:r>
              <a:rPr lang="en-US" dirty="0"/>
              <a:t>Treat LLM generated code and content the same way you’d treat a contribution from an unfamiliar, well-meaning collaborator</a:t>
            </a:r>
          </a:p>
          <a:p>
            <a:pPr lvl="1"/>
            <a:r>
              <a:rPr lang="en-US" dirty="0"/>
              <a:t>Useful and often high quality, but always subject to the same review, testing and security standards as any other code before it ships</a:t>
            </a:r>
          </a:p>
        </p:txBody>
      </p:sp>
    </p:spTree>
    <p:extLst>
      <p:ext uri="{BB962C8B-B14F-4D97-AF65-F5344CB8AC3E}">
        <p14:creationId xmlns:p14="http://schemas.microsoft.com/office/powerpoint/2010/main" val="95048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E857D-2358-BD0A-F16F-D6801AB499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D6EA2F-4A2B-0B45-B0D4-2FCDB33F85A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27</a:t>
            </a:fld>
            <a:endParaRPr lang="en-US"/>
          </a:p>
        </p:txBody>
      </p:sp>
      <p:sp>
        <p:nvSpPr>
          <p:cNvPr id="4" name="Google Shape;212;p15">
            <a:extLst>
              <a:ext uri="{FF2B5EF4-FFF2-40B4-BE49-F238E27FC236}">
                <a16:creationId xmlns:a16="http://schemas.microsoft.com/office/drawing/2014/main" id="{C5235B4E-6819-D17F-A24E-EFB0B4C3FF0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Cost &amp; Token Considerations</a:t>
            </a:r>
          </a:p>
        </p:txBody>
      </p:sp>
      <p:pic>
        <p:nvPicPr>
          <p:cNvPr id="6" name="Picture 5">
            <a:extLst>
              <a:ext uri="{FF2B5EF4-FFF2-40B4-BE49-F238E27FC236}">
                <a16:creationId xmlns:a16="http://schemas.microsoft.com/office/drawing/2014/main" id="{97F521CF-29C1-5354-BE02-535D179BC89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750018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5D725-C32C-13A7-A8D8-DC562E1030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F262D-B9F0-84B9-6099-0A29DB65067E}"/>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
        <p:nvSpPr>
          <p:cNvPr id="8" name="Title 7">
            <a:extLst>
              <a:ext uri="{FF2B5EF4-FFF2-40B4-BE49-F238E27FC236}">
                <a16:creationId xmlns:a16="http://schemas.microsoft.com/office/drawing/2014/main" id="{EAFA2CA1-2056-948D-BBE5-C522C81E7537}"/>
              </a:ext>
            </a:extLst>
          </p:cNvPr>
          <p:cNvSpPr>
            <a:spLocks noGrp="1"/>
          </p:cNvSpPr>
          <p:nvPr>
            <p:ph type="title"/>
          </p:nvPr>
        </p:nvSpPr>
        <p:spPr/>
        <p:txBody>
          <a:bodyPr/>
          <a:lstStyle/>
          <a:p>
            <a:r>
              <a:rPr lang="en-US" dirty="0"/>
              <a:t>Tokens</a:t>
            </a:r>
          </a:p>
        </p:txBody>
      </p:sp>
      <p:sp>
        <p:nvSpPr>
          <p:cNvPr id="3" name="Content Placeholder 2">
            <a:extLst>
              <a:ext uri="{FF2B5EF4-FFF2-40B4-BE49-F238E27FC236}">
                <a16:creationId xmlns:a16="http://schemas.microsoft.com/office/drawing/2014/main" id="{E861F731-92F5-D709-B8C0-1E579E54817A}"/>
              </a:ext>
            </a:extLst>
          </p:cNvPr>
          <p:cNvSpPr>
            <a:spLocks noGrp="1"/>
          </p:cNvSpPr>
          <p:nvPr>
            <p:ph idx="1"/>
          </p:nvPr>
        </p:nvSpPr>
        <p:spPr>
          <a:xfrm>
            <a:off x="380010" y="1481446"/>
            <a:ext cx="8383980" cy="4882266"/>
          </a:xfrm>
        </p:spPr>
        <p:txBody>
          <a:bodyPr>
            <a:normAutofit fontScale="92500" lnSpcReduction="20000"/>
          </a:bodyPr>
          <a:lstStyle/>
          <a:p>
            <a:r>
              <a:rPr lang="en-US" dirty="0"/>
              <a:t>Tokens are the basic unit LLMs use to process text</a:t>
            </a:r>
          </a:p>
          <a:p>
            <a:r>
              <a:rPr lang="en-US" dirty="0"/>
              <a:t>A token is roughly a word (or part of a word) – not a full sentence or a single character</a:t>
            </a:r>
          </a:p>
          <a:p>
            <a:r>
              <a:rPr lang="en-US" dirty="0"/>
              <a:t>A common rule of thumb: Roughly 750 words ~ 1000 tokens</a:t>
            </a:r>
          </a:p>
          <a:p>
            <a:r>
              <a:rPr lang="en-US" dirty="0"/>
              <a:t>Nearly all major LLM platforms price usage per token is split into two separate rates:</a:t>
            </a:r>
          </a:p>
          <a:p>
            <a:pPr lvl="1"/>
            <a:r>
              <a:rPr lang="en-US" b="1" dirty="0"/>
              <a:t>Input tokens</a:t>
            </a:r>
            <a:r>
              <a:rPr lang="en-US" dirty="0"/>
              <a:t>: The cost of everything sent to the model (prompt, attached documents, conversation history</a:t>
            </a:r>
          </a:p>
          <a:p>
            <a:pPr lvl="1"/>
            <a:r>
              <a:rPr lang="en-US" b="1" dirty="0"/>
              <a:t>Output tokens</a:t>
            </a:r>
            <a:r>
              <a:rPr lang="en-US" dirty="0"/>
              <a:t>: The cost of everything the model generates in response. Across virtually every major provider, output tokens are priced several time higher than input tokens, since generating text is more computationally expensive than reading it</a:t>
            </a:r>
          </a:p>
        </p:txBody>
      </p:sp>
    </p:spTree>
    <p:extLst>
      <p:ext uri="{BB962C8B-B14F-4D97-AF65-F5344CB8AC3E}">
        <p14:creationId xmlns:p14="http://schemas.microsoft.com/office/powerpoint/2010/main" val="76052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EFE0F-F16C-95AA-92BB-154FA0A515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DD310-1F96-B6B0-2E8A-DFF29E238668}"/>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
        <p:nvSpPr>
          <p:cNvPr id="8" name="Title 7">
            <a:extLst>
              <a:ext uri="{FF2B5EF4-FFF2-40B4-BE49-F238E27FC236}">
                <a16:creationId xmlns:a16="http://schemas.microsoft.com/office/drawing/2014/main" id="{9D21D612-F243-9040-A51C-9D0DDD873826}"/>
              </a:ext>
            </a:extLst>
          </p:cNvPr>
          <p:cNvSpPr>
            <a:spLocks noGrp="1"/>
          </p:cNvSpPr>
          <p:nvPr>
            <p:ph type="title"/>
          </p:nvPr>
        </p:nvSpPr>
        <p:spPr/>
        <p:txBody>
          <a:bodyPr/>
          <a:lstStyle/>
          <a:p>
            <a:r>
              <a:rPr lang="en-US" dirty="0"/>
              <a:t>Models</a:t>
            </a:r>
          </a:p>
        </p:txBody>
      </p:sp>
      <p:sp>
        <p:nvSpPr>
          <p:cNvPr id="3" name="Content Placeholder 2">
            <a:extLst>
              <a:ext uri="{FF2B5EF4-FFF2-40B4-BE49-F238E27FC236}">
                <a16:creationId xmlns:a16="http://schemas.microsoft.com/office/drawing/2014/main" id="{1F4B9CC5-183E-FCFF-EE27-F812BCAF323E}"/>
              </a:ext>
            </a:extLst>
          </p:cNvPr>
          <p:cNvSpPr>
            <a:spLocks noGrp="1"/>
          </p:cNvSpPr>
          <p:nvPr>
            <p:ph idx="1"/>
          </p:nvPr>
        </p:nvSpPr>
        <p:spPr>
          <a:xfrm>
            <a:off x="380010" y="1481446"/>
            <a:ext cx="8383980" cy="4882266"/>
          </a:xfrm>
        </p:spPr>
        <p:txBody>
          <a:bodyPr>
            <a:normAutofit fontScale="92500" lnSpcReduction="20000"/>
          </a:bodyPr>
          <a:lstStyle/>
          <a:p>
            <a:r>
              <a:rPr lang="en-US" dirty="0"/>
              <a:t>Every major platform offers a range of model size/tiers, generally trading off cost against capability and speed:</a:t>
            </a:r>
          </a:p>
          <a:p>
            <a:pPr lvl="1"/>
            <a:r>
              <a:rPr lang="en-US" b="1" dirty="0"/>
              <a:t>Smaller/Faster models</a:t>
            </a:r>
            <a:r>
              <a:rPr lang="en-US" dirty="0"/>
              <a:t>: lowest cost, fastest response times. Best for simple, high-volume tasks, like classification, extraction or basic Q&amp;A</a:t>
            </a:r>
          </a:p>
          <a:p>
            <a:pPr lvl="1"/>
            <a:r>
              <a:rPr lang="en-US" b="1" dirty="0"/>
              <a:t>Mid-tier models</a:t>
            </a:r>
            <a:r>
              <a:rPr lang="en-US" dirty="0"/>
              <a:t>: Balanced cost, speed and capability; a common default for general coding and reasoning tasks.</a:t>
            </a:r>
          </a:p>
          <a:p>
            <a:pPr lvl="1"/>
            <a:r>
              <a:rPr lang="en-US" b="1" dirty="0"/>
              <a:t>Flagship/largest models</a:t>
            </a:r>
            <a:r>
              <a:rPr lang="en-US" dirty="0"/>
              <a:t>: highest cost, typically slower, reserved for the most complex reasoning or agentic tasks</a:t>
            </a:r>
          </a:p>
          <a:p>
            <a:r>
              <a:rPr lang="en-US" dirty="0"/>
              <a:t>This “small/medium/large” tiering pattern hold across major platforms such as Claude, GPT and Gemini.</a:t>
            </a:r>
          </a:p>
          <a:p>
            <a:r>
              <a:rPr lang="en-US" dirty="0"/>
              <a:t>Exact names, prices and performance differ between them and change frequently as new models release.</a:t>
            </a:r>
          </a:p>
        </p:txBody>
      </p:sp>
    </p:spTree>
    <p:extLst>
      <p:ext uri="{BB962C8B-B14F-4D97-AF65-F5344CB8AC3E}">
        <p14:creationId xmlns:p14="http://schemas.microsoft.com/office/powerpoint/2010/main" val="310847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EE160-55E8-C66F-0F90-1535D88AF6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67BEBA-C6EE-0C24-C010-2223064B099C}"/>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
        <p:nvSpPr>
          <p:cNvPr id="8" name="Title 7">
            <a:extLst>
              <a:ext uri="{FF2B5EF4-FFF2-40B4-BE49-F238E27FC236}">
                <a16:creationId xmlns:a16="http://schemas.microsoft.com/office/drawing/2014/main" id="{2AF6472A-2645-A495-E23E-C5549A5EF951}"/>
              </a:ext>
            </a:extLst>
          </p:cNvPr>
          <p:cNvSpPr>
            <a:spLocks noGrp="1"/>
          </p:cNvSpPr>
          <p:nvPr>
            <p:ph type="title"/>
          </p:nvPr>
        </p:nvSpPr>
        <p:spPr/>
        <p:txBody>
          <a:bodyPr/>
          <a:lstStyle/>
          <a:p>
            <a:r>
              <a:rPr lang="en-US" dirty="0"/>
              <a:t>Cost Management</a:t>
            </a:r>
          </a:p>
        </p:txBody>
      </p:sp>
      <p:sp>
        <p:nvSpPr>
          <p:cNvPr id="3" name="Content Placeholder 2">
            <a:extLst>
              <a:ext uri="{FF2B5EF4-FFF2-40B4-BE49-F238E27FC236}">
                <a16:creationId xmlns:a16="http://schemas.microsoft.com/office/drawing/2014/main" id="{32AE9489-C2FE-BA47-A77B-5B9B5896950F}"/>
              </a:ext>
            </a:extLst>
          </p:cNvPr>
          <p:cNvSpPr>
            <a:spLocks noGrp="1"/>
          </p:cNvSpPr>
          <p:nvPr>
            <p:ph idx="1"/>
          </p:nvPr>
        </p:nvSpPr>
        <p:spPr>
          <a:xfrm>
            <a:off x="380010" y="1481446"/>
            <a:ext cx="8383980" cy="4882266"/>
          </a:xfrm>
        </p:spPr>
        <p:txBody>
          <a:bodyPr>
            <a:normAutofit fontScale="62500" lnSpcReduction="20000"/>
          </a:bodyPr>
          <a:lstStyle/>
          <a:p>
            <a:r>
              <a:rPr lang="en-US" dirty="0"/>
              <a:t>Context window size affects cost indirectly: A larger context window means you </a:t>
            </a:r>
            <a:r>
              <a:rPr lang="en-US" i="1" dirty="0"/>
              <a:t>can</a:t>
            </a:r>
            <a:r>
              <a:rPr lang="en-US" dirty="0"/>
              <a:t> send more information, but every token sent is still billed, so longer conversations or documents cost more per request.</a:t>
            </a:r>
          </a:p>
          <a:p>
            <a:r>
              <a:rPr lang="en-US" dirty="0"/>
              <a:t>Some platforms also apply higher per-token rates once a prompt crosses a certain threshold</a:t>
            </a:r>
          </a:p>
          <a:p>
            <a:r>
              <a:rPr lang="en-US" dirty="0"/>
              <a:t>Common cost-management strategies:</a:t>
            </a:r>
          </a:p>
          <a:p>
            <a:pPr lvl="1"/>
            <a:r>
              <a:rPr lang="en-US" b="1" dirty="0"/>
              <a:t>Model routing</a:t>
            </a:r>
            <a:r>
              <a:rPr lang="en-US" dirty="0"/>
              <a:t>: Using a cheaper, smaller model for simple tasks and reserving larger models for tasks that truly need them</a:t>
            </a:r>
          </a:p>
          <a:p>
            <a:pPr lvl="1"/>
            <a:r>
              <a:rPr lang="en-US" b="1" dirty="0"/>
              <a:t>Prompt caching</a:t>
            </a:r>
            <a:r>
              <a:rPr lang="en-US" dirty="0"/>
              <a:t>: reusing a cached version of frequently repeated content at a reduced rate. Most major providers now offer some form of this</a:t>
            </a:r>
          </a:p>
          <a:p>
            <a:pPr lvl="1"/>
            <a:r>
              <a:rPr lang="en-US" b="1" dirty="0"/>
              <a:t>Batch processing</a:t>
            </a:r>
            <a:r>
              <a:rPr lang="en-US" dirty="0"/>
              <a:t>: submitting non-urgent requests for asynchronous processing for a discount. Savings and services vary by provider.</a:t>
            </a:r>
          </a:p>
          <a:p>
            <a:pPr lvl="1"/>
            <a:r>
              <a:rPr lang="en-US" b="1" dirty="0"/>
              <a:t>Trimming context</a:t>
            </a:r>
            <a:r>
              <a:rPr lang="en-US" dirty="0"/>
              <a:t>: avoiding unnecessarily long conversation histories or documents, when a shorter, summarized version would work as well.</a:t>
            </a:r>
          </a:p>
          <a:p>
            <a:r>
              <a:rPr lang="en-US" dirty="0"/>
              <a:t>Before starting a project, research and compare current pricing across the platforms you’re considering against the project’s expected usage and budget.</a:t>
            </a:r>
          </a:p>
          <a:p>
            <a:r>
              <a:rPr lang="en-US" dirty="0"/>
              <a:t>Pricing changes frequently and varies by provider – always check a platforms official costs and current pricing models before estimating project costs.</a:t>
            </a:r>
          </a:p>
        </p:txBody>
      </p:sp>
    </p:spTree>
    <p:extLst>
      <p:ext uri="{BB962C8B-B14F-4D97-AF65-F5344CB8AC3E}">
        <p14:creationId xmlns:p14="http://schemas.microsoft.com/office/powerpoint/2010/main" val="123110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EDF-382F-EE1C-A7CA-CC9FC3F7BED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F088C61-DF83-CB44-918B-A450204E5FF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Tree>
    <p:extLst>
      <p:ext uri="{BB962C8B-B14F-4D97-AF65-F5344CB8AC3E}">
        <p14:creationId xmlns:p14="http://schemas.microsoft.com/office/powerpoint/2010/main" val="190340179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8520</TotalTime>
  <Words>2655</Words>
  <Application>Microsoft Office PowerPoint</Application>
  <PresentationFormat>On-screen Show (4:3)</PresentationFormat>
  <Paragraphs>254</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Courier New</vt:lpstr>
      <vt:lpstr>2_Custom Design</vt:lpstr>
      <vt:lpstr>Large Language Models</vt:lpstr>
      <vt:lpstr>Outline</vt:lpstr>
      <vt:lpstr>PowerPoint Presentation</vt:lpstr>
      <vt:lpstr>LLM Introduction</vt:lpstr>
      <vt:lpstr>LLM Introduction</vt:lpstr>
      <vt:lpstr>LLM Use Cases</vt:lpstr>
      <vt:lpstr>PowerPoint Presentation</vt:lpstr>
      <vt:lpstr>LLMs</vt:lpstr>
      <vt:lpstr>LLMs</vt:lpstr>
      <vt:lpstr>LLMs</vt:lpstr>
      <vt:lpstr>LLMs</vt:lpstr>
      <vt:lpstr>LLM Players</vt:lpstr>
      <vt:lpstr>PowerPoint Presentation</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Best Practices</vt:lpstr>
      <vt:lpstr>Responsible AI Usage | Bias</vt:lpstr>
      <vt:lpstr>Responsible AI Usage | Limitations</vt:lpstr>
      <vt:lpstr>Responsible AI Usage | Hallucinations</vt:lpstr>
      <vt:lpstr>Responsible AI Usage | Hallucinations</vt:lpstr>
      <vt:lpstr>Responsible AI Usage | Security Considerations</vt:lpstr>
      <vt:lpstr>Responsible AI Usage | Security Considerations</vt:lpstr>
      <vt:lpstr>PowerPoint Presentation</vt:lpstr>
      <vt:lpstr>Tokens</vt:lpstr>
      <vt:lpstr>Models</vt:lpstr>
      <vt:lpstr>Cost Management</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15</cp:revision>
  <cp:lastPrinted>2016-06-20T20:58:50Z</cp:lastPrinted>
  <dcterms:created xsi:type="dcterms:W3CDTF">2016-11-09T18:19:08Z</dcterms:created>
  <dcterms:modified xsi:type="dcterms:W3CDTF">2026-07-21T17:29:38Z</dcterms:modified>
</cp:coreProperties>
</file>