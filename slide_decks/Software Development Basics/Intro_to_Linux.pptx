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8"/>
  </p:notesMasterIdLst>
  <p:sldIdLst>
    <p:sldId id="256" r:id="rId2"/>
    <p:sldId id="294" r:id="rId3"/>
    <p:sldId id="293" r:id="rId4"/>
    <p:sldId id="284" r:id="rId5"/>
    <p:sldId id="290" r:id="rId6"/>
    <p:sldId id="285" r:id="rId7"/>
    <p:sldId id="286" r:id="rId8"/>
    <p:sldId id="287" r:id="rId9"/>
    <p:sldId id="291" r:id="rId10"/>
    <p:sldId id="295" r:id="rId11"/>
    <p:sldId id="289" r:id="rId12"/>
    <p:sldId id="298" r:id="rId13"/>
    <p:sldId id="299" r:id="rId14"/>
    <p:sldId id="296" r:id="rId15"/>
    <p:sldId id="297" r:id="rId16"/>
    <p:sldId id="304" r:id="rId17"/>
    <p:sldId id="305" r:id="rId18"/>
    <p:sldId id="300" r:id="rId19"/>
    <p:sldId id="301" r:id="rId20"/>
    <p:sldId id="306" r:id="rId21"/>
    <p:sldId id="307" r:id="rId22"/>
    <p:sldId id="302" r:id="rId23"/>
    <p:sldId id="303" r:id="rId24"/>
    <p:sldId id="308" r:id="rId25"/>
    <p:sldId id="309" r:id="rId26"/>
    <p:sldId id="310" r:id="rId2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90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5139" autoAdjust="0"/>
  </p:normalViewPr>
  <p:slideViewPr>
    <p:cSldViewPr snapToGrid="0">
      <p:cViewPr varScale="1">
        <p:scale>
          <a:sx n="69" d="100"/>
          <a:sy n="69" d="100"/>
        </p:scale>
        <p:origin x="1440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3" d="2"/>
        <a:sy n="3" d="2"/>
      </p:scale>
      <p:origin x="-6" y="-18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1E336-FA77-4937-9F43-09B79C1702B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3CEE16-B673-4D07-B4A7-401FE2B4F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8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CEE16-B673-4D07-B4A7-401FE2B4F98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62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9271A-D0BF-ABA7-C83C-7907D17E2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B76BE-545F-DBAF-A749-C1236FBE8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54139-1DF1-6854-F837-E622C00D8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016FA-D53C-3EAE-3769-1B3DF1F27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CEE16-B673-4D07-B4A7-401FE2B4F98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736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CEE16-B673-4D07-B4A7-401FE2B4F98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70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CEE16-B673-4D07-B4A7-401FE2B4F98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16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2DC7-3F0A-4899-A812-183445288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176" y="320634"/>
            <a:ext cx="7282849" cy="2543545"/>
          </a:xfrm>
        </p:spPr>
        <p:txBody>
          <a:bodyPr/>
          <a:lstStyle/>
          <a:p>
            <a:r>
              <a:rPr lang="en-US" dirty="0"/>
              <a:t>Introduction to Linux</a:t>
            </a:r>
          </a:p>
        </p:txBody>
      </p:sp>
    </p:spTree>
    <p:extLst>
      <p:ext uri="{BB962C8B-B14F-4D97-AF65-F5344CB8AC3E}">
        <p14:creationId xmlns:p14="http://schemas.microsoft.com/office/powerpoint/2010/main" val="3178709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C5539-B454-A9E2-5FAB-5587E0510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94DAC-4C24-0A17-0BF3-AD33EBE7F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Linux</a:t>
            </a:r>
          </a:p>
          <a:p>
            <a:r>
              <a:rPr lang="en-US" dirty="0"/>
              <a:t>Common Bash Commands</a:t>
            </a:r>
          </a:p>
          <a:p>
            <a:r>
              <a:rPr lang="en-US" dirty="0"/>
              <a:t>Creating &amp; Editing Files</a:t>
            </a:r>
          </a:p>
          <a:p>
            <a:r>
              <a:rPr lang="en-US" dirty="0"/>
              <a:t>Shell Scripting Fundamentals</a:t>
            </a:r>
          </a:p>
          <a:p>
            <a:r>
              <a:rPr lang="en-US" dirty="0"/>
              <a:t>Linux Package Management Basics</a:t>
            </a:r>
          </a:p>
          <a:p>
            <a:r>
              <a:rPr lang="en-US" dirty="0"/>
              <a:t>Changing Permissions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532F5-A872-513A-3B2B-2431883C2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12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10950-BD92-FBE4-3F8E-7C292015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68C0C1-4718-5C6F-A06D-38734C3FA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F1CA5A06-D1FF-31EA-FEEC-A013B57466BE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133350" y="2708694"/>
            <a:ext cx="8850313" cy="3425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Introduction to Linux</a:t>
            </a:r>
          </a:p>
        </p:txBody>
      </p:sp>
    </p:spTree>
    <p:extLst>
      <p:ext uri="{BB962C8B-B14F-4D97-AF65-F5344CB8AC3E}">
        <p14:creationId xmlns:p14="http://schemas.microsoft.com/office/powerpoint/2010/main" val="2837629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9FC0C-CA28-4D28-9267-BEABBA809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83E40-B46D-48B7-AC2E-A9CC19326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083257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Linux is a free, open-source operating system kernel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Released by Linux Torvalds in 1991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Unlike Windows or macOS, Linux is 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open-source</a:t>
            </a:r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+mj-lt"/>
                <a:cs typeface="Courier New" panose="02070309020205020404" pitchFamily="49" charset="0"/>
              </a:rPr>
              <a:t>Open Source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Source code is open for anyone to view, modify, and/or distribute.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A 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distribution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(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distro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 is a complete operating system built around the Linux kernel, bundled with additional software, tools, and a package manager.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Common distros: Ubuntu, Debian, CentOS/RHEL (Red Hat Enterprise Linux), Fedora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Linux is the dominant OS for servers, cloud infrastructure and embedded systems.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The 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shell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is a program that lets you interact with the operating system using text commands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Common shell: 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bash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(Bourne Again Shell)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The Terminal is the application window where you type commands to be interpreted by the shell</a:t>
            </a:r>
          </a:p>
          <a:p>
            <a:endParaRPr lang="en-US" b="1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2910D-715F-4461-AE42-C21F46D8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61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0E985-B749-2C43-6404-FA106E0B5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86841-3CE0-6F94-F34D-F0AA875B7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BASH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F1B47-A5B8-6466-2656-18A331BDE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Print working directory</a:t>
            </a:r>
          </a:p>
          <a:p>
            <a:pPr lvl="1"/>
            <a:r>
              <a:rPr lang="en-US" dirty="0"/>
              <a:t>Prints the full name of the directory you are currently working in.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</a:p>
          <a:p>
            <a:pPr lvl="1"/>
            <a:r>
              <a:rPr lang="en-US" dirty="0"/>
              <a:t>list directory</a:t>
            </a:r>
          </a:p>
          <a:p>
            <a:pPr lvl="1"/>
            <a:r>
              <a:rPr lang="en-US" dirty="0"/>
              <a:t>see the contents of a particular directory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 -l</a:t>
            </a:r>
            <a:r>
              <a:rPr lang="en-US" dirty="0"/>
              <a:t> (long format) lists all details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 –a</a:t>
            </a:r>
            <a:r>
              <a:rPr lang="en-US" dirty="0"/>
              <a:t> lists all hidden files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</a:p>
          <a:p>
            <a:pPr lvl="1"/>
            <a:r>
              <a:rPr lang="en-US" dirty="0"/>
              <a:t>change directory</a:t>
            </a:r>
          </a:p>
          <a:p>
            <a:pPr lvl="1"/>
            <a:r>
              <a:rPr lang="en-US" dirty="0"/>
              <a:t>Moves terminal to a new directory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cd ..</a:t>
            </a:r>
            <a:r>
              <a:rPr lang="en-US" dirty="0"/>
              <a:t> Moves one level up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cd ~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lang="en-US" dirty="0"/>
              <a:t> move the current home directory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make directory </a:t>
            </a:r>
          </a:p>
          <a:p>
            <a:pPr lvl="1"/>
            <a:r>
              <a:rPr lang="en-US" dirty="0"/>
              <a:t>Create a new folder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rmdir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Remove directory</a:t>
            </a:r>
          </a:p>
          <a:p>
            <a:pPr lvl="1"/>
            <a:r>
              <a:rPr lang="en-US" dirty="0"/>
              <a:t>Deletes an </a:t>
            </a:r>
            <a:r>
              <a:rPr lang="en-US" i="1" dirty="0"/>
              <a:t>empty</a:t>
            </a:r>
            <a:r>
              <a:rPr lang="en-US" dirty="0"/>
              <a:t> folder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EEE3B-FF0C-0C7D-AF10-E095CC2F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60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46D7-262F-4BAF-A42C-891622720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BASH Commands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B6C19-6EF0-45E1-81D0-FAD56944E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135922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clear</a:t>
            </a:r>
            <a:r>
              <a:rPr lang="en-US" sz="2400" dirty="0"/>
              <a:t> </a:t>
            </a:r>
          </a:p>
          <a:p>
            <a:pPr lvl="1"/>
            <a:r>
              <a:rPr lang="en-US" sz="1600" dirty="0"/>
              <a:t>the clear command usually prints several blank lines such that all previous commands are no longer on the screen.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en-US" sz="2400" dirty="0"/>
              <a:t>  </a:t>
            </a:r>
          </a:p>
          <a:p>
            <a:pPr lvl="1"/>
            <a:r>
              <a:rPr lang="en-US" sz="1600" dirty="0"/>
              <a:t>the echo command will print a string or the result of a command to the console.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lvl="1"/>
            <a:r>
              <a:rPr lang="en-US" sz="1600" dirty="0"/>
              <a:t>The &gt; operator will redirect the output of a command to a file. The file will be created or overwritten if it already exists. </a:t>
            </a:r>
          </a:p>
          <a:p>
            <a:pPr lvl="1"/>
            <a:r>
              <a:rPr lang="en-US" sz="1600" dirty="0"/>
              <a:t>ex.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ls . &gt; log.txt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 </a:t>
            </a:r>
          </a:p>
          <a:p>
            <a:pPr lvl="1"/>
            <a:r>
              <a:rPr lang="en-US" sz="1600" dirty="0"/>
              <a:t> The &gt;&gt; operator acts the same way as the &gt; operator but appends output to the file instead of overwriting if it exists.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grep </a:t>
            </a:r>
          </a:p>
          <a:p>
            <a:pPr lvl="1"/>
            <a:r>
              <a:rPr lang="en-US" sz="1600" dirty="0"/>
              <a:t>The grep command prints any lines in a file or files that match a given pattern. By default, grep interprets the pattern as a basic regular expression.</a:t>
            </a:r>
          </a:p>
          <a:p>
            <a:pPr lvl="1"/>
            <a:r>
              <a:rPr lang="en-US" sz="1600" dirty="0"/>
              <a:t>Print all lines in hello.txt that contain the word goodbye: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grep goodbye hello.txt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EDF49-F74B-4AF2-8FC7-DFE8E255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66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EC2-3FE2-4A62-BD3B-C8E23A4E3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BASH Commands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221C7-8775-4970-8CBA-84DA2FCD0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</a:p>
          <a:p>
            <a:pPr lvl="1"/>
            <a:r>
              <a:rPr lang="en-US" dirty="0"/>
              <a:t>the concatenate command prints the contents of a file to the console.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cat hello.txt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</a:p>
          <a:p>
            <a:pPr lvl="1"/>
            <a:r>
              <a:rPr lang="en-US" dirty="0"/>
              <a:t>the head command prints the first ten lines of a file to the console.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head hello.txt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tail</a:t>
            </a:r>
          </a:p>
          <a:p>
            <a:pPr lvl="1"/>
            <a:r>
              <a:rPr lang="en-US" dirty="0"/>
              <a:t>the tail command prints the last ten lines of a file to the console.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tail hello.txt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touch</a:t>
            </a:r>
          </a:p>
          <a:p>
            <a:pPr lvl="1"/>
            <a:r>
              <a:rPr lang="en-US" dirty="0"/>
              <a:t>the touch command allows you to modify the timestamp of a file. This command is usually used to create empty files, as an empty file is created if touch is given a file name that does not exist.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touch hello.txt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63049-06B3-49D9-8665-FDAE541C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14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C758-8B48-40AF-A3A4-FB6FF3D4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BASH Commands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C8E02-07DA-444B-948B-93D7E9D5C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959"/>
            <a:ext cx="8383980" cy="5246878"/>
          </a:xfrm>
        </p:spPr>
        <p:txBody>
          <a:bodyPr>
            <a:normAutofit fontScale="32500" lnSpcReduction="20000"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·"/>
            </a:pPr>
            <a:r>
              <a:rPr lang="en-US" sz="8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cp</a:t>
            </a:r>
            <a:endParaRPr lang="en-US" sz="112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n-US" sz="4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the copy command creates a copy of the specified file at the location specified. If the recursive </a:t>
            </a:r>
            <a:r>
              <a:rPr lang="en-US" sz="48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fl</a:t>
            </a:r>
            <a:r>
              <a:rPr lang="en-US" sz="4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ag ( </a:t>
            </a:r>
            <a:r>
              <a:rPr lang="en-US" sz="4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-r</a:t>
            </a:r>
            <a:r>
              <a:rPr lang="en-US" sz="4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) is used, it will operate on directories. </a:t>
            </a:r>
            <a:endParaRPr lang="en-US" sz="4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	- copy a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hello.txt</a:t>
            </a: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goodbye.txt:</a:t>
            </a: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cp hello.txt goodbye.txt </a:t>
            </a:r>
            <a:endParaRPr lang="en-US" sz="55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	- copy the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</a:t>
            </a: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directory to the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</a:t>
            </a: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directory: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cp -r </a:t>
            </a:r>
            <a:r>
              <a:rPr lang="en-US" sz="55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B</a:t>
            </a:r>
            <a:endParaRPr lang="en-US" sz="55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·"/>
            </a:pPr>
            <a:r>
              <a:rPr lang="en-US" sz="8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mv</a:t>
            </a:r>
            <a:endParaRPr lang="en-US" sz="112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n-US" sz="4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the move command will rename or move a file or entire directory with the recursive flag. </a:t>
            </a:r>
            <a:endParaRPr lang="en-US" sz="44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rename a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hello.txt</a:t>
            </a: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goodbye.txt: mv hello.txt goodbye.txt</a:t>
            </a: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8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move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hello.txt</a:t>
            </a: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</a:t>
            </a: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directory: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mv hello.txt B/. </a:t>
            </a:r>
            <a:endParaRPr lang="en-US" sz="55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rename the </a:t>
            </a:r>
            <a:r>
              <a:rPr lang="en-US" sz="55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</a:t>
            </a: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directory to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C: mv -r A C</a:t>
            </a:r>
            <a:endParaRPr lang="en-US" sz="55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·"/>
            </a:pPr>
            <a:r>
              <a:rPr lang="en-US" sz="8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rm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n-US" sz="4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the remove command will delete a file. If you use the recursive flag, it can delete a directory. The force flag ( -f) will cause the command to delete files without prompting the user if there are warnings. The command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rm -rf</a:t>
            </a:r>
            <a:r>
              <a:rPr lang="en-US" sz="32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lang="en-US" sz="4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is extremely dangerous.</a:t>
            </a:r>
            <a:endParaRPr lang="en-US" sz="44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remove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hello.txt: rm hello.txt </a:t>
            </a:r>
            <a:endParaRPr lang="en-US" sz="55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remove the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hello</a:t>
            </a:r>
            <a:r>
              <a:rPr lang="en-US" sz="5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directory: </a:t>
            </a:r>
            <a:r>
              <a:rPr lang="en-US" sz="5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rm -r hello</a:t>
            </a:r>
            <a:endParaRPr lang="en-US" sz="55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0CB27-D824-4F43-A9C3-70536DAC9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74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B055F-E80C-7826-8CCF-22F21345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DCE0E-E1C4-91AF-D3EC-57BE5551D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help with the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CD997-85D6-0C15-0724-C5DB7CAE6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man</a:t>
            </a:r>
            <a:r>
              <a:rPr lang="en-US" sz="3600" i="1" dirty="0"/>
              <a:t> (manual) </a:t>
            </a:r>
            <a:r>
              <a:rPr lang="en-US" sz="3600" dirty="0"/>
              <a:t>command in </a:t>
            </a:r>
            <a:r>
              <a:rPr lang="en-US" sz="3600" dirty="0" err="1"/>
              <a:t>unix</a:t>
            </a:r>
            <a:r>
              <a:rPr lang="en-US" sz="3600" dirty="0"/>
              <a:t> displays helpful information about the command. </a:t>
            </a:r>
          </a:p>
          <a:p>
            <a:pPr lvl="1"/>
            <a:r>
              <a:rPr lang="en-US" sz="3200" dirty="0"/>
              <a:t>Note that Git bash uses the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--help </a:t>
            </a:r>
            <a:r>
              <a:rPr lang="en-US" sz="3200" dirty="0"/>
              <a:t>flag in lieu of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man</a:t>
            </a:r>
            <a:r>
              <a:rPr lang="en-US" sz="3200" dirty="0"/>
              <a:t> command.</a:t>
            </a:r>
          </a:p>
          <a:p>
            <a:pPr lvl="1"/>
            <a:r>
              <a:rPr lang="en-US" sz="3200" dirty="0" err="1"/>
              <a:t>unix</a:t>
            </a:r>
            <a:r>
              <a:rPr lang="en-US" sz="3200" dirty="0"/>
              <a:t>: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man</a:t>
            </a:r>
            <a:r>
              <a:rPr lang="en-US" sz="3200" dirty="0"/>
              <a:t> &lt;command&gt;</a:t>
            </a:r>
          </a:p>
          <a:p>
            <a:pPr lvl="2"/>
            <a:r>
              <a:rPr lang="en-US" sz="2800" dirty="0"/>
              <a:t>i.e.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man cat</a:t>
            </a:r>
          </a:p>
          <a:p>
            <a:pPr lvl="1"/>
            <a:r>
              <a:rPr lang="en-US" sz="3200" i="1" dirty="0" err="1"/>
              <a:t>Gitbash</a:t>
            </a:r>
            <a:r>
              <a:rPr lang="en-US" sz="3200" i="1" dirty="0"/>
              <a:t>: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&lt;command&gt;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--help</a:t>
            </a:r>
          </a:p>
          <a:p>
            <a:pPr lvl="2"/>
            <a:r>
              <a:rPr lang="en-US" sz="2800" dirty="0"/>
              <a:t>i.e.</a:t>
            </a:r>
            <a:r>
              <a:rPr lang="en-US" sz="2800" i="1" dirty="0"/>
              <a:t>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cat --help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6C4AF-8F04-B952-9422-47E695B3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67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90D51-F853-021B-7555-B2DB5369F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E9F134-0183-6398-A2ED-BC003C06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D5966EAC-5EF7-E371-1BFD-A7DF17B6BA0F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133350" y="2708694"/>
            <a:ext cx="8850313" cy="3425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Creating Files with Linux</a:t>
            </a:r>
          </a:p>
        </p:txBody>
      </p:sp>
    </p:spTree>
    <p:extLst>
      <p:ext uri="{BB962C8B-B14F-4D97-AF65-F5344CB8AC3E}">
        <p14:creationId xmlns:p14="http://schemas.microsoft.com/office/powerpoint/2010/main" val="1458471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CBA8C-DE55-48D4-93DA-589540199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20CC8-C474-4806-B7AB-A82B1EEC0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As previously discussed the commands ‘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sz="3600" dirty="0"/>
              <a:t>’ and ‘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touch</a:t>
            </a:r>
            <a:r>
              <a:rPr lang="en-US" sz="3600" dirty="0"/>
              <a:t>’ can be used to create files.</a:t>
            </a:r>
          </a:p>
          <a:p>
            <a:r>
              <a:rPr lang="en-US" sz="3600" dirty="0"/>
              <a:t>You can combine commands with redirection commands(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3600" dirty="0"/>
              <a:t> and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3600" dirty="0"/>
              <a:t>):</a:t>
            </a:r>
          </a:p>
          <a:p>
            <a:pPr lvl="1"/>
            <a:r>
              <a:rPr lang="en-US" sz="2800" dirty="0"/>
              <a:t>Ex: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cat &gt; hello.txt </a:t>
            </a:r>
            <a:r>
              <a:rPr lang="en-US" sz="2800" dirty="0"/>
              <a:t>(use Ctrl + D to save + exit)</a:t>
            </a:r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2E19A-B8B9-4FDF-AB1D-F5610F904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5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23CF8-BE25-FF96-9C4F-E79F19A1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714AB-AF09-B025-0D89-D79533A3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Editors | nano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88A3A-4F81-1539-D4FF-538C0EB55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2072637"/>
          </a:xfrm>
        </p:spPr>
        <p:txBody>
          <a:bodyPr>
            <a:normAutofit fontScale="77500" lnSpcReduction="20000"/>
          </a:bodyPr>
          <a:lstStyle/>
          <a:p>
            <a:r>
              <a:rPr lang="en-US" sz="3600" dirty="0"/>
              <a:t>The commands ‘nano’ and ‘vim’ can be used to open and use text editor tools.</a:t>
            </a:r>
          </a:p>
          <a:p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nano</a:t>
            </a:r>
            <a:r>
              <a:rPr lang="en-US" sz="3600" dirty="0"/>
              <a:t>: a simple, beginner-friendly terminal text editor; </a:t>
            </a:r>
          </a:p>
          <a:p>
            <a:pPr lvl="1"/>
            <a:r>
              <a:rPr lang="en-US" sz="3200" dirty="0"/>
              <a:t>on-screen shortcuts makes it easier to learn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6AB26-5DF8-F865-4A7A-DD4F6FE75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664DE9-11D2-81C4-FC2B-0F1D5B623DC7}"/>
              </a:ext>
            </a:extLst>
          </p:cNvPr>
          <p:cNvSpPr/>
          <p:nvPr/>
        </p:nvSpPr>
        <p:spPr>
          <a:xfrm>
            <a:off x="1630392" y="3648974"/>
            <a:ext cx="5883215" cy="2182483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nano</a:t>
            </a:r>
            <a:r>
              <a:rPr lang="en-US" dirty="0"/>
              <a:t> notes.txt</a:t>
            </a:r>
          </a:p>
          <a:p>
            <a:r>
              <a:rPr lang="en-US" dirty="0">
                <a:solidFill>
                  <a:srgbClr val="62906A"/>
                </a:solidFill>
              </a:rPr>
              <a:t># Inside nano:</a:t>
            </a:r>
          </a:p>
          <a:p>
            <a:r>
              <a:rPr lang="en-US" dirty="0">
                <a:solidFill>
                  <a:srgbClr val="62906A"/>
                </a:solidFill>
              </a:rPr>
              <a:t># 	Type to add content</a:t>
            </a:r>
          </a:p>
          <a:p>
            <a:r>
              <a:rPr lang="en-US" dirty="0">
                <a:solidFill>
                  <a:srgbClr val="62906A"/>
                </a:solidFill>
              </a:rPr>
              <a:t>#	</a:t>
            </a:r>
            <a:r>
              <a:rPr lang="en-US" dirty="0" err="1">
                <a:solidFill>
                  <a:srgbClr val="62906A"/>
                </a:solidFill>
              </a:rPr>
              <a:t>Ctrl+O</a:t>
            </a:r>
            <a:r>
              <a:rPr lang="en-US" dirty="0">
                <a:solidFill>
                  <a:srgbClr val="62906A"/>
                </a:solidFill>
              </a:rPr>
              <a:t> then Enter: Save (write out)</a:t>
            </a:r>
          </a:p>
          <a:p>
            <a:r>
              <a:rPr lang="en-US" dirty="0">
                <a:solidFill>
                  <a:srgbClr val="62906A"/>
                </a:solidFill>
              </a:rPr>
              <a:t>#	</a:t>
            </a:r>
            <a:r>
              <a:rPr lang="en-US" dirty="0" err="1">
                <a:solidFill>
                  <a:srgbClr val="62906A"/>
                </a:solidFill>
              </a:rPr>
              <a:t>Ctrl+X</a:t>
            </a:r>
            <a:r>
              <a:rPr lang="en-US" dirty="0">
                <a:solidFill>
                  <a:srgbClr val="62906A"/>
                </a:solidFill>
              </a:rPr>
              <a:t>: exit</a:t>
            </a:r>
          </a:p>
          <a:p>
            <a:r>
              <a:rPr lang="en-US" dirty="0">
                <a:solidFill>
                  <a:srgbClr val="62906A"/>
                </a:solidFill>
              </a:rPr>
              <a:t>#	</a:t>
            </a:r>
            <a:r>
              <a:rPr lang="en-US" dirty="0" err="1">
                <a:solidFill>
                  <a:srgbClr val="62906A"/>
                </a:solidFill>
              </a:rPr>
              <a:t>Ctrl+K</a:t>
            </a:r>
            <a:r>
              <a:rPr lang="en-US" dirty="0">
                <a:solidFill>
                  <a:srgbClr val="62906A"/>
                </a:solidFill>
              </a:rPr>
              <a:t>: cut a line</a:t>
            </a:r>
          </a:p>
          <a:p>
            <a:r>
              <a:rPr lang="en-US" dirty="0">
                <a:solidFill>
                  <a:srgbClr val="62906A"/>
                </a:solidFill>
              </a:rPr>
              <a:t>#	</a:t>
            </a:r>
            <a:r>
              <a:rPr lang="en-US" dirty="0" err="1">
                <a:solidFill>
                  <a:srgbClr val="62906A"/>
                </a:solidFill>
              </a:rPr>
              <a:t>Ctrl+U</a:t>
            </a:r>
            <a:r>
              <a:rPr lang="en-US" dirty="0">
                <a:solidFill>
                  <a:srgbClr val="62906A"/>
                </a:solidFill>
              </a:rPr>
              <a:t>: paste a line</a:t>
            </a:r>
          </a:p>
          <a:p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88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7E415-7A6D-F6E7-30A5-3766B4BDC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85682-84D0-4BE1-5DB1-6B3D6CC2E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Editors | vim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53834-FFF8-6E14-BA88-DACBABA45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1434282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vim</a:t>
            </a:r>
            <a:r>
              <a:rPr lang="en-US" sz="3600" dirty="0"/>
              <a:t>: a more powerful, modal text editor with a steeper learning curve.’</a:t>
            </a:r>
          </a:p>
          <a:p>
            <a:pPr lvl="1"/>
            <a:r>
              <a:rPr lang="en-US" dirty="0"/>
              <a:t>More common with more experienced developers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EDC0B-666D-F70F-7A92-70E243F2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D60FE0-AF41-0AA2-ACD2-B561D9565B4A}"/>
              </a:ext>
            </a:extLst>
          </p:cNvPr>
          <p:cNvSpPr/>
          <p:nvPr/>
        </p:nvSpPr>
        <p:spPr>
          <a:xfrm>
            <a:off x="323714" y="3177976"/>
            <a:ext cx="8496571" cy="2708695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vim</a:t>
            </a:r>
            <a:r>
              <a:rPr lang="en-US" dirty="0"/>
              <a:t> notes.txt</a:t>
            </a:r>
          </a:p>
          <a:p>
            <a:r>
              <a:rPr lang="en-US" dirty="0">
                <a:solidFill>
                  <a:srgbClr val="62906A"/>
                </a:solidFill>
              </a:rPr>
              <a:t># Inside vim:</a:t>
            </a:r>
          </a:p>
          <a:p>
            <a:r>
              <a:rPr lang="en-US" dirty="0">
                <a:solidFill>
                  <a:srgbClr val="62906A"/>
                </a:solidFill>
              </a:rPr>
              <a:t>#    Starts in NORMAL mode (you cannot type yet)</a:t>
            </a:r>
          </a:p>
          <a:p>
            <a:r>
              <a:rPr lang="en-US" dirty="0">
                <a:solidFill>
                  <a:srgbClr val="62906A"/>
                </a:solidFill>
              </a:rPr>
              <a:t>#    Press '</a:t>
            </a:r>
            <a:r>
              <a:rPr lang="en-US" dirty="0" err="1">
                <a:solidFill>
                  <a:srgbClr val="62906A"/>
                </a:solidFill>
              </a:rPr>
              <a:t>i</a:t>
            </a:r>
            <a:r>
              <a:rPr lang="en-US" dirty="0">
                <a:solidFill>
                  <a:srgbClr val="62906A"/>
                </a:solidFill>
              </a:rPr>
              <a:t>' to enter INSERT mode and begin typing</a:t>
            </a:r>
          </a:p>
          <a:p>
            <a:r>
              <a:rPr lang="en-US" dirty="0">
                <a:solidFill>
                  <a:srgbClr val="62906A"/>
                </a:solidFill>
              </a:rPr>
              <a:t>#    Press 'Esc' to return to NORMAL mode when done typing</a:t>
            </a:r>
          </a:p>
          <a:p>
            <a:r>
              <a:rPr lang="en-US" dirty="0">
                <a:solidFill>
                  <a:srgbClr val="62906A"/>
                </a:solidFill>
              </a:rPr>
              <a:t>#    Type ':w' and press Enter to save</a:t>
            </a:r>
          </a:p>
          <a:p>
            <a:r>
              <a:rPr lang="en-US" dirty="0">
                <a:solidFill>
                  <a:srgbClr val="62906A"/>
                </a:solidFill>
              </a:rPr>
              <a:t>#    Type ':q' and press Enter to quit (only works if there are no unsaved changes)</a:t>
            </a:r>
          </a:p>
          <a:p>
            <a:r>
              <a:rPr lang="en-US" dirty="0">
                <a:solidFill>
                  <a:srgbClr val="62906A"/>
                </a:solidFill>
              </a:rPr>
              <a:t>#    Type ':</a:t>
            </a:r>
            <a:r>
              <a:rPr lang="en-US" dirty="0" err="1">
                <a:solidFill>
                  <a:srgbClr val="62906A"/>
                </a:solidFill>
              </a:rPr>
              <a:t>wq</a:t>
            </a:r>
            <a:r>
              <a:rPr lang="en-US" dirty="0">
                <a:solidFill>
                  <a:srgbClr val="62906A"/>
                </a:solidFill>
              </a:rPr>
              <a:t>' and press Enter to save AND quit in one step</a:t>
            </a:r>
          </a:p>
          <a:p>
            <a:r>
              <a:rPr lang="en-US" dirty="0">
                <a:solidFill>
                  <a:srgbClr val="62906A"/>
                </a:solidFill>
              </a:rPr>
              <a:t>#    Type ':q!' to quit WITHOUT saving, discarding any changes (use with care)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42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843BE-EAAE-5CA8-7BFF-5CE1D424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5A0374-3180-EC95-81B4-9CA84CA9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3A3BCCD8-7D81-3996-0BC4-C902C57E669E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133350" y="2708694"/>
            <a:ext cx="8850313" cy="3425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Shell Scripting Fundamentals</a:t>
            </a:r>
          </a:p>
        </p:txBody>
      </p:sp>
    </p:spTree>
    <p:extLst>
      <p:ext uri="{BB962C8B-B14F-4D97-AF65-F5344CB8AC3E}">
        <p14:creationId xmlns:p14="http://schemas.microsoft.com/office/powerpoint/2010/main" val="1805371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7E474-C9D4-4372-2C32-6F2AD728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CF7B9-DE34-CBFE-C281-CF8FC11ED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Scripting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BC6EA-3D2E-4FB2-0841-F320A5FB2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3600" dirty="0"/>
              <a:t>Scripting in shell means you write a sequence of commands into a file so they can be run together, instead of typing them one at a time.</a:t>
            </a:r>
          </a:p>
          <a:p>
            <a:r>
              <a:rPr lang="en-US" sz="3600" dirty="0"/>
              <a:t>Every bash script should start with a </a:t>
            </a:r>
            <a:r>
              <a:rPr lang="en-US" sz="3600" b="1" dirty="0"/>
              <a:t>shebang</a:t>
            </a:r>
            <a:r>
              <a:rPr lang="en-US" sz="3600" dirty="0"/>
              <a:t> line: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#!/bin/bash</a:t>
            </a:r>
          </a:p>
          <a:p>
            <a:r>
              <a:rPr lang="en-US" sz="3200" dirty="0"/>
              <a:t>You will likely use a text editor (nano or vim) to write the script’s contents</a:t>
            </a:r>
          </a:p>
          <a:p>
            <a:r>
              <a:rPr lang="en-US" sz="3200" dirty="0"/>
              <a:t>The file should be saved with the ‘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r>
              <a:rPr lang="en-US" sz="3200" dirty="0"/>
              <a:t>’ extension</a:t>
            </a:r>
          </a:p>
          <a:p>
            <a:pPr lvl="1"/>
            <a:r>
              <a:rPr lang="en-US" sz="2800" dirty="0"/>
              <a:t>Ex: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backup.sh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5F005-5FAB-3170-056B-5BA31447A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89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DB5D4-F1FB-E9D5-5989-81E8EB452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536BD-4902-8A4C-FA56-A69A6A118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063D6-A14D-B314-1F7E-826D53F35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Run the script by calling the script name: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You can run the script using the bash command: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bash scriptname.sh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Alternatively, You can make the script executable using the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chmod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’ command (more on permissions later):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chmod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[who]+x scriptname.sh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An executable script can be executed by calling the script directly.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./scriptname.sh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(note: the ‘./’ tells shell to look in the current directory)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033E2-D88D-FD10-1709-818B6C01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46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04FB8-8E10-A0FA-B09C-F0C198670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EAB93-A63E-9924-8B37-D14ECC622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script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692F2-D9A2-E898-5DF0-F0BCC0CA1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3600" dirty="0"/>
              <a:t>Passing Arguments into a script: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$1, $2, $3, etc…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- refer to the first, second, third, etc… arguments passed 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$0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- refers to the name of the script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$#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- the number of arguments passed in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$@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- all arguments passed in, as a list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Logical operators: Let scripts make decisions and chain commands together: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&amp;&amp;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- runs the next command 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only if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the previous one succeeded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||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- runs the next command 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only if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the previous one failed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- negates a condition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Conditions are typically tested using square brackets: </a:t>
            </a:r>
          </a:p>
          <a:p>
            <a:pPr lvl="2"/>
            <a:r>
              <a:rPr lang="en-US" dirty="0">
                <a:latin typeface="+mj-lt"/>
                <a:cs typeface="Courier New" panose="02070309020205020404" pitchFamily="49" charset="0"/>
              </a:rPr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[ “$1” == “start” ]; then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871EB-E5FF-68AE-3B5A-FE8674F1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60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1AE82-D1E2-4535-5AAF-B2DCB6464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9E14CB-86E6-DE6A-B74E-CDFCCFAB4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C9F728AE-BD3A-2C93-D859-BB7B84DDF3A2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133350" y="2708694"/>
            <a:ext cx="8850313" cy="3425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Linux Package Management</a:t>
            </a:r>
          </a:p>
        </p:txBody>
      </p:sp>
    </p:spTree>
    <p:extLst>
      <p:ext uri="{BB962C8B-B14F-4D97-AF65-F5344CB8AC3E}">
        <p14:creationId xmlns:p14="http://schemas.microsoft.com/office/powerpoint/2010/main" val="3543453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BBFD1-F0B7-BD43-0CB9-50A39972B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850D8-FA09-89ED-DBCF-F0B9FAAA2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Managers |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C299A-6580-E2C0-8510-3EDB99A23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600" dirty="0"/>
              <a:t>A </a:t>
            </a:r>
            <a:r>
              <a:rPr lang="en-US" sz="3600" b="1" dirty="0"/>
              <a:t>package manager</a:t>
            </a:r>
            <a:r>
              <a:rPr lang="en-US" sz="3600" dirty="0"/>
              <a:t> is a tool that automates installing, updating and removing software on a system</a:t>
            </a:r>
          </a:p>
          <a:p>
            <a:r>
              <a:rPr lang="en-US" sz="3600" dirty="0"/>
              <a:t>Without a package manager, developers must manually download, compile and configure software and it’s dependencies</a:t>
            </a:r>
          </a:p>
          <a:p>
            <a:pPr lvl="1"/>
            <a:r>
              <a:rPr lang="en-US" sz="2800" dirty="0"/>
              <a:t>Dependencies: software that is required for other software to work</a:t>
            </a:r>
          </a:p>
          <a:p>
            <a:r>
              <a:rPr lang="en-US" sz="3200" dirty="0"/>
              <a:t>Package managers keep track of dependencies automatically, so installing one piece of software also installs whatever else it needs to run correctly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297F5-18C4-A3ED-2E0A-666C996E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22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A2AF1-D902-96CF-77A6-DC2BAB132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C45E5-7861-0CED-2409-FE795B33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Managers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32B5B-576E-11E0-EA85-BF63B484D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3600" dirty="0"/>
              <a:t>Different distros and operating systems use different package managers:</a:t>
            </a:r>
          </a:p>
          <a:p>
            <a:pPr lvl="1"/>
            <a:r>
              <a:rPr lang="en-US" b="1" dirty="0"/>
              <a:t>apt</a:t>
            </a:r>
            <a:r>
              <a:rPr lang="en-US" sz="2800" dirty="0"/>
              <a:t> (Advanced Package Tool) — used on </a:t>
            </a:r>
            <a:r>
              <a:rPr lang="en-US" sz="2800" b="1" dirty="0"/>
              <a:t>Debian-based</a:t>
            </a:r>
            <a:r>
              <a:rPr lang="en-US" sz="2800" dirty="0"/>
              <a:t> distros, including </a:t>
            </a:r>
            <a:r>
              <a:rPr lang="en-US" sz="2800" b="1" dirty="0"/>
              <a:t>Ubuntu</a:t>
            </a:r>
            <a:r>
              <a:rPr lang="en-US" sz="2800" dirty="0"/>
              <a:t> </a:t>
            </a:r>
          </a:p>
          <a:p>
            <a:pPr lvl="1"/>
            <a:r>
              <a:rPr lang="en-US" b="1" dirty="0"/>
              <a:t>yum</a:t>
            </a:r>
            <a:r>
              <a:rPr lang="en-US" sz="2800" dirty="0"/>
              <a:t> (</a:t>
            </a:r>
            <a:r>
              <a:rPr lang="en-US" sz="2800" dirty="0" err="1"/>
              <a:t>Yellowdog</a:t>
            </a:r>
            <a:r>
              <a:rPr lang="en-US" sz="2800" dirty="0"/>
              <a:t> Updater, Modified) — used on older </a:t>
            </a:r>
            <a:r>
              <a:rPr lang="en-US" sz="2800" b="1" dirty="0"/>
              <a:t>Red Hat-based</a:t>
            </a:r>
            <a:r>
              <a:rPr lang="en-US" sz="2800" dirty="0"/>
              <a:t> distros, including </a:t>
            </a:r>
            <a:r>
              <a:rPr lang="en-US" sz="2800" b="1" dirty="0"/>
              <a:t>CentOS</a:t>
            </a:r>
            <a:r>
              <a:rPr lang="en-US" sz="2800" dirty="0"/>
              <a:t> </a:t>
            </a:r>
          </a:p>
          <a:p>
            <a:pPr lvl="1"/>
            <a:r>
              <a:rPr lang="en-US" b="1" dirty="0" err="1"/>
              <a:t>dnf</a:t>
            </a:r>
            <a:r>
              <a:rPr lang="en-US" sz="2800" dirty="0"/>
              <a:t> (Dandified YUM) — the modern successor to </a:t>
            </a:r>
            <a:r>
              <a:rPr lang="en-US" dirty="0"/>
              <a:t>yum</a:t>
            </a:r>
            <a:r>
              <a:rPr lang="en-US" sz="2800" dirty="0"/>
              <a:t>, used on newer </a:t>
            </a:r>
            <a:r>
              <a:rPr lang="en-US" sz="2800" b="1" dirty="0"/>
              <a:t>Fedora</a:t>
            </a:r>
            <a:r>
              <a:rPr lang="en-US" sz="2800" dirty="0"/>
              <a:t> and </a:t>
            </a:r>
            <a:r>
              <a:rPr lang="en-US" sz="2800" b="1" dirty="0"/>
              <a:t>RHEL</a:t>
            </a:r>
            <a:r>
              <a:rPr lang="en-US" sz="2800" dirty="0"/>
              <a:t> systems </a:t>
            </a:r>
          </a:p>
          <a:p>
            <a:pPr lvl="1"/>
            <a:r>
              <a:rPr lang="en-US" b="1" dirty="0"/>
              <a:t>brew</a:t>
            </a:r>
            <a:r>
              <a:rPr lang="en-US" sz="2800" dirty="0"/>
              <a:t> (Homebrew) — not native to Linux, but widely used on </a:t>
            </a:r>
            <a:r>
              <a:rPr lang="en-US" sz="2800" b="1" dirty="0"/>
              <a:t>macOS</a:t>
            </a:r>
            <a:r>
              <a:rPr lang="en-US" sz="2800" dirty="0"/>
              <a:t> (and available on Linux too) for similar package management purposes</a:t>
            </a:r>
          </a:p>
          <a:p>
            <a:r>
              <a:rPr lang="en-US" sz="3200" dirty="0"/>
              <a:t>Common Package manager operations (syntax varies slightly between tools):</a:t>
            </a:r>
          </a:p>
          <a:p>
            <a:pPr lvl="1"/>
            <a:r>
              <a:rPr lang="en-US" sz="2800" b="1" dirty="0"/>
              <a:t>Installation</a:t>
            </a:r>
            <a:r>
              <a:rPr lang="en-US" sz="2800" dirty="0"/>
              <a:t>: download and setup a new piece of software</a:t>
            </a:r>
          </a:p>
          <a:p>
            <a:pPr lvl="1"/>
            <a:r>
              <a:rPr lang="en-US" sz="2800" b="1" dirty="0"/>
              <a:t>Update</a:t>
            </a:r>
            <a:r>
              <a:rPr lang="en-US" sz="2800" dirty="0"/>
              <a:t>: refresh the list of available packages and/or upgrade installed software to a newer version</a:t>
            </a:r>
          </a:p>
          <a:p>
            <a:pPr lvl="1"/>
            <a:r>
              <a:rPr lang="en-US" sz="2800" b="1" dirty="0"/>
              <a:t>Removal</a:t>
            </a:r>
            <a:r>
              <a:rPr lang="en-US" sz="2800" dirty="0"/>
              <a:t>: uninstall software that is no longer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31B0F-9EBB-47C4-019F-F57F1B27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38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3D02-FFB7-9168-5824-AB4617576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3AAC9-693C-41F8-6E09-6BD879AE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Managers |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63D0F-7F06-1BB7-CF99-CC696B15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0FBC31-364A-1D17-67E8-BFD7AED2A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637986"/>
              </p:ext>
            </p:extLst>
          </p:nvPr>
        </p:nvGraphicFramePr>
        <p:xfrm>
          <a:off x="269790" y="2087113"/>
          <a:ext cx="860442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884">
                  <a:extLst>
                    <a:ext uri="{9D8B030D-6E8A-4147-A177-3AD203B41FA5}">
                      <a16:colId xmlns:a16="http://schemas.microsoft.com/office/drawing/2014/main" val="1126903227"/>
                    </a:ext>
                  </a:extLst>
                </a:gridCol>
                <a:gridCol w="1720884">
                  <a:extLst>
                    <a:ext uri="{9D8B030D-6E8A-4147-A177-3AD203B41FA5}">
                      <a16:colId xmlns:a16="http://schemas.microsoft.com/office/drawing/2014/main" val="1055114808"/>
                    </a:ext>
                  </a:extLst>
                </a:gridCol>
                <a:gridCol w="1720884">
                  <a:extLst>
                    <a:ext uri="{9D8B030D-6E8A-4147-A177-3AD203B41FA5}">
                      <a16:colId xmlns:a16="http://schemas.microsoft.com/office/drawing/2014/main" val="3276463984"/>
                    </a:ext>
                  </a:extLst>
                </a:gridCol>
                <a:gridCol w="1720884">
                  <a:extLst>
                    <a:ext uri="{9D8B030D-6E8A-4147-A177-3AD203B41FA5}">
                      <a16:colId xmlns:a16="http://schemas.microsoft.com/office/drawing/2014/main" val="3393379070"/>
                    </a:ext>
                  </a:extLst>
                </a:gridCol>
                <a:gridCol w="1720884">
                  <a:extLst>
                    <a:ext uri="{9D8B030D-6E8A-4147-A177-3AD203B41FA5}">
                      <a16:colId xmlns:a16="http://schemas.microsoft.com/office/drawing/2014/main" val="1486024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apt</a:t>
                      </a:r>
                    </a:p>
                    <a:p>
                      <a:r>
                        <a:rPr lang="en-US" sz="1600" dirty="0"/>
                        <a:t>Debian/ubuntu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yum</a:t>
                      </a:r>
                    </a:p>
                    <a:p>
                      <a:r>
                        <a:rPr lang="en-US" sz="1600" dirty="0"/>
                        <a:t>RHEL/CentOS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dnf</a:t>
                      </a:r>
                      <a:endParaRPr lang="en-US" sz="1600" dirty="0"/>
                    </a:p>
                    <a:p>
                      <a:r>
                        <a:rPr lang="en-US" sz="1600" dirty="0" err="1"/>
                        <a:t>Feddora</a:t>
                      </a:r>
                      <a:r>
                        <a:rPr lang="en-US" sz="1600" dirty="0"/>
                        <a:t>/RHEL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brew</a:t>
                      </a:r>
                    </a:p>
                    <a:p>
                      <a:r>
                        <a:rPr lang="en-US" sz="1600" dirty="0"/>
                        <a:t>macOS/Linux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231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Update package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apt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yum check-update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dnf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check-update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brew update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2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Install a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apt install &lt;pkg&gt;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yum install &lt;pkg&gt;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dnf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install &lt;pkg&gt;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brew install &lt;pkg&gt;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270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Upgrade a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apt upgrade &lt;pkg&gt;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yum update &lt;pkg&gt;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dnf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upgrade &lt;pkg&gt;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brew upgrade &lt;pkg&gt;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94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Upgrade all packages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apt upgrade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yum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dnf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upgrade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brew upgrade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2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Remove a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apt remove &lt;pkg&gt;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yum remove &lt;pkg&gt;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dnf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remove &lt;pkg&gt;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brew uninstall &lt;pkg&gt;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509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Search for a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apt search &lt;pkg&gt;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yum search &lt;pkg&gt;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dnf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search &lt;pkg&gt;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brew search &lt;pkg&gt;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220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6727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DE810-B392-E534-2446-F547DA24F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D4A8AB-44B8-F8C9-F4C7-8AB7C8802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5CBD4A6D-17FF-B906-3CAA-52AFE4E4D3B7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133350" y="2708694"/>
            <a:ext cx="8850313" cy="3425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Changing Permissions</a:t>
            </a:r>
          </a:p>
        </p:txBody>
      </p:sp>
    </p:spTree>
    <p:extLst>
      <p:ext uri="{BB962C8B-B14F-4D97-AF65-F5344CB8AC3E}">
        <p14:creationId xmlns:p14="http://schemas.microsoft.com/office/powerpoint/2010/main" val="1887120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7FED3-BC9C-9501-3201-20060D3AD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5352F-AB56-42F9-066A-FDEE1BE37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07394-EFAD-8697-AEE9-3F6A86B0D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62500" lnSpcReduction="20000"/>
          </a:bodyPr>
          <a:lstStyle/>
          <a:p>
            <a:r>
              <a:rPr lang="en-US" sz="3600" dirty="0"/>
              <a:t>Linux is a multi-user system, so it uses a permission model to control who can access, modify or run each file and folder</a:t>
            </a:r>
          </a:p>
          <a:p>
            <a:r>
              <a:rPr lang="en-US" sz="3600" dirty="0"/>
              <a:t>Permissions:</a:t>
            </a:r>
          </a:p>
          <a:p>
            <a:pPr lvl="1"/>
            <a:r>
              <a:rPr lang="en-US" sz="2800" b="1" dirty="0"/>
              <a:t>Read</a:t>
            </a:r>
            <a:r>
              <a:rPr lang="en-US" sz="2800" dirty="0"/>
              <a:t>: View the contents of a file, or list the contents of a folder</a:t>
            </a:r>
          </a:p>
          <a:p>
            <a:pPr lvl="1"/>
            <a:r>
              <a:rPr lang="en-US" sz="2800" b="1" dirty="0"/>
              <a:t>Write</a:t>
            </a:r>
            <a:r>
              <a:rPr lang="en-US" sz="2800" dirty="0"/>
              <a:t>:  Modify or delete a file, or add/remove files within a folder</a:t>
            </a:r>
          </a:p>
          <a:p>
            <a:pPr lvl="1"/>
            <a:r>
              <a:rPr lang="en-US" sz="2800" b="1" dirty="0"/>
              <a:t>Execute</a:t>
            </a:r>
            <a:r>
              <a:rPr lang="en-US" sz="2800" dirty="0"/>
              <a:t>: Run a file as a program or script, or enter a folder</a:t>
            </a:r>
          </a:p>
          <a:p>
            <a:r>
              <a:rPr lang="en-US" sz="3200" dirty="0"/>
              <a:t>Permissions are assigned to three categories of users:</a:t>
            </a:r>
          </a:p>
          <a:p>
            <a:pPr lvl="1"/>
            <a:r>
              <a:rPr lang="en-US" sz="2800" b="1" dirty="0"/>
              <a:t>Owner</a:t>
            </a:r>
            <a:r>
              <a:rPr lang="en-US" sz="2800" dirty="0"/>
              <a:t>: The user who owns the file</a:t>
            </a:r>
          </a:p>
          <a:p>
            <a:pPr lvl="1"/>
            <a:r>
              <a:rPr lang="en-US" sz="2800" b="1" dirty="0"/>
              <a:t>Group</a:t>
            </a:r>
            <a:r>
              <a:rPr lang="en-US" sz="2800" dirty="0"/>
              <a:t>: A defined group of users who share access</a:t>
            </a:r>
          </a:p>
          <a:p>
            <a:pPr lvl="1"/>
            <a:r>
              <a:rPr lang="en-US" sz="2800" b="1" dirty="0"/>
              <a:t>Other</a:t>
            </a:r>
            <a:r>
              <a:rPr lang="en-US" sz="2800" dirty="0"/>
              <a:t>: Everyone else on the system</a:t>
            </a:r>
          </a:p>
          <a:p>
            <a:r>
              <a:rPr lang="en-US" sz="3200" dirty="0"/>
              <a:t>When running the ‘ls –l command, permissions are listed in a format that looks like this: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rwxrw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-r--</a:t>
            </a:r>
          </a:p>
          <a:p>
            <a:pPr lvl="1"/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First character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: file type (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 for file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 for directory)</a:t>
            </a:r>
          </a:p>
          <a:p>
            <a:pPr lvl="1"/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Next 3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: </a:t>
            </a:r>
            <a:r>
              <a:rPr lang="en-US" sz="2800" b="1" dirty="0">
                <a:latin typeface="+mj-lt"/>
                <a:cs typeface="Courier New" panose="02070309020205020404" pitchFamily="49" charset="0"/>
              </a:rPr>
              <a:t>owner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 permissions (read, write, execute)</a:t>
            </a:r>
          </a:p>
          <a:p>
            <a:pPr lvl="1"/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Next 3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: </a:t>
            </a:r>
            <a:r>
              <a:rPr lang="en-US" sz="2800" b="1" dirty="0">
                <a:latin typeface="+mj-lt"/>
                <a:cs typeface="Courier New" panose="02070309020205020404" pitchFamily="49" charset="0"/>
              </a:rPr>
              <a:t>group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 permissions (read, write)</a:t>
            </a:r>
          </a:p>
          <a:p>
            <a:pPr lvl="1"/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Next 3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: </a:t>
            </a:r>
            <a:r>
              <a:rPr lang="en-US" sz="2800" b="1" dirty="0">
                <a:latin typeface="+mj-lt"/>
                <a:cs typeface="Courier New" panose="02070309020205020404" pitchFamily="49" charset="0"/>
              </a:rPr>
              <a:t>other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 permissions (read)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7F5F7-FF37-077B-2626-A715EC73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21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93BD6-2105-88D2-20F6-53B43E6BC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B7020-5145-38D2-926C-EF2355C73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chmod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0F32C-273B-2908-3589-2E49FEE4C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1947554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The command </a:t>
            </a:r>
            <a:r>
              <a:rPr lang="en-US" sz="3600" dirty="0" err="1"/>
              <a:t>chmod</a:t>
            </a:r>
            <a:r>
              <a:rPr lang="en-US" sz="3600" dirty="0"/>
              <a:t> (change mode) is used to modify permissions.</a:t>
            </a:r>
          </a:p>
          <a:p>
            <a:r>
              <a:rPr lang="en-US" b="1" dirty="0">
                <a:latin typeface="+mj-lt"/>
                <a:cs typeface="Courier New" panose="02070309020205020404" pitchFamily="49" charset="0"/>
              </a:rPr>
              <a:t>Symbolic notation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using letters to edit permissions 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chmod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u+x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filename</a:t>
            </a:r>
            <a:endParaRPr lang="en-US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D5C49-4356-58A4-268D-66177DA1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DD101F-B678-A3B6-4D8F-7B0653727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711201"/>
              </p:ext>
            </p:extLst>
          </p:nvPr>
        </p:nvGraphicFramePr>
        <p:xfrm>
          <a:off x="269791" y="3686935"/>
          <a:ext cx="860441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72">
                  <a:extLst>
                    <a:ext uri="{9D8B030D-6E8A-4147-A177-3AD203B41FA5}">
                      <a16:colId xmlns:a16="http://schemas.microsoft.com/office/drawing/2014/main" val="1607337217"/>
                    </a:ext>
                  </a:extLst>
                </a:gridCol>
                <a:gridCol w="1069676">
                  <a:extLst>
                    <a:ext uri="{9D8B030D-6E8A-4147-A177-3AD203B41FA5}">
                      <a16:colId xmlns:a16="http://schemas.microsoft.com/office/drawing/2014/main" val="3283273439"/>
                    </a:ext>
                  </a:extLst>
                </a:gridCol>
                <a:gridCol w="2017790">
                  <a:extLst>
                    <a:ext uri="{9D8B030D-6E8A-4147-A177-3AD203B41FA5}">
                      <a16:colId xmlns:a16="http://schemas.microsoft.com/office/drawing/2014/main" val="279138936"/>
                    </a:ext>
                  </a:extLst>
                </a:gridCol>
                <a:gridCol w="2017790">
                  <a:extLst>
                    <a:ext uri="{9D8B030D-6E8A-4147-A177-3AD203B41FA5}">
                      <a16:colId xmlns:a16="http://schemas.microsoft.com/office/drawing/2014/main" val="290560320"/>
                    </a:ext>
                  </a:extLst>
                </a:gridCol>
                <a:gridCol w="2017790">
                  <a:extLst>
                    <a:ext uri="{9D8B030D-6E8A-4147-A177-3AD203B41FA5}">
                      <a16:colId xmlns:a16="http://schemas.microsoft.com/office/drawing/2014/main" val="1913025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 Exact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381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Owner/User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chmod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u+r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chmod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u-r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chmod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u=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rwx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78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chmod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g+w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chmod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g-w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chmod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g=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rwx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485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chmod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o+x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chmod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o-x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chmod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o=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rwx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841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chmod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a+r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chmod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a-r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chmod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a=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rwx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441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3582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342DE-D7F3-3CF1-9325-505AC8779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7E49-D19C-9209-CD35-349D799D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chmod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D5C16-36BC-7057-B079-EEAEF0B09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184835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cs typeface="Courier New" panose="02070309020205020404" pitchFamily="49" charset="0"/>
              </a:rPr>
              <a:t>Numeric (octal) notation</a:t>
            </a:r>
            <a:r>
              <a:rPr lang="en-US" dirty="0">
                <a:cs typeface="Courier New" panose="02070309020205020404" pitchFamily="49" charset="0"/>
              </a:rPr>
              <a:t>: using numbers 0-7 to represent permission combinations </a:t>
            </a:r>
          </a:p>
          <a:p>
            <a:r>
              <a:rPr lang="en-US" dirty="0">
                <a:cs typeface="Courier New" panose="02070309020205020404" pitchFamily="49" charset="0"/>
              </a:rPr>
              <a:t>When using numeric notation, you provide a number representing the permission for each group (Owner | Group | Other) 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chmod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740 filename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Owner: 7 (full) | group: 4 (read) | other: 0 (none)</a:t>
            </a:r>
            <a:endParaRPr lang="en-US" dirty="0"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D06B6-C1FF-162D-378E-892A0CD2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95BE21-04B4-F7CB-B472-897634D8B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557923"/>
              </p:ext>
            </p:extLst>
          </p:nvPr>
        </p:nvGraphicFramePr>
        <p:xfrm>
          <a:off x="522121" y="3329796"/>
          <a:ext cx="809975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744">
                  <a:extLst>
                    <a:ext uri="{9D8B030D-6E8A-4147-A177-3AD203B41FA5}">
                      <a16:colId xmlns:a16="http://schemas.microsoft.com/office/drawing/2014/main" val="3946380654"/>
                    </a:ext>
                  </a:extLst>
                </a:gridCol>
                <a:gridCol w="1483744">
                  <a:extLst>
                    <a:ext uri="{9D8B030D-6E8A-4147-A177-3AD203B41FA5}">
                      <a16:colId xmlns:a16="http://schemas.microsoft.com/office/drawing/2014/main" val="2006405083"/>
                    </a:ext>
                  </a:extLst>
                </a:gridCol>
                <a:gridCol w="5132270">
                  <a:extLst>
                    <a:ext uri="{9D8B030D-6E8A-4147-A177-3AD203B41FA5}">
                      <a16:colId xmlns:a16="http://schemas.microsoft.com/office/drawing/2014/main" val="25807878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Permissions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006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 access given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05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Execute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630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-w-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Write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865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wx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Write + Execute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07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210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r-x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 + Execute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272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rw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 + Write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513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rwx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 permissions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722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06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40F8A-BB96-1F87-6B54-2B8362526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996C0B-900F-CAB1-1DF4-2CF807BD6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71677"/>
      </p:ext>
    </p:extLst>
  </p:cSld>
  <p:clrMapOvr>
    <a:masterClrMapping/>
  </p:clrMapOvr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718</TotalTime>
  <Words>2135</Words>
  <Application>Microsoft Office PowerPoint</Application>
  <PresentationFormat>On-screen Show (4:3)</PresentationFormat>
  <Paragraphs>304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Courier New</vt:lpstr>
      <vt:lpstr>Symbol</vt:lpstr>
      <vt:lpstr>Revature</vt:lpstr>
      <vt:lpstr>Introduction to Linux</vt:lpstr>
      <vt:lpstr>Outline</vt:lpstr>
      <vt:lpstr>PowerPoint Presentation</vt:lpstr>
      <vt:lpstr>Introduction to Linux</vt:lpstr>
      <vt:lpstr>Common BASH Commands</vt:lpstr>
      <vt:lpstr>Common BASH Commands (cont…)</vt:lpstr>
      <vt:lpstr>Common BASH Commands (cont…)</vt:lpstr>
      <vt:lpstr>Common BASH Commands (cont…)</vt:lpstr>
      <vt:lpstr>Getting help with the command line</vt:lpstr>
      <vt:lpstr>PowerPoint Presentation</vt:lpstr>
      <vt:lpstr>Creating Files</vt:lpstr>
      <vt:lpstr>Text Editors | nano</vt:lpstr>
      <vt:lpstr>Text Editors | vim</vt:lpstr>
      <vt:lpstr>PowerPoint Presentation</vt:lpstr>
      <vt:lpstr>Scripting Basics</vt:lpstr>
      <vt:lpstr>Running a Script</vt:lpstr>
      <vt:lpstr>More script features</vt:lpstr>
      <vt:lpstr>PowerPoint Presentation</vt:lpstr>
      <vt:lpstr>Package Managers | Intro</vt:lpstr>
      <vt:lpstr>Package Managers</vt:lpstr>
      <vt:lpstr>Package Managers | Comparison</vt:lpstr>
      <vt:lpstr>PowerPoint Presentation</vt:lpstr>
      <vt:lpstr>Permissions</vt:lpstr>
      <vt:lpstr>chmod</vt:lpstr>
      <vt:lpstr>chmod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Bryn Portella</dc:creator>
  <cp:lastModifiedBy>Joseph Highe</cp:lastModifiedBy>
  <cp:revision>38</cp:revision>
  <dcterms:created xsi:type="dcterms:W3CDTF">2021-05-10T12:23:39Z</dcterms:created>
  <dcterms:modified xsi:type="dcterms:W3CDTF">2026-07-22T16:28:54Z</dcterms:modified>
</cp:coreProperties>
</file>