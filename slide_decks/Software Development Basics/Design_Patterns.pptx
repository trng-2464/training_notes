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61" r:id="rId1"/>
  </p:sldMasterIdLst>
  <p:notesMasterIdLst>
    <p:notesMasterId r:id="rId26"/>
  </p:notesMasterIdLst>
  <p:sldIdLst>
    <p:sldId id="256" r:id="rId2"/>
    <p:sldId id="343" r:id="rId3"/>
    <p:sldId id="357" r:id="rId4"/>
    <p:sldId id="293" r:id="rId5"/>
    <p:sldId id="361" r:id="rId6"/>
    <p:sldId id="362" r:id="rId7"/>
    <p:sldId id="359" r:id="rId8"/>
    <p:sldId id="360" r:id="rId9"/>
    <p:sldId id="338" r:id="rId10"/>
    <p:sldId id="330" r:id="rId11"/>
    <p:sldId id="358" r:id="rId12"/>
    <p:sldId id="322" r:id="rId13"/>
    <p:sldId id="331" r:id="rId14"/>
    <p:sldId id="339" r:id="rId15"/>
    <p:sldId id="367" r:id="rId16"/>
    <p:sldId id="368" r:id="rId17"/>
    <p:sldId id="369" r:id="rId18"/>
    <p:sldId id="363" r:id="rId19"/>
    <p:sldId id="335" r:id="rId20"/>
    <p:sldId id="336" r:id="rId21"/>
    <p:sldId id="364" r:id="rId22"/>
    <p:sldId id="365" r:id="rId23"/>
    <p:sldId id="366" r:id="rId24"/>
    <p:sldId id="270" r:id="rId25"/>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p15:clr>
            <a:srgbClr val="A4A3A4"/>
          </p15:clr>
        </p15:guide>
        <p15:guide id="2" pos="2282">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00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69" d="100"/>
          <a:sy n="69" d="100"/>
        </p:scale>
        <p:origin x="1314" y="60"/>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37840" cy="464820"/>
          </a:xfrm>
          <a:prstGeom prst="rect">
            <a:avLst/>
          </a:prstGeom>
          <a:noFill/>
          <a:ln>
            <a:noFill/>
          </a:ln>
        </p:spPr>
        <p:txBody>
          <a:bodyPr spcFirstLastPara="1" wrap="square" lIns="93150" tIns="46575" rIns="93150" bIns="4657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4820"/>
          </a:xfrm>
          <a:prstGeom prst="rect">
            <a:avLst/>
          </a:prstGeom>
          <a:noFill/>
          <a:ln>
            <a:noFill/>
          </a:ln>
        </p:spPr>
        <p:txBody>
          <a:bodyPr spcFirstLastPara="1" wrap="square" lIns="93150" tIns="46575" rIns="93150" bIns="4657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3150" tIns="46575" rIns="93150" bIns="4657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8829965"/>
            <a:ext cx="3037840" cy="464820"/>
          </a:xfrm>
          <a:prstGeom prst="rect">
            <a:avLst/>
          </a:prstGeom>
          <a:noFill/>
          <a:ln>
            <a:noFill/>
          </a:ln>
        </p:spPr>
        <p:txBody>
          <a:bodyPr spcFirstLastPara="1" wrap="square" lIns="93150" tIns="46575" rIns="93150" bIns="4657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5"/>
            <a:ext cx="3037840"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0" name="Google Shape;210;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7" name="Google Shape;307;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pic>
        <p:nvPicPr>
          <p:cNvPr id="34" name="Google Shape;34;p2"/>
          <p:cNvPicPr preferRelativeResize="0"/>
          <p:nvPr/>
        </p:nvPicPr>
        <p:blipFill rotWithShape="1">
          <a:blip r:embed="rId2">
            <a:alphaModFix/>
          </a:blip>
          <a:srcRect t="33848" b="649"/>
          <a:stretch/>
        </p:blipFill>
        <p:spPr>
          <a:xfrm>
            <a:off x="-1" y="0"/>
            <a:ext cx="9144002" cy="5030078"/>
          </a:xfrm>
          <a:prstGeom prst="rect">
            <a:avLst/>
          </a:prstGeom>
          <a:noFill/>
          <a:ln>
            <a:noFill/>
          </a:ln>
        </p:spPr>
      </p:pic>
      <p:grpSp>
        <p:nvGrpSpPr>
          <p:cNvPr id="35" name="Google Shape;35;p2"/>
          <p:cNvGrpSpPr/>
          <p:nvPr/>
        </p:nvGrpSpPr>
        <p:grpSpPr>
          <a:xfrm>
            <a:off x="496176" y="5451818"/>
            <a:ext cx="3105481" cy="975083"/>
            <a:chOff x="2814452" y="4625522"/>
            <a:chExt cx="5459889" cy="1714337"/>
          </a:xfrm>
        </p:grpSpPr>
        <p:sp>
          <p:nvSpPr>
            <p:cNvPr id="36" name="Google Shape;36;p2"/>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2"/>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2"/>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2"/>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2"/>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2"/>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2"/>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 name="Google Shape;43;p2"/>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 name="Google Shape;44;p2"/>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 name="Google Shape;45;p2"/>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 name="Google Shape;46;p2"/>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2"/>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2"/>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2"/>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2"/>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2"/>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 name="Google Shape;52;p2"/>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 name="Google Shape;53;p2"/>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 name="Google Shape;54;p2"/>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accent1"/>
              </a:buClr>
              <a:buSzPts val="4400"/>
              <a:buFont typeface="Arial"/>
              <a:buNone/>
              <a:defRPr sz="4400">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b="1">
                <a:solidFill>
                  <a:schemeClr val="lt1"/>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type="titleOnly">
  <p:cSld name="TITLE_ONLY">
    <p:spTree>
      <p:nvGrpSpPr>
        <p:cNvPr id="1" name="Shape 60"/>
        <p:cNvGrpSpPr/>
        <p:nvPr/>
      </p:nvGrpSpPr>
      <p:grpSpPr>
        <a:xfrm>
          <a:off x="0" y="0"/>
          <a:ext cx="0" cy="0"/>
          <a:chOff x="0" y="0"/>
          <a:chExt cx="0" cy="0"/>
        </a:xfrm>
      </p:grpSpPr>
      <p:sp>
        <p:nvSpPr>
          <p:cNvPr id="61" name="Google Shape;61;p4"/>
          <p:cNvSpPr/>
          <p:nvPr/>
        </p:nvSpPr>
        <p:spPr>
          <a:xfrm rot="10800000" flipH="1">
            <a:off x="0" y="1219200"/>
            <a:ext cx="9144000" cy="5638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 name="Google Shape;62;p4"/>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4"/>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dk2"/>
              </a:buClr>
              <a:buSzPts val="2400"/>
              <a:buFont typeface="Arial"/>
              <a:buNone/>
              <a:defRPr>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65" name="Google Shape;65;p4"/>
          <p:cNvGrpSpPr/>
          <p:nvPr/>
        </p:nvGrpSpPr>
        <p:grpSpPr>
          <a:xfrm>
            <a:off x="7264458" y="365740"/>
            <a:ext cx="1553308" cy="487719"/>
            <a:chOff x="7264458" y="365740"/>
            <a:chExt cx="1553308" cy="487719"/>
          </a:xfrm>
        </p:grpSpPr>
        <p:sp>
          <p:nvSpPr>
            <p:cNvPr id="66" name="Google Shape;66;p4"/>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4"/>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4"/>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4"/>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4"/>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4"/>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 name="Google Shape;72;p4"/>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4"/>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 name="Google Shape;74;p4"/>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 name="Google Shape;75;p4"/>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4"/>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4"/>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4"/>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4"/>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4"/>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4"/>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4"/>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4"/>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pic>
        <p:nvPicPr>
          <p:cNvPr id="85" name="Google Shape;85;p5"/>
          <p:cNvPicPr preferRelativeResize="0"/>
          <p:nvPr/>
        </p:nvPicPr>
        <p:blipFill rotWithShape="1">
          <a:blip r:embed="rId2">
            <a:alphaModFix/>
          </a:blip>
          <a:srcRect t="33085" b="1379"/>
          <a:stretch/>
        </p:blipFill>
        <p:spPr>
          <a:xfrm rot="10800000" flipH="1">
            <a:off x="0" y="0"/>
            <a:ext cx="9144000" cy="5030078"/>
          </a:xfrm>
          <a:prstGeom prst="rect">
            <a:avLst/>
          </a:prstGeom>
          <a:noFill/>
          <a:ln>
            <a:noFill/>
          </a:ln>
        </p:spPr>
      </p:pic>
      <p:grpSp>
        <p:nvGrpSpPr>
          <p:cNvPr id="86" name="Google Shape;86;p5"/>
          <p:cNvGrpSpPr/>
          <p:nvPr/>
        </p:nvGrpSpPr>
        <p:grpSpPr>
          <a:xfrm>
            <a:off x="496176" y="5451818"/>
            <a:ext cx="3105481" cy="975083"/>
            <a:chOff x="2814452" y="4625522"/>
            <a:chExt cx="5459889" cy="1714337"/>
          </a:xfrm>
        </p:grpSpPr>
        <p:sp>
          <p:nvSpPr>
            <p:cNvPr id="87" name="Google Shape;87;p5"/>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5"/>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5"/>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5"/>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5"/>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5"/>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5"/>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5"/>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5"/>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5"/>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 name="Google Shape;97;p5"/>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 name="Google Shape;98;p5"/>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5"/>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5"/>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5"/>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5"/>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5"/>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5"/>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5" name="Google Shape;105;p5"/>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lt1"/>
              </a:buClr>
              <a:buSzPts val="4400"/>
              <a:buFont typeface="Arial"/>
              <a:buNone/>
              <a:defRPr sz="4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5"/>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a:solidFill>
                  <a:schemeClr val="dk2"/>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107"/>
        <p:cNvGrpSpPr/>
        <p:nvPr/>
      </p:nvGrpSpPr>
      <p:grpSpPr>
        <a:xfrm>
          <a:off x="0" y="0"/>
          <a:ext cx="0" cy="0"/>
          <a:chOff x="0" y="0"/>
          <a:chExt cx="0" cy="0"/>
        </a:xfrm>
      </p:grpSpPr>
      <p:sp>
        <p:nvSpPr>
          <p:cNvPr id="108" name="Google Shape;108;p6"/>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9" name="Google Shape;109;p6"/>
          <p:cNvPicPr preferRelativeResize="0"/>
          <p:nvPr/>
        </p:nvPicPr>
        <p:blipFill rotWithShape="1">
          <a:blip r:embed="rId2">
            <a:alphaModFix/>
          </a:blip>
          <a:srcRect t="67499" b="6701"/>
          <a:stretch/>
        </p:blipFill>
        <p:spPr>
          <a:xfrm rot="10800000" flipH="1">
            <a:off x="0" y="1740436"/>
            <a:ext cx="9144000" cy="1502227"/>
          </a:xfrm>
          <a:prstGeom prst="rect">
            <a:avLst/>
          </a:prstGeom>
          <a:noFill/>
          <a:ln>
            <a:noFill/>
          </a:ln>
        </p:spPr>
      </p:pic>
      <p:pic>
        <p:nvPicPr>
          <p:cNvPr id="110" name="Google Shape;110;p6"/>
          <p:cNvPicPr preferRelativeResize="0"/>
          <p:nvPr/>
        </p:nvPicPr>
        <p:blipFill rotWithShape="1">
          <a:blip r:embed="rId3">
            <a:alphaModFix/>
          </a:blip>
          <a:srcRect t="24620" b="16130"/>
          <a:stretch/>
        </p:blipFill>
        <p:spPr>
          <a:xfrm flipH="1">
            <a:off x="2766" y="3242663"/>
            <a:ext cx="9144000" cy="3615334"/>
          </a:xfrm>
          <a:prstGeom prst="rect">
            <a:avLst/>
          </a:prstGeom>
          <a:noFill/>
          <a:ln>
            <a:noFill/>
          </a:ln>
        </p:spPr>
      </p:pic>
      <p:sp>
        <p:nvSpPr>
          <p:cNvPr id="111" name="Google Shape;111;p6"/>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2" name="Google Shape;112;p6"/>
          <p:cNvGrpSpPr/>
          <p:nvPr/>
        </p:nvGrpSpPr>
        <p:grpSpPr>
          <a:xfrm>
            <a:off x="496176" y="382676"/>
            <a:ext cx="3105481" cy="975083"/>
            <a:chOff x="2814452" y="4625522"/>
            <a:chExt cx="5459889" cy="1714337"/>
          </a:xfrm>
        </p:grpSpPr>
        <p:sp>
          <p:nvSpPr>
            <p:cNvPr id="113" name="Google Shape;113;p6"/>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 name="Google Shape;114;p6"/>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 name="Google Shape;115;p6"/>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6" name="Google Shape;116;p6"/>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7" name="Google Shape;117;p6"/>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6"/>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 name="Google Shape;119;p6"/>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 name="Google Shape;120;p6"/>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 name="Google Shape;121;p6"/>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6"/>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6"/>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6"/>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6"/>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6"/>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6"/>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6"/>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6"/>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6"/>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1" name="Google Shape;131;p6"/>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300"/>
                                  </p:stCondLst>
                                  <p:childTnLst>
                                    <p:set>
                                      <p:cBhvr>
                                        <p:cTn id="6" dur="1" fill="hold">
                                          <p:stCondLst>
                                            <p:cond delay="0"/>
                                          </p:stCondLst>
                                        </p:cTn>
                                        <p:tgtEl>
                                          <p:spTgt spid="110"/>
                                        </p:tgtEl>
                                        <p:attrNameLst>
                                          <p:attrName>style.visibility</p:attrName>
                                        </p:attrNameLst>
                                      </p:cBhvr>
                                      <p:to>
                                        <p:strVal val="visible"/>
                                      </p:to>
                                    </p:set>
                                    <p:anim calcmode="lin" valueType="num">
                                      <p:cBhvr additive="base">
                                        <p:cTn id="7" dur="750"/>
                                        <p:tgtEl>
                                          <p:spTgt spid="110"/>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 calcmode="lin" valueType="num">
                                      <p:cBhvr additive="base">
                                        <p:cTn id="10" dur="750"/>
                                        <p:tgtEl>
                                          <p:spTgt spid="1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2">
  <p:cSld name="section 2">
    <p:spTree>
      <p:nvGrpSpPr>
        <p:cNvPr id="1" name="Shape 132"/>
        <p:cNvGrpSpPr/>
        <p:nvPr/>
      </p:nvGrpSpPr>
      <p:grpSpPr>
        <a:xfrm>
          <a:off x="0" y="0"/>
          <a:ext cx="0" cy="0"/>
          <a:chOff x="0" y="0"/>
          <a:chExt cx="0" cy="0"/>
        </a:xfrm>
      </p:grpSpPr>
      <p:pic>
        <p:nvPicPr>
          <p:cNvPr id="133" name="Google Shape;133;p7"/>
          <p:cNvPicPr preferRelativeResize="0"/>
          <p:nvPr/>
        </p:nvPicPr>
        <p:blipFill rotWithShape="1">
          <a:blip r:embed="rId2">
            <a:alphaModFix/>
          </a:blip>
          <a:srcRect l="6614" t="2065" r="80083" b="1471"/>
          <a:stretch/>
        </p:blipFill>
        <p:spPr>
          <a:xfrm rot="5400000">
            <a:off x="3820885" y="-2080448"/>
            <a:ext cx="1502227" cy="9143997"/>
          </a:xfrm>
          <a:prstGeom prst="rect">
            <a:avLst/>
          </a:prstGeom>
          <a:noFill/>
          <a:ln>
            <a:noFill/>
          </a:ln>
        </p:spPr>
      </p:pic>
      <p:pic>
        <p:nvPicPr>
          <p:cNvPr id="134" name="Google Shape;134;p7"/>
          <p:cNvPicPr preferRelativeResize="0"/>
          <p:nvPr/>
        </p:nvPicPr>
        <p:blipFill rotWithShape="1">
          <a:blip r:embed="rId3">
            <a:alphaModFix/>
          </a:blip>
          <a:srcRect t="20282" b="20282"/>
          <a:stretch/>
        </p:blipFill>
        <p:spPr>
          <a:xfrm>
            <a:off x="0" y="3242662"/>
            <a:ext cx="9144000" cy="3623223"/>
          </a:xfrm>
          <a:prstGeom prst="rect">
            <a:avLst/>
          </a:prstGeom>
          <a:noFill/>
          <a:ln>
            <a:noFill/>
          </a:ln>
        </p:spPr>
      </p:pic>
      <p:sp>
        <p:nvSpPr>
          <p:cNvPr id="135" name="Google Shape;135;p7"/>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7"/>
          <p:cNvGrpSpPr/>
          <p:nvPr/>
        </p:nvGrpSpPr>
        <p:grpSpPr>
          <a:xfrm>
            <a:off x="496176" y="382676"/>
            <a:ext cx="3105481" cy="975083"/>
            <a:chOff x="2814452" y="4625522"/>
            <a:chExt cx="5459889" cy="1714337"/>
          </a:xfrm>
        </p:grpSpPr>
        <p:sp>
          <p:nvSpPr>
            <p:cNvPr id="137" name="Google Shape;137;p7"/>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7"/>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7"/>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0" name="Google Shape;140;p7"/>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7"/>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7"/>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7"/>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7"/>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7"/>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7"/>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7"/>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7"/>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9" name="Google Shape;149;p7"/>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7"/>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7"/>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7"/>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7"/>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7"/>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55" name="Google Shape;155;p7"/>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additive="base">
                                        <p:cTn id="7" dur="750"/>
                                        <p:tgtEl>
                                          <p:spTgt spid="133"/>
                                        </p:tgtEl>
                                        <p:attrNameLst>
                                          <p:attrName>ppt_y</p:attrName>
                                        </p:attrNameLst>
                                      </p:cBhvr>
                                      <p:tavLst>
                                        <p:tav tm="0">
                                          <p:val>
                                            <p:strVal val="#ppt_y-1"/>
                                          </p:val>
                                        </p:tav>
                                        <p:tav tm="100000">
                                          <p:val>
                                            <p:strVal val="#ppt_y"/>
                                          </p:val>
                                        </p:tav>
                                      </p:tavLst>
                                    </p:anim>
                                  </p:childTnLst>
                                </p:cTn>
                              </p:par>
                              <p:par>
                                <p:cTn id="8" presetID="2" presetClass="entr" presetSubtype="8" fill="hold" nodeType="withEffect">
                                  <p:stCondLst>
                                    <p:cond delay="300"/>
                                  </p:stCondLst>
                                  <p:childTnLst>
                                    <p:set>
                                      <p:cBhvr>
                                        <p:cTn id="9" dur="1" fill="hold">
                                          <p:stCondLst>
                                            <p:cond delay="0"/>
                                          </p:stCondLst>
                                        </p:cTn>
                                        <p:tgtEl>
                                          <p:spTgt spid="134"/>
                                        </p:tgtEl>
                                        <p:attrNameLst>
                                          <p:attrName>style.visibility</p:attrName>
                                        </p:attrNameLst>
                                      </p:cBhvr>
                                      <p:to>
                                        <p:strVal val="visible"/>
                                      </p:to>
                                    </p:set>
                                    <p:anim calcmode="lin" valueType="num">
                                      <p:cBhvr additive="base">
                                        <p:cTn id="10" dur="750"/>
                                        <p:tgtEl>
                                          <p:spTgt spid="13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 white">
  <p:cSld name="title only - white">
    <p:spTree>
      <p:nvGrpSpPr>
        <p:cNvPr id="1" name="Shape 172"/>
        <p:cNvGrpSpPr/>
        <p:nvPr/>
      </p:nvGrpSpPr>
      <p:grpSpPr>
        <a:xfrm>
          <a:off x="0" y="0"/>
          <a:ext cx="0" cy="0"/>
          <a:chOff x="0" y="0"/>
          <a:chExt cx="0" cy="0"/>
        </a:xfrm>
      </p:grpSpPr>
      <p:sp>
        <p:nvSpPr>
          <p:cNvPr id="173" name="Google Shape;173;p11"/>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1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3"/>
              </a:buClr>
              <a:buSzPts val="2400"/>
              <a:buFont typeface="Arial"/>
              <a:buNone/>
              <a:defRPr>
                <a:solidFill>
                  <a:schemeClr val="accent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1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176" name="Google Shape;176;p11"/>
          <p:cNvGrpSpPr/>
          <p:nvPr/>
        </p:nvGrpSpPr>
        <p:grpSpPr>
          <a:xfrm>
            <a:off x="7264458" y="365740"/>
            <a:ext cx="1553308" cy="487719"/>
            <a:chOff x="7264458" y="365740"/>
            <a:chExt cx="1553308" cy="487719"/>
          </a:xfrm>
        </p:grpSpPr>
        <p:sp>
          <p:nvSpPr>
            <p:cNvPr id="177" name="Google Shape;177;p11"/>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p11"/>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p11"/>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p11"/>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 name="Google Shape;181;p11"/>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 name="Google Shape;182;p11"/>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 name="Google Shape;183;p11"/>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 name="Google Shape;184;p11"/>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 name="Google Shape;185;p11"/>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 name="Google Shape;186;p11"/>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 name="Google Shape;187;p11"/>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 name="Google Shape;188;p11"/>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 name="Google Shape;189;p11"/>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11"/>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1"/>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2" name="Google Shape;192;p11"/>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11"/>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4" name="Google Shape;194;p11"/>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3_Title Only">
  <p:cSld name="3_Title Only">
    <p:spTree>
      <p:nvGrpSpPr>
        <p:cNvPr id="1" name="Shape 195"/>
        <p:cNvGrpSpPr/>
        <p:nvPr/>
      </p:nvGrpSpPr>
      <p:grpSpPr>
        <a:xfrm>
          <a:off x="0" y="0"/>
          <a:ext cx="0" cy="0"/>
          <a:chOff x="0" y="0"/>
          <a:chExt cx="0" cy="0"/>
        </a:xfrm>
      </p:grpSpPr>
      <p:pic>
        <p:nvPicPr>
          <p:cNvPr id="196" name="Google Shape;196;p12"/>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97" name="Google Shape;197;p12"/>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8" name="Google Shape;198;p12"/>
          <p:cNvSpPr>
            <a:spLocks noGrp="1"/>
          </p:cNvSpPr>
          <p:nvPr>
            <p:ph type="dgm" idx="2"/>
          </p:nvPr>
        </p:nvSpPr>
        <p:spPr>
          <a:xfrm>
            <a:off x="133350" y="125413"/>
            <a:ext cx="8850313" cy="6008687"/>
          </a:xfrm>
          <a:prstGeom prst="rect">
            <a:avLst/>
          </a:prstGeom>
          <a:noFill/>
          <a:ln>
            <a:noFill/>
          </a:ln>
        </p:spPr>
        <p:txBody>
          <a:bodyPr spcFirstLastPara="1" wrap="square" lIns="91425" tIns="45700" rIns="91425" bIns="45700" anchor="t" anchorCtr="0"/>
          <a:lstStyle>
            <a:lvl1pPr marR="0" lvl="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R="0" lvl="1"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R="0" lvl="2"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R="0" lvl="3"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R="0" lvl="4"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2_Title Only">
  <p:cSld name="2_Title Only">
    <p:spTree>
      <p:nvGrpSpPr>
        <p:cNvPr id="1" name="Shape 199"/>
        <p:cNvGrpSpPr/>
        <p:nvPr/>
      </p:nvGrpSpPr>
      <p:grpSpPr>
        <a:xfrm>
          <a:off x="0" y="0"/>
          <a:ext cx="0" cy="0"/>
          <a:chOff x="0" y="0"/>
          <a:chExt cx="0" cy="0"/>
        </a:xfrm>
      </p:grpSpPr>
      <p:sp>
        <p:nvSpPr>
          <p:cNvPr id="200" name="Google Shape;200;p13"/>
          <p:cNvSpPr/>
          <p:nvPr/>
        </p:nvSpPr>
        <p:spPr>
          <a:xfrm>
            <a:off x="0" y="6251171"/>
            <a:ext cx="9144000" cy="60682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1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lt1"/>
                </a:solidFill>
                <a:latin typeface="Arial"/>
                <a:ea typeface="Arial"/>
                <a:cs typeface="Arial"/>
                <a:sym typeface="Arial"/>
              </a:defRPr>
            </a:lvl1pPr>
            <a:lvl2pPr marL="0" lvl="1" indent="0" algn="r">
              <a:spcBef>
                <a:spcPts val="0"/>
              </a:spcBef>
              <a:buNone/>
              <a:defRPr sz="1200" b="0">
                <a:solidFill>
                  <a:schemeClr val="lt1"/>
                </a:solidFill>
                <a:latin typeface="Arial"/>
                <a:ea typeface="Arial"/>
                <a:cs typeface="Arial"/>
                <a:sym typeface="Arial"/>
              </a:defRPr>
            </a:lvl2pPr>
            <a:lvl3pPr marL="0" lvl="2" indent="0" algn="r">
              <a:spcBef>
                <a:spcPts val="0"/>
              </a:spcBef>
              <a:buNone/>
              <a:defRPr sz="1200" b="0">
                <a:solidFill>
                  <a:schemeClr val="lt1"/>
                </a:solidFill>
                <a:latin typeface="Arial"/>
                <a:ea typeface="Arial"/>
                <a:cs typeface="Arial"/>
                <a:sym typeface="Arial"/>
              </a:defRPr>
            </a:lvl3pPr>
            <a:lvl4pPr marL="0" lvl="3" indent="0" algn="r">
              <a:spcBef>
                <a:spcPts val="0"/>
              </a:spcBef>
              <a:buNone/>
              <a:defRPr sz="1200" b="0">
                <a:solidFill>
                  <a:schemeClr val="lt1"/>
                </a:solidFill>
                <a:latin typeface="Arial"/>
                <a:ea typeface="Arial"/>
                <a:cs typeface="Arial"/>
                <a:sym typeface="Arial"/>
              </a:defRPr>
            </a:lvl4pPr>
            <a:lvl5pPr marL="0" lvl="4" indent="0" algn="r">
              <a:spcBef>
                <a:spcPts val="0"/>
              </a:spcBef>
              <a:buNone/>
              <a:defRPr sz="1200" b="0">
                <a:solidFill>
                  <a:schemeClr val="lt1"/>
                </a:solidFill>
                <a:latin typeface="Arial"/>
                <a:ea typeface="Arial"/>
                <a:cs typeface="Arial"/>
                <a:sym typeface="Arial"/>
              </a:defRPr>
            </a:lvl5pPr>
            <a:lvl6pPr marL="0" lvl="5" indent="0" algn="r">
              <a:spcBef>
                <a:spcPts val="0"/>
              </a:spcBef>
              <a:buNone/>
              <a:defRPr sz="1200" b="0">
                <a:solidFill>
                  <a:schemeClr val="lt1"/>
                </a:solidFill>
                <a:latin typeface="Arial"/>
                <a:ea typeface="Arial"/>
                <a:cs typeface="Arial"/>
                <a:sym typeface="Arial"/>
              </a:defRPr>
            </a:lvl6pPr>
            <a:lvl7pPr marL="0" lvl="6" indent="0" algn="r">
              <a:spcBef>
                <a:spcPts val="0"/>
              </a:spcBef>
              <a:buNone/>
              <a:defRPr sz="1200" b="0">
                <a:solidFill>
                  <a:schemeClr val="lt1"/>
                </a:solidFill>
                <a:latin typeface="Arial"/>
                <a:ea typeface="Arial"/>
                <a:cs typeface="Arial"/>
                <a:sym typeface="Arial"/>
              </a:defRPr>
            </a:lvl7pPr>
            <a:lvl8pPr marL="0" lvl="7" indent="0" algn="r">
              <a:spcBef>
                <a:spcPts val="0"/>
              </a:spcBef>
              <a:buNone/>
              <a:defRPr sz="1200" b="0">
                <a:solidFill>
                  <a:schemeClr val="lt1"/>
                </a:solidFill>
                <a:latin typeface="Arial"/>
                <a:ea typeface="Arial"/>
                <a:cs typeface="Arial"/>
                <a:sym typeface="Arial"/>
              </a:defRPr>
            </a:lvl8pPr>
            <a:lvl9pPr marL="0" lvl="8" indent="0" algn="r">
              <a:spcBef>
                <a:spcPts val="0"/>
              </a:spcBef>
              <a:buNone/>
              <a:defRPr sz="1200" b="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02" name="Google Shape;202;p13"/>
          <p:cNvPicPr preferRelativeResize="0"/>
          <p:nvPr/>
        </p:nvPicPr>
        <p:blipFill rotWithShape="1">
          <a:blip r:embed="rId2">
            <a:alphaModFix/>
          </a:blip>
          <a:srcRect/>
          <a:stretch/>
        </p:blipFill>
        <p:spPr>
          <a:xfrm>
            <a:off x="227765" y="6367323"/>
            <a:ext cx="1260213" cy="394766"/>
          </a:xfrm>
          <a:prstGeom prst="rect">
            <a:avLst/>
          </a:prstGeom>
          <a:noFill/>
          <a:ln>
            <a:noFill/>
          </a:ln>
        </p:spPr>
      </p:pic>
      <p:sp>
        <p:nvSpPr>
          <p:cNvPr id="203" name="Google Shape;203;p13"/>
          <p:cNvSpPr txBox="1">
            <a:spLocks noGrp="1"/>
          </p:cNvSpPr>
          <p:nvPr>
            <p:ph type="title"/>
          </p:nvPr>
        </p:nvSpPr>
        <p:spPr>
          <a:xfrm>
            <a:off x="380010" y="-4950"/>
            <a:ext cx="8383980" cy="844535"/>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1"/>
              </a:buClr>
              <a:buSzPts val="2400"/>
              <a:buFont typeface="Arial"/>
              <a:buNone/>
              <a:defRPr>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13"/>
          <p:cNvSpPr txBox="1">
            <a:spLocks noGrp="1"/>
          </p:cNvSpPr>
          <p:nvPr>
            <p:ph type="body" idx="1"/>
          </p:nvPr>
        </p:nvSpPr>
        <p:spPr>
          <a:xfrm>
            <a:off x="380010" y="1097280"/>
            <a:ext cx="8383980" cy="4910129"/>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5"/>
        <p:cNvGrpSpPr/>
        <p:nvPr/>
      </p:nvGrpSpPr>
      <p:grpSpPr>
        <a:xfrm>
          <a:off x="0" y="0"/>
          <a:ext cx="0" cy="0"/>
          <a:chOff x="0" y="0"/>
          <a:chExt cx="0" cy="0"/>
        </a:xfrm>
      </p:grpSpPr>
      <p:sp>
        <p:nvSpPr>
          <p:cNvPr id="206" name="Google Shape;206;p14"/>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1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3"/>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9" name="Google Shape;59;p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98088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12192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1" name="Google Shape;11;p1"/>
          <p:cNvGrpSpPr/>
          <p:nvPr/>
        </p:nvGrpSpPr>
        <p:grpSpPr>
          <a:xfrm>
            <a:off x="7264458" y="365740"/>
            <a:ext cx="1553307" cy="487719"/>
            <a:chOff x="166688" y="-3240088"/>
            <a:chExt cx="9136063" cy="2868613"/>
          </a:xfrm>
        </p:grpSpPr>
        <p:sp>
          <p:nvSpPr>
            <p:cNvPr id="12" name="Google Shape;12;p1"/>
            <p:cNvSpPr/>
            <p:nvPr/>
          </p:nvSpPr>
          <p:spPr>
            <a:xfrm>
              <a:off x="166688" y="-1244600"/>
              <a:ext cx="876300" cy="850900"/>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 name="Google Shape;13;p1"/>
            <p:cNvSpPr/>
            <p:nvPr/>
          </p:nvSpPr>
          <p:spPr>
            <a:xfrm>
              <a:off x="1258888" y="-1244600"/>
              <a:ext cx="774700" cy="850900"/>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 name="Google Shape;14;p1"/>
            <p:cNvSpPr/>
            <p:nvPr/>
          </p:nvSpPr>
          <p:spPr>
            <a:xfrm>
              <a:off x="2219326" y="-1244600"/>
              <a:ext cx="906463" cy="850900"/>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1"/>
            <p:cNvSpPr/>
            <p:nvPr/>
          </p:nvSpPr>
          <p:spPr>
            <a:xfrm>
              <a:off x="3125788" y="-1244600"/>
              <a:ext cx="1017588" cy="850900"/>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1"/>
            <p:cNvSpPr/>
            <p:nvPr/>
          </p:nvSpPr>
          <p:spPr>
            <a:xfrm>
              <a:off x="4106863" y="-1244600"/>
              <a:ext cx="928688" cy="850900"/>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1"/>
            <p:cNvSpPr/>
            <p:nvPr/>
          </p:nvSpPr>
          <p:spPr>
            <a:xfrm>
              <a:off x="5214938" y="-1244600"/>
              <a:ext cx="906463" cy="873125"/>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1"/>
            <p:cNvSpPr/>
            <p:nvPr/>
          </p:nvSpPr>
          <p:spPr>
            <a:xfrm>
              <a:off x="6384926" y="-1244600"/>
              <a:ext cx="873125" cy="850900"/>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
            <p:cNvSpPr/>
            <p:nvPr/>
          </p:nvSpPr>
          <p:spPr>
            <a:xfrm>
              <a:off x="7477126" y="-1244600"/>
              <a:ext cx="774700" cy="850900"/>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1"/>
            <p:cNvSpPr/>
            <p:nvPr/>
          </p:nvSpPr>
          <p:spPr>
            <a:xfrm>
              <a:off x="3233738" y="-1751013"/>
              <a:ext cx="152400" cy="146050"/>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1"/>
            <p:cNvSpPr/>
            <p:nvPr/>
          </p:nvSpPr>
          <p:spPr>
            <a:xfrm>
              <a:off x="3719513" y="-2219325"/>
              <a:ext cx="219075" cy="263525"/>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1"/>
            <p:cNvSpPr/>
            <p:nvPr/>
          </p:nvSpPr>
          <p:spPr>
            <a:xfrm>
              <a:off x="4289426" y="-2582863"/>
              <a:ext cx="222250" cy="407988"/>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1"/>
            <p:cNvSpPr/>
            <p:nvPr/>
          </p:nvSpPr>
          <p:spPr>
            <a:xfrm>
              <a:off x="4910138" y="-2876550"/>
              <a:ext cx="188913" cy="561975"/>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1"/>
            <p:cNvSpPr/>
            <p:nvPr/>
          </p:nvSpPr>
          <p:spPr>
            <a:xfrm>
              <a:off x="5541963" y="-3081338"/>
              <a:ext cx="174625" cy="70326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25;p1"/>
            <p:cNvSpPr/>
            <p:nvPr/>
          </p:nvSpPr>
          <p:spPr>
            <a:xfrm>
              <a:off x="6140451" y="-3203575"/>
              <a:ext cx="271463" cy="83185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1"/>
            <p:cNvSpPr/>
            <p:nvPr/>
          </p:nvSpPr>
          <p:spPr>
            <a:xfrm>
              <a:off x="6724651" y="-3240088"/>
              <a:ext cx="404813" cy="95091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1"/>
            <p:cNvSpPr/>
            <p:nvPr/>
          </p:nvSpPr>
          <p:spPr>
            <a:xfrm>
              <a:off x="7299326" y="-3173413"/>
              <a:ext cx="558800" cy="1039813"/>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 name="Google Shape;28;p1"/>
            <p:cNvSpPr/>
            <p:nvPr/>
          </p:nvSpPr>
          <p:spPr>
            <a:xfrm>
              <a:off x="7864476" y="-3006725"/>
              <a:ext cx="720725" cy="1103313"/>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29;p1"/>
            <p:cNvSpPr/>
            <p:nvPr/>
          </p:nvSpPr>
          <p:spPr>
            <a:xfrm>
              <a:off x="8393113" y="-2740025"/>
              <a:ext cx="909638" cy="1138238"/>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0" name="Google Shape;30;p1"/>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1" name="Google Shape;31;p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u="none">
                <a:solidFill>
                  <a:schemeClr val="accent2"/>
                </a:solidFill>
                <a:latin typeface="Arial"/>
                <a:ea typeface="Arial"/>
                <a:cs typeface="Arial"/>
                <a:sym typeface="Arial"/>
              </a:defRPr>
            </a:lvl1pPr>
            <a:lvl2pPr marL="0" marR="0" lvl="1" indent="0" algn="r" rtl="0">
              <a:spcBef>
                <a:spcPts val="0"/>
              </a:spcBef>
              <a:buNone/>
              <a:defRPr sz="1200" b="0" u="none">
                <a:solidFill>
                  <a:schemeClr val="accent2"/>
                </a:solidFill>
                <a:latin typeface="Arial"/>
                <a:ea typeface="Arial"/>
                <a:cs typeface="Arial"/>
                <a:sym typeface="Arial"/>
              </a:defRPr>
            </a:lvl2pPr>
            <a:lvl3pPr marL="0" marR="0" lvl="2" indent="0" algn="r" rtl="0">
              <a:spcBef>
                <a:spcPts val="0"/>
              </a:spcBef>
              <a:buNone/>
              <a:defRPr sz="1200" b="0" u="none">
                <a:solidFill>
                  <a:schemeClr val="accent2"/>
                </a:solidFill>
                <a:latin typeface="Arial"/>
                <a:ea typeface="Arial"/>
                <a:cs typeface="Arial"/>
                <a:sym typeface="Arial"/>
              </a:defRPr>
            </a:lvl3pPr>
            <a:lvl4pPr marL="0" marR="0" lvl="3" indent="0" algn="r" rtl="0">
              <a:spcBef>
                <a:spcPts val="0"/>
              </a:spcBef>
              <a:buNone/>
              <a:defRPr sz="1200" b="0" u="none">
                <a:solidFill>
                  <a:schemeClr val="accent2"/>
                </a:solidFill>
                <a:latin typeface="Arial"/>
                <a:ea typeface="Arial"/>
                <a:cs typeface="Arial"/>
                <a:sym typeface="Arial"/>
              </a:defRPr>
            </a:lvl4pPr>
            <a:lvl5pPr marL="0" marR="0" lvl="4" indent="0" algn="r" rtl="0">
              <a:spcBef>
                <a:spcPts val="0"/>
              </a:spcBef>
              <a:buNone/>
              <a:defRPr sz="1200" b="0" u="none">
                <a:solidFill>
                  <a:schemeClr val="accent2"/>
                </a:solidFill>
                <a:latin typeface="Arial"/>
                <a:ea typeface="Arial"/>
                <a:cs typeface="Arial"/>
                <a:sym typeface="Arial"/>
              </a:defRPr>
            </a:lvl5pPr>
            <a:lvl6pPr marL="0" marR="0" lvl="5" indent="0" algn="r" rtl="0">
              <a:spcBef>
                <a:spcPts val="0"/>
              </a:spcBef>
              <a:buNone/>
              <a:defRPr sz="1200" b="0" u="none">
                <a:solidFill>
                  <a:schemeClr val="accent2"/>
                </a:solidFill>
                <a:latin typeface="Arial"/>
                <a:ea typeface="Arial"/>
                <a:cs typeface="Arial"/>
                <a:sym typeface="Arial"/>
              </a:defRPr>
            </a:lvl6pPr>
            <a:lvl7pPr marL="0" marR="0" lvl="6" indent="0" algn="r" rtl="0">
              <a:spcBef>
                <a:spcPts val="0"/>
              </a:spcBef>
              <a:buNone/>
              <a:defRPr sz="1200" b="0" u="none">
                <a:solidFill>
                  <a:schemeClr val="accent2"/>
                </a:solidFill>
                <a:latin typeface="Arial"/>
                <a:ea typeface="Arial"/>
                <a:cs typeface="Arial"/>
                <a:sym typeface="Arial"/>
              </a:defRPr>
            </a:lvl7pPr>
            <a:lvl8pPr marL="0" marR="0" lvl="7" indent="0" algn="r" rtl="0">
              <a:spcBef>
                <a:spcPts val="0"/>
              </a:spcBef>
              <a:buNone/>
              <a:defRPr sz="1200" b="0" u="none">
                <a:solidFill>
                  <a:schemeClr val="accent2"/>
                </a:solidFill>
                <a:latin typeface="Arial"/>
                <a:ea typeface="Arial"/>
                <a:cs typeface="Arial"/>
                <a:sym typeface="Arial"/>
              </a:defRPr>
            </a:lvl8pPr>
            <a:lvl9pPr marL="0" marR="0" lvl="8" indent="0" algn="r" rtl="0">
              <a:spcBef>
                <a:spcPts val="0"/>
              </a:spcBef>
              <a:buNone/>
              <a:defRPr sz="1200" b="0" u="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2"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hyperlink" Target="https://refactoring.guru/design-patterns" TargetMode="Externa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a:spLocks noGrp="1"/>
          </p:cNvSpPr>
          <p:nvPr>
            <p:ph type="ctrTitle"/>
          </p:nvPr>
        </p:nvSpPr>
        <p:spPr>
          <a:xfrm>
            <a:off x="496177" y="320634"/>
            <a:ext cx="6807148" cy="2918222"/>
          </a:xfrm>
          <a:prstGeom prst="rect">
            <a:avLst/>
          </a:prstGeom>
          <a:noFill/>
          <a:ln>
            <a:noFill/>
          </a:ln>
        </p:spPr>
        <p:txBody>
          <a:bodyPr spcFirstLastPara="1" wrap="square" lIns="91425" tIns="45700" rIns="91425" bIns="45700" anchor="b" anchorCtr="0">
            <a:noAutofit/>
          </a:bodyPr>
          <a:lstStyle/>
          <a:p>
            <a:pPr marL="0" lvl="0" indent="0" algn="l" rtl="0">
              <a:lnSpc>
                <a:spcPct val="80000"/>
              </a:lnSpc>
              <a:spcBef>
                <a:spcPts val="0"/>
              </a:spcBef>
              <a:spcAft>
                <a:spcPts val="0"/>
              </a:spcAft>
              <a:buClr>
                <a:schemeClr val="accent1"/>
              </a:buClr>
              <a:buSzPts val="4400"/>
              <a:buFont typeface="Arial"/>
              <a:buNone/>
            </a:pPr>
            <a:r>
              <a:rPr lang="en-US" dirty="0"/>
              <a:t>Design Patterns</a:t>
            </a:r>
            <a:endParaRPr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Outline</a:t>
            </a:r>
          </a:p>
        </p:txBody>
      </p:sp>
      <p:sp>
        <p:nvSpPr>
          <p:cNvPr id="3" name="Text Placeholder 2">
            <a:extLst>
              <a:ext uri="{FF2B5EF4-FFF2-40B4-BE49-F238E27FC236}">
                <a16:creationId xmlns:a16="http://schemas.microsoft.com/office/drawing/2014/main" id="{31D0A314-1889-7642-D5E4-583ADD03E47C}"/>
              </a:ext>
            </a:extLst>
          </p:cNvPr>
          <p:cNvSpPr>
            <a:spLocks noGrp="1"/>
          </p:cNvSpPr>
          <p:nvPr>
            <p:ph type="body" idx="1"/>
          </p:nvPr>
        </p:nvSpPr>
        <p:spPr>
          <a:xfrm>
            <a:off x="380010" y="1481446"/>
            <a:ext cx="8383980" cy="5247391"/>
          </a:xfrm>
        </p:spPr>
        <p:txBody>
          <a:bodyPr numCol="1">
            <a:normAutofit/>
          </a:bodyPr>
          <a:lstStyle/>
          <a:p>
            <a:r>
              <a:rPr lang="en-US" dirty="0"/>
              <a:t>Intro to Design Patterns</a:t>
            </a:r>
          </a:p>
          <a:p>
            <a:r>
              <a:rPr lang="en-US" dirty="0"/>
              <a:t>Singleton</a:t>
            </a:r>
          </a:p>
          <a:p>
            <a:r>
              <a:rPr lang="en-US" dirty="0"/>
              <a:t>Factory</a:t>
            </a:r>
          </a:p>
          <a:p>
            <a:r>
              <a:rPr lang="en-US" dirty="0"/>
              <a:t>Builder</a:t>
            </a:r>
          </a:p>
          <a:p>
            <a:r>
              <a:rPr lang="en-US" dirty="0"/>
              <a:t>Data Access Object</a:t>
            </a:r>
          </a:p>
          <a:p>
            <a:r>
              <a:rPr lang="en-US" dirty="0"/>
              <a:t>Observer</a:t>
            </a:r>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Design Patterns</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Design Patterns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85000" lnSpcReduction="20000"/>
          </a:bodyPr>
          <a:lstStyle/>
          <a:p>
            <a:r>
              <a:rPr lang="en-US" dirty="0"/>
              <a:t>Design patterns are typical solutions to commonly occurring problems in software design.</a:t>
            </a:r>
          </a:p>
          <a:p>
            <a:r>
              <a:rPr lang="en-US" dirty="0"/>
              <a:t>Think of them as ‘pre-made blueprints’ which you can customize as needed, which solve recurring design problems in your code.</a:t>
            </a:r>
          </a:p>
          <a:p>
            <a:r>
              <a:rPr lang="en-US" b="1" i="1" u="sng" dirty="0"/>
              <a:t>Design patterns are not algorithms</a:t>
            </a:r>
          </a:p>
          <a:p>
            <a:r>
              <a:rPr lang="en-US" dirty="0"/>
              <a:t>You cannot simply copy-and-paste code for a design pattern into your code, rather, design patterns are a way of thinking about, and solving a particular problem.</a:t>
            </a:r>
          </a:p>
          <a:p>
            <a:r>
              <a:rPr lang="en-US" dirty="0"/>
              <a:t>You may have unknowingly stumbled into a design pattern by thinking about the best way to handle a problem in your system or program design.</a:t>
            </a:r>
          </a:p>
          <a:p>
            <a:r>
              <a:rPr lang="en-US" dirty="0"/>
              <a:t>You can find more information about Design Patterns here: </a:t>
            </a:r>
            <a:r>
              <a:rPr lang="en-US" dirty="0">
                <a:hlinkClick r:id="rId2"/>
              </a:rPr>
              <a:t>https://refactoring.guru/design-patterns</a:t>
            </a:r>
            <a:endParaRPr lang="en-US" dirty="0"/>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2013507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1BBDD-4046-A7E0-8CAB-7057E8A13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4DF9B-2103-42A4-ACC2-72F392E91D66}"/>
              </a:ext>
            </a:extLst>
          </p:cNvPr>
          <p:cNvSpPr>
            <a:spLocks noGrp="1"/>
          </p:cNvSpPr>
          <p:nvPr>
            <p:ph type="title"/>
          </p:nvPr>
        </p:nvSpPr>
        <p:spPr/>
        <p:txBody>
          <a:bodyPr/>
          <a:lstStyle/>
          <a:p>
            <a:r>
              <a:rPr lang="en-US" dirty="0"/>
              <a:t>Design Patterns – Benefits &amp; Criticisms</a:t>
            </a:r>
          </a:p>
        </p:txBody>
      </p:sp>
      <p:sp>
        <p:nvSpPr>
          <p:cNvPr id="3" name="Text Placeholder 2">
            <a:extLst>
              <a:ext uri="{FF2B5EF4-FFF2-40B4-BE49-F238E27FC236}">
                <a16:creationId xmlns:a16="http://schemas.microsoft.com/office/drawing/2014/main" id="{38664DBD-2858-78DA-6A74-704AE2345F16}"/>
              </a:ext>
            </a:extLst>
          </p:cNvPr>
          <p:cNvSpPr>
            <a:spLocks noGrp="1"/>
          </p:cNvSpPr>
          <p:nvPr>
            <p:ph type="body" idx="1"/>
          </p:nvPr>
        </p:nvSpPr>
        <p:spPr>
          <a:xfrm>
            <a:off x="380010" y="1481445"/>
            <a:ext cx="8383980" cy="5074629"/>
          </a:xfrm>
        </p:spPr>
        <p:txBody>
          <a:bodyPr>
            <a:normAutofit fontScale="70000" lnSpcReduction="20000"/>
          </a:bodyPr>
          <a:lstStyle/>
          <a:p>
            <a:pPr marL="50800" indent="0">
              <a:buNone/>
            </a:pPr>
            <a:r>
              <a:rPr lang="en-US" dirty="0"/>
              <a:t>Benefits</a:t>
            </a:r>
          </a:p>
          <a:p>
            <a:r>
              <a:rPr lang="en-US" dirty="0"/>
              <a:t>Design patterns are tried and tested solutions, so knowing these patterns are useful for teaching you how to solve all sorts of problems.</a:t>
            </a:r>
          </a:p>
          <a:p>
            <a:r>
              <a:rPr lang="en-US" dirty="0"/>
              <a:t>Design patterns expand your “programming vocabulary” and define a common language to communicate more efficiently with your team: “oh you can use a factory for that”.</a:t>
            </a:r>
          </a:p>
          <a:p>
            <a:pPr marL="50800" indent="0">
              <a:buNone/>
            </a:pPr>
            <a:r>
              <a:rPr lang="en-US" dirty="0"/>
              <a:t>Criticisms</a:t>
            </a:r>
          </a:p>
          <a:p>
            <a:r>
              <a:rPr lang="en-US" dirty="0"/>
              <a:t>Usually, the need for patterns arise when people choose a programming language or technology the lacks the necessary level of abstraction.</a:t>
            </a:r>
          </a:p>
          <a:p>
            <a:r>
              <a:rPr lang="en-US" dirty="0"/>
              <a:t>Patterns try to systemize approaches that are already widely used, so often developers treat them as “dogma” and will implement patterns without adapting them to the context of their project (don’t do this!)</a:t>
            </a:r>
          </a:p>
          <a:p>
            <a:r>
              <a:rPr lang="en-US" dirty="0"/>
              <a:t>Newer/inexperienced developers will try to implement patterns which may end up making their code overly complex, when a simple solution would do just fine.</a:t>
            </a:r>
          </a:p>
          <a:p>
            <a:endParaRPr lang="en-US" dirty="0"/>
          </a:p>
        </p:txBody>
      </p:sp>
      <p:sp>
        <p:nvSpPr>
          <p:cNvPr id="4" name="Slide Number Placeholder 3">
            <a:extLst>
              <a:ext uri="{FF2B5EF4-FFF2-40B4-BE49-F238E27FC236}">
                <a16:creationId xmlns:a16="http://schemas.microsoft.com/office/drawing/2014/main" id="{6C67075F-A5FA-68C4-60CD-2BA82E5509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03078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5A7F8-2DB3-EB80-382B-A09340F0C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F8DE1-1E95-F083-9D56-A5ED01E80E91}"/>
              </a:ext>
            </a:extLst>
          </p:cNvPr>
          <p:cNvSpPr>
            <a:spLocks noGrp="1"/>
          </p:cNvSpPr>
          <p:nvPr>
            <p:ph type="title"/>
          </p:nvPr>
        </p:nvSpPr>
        <p:spPr/>
        <p:txBody>
          <a:bodyPr/>
          <a:lstStyle/>
          <a:p>
            <a:r>
              <a:rPr lang="en-US" dirty="0"/>
              <a:t>Design Patterns – Classifications</a:t>
            </a:r>
          </a:p>
        </p:txBody>
      </p:sp>
      <p:sp>
        <p:nvSpPr>
          <p:cNvPr id="4" name="Slide Number Placeholder 3">
            <a:extLst>
              <a:ext uri="{FF2B5EF4-FFF2-40B4-BE49-F238E27FC236}">
                <a16:creationId xmlns:a16="http://schemas.microsoft.com/office/drawing/2014/main" id="{3352670B-DB8F-2654-3E31-929153A049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graphicFrame>
        <p:nvGraphicFramePr>
          <p:cNvPr id="7" name="Table 6">
            <a:extLst>
              <a:ext uri="{FF2B5EF4-FFF2-40B4-BE49-F238E27FC236}">
                <a16:creationId xmlns:a16="http://schemas.microsoft.com/office/drawing/2014/main" id="{96C2D320-0207-B0D6-7CA4-07DE986824F2}"/>
              </a:ext>
            </a:extLst>
          </p:cNvPr>
          <p:cNvGraphicFramePr>
            <a:graphicFrameLocks noGrp="1"/>
          </p:cNvGraphicFramePr>
          <p:nvPr>
            <p:extLst>
              <p:ext uri="{D42A27DB-BD31-4B8C-83A1-F6EECF244321}">
                <p14:modId xmlns:p14="http://schemas.microsoft.com/office/powerpoint/2010/main" val="927336988"/>
              </p:ext>
            </p:extLst>
          </p:nvPr>
        </p:nvGraphicFramePr>
        <p:xfrm>
          <a:off x="323715" y="2461954"/>
          <a:ext cx="8496570" cy="4084320"/>
        </p:xfrm>
        <a:graphic>
          <a:graphicData uri="http://schemas.openxmlformats.org/drawingml/2006/table">
            <a:tbl>
              <a:tblPr firstRow="1" bandRow="1">
                <a:tableStyleId>{5C22544A-7EE6-4342-B048-85BDC9FD1C3A}</a:tableStyleId>
              </a:tblPr>
              <a:tblGrid>
                <a:gridCol w="1905991">
                  <a:extLst>
                    <a:ext uri="{9D8B030D-6E8A-4147-A177-3AD203B41FA5}">
                      <a16:colId xmlns:a16="http://schemas.microsoft.com/office/drawing/2014/main" val="3802417363"/>
                    </a:ext>
                  </a:extLst>
                </a:gridCol>
                <a:gridCol w="3648974">
                  <a:extLst>
                    <a:ext uri="{9D8B030D-6E8A-4147-A177-3AD203B41FA5}">
                      <a16:colId xmlns:a16="http://schemas.microsoft.com/office/drawing/2014/main" val="2127902666"/>
                    </a:ext>
                  </a:extLst>
                </a:gridCol>
                <a:gridCol w="2941605">
                  <a:extLst>
                    <a:ext uri="{9D8B030D-6E8A-4147-A177-3AD203B41FA5}">
                      <a16:colId xmlns:a16="http://schemas.microsoft.com/office/drawing/2014/main" val="1869651817"/>
                    </a:ext>
                  </a:extLst>
                </a:gridCol>
              </a:tblGrid>
              <a:tr h="177749">
                <a:tc>
                  <a:txBody>
                    <a:bodyPr/>
                    <a:lstStyle/>
                    <a:p>
                      <a:r>
                        <a:rPr lang="en-US" sz="2000" dirty="0"/>
                        <a:t>Category</a:t>
                      </a:r>
                    </a:p>
                  </a:txBody>
                  <a:tcPr/>
                </a:tc>
                <a:tc>
                  <a:txBody>
                    <a:bodyPr/>
                    <a:lstStyle/>
                    <a:p>
                      <a:r>
                        <a:rPr lang="en-US" sz="2000" dirty="0"/>
                        <a:t>Description</a:t>
                      </a:r>
                    </a:p>
                  </a:txBody>
                  <a:tcPr/>
                </a:tc>
                <a:tc>
                  <a:txBody>
                    <a:bodyPr/>
                    <a:lstStyle/>
                    <a:p>
                      <a:r>
                        <a:rPr lang="en-US" sz="2000" dirty="0"/>
                        <a:t>Examples</a:t>
                      </a:r>
                    </a:p>
                  </a:txBody>
                  <a:tcPr/>
                </a:tc>
                <a:extLst>
                  <a:ext uri="{0D108BD9-81ED-4DB2-BD59-A6C34878D82A}">
                    <a16:rowId xmlns:a16="http://schemas.microsoft.com/office/drawing/2014/main" val="2183500712"/>
                  </a:ext>
                </a:extLst>
              </a:tr>
              <a:tr h="426597">
                <a:tc>
                  <a:txBody>
                    <a:bodyPr/>
                    <a:lstStyle/>
                    <a:p>
                      <a:r>
                        <a:rPr lang="en-US" sz="1600" b="0" i="0" dirty="0"/>
                        <a:t>Creational Patterns</a:t>
                      </a:r>
                    </a:p>
                  </a:txBody>
                  <a:tcPr/>
                </a:tc>
                <a:tc>
                  <a:txBody>
                    <a:bodyPr/>
                    <a:lstStyle/>
                    <a:p>
                      <a:r>
                        <a:rPr lang="en-US" sz="1600" dirty="0"/>
                        <a:t>Patterns which provide mechanisms to create objects to increase flexibility and reuse of code.</a:t>
                      </a:r>
                    </a:p>
                  </a:txBody>
                  <a:tcPr/>
                </a:tc>
                <a:tc>
                  <a:txBody>
                    <a:bodyPr/>
                    <a:lstStyle/>
                    <a:p>
                      <a:r>
                        <a:rPr lang="en-US" sz="1600" b="1" i="1" dirty="0"/>
                        <a:t>Singleton*</a:t>
                      </a:r>
                    </a:p>
                    <a:p>
                      <a:r>
                        <a:rPr lang="en-US" sz="1600" b="1" i="1" dirty="0"/>
                        <a:t>Factory*</a:t>
                      </a:r>
                    </a:p>
                    <a:p>
                      <a:r>
                        <a:rPr lang="en-US" sz="1600" b="1" i="1" dirty="0"/>
                        <a:t>Builder*</a:t>
                      </a:r>
                    </a:p>
                  </a:txBody>
                  <a:tcPr/>
                </a:tc>
                <a:extLst>
                  <a:ext uri="{0D108BD9-81ED-4DB2-BD59-A6C34878D82A}">
                    <a16:rowId xmlns:a16="http://schemas.microsoft.com/office/drawing/2014/main" val="1667617106"/>
                  </a:ext>
                </a:extLst>
              </a:tr>
              <a:tr h="551021">
                <a:tc>
                  <a:txBody>
                    <a:bodyPr/>
                    <a:lstStyle/>
                    <a:p>
                      <a:r>
                        <a:rPr lang="en-US" sz="1600" dirty="0"/>
                        <a:t>Structural Patterns</a:t>
                      </a:r>
                    </a:p>
                  </a:txBody>
                  <a:tcPr/>
                </a:tc>
                <a:tc>
                  <a:txBody>
                    <a:bodyPr/>
                    <a:lstStyle/>
                    <a:p>
                      <a:r>
                        <a:rPr lang="en-US" sz="1600" dirty="0"/>
                        <a:t>Patterns which determine how to compose objects and classes to form larger structures, while maintaining the flexibility/efficiency of the component parts.</a:t>
                      </a:r>
                    </a:p>
                  </a:txBody>
                  <a:tcPr/>
                </a:tc>
                <a:tc>
                  <a:txBody>
                    <a:bodyPr/>
                    <a:lstStyle/>
                    <a:p>
                      <a:r>
                        <a:rPr lang="en-US" sz="1600" b="1" i="1" dirty="0"/>
                        <a:t>DAO*</a:t>
                      </a:r>
                    </a:p>
                    <a:p>
                      <a:r>
                        <a:rPr lang="en-US" sz="1600" dirty="0"/>
                        <a:t>DTO</a:t>
                      </a:r>
                    </a:p>
                    <a:p>
                      <a:r>
                        <a:rPr lang="en-US" sz="1600" dirty="0"/>
                        <a:t>Composite</a:t>
                      </a:r>
                    </a:p>
                  </a:txBody>
                  <a:tcPr/>
                </a:tc>
                <a:extLst>
                  <a:ext uri="{0D108BD9-81ED-4DB2-BD59-A6C34878D82A}">
                    <a16:rowId xmlns:a16="http://schemas.microsoft.com/office/drawing/2014/main" val="3116265275"/>
                  </a:ext>
                </a:extLst>
              </a:tr>
              <a:tr h="799870">
                <a:tc>
                  <a:txBody>
                    <a:bodyPr/>
                    <a:lstStyle/>
                    <a:p>
                      <a:r>
                        <a:rPr lang="en-US" sz="1600" dirty="0"/>
                        <a:t>Behavioral Patterns</a:t>
                      </a:r>
                    </a:p>
                  </a:txBody>
                  <a:tcPr/>
                </a:tc>
                <a:tc>
                  <a:txBody>
                    <a:bodyPr/>
                    <a:lstStyle/>
                    <a:p>
                      <a:r>
                        <a:rPr lang="en-US" sz="1600" dirty="0"/>
                        <a:t>Patterns concerned with algorithms and the assignment of responsibility between objects. These patterns describe the patterns of the objects/classes as well as the patterns of communication between them.</a:t>
                      </a:r>
                    </a:p>
                  </a:txBody>
                  <a:tcPr/>
                </a:tc>
                <a:tc>
                  <a:txBody>
                    <a:bodyPr/>
                    <a:lstStyle/>
                    <a:p>
                      <a:r>
                        <a:rPr lang="en-US" sz="1600" b="1" i="1" dirty="0"/>
                        <a:t>Observer*</a:t>
                      </a:r>
                    </a:p>
                    <a:p>
                      <a:r>
                        <a:rPr lang="en-US" sz="1600" dirty="0"/>
                        <a:t>Command</a:t>
                      </a:r>
                    </a:p>
                    <a:p>
                      <a:r>
                        <a:rPr lang="en-US" sz="1600" dirty="0"/>
                        <a:t>Strategy</a:t>
                      </a:r>
                    </a:p>
                    <a:p>
                      <a:r>
                        <a:rPr lang="en-US" sz="1600" dirty="0"/>
                        <a:t>State</a:t>
                      </a:r>
                    </a:p>
                  </a:txBody>
                  <a:tcPr/>
                </a:tc>
                <a:extLst>
                  <a:ext uri="{0D108BD9-81ED-4DB2-BD59-A6C34878D82A}">
                    <a16:rowId xmlns:a16="http://schemas.microsoft.com/office/drawing/2014/main" val="635268296"/>
                  </a:ext>
                </a:extLst>
              </a:tr>
            </a:tbl>
          </a:graphicData>
        </a:graphic>
      </p:graphicFrame>
      <p:sp>
        <p:nvSpPr>
          <p:cNvPr id="8" name="Text Placeholder 2">
            <a:extLst>
              <a:ext uri="{FF2B5EF4-FFF2-40B4-BE49-F238E27FC236}">
                <a16:creationId xmlns:a16="http://schemas.microsoft.com/office/drawing/2014/main" id="{0A11B93C-BA9C-3B92-A49D-A631D97DD8A5}"/>
              </a:ext>
            </a:extLst>
          </p:cNvPr>
          <p:cNvSpPr>
            <a:spLocks noGrp="1"/>
          </p:cNvSpPr>
          <p:nvPr>
            <p:ph type="body" idx="1"/>
          </p:nvPr>
        </p:nvSpPr>
        <p:spPr>
          <a:xfrm>
            <a:off x="380010" y="1342900"/>
            <a:ext cx="8383980" cy="790700"/>
          </a:xfrm>
        </p:spPr>
        <p:txBody>
          <a:bodyPr>
            <a:normAutofit fontScale="85000" lnSpcReduction="20000"/>
          </a:bodyPr>
          <a:lstStyle/>
          <a:p>
            <a:r>
              <a:rPr lang="en-US" dirty="0"/>
              <a:t>There are many different types of design patterns, and they are typically categorized by their </a:t>
            </a:r>
            <a:r>
              <a:rPr lang="en-US" i="1" dirty="0"/>
              <a:t>intent</a:t>
            </a:r>
            <a:r>
              <a:rPr lang="en-US" dirty="0"/>
              <a:t>, or purpose.</a:t>
            </a:r>
          </a:p>
        </p:txBody>
      </p:sp>
    </p:spTree>
    <p:extLst>
      <p:ext uri="{BB962C8B-B14F-4D97-AF65-F5344CB8AC3E}">
        <p14:creationId xmlns:p14="http://schemas.microsoft.com/office/powerpoint/2010/main" val="884530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0890B-7EAD-4527-8252-3F3A578B1A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8E9172-AF2C-F2BA-CA42-DCEDA5FA15D5}"/>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6</a:t>
            </a:fld>
            <a:endParaRPr lang="en-US"/>
          </a:p>
        </p:txBody>
      </p:sp>
      <p:sp>
        <p:nvSpPr>
          <p:cNvPr id="4" name="Google Shape;212;p15">
            <a:extLst>
              <a:ext uri="{FF2B5EF4-FFF2-40B4-BE49-F238E27FC236}">
                <a16:creationId xmlns:a16="http://schemas.microsoft.com/office/drawing/2014/main" id="{6022462A-742F-14FD-21F7-6E6DC464F9C5}"/>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Singleton</a:t>
            </a:r>
          </a:p>
        </p:txBody>
      </p:sp>
      <p:pic>
        <p:nvPicPr>
          <p:cNvPr id="6" name="Picture 5">
            <a:extLst>
              <a:ext uri="{FF2B5EF4-FFF2-40B4-BE49-F238E27FC236}">
                <a16:creationId xmlns:a16="http://schemas.microsoft.com/office/drawing/2014/main" id="{54BDD758-07BF-CF12-04A3-88EE18F13F6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550801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D61B1-8502-9943-DABA-0D44B859A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FC3AD-2D4B-7B9B-959D-FA99965CD4D0}"/>
              </a:ext>
            </a:extLst>
          </p:cNvPr>
          <p:cNvSpPr>
            <a:spLocks noGrp="1"/>
          </p:cNvSpPr>
          <p:nvPr>
            <p:ph type="title"/>
          </p:nvPr>
        </p:nvSpPr>
        <p:spPr/>
        <p:txBody>
          <a:bodyPr/>
          <a:lstStyle/>
          <a:p>
            <a:r>
              <a:rPr lang="en-US" dirty="0"/>
              <a:t>Design Patterns - Singleton</a:t>
            </a:r>
          </a:p>
        </p:txBody>
      </p:sp>
      <p:sp>
        <p:nvSpPr>
          <p:cNvPr id="3" name="Text Placeholder 2">
            <a:extLst>
              <a:ext uri="{FF2B5EF4-FFF2-40B4-BE49-F238E27FC236}">
                <a16:creationId xmlns:a16="http://schemas.microsoft.com/office/drawing/2014/main" id="{8476B6B0-E121-A26C-C59C-39191E2804D9}"/>
              </a:ext>
            </a:extLst>
          </p:cNvPr>
          <p:cNvSpPr>
            <a:spLocks noGrp="1"/>
          </p:cNvSpPr>
          <p:nvPr>
            <p:ph type="body" idx="1"/>
          </p:nvPr>
        </p:nvSpPr>
        <p:spPr>
          <a:xfrm>
            <a:off x="380010" y="1481445"/>
            <a:ext cx="8383980" cy="5247391"/>
          </a:xfrm>
        </p:spPr>
        <p:txBody>
          <a:bodyPr>
            <a:normAutofit fontScale="70000" lnSpcReduction="20000"/>
          </a:bodyPr>
          <a:lstStyle/>
          <a:p>
            <a:r>
              <a:rPr lang="en-US" dirty="0"/>
              <a:t>If you application struggles to find a ‘single source of truth’ or has a single, tightly bound entity that is used throughout your application frequently, a Singleton allows multiple entities in your program to reference the same source object.</a:t>
            </a:r>
          </a:p>
          <a:p>
            <a:r>
              <a:rPr lang="en-US" dirty="0"/>
              <a:t>The Singleton design pattern is used to ensure that only a single instance of a particular class is created throughout the lifetime of our application.</a:t>
            </a:r>
          </a:p>
          <a:p>
            <a:r>
              <a:rPr lang="en-US" dirty="0"/>
              <a:t>This is achieved by creating a static method that will return the singleton instance (or create a new one if one does not already exist)</a:t>
            </a:r>
          </a:p>
          <a:p>
            <a:r>
              <a:rPr lang="en-US" dirty="0"/>
              <a:t>Creation of a singleton object can occur either:</a:t>
            </a:r>
          </a:p>
          <a:p>
            <a:pPr lvl="1"/>
            <a:r>
              <a:rPr lang="en-US" b="1" i="1" dirty="0"/>
              <a:t>Lazily</a:t>
            </a:r>
            <a:r>
              <a:rPr lang="en-US" dirty="0"/>
              <a:t> – only when it is first needed</a:t>
            </a:r>
          </a:p>
          <a:p>
            <a:pPr lvl="1"/>
            <a:r>
              <a:rPr lang="en-US" b="1" i="1" dirty="0"/>
              <a:t>Eagerly</a:t>
            </a:r>
            <a:r>
              <a:rPr lang="en-US" dirty="0"/>
              <a:t> – available when the class is loaded into memory.</a:t>
            </a:r>
          </a:p>
          <a:p>
            <a:endParaRPr lang="en-US" dirty="0"/>
          </a:p>
          <a:p>
            <a:r>
              <a:rPr lang="en-US" dirty="0"/>
              <a:t>To create an effective singleton, you should do the following:</a:t>
            </a:r>
          </a:p>
          <a:p>
            <a:pPr lvl="1"/>
            <a:r>
              <a:rPr lang="en-US" dirty="0"/>
              <a:t>Create a static method to create or return a reference to the singleton object.</a:t>
            </a:r>
          </a:p>
          <a:p>
            <a:pPr lvl="1"/>
            <a:r>
              <a:rPr lang="en-US" dirty="0"/>
              <a:t>Create a single, private constructor in the class.</a:t>
            </a:r>
          </a:p>
          <a:p>
            <a:pPr lvl="1"/>
            <a:r>
              <a:rPr lang="en-US" dirty="0"/>
              <a:t>Override the clone() method (inherited from the Object class).</a:t>
            </a:r>
          </a:p>
        </p:txBody>
      </p:sp>
      <p:sp>
        <p:nvSpPr>
          <p:cNvPr id="4" name="Slide Number Placeholder 3">
            <a:extLst>
              <a:ext uri="{FF2B5EF4-FFF2-40B4-BE49-F238E27FC236}">
                <a16:creationId xmlns:a16="http://schemas.microsoft.com/office/drawing/2014/main" id="{7B02DF88-66CF-174E-11DF-39E111B0F5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255419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FDB46-CB77-43BD-8935-38A4C3F6FA6B}"/>
              </a:ext>
            </a:extLst>
          </p:cNvPr>
          <p:cNvSpPr>
            <a:spLocks noGrp="1"/>
          </p:cNvSpPr>
          <p:nvPr>
            <p:ph type="title"/>
          </p:nvPr>
        </p:nvSpPr>
        <p:spPr/>
        <p:txBody>
          <a:bodyPr/>
          <a:lstStyle/>
          <a:p>
            <a:r>
              <a:rPr lang="en-US" dirty="0"/>
              <a:t>Lazy Singleton</a:t>
            </a:r>
          </a:p>
        </p:txBody>
      </p:sp>
      <p:sp>
        <p:nvSpPr>
          <p:cNvPr id="4" name="Slide Number Placeholder 3">
            <a:extLst>
              <a:ext uri="{FF2B5EF4-FFF2-40B4-BE49-F238E27FC236}">
                <a16:creationId xmlns:a16="http://schemas.microsoft.com/office/drawing/2014/main" id="{9B226E6F-12C5-41EC-BF9D-EAF162B65B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6" name="Rectangle 5">
            <a:extLst>
              <a:ext uri="{FF2B5EF4-FFF2-40B4-BE49-F238E27FC236}">
                <a16:creationId xmlns:a16="http://schemas.microsoft.com/office/drawing/2014/main" id="{5205A829-31E9-4CD1-ADDD-91D473A95FC5}"/>
              </a:ext>
            </a:extLst>
          </p:cNvPr>
          <p:cNvSpPr/>
          <p:nvPr/>
        </p:nvSpPr>
        <p:spPr>
          <a:xfrm>
            <a:off x="306289" y="1317072"/>
            <a:ext cx="8531422" cy="5301842"/>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fontScale="85000" lnSpcReduction="20000"/>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LazySingleton</a:t>
            </a:r>
            <a:r>
              <a:rPr lang="en-US" sz="1800" b="1" dirty="0">
                <a:solidFill>
                  <a:srgbClr val="000000"/>
                </a:solidFill>
                <a:latin typeface="Consolas" panose="020B0609020204030204" pitchFamily="49" charset="0"/>
              </a:rPr>
              <a:t> {</a:t>
            </a:r>
          </a:p>
          <a:p>
            <a:pPr algn="l"/>
            <a:r>
              <a:rPr lang="en-US" sz="1800" b="1" dirty="0">
                <a:solidFill>
                  <a:srgbClr val="7F0055"/>
                </a:solidFill>
                <a:latin typeface="Consolas" panose="020B0609020204030204" pitchFamily="49" charset="0"/>
              </a:rPr>
              <a:t>    private</a:t>
            </a:r>
            <a:r>
              <a:rPr lang="en-US" sz="1800" b="1" dirty="0">
                <a:solidFill>
                  <a:srgbClr val="000000"/>
                </a:solidFill>
                <a:latin typeface="Consolas" panose="020B0609020204030204" pitchFamily="49" charset="0"/>
              </a:rPr>
              <a:t> </a:t>
            </a:r>
            <a:r>
              <a:rPr lang="en-US" sz="1800" b="1" dirty="0">
                <a:solidFill>
                  <a:schemeClr val="tx1"/>
                </a:solidFill>
                <a:latin typeface="Consolas" panose="020B0609020204030204" pitchFamily="49" charset="0"/>
              </a:rPr>
              <a:t>String</a:t>
            </a:r>
            <a:r>
              <a:rPr lang="en-US" sz="1800" b="1" dirty="0">
                <a:solidFill>
                  <a:srgbClr val="000000"/>
                </a:solidFill>
                <a:latin typeface="Consolas" panose="020B0609020204030204" pitchFamily="49" charset="0"/>
              </a:rPr>
              <a:t> </a:t>
            </a:r>
            <a:r>
              <a:rPr lang="en-US" sz="1800" b="1" dirty="0">
                <a:solidFill>
                  <a:srgbClr val="0000C0"/>
                </a:solidFill>
                <a:latin typeface="Consolas" panose="020B0609020204030204" pitchFamily="49" charset="0"/>
              </a:rPr>
              <a:t>data</a:t>
            </a:r>
            <a:r>
              <a:rPr lang="en-US" sz="1800" b="1" dirty="0">
                <a:solidFill>
                  <a:srgbClr val="000000"/>
                </a:solidFill>
                <a:latin typeface="Consolas" panose="020B0609020204030204" pitchFamily="49" charset="0"/>
              </a:rPr>
              <a:t>;</a:t>
            </a:r>
          </a:p>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    private</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LazySingleton</a:t>
            </a:r>
            <a:r>
              <a:rPr lang="en-US" sz="1800" b="1" dirty="0">
                <a:solidFill>
                  <a:srgbClr val="000000"/>
                </a:solidFill>
                <a:latin typeface="Consolas" panose="020B0609020204030204" pitchFamily="49" charset="0"/>
              </a:rPr>
              <a:t> </a:t>
            </a:r>
            <a:r>
              <a:rPr lang="en-US" sz="1800" b="1" i="1" dirty="0" err="1">
                <a:solidFill>
                  <a:srgbClr val="0000C0"/>
                </a:solidFill>
                <a:latin typeface="Consolas" panose="020B0609020204030204" pitchFamily="49" charset="0"/>
              </a:rPr>
              <a:t>mySingleton</a:t>
            </a:r>
            <a:r>
              <a:rPr lang="en-US" sz="1800" b="1" i="1" dirty="0">
                <a:solidFill>
                  <a:srgbClr val="000000"/>
                </a:solidFill>
                <a:latin typeface="Consolas" panose="020B0609020204030204" pitchFamily="49" charset="0"/>
              </a:rPr>
              <a:t>;</a:t>
            </a:r>
          </a:p>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    private</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LazySingleton</a:t>
            </a:r>
            <a:r>
              <a:rPr lang="en-US" sz="1800" b="1" dirty="0">
                <a:solidFill>
                  <a:srgbClr val="000000"/>
                </a:solidFill>
                <a:latin typeface="Consolas" panose="020B0609020204030204" pitchFamily="49" charset="0"/>
              </a:rPr>
              <a:t>() { }</a:t>
            </a:r>
          </a:p>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LazySingleton</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getSingleton</a:t>
            </a:r>
            <a:r>
              <a:rPr lang="en-US" sz="1800" b="1" dirty="0">
                <a:solidFill>
                  <a:srgbClr val="000000"/>
                </a:solidFill>
                <a:latin typeface="Consolas" panose="020B0609020204030204" pitchFamily="49" charset="0"/>
              </a:rPr>
              <a:t>() {</a:t>
            </a:r>
          </a:p>
          <a:p>
            <a:pPr algn="l"/>
            <a:r>
              <a:rPr lang="en-US" sz="1800" b="1" dirty="0">
                <a:solidFill>
                  <a:srgbClr val="7F0055"/>
                </a:solidFill>
                <a:latin typeface="Consolas" panose="020B0609020204030204" pitchFamily="49" charset="0"/>
              </a:rPr>
              <a:t>	if</a:t>
            </a:r>
            <a:r>
              <a:rPr lang="en-US" sz="1800" b="1" dirty="0">
                <a:solidFill>
                  <a:srgbClr val="000000"/>
                </a:solidFill>
                <a:latin typeface="Consolas" panose="020B0609020204030204" pitchFamily="49" charset="0"/>
              </a:rPr>
              <a:t> (</a:t>
            </a:r>
            <a:r>
              <a:rPr lang="en-US" sz="1800" b="1" i="1" dirty="0" err="1">
                <a:solidFill>
                  <a:srgbClr val="0000C0"/>
                </a:solidFill>
                <a:latin typeface="Consolas" panose="020B0609020204030204" pitchFamily="49" charset="0"/>
              </a:rPr>
              <a:t>mySingleton</a:t>
            </a:r>
            <a:r>
              <a:rPr lang="en-US" sz="1800" b="1" i="1" dirty="0">
                <a:solidFill>
                  <a:srgbClr val="000000"/>
                </a:solidFill>
                <a:latin typeface="Consolas" panose="020B0609020204030204" pitchFamily="49" charset="0"/>
              </a:rPr>
              <a:t> == </a:t>
            </a:r>
            <a:r>
              <a:rPr lang="en-US" sz="1800" b="1" i="1" dirty="0">
                <a:solidFill>
                  <a:srgbClr val="7F0055"/>
                </a:solidFill>
                <a:latin typeface="Consolas" panose="020B0609020204030204" pitchFamily="49" charset="0"/>
              </a:rPr>
              <a:t>null</a:t>
            </a:r>
            <a:r>
              <a:rPr lang="en-US" sz="1800" b="1" i="1" dirty="0">
                <a:solidFill>
                  <a:srgbClr val="000000"/>
                </a:solidFill>
                <a:latin typeface="Consolas" panose="020B0609020204030204" pitchFamily="49" charset="0"/>
              </a:rPr>
              <a:t>) </a:t>
            </a:r>
            <a:r>
              <a:rPr lang="en-US" sz="1800" i="1" dirty="0" err="1">
                <a:solidFill>
                  <a:srgbClr val="0000C0"/>
                </a:solidFill>
                <a:latin typeface="Consolas" panose="020B0609020204030204" pitchFamily="49" charset="0"/>
              </a:rPr>
              <a:t>mySingleton</a:t>
            </a:r>
            <a:r>
              <a:rPr lang="en-US" sz="1800" i="1" dirty="0">
                <a:solidFill>
                  <a:srgbClr val="000000"/>
                </a:solidFill>
                <a:latin typeface="Consolas" panose="020B0609020204030204" pitchFamily="49" charset="0"/>
              </a:rPr>
              <a:t> = </a:t>
            </a:r>
            <a:r>
              <a:rPr lang="en-US" sz="1800" b="1" i="1" dirty="0">
                <a:solidFill>
                  <a:srgbClr val="7F0055"/>
                </a:solidFill>
                <a:latin typeface="Consolas" panose="020B0609020204030204" pitchFamily="49" charset="0"/>
              </a:rPr>
              <a:t>new</a:t>
            </a:r>
            <a:r>
              <a:rPr lang="en-US" sz="1800" b="1" i="1" dirty="0">
                <a:solidFill>
                  <a:srgbClr val="000000"/>
                </a:solidFill>
                <a:latin typeface="Consolas" panose="020B0609020204030204" pitchFamily="49" charset="0"/>
              </a:rPr>
              <a:t> </a:t>
            </a:r>
            <a:r>
              <a:rPr lang="en-US" sz="1800" b="1" i="1" dirty="0" err="1">
                <a:solidFill>
                  <a:srgbClr val="000000"/>
                </a:solidFill>
                <a:latin typeface="Consolas" panose="020B0609020204030204" pitchFamily="49" charset="0"/>
              </a:rPr>
              <a:t>LazySingleton</a:t>
            </a:r>
            <a:r>
              <a:rPr lang="en-US" sz="1800" b="1" i="1" dirty="0">
                <a:solidFill>
                  <a:srgbClr val="000000"/>
                </a:solidFill>
                <a:latin typeface="Consolas" panose="020B0609020204030204" pitchFamily="49" charset="0"/>
              </a:rPr>
              <a:t>();</a:t>
            </a:r>
          </a:p>
          <a:p>
            <a:pPr algn="l"/>
            <a:endParaRPr lang="en-US" sz="1800" b="1" dirty="0">
              <a:solidFill>
                <a:srgbClr val="7F0055"/>
              </a:solidFill>
              <a:latin typeface="Consolas" panose="020B0609020204030204" pitchFamily="49" charset="0"/>
            </a:endParaRPr>
          </a:p>
          <a:p>
            <a:pPr algn="l"/>
            <a:r>
              <a:rPr lang="en-US" sz="1800" b="1" dirty="0">
                <a:solidFill>
                  <a:srgbClr val="7F0055"/>
                </a:solidFill>
                <a:latin typeface="Consolas" panose="020B0609020204030204" pitchFamily="49" charset="0"/>
              </a:rPr>
              <a:t>	return</a:t>
            </a:r>
            <a:r>
              <a:rPr lang="en-US" sz="1800" b="1" dirty="0">
                <a:solidFill>
                  <a:srgbClr val="000000"/>
                </a:solidFill>
                <a:latin typeface="Consolas" panose="020B0609020204030204" pitchFamily="49" charset="0"/>
              </a:rPr>
              <a:t> </a:t>
            </a:r>
            <a:r>
              <a:rPr lang="en-US" sz="1800" b="1" i="1" dirty="0" err="1">
                <a:solidFill>
                  <a:srgbClr val="0000C0"/>
                </a:solidFill>
                <a:latin typeface="Consolas" panose="020B0609020204030204" pitchFamily="49" charset="0"/>
              </a:rPr>
              <a:t>mySingleton</a:t>
            </a:r>
            <a:r>
              <a:rPr lang="en-US" sz="1800" b="1" i="1"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p>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a:solidFill>
                  <a:schemeClr val="tx1"/>
                </a:solidFill>
                <a:latin typeface="Consolas" panose="020B0609020204030204" pitchFamily="49" charset="0"/>
              </a:rPr>
              <a:t>String</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getData</a:t>
            </a:r>
            <a:r>
              <a:rPr lang="en-US" sz="1800" b="1" dirty="0">
                <a:solidFill>
                  <a:srgbClr val="000000"/>
                </a:solidFill>
                <a:latin typeface="Consolas" panose="020B0609020204030204" pitchFamily="49" charset="0"/>
              </a:rPr>
              <a:t>() {</a:t>
            </a:r>
          </a:p>
          <a:p>
            <a:pPr algn="l"/>
            <a:r>
              <a:rPr lang="en-US" sz="1800" b="1" dirty="0">
                <a:solidFill>
                  <a:srgbClr val="7F0055"/>
                </a:solidFill>
                <a:latin typeface="Consolas" panose="020B0609020204030204" pitchFamily="49" charset="0"/>
              </a:rPr>
              <a:t>	return</a:t>
            </a:r>
            <a:r>
              <a:rPr lang="en-US" sz="1800" b="1" dirty="0">
                <a:solidFill>
                  <a:srgbClr val="000000"/>
                </a:solidFill>
                <a:latin typeface="Consolas" panose="020B0609020204030204" pitchFamily="49" charset="0"/>
              </a:rPr>
              <a:t> </a:t>
            </a:r>
            <a:r>
              <a:rPr lang="en-US" sz="1800" b="1" dirty="0" err="1">
                <a:solidFill>
                  <a:srgbClr val="7F0055"/>
                </a:solidFill>
                <a:latin typeface="Consolas" panose="020B0609020204030204" pitchFamily="49" charset="0"/>
              </a:rPr>
              <a:t>this</a:t>
            </a:r>
            <a:r>
              <a:rPr lang="en-US" sz="1800" b="1" dirty="0" err="1">
                <a:solidFill>
                  <a:srgbClr val="000000"/>
                </a:solidFill>
                <a:latin typeface="Consolas" panose="020B0609020204030204" pitchFamily="49" charset="0"/>
              </a:rPr>
              <a:t>.</a:t>
            </a:r>
            <a:r>
              <a:rPr lang="en-US" sz="1800" b="1" dirty="0" err="1">
                <a:solidFill>
                  <a:srgbClr val="0000C0"/>
                </a:solidFill>
                <a:latin typeface="Consolas" panose="020B0609020204030204" pitchFamily="49" charset="0"/>
              </a:rPr>
              <a:t>data</a:t>
            </a:r>
            <a:r>
              <a:rPr lang="en-US" sz="1800" b="1"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p>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void</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setValue</a:t>
            </a:r>
            <a:r>
              <a:rPr lang="en-US" sz="1800" b="1" dirty="0">
                <a:solidFill>
                  <a:srgbClr val="000000"/>
                </a:solidFill>
                <a:latin typeface="Consolas" panose="020B0609020204030204" pitchFamily="49" charset="0"/>
              </a:rPr>
              <a:t>(</a:t>
            </a:r>
            <a:r>
              <a:rPr lang="en-US" sz="1800" b="1" dirty="0">
                <a:solidFill>
                  <a:schemeClr val="tx1"/>
                </a:solidFill>
                <a:latin typeface="Consolas" panose="020B0609020204030204" pitchFamily="49" charset="0"/>
              </a:rPr>
              <a:t>String</a:t>
            </a:r>
            <a:r>
              <a:rPr lang="en-US" sz="1800" b="1" dirty="0">
                <a:solidFill>
                  <a:srgbClr val="000000"/>
                </a:solidFill>
                <a:latin typeface="Consolas" panose="020B0609020204030204" pitchFamily="49" charset="0"/>
              </a:rPr>
              <a:t> </a:t>
            </a:r>
            <a:r>
              <a:rPr lang="en-US" sz="1800" b="1" dirty="0">
                <a:solidFill>
                  <a:srgbClr val="6A3E3E"/>
                </a:solidFill>
                <a:latin typeface="Consolas" panose="020B0609020204030204" pitchFamily="49" charset="0"/>
              </a:rPr>
              <a:t>value</a:t>
            </a:r>
            <a:r>
              <a:rPr lang="en-US" sz="1800" b="1" dirty="0">
                <a:solidFill>
                  <a:srgbClr val="000000"/>
                </a:solidFill>
                <a:latin typeface="Consolas" panose="020B0609020204030204" pitchFamily="49" charset="0"/>
              </a:rPr>
              <a:t>) {</a:t>
            </a:r>
          </a:p>
          <a:p>
            <a:pPr algn="l"/>
            <a:r>
              <a:rPr lang="en-US" sz="1800" b="1" dirty="0">
                <a:solidFill>
                  <a:srgbClr val="7F0055"/>
                </a:solidFill>
                <a:latin typeface="Consolas" panose="020B0609020204030204" pitchFamily="49" charset="0"/>
              </a:rPr>
              <a:t>	</a:t>
            </a:r>
            <a:r>
              <a:rPr lang="en-US" sz="1800" b="1" dirty="0" err="1">
                <a:solidFill>
                  <a:srgbClr val="7F0055"/>
                </a:solidFill>
                <a:latin typeface="Consolas" panose="020B0609020204030204" pitchFamily="49" charset="0"/>
              </a:rPr>
              <a:t>this</a:t>
            </a:r>
            <a:r>
              <a:rPr lang="en-US" sz="1800" b="1" dirty="0" err="1">
                <a:solidFill>
                  <a:srgbClr val="000000"/>
                </a:solidFill>
                <a:latin typeface="Consolas" panose="020B0609020204030204" pitchFamily="49" charset="0"/>
              </a:rPr>
              <a:t>.</a:t>
            </a:r>
            <a:r>
              <a:rPr lang="en-US" sz="1800" b="1" dirty="0" err="1">
                <a:solidFill>
                  <a:srgbClr val="0000C0"/>
                </a:solidFill>
                <a:latin typeface="Consolas" panose="020B0609020204030204" pitchFamily="49" charset="0"/>
              </a:rPr>
              <a:t>value</a:t>
            </a:r>
            <a:r>
              <a:rPr lang="en-US" sz="1800" b="1" dirty="0">
                <a:solidFill>
                  <a:srgbClr val="000000"/>
                </a:solidFill>
                <a:latin typeface="Consolas" panose="020B0609020204030204" pitchFamily="49" charset="0"/>
              </a:rPr>
              <a:t> = </a:t>
            </a:r>
            <a:r>
              <a:rPr lang="en-US" sz="1800" b="1" dirty="0">
                <a:solidFill>
                  <a:srgbClr val="6A3E3E"/>
                </a:solidFill>
                <a:latin typeface="Consolas" panose="020B0609020204030204" pitchFamily="49" charset="0"/>
              </a:rPr>
              <a:t>value</a:t>
            </a:r>
            <a:r>
              <a:rPr lang="en-US" sz="1800" b="1"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p>
          <a:p>
            <a:pPr algn="l"/>
            <a:endParaRPr lang="en-US" sz="1800" dirty="0">
              <a:latin typeface="Consolas" panose="020B0609020204030204" pitchFamily="49" charset="0"/>
            </a:endParaRPr>
          </a:p>
          <a:p>
            <a:pPr algn="l"/>
            <a:r>
              <a:rPr lang="en-US" sz="1800" dirty="0">
                <a:solidFill>
                  <a:srgbClr val="646464"/>
                </a:solidFill>
                <a:latin typeface="Consolas" panose="020B0609020204030204" pitchFamily="49" charset="0"/>
              </a:rPr>
              <a:t>    @Override</a:t>
            </a: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Object clone() </a:t>
            </a:r>
            <a:r>
              <a:rPr lang="en-US" sz="1800" b="1" dirty="0">
                <a:solidFill>
                  <a:srgbClr val="7F0055"/>
                </a:solidFill>
                <a:latin typeface="Consolas" panose="020B0609020204030204" pitchFamily="49" charset="0"/>
              </a:rPr>
              <a:t>throws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CloneNotSupportedException</a:t>
            </a:r>
            <a:r>
              <a:rPr lang="en-US" sz="1800" b="1" dirty="0">
                <a:solidFill>
                  <a:srgbClr val="000000"/>
                </a:solidFill>
                <a:latin typeface="Consolas" panose="020B0609020204030204" pitchFamily="49" charset="0"/>
              </a:rPr>
              <a:t> {</a:t>
            </a:r>
          </a:p>
          <a:p>
            <a:pPr algn="l"/>
            <a:r>
              <a:rPr lang="en-US" sz="1800" b="1" dirty="0">
                <a:solidFill>
                  <a:srgbClr val="7F0055"/>
                </a:solidFill>
                <a:latin typeface="Consolas" panose="020B0609020204030204" pitchFamily="49" charset="0"/>
              </a:rPr>
              <a:t>	throw</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new</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CloneNotSupportedException</a:t>
            </a:r>
            <a:r>
              <a:rPr lang="en-US" sz="1800" b="1"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p>
          <a:p>
            <a:pPr algn="l"/>
            <a:r>
              <a:rPr lang="en-US" sz="1800" dirty="0">
                <a:solidFill>
                  <a:srgbClr val="000000"/>
                </a:solidFill>
                <a:latin typeface="Consolas" panose="020B0609020204030204" pitchFamily="49" charset="0"/>
              </a:rPr>
              <a:t>}</a:t>
            </a:r>
            <a:endParaRPr lang="en-US" sz="2000" dirty="0">
              <a:latin typeface="+mj-lt"/>
              <a:cs typeface="Courier New" panose="02070309020205020404" pitchFamily="49" charset="0"/>
            </a:endParaRPr>
          </a:p>
        </p:txBody>
      </p:sp>
    </p:spTree>
    <p:extLst>
      <p:ext uri="{BB962C8B-B14F-4D97-AF65-F5344CB8AC3E}">
        <p14:creationId xmlns:p14="http://schemas.microsoft.com/office/powerpoint/2010/main" val="2205641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FDB46-CB77-43BD-8935-38A4C3F6FA6B}"/>
              </a:ext>
            </a:extLst>
          </p:cNvPr>
          <p:cNvSpPr>
            <a:spLocks noGrp="1"/>
          </p:cNvSpPr>
          <p:nvPr>
            <p:ph type="title"/>
          </p:nvPr>
        </p:nvSpPr>
        <p:spPr/>
        <p:txBody>
          <a:bodyPr/>
          <a:lstStyle/>
          <a:p>
            <a:r>
              <a:rPr lang="en-US" dirty="0"/>
              <a:t>Eager Singleton</a:t>
            </a:r>
          </a:p>
        </p:txBody>
      </p:sp>
      <p:sp>
        <p:nvSpPr>
          <p:cNvPr id="4" name="Slide Number Placeholder 3">
            <a:extLst>
              <a:ext uri="{FF2B5EF4-FFF2-40B4-BE49-F238E27FC236}">
                <a16:creationId xmlns:a16="http://schemas.microsoft.com/office/drawing/2014/main" id="{9B226E6F-12C5-41EC-BF9D-EAF162B65B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5" name="Rectangle 4">
            <a:extLst>
              <a:ext uri="{FF2B5EF4-FFF2-40B4-BE49-F238E27FC236}">
                <a16:creationId xmlns:a16="http://schemas.microsoft.com/office/drawing/2014/main" id="{A82A11AC-4036-4F2B-957E-7FF331372FA4}"/>
              </a:ext>
            </a:extLst>
          </p:cNvPr>
          <p:cNvSpPr/>
          <p:nvPr/>
        </p:nvSpPr>
        <p:spPr>
          <a:xfrm>
            <a:off x="306289" y="1317072"/>
            <a:ext cx="8531422" cy="5301842"/>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fontScale="92500" lnSpcReduction="20000"/>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EagerSingleton</a:t>
            </a:r>
            <a:r>
              <a:rPr lang="en-US" sz="1800" b="1" dirty="0">
                <a:solidFill>
                  <a:srgbClr val="000000"/>
                </a:solidFill>
                <a:latin typeface="Consolas" panose="020B0609020204030204" pitchFamily="49" charset="0"/>
              </a:rPr>
              <a:t> {</a:t>
            </a:r>
          </a:p>
          <a:p>
            <a:pPr lvl="1"/>
            <a:r>
              <a:rPr lang="en-US" sz="1800" b="1" dirty="0">
                <a:solidFill>
                  <a:srgbClr val="7F0055"/>
                </a:solidFill>
                <a:latin typeface="Consolas" panose="020B0609020204030204" pitchFamily="49" charset="0"/>
              </a:rPr>
              <a:t>    private</a:t>
            </a:r>
            <a:r>
              <a:rPr lang="en-US" sz="1800" b="1" dirty="0">
                <a:solidFill>
                  <a:srgbClr val="000000"/>
                </a:solidFill>
                <a:latin typeface="Consolas" panose="020B0609020204030204" pitchFamily="49" charset="0"/>
              </a:rPr>
              <a:t> </a:t>
            </a:r>
            <a:r>
              <a:rPr lang="en-US" sz="1800" b="1" dirty="0">
                <a:solidFill>
                  <a:schemeClr val="tx1"/>
                </a:solidFill>
                <a:latin typeface="Consolas" panose="020B0609020204030204" pitchFamily="49" charset="0"/>
              </a:rPr>
              <a:t>String</a:t>
            </a:r>
            <a:r>
              <a:rPr lang="en-US" sz="1800" b="1" dirty="0">
                <a:solidFill>
                  <a:srgbClr val="000000"/>
                </a:solidFill>
                <a:latin typeface="Consolas" panose="020B0609020204030204" pitchFamily="49" charset="0"/>
              </a:rPr>
              <a:t> </a:t>
            </a:r>
            <a:r>
              <a:rPr lang="en-US" sz="1800" b="1" dirty="0">
                <a:solidFill>
                  <a:srgbClr val="0000C0"/>
                </a:solidFill>
                <a:latin typeface="Consolas" panose="020B0609020204030204" pitchFamily="49" charset="0"/>
              </a:rPr>
              <a:t>data</a:t>
            </a:r>
            <a:r>
              <a:rPr lang="en-US" sz="1800" b="1" dirty="0">
                <a:solidFill>
                  <a:srgbClr val="000000"/>
                </a:solidFill>
                <a:latin typeface="Consolas" panose="020B0609020204030204" pitchFamily="49" charset="0"/>
              </a:rPr>
              <a:t>;</a:t>
            </a:r>
          </a:p>
          <a:p>
            <a:pPr lvl="1"/>
            <a:endParaRPr lang="en-US" sz="1800" dirty="0">
              <a:latin typeface="Consolas" panose="020B0609020204030204" pitchFamily="49" charset="0"/>
            </a:endParaRPr>
          </a:p>
          <a:p>
            <a:pPr lvl="1"/>
            <a:r>
              <a:rPr lang="en-US" sz="1800" b="1" dirty="0">
                <a:solidFill>
                  <a:srgbClr val="7F0055"/>
                </a:solidFill>
                <a:latin typeface="Consolas" panose="020B0609020204030204" pitchFamily="49" charset="0"/>
              </a:rPr>
              <a:t>    private</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EagerSingleton</a:t>
            </a:r>
            <a:r>
              <a:rPr lang="en-US" sz="1800" b="1" dirty="0">
                <a:solidFill>
                  <a:srgbClr val="000000"/>
                </a:solidFill>
                <a:latin typeface="Consolas" panose="020B0609020204030204" pitchFamily="49" charset="0"/>
              </a:rPr>
              <a:t> </a:t>
            </a:r>
            <a:r>
              <a:rPr lang="en-US" sz="1800" b="1" i="1" dirty="0" err="1">
                <a:solidFill>
                  <a:srgbClr val="0000C0"/>
                </a:solidFill>
                <a:latin typeface="Consolas" panose="020B0609020204030204" pitchFamily="49" charset="0"/>
              </a:rPr>
              <a:t>mySingleton</a:t>
            </a:r>
            <a:r>
              <a:rPr lang="en-US" sz="1800" b="1" i="1" dirty="0">
                <a:solidFill>
                  <a:srgbClr val="000000"/>
                </a:solidFill>
                <a:latin typeface="Consolas" panose="020B0609020204030204" pitchFamily="49" charset="0"/>
              </a:rPr>
              <a:t> = </a:t>
            </a:r>
            <a:r>
              <a:rPr lang="en-US" sz="1800" b="1" i="1" dirty="0">
                <a:solidFill>
                  <a:srgbClr val="7F0055"/>
                </a:solidFill>
                <a:latin typeface="Consolas" panose="020B0609020204030204" pitchFamily="49" charset="0"/>
              </a:rPr>
              <a:t>new</a:t>
            </a:r>
            <a:r>
              <a:rPr lang="en-US" sz="1800" b="1" i="1" dirty="0">
                <a:solidFill>
                  <a:srgbClr val="000000"/>
                </a:solidFill>
                <a:latin typeface="Consolas" panose="020B0609020204030204" pitchFamily="49" charset="0"/>
              </a:rPr>
              <a:t> </a:t>
            </a:r>
            <a:r>
              <a:rPr lang="en-US" sz="1800" b="1" i="1" dirty="0" err="1">
                <a:solidFill>
                  <a:srgbClr val="000000"/>
                </a:solidFill>
                <a:latin typeface="Consolas" panose="020B0609020204030204" pitchFamily="49" charset="0"/>
              </a:rPr>
              <a:t>EagerSingleton</a:t>
            </a:r>
            <a:r>
              <a:rPr lang="en-US" sz="1800" b="1" i="1" dirty="0">
                <a:solidFill>
                  <a:srgbClr val="000000"/>
                </a:solidFill>
                <a:latin typeface="Consolas" panose="020B0609020204030204" pitchFamily="49" charset="0"/>
              </a:rPr>
              <a:t>();</a:t>
            </a:r>
          </a:p>
          <a:p>
            <a:pPr lvl="1"/>
            <a:endParaRPr lang="en-US" sz="1800" dirty="0">
              <a:latin typeface="Consolas" panose="020B0609020204030204" pitchFamily="49" charset="0"/>
            </a:endParaRPr>
          </a:p>
          <a:p>
            <a:pPr lvl="1"/>
            <a:r>
              <a:rPr lang="en-US" sz="1800" b="1" dirty="0">
                <a:solidFill>
                  <a:srgbClr val="7F0055"/>
                </a:solidFill>
                <a:latin typeface="Consolas" panose="020B0609020204030204" pitchFamily="49" charset="0"/>
              </a:rPr>
              <a:t>    private</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EagerSingleton</a:t>
            </a:r>
            <a:r>
              <a:rPr lang="en-US" sz="1800" b="1" dirty="0">
                <a:solidFill>
                  <a:srgbClr val="000000"/>
                </a:solidFill>
                <a:latin typeface="Consolas" panose="020B0609020204030204" pitchFamily="49" charset="0"/>
              </a:rPr>
              <a:t>() { }</a:t>
            </a:r>
          </a:p>
          <a:p>
            <a:pPr lvl="1"/>
            <a:endParaRPr lang="en-US" sz="1800" dirty="0">
              <a:latin typeface="Consolas" panose="020B0609020204030204" pitchFamily="49" charset="0"/>
            </a:endParaRPr>
          </a:p>
          <a:p>
            <a:pPr lvl="1"/>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EagerSingleton</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getSingleton</a:t>
            </a:r>
            <a:r>
              <a:rPr lang="en-US" sz="1800" b="1" dirty="0">
                <a:solidFill>
                  <a:srgbClr val="000000"/>
                </a:solidFill>
                <a:latin typeface="Consolas" panose="020B0609020204030204" pitchFamily="49" charset="0"/>
              </a:rPr>
              <a:t>() {</a:t>
            </a:r>
          </a:p>
          <a:p>
            <a:pPr lvl="2"/>
            <a:r>
              <a:rPr lang="en-US" sz="1800" b="1" dirty="0">
                <a:solidFill>
                  <a:srgbClr val="7F0055"/>
                </a:solidFill>
                <a:latin typeface="Consolas" panose="020B0609020204030204" pitchFamily="49" charset="0"/>
              </a:rPr>
              <a:t>	return</a:t>
            </a:r>
            <a:r>
              <a:rPr lang="en-US" sz="1800" b="1" dirty="0">
                <a:solidFill>
                  <a:srgbClr val="000000"/>
                </a:solidFill>
                <a:latin typeface="Consolas" panose="020B0609020204030204" pitchFamily="49" charset="0"/>
              </a:rPr>
              <a:t> </a:t>
            </a:r>
            <a:r>
              <a:rPr lang="en-US" sz="1800" b="1" i="1" dirty="0" err="1">
                <a:solidFill>
                  <a:srgbClr val="0000C0"/>
                </a:solidFill>
                <a:latin typeface="Consolas" panose="020B0609020204030204" pitchFamily="49" charset="0"/>
              </a:rPr>
              <a:t>mySingleton</a:t>
            </a:r>
            <a:r>
              <a:rPr lang="en-US" sz="1800" b="1" i="1" dirty="0">
                <a:solidFill>
                  <a:srgbClr val="000000"/>
                </a:solidFill>
                <a:latin typeface="Consolas" panose="020B0609020204030204" pitchFamily="49" charset="0"/>
              </a:rPr>
              <a:t>;</a:t>
            </a:r>
          </a:p>
          <a:p>
            <a:pPr lvl="1"/>
            <a:r>
              <a:rPr lang="en-US" sz="1800" dirty="0">
                <a:solidFill>
                  <a:srgbClr val="000000"/>
                </a:solidFill>
                <a:latin typeface="Consolas" panose="020B0609020204030204" pitchFamily="49" charset="0"/>
              </a:rPr>
              <a:t>    }</a:t>
            </a:r>
          </a:p>
          <a:p>
            <a:pPr lvl="1"/>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a:solidFill>
                  <a:schemeClr val="tx1"/>
                </a:solidFill>
                <a:latin typeface="Consolas" panose="020B0609020204030204" pitchFamily="49" charset="0"/>
              </a:rPr>
              <a:t>String</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getData</a:t>
            </a:r>
            <a:r>
              <a:rPr lang="en-US" sz="1800" b="1" dirty="0">
                <a:solidFill>
                  <a:srgbClr val="000000"/>
                </a:solidFill>
                <a:latin typeface="Consolas" panose="020B0609020204030204" pitchFamily="49" charset="0"/>
              </a:rPr>
              <a:t>() {</a:t>
            </a:r>
          </a:p>
          <a:p>
            <a:pPr algn="l"/>
            <a:r>
              <a:rPr lang="en-US" sz="1800" b="1" dirty="0">
                <a:solidFill>
                  <a:srgbClr val="7F0055"/>
                </a:solidFill>
                <a:latin typeface="Consolas" panose="020B0609020204030204" pitchFamily="49" charset="0"/>
              </a:rPr>
              <a:t>	return</a:t>
            </a:r>
            <a:r>
              <a:rPr lang="en-US" sz="1800" b="1" dirty="0">
                <a:solidFill>
                  <a:srgbClr val="000000"/>
                </a:solidFill>
                <a:latin typeface="Consolas" panose="020B0609020204030204" pitchFamily="49" charset="0"/>
              </a:rPr>
              <a:t> </a:t>
            </a:r>
            <a:r>
              <a:rPr lang="en-US" sz="1800" b="1" dirty="0" err="1">
                <a:solidFill>
                  <a:srgbClr val="7F0055"/>
                </a:solidFill>
                <a:latin typeface="Consolas" panose="020B0609020204030204" pitchFamily="49" charset="0"/>
              </a:rPr>
              <a:t>this</a:t>
            </a:r>
            <a:r>
              <a:rPr lang="en-US" sz="1800" b="1" dirty="0" err="1">
                <a:solidFill>
                  <a:srgbClr val="000000"/>
                </a:solidFill>
                <a:latin typeface="Consolas" panose="020B0609020204030204" pitchFamily="49" charset="0"/>
              </a:rPr>
              <a:t>.</a:t>
            </a:r>
            <a:r>
              <a:rPr lang="en-US" sz="1800" b="1" dirty="0" err="1">
                <a:solidFill>
                  <a:srgbClr val="0000C0"/>
                </a:solidFill>
                <a:latin typeface="Consolas" panose="020B0609020204030204" pitchFamily="49" charset="0"/>
              </a:rPr>
              <a:t>data</a:t>
            </a:r>
            <a:r>
              <a:rPr lang="en-US" sz="1800" b="1"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p>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void</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setValue</a:t>
            </a:r>
            <a:r>
              <a:rPr lang="en-US" sz="1800" b="1" dirty="0">
                <a:solidFill>
                  <a:srgbClr val="000000"/>
                </a:solidFill>
                <a:latin typeface="Consolas" panose="020B0609020204030204" pitchFamily="49" charset="0"/>
              </a:rPr>
              <a:t>(</a:t>
            </a:r>
            <a:r>
              <a:rPr lang="en-US" sz="1800" b="1" dirty="0">
                <a:solidFill>
                  <a:schemeClr val="tx1"/>
                </a:solidFill>
                <a:latin typeface="Consolas" panose="020B0609020204030204" pitchFamily="49" charset="0"/>
              </a:rPr>
              <a:t>String</a:t>
            </a:r>
            <a:r>
              <a:rPr lang="en-US" sz="1800" b="1" dirty="0">
                <a:solidFill>
                  <a:srgbClr val="000000"/>
                </a:solidFill>
                <a:latin typeface="Consolas" panose="020B0609020204030204" pitchFamily="49" charset="0"/>
              </a:rPr>
              <a:t> </a:t>
            </a:r>
            <a:r>
              <a:rPr lang="en-US" sz="1800" b="1" dirty="0">
                <a:solidFill>
                  <a:srgbClr val="6A3E3E"/>
                </a:solidFill>
                <a:latin typeface="Consolas" panose="020B0609020204030204" pitchFamily="49" charset="0"/>
              </a:rPr>
              <a:t>value</a:t>
            </a:r>
            <a:r>
              <a:rPr lang="en-US" sz="1800" b="1" dirty="0">
                <a:solidFill>
                  <a:srgbClr val="000000"/>
                </a:solidFill>
                <a:latin typeface="Consolas" panose="020B0609020204030204" pitchFamily="49" charset="0"/>
              </a:rPr>
              <a:t>) {</a:t>
            </a:r>
          </a:p>
          <a:p>
            <a:pPr algn="l"/>
            <a:r>
              <a:rPr lang="en-US" sz="1800" b="1" dirty="0">
                <a:solidFill>
                  <a:srgbClr val="7F0055"/>
                </a:solidFill>
                <a:latin typeface="Consolas" panose="020B0609020204030204" pitchFamily="49" charset="0"/>
              </a:rPr>
              <a:t>	</a:t>
            </a:r>
            <a:r>
              <a:rPr lang="en-US" sz="1800" b="1" dirty="0" err="1">
                <a:solidFill>
                  <a:srgbClr val="7F0055"/>
                </a:solidFill>
                <a:latin typeface="Consolas" panose="020B0609020204030204" pitchFamily="49" charset="0"/>
              </a:rPr>
              <a:t>this</a:t>
            </a:r>
            <a:r>
              <a:rPr lang="en-US" sz="1800" b="1" dirty="0" err="1">
                <a:solidFill>
                  <a:srgbClr val="000000"/>
                </a:solidFill>
                <a:latin typeface="Consolas" panose="020B0609020204030204" pitchFamily="49" charset="0"/>
              </a:rPr>
              <a:t>.</a:t>
            </a:r>
            <a:r>
              <a:rPr lang="en-US" sz="1800" b="1" dirty="0" err="1">
                <a:solidFill>
                  <a:srgbClr val="0000C0"/>
                </a:solidFill>
                <a:latin typeface="Consolas" panose="020B0609020204030204" pitchFamily="49" charset="0"/>
              </a:rPr>
              <a:t>value</a:t>
            </a:r>
            <a:r>
              <a:rPr lang="en-US" sz="1800" b="1" dirty="0">
                <a:solidFill>
                  <a:srgbClr val="000000"/>
                </a:solidFill>
                <a:latin typeface="Consolas" panose="020B0609020204030204" pitchFamily="49" charset="0"/>
              </a:rPr>
              <a:t> = </a:t>
            </a:r>
            <a:r>
              <a:rPr lang="en-US" sz="1800" b="1" dirty="0">
                <a:solidFill>
                  <a:srgbClr val="6A3E3E"/>
                </a:solidFill>
                <a:latin typeface="Consolas" panose="020B0609020204030204" pitchFamily="49" charset="0"/>
              </a:rPr>
              <a:t>value</a:t>
            </a:r>
            <a:r>
              <a:rPr lang="en-US" sz="1800" b="1"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endParaRPr lang="en-US" sz="1800" dirty="0">
              <a:latin typeface="Consolas" panose="020B0609020204030204" pitchFamily="49" charset="0"/>
            </a:endParaRPr>
          </a:p>
          <a:p>
            <a:pPr lvl="1"/>
            <a:r>
              <a:rPr lang="en-US" sz="1800" dirty="0">
                <a:solidFill>
                  <a:srgbClr val="646464"/>
                </a:solidFill>
                <a:latin typeface="Consolas" panose="020B0609020204030204" pitchFamily="49" charset="0"/>
              </a:rPr>
              <a:t>    @Override</a:t>
            </a:r>
          </a:p>
          <a:p>
            <a:pPr lvl="1"/>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Object clone() </a:t>
            </a:r>
            <a:r>
              <a:rPr lang="en-US" sz="1800" b="1" dirty="0">
                <a:solidFill>
                  <a:srgbClr val="7F0055"/>
                </a:solidFill>
                <a:latin typeface="Consolas" panose="020B0609020204030204" pitchFamily="49" charset="0"/>
              </a:rPr>
              <a:t>throws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CloneNotSupportedException</a:t>
            </a:r>
            <a:r>
              <a:rPr lang="en-US" sz="1800" b="1" dirty="0">
                <a:solidFill>
                  <a:srgbClr val="000000"/>
                </a:solidFill>
                <a:latin typeface="Consolas" panose="020B0609020204030204" pitchFamily="49" charset="0"/>
              </a:rPr>
              <a:t> {</a:t>
            </a:r>
          </a:p>
          <a:p>
            <a:pPr lvl="1"/>
            <a:r>
              <a:rPr lang="en-US" sz="1800" b="1" dirty="0">
                <a:solidFill>
                  <a:srgbClr val="7F0055"/>
                </a:solidFill>
                <a:latin typeface="Consolas" panose="020B0609020204030204" pitchFamily="49" charset="0"/>
              </a:rPr>
              <a:t>	throw</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new</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CloneNotSupportedException</a:t>
            </a:r>
            <a:r>
              <a:rPr lang="en-US" sz="1800" b="1" dirty="0">
                <a:solidFill>
                  <a:srgbClr val="000000"/>
                </a:solidFill>
                <a:latin typeface="Consolas" panose="020B0609020204030204" pitchFamily="49" charset="0"/>
              </a:rPr>
              <a:t>();</a:t>
            </a:r>
          </a:p>
          <a:p>
            <a:pPr lvl="1"/>
            <a:r>
              <a:rPr lang="en-US" sz="1800" dirty="0">
                <a:solidFill>
                  <a:srgbClr val="000000"/>
                </a:solidFill>
                <a:latin typeface="Consolas" panose="020B0609020204030204" pitchFamily="49" charset="0"/>
              </a:rPr>
              <a:t>    }</a:t>
            </a:r>
          </a:p>
          <a:p>
            <a:pPr algn="l"/>
            <a:r>
              <a:rPr lang="en-US" sz="1800" dirty="0">
                <a:solidFill>
                  <a:srgbClr val="000000"/>
                </a:solidFill>
                <a:latin typeface="Consolas" panose="020B0609020204030204" pitchFamily="49" charset="0"/>
              </a:rPr>
              <a:t>}</a:t>
            </a:r>
            <a:endParaRPr lang="en-US" sz="2000" dirty="0">
              <a:latin typeface="+mj-lt"/>
              <a:cs typeface="Courier New" panose="02070309020205020404" pitchFamily="49" charset="0"/>
            </a:endParaRPr>
          </a:p>
        </p:txBody>
      </p:sp>
    </p:spTree>
    <p:extLst>
      <p:ext uri="{BB962C8B-B14F-4D97-AF65-F5344CB8AC3E}">
        <p14:creationId xmlns:p14="http://schemas.microsoft.com/office/powerpoint/2010/main" val="775619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BEC35-AA47-24A8-BA5F-C13840BED6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D2182F-4C6E-0524-944A-694CF1C6CC4D}"/>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10</a:t>
            </a:fld>
            <a:endParaRPr lang="en-US"/>
          </a:p>
        </p:txBody>
      </p:sp>
      <p:sp>
        <p:nvSpPr>
          <p:cNvPr id="4" name="Google Shape;212;p15">
            <a:extLst>
              <a:ext uri="{FF2B5EF4-FFF2-40B4-BE49-F238E27FC236}">
                <a16:creationId xmlns:a16="http://schemas.microsoft.com/office/drawing/2014/main" id="{655175D2-5AE7-ED6B-6956-C9D1F99DA40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Factory</a:t>
            </a:r>
          </a:p>
        </p:txBody>
      </p:sp>
      <p:pic>
        <p:nvPicPr>
          <p:cNvPr id="6" name="Picture 5">
            <a:extLst>
              <a:ext uri="{FF2B5EF4-FFF2-40B4-BE49-F238E27FC236}">
                <a16:creationId xmlns:a16="http://schemas.microsoft.com/office/drawing/2014/main" id="{DCAC345A-6E9E-CB9A-35E2-3D834628642E}"/>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743868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Design Patterns - Factory</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85000" lnSpcReduction="20000"/>
          </a:bodyPr>
          <a:lstStyle/>
          <a:p>
            <a:r>
              <a:rPr lang="en-US" dirty="0"/>
              <a:t>If your code is tightly coupled to a specific implementation of an object, but expands to require similar abstracted functionality (call the same methods), but requires different implementations or even structures, a Factory design pattern can allow you to create the appropriate entity, when needed.</a:t>
            </a:r>
          </a:p>
          <a:p>
            <a:r>
              <a:rPr lang="en-US" dirty="0"/>
              <a:t>A Factory design pattern refers to the use of an interface to provide control over the creation of objects in a superclass but allows subclasses to implement the specific type of objects that will be created.</a:t>
            </a:r>
          </a:p>
          <a:p>
            <a:r>
              <a:rPr lang="en-US" dirty="0"/>
              <a:t>The Factory pattern allows for the creation of objects without exposing the actual creation logic to the client/users and allows for the created objects to be referenced using a common interface.</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56068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FDB46-CB77-43BD-8935-38A4C3F6FA6B}"/>
              </a:ext>
            </a:extLst>
          </p:cNvPr>
          <p:cNvSpPr>
            <a:spLocks noGrp="1"/>
          </p:cNvSpPr>
          <p:nvPr>
            <p:ph type="title"/>
          </p:nvPr>
        </p:nvSpPr>
        <p:spPr/>
        <p:txBody>
          <a:bodyPr/>
          <a:lstStyle/>
          <a:p>
            <a:r>
              <a:rPr lang="en-US" dirty="0"/>
              <a:t>Design Patterns – Factory (</a:t>
            </a:r>
            <a:r>
              <a:rPr lang="en-US" dirty="0" err="1"/>
              <a:t>cont</a:t>
            </a:r>
            <a:r>
              <a:rPr lang="en-US" dirty="0"/>
              <a:t>…)</a:t>
            </a:r>
          </a:p>
        </p:txBody>
      </p:sp>
      <p:sp>
        <p:nvSpPr>
          <p:cNvPr id="4" name="Slide Number Placeholder 3">
            <a:extLst>
              <a:ext uri="{FF2B5EF4-FFF2-40B4-BE49-F238E27FC236}">
                <a16:creationId xmlns:a16="http://schemas.microsoft.com/office/drawing/2014/main" id="{9B226E6F-12C5-41EC-BF9D-EAF162B65B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5" name="Rectangle 4">
            <a:extLst>
              <a:ext uri="{FF2B5EF4-FFF2-40B4-BE49-F238E27FC236}">
                <a16:creationId xmlns:a16="http://schemas.microsoft.com/office/drawing/2014/main" id="{A82A11AC-4036-4F2B-957E-7FF331372FA4}"/>
              </a:ext>
            </a:extLst>
          </p:cNvPr>
          <p:cNvSpPr/>
          <p:nvPr/>
        </p:nvSpPr>
        <p:spPr>
          <a:xfrm>
            <a:off x="211581" y="1440597"/>
            <a:ext cx="5056705" cy="1101268"/>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interface</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SomeInterface</a:t>
            </a:r>
            <a:r>
              <a:rPr lang="en-US" sz="1800" b="1" dirty="0">
                <a:solidFill>
                  <a:srgbClr val="000000"/>
                </a:solidFill>
                <a:latin typeface="Consolas" panose="020B0609020204030204" pitchFamily="49" charset="0"/>
              </a:rPr>
              <a:t> {</a:t>
            </a:r>
          </a:p>
          <a:p>
            <a:pPr algn="l"/>
            <a:r>
              <a:rPr lang="en-US" sz="1800" dirty="0">
                <a:solidFill>
                  <a:srgbClr val="3F7F5F"/>
                </a:solidFill>
                <a:latin typeface="Consolas" panose="020B0609020204030204" pitchFamily="49" charset="0"/>
              </a:rPr>
              <a:t>	// code...</a:t>
            </a:r>
            <a:endParaRPr lang="en-US" sz="1800" dirty="0">
              <a:latin typeface="Consolas" panose="020B0609020204030204" pitchFamily="49" charset="0"/>
            </a:endParaRPr>
          </a:p>
          <a:p>
            <a:pPr algn="l"/>
            <a:r>
              <a:rPr lang="en-US" sz="1800" dirty="0">
                <a:solidFill>
                  <a:srgbClr val="000000"/>
                </a:solidFill>
                <a:latin typeface="Consolas" panose="020B0609020204030204" pitchFamily="49" charset="0"/>
              </a:rPr>
              <a:t>}</a:t>
            </a:r>
            <a:endParaRPr lang="en-US" sz="2000" dirty="0">
              <a:latin typeface="+mj-lt"/>
              <a:cs typeface="Courier New" panose="02070309020205020404" pitchFamily="49" charset="0"/>
            </a:endParaRPr>
          </a:p>
        </p:txBody>
      </p:sp>
      <p:sp>
        <p:nvSpPr>
          <p:cNvPr id="6" name="Rectangle 5">
            <a:extLst>
              <a:ext uri="{FF2B5EF4-FFF2-40B4-BE49-F238E27FC236}">
                <a16:creationId xmlns:a16="http://schemas.microsoft.com/office/drawing/2014/main" id="{56284194-3528-4204-9A9A-8740EA26367F}"/>
              </a:ext>
            </a:extLst>
          </p:cNvPr>
          <p:cNvSpPr/>
          <p:nvPr/>
        </p:nvSpPr>
        <p:spPr>
          <a:xfrm>
            <a:off x="1370430" y="2772073"/>
            <a:ext cx="6506831" cy="1101268"/>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ChildOne</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implements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SomeInterface</a:t>
            </a:r>
            <a:r>
              <a:rPr lang="en-US" sz="1800" b="1" dirty="0">
                <a:solidFill>
                  <a:srgbClr val="000000"/>
                </a:solidFill>
                <a:latin typeface="Consolas" panose="020B0609020204030204" pitchFamily="49" charset="0"/>
              </a:rPr>
              <a:t> {</a:t>
            </a:r>
          </a:p>
          <a:p>
            <a:pPr algn="l"/>
            <a:r>
              <a:rPr lang="en-US" sz="1800" dirty="0">
                <a:solidFill>
                  <a:srgbClr val="3F7F5F"/>
                </a:solidFill>
                <a:latin typeface="Consolas" panose="020B0609020204030204" pitchFamily="49" charset="0"/>
              </a:rPr>
              <a:t>	// code...</a:t>
            </a:r>
            <a:endParaRPr lang="en-US" sz="1800" dirty="0">
              <a:latin typeface="Consolas" panose="020B0609020204030204" pitchFamily="49" charset="0"/>
            </a:endParaRPr>
          </a:p>
          <a:p>
            <a:pPr algn="l"/>
            <a:r>
              <a:rPr lang="en-US" sz="1800" dirty="0">
                <a:solidFill>
                  <a:srgbClr val="000000"/>
                </a:solidFill>
                <a:latin typeface="Consolas" panose="020B0609020204030204" pitchFamily="49" charset="0"/>
              </a:rPr>
              <a:t>}</a:t>
            </a:r>
            <a:endParaRPr lang="en-US" sz="2000" dirty="0">
              <a:latin typeface="+mj-lt"/>
              <a:cs typeface="Courier New" panose="02070309020205020404" pitchFamily="49" charset="0"/>
            </a:endParaRPr>
          </a:p>
        </p:txBody>
      </p:sp>
      <p:sp>
        <p:nvSpPr>
          <p:cNvPr id="9" name="Rectangle 8">
            <a:extLst>
              <a:ext uri="{FF2B5EF4-FFF2-40B4-BE49-F238E27FC236}">
                <a16:creationId xmlns:a16="http://schemas.microsoft.com/office/drawing/2014/main" id="{627D8995-4CB4-4FC8-8C9B-5F5884CB7264}"/>
              </a:ext>
            </a:extLst>
          </p:cNvPr>
          <p:cNvSpPr/>
          <p:nvPr/>
        </p:nvSpPr>
        <p:spPr>
          <a:xfrm>
            <a:off x="1370430" y="4085927"/>
            <a:ext cx="6506831" cy="1101268"/>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ChildTwo</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implements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SomeInterface</a:t>
            </a:r>
            <a:r>
              <a:rPr lang="en-US" sz="1800" b="1" dirty="0">
                <a:solidFill>
                  <a:srgbClr val="000000"/>
                </a:solidFill>
                <a:latin typeface="Consolas" panose="020B0609020204030204" pitchFamily="49" charset="0"/>
              </a:rPr>
              <a:t> {</a:t>
            </a:r>
          </a:p>
          <a:p>
            <a:pPr algn="l"/>
            <a:r>
              <a:rPr lang="en-US" sz="1800" dirty="0">
                <a:solidFill>
                  <a:srgbClr val="3F7F5F"/>
                </a:solidFill>
                <a:latin typeface="Consolas" panose="020B0609020204030204" pitchFamily="49" charset="0"/>
              </a:rPr>
              <a:t>	// code...</a:t>
            </a:r>
            <a:endParaRPr lang="en-US" sz="1800" dirty="0">
              <a:latin typeface="Consolas" panose="020B0609020204030204" pitchFamily="49" charset="0"/>
            </a:endParaRPr>
          </a:p>
          <a:p>
            <a:pPr algn="l"/>
            <a:r>
              <a:rPr lang="en-US" sz="1800" dirty="0">
                <a:solidFill>
                  <a:srgbClr val="000000"/>
                </a:solidFill>
                <a:latin typeface="Consolas" panose="020B0609020204030204" pitchFamily="49" charset="0"/>
              </a:rPr>
              <a:t>}</a:t>
            </a:r>
            <a:endParaRPr lang="en-US" sz="2000" dirty="0">
              <a:latin typeface="+mj-lt"/>
              <a:cs typeface="Courier New" panose="02070309020205020404" pitchFamily="49" charset="0"/>
            </a:endParaRPr>
          </a:p>
        </p:txBody>
      </p:sp>
      <p:sp>
        <p:nvSpPr>
          <p:cNvPr id="10" name="Rectangle 9">
            <a:extLst>
              <a:ext uri="{FF2B5EF4-FFF2-40B4-BE49-F238E27FC236}">
                <a16:creationId xmlns:a16="http://schemas.microsoft.com/office/drawing/2014/main" id="{C51B1679-466A-4C5B-8EDA-0EFBC152B24E}"/>
              </a:ext>
            </a:extLst>
          </p:cNvPr>
          <p:cNvSpPr/>
          <p:nvPr/>
        </p:nvSpPr>
        <p:spPr>
          <a:xfrm>
            <a:off x="1370430" y="5401176"/>
            <a:ext cx="6506831" cy="1101268"/>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ChildThree</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implements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SomeInterface</a:t>
            </a:r>
            <a:r>
              <a:rPr lang="en-US" sz="1800" b="1" dirty="0">
                <a:solidFill>
                  <a:srgbClr val="000000"/>
                </a:solidFill>
                <a:latin typeface="Consolas" panose="020B0609020204030204" pitchFamily="49" charset="0"/>
              </a:rPr>
              <a:t> {</a:t>
            </a:r>
          </a:p>
          <a:p>
            <a:pPr algn="l"/>
            <a:r>
              <a:rPr lang="en-US" sz="1800" dirty="0">
                <a:solidFill>
                  <a:srgbClr val="3F7F5F"/>
                </a:solidFill>
                <a:latin typeface="Consolas" panose="020B0609020204030204" pitchFamily="49" charset="0"/>
              </a:rPr>
              <a:t>	// code...</a:t>
            </a:r>
            <a:endParaRPr lang="en-US" sz="1800" dirty="0">
              <a:latin typeface="Consolas" panose="020B0609020204030204" pitchFamily="49" charset="0"/>
            </a:endParaRPr>
          </a:p>
          <a:p>
            <a:pPr algn="l"/>
            <a:r>
              <a:rPr lang="en-US" sz="1800" dirty="0">
                <a:solidFill>
                  <a:srgbClr val="000000"/>
                </a:solidFill>
                <a:latin typeface="Consolas" panose="020B0609020204030204" pitchFamily="49" charset="0"/>
              </a:rPr>
              <a:t>}</a:t>
            </a:r>
            <a:endParaRPr lang="en-US" sz="2000" dirty="0">
              <a:latin typeface="+mj-lt"/>
              <a:cs typeface="Courier New" panose="02070309020205020404" pitchFamily="49" charset="0"/>
            </a:endParaRPr>
          </a:p>
        </p:txBody>
      </p:sp>
    </p:spTree>
    <p:extLst>
      <p:ext uri="{BB962C8B-B14F-4D97-AF65-F5344CB8AC3E}">
        <p14:creationId xmlns:p14="http://schemas.microsoft.com/office/powerpoint/2010/main" val="1161281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FDB46-CB77-43BD-8935-38A4C3F6FA6B}"/>
              </a:ext>
            </a:extLst>
          </p:cNvPr>
          <p:cNvSpPr>
            <a:spLocks noGrp="1"/>
          </p:cNvSpPr>
          <p:nvPr>
            <p:ph type="title"/>
          </p:nvPr>
        </p:nvSpPr>
        <p:spPr/>
        <p:txBody>
          <a:bodyPr/>
          <a:lstStyle/>
          <a:p>
            <a:r>
              <a:rPr lang="en-US" dirty="0"/>
              <a:t>Design Patterns – Factory (</a:t>
            </a:r>
            <a:r>
              <a:rPr lang="en-US" dirty="0" err="1"/>
              <a:t>cont</a:t>
            </a:r>
            <a:r>
              <a:rPr lang="en-US" dirty="0"/>
              <a:t>…)</a:t>
            </a:r>
          </a:p>
        </p:txBody>
      </p:sp>
      <p:sp>
        <p:nvSpPr>
          <p:cNvPr id="4" name="Slide Number Placeholder 3">
            <a:extLst>
              <a:ext uri="{FF2B5EF4-FFF2-40B4-BE49-F238E27FC236}">
                <a16:creationId xmlns:a16="http://schemas.microsoft.com/office/drawing/2014/main" id="{9B226E6F-12C5-41EC-BF9D-EAF162B65B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5" name="Rectangle 4">
            <a:extLst>
              <a:ext uri="{FF2B5EF4-FFF2-40B4-BE49-F238E27FC236}">
                <a16:creationId xmlns:a16="http://schemas.microsoft.com/office/drawing/2014/main" id="{A82A11AC-4036-4F2B-957E-7FF331372FA4}"/>
              </a:ext>
            </a:extLst>
          </p:cNvPr>
          <p:cNvSpPr/>
          <p:nvPr/>
        </p:nvSpPr>
        <p:spPr>
          <a:xfrm>
            <a:off x="859871" y="2002659"/>
            <a:ext cx="7629788" cy="3693465"/>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fontScale="92500" lnSpcReduction="10000"/>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SomeFactory</a:t>
            </a:r>
            <a:r>
              <a:rPr lang="en-US" sz="1800" b="1" dirty="0">
                <a:solidFill>
                  <a:srgbClr val="000000"/>
                </a:solidFill>
                <a:latin typeface="Consolas" panose="020B0609020204030204" pitchFamily="49" charset="0"/>
              </a:rPr>
              <a:t> {</a:t>
            </a: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SomeInterface</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createObject</a:t>
            </a:r>
            <a:r>
              <a:rPr lang="en-US" sz="1800" b="1" dirty="0">
                <a:solidFill>
                  <a:srgbClr val="000000"/>
                </a:solidFill>
                <a:latin typeface="Consolas" panose="020B0609020204030204" pitchFamily="49" charset="0"/>
              </a:rPr>
              <a:t>(String </a:t>
            </a:r>
            <a:r>
              <a:rPr lang="en-US" sz="1800" b="1" dirty="0">
                <a:solidFill>
                  <a:srgbClr val="6A3E3E"/>
                </a:solidFill>
                <a:latin typeface="Consolas" panose="020B0609020204030204" pitchFamily="49" charset="0"/>
              </a:rPr>
              <a:t>choice</a:t>
            </a:r>
            <a:r>
              <a:rPr lang="en-US" sz="1800" b="1" dirty="0">
                <a:solidFill>
                  <a:srgbClr val="000000"/>
                </a:solidFill>
                <a:latin typeface="Consolas" panose="020B0609020204030204" pitchFamily="49" charset="0"/>
              </a:rPr>
              <a:t>) {</a:t>
            </a:r>
          </a:p>
          <a:p>
            <a:pPr algn="l"/>
            <a:r>
              <a:rPr lang="en-US" sz="1800" b="1" dirty="0">
                <a:solidFill>
                  <a:srgbClr val="7F0055"/>
                </a:solidFill>
                <a:latin typeface="Consolas" panose="020B0609020204030204" pitchFamily="49" charset="0"/>
              </a:rPr>
              <a:t>	switch</a:t>
            </a:r>
            <a:r>
              <a:rPr lang="en-US" sz="1800" b="1" dirty="0">
                <a:solidFill>
                  <a:srgbClr val="000000"/>
                </a:solidFill>
                <a:latin typeface="Consolas" panose="020B0609020204030204" pitchFamily="49" charset="0"/>
              </a:rPr>
              <a:t> (</a:t>
            </a:r>
            <a:r>
              <a:rPr lang="en-US" sz="1800" b="1" dirty="0" err="1">
                <a:solidFill>
                  <a:srgbClr val="6A3E3E"/>
                </a:solidFill>
                <a:latin typeface="Consolas" panose="020B0609020204030204" pitchFamily="49" charset="0"/>
              </a:rPr>
              <a:t>choice</a:t>
            </a:r>
            <a:r>
              <a:rPr lang="en-US" sz="1800" b="1" dirty="0" err="1">
                <a:solidFill>
                  <a:srgbClr val="000000"/>
                </a:solidFill>
                <a:latin typeface="Consolas" panose="020B0609020204030204" pitchFamily="49" charset="0"/>
              </a:rPr>
              <a:t>.toLowerCase</a:t>
            </a:r>
            <a:r>
              <a:rPr lang="en-US" sz="1800" b="1" dirty="0">
                <a:solidFill>
                  <a:srgbClr val="000000"/>
                </a:solidFill>
                <a:latin typeface="Consolas" panose="020B0609020204030204" pitchFamily="49" charset="0"/>
              </a:rPr>
              <a:t>().intern()) {</a:t>
            </a:r>
          </a:p>
          <a:p>
            <a:pPr algn="l"/>
            <a:r>
              <a:rPr lang="en-US" sz="1800" b="1" dirty="0">
                <a:solidFill>
                  <a:srgbClr val="7F0055"/>
                </a:solidFill>
                <a:latin typeface="Consolas" panose="020B0609020204030204" pitchFamily="49" charset="0"/>
              </a:rPr>
              <a:t>	case</a:t>
            </a:r>
            <a:r>
              <a:rPr lang="en-US" sz="1800" b="1" dirty="0">
                <a:solidFill>
                  <a:srgbClr val="000000"/>
                </a:solidFill>
                <a:latin typeface="Consolas" panose="020B0609020204030204" pitchFamily="49" charset="0"/>
              </a:rPr>
              <a:t> </a:t>
            </a:r>
            <a:r>
              <a:rPr lang="en-US" sz="1800" b="1" dirty="0">
                <a:solidFill>
                  <a:srgbClr val="2A00FF"/>
                </a:solidFill>
                <a:latin typeface="Consolas" panose="020B0609020204030204" pitchFamily="49" charset="0"/>
              </a:rPr>
              <a:t>"one"</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return</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new</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ChildOne</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case</a:t>
            </a:r>
            <a:r>
              <a:rPr lang="en-US" sz="1800" b="1" dirty="0">
                <a:solidFill>
                  <a:srgbClr val="000000"/>
                </a:solidFill>
                <a:latin typeface="Consolas" panose="020B0609020204030204" pitchFamily="49" charset="0"/>
              </a:rPr>
              <a:t> </a:t>
            </a:r>
            <a:r>
              <a:rPr lang="en-US" sz="1800" b="1" dirty="0">
                <a:solidFill>
                  <a:srgbClr val="2A00FF"/>
                </a:solidFill>
                <a:latin typeface="Consolas" panose="020B0609020204030204" pitchFamily="49" charset="0"/>
              </a:rPr>
              <a:t>"two"</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return</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new</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ChildTwo</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case</a:t>
            </a:r>
            <a:r>
              <a:rPr lang="en-US" sz="1800" b="1" dirty="0">
                <a:solidFill>
                  <a:srgbClr val="000000"/>
                </a:solidFill>
                <a:latin typeface="Consolas" panose="020B0609020204030204" pitchFamily="49" charset="0"/>
              </a:rPr>
              <a:t> </a:t>
            </a:r>
            <a:r>
              <a:rPr lang="en-US" sz="1800" b="1" dirty="0">
                <a:solidFill>
                  <a:srgbClr val="2A00FF"/>
                </a:solidFill>
                <a:latin typeface="Consolas" panose="020B0609020204030204" pitchFamily="49" charset="0"/>
              </a:rPr>
              <a:t>"three"</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return</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new</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ChildThree</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default</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return</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new</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ChildOne</a:t>
            </a:r>
            <a:r>
              <a:rPr lang="en-US" sz="1800" b="1"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p>
          <a:p>
            <a:pPr algn="l"/>
            <a:r>
              <a:rPr lang="en-US" sz="1800" dirty="0">
                <a:solidFill>
                  <a:srgbClr val="000000"/>
                </a:solidFill>
                <a:latin typeface="Consolas" panose="020B0609020204030204" pitchFamily="49" charset="0"/>
              </a:rPr>
              <a:t>    }</a:t>
            </a:r>
          </a:p>
          <a:p>
            <a:pPr algn="l"/>
            <a:r>
              <a:rPr lang="en-US" sz="1800" dirty="0">
                <a:solidFill>
                  <a:srgbClr val="000000"/>
                </a:solidFill>
                <a:latin typeface="Consolas" panose="020B0609020204030204" pitchFamily="49" charset="0"/>
              </a:rPr>
              <a:t>}</a:t>
            </a:r>
            <a:endParaRPr lang="en-US" sz="2000" dirty="0">
              <a:latin typeface="+mj-lt"/>
              <a:cs typeface="Courier New" panose="02070309020205020404" pitchFamily="49" charset="0"/>
            </a:endParaRPr>
          </a:p>
        </p:txBody>
      </p:sp>
    </p:spTree>
    <p:extLst>
      <p:ext uri="{BB962C8B-B14F-4D97-AF65-F5344CB8AC3E}">
        <p14:creationId xmlns:p14="http://schemas.microsoft.com/office/powerpoint/2010/main" val="3399193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F1222-A96C-B65C-C997-3961074BFE6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439823-B26B-5FA7-501D-2865C8F5C132}"/>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14</a:t>
            </a:fld>
            <a:endParaRPr lang="en-US"/>
          </a:p>
        </p:txBody>
      </p:sp>
      <p:sp>
        <p:nvSpPr>
          <p:cNvPr id="4" name="Google Shape;212;p15">
            <a:extLst>
              <a:ext uri="{FF2B5EF4-FFF2-40B4-BE49-F238E27FC236}">
                <a16:creationId xmlns:a16="http://schemas.microsoft.com/office/drawing/2014/main" id="{9C895FE5-9DE6-0D6D-0937-E8D81E7B882E}"/>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Builder</a:t>
            </a:r>
          </a:p>
        </p:txBody>
      </p:sp>
      <p:pic>
        <p:nvPicPr>
          <p:cNvPr id="6" name="Picture 5">
            <a:extLst>
              <a:ext uri="{FF2B5EF4-FFF2-40B4-BE49-F238E27FC236}">
                <a16:creationId xmlns:a16="http://schemas.microsoft.com/office/drawing/2014/main" id="{B20B6883-C7EA-64D1-667F-86366A7E422C}"/>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063913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CA524-A727-7E01-EECE-A5AA0D0B7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DA443-9726-5F0C-F673-95C52D5EE095}"/>
              </a:ext>
            </a:extLst>
          </p:cNvPr>
          <p:cNvSpPr>
            <a:spLocks noGrp="1"/>
          </p:cNvSpPr>
          <p:nvPr>
            <p:ph type="title"/>
          </p:nvPr>
        </p:nvSpPr>
        <p:spPr/>
        <p:txBody>
          <a:bodyPr/>
          <a:lstStyle/>
          <a:p>
            <a:r>
              <a:rPr lang="en-US" dirty="0"/>
              <a:t>Design Patterns - Builder</a:t>
            </a:r>
          </a:p>
        </p:txBody>
      </p:sp>
      <p:sp>
        <p:nvSpPr>
          <p:cNvPr id="3" name="Text Placeholder 2">
            <a:extLst>
              <a:ext uri="{FF2B5EF4-FFF2-40B4-BE49-F238E27FC236}">
                <a16:creationId xmlns:a16="http://schemas.microsoft.com/office/drawing/2014/main" id="{5158F4CF-F816-9F28-7964-CA13AF6C63F7}"/>
              </a:ext>
            </a:extLst>
          </p:cNvPr>
          <p:cNvSpPr>
            <a:spLocks noGrp="1"/>
          </p:cNvSpPr>
          <p:nvPr>
            <p:ph type="body" idx="1"/>
          </p:nvPr>
        </p:nvSpPr>
        <p:spPr>
          <a:xfrm>
            <a:off x="380010" y="1481445"/>
            <a:ext cx="8383980" cy="5247391"/>
          </a:xfrm>
        </p:spPr>
        <p:txBody>
          <a:bodyPr>
            <a:normAutofit fontScale="77500" lnSpcReduction="20000"/>
          </a:bodyPr>
          <a:lstStyle/>
          <a:p>
            <a:r>
              <a:rPr lang="en-US" dirty="0"/>
              <a:t>If you have a class that may require different construction, depending on the scenario, creating multiple, complex constructor implementations, and maintaining them all can become unwieldy and difficult to maintain.</a:t>
            </a:r>
          </a:p>
          <a:p>
            <a:r>
              <a:rPr lang="en-US" dirty="0"/>
              <a:t>A Builder design pattern is a creation pattern that lets you construct complex objects step-by-step.</a:t>
            </a:r>
          </a:p>
          <a:p>
            <a:r>
              <a:rPr lang="en-US" dirty="0"/>
              <a:t>The pattern allows you to produce different types and representations of an object using the same construction code.</a:t>
            </a:r>
          </a:p>
          <a:p>
            <a:r>
              <a:rPr lang="en-US" dirty="0"/>
              <a:t>We achieve this pattern by nesting a ‘Builder’ class within our complex class to Builder. The nested Builder is responsible for providing constructors for each field, that can be called directly in a chain to compose our desired Buildable object.</a:t>
            </a:r>
          </a:p>
          <a:p>
            <a:r>
              <a:rPr lang="en-US" dirty="0"/>
              <a:t>Note: You can also expand this pattern using a Builder interface, which provides the methods to build the desired object, and can be implemented by Builder implementation classes as needed.</a:t>
            </a:r>
          </a:p>
        </p:txBody>
      </p:sp>
      <p:sp>
        <p:nvSpPr>
          <p:cNvPr id="4" name="Slide Number Placeholder 3">
            <a:extLst>
              <a:ext uri="{FF2B5EF4-FFF2-40B4-BE49-F238E27FC236}">
                <a16:creationId xmlns:a16="http://schemas.microsoft.com/office/drawing/2014/main" id="{2C6C6AFB-7298-2A19-D09E-5A6269A54F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1409078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40CFF-E7E5-C750-CBE4-85DB684B8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683EE-8D2A-CAB5-2AE9-3ECABA7B815E}"/>
              </a:ext>
            </a:extLst>
          </p:cNvPr>
          <p:cNvSpPr>
            <a:spLocks noGrp="1"/>
          </p:cNvSpPr>
          <p:nvPr>
            <p:ph type="title"/>
          </p:nvPr>
        </p:nvSpPr>
        <p:spPr/>
        <p:txBody>
          <a:bodyPr/>
          <a:lstStyle/>
          <a:p>
            <a:r>
              <a:rPr lang="en-US" dirty="0"/>
              <a:t>Design Patterns – Factory (</a:t>
            </a:r>
            <a:r>
              <a:rPr lang="en-US" dirty="0" err="1"/>
              <a:t>cont</a:t>
            </a:r>
            <a:r>
              <a:rPr lang="en-US" dirty="0"/>
              <a:t>…)</a:t>
            </a:r>
          </a:p>
        </p:txBody>
      </p:sp>
      <p:sp>
        <p:nvSpPr>
          <p:cNvPr id="4" name="Slide Number Placeholder 3">
            <a:extLst>
              <a:ext uri="{FF2B5EF4-FFF2-40B4-BE49-F238E27FC236}">
                <a16:creationId xmlns:a16="http://schemas.microsoft.com/office/drawing/2014/main" id="{CE61CF3C-627C-C935-1F84-AFDF3B61EA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5" name="Rectangle 4">
            <a:extLst>
              <a:ext uri="{FF2B5EF4-FFF2-40B4-BE49-F238E27FC236}">
                <a16:creationId xmlns:a16="http://schemas.microsoft.com/office/drawing/2014/main" id="{E068C5EC-6325-9C98-31C8-895FBC8B57C8}"/>
              </a:ext>
            </a:extLst>
          </p:cNvPr>
          <p:cNvSpPr/>
          <p:nvPr/>
        </p:nvSpPr>
        <p:spPr>
          <a:xfrm>
            <a:off x="859871" y="1357745"/>
            <a:ext cx="7629788" cy="5371092"/>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fontScale="92500" lnSpcReduction="20000"/>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BuildableClass</a:t>
            </a:r>
            <a:r>
              <a:rPr lang="en-US" sz="1800" b="1" dirty="0">
                <a:solidFill>
                  <a:srgbClr val="000000"/>
                </a:solidFill>
                <a:latin typeface="Consolas" panose="020B0609020204030204" pitchFamily="49" charset="0"/>
              </a:rPr>
              <a:t> {</a:t>
            </a:r>
          </a:p>
          <a:p>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private Type </a:t>
            </a:r>
            <a:r>
              <a:rPr lang="en-US" sz="1800" b="1" dirty="0">
                <a:solidFill>
                  <a:schemeClr val="tx1"/>
                </a:solidFill>
                <a:latin typeface="Consolas" panose="020B0609020204030204" pitchFamily="49" charset="0"/>
              </a:rPr>
              <a:t>field1;</a:t>
            </a:r>
          </a:p>
          <a:p>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private Type </a:t>
            </a:r>
            <a:r>
              <a:rPr lang="en-US" sz="1800" b="1" dirty="0">
                <a:solidFill>
                  <a:schemeClr val="tx1"/>
                </a:solidFill>
                <a:latin typeface="Consolas" panose="020B0609020204030204" pitchFamily="49" charset="0"/>
              </a:rPr>
              <a:t>field2;</a:t>
            </a:r>
          </a:p>
          <a:p>
            <a:r>
              <a:rPr lang="en-US" sz="1800" b="1" dirty="0">
                <a:solidFill>
                  <a:schemeClr val="tx1"/>
                </a:solidFill>
                <a:latin typeface="Consolas" panose="020B0609020204030204" pitchFamily="49" charset="0"/>
              </a:rPr>
              <a:t>    </a:t>
            </a:r>
            <a:r>
              <a:rPr lang="en-US" sz="1800" b="1" dirty="0">
                <a:solidFill>
                  <a:srgbClr val="7F0055"/>
                </a:solidFill>
                <a:latin typeface="Consolas" panose="020B0609020204030204" pitchFamily="49" charset="0"/>
              </a:rPr>
              <a:t>public</a:t>
            </a:r>
            <a:r>
              <a:rPr lang="en-US" sz="1800" b="1" dirty="0">
                <a:solidFill>
                  <a:schemeClr val="tx1"/>
                </a:solidFill>
                <a:latin typeface="Consolas" panose="020B0609020204030204" pitchFamily="49" charset="0"/>
              </a:rPr>
              <a:t> </a:t>
            </a:r>
            <a:r>
              <a:rPr lang="en-US" sz="1800" b="1" dirty="0" err="1">
                <a:solidFill>
                  <a:schemeClr val="tx1"/>
                </a:solidFill>
                <a:latin typeface="Consolas" panose="020B0609020204030204" pitchFamily="49" charset="0"/>
              </a:rPr>
              <a:t>BuildableClass</a:t>
            </a:r>
            <a:r>
              <a:rPr lang="en-US" sz="1800" dirty="0">
                <a:solidFill>
                  <a:schemeClr val="tx1"/>
                </a:solidFill>
                <a:latin typeface="Consolas" panose="020B0609020204030204" pitchFamily="49" charset="0"/>
              </a:rPr>
              <a:t>(</a:t>
            </a:r>
            <a:r>
              <a:rPr lang="en-US" sz="1800" b="1" dirty="0">
                <a:solidFill>
                  <a:schemeClr val="tx1"/>
                </a:solidFill>
                <a:latin typeface="Consolas" panose="020B0609020204030204" pitchFamily="49" charset="0"/>
              </a:rPr>
              <a:t>Builder </a:t>
            </a:r>
            <a:r>
              <a:rPr lang="en-US" sz="1800" dirty="0">
                <a:solidFill>
                  <a:schemeClr val="tx1"/>
                </a:solidFill>
                <a:latin typeface="Consolas" panose="020B0609020204030204" pitchFamily="49" charset="0"/>
              </a:rPr>
              <a:t>b) {</a:t>
            </a:r>
          </a:p>
          <a:p>
            <a:r>
              <a:rPr lang="en-US" sz="1800" b="1" dirty="0">
                <a:solidFill>
                  <a:srgbClr val="7F0055"/>
                </a:solidFill>
                <a:latin typeface="Consolas" panose="020B0609020204030204" pitchFamily="49" charset="0"/>
              </a:rPr>
              <a:t>        private</a:t>
            </a:r>
            <a:r>
              <a:rPr lang="en-US" sz="1800" b="1" dirty="0">
                <a:solidFill>
                  <a:schemeClr val="tx1"/>
                </a:solidFill>
                <a:latin typeface="Consolas" panose="020B0609020204030204" pitchFamily="49" charset="0"/>
              </a:rPr>
              <a:t>.field1 = </a:t>
            </a:r>
            <a:r>
              <a:rPr lang="en-US" sz="1800" dirty="0">
                <a:solidFill>
                  <a:schemeClr val="tx1"/>
                </a:solidFill>
                <a:latin typeface="Consolas" panose="020B0609020204030204" pitchFamily="49" charset="0"/>
              </a:rPr>
              <a:t>b</a:t>
            </a:r>
            <a:r>
              <a:rPr lang="en-US" sz="1800" b="1" dirty="0">
                <a:solidFill>
                  <a:schemeClr val="tx1"/>
                </a:solidFill>
                <a:latin typeface="Consolas" panose="020B0609020204030204" pitchFamily="49" charset="0"/>
              </a:rPr>
              <a:t>.field1;</a:t>
            </a:r>
          </a:p>
          <a:p>
            <a:r>
              <a:rPr lang="en-US" sz="1800" b="1" dirty="0">
                <a:solidFill>
                  <a:srgbClr val="7F0055"/>
                </a:solidFill>
                <a:latin typeface="Consolas" panose="020B0609020204030204" pitchFamily="49" charset="0"/>
              </a:rPr>
              <a:t>        private</a:t>
            </a:r>
            <a:r>
              <a:rPr lang="en-US" sz="1800" b="1" dirty="0">
                <a:solidFill>
                  <a:schemeClr val="tx1"/>
                </a:solidFill>
                <a:latin typeface="Consolas" panose="020B0609020204030204" pitchFamily="49" charset="0"/>
              </a:rPr>
              <a:t>.field2 = </a:t>
            </a:r>
            <a:r>
              <a:rPr lang="en-US" sz="1800" dirty="0">
                <a:solidFill>
                  <a:schemeClr val="tx1"/>
                </a:solidFill>
                <a:latin typeface="Consolas" panose="020B0609020204030204" pitchFamily="49" charset="0"/>
              </a:rPr>
              <a:t>b</a:t>
            </a:r>
            <a:r>
              <a:rPr lang="en-US" sz="1800" b="1" dirty="0">
                <a:solidFill>
                  <a:schemeClr val="tx1"/>
                </a:solidFill>
                <a:latin typeface="Consolas" panose="020B0609020204030204" pitchFamily="49" charset="0"/>
              </a:rPr>
              <a:t>.field2;</a:t>
            </a:r>
          </a:p>
          <a:p>
            <a:r>
              <a:rPr lang="en-US" sz="1800" b="1" dirty="0">
                <a:solidFill>
                  <a:schemeClr val="tx1"/>
                </a:solidFill>
                <a:latin typeface="Consolas" panose="020B0609020204030204" pitchFamily="49" charset="0"/>
              </a:rPr>
              <a:t>    </a:t>
            </a:r>
            <a:r>
              <a:rPr lang="en-US" sz="1800" dirty="0">
                <a:solidFill>
                  <a:schemeClr val="tx1"/>
                </a:solidFill>
                <a:latin typeface="Consolas" panose="020B0609020204030204" pitchFamily="49" charset="0"/>
              </a:rPr>
              <a:t>}</a:t>
            </a:r>
          </a:p>
          <a:p>
            <a:endParaRPr lang="en-US" sz="1800" b="1" dirty="0">
              <a:solidFill>
                <a:schemeClr val="tx1"/>
              </a:solidFill>
              <a:latin typeface="Consolas" panose="020B0609020204030204" pitchFamily="49" charset="0"/>
            </a:endParaRPr>
          </a:p>
          <a:p>
            <a:r>
              <a:rPr lang="en-US" sz="1800" b="1" dirty="0">
                <a:solidFill>
                  <a:srgbClr val="7F0055"/>
                </a:solidFill>
                <a:latin typeface="Consolas" panose="020B0609020204030204" pitchFamily="49" charset="0"/>
              </a:rPr>
              <a:t>    public static class </a:t>
            </a:r>
            <a:r>
              <a:rPr lang="en-US" sz="1800" b="1" dirty="0">
                <a:solidFill>
                  <a:schemeClr val="tx1"/>
                </a:solidFill>
                <a:latin typeface="Consolas" panose="020B0609020204030204" pitchFamily="49" charset="0"/>
              </a:rPr>
              <a:t>Builder</a:t>
            </a:r>
            <a:r>
              <a:rPr lang="en-US" sz="1800" b="1" dirty="0">
                <a:solidFill>
                  <a:srgbClr val="000000"/>
                </a:solidFill>
                <a:latin typeface="Consolas" panose="020B0609020204030204" pitchFamily="49" charset="0"/>
              </a:rPr>
              <a:t> {</a:t>
            </a:r>
          </a:p>
          <a:p>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private Type </a:t>
            </a:r>
            <a:r>
              <a:rPr lang="en-US" sz="1800" b="1" dirty="0">
                <a:solidFill>
                  <a:schemeClr val="tx1"/>
                </a:solidFill>
                <a:latin typeface="Consolas" panose="020B0609020204030204" pitchFamily="49" charset="0"/>
              </a:rPr>
              <a:t>field1;</a:t>
            </a:r>
          </a:p>
          <a:p>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private Type </a:t>
            </a:r>
            <a:r>
              <a:rPr lang="en-US" sz="1800" b="1" dirty="0">
                <a:solidFill>
                  <a:schemeClr val="tx1"/>
                </a:solidFill>
                <a:latin typeface="Consolas" panose="020B0609020204030204" pitchFamily="49" charset="0"/>
              </a:rPr>
              <a:t>field2;</a:t>
            </a:r>
          </a:p>
          <a:p>
            <a:r>
              <a:rPr lang="en-US" sz="1800" b="1" dirty="0">
                <a:solidFill>
                  <a:srgbClr val="7F0055"/>
                </a:solidFill>
                <a:latin typeface="Consolas" panose="020B0609020204030204" pitchFamily="49" charset="0"/>
              </a:rPr>
              <a:t>        public </a:t>
            </a:r>
            <a:r>
              <a:rPr lang="en-US" sz="1800" b="1" dirty="0">
                <a:solidFill>
                  <a:schemeClr val="tx1"/>
                </a:solidFill>
                <a:latin typeface="Consolas" panose="020B0609020204030204" pitchFamily="49" charset="0"/>
              </a:rPr>
              <a:t>Builder field1</a:t>
            </a:r>
            <a:r>
              <a:rPr lang="en-US" sz="1800" dirty="0">
                <a:solidFill>
                  <a:schemeClr val="tx1"/>
                </a:solidFill>
                <a:latin typeface="Consolas" panose="020B0609020204030204" pitchFamily="49" charset="0"/>
              </a:rPr>
              <a:t>(</a:t>
            </a:r>
            <a:r>
              <a:rPr lang="en-US" sz="1800" b="1" dirty="0">
                <a:solidFill>
                  <a:srgbClr val="7F0055"/>
                </a:solidFill>
                <a:latin typeface="Consolas" panose="020B0609020204030204" pitchFamily="49" charset="0"/>
              </a:rPr>
              <a:t>Type</a:t>
            </a:r>
            <a:r>
              <a:rPr lang="en-US" sz="1800" dirty="0">
                <a:solidFill>
                  <a:schemeClr val="tx1"/>
                </a:solidFill>
                <a:latin typeface="Consolas" panose="020B0609020204030204" pitchFamily="49" charset="0"/>
              </a:rPr>
              <a:t> field1) {</a:t>
            </a:r>
          </a:p>
          <a:p>
            <a:r>
              <a:rPr lang="en-US" sz="1800" dirty="0">
                <a:solidFill>
                  <a:schemeClr val="tx1"/>
                </a:solidFill>
                <a:latin typeface="Consolas" panose="020B0609020204030204" pitchFamily="49" charset="0"/>
              </a:rPr>
              <a:t>            </a:t>
            </a:r>
            <a:r>
              <a:rPr lang="en-US" sz="1800" b="1" dirty="0">
                <a:solidFill>
                  <a:srgbClr val="7F0055"/>
                </a:solidFill>
                <a:latin typeface="Consolas" panose="020B0609020204030204" pitchFamily="49" charset="0"/>
              </a:rPr>
              <a:t>this</a:t>
            </a:r>
            <a:r>
              <a:rPr lang="en-US" sz="1800" dirty="0">
                <a:solidFill>
                  <a:schemeClr val="tx1"/>
                </a:solidFill>
                <a:latin typeface="Consolas" panose="020B0609020204030204" pitchFamily="49" charset="0"/>
              </a:rPr>
              <a:t>.field1 = field1;</a:t>
            </a:r>
          </a:p>
          <a:p>
            <a:r>
              <a:rPr lang="en-US" sz="1800" dirty="0">
                <a:solidFill>
                  <a:schemeClr val="tx1"/>
                </a:solidFill>
                <a:latin typeface="Consolas" panose="020B0609020204030204" pitchFamily="49" charset="0"/>
              </a:rPr>
              <a:t>            </a:t>
            </a:r>
            <a:r>
              <a:rPr lang="en-US" sz="1800" b="1" dirty="0">
                <a:solidFill>
                  <a:srgbClr val="7F0055"/>
                </a:solidFill>
                <a:latin typeface="Consolas" panose="020B0609020204030204" pitchFamily="49" charset="0"/>
              </a:rPr>
              <a:t>return this</a:t>
            </a:r>
            <a:r>
              <a:rPr lang="en-US" sz="1800" dirty="0">
                <a:solidFill>
                  <a:schemeClr val="tx1"/>
                </a:solidFill>
                <a:latin typeface="Consolas" panose="020B0609020204030204" pitchFamily="49" charset="0"/>
              </a:rPr>
              <a:t>;</a:t>
            </a:r>
          </a:p>
          <a:p>
            <a:r>
              <a:rPr lang="en-US" sz="1800" dirty="0">
                <a:solidFill>
                  <a:schemeClr val="tx1"/>
                </a:solidFill>
                <a:latin typeface="Consolas" panose="020B0609020204030204" pitchFamily="49" charset="0"/>
              </a:rPr>
              <a:t>        }</a:t>
            </a:r>
          </a:p>
          <a:p>
            <a:r>
              <a:rPr lang="en-US" sz="1800" b="1" dirty="0">
                <a:solidFill>
                  <a:srgbClr val="7F0055"/>
                </a:solidFill>
                <a:latin typeface="Consolas" panose="020B0609020204030204" pitchFamily="49" charset="0"/>
              </a:rPr>
              <a:t>        public </a:t>
            </a:r>
            <a:r>
              <a:rPr lang="en-US" sz="1800" b="1" dirty="0">
                <a:solidFill>
                  <a:schemeClr val="tx1"/>
                </a:solidFill>
                <a:latin typeface="Consolas" panose="020B0609020204030204" pitchFamily="49" charset="0"/>
              </a:rPr>
              <a:t>Builder field2</a:t>
            </a:r>
            <a:r>
              <a:rPr lang="en-US" sz="1800" dirty="0">
                <a:solidFill>
                  <a:schemeClr val="tx1"/>
                </a:solidFill>
                <a:latin typeface="Consolas" panose="020B0609020204030204" pitchFamily="49" charset="0"/>
              </a:rPr>
              <a:t>(</a:t>
            </a:r>
            <a:r>
              <a:rPr lang="en-US" sz="1800" b="1" dirty="0">
                <a:solidFill>
                  <a:srgbClr val="7F0055"/>
                </a:solidFill>
                <a:latin typeface="Consolas" panose="020B0609020204030204" pitchFamily="49" charset="0"/>
              </a:rPr>
              <a:t>Type</a:t>
            </a:r>
            <a:r>
              <a:rPr lang="en-US" sz="1800" dirty="0">
                <a:solidFill>
                  <a:schemeClr val="tx1"/>
                </a:solidFill>
                <a:latin typeface="Consolas" panose="020B0609020204030204" pitchFamily="49" charset="0"/>
              </a:rPr>
              <a:t> field2) {</a:t>
            </a:r>
          </a:p>
          <a:p>
            <a:r>
              <a:rPr lang="en-US" sz="1800" dirty="0">
                <a:solidFill>
                  <a:schemeClr val="tx1"/>
                </a:solidFill>
                <a:latin typeface="Consolas" panose="020B0609020204030204" pitchFamily="49" charset="0"/>
              </a:rPr>
              <a:t>            </a:t>
            </a:r>
            <a:r>
              <a:rPr lang="en-US" sz="1800" b="1" dirty="0">
                <a:solidFill>
                  <a:srgbClr val="7F0055"/>
                </a:solidFill>
                <a:latin typeface="Consolas" panose="020B0609020204030204" pitchFamily="49" charset="0"/>
              </a:rPr>
              <a:t>this</a:t>
            </a:r>
            <a:r>
              <a:rPr lang="en-US" sz="1800" dirty="0">
                <a:solidFill>
                  <a:schemeClr val="tx1"/>
                </a:solidFill>
                <a:latin typeface="Consolas" panose="020B0609020204030204" pitchFamily="49" charset="0"/>
              </a:rPr>
              <a:t>.field2 = field2;</a:t>
            </a:r>
          </a:p>
          <a:p>
            <a:r>
              <a:rPr lang="en-US" sz="1800" dirty="0">
                <a:solidFill>
                  <a:schemeClr val="tx1"/>
                </a:solidFill>
                <a:latin typeface="Consolas" panose="020B0609020204030204" pitchFamily="49" charset="0"/>
              </a:rPr>
              <a:t>            </a:t>
            </a:r>
            <a:r>
              <a:rPr lang="en-US" sz="1800" b="1" dirty="0">
                <a:solidFill>
                  <a:srgbClr val="7F0055"/>
                </a:solidFill>
                <a:latin typeface="Consolas" panose="020B0609020204030204" pitchFamily="49" charset="0"/>
              </a:rPr>
              <a:t>return this</a:t>
            </a:r>
            <a:r>
              <a:rPr lang="en-US" sz="1800" dirty="0">
                <a:solidFill>
                  <a:schemeClr val="tx1"/>
                </a:solidFill>
                <a:latin typeface="Consolas" panose="020B0609020204030204" pitchFamily="49" charset="0"/>
              </a:rPr>
              <a:t>;</a:t>
            </a:r>
          </a:p>
          <a:p>
            <a:r>
              <a:rPr lang="en-US" sz="1800" dirty="0">
                <a:solidFill>
                  <a:schemeClr val="tx1"/>
                </a:solidFill>
                <a:latin typeface="Consolas" panose="020B0609020204030204" pitchFamily="49" charset="0"/>
              </a:rPr>
              <a:t>        }</a:t>
            </a:r>
          </a:p>
          <a:p>
            <a:endParaRPr lang="en-US" sz="1800" dirty="0">
              <a:solidFill>
                <a:schemeClr val="tx1"/>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public </a:t>
            </a:r>
            <a:r>
              <a:rPr lang="en-US" sz="1800" b="1" dirty="0" err="1">
                <a:solidFill>
                  <a:schemeClr val="tx1"/>
                </a:solidFill>
                <a:latin typeface="Consolas" panose="020B0609020204030204" pitchFamily="49" charset="0"/>
              </a:rPr>
              <a:t>BuildableClass</a:t>
            </a:r>
            <a:r>
              <a:rPr lang="en-US" sz="1800" b="1" dirty="0">
                <a:solidFill>
                  <a:schemeClr val="tx1"/>
                </a:solidFill>
                <a:latin typeface="Consolas" panose="020B0609020204030204" pitchFamily="49" charset="0"/>
              </a:rPr>
              <a:t> build</a:t>
            </a:r>
            <a:r>
              <a:rPr lang="en-US" sz="1800" dirty="0">
                <a:solidFill>
                  <a:schemeClr val="tx1"/>
                </a:solidFill>
                <a:latin typeface="Consolas" panose="020B0609020204030204" pitchFamily="49" charset="0"/>
              </a:rPr>
              <a:t>() {</a:t>
            </a:r>
          </a:p>
          <a:p>
            <a:r>
              <a:rPr lang="en-US" sz="1800" b="1" dirty="0">
                <a:solidFill>
                  <a:srgbClr val="7F0055"/>
                </a:solidFill>
                <a:latin typeface="Consolas" panose="020B0609020204030204" pitchFamily="49" charset="0"/>
              </a:rPr>
              <a:t>	    return new </a:t>
            </a:r>
            <a:r>
              <a:rPr lang="en-US" sz="1800" b="1" dirty="0" err="1">
                <a:solidFill>
                  <a:schemeClr val="tx1"/>
                </a:solidFill>
                <a:latin typeface="Consolas" panose="020B0609020204030204" pitchFamily="49" charset="0"/>
              </a:rPr>
              <a:t>BuildableClass</a:t>
            </a:r>
            <a:r>
              <a:rPr lang="en-US" sz="1800" b="1" dirty="0">
                <a:solidFill>
                  <a:schemeClr val="tx1"/>
                </a:solidFill>
                <a:latin typeface="Consolas" panose="020B0609020204030204" pitchFamily="49" charset="0"/>
              </a:rPr>
              <a:t>(</a:t>
            </a:r>
            <a:r>
              <a:rPr lang="en-US" sz="1800" b="1" dirty="0">
                <a:solidFill>
                  <a:srgbClr val="7F0055"/>
                </a:solidFill>
                <a:latin typeface="Consolas" panose="020B0609020204030204" pitchFamily="49" charset="0"/>
              </a:rPr>
              <a:t>this</a:t>
            </a:r>
            <a:r>
              <a:rPr lang="en-US" sz="1800" b="1" dirty="0">
                <a:solidFill>
                  <a:schemeClr val="tx1"/>
                </a:solidFill>
                <a:latin typeface="Consolas" panose="020B0609020204030204" pitchFamily="49" charset="0"/>
              </a:rPr>
              <a:t>)</a:t>
            </a:r>
            <a:r>
              <a:rPr lang="en-US" sz="1800" dirty="0">
                <a:solidFill>
                  <a:schemeClr val="tx1"/>
                </a:solidFill>
                <a:latin typeface="Consolas" panose="020B0609020204030204" pitchFamily="49" charset="0"/>
              </a:rPr>
              <a:t>;</a:t>
            </a:r>
          </a:p>
          <a:p>
            <a:r>
              <a:rPr lang="en-US" sz="1800" dirty="0">
                <a:solidFill>
                  <a:schemeClr val="tx1"/>
                </a:solidFill>
                <a:latin typeface="Consolas" panose="020B0609020204030204" pitchFamily="49" charset="0"/>
              </a:rPr>
              <a:t>        }</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endParaRPr lang="en-US" sz="1800" b="1" dirty="0">
              <a:solidFill>
                <a:srgbClr val="7F0055"/>
              </a:solidFill>
              <a:latin typeface="Consolas" panose="020B0609020204030204" pitchFamily="49" charset="0"/>
            </a:endParaRPr>
          </a:p>
          <a:p>
            <a:pPr algn="l"/>
            <a:r>
              <a:rPr lang="en-US" sz="18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285846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616AF-D555-4A99-9E00-6A73D187D0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CD8B3A-36DF-9848-6175-5BF07248FE2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17</a:t>
            </a:fld>
            <a:endParaRPr lang="en-US"/>
          </a:p>
        </p:txBody>
      </p:sp>
      <p:sp>
        <p:nvSpPr>
          <p:cNvPr id="4" name="Google Shape;212;p15">
            <a:extLst>
              <a:ext uri="{FF2B5EF4-FFF2-40B4-BE49-F238E27FC236}">
                <a16:creationId xmlns:a16="http://schemas.microsoft.com/office/drawing/2014/main" id="{1C831749-8525-78FE-0858-136641ACB5E9}"/>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Data Access Object</a:t>
            </a:r>
          </a:p>
        </p:txBody>
      </p:sp>
      <p:pic>
        <p:nvPicPr>
          <p:cNvPr id="6" name="Picture 5">
            <a:extLst>
              <a:ext uri="{FF2B5EF4-FFF2-40B4-BE49-F238E27FC236}">
                <a16:creationId xmlns:a16="http://schemas.microsoft.com/office/drawing/2014/main" id="{B22A109C-1C2D-1BF8-3D4E-788640D8F96A}"/>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431213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Design Patterns - DAO</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5065128"/>
          </a:xfrm>
        </p:spPr>
        <p:txBody>
          <a:bodyPr>
            <a:normAutofit/>
          </a:bodyPr>
          <a:lstStyle/>
          <a:p>
            <a:r>
              <a:rPr lang="en-US" dirty="0"/>
              <a:t>A structural pattern that separates the business logic layer from the data access layer by providing an abstract interface to some type of database or persistence mechanism.</a:t>
            </a:r>
          </a:p>
          <a:p>
            <a:r>
              <a:rPr lang="en-US" dirty="0"/>
              <a:t>This patterns allows the application to evolve independently of the underlying data storage mechanism.</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108059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FDB46-CB77-43BD-8935-38A4C3F6FA6B}"/>
              </a:ext>
            </a:extLst>
          </p:cNvPr>
          <p:cNvSpPr>
            <a:spLocks noGrp="1"/>
          </p:cNvSpPr>
          <p:nvPr>
            <p:ph type="title"/>
          </p:nvPr>
        </p:nvSpPr>
        <p:spPr/>
        <p:txBody>
          <a:bodyPr/>
          <a:lstStyle/>
          <a:p>
            <a:r>
              <a:rPr lang="en-US" dirty="0"/>
              <a:t>Design Patterns - DAO | Interface</a:t>
            </a:r>
          </a:p>
        </p:txBody>
      </p:sp>
      <p:sp>
        <p:nvSpPr>
          <p:cNvPr id="4" name="Slide Number Placeholder 3">
            <a:extLst>
              <a:ext uri="{FF2B5EF4-FFF2-40B4-BE49-F238E27FC236}">
                <a16:creationId xmlns:a16="http://schemas.microsoft.com/office/drawing/2014/main" id="{9B226E6F-12C5-41EC-BF9D-EAF162B65B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5" name="Rectangle 4">
            <a:extLst>
              <a:ext uri="{FF2B5EF4-FFF2-40B4-BE49-F238E27FC236}">
                <a16:creationId xmlns:a16="http://schemas.microsoft.com/office/drawing/2014/main" id="{A82A11AC-4036-4F2B-957E-7FF331372FA4}"/>
              </a:ext>
            </a:extLst>
          </p:cNvPr>
          <p:cNvSpPr/>
          <p:nvPr/>
        </p:nvSpPr>
        <p:spPr>
          <a:xfrm>
            <a:off x="415292" y="1440873"/>
            <a:ext cx="8313415" cy="21232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lnSpcReduction="10000"/>
          </a:bodyPr>
          <a:lstStyle/>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interface</a:t>
            </a:r>
            <a:r>
              <a:rPr lang="en-US" sz="1800" b="1" dirty="0">
                <a:solidFill>
                  <a:srgbClr val="000000"/>
                </a:solidFill>
                <a:latin typeface="Consolas" panose="020B0609020204030204" pitchFamily="49" charset="0"/>
              </a:rPr>
              <a:t> DAO {</a:t>
            </a: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Model </a:t>
            </a:r>
            <a:r>
              <a:rPr lang="en-US" sz="1800" b="1" dirty="0" err="1">
                <a:solidFill>
                  <a:srgbClr val="000000"/>
                </a:solidFill>
                <a:latin typeface="Consolas" panose="020B0609020204030204" pitchFamily="49" charset="0"/>
              </a:rPr>
              <a:t>selectRecord</a:t>
            </a:r>
            <a:r>
              <a:rPr lang="en-US" sz="1800" b="1" dirty="0">
                <a:solidFill>
                  <a:srgbClr val="000000"/>
                </a:solidFill>
                <a:latin typeface="Consolas" panose="020B0609020204030204" pitchFamily="49" charset="0"/>
              </a:rPr>
              <a:t>(Integer </a:t>
            </a:r>
            <a:r>
              <a:rPr lang="en-US" sz="1800" b="1" dirty="0">
                <a:solidFill>
                  <a:srgbClr val="6A3E3E"/>
                </a:solidFill>
                <a:latin typeface="Consolas" panose="020B0609020204030204" pitchFamily="49" charset="0"/>
              </a:rPr>
              <a:t>id</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List&lt;Model&gt; </a:t>
            </a:r>
            <a:r>
              <a:rPr lang="en-US" sz="1800" b="1" dirty="0" err="1">
                <a:solidFill>
                  <a:srgbClr val="000000"/>
                </a:solidFill>
                <a:latin typeface="Consolas" panose="020B0609020204030204" pitchFamily="49" charset="0"/>
              </a:rPr>
              <a:t>selectAllRecords</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err="1">
                <a:solidFill>
                  <a:srgbClr val="7F0055"/>
                </a:solidFill>
                <a:latin typeface="Consolas" panose="020B0609020204030204" pitchFamily="49" charset="0"/>
              </a:rPr>
              <a:t>boolean</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insertDatabaseRecord</a:t>
            </a:r>
            <a:r>
              <a:rPr lang="en-US" sz="1800" b="1" dirty="0">
                <a:solidFill>
                  <a:srgbClr val="000000"/>
                </a:solidFill>
                <a:latin typeface="Consolas" panose="020B0609020204030204" pitchFamily="49" charset="0"/>
              </a:rPr>
              <a:t>(Model </a:t>
            </a:r>
            <a:r>
              <a:rPr lang="en-US" sz="1800" b="1" dirty="0">
                <a:solidFill>
                  <a:srgbClr val="6A3E3E"/>
                </a:solidFill>
                <a:latin typeface="Consolas" panose="020B0609020204030204" pitchFamily="49" charset="0"/>
              </a:rPr>
              <a:t>m</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err="1">
                <a:solidFill>
                  <a:srgbClr val="7F0055"/>
                </a:solidFill>
                <a:latin typeface="Consolas" panose="020B0609020204030204" pitchFamily="49" charset="0"/>
              </a:rPr>
              <a:t>boolean</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updateRecord</a:t>
            </a:r>
            <a:r>
              <a:rPr lang="en-US" sz="1800" b="1" dirty="0">
                <a:solidFill>
                  <a:srgbClr val="000000"/>
                </a:solidFill>
                <a:latin typeface="Consolas" panose="020B0609020204030204" pitchFamily="49" charset="0"/>
              </a:rPr>
              <a:t>(Model </a:t>
            </a:r>
            <a:r>
              <a:rPr lang="en-US" sz="1800" b="1" dirty="0">
                <a:solidFill>
                  <a:srgbClr val="6A3E3E"/>
                </a:solidFill>
                <a:latin typeface="Consolas" panose="020B0609020204030204" pitchFamily="49" charset="0"/>
              </a:rPr>
              <a:t>m</a:t>
            </a:r>
            <a:r>
              <a:rPr lang="en-US" sz="1800" b="1"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err="1">
                <a:solidFill>
                  <a:srgbClr val="7F0055"/>
                </a:solidFill>
                <a:latin typeface="Consolas" panose="020B0609020204030204" pitchFamily="49" charset="0"/>
              </a:rPr>
              <a:t>boolean</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deleteRecord</a:t>
            </a:r>
            <a:r>
              <a:rPr lang="en-US" sz="1800" b="1" dirty="0">
                <a:solidFill>
                  <a:srgbClr val="000000"/>
                </a:solidFill>
                <a:latin typeface="Consolas" panose="020B0609020204030204" pitchFamily="49" charset="0"/>
              </a:rPr>
              <a:t>(Model </a:t>
            </a:r>
            <a:r>
              <a:rPr lang="en-US" sz="1800" b="1" dirty="0">
                <a:solidFill>
                  <a:srgbClr val="6A3E3E"/>
                </a:solidFill>
                <a:latin typeface="Consolas" panose="020B0609020204030204" pitchFamily="49" charset="0"/>
              </a:rPr>
              <a:t>m</a:t>
            </a:r>
            <a:r>
              <a:rPr lang="en-US" sz="1800" b="1" dirty="0">
                <a:solidFill>
                  <a:srgbClr val="000000"/>
                </a:solidFill>
                <a:latin typeface="Consolas" panose="020B0609020204030204" pitchFamily="49" charset="0"/>
              </a:rPr>
              <a:t>);</a:t>
            </a:r>
          </a:p>
          <a:p>
            <a:pPr algn="l"/>
            <a:r>
              <a:rPr lang="en-US" sz="1800" b="1" dirty="0">
                <a:solidFill>
                  <a:srgbClr val="000000"/>
                </a:solidFill>
                <a:latin typeface="Consolas" panose="020B0609020204030204" pitchFamily="49" charset="0"/>
              </a:rPr>
              <a:t>}</a:t>
            </a:r>
            <a:endParaRPr lang="en-US" sz="2000" b="1" dirty="0">
              <a:latin typeface="+mj-lt"/>
              <a:cs typeface="Courier New" panose="02070309020205020404" pitchFamily="49" charset="0"/>
            </a:endParaRPr>
          </a:p>
        </p:txBody>
      </p:sp>
      <p:sp>
        <p:nvSpPr>
          <p:cNvPr id="3" name="Rectangle 2">
            <a:extLst>
              <a:ext uri="{FF2B5EF4-FFF2-40B4-BE49-F238E27FC236}">
                <a16:creationId xmlns:a16="http://schemas.microsoft.com/office/drawing/2014/main" id="{3EB67897-6036-1C80-1378-AA53EDC66AAF}"/>
              </a:ext>
            </a:extLst>
          </p:cNvPr>
          <p:cNvSpPr/>
          <p:nvPr/>
        </p:nvSpPr>
        <p:spPr>
          <a:xfrm>
            <a:off x="415292" y="3902292"/>
            <a:ext cx="8313415" cy="21232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a:bodyPr>
          <a:lstStyle/>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DaoImplementor</a:t>
            </a:r>
            <a:r>
              <a:rPr lang="en-US" sz="1800" b="1" dirty="0">
                <a:solidFill>
                  <a:srgbClr val="000000"/>
                </a:solidFill>
                <a:latin typeface="Consolas" panose="020B0609020204030204" pitchFamily="49" charset="0"/>
              </a:rPr>
              <a:t> implements DAO {</a:t>
            </a: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Model </a:t>
            </a:r>
            <a:r>
              <a:rPr lang="en-US" sz="1800" b="1" dirty="0" err="1">
                <a:solidFill>
                  <a:srgbClr val="000000"/>
                </a:solidFill>
                <a:latin typeface="Consolas" panose="020B0609020204030204" pitchFamily="49" charset="0"/>
              </a:rPr>
              <a:t>selectRecord</a:t>
            </a:r>
            <a:r>
              <a:rPr lang="en-US" sz="1800" b="1" dirty="0">
                <a:solidFill>
                  <a:srgbClr val="000000"/>
                </a:solidFill>
                <a:latin typeface="Consolas" panose="020B0609020204030204" pitchFamily="49" charset="0"/>
              </a:rPr>
              <a:t>(Integer </a:t>
            </a:r>
            <a:r>
              <a:rPr lang="en-US" sz="1800" b="1" dirty="0">
                <a:solidFill>
                  <a:srgbClr val="6A3E3E"/>
                </a:solidFill>
                <a:latin typeface="Consolas" panose="020B0609020204030204" pitchFamily="49" charset="0"/>
              </a:rPr>
              <a:t>id</a:t>
            </a:r>
            <a:r>
              <a:rPr lang="en-US" sz="1800" b="1" dirty="0">
                <a:solidFill>
                  <a:srgbClr val="000000"/>
                </a:solidFill>
                <a:latin typeface="Consolas" panose="020B0609020204030204" pitchFamily="49" charset="0"/>
              </a:rPr>
              <a:t>) {</a:t>
            </a:r>
          </a:p>
          <a:p>
            <a:pPr algn="l"/>
            <a:r>
              <a:rPr lang="en-US" sz="1800" b="1" dirty="0">
                <a:solidFill>
                  <a:srgbClr val="000000"/>
                </a:solidFill>
                <a:latin typeface="Consolas" panose="020B0609020204030204" pitchFamily="49" charset="0"/>
              </a:rPr>
              <a:t>        </a:t>
            </a:r>
            <a:r>
              <a:rPr lang="en-US" sz="1800" b="1" dirty="0">
                <a:solidFill>
                  <a:srgbClr val="00B050"/>
                </a:solidFill>
                <a:latin typeface="Consolas" panose="020B0609020204030204" pitchFamily="49" charset="0"/>
              </a:rPr>
              <a:t>// specific database communication code</a:t>
            </a:r>
          </a:p>
          <a:p>
            <a:pPr algn="l"/>
            <a:r>
              <a:rPr lang="en-US" sz="1800" b="1" dirty="0">
                <a:solidFill>
                  <a:srgbClr val="000000"/>
                </a:solidFill>
                <a:latin typeface="Consolas" panose="020B0609020204030204" pitchFamily="49" charset="0"/>
              </a:rPr>
              <a:t>    }</a:t>
            </a:r>
          </a:p>
          <a:p>
            <a:pPr algn="l"/>
            <a:r>
              <a:rPr lang="en-US" sz="1800" b="1" dirty="0">
                <a:solidFill>
                  <a:srgbClr val="000000"/>
                </a:solidFill>
                <a:latin typeface="Consolas" panose="020B0609020204030204" pitchFamily="49" charset="0"/>
              </a:rPr>
              <a:t>    </a:t>
            </a:r>
            <a:r>
              <a:rPr lang="en-US" sz="1800" b="1" dirty="0">
                <a:solidFill>
                  <a:srgbClr val="00B050"/>
                </a:solidFill>
                <a:latin typeface="Consolas" panose="020B0609020204030204" pitchFamily="49" charset="0"/>
              </a:rPr>
              <a:t>// continued…</a:t>
            </a:r>
          </a:p>
          <a:p>
            <a:pPr algn="l"/>
            <a:r>
              <a:rPr lang="en-US" sz="1800" b="1" dirty="0">
                <a:solidFill>
                  <a:srgbClr val="000000"/>
                </a:solidFill>
                <a:latin typeface="Consolas" panose="020B0609020204030204" pitchFamily="49" charset="0"/>
              </a:rPr>
              <a:t>}</a:t>
            </a:r>
            <a:endParaRPr lang="en-US" sz="2000" b="1" dirty="0">
              <a:latin typeface="+mj-lt"/>
              <a:cs typeface="Courier New" panose="02070309020205020404" pitchFamily="49" charset="0"/>
            </a:endParaRPr>
          </a:p>
        </p:txBody>
      </p:sp>
    </p:spTree>
    <p:extLst>
      <p:ext uri="{BB962C8B-B14F-4D97-AF65-F5344CB8AC3E}">
        <p14:creationId xmlns:p14="http://schemas.microsoft.com/office/powerpoint/2010/main" val="2585449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7C2DA-C004-8267-243C-5996D3ACF6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71E9DB-E44A-CC53-C8E4-61CBB4E3EE2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20</a:t>
            </a:fld>
            <a:endParaRPr lang="en-US"/>
          </a:p>
        </p:txBody>
      </p:sp>
      <p:sp>
        <p:nvSpPr>
          <p:cNvPr id="4" name="Google Shape;212;p15">
            <a:extLst>
              <a:ext uri="{FF2B5EF4-FFF2-40B4-BE49-F238E27FC236}">
                <a16:creationId xmlns:a16="http://schemas.microsoft.com/office/drawing/2014/main" id="{29C09B1B-41D6-2B3F-9E9A-35C8A052D17E}"/>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Observer</a:t>
            </a:r>
          </a:p>
        </p:txBody>
      </p:sp>
      <p:pic>
        <p:nvPicPr>
          <p:cNvPr id="6" name="Picture 5">
            <a:extLst>
              <a:ext uri="{FF2B5EF4-FFF2-40B4-BE49-F238E27FC236}">
                <a16:creationId xmlns:a16="http://schemas.microsoft.com/office/drawing/2014/main" id="{AC925D96-7E43-F477-4E88-0D5F0D22BF16}"/>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447135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11-C7AF-6638-B454-4495C7014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D1E75-E553-F82F-404F-6A5D1A0A5A60}"/>
              </a:ext>
            </a:extLst>
          </p:cNvPr>
          <p:cNvSpPr>
            <a:spLocks noGrp="1"/>
          </p:cNvSpPr>
          <p:nvPr>
            <p:ph type="title"/>
          </p:nvPr>
        </p:nvSpPr>
        <p:spPr/>
        <p:txBody>
          <a:bodyPr/>
          <a:lstStyle/>
          <a:p>
            <a:r>
              <a:rPr lang="en-US" dirty="0"/>
              <a:t>Design Patterns – Observer</a:t>
            </a:r>
          </a:p>
        </p:txBody>
      </p:sp>
      <p:sp>
        <p:nvSpPr>
          <p:cNvPr id="3" name="Text Placeholder 2">
            <a:extLst>
              <a:ext uri="{FF2B5EF4-FFF2-40B4-BE49-F238E27FC236}">
                <a16:creationId xmlns:a16="http://schemas.microsoft.com/office/drawing/2014/main" id="{2F99547C-9CD0-C04C-3E27-A09920D0DD3B}"/>
              </a:ext>
            </a:extLst>
          </p:cNvPr>
          <p:cNvSpPr>
            <a:spLocks noGrp="1"/>
          </p:cNvSpPr>
          <p:nvPr>
            <p:ph type="body" idx="1"/>
          </p:nvPr>
        </p:nvSpPr>
        <p:spPr>
          <a:xfrm>
            <a:off x="380010" y="1481446"/>
            <a:ext cx="8383980" cy="5065128"/>
          </a:xfrm>
        </p:spPr>
        <p:txBody>
          <a:bodyPr>
            <a:normAutofit/>
          </a:bodyPr>
          <a:lstStyle/>
          <a:p>
            <a:r>
              <a:rPr lang="en-US" dirty="0"/>
              <a:t>If you have an object that is reliant on the output / state change of another, it can be difficult to coordinate when to call some functionality. If the dependent object (the ‘observer’) constantly checks for state changes, this can take a lot of processing power</a:t>
            </a:r>
          </a:p>
          <a:p>
            <a:r>
              <a:rPr lang="en-US" dirty="0"/>
              <a:t>A behavioral pattern that defines a one-to-many dependency between objects, such that, when one object (the </a:t>
            </a:r>
            <a:r>
              <a:rPr lang="en-US" b="1" i="1" dirty="0"/>
              <a:t>subject</a:t>
            </a:r>
            <a:r>
              <a:rPr lang="en-US" dirty="0"/>
              <a:t>) changes state, all its dependent objects (</a:t>
            </a:r>
            <a:r>
              <a:rPr lang="en-US" b="1" i="1" dirty="0"/>
              <a:t>observers</a:t>
            </a:r>
            <a:r>
              <a:rPr lang="en-US" dirty="0"/>
              <a:t>) are notified and updated automatically.</a:t>
            </a:r>
          </a:p>
        </p:txBody>
      </p:sp>
      <p:sp>
        <p:nvSpPr>
          <p:cNvPr id="4" name="Slide Number Placeholder 3">
            <a:extLst>
              <a:ext uri="{FF2B5EF4-FFF2-40B4-BE49-F238E27FC236}">
                <a16:creationId xmlns:a16="http://schemas.microsoft.com/office/drawing/2014/main" id="{3E9618FE-E5D4-3B20-0CA6-D428E83DA5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416599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2633E-8439-4BED-E18E-B705C7A4A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37C83-55B0-2C86-052E-C6846E7767A0}"/>
              </a:ext>
            </a:extLst>
          </p:cNvPr>
          <p:cNvSpPr>
            <a:spLocks noGrp="1"/>
          </p:cNvSpPr>
          <p:nvPr>
            <p:ph type="title"/>
          </p:nvPr>
        </p:nvSpPr>
        <p:spPr/>
        <p:txBody>
          <a:bodyPr/>
          <a:lstStyle/>
          <a:p>
            <a:r>
              <a:rPr lang="en-US" dirty="0"/>
              <a:t>Design Patterns - Observer</a:t>
            </a:r>
          </a:p>
        </p:txBody>
      </p:sp>
      <p:sp>
        <p:nvSpPr>
          <p:cNvPr id="4" name="Slide Number Placeholder 3">
            <a:extLst>
              <a:ext uri="{FF2B5EF4-FFF2-40B4-BE49-F238E27FC236}">
                <a16:creationId xmlns:a16="http://schemas.microsoft.com/office/drawing/2014/main" id="{ECBDD1E6-1FD3-AB36-1BE1-65D0F10061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5" name="Rectangle 4">
            <a:extLst>
              <a:ext uri="{FF2B5EF4-FFF2-40B4-BE49-F238E27FC236}">
                <a16:creationId xmlns:a16="http://schemas.microsoft.com/office/drawing/2014/main" id="{2C6ED9B9-6883-20D3-7242-99AA31326D15}"/>
              </a:ext>
            </a:extLst>
          </p:cNvPr>
          <p:cNvSpPr/>
          <p:nvPr/>
        </p:nvSpPr>
        <p:spPr>
          <a:xfrm>
            <a:off x="415291" y="1357746"/>
            <a:ext cx="8313415" cy="35564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fontScale="92500" lnSpcReduction="20000"/>
          </a:bodyPr>
          <a:lstStyle/>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interface</a:t>
            </a:r>
            <a:r>
              <a:rPr lang="en-US" sz="1800" b="1" dirty="0">
                <a:solidFill>
                  <a:srgbClr val="000000"/>
                </a:solidFill>
                <a:latin typeface="Consolas" panose="020B0609020204030204" pitchFamily="49" charset="0"/>
              </a:rPr>
              <a:t> Subject {</a:t>
            </a:r>
          </a:p>
          <a:p>
            <a:r>
              <a:rPr lang="en-US" sz="1800" b="1" dirty="0">
                <a:solidFill>
                  <a:srgbClr val="7F0055"/>
                </a:solidFill>
                <a:latin typeface="Consolas" panose="020B0609020204030204" pitchFamily="49" charset="0"/>
              </a:rPr>
              <a:t>    private</a:t>
            </a:r>
            <a:r>
              <a:rPr lang="en-US" sz="1800" b="1" dirty="0">
                <a:solidFill>
                  <a:srgbClr val="000000"/>
                </a:solidFill>
                <a:latin typeface="Consolas" panose="020B0609020204030204" pitchFamily="49" charset="0"/>
              </a:rPr>
              <a:t> List&lt;Observer&gt; observers = </a:t>
            </a:r>
            <a:r>
              <a:rPr lang="en-US" sz="1800" b="1" dirty="0">
                <a:solidFill>
                  <a:srgbClr val="7F0055"/>
                </a:solidFill>
                <a:latin typeface="Consolas" panose="020B0609020204030204" pitchFamily="49" charset="0"/>
              </a:rPr>
              <a:t>new</a:t>
            </a:r>
            <a:r>
              <a:rPr lang="en-US" sz="1800" b="1" dirty="0">
                <a:solidFill>
                  <a:srgbClr val="000000"/>
                </a:solidFill>
                <a:latin typeface="Consolas" panose="020B0609020204030204" pitchFamily="49" charset="0"/>
              </a:rPr>
              <a:t> ArrayList&lt;&gt; ();</a:t>
            </a:r>
          </a:p>
          <a:p>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private int</a:t>
            </a:r>
            <a:r>
              <a:rPr lang="en-US" sz="1800" b="1" dirty="0">
                <a:solidFill>
                  <a:srgbClr val="000000"/>
                </a:solidFill>
                <a:latin typeface="Consolas" panose="020B0609020204030204" pitchFamily="49" charset="0"/>
              </a:rPr>
              <a:t> state;</a:t>
            </a:r>
          </a:p>
          <a:p>
            <a:pPr algn="l"/>
            <a:endParaRPr lang="en-US" sz="1800" b="1" dirty="0">
              <a:solidFill>
                <a:srgbClr val="000000"/>
              </a:solidFill>
              <a:latin typeface="Consolas" panose="020B0609020204030204" pitchFamily="49" charset="0"/>
            </a:endParaRP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add(Observer o) { </a:t>
            </a:r>
            <a:r>
              <a:rPr lang="en-US" sz="1800" b="1" dirty="0" err="1">
                <a:solidFill>
                  <a:srgbClr val="000000"/>
                </a:solidFill>
                <a:latin typeface="Consolas" panose="020B0609020204030204" pitchFamily="49" charset="0"/>
              </a:rPr>
              <a:t>observers.add</a:t>
            </a:r>
            <a:r>
              <a:rPr lang="en-US" sz="1800" b="1" dirty="0">
                <a:solidFill>
                  <a:srgbClr val="000000"/>
                </a:solidFill>
                <a:latin typeface="Consolas" panose="020B0609020204030204" pitchFamily="49" charset="0"/>
              </a:rPr>
              <a:t>(o) };</a:t>
            </a:r>
          </a:p>
          <a:p>
            <a:pPr algn="l"/>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getState</a:t>
            </a:r>
            <a:r>
              <a:rPr lang="en-US" sz="1800" b="1" dirty="0">
                <a:solidFill>
                  <a:srgbClr val="000000"/>
                </a:solidFill>
                <a:latin typeface="Consolas" panose="020B0609020204030204" pitchFamily="49" charset="0"/>
              </a:rPr>
              <a:t>() { return state; }</a:t>
            </a:r>
          </a:p>
          <a:p>
            <a:r>
              <a:rPr lang="en-US" sz="1800" b="1" dirty="0">
                <a:solidFill>
                  <a:srgbClr val="7F0055"/>
                </a:solidFill>
                <a:latin typeface="Consolas" panose="020B0609020204030204" pitchFamily="49" charset="0"/>
              </a:rPr>
              <a:t>    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setState</a:t>
            </a:r>
            <a:r>
              <a:rPr lang="en-US" sz="1800" b="1" dirty="0">
                <a:solidFill>
                  <a:srgbClr val="000000"/>
                </a:solidFill>
                <a:latin typeface="Consolas" panose="020B0609020204030204" pitchFamily="49" charset="0"/>
              </a:rPr>
              <a:t>(int state) {</a:t>
            </a:r>
            <a:r>
              <a:rPr lang="en-US" sz="1800" b="1" dirty="0">
                <a:solidFill>
                  <a:srgbClr val="7F0055"/>
                </a:solidFill>
                <a:latin typeface="Consolas" panose="020B0609020204030204" pitchFamily="49" charset="0"/>
              </a:rPr>
              <a:t> </a:t>
            </a:r>
          </a:p>
          <a:p>
            <a:r>
              <a:rPr lang="en-US" sz="1800" b="1" dirty="0">
                <a:solidFill>
                  <a:srgbClr val="7F0055"/>
                </a:solidFill>
                <a:latin typeface="Consolas" panose="020B0609020204030204" pitchFamily="49" charset="0"/>
              </a:rPr>
              <a:t>		</a:t>
            </a:r>
            <a:r>
              <a:rPr lang="en-US" sz="1800" b="1" dirty="0" err="1">
                <a:solidFill>
                  <a:srgbClr val="7F0055"/>
                </a:solidFill>
                <a:latin typeface="Consolas" panose="020B0609020204030204" pitchFamily="49" charset="0"/>
              </a:rPr>
              <a:t>this</a:t>
            </a:r>
            <a:r>
              <a:rPr lang="en-US" sz="1800" b="1" dirty="0" err="1">
                <a:solidFill>
                  <a:srgbClr val="000000"/>
                </a:solidFill>
                <a:latin typeface="Consolas" panose="020B0609020204030204" pitchFamily="49" charset="0"/>
              </a:rPr>
              <a:t>.state</a:t>
            </a:r>
            <a:r>
              <a:rPr lang="en-US" sz="1800" b="1" dirty="0">
                <a:solidFill>
                  <a:srgbClr val="000000"/>
                </a:solidFill>
                <a:latin typeface="Consolas" panose="020B0609020204030204" pitchFamily="49" charset="0"/>
              </a:rPr>
              <a:t> = state; </a:t>
            </a:r>
          </a:p>
          <a:p>
            <a:r>
              <a:rPr lang="en-US" sz="1800" b="1" dirty="0">
                <a:solidFill>
                  <a:srgbClr val="000000"/>
                </a:solidFill>
                <a:latin typeface="Consolas" panose="020B0609020204030204" pitchFamily="49" charset="0"/>
              </a:rPr>
              <a:t>		execute(); }</a:t>
            </a:r>
          </a:p>
          <a:p>
            <a:endParaRPr lang="en-US" sz="1800" b="1" dirty="0">
              <a:solidFill>
                <a:srgbClr val="000000"/>
              </a:solidFill>
              <a:latin typeface="Consolas" panose="020B0609020204030204" pitchFamily="49" charset="0"/>
            </a:endParaRPr>
          </a:p>
          <a:p>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private void</a:t>
            </a:r>
            <a:r>
              <a:rPr lang="en-US" sz="1800" b="1" dirty="0">
                <a:solidFill>
                  <a:srgbClr val="000000"/>
                </a:solidFill>
                <a:latin typeface="Consolas" panose="020B0609020204030204" pitchFamily="49" charset="0"/>
              </a:rPr>
              <a:t> execute() {</a:t>
            </a:r>
          </a:p>
          <a:p>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for</a:t>
            </a:r>
            <a:r>
              <a:rPr lang="en-US" sz="1800" b="1" dirty="0">
                <a:solidFill>
                  <a:srgbClr val="000000"/>
                </a:solidFill>
                <a:latin typeface="Consolas" panose="020B0609020204030204" pitchFamily="49" charset="0"/>
              </a:rPr>
              <a:t> (Observer o : observers) { </a:t>
            </a:r>
            <a:r>
              <a:rPr lang="en-US" sz="1800" b="1" dirty="0" err="1">
                <a:solidFill>
                  <a:srgbClr val="000000"/>
                </a:solidFill>
                <a:latin typeface="Consolas" panose="020B0609020204030204" pitchFamily="49" charset="0"/>
              </a:rPr>
              <a:t>o.update</a:t>
            </a:r>
            <a:r>
              <a:rPr lang="en-US" sz="1800" b="1" dirty="0">
                <a:solidFill>
                  <a:srgbClr val="000000"/>
                </a:solidFill>
                <a:latin typeface="Consolas" panose="020B0609020204030204" pitchFamily="49" charset="0"/>
              </a:rPr>
              <a:t>(); }</a:t>
            </a:r>
          </a:p>
          <a:p>
            <a:r>
              <a:rPr lang="en-US" sz="1800" b="1" dirty="0">
                <a:solidFill>
                  <a:srgbClr val="000000"/>
                </a:solidFill>
                <a:latin typeface="Consolas" panose="020B0609020204030204" pitchFamily="49" charset="0"/>
              </a:rPr>
              <a:t>    }</a:t>
            </a:r>
          </a:p>
          <a:p>
            <a:pPr algn="l"/>
            <a:r>
              <a:rPr lang="en-US" sz="1800" b="1" dirty="0">
                <a:solidFill>
                  <a:srgbClr val="000000"/>
                </a:solidFill>
                <a:latin typeface="Consolas" panose="020B0609020204030204" pitchFamily="49" charset="0"/>
              </a:rPr>
              <a:t>}</a:t>
            </a:r>
            <a:endParaRPr lang="en-US" sz="2000" b="1" dirty="0">
              <a:latin typeface="+mj-lt"/>
              <a:cs typeface="Courier New" panose="02070309020205020404" pitchFamily="49" charset="0"/>
            </a:endParaRPr>
          </a:p>
        </p:txBody>
      </p:sp>
      <p:sp>
        <p:nvSpPr>
          <p:cNvPr id="3" name="Rectangle 2">
            <a:extLst>
              <a:ext uri="{FF2B5EF4-FFF2-40B4-BE49-F238E27FC236}">
                <a16:creationId xmlns:a16="http://schemas.microsoft.com/office/drawing/2014/main" id="{48950D7D-438E-8E07-82D9-7EAC73FC5C4B}"/>
              </a:ext>
            </a:extLst>
          </p:cNvPr>
          <p:cNvSpPr/>
          <p:nvPr/>
        </p:nvSpPr>
        <p:spPr>
          <a:xfrm>
            <a:off x="415291" y="5052695"/>
            <a:ext cx="8313415" cy="1449563"/>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lnSpcReduction="10000"/>
          </a:bodyPr>
          <a:lstStyle/>
          <a:p>
            <a:pPr algn="l"/>
            <a:endParaRPr lang="en-US" sz="1800" dirty="0">
              <a:latin typeface="Consolas" panose="020B0609020204030204" pitchFamily="49" charset="0"/>
            </a:endParaRPr>
          </a:p>
          <a:p>
            <a:pPr algn="l"/>
            <a:r>
              <a:rPr lang="en-US" sz="1800" b="1" dirty="0">
                <a:solidFill>
                  <a:srgbClr val="7F0055"/>
                </a:solidFill>
                <a:latin typeface="Consolas" panose="020B0609020204030204" pitchFamily="49" charset="0"/>
              </a:rPr>
              <a:t>public abstract</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b="1" dirty="0">
                <a:solidFill>
                  <a:srgbClr val="000000"/>
                </a:solidFill>
                <a:latin typeface="Consolas" panose="020B0609020204030204" pitchFamily="49" charset="0"/>
              </a:rPr>
              <a:t> Observer {</a:t>
            </a:r>
          </a:p>
          <a:p>
            <a:pPr algn="l"/>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protected</a:t>
            </a:r>
            <a:r>
              <a:rPr lang="en-US" sz="1800" b="1" dirty="0">
                <a:solidFill>
                  <a:srgbClr val="000000"/>
                </a:solidFill>
                <a:latin typeface="Consolas" panose="020B0609020204030204" pitchFamily="49" charset="0"/>
              </a:rPr>
              <a:t> Subject </a:t>
            </a:r>
            <a:r>
              <a:rPr lang="en-US" sz="1800" b="1" dirty="0" err="1">
                <a:solidFill>
                  <a:srgbClr val="000000"/>
                </a:solidFill>
                <a:latin typeface="Consolas" panose="020B0609020204030204" pitchFamily="49" charset="0"/>
              </a:rPr>
              <a:t>subject</a:t>
            </a:r>
            <a:r>
              <a:rPr lang="en-US" sz="1800" b="1" dirty="0">
                <a:solidFill>
                  <a:srgbClr val="000000"/>
                </a:solidFill>
                <a:latin typeface="Consolas" panose="020B0609020204030204" pitchFamily="49" charset="0"/>
              </a:rPr>
              <a:t>;</a:t>
            </a:r>
          </a:p>
          <a:p>
            <a:pPr algn="l"/>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public abstract void</a:t>
            </a:r>
            <a:r>
              <a:rPr lang="en-US" sz="1800" b="1" dirty="0">
                <a:solidFill>
                  <a:srgbClr val="000000"/>
                </a:solidFill>
                <a:latin typeface="Consolas" panose="020B0609020204030204" pitchFamily="49" charset="0"/>
              </a:rPr>
              <a:t> update();</a:t>
            </a:r>
          </a:p>
          <a:p>
            <a:pPr algn="l"/>
            <a:r>
              <a:rPr lang="en-US" sz="1800" b="1" dirty="0">
                <a:solidFill>
                  <a:srgbClr val="000000"/>
                </a:solidFill>
                <a:latin typeface="Consolas" panose="020B0609020204030204" pitchFamily="49" charset="0"/>
              </a:rPr>
              <a:t>}</a:t>
            </a:r>
            <a:endParaRPr lang="en-US" sz="2000" b="1" dirty="0">
              <a:latin typeface="+mj-lt"/>
              <a:cs typeface="Courier New" panose="02070309020205020404" pitchFamily="49" charset="0"/>
            </a:endParaRPr>
          </a:p>
        </p:txBody>
      </p:sp>
    </p:spTree>
    <p:extLst>
      <p:ext uri="{BB962C8B-B14F-4D97-AF65-F5344CB8AC3E}">
        <p14:creationId xmlns:p14="http://schemas.microsoft.com/office/powerpoint/2010/main" val="3226400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400"/>
              <a:buFont typeface="Arial"/>
              <a:buNone/>
            </a:pPr>
            <a:endParaRPr/>
          </a:p>
        </p:txBody>
      </p:sp>
      <p:sp>
        <p:nvSpPr>
          <p:cNvPr id="310" name="Google Shape;310;p2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theme/theme1.xml><?xml version="1.0" encoding="utf-8"?>
<a:theme xmlns:a="http://schemas.openxmlformats.org/drawingml/2006/main" name="2_Custom Design">
  <a:themeElements>
    <a:clrScheme name="Revature">
      <a:dk1>
        <a:srgbClr val="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24108</TotalTime>
  <Words>1671</Words>
  <Application>Microsoft Office PowerPoint</Application>
  <PresentationFormat>On-screen Show (4:3)</PresentationFormat>
  <Paragraphs>243</Paragraphs>
  <Slides>24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Consolas</vt:lpstr>
      <vt:lpstr>2_Custom Design</vt:lpstr>
      <vt:lpstr>Design Patterns</vt:lpstr>
      <vt:lpstr>Outline</vt:lpstr>
      <vt:lpstr>PowerPoint Presentation</vt:lpstr>
      <vt:lpstr>Design Patterns</vt:lpstr>
      <vt:lpstr>Design Patterns – Benefits &amp; Criticisms</vt:lpstr>
      <vt:lpstr>Design Patterns – Classifications</vt:lpstr>
      <vt:lpstr>PowerPoint Presentation</vt:lpstr>
      <vt:lpstr>Design Patterns - Singleton</vt:lpstr>
      <vt:lpstr>Lazy Singleton</vt:lpstr>
      <vt:lpstr>Eager Singleton</vt:lpstr>
      <vt:lpstr>PowerPoint Presentation</vt:lpstr>
      <vt:lpstr>Design Patterns - Factory</vt:lpstr>
      <vt:lpstr>Design Patterns – Factory (cont…)</vt:lpstr>
      <vt:lpstr>Design Patterns – Factory (cont…)</vt:lpstr>
      <vt:lpstr>PowerPoint Presentation</vt:lpstr>
      <vt:lpstr>Design Patterns - Builder</vt:lpstr>
      <vt:lpstr>Design Patterns – Factory (cont…)</vt:lpstr>
      <vt:lpstr>PowerPoint Presentation</vt:lpstr>
      <vt:lpstr>Design Patterns - DAO</vt:lpstr>
      <vt:lpstr>Design Patterns - DAO | Interface</vt:lpstr>
      <vt:lpstr>PowerPoint Presentation</vt:lpstr>
      <vt:lpstr>Design Patterns – Observer</vt:lpstr>
      <vt:lpstr>Design Patterns - Observer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and OOP</dc:title>
  <dc:creator>Joseph Highe</dc:creator>
  <cp:lastModifiedBy>Joseph Highe</cp:lastModifiedBy>
  <cp:revision>242</cp:revision>
  <dcterms:modified xsi:type="dcterms:W3CDTF">2026-08-05T21:46:46Z</dcterms:modified>
</cp:coreProperties>
</file>