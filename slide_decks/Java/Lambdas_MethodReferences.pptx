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7"/>
  </p:notesMasterIdLst>
  <p:sldIdLst>
    <p:sldId id="256" r:id="rId2"/>
    <p:sldId id="358" r:id="rId3"/>
    <p:sldId id="357" r:id="rId4"/>
    <p:sldId id="316" r:id="rId5"/>
    <p:sldId id="360" r:id="rId6"/>
    <p:sldId id="359" r:id="rId7"/>
    <p:sldId id="317" r:id="rId8"/>
    <p:sldId id="329" r:id="rId9"/>
    <p:sldId id="328" r:id="rId10"/>
    <p:sldId id="330" r:id="rId11"/>
    <p:sldId id="331" r:id="rId12"/>
    <p:sldId id="361" r:id="rId13"/>
    <p:sldId id="332" r:id="rId14"/>
    <p:sldId id="333" r:id="rId15"/>
    <p:sldId id="270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D034C-CF51-4B22-9742-2A4F1E78825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1847B-4054-49FB-B927-CC22EB7E8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9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039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8924-9A92-4C04-B505-EA1D30C59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388DC-622E-44CF-8E31-113F9A9DE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Functional Programming with Lambdas &amp; Method References</a:t>
            </a:r>
          </a:p>
        </p:txBody>
      </p:sp>
    </p:spTree>
    <p:extLst>
      <p:ext uri="{BB962C8B-B14F-4D97-AF65-F5344CB8AC3E}">
        <p14:creationId xmlns:p14="http://schemas.microsoft.com/office/powerpoint/2010/main" val="137729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950C-1533-63DE-DD2D-89193E68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EFA6-14CC-B850-D2D4-1FE283AB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FC858-6AC8-9D7A-678A-2C80A9B6F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Functional Interfaces</a:t>
            </a:r>
          </a:p>
          <a:p>
            <a:r>
              <a:rPr lang="en-US" dirty="0"/>
              <a:t>Lambdas</a:t>
            </a:r>
          </a:p>
          <a:p>
            <a:r>
              <a:rPr lang="en-US" dirty="0"/>
              <a:t>Method References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A435F-81F6-F08D-EAFA-7D136E4FDA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7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 Interfaces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Functional interfaces are interfaces that only have one abstract method.</a:t>
            </a:r>
          </a:p>
          <a:p>
            <a:r>
              <a:rPr lang="en-US" dirty="0"/>
              <a:t>The purpose of functional interfaces is to provide a specific function that can be applied easily to any class.</a:t>
            </a:r>
          </a:p>
          <a:p>
            <a:r>
              <a:rPr lang="en-US" dirty="0"/>
              <a:t>You can leverage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@FunctionalInterface</a:t>
            </a:r>
            <a:r>
              <a:rPr lang="en-US" dirty="0"/>
              <a:t> annotation in java, which will throw a compile-time error if the annotated interface contains more than one abstract method.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9B50-559F-B1E8-600D-A34BBC79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EFC1-FC30-B6F7-CEF9-6BE743C12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Functional Interfaces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56B6B-9D90-F9EB-E5B0-7F3AB226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Runnable</a:t>
            </a:r>
            <a:r>
              <a:rPr lang="en-US" dirty="0"/>
              <a:t>: used to create threads</a:t>
            </a:r>
          </a:p>
          <a:p>
            <a:r>
              <a:rPr lang="en-US" b="1" dirty="0"/>
              <a:t>Comparable</a:t>
            </a:r>
            <a:r>
              <a:rPr lang="en-US" dirty="0"/>
              <a:t>: used to compare the implementing object to others of the same type.</a:t>
            </a:r>
          </a:p>
          <a:p>
            <a:r>
              <a:rPr lang="en-US" b="1" dirty="0"/>
              <a:t>Comparator</a:t>
            </a:r>
            <a:r>
              <a:rPr lang="en-US" dirty="0"/>
              <a:t>: used to compare two objects of the same type</a:t>
            </a:r>
          </a:p>
          <a:p>
            <a:r>
              <a:rPr lang="en-US" b="1" dirty="0"/>
              <a:t>Predicate</a:t>
            </a:r>
            <a:r>
              <a:rPr lang="en-US" dirty="0"/>
              <a:t>: used to test some functionality and return a </a:t>
            </a:r>
            <a:r>
              <a:rPr lang="en-US" dirty="0" err="1"/>
              <a:t>boolean</a:t>
            </a:r>
            <a:r>
              <a:rPr lang="en-US" dirty="0"/>
              <a:t>.</a:t>
            </a:r>
          </a:p>
          <a:p>
            <a:r>
              <a:rPr lang="en-US" b="1" dirty="0"/>
              <a:t>Supplier</a:t>
            </a:r>
            <a:r>
              <a:rPr lang="en-US" dirty="0"/>
              <a:t>: used to generate an object of a given type</a:t>
            </a:r>
          </a:p>
          <a:p>
            <a:r>
              <a:rPr lang="en-US" b="1" dirty="0"/>
              <a:t>Consumer</a:t>
            </a:r>
            <a:r>
              <a:rPr lang="en-US" dirty="0"/>
              <a:t>: used to perform some action with a given type, but does not return any data.</a:t>
            </a:r>
          </a:p>
          <a:p>
            <a:pPr marL="0" indent="0">
              <a:buNone/>
            </a:pPr>
            <a:endParaRPr lang="en-US" dirty="0"/>
          </a:p>
          <a:p>
            <a:pPr marL="50800" indent="0">
              <a:buNone/>
            </a:pPr>
            <a:r>
              <a:rPr lang="en-US" dirty="0"/>
              <a:t>More examples: https://docs.oracle.com/javase/8/docs/api/java/util/function/package-summary.html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E7367-E8D9-C6EE-4167-5CB6936CD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6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DCC3-6B07-B1F4-3AA8-E1D7CF36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878940-C4B2-5934-B1E2-6529931ED6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1D716F9-A172-C6AD-CC45-30E88A21209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Lambdas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9F4CAF-CC24-881E-9936-992C9BE3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4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The Lambda expression is one of the biggest new features of Java 8, introducing aspects important to the use of functional programming in java.</a:t>
            </a:r>
          </a:p>
          <a:p>
            <a:pPr lvl="1"/>
            <a:r>
              <a:rPr lang="en-US" b="1" dirty="0"/>
              <a:t>Functional Programming</a:t>
            </a:r>
            <a:r>
              <a:rPr lang="en-US" dirty="0"/>
              <a:t> – A programming paradigm in which programs are constructed by applying and composing functionality.</a:t>
            </a:r>
          </a:p>
          <a:p>
            <a:r>
              <a:rPr lang="en-US" b="1" dirty="0"/>
              <a:t>**Lambdas allow for the creation and execution of a function or method without needing to create a dedicated space in class memory.**</a:t>
            </a:r>
          </a:p>
          <a:p>
            <a:pPr lvl="1"/>
            <a:r>
              <a:rPr lang="en-US" dirty="0"/>
              <a:t>i.e. you can create a temporary method, use it, and be done with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1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 anchor="ctr">
            <a:normAutofit/>
          </a:bodyPr>
          <a:lstStyle/>
          <a:p>
            <a:r>
              <a:rPr lang="en-US" dirty="0"/>
              <a:t>Lambda expressions in Java are </a:t>
            </a:r>
            <a:r>
              <a:rPr lang="en-US" b="1" u="sng" dirty="0"/>
              <a:t>only</a:t>
            </a:r>
            <a:r>
              <a:rPr lang="en-US" dirty="0"/>
              <a:t> usable with functional interfaces.</a:t>
            </a:r>
          </a:p>
          <a:p>
            <a:endParaRPr lang="en-US" dirty="0"/>
          </a:p>
          <a:p>
            <a:r>
              <a:rPr lang="en-US" dirty="0"/>
              <a:t>Lambda expressions allow you to instantiate interface objects by providing an implementation for a functional interface during object creation.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7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17512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Lambas</a:t>
            </a:r>
            <a:r>
              <a:rPr lang="en-US" dirty="0"/>
              <a:t> utilize ‘arrow notation’, to specify an input and output for the lambda function.</a:t>
            </a:r>
          </a:p>
          <a:p>
            <a:r>
              <a:rPr lang="en-US" dirty="0"/>
              <a:t>The most basic syntax for a lambda expression is as follows: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0132C5-8724-4468-A029-556CC9F0C5AB}"/>
              </a:ext>
            </a:extLst>
          </p:cNvPr>
          <p:cNvSpPr/>
          <p:nvPr/>
        </p:nvSpPr>
        <p:spPr>
          <a:xfrm>
            <a:off x="2582022" y="2656566"/>
            <a:ext cx="3979955" cy="6225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parameter(s) -&gt; expression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B67A7C-4AAA-4AC8-8FD0-B50571E7E640}"/>
              </a:ext>
            </a:extLst>
          </p:cNvPr>
          <p:cNvSpPr txBox="1">
            <a:spLocks/>
          </p:cNvSpPr>
          <p:nvPr/>
        </p:nvSpPr>
        <p:spPr>
          <a:xfrm>
            <a:off x="380009" y="3549777"/>
            <a:ext cx="8383980" cy="90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Lambdas are particularly useful because many java libraries and frameworks allow for the use of lambdas for in-line implementation: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416D5-D31C-4014-A3CA-AC641B805EE3}"/>
              </a:ext>
            </a:extLst>
          </p:cNvPr>
          <p:cNvSpPr/>
          <p:nvPr/>
        </p:nvSpPr>
        <p:spPr>
          <a:xfrm>
            <a:off x="1292087" y="4483343"/>
            <a:ext cx="6559826" cy="16097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List&lt;String&gt; names = new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&lt;String&gt;();</a:t>
            </a:r>
          </a:p>
          <a:p>
            <a:pPr defTabSz="228600"/>
            <a:r>
              <a:rPr lang="en-US" sz="2000" dirty="0" err="1">
                <a:latin typeface="+mj-lt"/>
                <a:cs typeface="Courier New" panose="02070309020205020404" pitchFamily="49" charset="0"/>
              </a:rPr>
              <a:t>names.add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(“Alice”);</a:t>
            </a:r>
          </a:p>
          <a:p>
            <a:pPr defTabSz="228600"/>
            <a:r>
              <a:rPr lang="en-US" sz="2000" dirty="0" err="1">
                <a:latin typeface="+mj-lt"/>
                <a:cs typeface="Courier New" panose="02070309020205020404" pitchFamily="49" charset="0"/>
              </a:rPr>
              <a:t>names.add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(“Bob”);</a:t>
            </a:r>
          </a:p>
          <a:p>
            <a:pPr defTabSz="228600"/>
            <a:r>
              <a:rPr lang="en-US" sz="2000" dirty="0" err="1">
                <a:latin typeface="+mj-lt"/>
                <a:cs typeface="Courier New" panose="02070309020205020404" pitchFamily="49" charset="0"/>
              </a:rPr>
              <a:t>names.add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(“Charlies”);</a:t>
            </a:r>
          </a:p>
          <a:p>
            <a:pPr defTabSz="228600"/>
            <a:r>
              <a:rPr lang="en-US" sz="2000" dirty="0" err="1">
                <a:latin typeface="+mj-lt"/>
                <a:cs typeface="Courier New" panose="02070309020205020404" pitchFamily="49" charset="0"/>
              </a:rPr>
              <a:t>names.forEach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(str -&gt;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(str));</a:t>
            </a:r>
          </a:p>
        </p:txBody>
      </p:sp>
    </p:spTree>
    <p:extLst>
      <p:ext uri="{BB962C8B-B14F-4D97-AF65-F5344CB8AC3E}">
        <p14:creationId xmlns:p14="http://schemas.microsoft.com/office/powerpoint/2010/main" val="302831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2F7B15-2A1D-41A7-8198-DDBC068EFF0B}"/>
              </a:ext>
            </a:extLst>
          </p:cNvPr>
          <p:cNvSpPr/>
          <p:nvPr/>
        </p:nvSpPr>
        <p:spPr>
          <a:xfrm>
            <a:off x="1543878" y="1628520"/>
            <a:ext cx="6056244" cy="12241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HelloWorldInterface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defTabSz="228600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printHelloWorld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C09EFC-A750-4E28-8E3A-5778FDBD56DD}"/>
              </a:ext>
            </a:extLst>
          </p:cNvPr>
          <p:cNvSpPr/>
          <p:nvPr/>
        </p:nvSpPr>
        <p:spPr>
          <a:xfrm>
            <a:off x="380010" y="3140765"/>
            <a:ext cx="8604418" cy="32229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Simulator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defTabSz="228600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(String[]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HelloWorldInterface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() -&gt; { 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Hello World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”); 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};</a:t>
            </a:r>
          </a:p>
          <a:p>
            <a:pPr defTabSz="228600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.printHelloWorld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60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Lambdas - Omissions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 anchor="t">
            <a:normAutofit fontScale="85000" lnSpcReduction="20000"/>
          </a:bodyPr>
          <a:lstStyle/>
          <a:p>
            <a:r>
              <a:rPr lang="en-US" dirty="0"/>
              <a:t>Lambdas…</a:t>
            </a:r>
          </a:p>
          <a:p>
            <a:pPr lvl="1"/>
            <a:r>
              <a:rPr lang="en-US" dirty="0"/>
              <a:t>Act as a short-hand convenience for implementing functionality</a:t>
            </a:r>
          </a:p>
          <a:p>
            <a:pPr lvl="1"/>
            <a:r>
              <a:rPr lang="en-US" dirty="0"/>
              <a:t>Can omit some of the syntax for less verbose code</a:t>
            </a:r>
          </a:p>
          <a:p>
            <a:r>
              <a:rPr lang="en-US" dirty="0"/>
              <a:t>You can omit…</a:t>
            </a:r>
          </a:p>
          <a:p>
            <a:pPr lvl="2"/>
            <a:r>
              <a:rPr lang="en-US" dirty="0"/>
              <a:t>For this example, our functional interface method may look like this: </a:t>
            </a:r>
          </a:p>
          <a:p>
            <a:pPr lvl="3"/>
            <a:r>
              <a:rPr lang="en-US" dirty="0"/>
              <a:t>int increase(int a);</a:t>
            </a:r>
          </a:p>
          <a:p>
            <a:pPr lvl="1"/>
            <a:r>
              <a:rPr lang="en-US" dirty="0"/>
              <a:t>The Parameter Datatypes can ALWAYS be omitted.</a:t>
            </a:r>
          </a:p>
          <a:p>
            <a:pPr lvl="1"/>
            <a:r>
              <a:rPr lang="en-US" dirty="0"/>
              <a:t>Parentheses if there is a single parameter and you do  not state the datatype</a:t>
            </a:r>
          </a:p>
          <a:p>
            <a:pPr lvl="2"/>
            <a:r>
              <a:rPr lang="en-US" dirty="0"/>
              <a:t>(int a) -&gt; { return a + 1; }</a:t>
            </a:r>
          </a:p>
          <a:p>
            <a:pPr lvl="2"/>
            <a:r>
              <a:rPr lang="en-US" dirty="0"/>
              <a:t>a -&gt; { return a + 1; }</a:t>
            </a:r>
          </a:p>
          <a:p>
            <a:pPr lvl="1"/>
            <a:r>
              <a:rPr lang="en-US" dirty="0"/>
              <a:t>Curly braces if you also omit the keyword ‘return’ and there is only a single statement</a:t>
            </a:r>
          </a:p>
          <a:p>
            <a:pPr lvl="2"/>
            <a:r>
              <a:rPr lang="en-US" dirty="0"/>
              <a:t>(int a) -&gt; { return a + 1; }</a:t>
            </a:r>
          </a:p>
          <a:p>
            <a:pPr lvl="2"/>
            <a:r>
              <a:rPr lang="en-US" dirty="0"/>
              <a:t>(int a) -&gt; a + 1;</a:t>
            </a:r>
          </a:p>
          <a:p>
            <a:pPr lvl="1"/>
            <a:r>
              <a:rPr lang="en-US" dirty="0"/>
              <a:t>Combined:</a:t>
            </a:r>
          </a:p>
          <a:p>
            <a:pPr lvl="2"/>
            <a:r>
              <a:rPr lang="en-US" dirty="0"/>
              <a:t>a -&gt; a + 1;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0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844D-BA9A-0887-E978-E309E3DF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F1ABD2-5DC4-0F1E-F203-AEE559AEE4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939243D-85EA-507B-6265-E862C2EE103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Method References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4CE521-4465-B2D1-64A8-00EA6768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46" y="0"/>
            <a:ext cx="2107354" cy="77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77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Method references further simplify lambda syntax.</a:t>
            </a:r>
          </a:p>
          <a:p>
            <a:pPr lvl="1"/>
            <a:r>
              <a:rPr lang="en-US" dirty="0"/>
              <a:t>Method references allow you to implement a functional interface by calling an already implemented method, whose method signature satisfies the functional interface implementation</a:t>
            </a:r>
          </a:p>
          <a:p>
            <a:r>
              <a:rPr lang="en-US" dirty="0"/>
              <a:t>Method Reference Syntax:</a:t>
            </a:r>
          </a:p>
          <a:p>
            <a:pPr lvl="1"/>
            <a:r>
              <a:rPr lang="en-US" dirty="0"/>
              <a:t>Method references use a double colon ‘::’ to denote the referenced method.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Class|Reference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]::[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methodName|new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::new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8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 anchor="t">
            <a:normAutofit/>
          </a:bodyPr>
          <a:lstStyle/>
          <a:p>
            <a:r>
              <a:rPr lang="en-US" dirty="0"/>
              <a:t>There are 3* method reference types:</a:t>
            </a:r>
          </a:p>
          <a:p>
            <a:pPr lvl="1"/>
            <a:r>
              <a:rPr lang="en-US" dirty="0"/>
              <a:t>References to static methods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someStaticMethod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println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References to methods on an Instance variable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someObject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someInstanceMethod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::length</a:t>
            </a:r>
          </a:p>
          <a:p>
            <a:pPr lvl="1"/>
            <a:r>
              <a:rPr lang="en-US" dirty="0"/>
              <a:t>References using constructors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Object::new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MyCustomClass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6FFD6B8-0DBC-15C1-7612-CDAC5BB39593}"/>
              </a:ext>
            </a:extLst>
          </p:cNvPr>
          <p:cNvSpPr txBox="1">
            <a:spLocks/>
          </p:cNvSpPr>
          <p:nvPr/>
        </p:nvSpPr>
        <p:spPr>
          <a:xfrm>
            <a:off x="276036" y="6477713"/>
            <a:ext cx="8383980" cy="25112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dirty="0"/>
              <a:t>*In actuality there are four; but, we will only concern ourselves with three types for now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561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1671</TotalTime>
  <Words>745</Words>
  <Application>Microsoft Office PowerPoint</Application>
  <PresentationFormat>On-screen Show (4:3)</PresentationFormat>
  <Paragraphs>106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Revature</vt:lpstr>
      <vt:lpstr>Advanced Java</vt:lpstr>
      <vt:lpstr>Topics</vt:lpstr>
      <vt:lpstr>PowerPoint Presentation</vt:lpstr>
      <vt:lpstr>Functional Interfaces</vt:lpstr>
      <vt:lpstr>Built-in Functional Interfaces</vt:lpstr>
      <vt:lpstr>PowerPoint Presentation</vt:lpstr>
      <vt:lpstr>Lambdas</vt:lpstr>
      <vt:lpstr>Lambdas</vt:lpstr>
      <vt:lpstr>Lambdas</vt:lpstr>
      <vt:lpstr>Lambdas</vt:lpstr>
      <vt:lpstr>Lambdas - Omissions</vt:lpstr>
      <vt:lpstr>PowerPoint Presentation</vt:lpstr>
      <vt:lpstr>Method References</vt:lpstr>
      <vt:lpstr>Method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13</cp:revision>
  <dcterms:created xsi:type="dcterms:W3CDTF">2021-05-11T18:50:44Z</dcterms:created>
  <dcterms:modified xsi:type="dcterms:W3CDTF">2026-07-21T13:43:45Z</dcterms:modified>
</cp:coreProperties>
</file>