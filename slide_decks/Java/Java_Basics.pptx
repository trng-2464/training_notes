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ink/ink3.xml" ContentType="application/inkml+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ink/ink4.xml" ContentType="application/inkml+xml"/>
  <Override PartName="/ppt/ink/ink5.xml" ContentType="application/inkml+xml"/>
  <Override PartName="/ppt/ink/ink6.xml" ContentType="application/inkml+xml"/>
  <Override PartName="/ppt/notesSlides/notesSlide26.xml" ContentType="application/vnd.openxmlformats-officedocument.presentationml.notesSlide+xml"/>
  <Override PartName="/ppt/ink/ink7.xml" ContentType="application/inkml+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notesSlides/notesSlide29.xml" ContentType="application/vnd.openxmlformats-officedocument.presentationml.notesSlide+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notesSlides/notesSlide30.xml" ContentType="application/vnd.openxmlformats-officedocument.presentationml.notesSlide+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ink/ink27.xml" ContentType="application/inkml+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trictFirstAndLastChars="0" saveSubsetFonts="1" autoCompressPictures="0">
  <p:sldMasterIdLst>
    <p:sldMasterId id="2147483661" r:id="rId1"/>
  </p:sldMasterIdLst>
  <p:notesMasterIdLst>
    <p:notesMasterId r:id="rId135"/>
  </p:notesMasterIdLst>
  <p:sldIdLst>
    <p:sldId id="256" r:id="rId2"/>
    <p:sldId id="343" r:id="rId3"/>
    <p:sldId id="357" r:id="rId4"/>
    <p:sldId id="295" r:id="rId5"/>
    <p:sldId id="269" r:id="rId6"/>
    <p:sldId id="258" r:id="rId7"/>
    <p:sldId id="263" r:id="rId8"/>
    <p:sldId id="358" r:id="rId9"/>
    <p:sldId id="271" r:id="rId10"/>
    <p:sldId id="279" r:id="rId11"/>
    <p:sldId id="268" r:id="rId12"/>
    <p:sldId id="359" r:id="rId13"/>
    <p:sldId id="259" r:id="rId14"/>
    <p:sldId id="260" r:id="rId15"/>
    <p:sldId id="360" r:id="rId16"/>
    <p:sldId id="294" r:id="rId17"/>
    <p:sldId id="262" r:id="rId18"/>
    <p:sldId id="266" r:id="rId19"/>
    <p:sldId id="373" r:id="rId20"/>
    <p:sldId id="283" r:id="rId21"/>
    <p:sldId id="355" r:id="rId22"/>
    <p:sldId id="361" r:id="rId23"/>
    <p:sldId id="299" r:id="rId24"/>
    <p:sldId id="282" r:id="rId25"/>
    <p:sldId id="287" r:id="rId26"/>
    <p:sldId id="286" r:id="rId27"/>
    <p:sldId id="296" r:id="rId28"/>
    <p:sldId id="297" r:id="rId29"/>
    <p:sldId id="362" r:id="rId30"/>
    <p:sldId id="332" r:id="rId31"/>
    <p:sldId id="333" r:id="rId32"/>
    <p:sldId id="308" r:id="rId33"/>
    <p:sldId id="309" r:id="rId34"/>
    <p:sldId id="363" r:id="rId35"/>
    <p:sldId id="298" r:id="rId36"/>
    <p:sldId id="280" r:id="rId37"/>
    <p:sldId id="364" r:id="rId38"/>
    <p:sldId id="300" r:id="rId39"/>
    <p:sldId id="330" r:id="rId40"/>
    <p:sldId id="281" r:id="rId41"/>
    <p:sldId id="331" r:id="rId42"/>
    <p:sldId id="365" r:id="rId43"/>
    <p:sldId id="272" r:id="rId44"/>
    <p:sldId id="273" r:id="rId45"/>
    <p:sldId id="275" r:id="rId46"/>
    <p:sldId id="276" r:id="rId47"/>
    <p:sldId id="278" r:id="rId48"/>
    <p:sldId id="316" r:id="rId49"/>
    <p:sldId id="264" r:id="rId50"/>
    <p:sldId id="366" r:id="rId51"/>
    <p:sldId id="288" r:id="rId52"/>
    <p:sldId id="289" r:id="rId53"/>
    <p:sldId id="290" r:id="rId54"/>
    <p:sldId id="291" r:id="rId55"/>
    <p:sldId id="344" r:id="rId56"/>
    <p:sldId id="345" r:id="rId57"/>
    <p:sldId id="348" r:id="rId58"/>
    <p:sldId id="349" r:id="rId59"/>
    <p:sldId id="401" r:id="rId60"/>
    <p:sldId id="367" r:id="rId61"/>
    <p:sldId id="312" r:id="rId62"/>
    <p:sldId id="313" r:id="rId63"/>
    <p:sldId id="314" r:id="rId64"/>
    <p:sldId id="315" r:id="rId65"/>
    <p:sldId id="368" r:id="rId66"/>
    <p:sldId id="317" r:id="rId67"/>
    <p:sldId id="318" r:id="rId68"/>
    <p:sldId id="335" r:id="rId69"/>
    <p:sldId id="319" r:id="rId70"/>
    <p:sldId id="265" r:id="rId71"/>
    <p:sldId id="320" r:id="rId72"/>
    <p:sldId id="321" r:id="rId73"/>
    <p:sldId id="369" r:id="rId74"/>
    <p:sldId id="336" r:id="rId75"/>
    <p:sldId id="337" r:id="rId76"/>
    <p:sldId id="338" r:id="rId77"/>
    <p:sldId id="323" r:id="rId78"/>
    <p:sldId id="339" r:id="rId79"/>
    <p:sldId id="340" r:id="rId80"/>
    <p:sldId id="292" r:id="rId81"/>
    <p:sldId id="328" r:id="rId82"/>
    <p:sldId id="329" r:id="rId83"/>
    <p:sldId id="406" r:id="rId84"/>
    <p:sldId id="370" r:id="rId85"/>
    <p:sldId id="341" r:id="rId86"/>
    <p:sldId id="322" r:id="rId87"/>
    <p:sldId id="327" r:id="rId88"/>
    <p:sldId id="342" r:id="rId89"/>
    <p:sldId id="293" r:id="rId90"/>
    <p:sldId id="371" r:id="rId91"/>
    <p:sldId id="324" r:id="rId92"/>
    <p:sldId id="326" r:id="rId93"/>
    <p:sldId id="325" r:id="rId94"/>
    <p:sldId id="372" r:id="rId95"/>
    <p:sldId id="350" r:id="rId96"/>
    <p:sldId id="351" r:id="rId97"/>
    <p:sldId id="352" r:id="rId98"/>
    <p:sldId id="346" r:id="rId99"/>
    <p:sldId id="353" r:id="rId100"/>
    <p:sldId id="354" r:id="rId101"/>
    <p:sldId id="277" r:id="rId102"/>
    <p:sldId id="347" r:id="rId103"/>
    <p:sldId id="374" r:id="rId104"/>
    <p:sldId id="274" r:id="rId105"/>
    <p:sldId id="381" r:id="rId106"/>
    <p:sldId id="382" r:id="rId107"/>
    <p:sldId id="375" r:id="rId108"/>
    <p:sldId id="383" r:id="rId109"/>
    <p:sldId id="384" r:id="rId110"/>
    <p:sldId id="385" r:id="rId111"/>
    <p:sldId id="386" r:id="rId112"/>
    <p:sldId id="387" r:id="rId113"/>
    <p:sldId id="388" r:id="rId114"/>
    <p:sldId id="376" r:id="rId115"/>
    <p:sldId id="389" r:id="rId116"/>
    <p:sldId id="390" r:id="rId117"/>
    <p:sldId id="261" r:id="rId118"/>
    <p:sldId id="377" r:id="rId119"/>
    <p:sldId id="391" r:id="rId120"/>
    <p:sldId id="378" r:id="rId121"/>
    <p:sldId id="392" r:id="rId122"/>
    <p:sldId id="396" r:id="rId123"/>
    <p:sldId id="397" r:id="rId124"/>
    <p:sldId id="393" r:id="rId125"/>
    <p:sldId id="379" r:id="rId126"/>
    <p:sldId id="380" r:id="rId127"/>
    <p:sldId id="402" r:id="rId128"/>
    <p:sldId id="403" r:id="rId129"/>
    <p:sldId id="404" r:id="rId130"/>
    <p:sldId id="405" r:id="rId131"/>
    <p:sldId id="400" r:id="rId132"/>
    <p:sldId id="399" r:id="rId133"/>
    <p:sldId id="270" r:id="rId134"/>
  </p:sldIdLst>
  <p:sldSz cx="9144000" cy="6858000" type="screen4x3"/>
  <p:notesSz cx="7010400" cy="9296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176">
          <p15:clr>
            <a:srgbClr val="A4A3A4"/>
          </p15:clr>
        </p15:guide>
        <p15:guide id="2" orient="horz" pos="763">
          <p15:clr>
            <a:srgbClr val="A4A3A4"/>
          </p15:clr>
        </p15:guide>
        <p15:guide id="3" orient="horz" pos="288">
          <p15:clr>
            <a:srgbClr val="A4A3A4"/>
          </p15:clr>
        </p15:guide>
        <p15:guide id="4" orient="horz" pos="708">
          <p15:clr>
            <a:srgbClr val="A4A3A4"/>
          </p15:clr>
        </p15:guide>
        <p15:guide id="5" pos="240">
          <p15:clr>
            <a:srgbClr val="A4A3A4"/>
          </p15:clr>
        </p15:guide>
        <p15:guide id="6" pos="5035">
          <p15:clr>
            <a:srgbClr val="A4A3A4"/>
          </p15:clr>
        </p15:guide>
        <p15:guide id="7" pos="3437">
          <p15:clr>
            <a:srgbClr val="A4A3A4"/>
          </p15:clr>
        </p15:guide>
        <p15:guide id="8" pos="3495">
          <p15:clr>
            <a:srgbClr val="A4A3A4"/>
          </p15:clr>
        </p15:guide>
        <p15:guide id="9" pos="1825">
          <p15:clr>
            <a:srgbClr val="A4A3A4"/>
          </p15:clr>
        </p15:guide>
        <p15:guide id="10" pos="1882">
          <p15:clr>
            <a:srgbClr val="A4A3A4"/>
          </p15:clr>
        </p15:guide>
        <p15:guide id="11" pos="3399">
          <p15:clr>
            <a:srgbClr val="A4A3A4"/>
          </p15:clr>
        </p15:guide>
        <p15:guide id="12" pos="2122">
          <p15:clr>
            <a:srgbClr val="A4A3A4"/>
          </p15:clr>
        </p15:guide>
        <p15:guide id="13" orient="horz" pos="765">
          <p15:clr>
            <a:srgbClr val="A4A3A4"/>
          </p15:clr>
        </p15:guide>
        <p15:guide id="14" pos="2880">
          <p15:clr>
            <a:srgbClr val="A4A3A4"/>
          </p15:clr>
        </p15:guide>
        <p15:guide id="15" pos="1440">
          <p15:clr>
            <a:srgbClr val="A4A3A4"/>
          </p15:clr>
        </p15:guide>
        <p15:guide id="16" pos="4320">
          <p15:clr>
            <a:srgbClr val="A4A3A4"/>
          </p15:clr>
        </p15:guide>
      </p15:sldGuideLst>
    </p:ext>
    <p:ext uri="{2D200454-40CA-4A62-9FC3-DE9A4176ACB9}">
      <p15:notesGuideLst xmlns:p15="http://schemas.microsoft.com/office/powerpoint/2012/main">
        <p15:guide id="1" orient="horz" pos="3002">
          <p15:clr>
            <a:srgbClr val="A4A3A4"/>
          </p15:clr>
        </p15:guide>
        <p15:guide id="2" pos="2282">
          <p15:clr>
            <a:srgbClr val="A4A3A4"/>
          </p15:clr>
        </p15:guide>
        <p15:guide id="3" orient="horz" pos="2928">
          <p15:clr>
            <a:srgbClr val="A4A3A4"/>
          </p15:clr>
        </p15:guide>
        <p15:guide id="4"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111" d="100"/>
          <a:sy n="111" d="100"/>
        </p:scale>
        <p:origin x="1614" y="96"/>
      </p:cViewPr>
      <p:guideLst>
        <p:guide orient="horz" pos="4176"/>
        <p:guide orient="horz" pos="763"/>
        <p:guide orient="horz" pos="288"/>
        <p:guide orient="horz" pos="708"/>
        <p:guide pos="240"/>
        <p:guide pos="5035"/>
        <p:guide pos="3437"/>
        <p:guide pos="3495"/>
        <p:guide pos="1825"/>
        <p:guide pos="1882"/>
        <p:guide pos="3399"/>
        <p:guide pos="2122"/>
        <p:guide orient="horz" pos="765"/>
        <p:guide pos="2880"/>
        <p:guide pos="1440"/>
        <p:guide pos="432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3002"/>
        <p:guide pos="2282"/>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notesMaster" Target="notesMasters/notes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9-07-12T19:35:25.216"/>
    </inkml:context>
    <inkml:brush xml:id="br0">
      <inkml:brushProperty name="width" value="0.05" units="cm"/>
      <inkml:brushProperty name="height" value="0.05" units="cm"/>
      <inkml:brushProperty name="color" value="#F36A25"/>
      <inkml:brushProperty name="ignorePressure" value="1"/>
    </inkml:brush>
  </inkml:definitions>
  <inkml:trace contextRef="#ctx0" brushRef="#br0">96 135,'-2'0,"1"0,-1 1,0-1,1 1,-1 0,0-1,1 1,-1 0,1 0,0 0,-1 0,1 0,0 0,-1 1,1-1,0 0,-12 10,12-11,1-1,0 1,0 0,0 0,0 0,-1 0,1-1,0 1,0 0,0 0,0 0,0-1,0 1,-1 0,1 0,0 0,0-1,0 1,0 0,0 0,0-1,0 1,0 0,0 0,0 0,0-1,0 1,0 0,0 0,1-1,-1 1,0 0,0 0,0 0,0-1,0 1,0 0,0 0,1 0,-1-1,0 1,0 0,0 0,1 0,-1 0,6-13,1 0,1 1,0 0,1 1,0 0,1 0,0 1,3-2,-3 4,-5 2,1 1,0 1,1-1,-1 1,1 0,1-1,-7 5,0 0,0-1,0 1,0 0,0-1,0 1,0 0,0 0,0 0,0 0,0 0,0 0,0 0,0 1,0-1,0 0,0 0,0 1,1 0,-1-1,0 1,0 0,0 0,0 1,0-1,0 0,0 0,0 0,-1 1,1-1,-1 0,1 1,-1-1,1 0,-1 1,0-1,1 1,-1-1,1 5,-1-1,1 0,-1 1,0-1,0 0,-1 1,0-1,0 0,0 0,0 0,-1 1,0-2,0 1,0 0,-1 0,0 1,-3 3,-1-1,1 0,-1 0,-1 0,1-1,-1 0,-7 4,1-5,11-14,15-18,-4 15,0 2,0 0,-1-1,-1 0,6-11,-11 20,0 0,-1-1,1 1,0 0,-1 0,1-1,-1 1,0 0,1-1,-1 1,0 0,0-1,0 1,0-1,0 1,0 0,0-1,0 1,-1 0,1-1,0 1,-1 0,1-1,-1 1,1 0,-1 0,0 0,0-1,0 1,1 0,-1 0,0 0,0 0,0 0,0 1,-1-1,1 0,0 0,0 1,0-1,-1 0,1 1,0 0,-1-1,-2 1,1-1,-1 1,0 0,0 0,0 0,1 1,-1 0,0-1,0 1,1 0,-1 1,1-1,-1 1,1-1,0 1,-1 0,1 0,0 1,0-1,0 1,1-1,-2 2,-4 4,0 0,1 0,-1 1,2 0,-1 0,-4 10,5-3,20-34,3-3,31-12,-41 30,0-1,-1 1,0-2,0 1,0-1,0 0,-1 0,1 0,-1-1,-1 0,-3 6,-1 0,0 0,0 0,0 0,0 0,0 0,0 0,1 0,-1-1,0 1,0 0,0 0,0 0,0 0,0 0,0 0,0-1,0 1,0 0,0 0,0 0,1 0,-1-1,0 1,0 0,0 0,0 0,0 0,-1 0,1-1,0 1,0 0,0 0,0 0,0 0,0 0,0-1,0 1,0 0,0 0,0 0,0 0,0 0,-1 0,1-1,0 1,0 0,0 0,0 0,0 0,0 0,-1 0,1 0,0 0,0 0,-12 3,-11 9,10-1,1 1,0-1,1 2,0 0,-5 8,-22 26,17-17,20-29,1 0,-1 0,1 0,-1 0,1 0,-1 0,1 0,0 0,0 0,-1 0,1 0,0 0,0 0,0 1,0-1,0 0,1 0,-1 0,0 0,0 0,1 0,-1 0,1 0,-1 0,1 0,-1 0,1 0,0 0,-1 0,1-1,0 1,0-1,0 0,0 1,0-1,0 0,1 0,-1 0,0 0,0 0,0 0,0 0,0 0,0-1,0 1,0 0,0-1,0 1,0 0,0-1,0 1,-1-1,1 1,0-1,0 0,0 0,29-21,-24 17,10-9,-1 1,-1-2,9-12,29-28,-45 51,-4 7,-10 20,-20 30,22-47,1 0,-1 0,0 0,0 0,-1-1,0 0,0 0,0-1,0 0,-1 0,0 0,0-1,-3 2,12-6,1 1,-1 0,0 1,0-1,1 0,-1 1,0-1,0 1,1 0,-1 0,0 0,0 0,0 0,0 0,0 0,0 1,1 0,-2-1,0 0,1 0,-1 0,0 0,0 0,0 0,0 1,0-1,0 0,0 1,0-1,0 0,-1 1,1-1,0 1,-1-1,0 1,1-1,-1 1,0 0,0-1,1 1,-1-1,-1 1,1 0,0-1,0 1,0-1,-1 1,1-1,-1 2,-4 10,12-19,12-21,16-53,-35 80,0 0,0 0,0 0,0-1,0 1,0 0,0 0,1 0,-1-1,0 1,0 0,0 0,0 0,0 0,0-1,0 1,1 0,-1 0,0 0,0 0,0 0,0 0,1 0,-1-1,0 1,0 0,0 0,0 0,1 0,-1 0,0 0,0 0,0 0,1 0,-1 0,0 0,0 0,0 0,1 0,-1 0,0 0,0 0,0 0,1 0,2 11,-1 15,-2-25,0 4,0 0,1 0,0 0,0 0,0 1,1-1,-1-1,1 1,1 1,-3-5,0-1,1 1,-1 0,1-1,-1 1,1 0,-1-1,1 1,0 0,-1-1,1 1,0-1,-1 1,1-1,0 0,0 1,-1-1,1 0,0 1,0-1,0 0,-1 0,2 0,-1 0,1 0,-1-1,1 1,-1-1,1 1,-1-1,0 0,1 1,-1-1,0 0,1 0,-1 0,0 0,0 0,0 0,0-1,0 1,0-1,4-6,-1-1,-1-1,0 1,0-1,-1 1,0-1,0 0,-1 1,0-3,-1 10,0 5,0-1,-2 11,1 1,-2 0,0 0,0-1,-1 1,-2 1,-1-68,8-139,-1 180</inkml:trace>
  <inkml:trace contextRef="#ctx0" brushRef="#br0" timeOffset="1873.84">227 135,'0'0</inkml:trace>
  <inkml:trace contextRef="#ctx0" brushRef="#br0" timeOffset="2498.99">227 266,'0'0</inkml:trace>
  <inkml:trace contextRef="#ctx0" brushRef="#br0" timeOffset="3108.47">122 266,'0'0</inkml:trace>
  <inkml:trace contextRef="#ctx0" brushRef="#br0" timeOffset="3760.51">175 109,'5'0,"5"0,1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9-07-12T19:37:41.417"/>
    </inkml:context>
    <inkml:brush xml:id="br0">
      <inkml:brushProperty name="width" value="0.05" units="cm"/>
      <inkml:brushProperty name="height" value="0.05" units="cm"/>
      <inkml:brushProperty name="color" value="#F36A25"/>
      <inkml:brushProperty name="ignorePressure" value="1"/>
    </inkml:brush>
  </inkml:definitions>
  <inkml:trace contextRef="#ctx0" brushRef="#br0">96 135,'-2'0,"1"0,-1 1,0-1,1 1,-1 0,0-1,1 1,-1 0,1 0,0 0,-1 0,1 0,0 0,-1 1,1-1,0 0,-12 10,12-11,1-1,0 1,0 0,0 0,0 0,-1 0,1-1,0 1,0 0,0 0,0 0,0-1,0 1,-1 0,1 0,0 0,0-1,0 1,0 0,0 0,0-1,0 1,0 0,0 0,0 0,0-1,0 1,0 0,0 0,1-1,-1 1,0 0,0 0,0 0,0-1,0 1,0 0,0 0,1 0,-1-1,0 1,0 0,0 0,1 0,-1 0,6-13,1 0,1 1,0 0,1 1,0 0,1 0,0 1,3-2,-3 4,-5 2,1 1,0 1,1-1,-1 1,1 0,1-1,-7 5,0 0,0-1,0 1,0 0,0-1,0 1,0 0,0 0,0 0,0 0,0 0,0 0,0 0,0 1,0-1,0 0,0 0,0 1,1 0,-1-1,0 1,0 0,0 0,0 1,0-1,0 0,0 0,0 0,-1 1,1-1,-1 0,1 1,-1-1,1 0,-1 1,0-1,1 1,-1-1,1 5,-1-1,1 0,-1 1,0-1,0 0,-1 1,0-1,0 0,0 0,0 0,-1 1,0-2,0 1,0 0,-1 0,0 1,-3 3,-1-1,1 0,-1 0,-1 0,1-1,-1 0,-7 4,1-5,11-14,15-18,-4 15,0 2,0 0,-1-1,-1 0,6-11,-11 20,0 0,-1-1,1 1,0 0,-1 0,1-1,-1 1,0 0,1-1,-1 1,0 0,0-1,0 1,0-1,0 1,0 0,0-1,0 1,-1 0,1-1,0 1,-1 0,1-1,-1 1,1 0,-1 0,0 0,0-1,0 1,1 0,-1 0,0 0,0 0,0 0,0 1,-1-1,1 0,0 0,0 1,0-1,-1 0,1 1,0 0,-1-1,-2 1,1-1,-1 1,0 0,0 0,0 0,1 1,-1 0,0-1,0 1,1 0,-1 1,1-1,-1 1,1-1,0 1,-1 0,1 0,0 1,0-1,0 1,1-1,-2 2,-4 4,0 0,1 0,-1 1,2 0,-1 0,-4 10,5-3,20-34,3-3,31-12,-41 30,0-1,-1 1,0-2,0 1,0-1,0 0,-1 0,1 0,-1-1,-1 0,-3 6,-1 0,0 0,0 0,0 0,0 0,0 0,0 0,1 0,-1-1,0 1,0 0,0 0,0 0,0 0,0 0,0 0,0-1,0 1,0 0,0 0,0 0,1 0,-1-1,0 1,0 0,0 0,0 0,0 0,-1 0,1-1,0 1,0 0,0 0,0 0,0 0,0 0,0-1,0 1,0 0,0 0,0 0,0 0,0 0,-1 0,1-1,0 1,0 0,0 0,0 0,0 0,0 0,-1 0,1 0,0 0,0 0,-12 3,-11 9,10-1,1 1,0-1,1 2,0 0,-5 8,-22 26,17-17,20-29,1 0,-1 0,1 0,-1 0,1 0,-1 0,1 0,0 0,0 0,-1 0,1 0,0 0,0 0,0 1,0-1,0 0,1 0,-1 0,0 0,0 0,1 0,-1 0,1 0,-1 0,1 0,-1 0,1 0,0 0,-1 0,1-1,0 1,0-1,0 0,0 1,0-1,0 0,1 0,-1 0,0 0,0 0,0 0,0 0,0 0,0-1,0 1,0 0,0-1,0 1,0 0,0-1,0 1,-1-1,1 1,0-1,0 0,0 0,29-21,-24 17,10-9,-1 1,-1-2,9-12,29-28,-45 51,-4 7,-10 20,-20 30,22-47,1 0,-1 0,0 0,0 0,-1-1,0 0,0 0,0-1,0 0,-1 0,0 0,0-1,-3 2,12-6,1 1,-1 0,0 1,0-1,1 0,-1 1,0-1,0 1,1 0,-1 0,0 0,0 0,0 0,0 0,0 0,0 1,1 0,-2-1,0 0,1 0,-1 0,0 0,0 0,0 0,0 1,0-1,0 0,0 1,0-1,0 0,-1 1,1-1,0 1,-1-1,0 1,1-1,-1 1,0 0,0-1,1 1,-1-1,-1 1,1 0,0-1,0 1,0-1,-1 1,1-1,-1 2,-4 10,12-19,12-21,16-53,-35 80,0 0,0 0,0 0,0-1,0 1,0 0,0 0,1 0,-1-1,0 1,0 0,0 0,0 0,0 0,0-1,0 1,1 0,-1 0,0 0,0 0,0 0,0 0,1 0,-1-1,0 1,0 0,0 0,0 0,1 0,-1 0,0 0,0 0,0 0,1 0,-1 0,0 0,0 0,0 0,1 0,-1 0,0 0,0 0,0 0,1 0,2 11,-1 15,-2-25,0 4,0 0,1 0,0 0,0 0,0 1,1-1,-1-1,1 1,1 1,-3-5,0-1,1 1,-1 0,1-1,-1 1,1 0,-1-1,1 1,0 0,-1-1,1 1,0-1,-1 1,1-1,0 0,0 1,-1-1,1 0,0 1,0-1,0 0,-1 0,2 0,-1 0,1 0,-1-1,1 1,-1-1,1 1,-1-1,0 0,1 1,-1-1,0 0,1 0,-1 0,0 0,0 0,0 0,0-1,0 1,0-1,4-6,-1-1,-1-1,0 1,0-1,-1 1,0-1,0 0,-1 1,0-3,-1 10,0 5,0-1,-2 11,1 1,-2 0,0 0,0-1,-1 1,-2 1,-1-68,8-139,-1 180</inkml:trace>
  <inkml:trace contextRef="#ctx0" brushRef="#br0" timeOffset="1">227 135,'0'0</inkml:trace>
  <inkml:trace contextRef="#ctx0" brushRef="#br0" timeOffset="2">227 266,'0'0</inkml:trace>
  <inkml:trace contextRef="#ctx0" brushRef="#br0" timeOffset="3">122 266,'0'0</inkml:trace>
  <inkml:trace contextRef="#ctx0" brushRef="#br0" timeOffset="4">175 109,'5'0,"5"0,1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9-09-11T16:26:30.202"/>
    </inkml:context>
    <inkml:brush xml:id="br0">
      <inkml:brushProperty name="width" value="0.05" units="cm"/>
      <inkml:brushProperty name="height" value="0.05" units="cm"/>
      <inkml:brushProperty name="ignorePressure" value="1"/>
    </inkml:brush>
  </inkml:definitions>
  <inkml:trace contextRef="#ctx0" brushRef="#br0">2134 1729,'2'-18,"15"-40,-7 31,-2 0,-1-1,-2 0,0 0,-2 0,0-22,-5 15,-1-1,-2 1,-1 0,-2 0,-2 1,-1 0,-1 1,-17-32,7 23,-2 1,-1 2,-3 0,-1 2,-1 1,-20-16,-4 2,-3 2,-1 2,-3 3,-1 3,-2 3,-1 2,-2 3,-45-13,32 17,0 3,-65-10,99 27,-1 1,0 3,0 1,0 3,-33 4,54 0,0 2,-10 3,15-4,-1 0,0-1,-18 1,20-7,20 2</inkml:trace>
  <inkml:trace contextRef="#ctx0" brushRef="#br0" timeOffset="1380.37">342 0,'-2'4,"1"0,-1 0,-1 0,1 0,0 0,-1-1,0 1,0-1,0 0,0 0,0 0,-4 3,-1 1,-51 46,-14 6,22-18,2 1,-15 20,107-34,0-2,0 3,-2 2,-2 1,-1 2,-1 2,-2 1,13 20,-36-41,5 4,-1 1,-2 0,4 8,-19-34,0-1,0 1,0 0,1-1,-1 1,2 0,-1-1,1-4,0-9,-1-355,0 374</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9-07-11T17:16:20.594"/>
    </inkml:context>
    <inkml:brush xml:id="br0">
      <inkml:brushProperty name="width" value="0.05" units="cm"/>
      <inkml:brushProperty name="height" value="0.05" units="cm"/>
      <inkml:brushProperty name="ignorePressure" value="1"/>
    </inkml:brush>
  </inkml:definitions>
  <inkml:trace contextRef="#ctx0" brushRef="#br0">2307 771,'-1'-30,"-1"12,-1 0,0 0,-2 0,0 0,-1 1,-4-7,-15-30,-11-16,14 31,-1 1,-2 1,-2 1,-1 1,-1 2,-2 1,-2 1,-25-18,32 29,-1 2,-1 1,0 1,-1 2,-1 1,0 1,0 1,-2 2,1 1,-1 2,0 0,-12 2,9 2,-1 3,1 1,-1 1,1 2,0 2,1 1,0 2,0 1,1 1,-20 11,24-8,0 0,1 2,0 1,2 1,0 1,1 2,1 0,2 1,0 2,1 0,-10 17,19-22,1 1,0 0,2 1,0 0,2 1,0-1,1 2,3-7,0 1,0-1,2 1,0 0,2 0,-1-1,2 1,1-1,3 14,-9-27,1-1,-1-1,0 1,0 0,0-1,0 1,0-1,0 0,-1 0,-2 1,-1 1,-12 9,-177 118,150-97,2 2,1 3,-4 7,10-6,2 1,1 2,2 2,3 0,1 3,3 0,1 1,2 5,11-23,1 0,2 1,1 0,1 1,2-1,1 17,2-24,2 0,1 0,1 0,1-1,1 1,2-1,0 0,10 22,-9-28,2 0,0-1,1 0,0-1,1 0,1 0,1-2,0 1,1-2,0 0,1-1,1 0,0-2,0 1,1-2,6 2,0-2,0 0,0-1,0-2,1 0,0-2,0-1,0-1,0-1,1-1,-1-1,0-1,22-5,-23 39,-4-10,1 0,1-1,1-2,1 0,13 7,7 2,2-2,36 15,-68-35,0-1,0 0,1 0,0-1,0-1,0-1,0 0,0-1,0-1,1 0,12-2,-9-1,0-1,-1-1,0 0,0-2,-1 0,0-1,0 0,0-2,5-4,10-8,-1-1,-1-1,-1-1,-2-2,0-1,-2-2,17-25,-21 73,31 18,3-3,0-2,2-2,1-3,1-3,1-2,1-2,31 3,-54-15,1-1,-1-2,1-2,0-1,0-2,0-2,-1-1,1-2,-1-2,-1-2,1-1,-2-1,0-3,15-8,-35 15,0-1,-1-1,0 0,0-1,-1-1,-1 0,0-1,-1-1,0 0,2-4,-6 7,-1-2,0 1,-1-1,0 0,-1 0,-1-1,0 1,-1-1,0 0,-1 0,-1 0,0-1,-1-4,-1-3,-1 0,-1 0,-1 1,-1-1,-1 1,-1 0,0 0,-2 1,-1 0,0 1,-1 0,-6-7,9 15,0 1,-1 0,0 1,0-1,-1 2,0 0,-1 0,0 1,0 0,-1 0,3 3,0 0,1 1,-1 0,-1 1,1 0,0 0,-1 1,1 0,0 1,-1 0,1 0,-1 1,1 0,-6 2,35-20,0 0,-1-1,13-17,-6 7,-2-2,0 0,-3-2,0 0,-2-2,-2 0,3-10,-12 26,-2-1,0 0,-2 0,0 0,0 0,-2-1,-1 0,0 1,-2-1,0 0,-1 1,-1-1,0 1,-2 0,-1-2,0 0,-2 1,0 0,-2 1,0 0,0 0,-2 1,-1 0,0 1,-1 1,0 0,-2 1,0 0,0 1,-2 1,1 1,-2 0,1 2,-2 0,1 1,-1 1,-1 0,1 2,-18-3,5 4,1 1,-1 2,0 2,1 0,-21 5,-18 5,1 3,-4 4,72-13,1-2</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9-07-11T17:18:25.877"/>
    </inkml:context>
    <inkml:brush xml:id="br0">
      <inkml:brushProperty name="width" value="0.05" units="cm"/>
      <inkml:brushProperty name="height" value="0.05" units="cm"/>
      <inkml:brushProperty name="ignorePressure" value="1"/>
    </inkml:brush>
  </inkml:definitions>
  <inkml:trace contextRef="#ctx0" brushRef="#br0">947 771,'0'0,"0"0,0 0,0 0,0 0,-8-8,-7-4,0 1,-1 0,-1 2,0-1,0 2,-1 1,-5-2,-5 0,-1 0,0 2,0 2,-12-1,15 4,1 1,-1 2,0 0,0 2,0 0,1 2,0 1,0 1,0 1,1 1,0 2,1 0,0 1,1 1,1 2,-6 4,8-4,0 0,1 2,1 0,1 1,0 1,1 0,2 2,-1-1,2 1,1 1,1 0,1 1,0 0,2 0,1 1,1-1,-1 10,5-22,0-1,0 1,1 0,0-1,1 1,0 0,1 0,0-1,0 1,1-1,1 0,0 0,0 0,1 0,0-1,1 0,0 0,0 0,1-1,0 0,0 0,1-1,0 0,1 0,-1-1,1 0,0 0,1-1,0 0,-1-1,1 0,1 0,-1-1,7 0,40 4,-58-4,1 0,-1-1,0 1,0 0,0 0,0 0,0-1,-2 3,2-3,-32 70,3 1,3 2,-16 76,34-111,1 0,3 1,1 0,2 0,2 1,1-1,2 0,6 23,-5-44,1 0,0-1,2 0,0 0,1-1,1 0,0 0,2-1,0 0,1 0,0-2,1 0,1 0,1-1,0-1,0 0,2-1,-1-1,1 0,1-1,0-1,0-1,1-1,0 0,0-1,15 2,4-2,0-1,0-2,0-1,0-2,1-2,-1-2,0-1,-1-1,0-3,0-1,0-1,-1-3,-1 0,0-3,-2 0,0-3,20-14,-53 33,0 1,1 0,-1-1,0 1,0 0,1-1,-1 1,1 0,-1-1,0 1,1 0,-1 0,1 0,-1-1,0 1,1 0,-1 0,1 0,-1 0,1 0,-1 0,1-1,-1 1,0 0,1 0,-1 1,1-1,-1 0,1 0,-1 0,1 0,-2 14,-1-1,0 11,1 1,0-1,2 0,1 1,1-1,1 0,3 6,-4-18,1 0,1-1,0 1,0-1,1-1,1 1,0-1,0 0,1 0,0-1,0 0,1-1,1 1,-1-2,6 4,8 3,1-1,1-1,0-1,0-1,1-1,1-1,-1-1,1-2,18 2,-2-3,0-2,0-1,1-2,-1-3,34-6,-44 3,0-2,0-1,-1-2,-1-1,0-1,-1-2,0-1,-1-1,-1-1,-1-2,-1-1,-1-1,0-1,3-7,3-5,-2-1,-2-1,-1-2,-2 0,-2-2,-2 0,-1-2,-3 0,-1-1,-2-3,-10 38,9-49,-11 54,-1 1,1-1,-1 0,0 0,-1 0,1 1,-1-1,0 0,0 1,-1-4,-3 8,14-2,16-12,-1 0,0-2,-1-1,-1 0,-1-2,0-1,-2 0,0-1,-1-1,-2-1,0 0,-1-2,-1 1,3-11,-7 10,0 0,-2 0,0-1,-2 0,-1 0,-1-1,-2 1,0-1,-2 0,0 0,-2 1,-1-1,-2 1,0 0,-3-5,-2 1,-1 0,-1 1,-2 1,-1 0,-1 1,-1 1,-2 0,0 1,-2 1,0 2,-18-15,23 23,-1 1,0 1,0 1,-1 1,-1 0,0 1,0 1,-11-3,16 7,-1 1,1 0,-1 1,0 0,0 1,0 1,0 0,0 2,0-1,1 2,-1 0,-3 1,-27 12,43-15,-1 0,1 0,0 0,-1 0,1 1,0-1,0 1,0 0,0-1,0 1,0 0,0 0,1 0,-1 1,-1 1,4-4,-1 0,0 1,0-1,1 0,-1 0,0 0,1 0,-1 0,0 1,0-1,1 0,-1 0,0 0,1 0,-1 0,0 0,1 0,-1 0,0 0,1 0,-1 0,0 0,1-1,-1 1,0 0,1 0,-1 0,0 0,0 0,1-1,-1 1,0 0,0 0,1 0,-1-1,0 1,0 0,0 0,1-1,-1 1,17-11,-6 0,0-2,-1 1,0-2,-1 1,0-1,-1-1,0 1,-2-1,1-1,2-10,0-1,-1 0,-2 0,3-27,-7 33,-1-1,0 0,-2 1,0-1,-2 1,0-1,-1 1,-1 0,-3-4,5 16,0-1,-1 1,0 0,-1 0,0 1,0 0,-1 0,0 0,-1 0,1 1,-2 0,1 0,0 1,-1 0,-1 0,1 1,-1 0,1 1,-1 0,-1 0,1 1,-6-1,1 0,-1 2,0 0,0 1,0 0,-8 1,-92 12,78-7,35-6,0 1,0 0,1-1,-1 1,0-1,0 0,0 0,0 1,1-1,-1 0,1 0,-1-1,0 1,1 0,0 0,-1-1,1 1,0-1,0 1,0-1,0 0,0 1,0-1,0 0,0 0,0-1,-7-11,-7-7,-1 1,-1 0,-1 1,-1 1,0 1,-2 0,1 2,-2 0,-16-7,20 12,0 1,0 1,-1 1,-1 0,1 1,-1 2,0 0,0 1,0 0,-1 2,1 1,-15 1,4 4,0 1,0 2,1 1,0 1,1 1,0 2,1 1,0 1,-19 15,2 1,1 2,2 3,1 1,2 1,-6 11,24-24,0 1,2 1,1 1,1 1,2 0,1 1,1 0,-1 8,3 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9-07-11T17:19:47.552"/>
    </inkml:context>
    <inkml:brush xml:id="br0">
      <inkml:brushProperty name="width" value="0.05" units="cm"/>
      <inkml:brushProperty name="height" value="0.05" units="cm"/>
      <inkml:brushProperty name="color" value="#F36A25"/>
      <inkml:brushProperty name="ignorePressure" value="1"/>
    </inkml:brush>
  </inkml:definitions>
  <inkml:trace contextRef="#ctx0" brushRef="#br0">467 202,'82'74,"3"-4,3-4,16 5,145 112,-214-158,-35-25</inkml:trace>
  <inkml:trace contextRef="#ctx0" brushRef="#br0" timeOffset="1383.86">1249 1,'0'0,"0"0,0 0,0 0,-17 8,-38 30,2 2,1 3,3 2,-4 7,-73 66,-18-4,48-41,86-65,4-4,1 0,0 0,0 0,0 1,1 0,0 0,-4 4,8-8,1 0,-1 0,0 0,0 0,0 0,0 0,-1 0,1 0,0 0,0 0,-1 0,1 0,0 0,-1 0,1 0,-1 0,1 0,-1-1,1 1,-1 0,0 0,1-1,-1 1,0 0,0 0,-12 10,13-11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9-09-11T16:26:30.202"/>
    </inkml:context>
    <inkml:brush xml:id="br0">
      <inkml:brushProperty name="width" value="0.05" units="cm"/>
      <inkml:brushProperty name="height" value="0.05" units="cm"/>
      <inkml:brushProperty name="ignorePressure" value="1"/>
    </inkml:brush>
  </inkml:definitions>
  <inkml:trace contextRef="#ctx0" brushRef="#br0">2134 1729,'2'-18,"15"-40,-7 31,-2 0,-1-1,-2 0,0 0,-2 0,0-22,-5 15,-1-1,-2 1,-1 0,-2 0,-2 1,-1 0,-1 1,-17-32,7 23,-2 1,-1 2,-3 0,-1 2,-1 1,-20-16,-4 2,-3 2,-1 2,-3 3,-1 3,-2 3,-1 2,-2 3,-45-13,32 17,0 3,-65-10,99 27,-1 1,0 3,0 1,0 3,-33 4,54 0,0 2,-10 3,15-4,-1 0,0-1,-18 1,20-7,20 2</inkml:trace>
  <inkml:trace contextRef="#ctx0" brushRef="#br0" timeOffset="1380.37">342 0,'-2'4,"1"0,-1 0,-1 0,1 0,0 0,-1-1,0 1,0-1,0 0,0 0,0 0,-4 3,-1 1,-51 46,-14 6,22-18,2 1,-15 20,107-34,0-2,0 3,-2 2,-2 1,-1 2,-1 2,-2 1,13 20,-36-41,5 4,-1 1,-2 0,4 8,-19-34,0-1,0 1,0 0,1-1,-1 1,2 0,-1-1,1-4,0-9,-1-355,0 374</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9-09-16T18:54:53.655"/>
    </inkml:context>
    <inkml:brush xml:id="br0">
      <inkml:brushProperty name="width" value="0.05" units="cm"/>
      <inkml:brushProperty name="height" value="0.05" units="cm"/>
      <inkml:brushProperty name="color" value="#FF4E00"/>
      <inkml:brushProperty name="ignorePressure" value="1"/>
      <inkml:brushProperty name="inkEffects" value="rainbow"/>
      <inkml:brushProperty name="anchorX" value="-5772.02686"/>
      <inkml:brushProperty name="anchorY" value="-10605.84375"/>
      <inkml:brushProperty name="scaleFactor" value="0.5"/>
    </inkml:brush>
  </inkml:definitions>
  <inkml:trace contextRef="#ctx0" brushRef="#br0">0 1,'0'0,"0"0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9-09-16T18:55:37.560"/>
    </inkml:context>
    <inkml:brush xml:id="br0">
      <inkml:brushProperty name="width" value="0.05" units="cm"/>
      <inkml:brushProperty name="height" value="0.05" units="cm"/>
      <inkml:brushProperty name="color" value="#F6630D"/>
      <inkml:brushProperty name="ignorePressure" value="1"/>
    </inkml:brush>
  </inkml:definitions>
  <inkml:trace contextRef="#ctx0" brushRef="#br0">2829 387,'-1'-1,"-1"-1,0 1,0-1,0 1,0-1,0 1,0 0,0 0,0 0,0 0,-2 0,1 0,-82-32,-45-10,-16-6,22 3,-191-67,239 90,-2 4,0 3,-17 1,8 7,0 3,0 4,1 4,-1 4,1 4,0 3,1 4,1 4,0 3,2 4,2 4,1 3,-45 29,79-38,2 3,1 1,1 2,2 1,-23 28,42-40,1 1,0 1,2 0,1 1,1 1,1 0,2 1,0 1,2 0,-4 18,11-32,0 0,1 1,1-1,1 1,0-1,0 1,2-1,0 0,0 1,1-1,4 10,0-6,1 0,0 0,1-1,1 0,1 0,0-1,1-1,4 4,10 8,2 0,1-2,2-1,0-1,1-2,1-1,1-2,20 8,19 4,1-3,1-4,1-2,1-5,1-2,0-4,1-3,-1-4,1-3,28-6,-31-1,-1-4,0-2,-1-4,-1-3,0-4,-2-2,-1-4,-1-2,-2-4,48-33,-68 37,-1-1,-2-2,-2-2,-1-2,-2-2,16-22,-42 45,0-1,-2 0,0-1,-1 0,-1 0,-1-1,-1 0,0-4,-3 9,-1-1,-1 0,-1 1,0-1,-1 0,-1 0,0 0,-1 1,-1-1,-1 1,-3-10,-2 2,0 1,-2 0,-1 1,-1 0,0 1,-2 0,0 1,-1 1,-1 1,-1 0,-19-14,9 9,-2 1,0 2,-1 1,-1 2,-1 0,0 3,-34-11,41 18,-1 0,0 2,0 1,0 1,0 1,0 2,-1 1,-9 1,-2 4</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9-09-16T18:55:39.542"/>
    </inkml:context>
    <inkml:brush xml:id="br0">
      <inkml:brushProperty name="width" value="0.05" units="cm"/>
      <inkml:brushProperty name="height" value="0.05" units="cm"/>
      <inkml:brushProperty name="color" value="#F6630D"/>
      <inkml:brushProperty name="ignorePressure" value="1"/>
    </inkml:brush>
  </inkml:definitions>
  <inkml:trace contextRef="#ctx0" brushRef="#br0">0 1,'6'1,"0"0,-1 0,1 1,-1 0,1 0,-1 1,0-1,0 1,0 0,1 1,12 7,311 177,40 47,-262-162,88 79,-139-102,-1 3,-3 2,-3 2,-1 3,14 29,-4 3,-4 2,-4 3,29 81,-7 13,-9 4,-4 19,5 64,4 110,18 287,14 87,-43-441,69 213,-73-359,7-2,8-2,69 122,-77-188,5-2,4-3,4-3,39 35,70 62,102 78,-182-181,5-4,98 60,-135-102,2-4,3-4,0-2,2-4,26 5,54 5,1-7,23-4,119 24,-194-34,1-5,87 0,216-11,-246-5,80 14,-230-14,0 1,1 1,-1 0,0 1,0 1,0 0,9 4,7 5,-1 2,0 1,8 7,35 18,-63-36,-9-4</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9-09-16T18:55:51.448"/>
    </inkml:context>
    <inkml:brush xml:id="br0">
      <inkml:brushProperty name="width" value="0.05" units="cm"/>
      <inkml:brushProperty name="height" value="0.05" units="cm"/>
      <inkml:brushProperty name="color" value="#F6630D"/>
      <inkml:brushProperty name="ignorePressure" value="1"/>
    </inkml:brush>
  </inkml:definitions>
  <inkml:trace contextRef="#ctx0" brushRef="#br0">64 15,'4'219,"0"-65,-6 0,-20 128,17-246,5-35</inkml:trace>
  <inkml:trace contextRef="#ctx0" brushRef="#br0" timeOffset="1067">126 0,'19'18,"0"-2,1 0,1-1,1-1,12 6,37 16,11 0,52 26,-61-26,-32-17,30 19,-71-38,1 1,0-1,-1 0,1 1,0-1,-1 1,1-1,-1 0,1 1,-1-1,1 1,-1 0,1-1,-1 1,1-1,-1 1,0 0,1-1,-1 1,0 0,1-1,-1 1,0 0,0-1,0 1,0 0,0 0,0-1,0 1,0 0,0 0,0-1,0 1,0 0,-1-1,1 1,0 0,0 0,-1-1,1 1,-1-1,1 1,0 0,-1-1,1 1,-1-1,1 1,-1-1,0 1,1-1,-1 1,-6 4,0 0,0-1,0 1,-8 2,1 0,-118 79,-113 97,49-34,186-144,1 2,0-1,0 2,1-1,-1 1,2 0,-1 1,1-1,1 1,-1 1,2 0,-2 3,3-9,3-3</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9-09-16T18:55:56.835"/>
    </inkml:context>
    <inkml:brush xml:id="br0">
      <inkml:brushProperty name="width" value="0.05" units="cm"/>
      <inkml:brushProperty name="height" value="0.05" units="cm"/>
      <inkml:brushProperty name="color" value="#F6630D"/>
      <inkml:brushProperty name="ignorePressure" value="1"/>
    </inkml:brush>
  </inkml:definitions>
  <inkml:trace contextRef="#ctx0" brushRef="#br0">93 0,'0'0,"0"0,-6 11,-3 18,1 1,1 0,1 0,2 0,0 18,1 46,4 13,0-378,-8 289,1 1,0-1,1 5,-4 24,2 0,2 0,3 1,1 0,2-1,4 9,-5-56,0 0,0 0,0 0,0 0,0 0,0 0,0 0,0 1,0-1,0 0,0 0,0 0,0 0,0 0,0 0,0 0,0 0,0 0,0 1,0-1,0 0,0 0,0 0,0 0,0 0,0 0,0 0,1 0,-1 0,0 0,0 0,0 0,0 1,0-1,0 0,0 0,0 0,0 0,1 0,-1 0,0 0,0 0,0 0,0 0,0 0,0 0,0 0,0 0,1 0,-1 0,0 0,0 0,0 0,0-1,0 1,0 0,0 0,0 0,7-7,3-13,4-16,-2-1,-1-1,3-27,-3 13,11-27,-23 85,0 0,0 0,1 0,-1 1,2-1,-1 6,1 13,-5 138,6-180,0 0,2 0,0 1,1-1,7-29,-6 16,5-20,12-36,-29 152,-27 114,57-271,-14 56,-1 0,0-11,-11 60,-9 67,2 19,9-100,0 0,1 0,-1 0,0 0,0 0,0-1,0 1,0 0,0 0,0 0,0 0,0 0,1 0,-1 0,0 0,0 0,0 0,0 0,0 0,0 0,1 0,-1 0,0 0,0 0,0 0,0 0,0 0,0 0,1 0,-1 0,0 0,0 0,0 0,0 0,0 0,0 0,1 0,-1 0,0 0,0 0,0 0,0 1,0-1,0 0,0 0,0 0,0 0,1 0,-1 0,0 0,0 0,0 1,0-1,0 0,0 0,0 0,0 0,0 0,0 0,0 1,0-1,14-18,11-25,5-21,-20 39,2 1,0 1,6-8,-14 34,-3 11,0 15,-3-12,1-10,1 0,-1 0,1 0,1 0,-1 0,2 6,-2-12,1-1,-1 1,0 0,1-1,-1 1,1-1,-1 1,1-1,-1 1,1-1,-1 1,1-1,-1 0,1 1,0-1,-1 0,1 1,0-1,-1 0,1 0,0 0,-1 1,1-1,0 0,-1 0,1 0,0 0,-1 0,1 0,0-1,-1 1,1 0,0 0,-1 0,1-1,0 1,-1 0,1 0,-1-1,1 1,0-1,29-15,-28 14,39-28,-1-2,17-19,-38 34,-26 24,0 0,1 1,0-1,1 1,-2 3,3-4,-1 1,0-1,-1 0,0-1,0 1,-6 4,2-3</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9-09-16T18:56:07.809"/>
    </inkml:context>
    <inkml:brush xml:id="br0">
      <inkml:brushProperty name="width" value="0.05" units="cm"/>
      <inkml:brushProperty name="height" value="0.05" units="cm"/>
      <inkml:brushProperty name="color" value="#F6630D"/>
      <inkml:brushProperty name="ignorePressure" value="1"/>
    </inkml:brush>
  </inkml:definitions>
  <inkml:trace contextRef="#ctx0" brushRef="#br0">1101 1,'0'0</inkml:trace>
  <inkml:trace contextRef="#ctx0" brushRef="#br0" timeOffset="684.54">1 106,'0'0</inkml:trace>
  <inkml:trace contextRef="#ctx0" brushRef="#br0" timeOffset="1035.56">1 106,'0'0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9-09-19T15:47:29.568"/>
    </inkml:context>
    <inkml:brush xml:id="br0">
      <inkml:brushProperty name="width" value="0.05" units="cm"/>
      <inkml:brushProperty name="height" value="0.05" units="cm"/>
      <inkml:brushProperty name="color" value="#F6630D"/>
      <inkml:brushProperty name="ignorePressure" value="1"/>
    </inkml:brush>
  </inkml:definitions>
  <inkml:trace contextRef="#ctx0" brushRef="#br0">2290 71,'0'0,"0"0,0 0,-20 0,-624 10,471-18,-148-26,-24-3,288 35,0 3,0 2,1 3,-1 2,1 2,-47 17,75-19,0 2,1 2,1 0,0 2,0 1,1 0,1 2,-14 13,30-21,-1 1,1 0,1 0,0 0,0 1,1 0,1 1,0-1,-4 12,3-5,1 0,1 0,0 0,1 1,1-1,1 9,1-18,0-1,1 1,0-1,0 1,1-1,0 0,1 1,0-1,0 0,0-1,1 1,0-1,1 1,0-1,3 4,0-3,1 1,0-1,0-1,0 0,1 0,0-1,1 0,-1-1,1 0,6 2,17 3,1-1,1-1,-1-2,1-2,0-1,32-1,138-9,24-11,-23 1,350 1,-405 12,0-7,30-10,-120 11,0-2,0-4,-42 11,-1-1,0-1,0-1,-1-1,0 0,-1-2,0 0,5-4,-18 12,0 0,-1-1,1 1,-1-1,0 0,0 1,0-1,0-1,-1 1,1 0,-1-1,0 1,-1-1,1 1,-1-1,0 0,0 0,0 0,-1 0,0-1,-1 0,1-1,-2 1,1 0,0 0,-1 0,0 0,-1 0,0 1,1-1,-2 1,1-1,-2-1,-7-8,-1 0,0 1,-1 1,-1 0,0 1,0 0,-2 1,1 1,-3 0,3 2,0 1,0 1,-1 0,1 2,-1 0,0 0,-1 2,-6-1,-24 2,-1 1,-15 4,15-1,40-2</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9-09-19T15:47:32.609"/>
    </inkml:context>
    <inkml:brush xml:id="br0">
      <inkml:brushProperty name="width" value="0.05" units="cm"/>
      <inkml:brushProperty name="height" value="0.05" units="cm"/>
      <inkml:brushProperty name="color" value="#F6630D"/>
      <inkml:brushProperty name="ignorePressure" value="1"/>
    </inkml:brush>
  </inkml:definitions>
  <inkml:trace contextRef="#ctx0" brushRef="#br0">48 948,'15'-16,"-2"2,0 0,1 1,0 1,1 0,1 1,0 1,0 0,15-6,-6 7,0 1,1 1,0 1,12 0,108-9,-114 12,28 0,-1 3,1 3,-1 2,0 2,-1 3,0 3,0 2,-1 3,12 8,-31-11,-1 2,0 2,-2 2,0 1,28 23,-43-28,0 1,-1 0,-1 1,-1 1,-1 1,0 1,-2 0,0 1,6 17,-17-34,0 1,0-1,-1 1,0 0,0 0,-1 0,0 0,0 0,0 0,-1 0,0 1,-1 2,0-4,-1-1,1 0,-1 0,0 0,-1 0,1 0,-1 0,0 0,0-1,0 0,-1 1,0-1,0 0,0-1,0 1,-3 1,-28 20,-1 0,-1-3,-33 15,-12 0,-31 7,42-18,-1-4,-72 12,99-27,-1-1,0-3,0-1,0-3,-21-3,7-4,38 4,1 1,-1 1,0 0,-1 2,22 0</inkml:trace>
  <inkml:trace contextRef="#ctx0" brushRef="#br0" timeOffset="553.76">318 1490,'0'0,"0"0,1 22,16 72,-9-59,-2 0,-1 0,-2 0,-1 0,-2 0,-2 5,2-40,0-1</inkml:trace>
  <inkml:trace contextRef="#ctx0" brushRef="#br0" timeOffset="1317.08">318 1454,'0'0,"-2"3,-1 0,1 0,0 0,-1-1,1 1,-1-1,0 1,-1 0,-2 2,-33 28,-2-1,-1-3,-41 22,0 1,84-51,-1 1,1-1,0 0,-1 1,1-1,0 0,0 0,0 0,0 0,0 0,0 0,0 0,1 0,-1 0,0 0,0-1,2 2,29 20,193 106,-210-115,-14-12,1 1,-1-1,1 1,0-1,0 1,0-1,-1 0,1 0,0 0,1 0,-1 0,0 0,1 0,0-1</inkml:trace>
  <inkml:trace contextRef="#ctx0" brushRef="#br0" timeOffset="2932.78">1929 781,'-7'-32,"3"20,0 0,0 1,-1-1,0 1,-1-1,0 2,-1-1,-1 1,1 0,-2 0,1 1,-1 0,-2-1,9 9,1 0,0 1,0-1,-1 0,1 1,0-1,-1 1,1-1,0 1,-1-1,1 1,-1 0,1 0,-1 0,1 0,-1 0,1 0,0 0,-1 0,1 1,-1-1,1 1,-1-1,0 1,-1 1,1-1,0 1,-1 0,1 0,0-1,0 1,0 1,0-1,0 0,0 2,-5 6,2 1,-1-1,1 1,1 0,-1 5,1-5,2 1,-1-1,1 1,1 0,0 0,1 0,0 0,1-1,0 1,1 0,0 0,1-1,0 1,1-1,3 5,-5-10,2 1,-1-1,1 0,-1 0,2-1,-1 1,1-1,-1 0,1 0,1 0,-1-1,1 0,0 0,0 0,0-1,0 0,0 0,1 0,-1-1,1 0,0-1,0 1,0-1,0 0,0-1,6 0,-7 0,0 0,-1-1,1 0,-1 0,1 0,-1-1,0 0,0 0,1 0,-1-1,0 1,-1-1,1 0,-1-1,1 1,-1-1,0 0,0 0,0 0,1-3,-2 3</inkml:trace>
  <inkml:trace contextRef="#ctx0" brushRef="#br0" timeOffset="4053.46">2347 604,'0'0,"0"0,-26-15,-5-2,24 12,0 0,-1 1,0 0,0 0,0 1,-1 0,-4 0,11 2,0 1,-1 0,1 0,-1 0,1 0,0 1,-1-1,1 1,0-1,-1 1,1 0,0 0,0 0,-1 0,1 0,0 1,0-1,0 1,1-1,-1 1,0 0,0-1,1 1,-1 0,1 0,0 0,0 0,0 1,-1 1,-7 14,1 0,1 1,1 0,0 0,2 1,0 0,1 0,1 0,1 0,1 0,1 11,-1-28,0-1,0 1,1-1,-1 0,1 1,-1-1,1 0,0 0,0 0,0 1,0-1,0 0,0 0,1 0,-1 0,1-1,-1 1,1 0,0-1,0 1,0-1,0 1,0-1,0 0,0-1,1 0,-1 1,1-1,-1 0,0 0,1 0,-1 0,1 0,-1-1,1 1,-1-1,0 0,1 1,-1-1,0 0,0-1,0 1,0 0,0 0,0-1,1 0,4-4,1 0,-1-1,-1 0,1 0,-1-1,0 0,-1 0,0 0,0 0,-1-1,0 0,1-4,-1 2,0 0,-1 0,-1-1,0 1,0-1,-1 1,0-1,-1 1,-1-1,0-3,29 50,-22-27,10 14,2 0,0-1,1-1,12 9,-23-24</inkml:trace>
  <inkml:trace contextRef="#ctx0" brushRef="#br0" timeOffset="4765.49">2423 16,'1'32,"14"61,3-1,22 58,17 84,-54-221,-2-8,0 0,0 0,0 0,0 0,-1 0,0 0,0 0,0 0,-1 0,1-5,0 0</inkml:trace>
  <inkml:trace contextRef="#ctx0" brushRef="#br0" timeOffset="5501.49">2658 1,'3'25,"21"103,57 286,-75-390,-4-18,0 1,0-1,-1 0,0 1,0 0,-1-1,1 1,-1 0,-1 2,1-9,0 0</inkml:trace>
  <inkml:trace contextRef="#ctx0" brushRef="#br0" timeOffset="6634.76">3117 234,'0'0,"-10"-25,6 20,1-1,-1 1,0 0,-1 0,1 0,-1 0,0 1,0 0,0 0,-1 0,0 1,1 0,-2-1,4 3,0 0,0 0,-1 0,1 0,-1 1,1-1,-1 1,1 0,0 0,-1 0,1 1,-1-1,1 1,-1 0,1-1,0 2,0-1,-1 0,1 1,0-1,0 1,0 0,1 0,-1 0,0 1,-1 0,0 0,0 1,0 0,1-1,-1 2,1-1,0 0,1 0,-1 1,1 0,0-1,0 1,0 0,0 3,1-6,1 1,0 0,0 0,0 0,0-1,0 1,1 0,-1 0,1 0,0-1,0 1,0-1,0 1,0 0,1-1,-1 0,1 1,-1-1,1 0,0 0,0 0,0 0,0 0,0 0,1-1,-1 1,1 0,51 24,-44-22,0 0,0 0,-1 1,1 1,-1 0,7 6,-14-10,0 0,0 0,0 0,0 1,0 0,0-1,-1 1,0 0,1-1,-1 1,0 0,0 0,-1 0,1 0,-1 0,1 0,-1 0,0 0,0 0,0 0,-1 0,1 0,-1 0,1 0,-1 0,-1 1,2-1,-1 0,0-1,0 1,0 0,0-1,-1 0,1 1,-1-1,1 0,-1 1,0-1,0 0,0 0,0-1,0 1,-1 0,1-1,0 1,-1-1,1 0,-1 0,0 0,1 0,-1 0,0 0,1-1,-1 0,0 1,0-1,1 0,-1 0,0 0,-1-1,-7 0,1-1,0-1,0 1,0-1,0-1,0 0,1-1,-6-3,12 6,2 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9-09-19T15:47:45.738"/>
    </inkml:context>
    <inkml:brush xml:id="br0">
      <inkml:brushProperty name="width" value="0.05" units="cm"/>
      <inkml:brushProperty name="height" value="0.05" units="cm"/>
      <inkml:brushProperty name="color" value="#F6630D"/>
      <inkml:brushProperty name="ignorePressure" value="1"/>
    </inkml:brush>
  </inkml:definitions>
  <inkml:trace contextRef="#ctx0" brushRef="#br0">11 557,'1'14,"1"1,1-1,1 0,0 0,0 0,2 0,4 8,6 17,14 42,39 69,-70-151,1 1</inkml:trace>
  <inkml:trace contextRef="#ctx0" brushRef="#br0" timeOffset="716.98">0 547,'21'-21,"-11"11,10-12,1 2,1 1,0 0,5-1,-20 15,1 1,1-1,-1 1,1 0,-1 1,1 0,0 1,0-1,0 2,1-1,-1 1,0 1,0 0,1 0,-1 1,1 0,-1 0,1 0,-1 1,0 1,0 0,0 0,0 0,0 1,-1 1,1 0,-1 0,-1 0,1 1,-1 0,0 0,0 1,0 0,-1 0,0 1,-1 0,0 0,0 0,0 0,-1 1,-1 0,1-1,-1 2,-1-1,0 0,0 0,-1 1,0-1,0 1,-1-1,-1 6,0 2,-1 1,-1-1,0 0,-1 0,-1 0,-1 0,0-1,-1 1,-1-2,0 1,-7 8,9-15,0 0,0-1,-1 0,0 0,0-1,-1 0,0 0,-1-1,1 0,-1 0,0-1,0 0,-1 0,0-1,1-1,-1 0,-1 0,1-1,0 0,-2 0,11-2,-1 0,0 0,0 0,0 0,0 0,0 0,1-1,-1 1,0-1,0 1,1-1,-3 0,3-1</inkml:trace>
  <inkml:trace contextRef="#ctx0" brushRef="#br0" timeOffset="1586.99">735 532,'-20'-18,"18"17,1 0,-1 0,0 1,0-1,1 1,-1 0,0-1,0 1,0 0,0 0,0 0,0 0,1 1,-1-1,0 0,0 1,0-1,1 1,-1 0,0 0,1-1,-1 1,0 0,0 1,0 0,0 0,0 1,1-1,-1 1,0-1,1 1,0 0,-1-1,1 1,0 0,0 0,1 0,-1 0,1 0,-2 10,1 0,0 0,2 0,-1 1,1-1,2 4,-3-15,1 6,1 1,0-1,0 1,1-1,0 0,3 6,-6-13,1 1,0-1,0 0,0 1,0-1,0 0,0 0,1 0,-1 1,0-1,0-1,1 1,-1 0,1 0,-1 0,1-1,-1 1,1-1,-1 1,1-1,0 0,-1 0,1 1,0-1,-1 0,1 0,0-1,-1 1,1 0,-1 0,1-1,0 1,-1-1,1 0,-1 1,1-1,0-1,5-2,0 0,0 0,-1-1,0 0,0-1,0 1,0-1,-1 0,0 0,0-1,1-3,-4 6,0 1,0-1,0 1,-1-1,0 0,1 0,-1 0,-1 0,1 0,-1 0,1-1,-1 3,-1-1,1 1,0 0,-1-1,1 1,-1 0,0 0,0 0,0-1,0 1,0 0,0 0,0 0,-1 1,1-1,-1 0,0 0,1 1,-3-2,2 1,-1 1,1 0,-1-1,1 1,-1 0,0 0,1 1,-1-1,0 0,0 1,1 0,-1-1,-2 1,-14-2,17 2</inkml:trace>
  <inkml:trace contextRef="#ctx0" brushRef="#br0" timeOffset="2668.36">1035 385,'-31'-11,"26"10,0 1,0-1,-1 1,1 0,0 1,0-1,0 1,0 0,0 0,0 0,0 1,0-1,1 1,-1 1,0-1,1 1,0-1,0 1,-1 0,2 1,-1-1,0 1,1 0,0 0,-1 0,2 0,-1 0,0 1,1-1,-2 4,0 0,1 0,-1 1,1-1,1 1,0-1,0 1,0 0,1 0,1 0,-1 0,1 0,1 0,0 0,0 0,1-1,0 1,1 2,-2-8,0 1,1-1,-1 0,1 0,0 0,-1 0,2 0,-1 0,0-1,0 1,1-1,0 1,-1-1,1 0,0 0,0 0,0-1,0 1,0-1,1 1,1-1,-1 0,-1-1,1 1,0-1,-1 0,1-1,0 1,-1-1,1 1,-1-1,1 0,-1-1,1 1,-1 0,1-1,-1 0,0 0,0 0,0 0,0 0,1-2,1-1,1 0,-1 0,0-1,-1 0,0 0,0 0,0 0,0-1,-1 1,0-1,-1 0,1 0,-1 0,-1 0,1 0,-1-1,0 1,-1 0,0-1,0 1,-1 0,1-1,-2-1,4 12,0-1,1 1,-1-1,1 0,0 0,-1 0,1 0,3 1,7 6,0 2,-1 1,0 0,-1 0,0 1,-1 0,-1 1,0 0,-1 1,0 0,-2 0,1 1,2 10,-6-14,-1 1,1-1,-2 1,0 0,0-1,-1 1,-1 0,0-1,-1 1,0-1,-1 1,0-1,-1 0,-1 0,0 0,0-1,-1 1,3-6,0-1,-1 0,1 0,-1-1,0 1,0-1,0 0,0 0,-1 0,0 0,0-1,0 0,0 0,0 0,-1-1,1 0,-1 0,0 0,1 0,-2-1,0 0,0-1,0 0,0 0,1 0,-1-1,0 0,0 0,0-1,1 1,-1-2,1 1,0-1,-1 0,1 0,0-1,1 1,-2-2,-3-3</inkml:trace>
  <inkml:trace contextRef="#ctx0" brushRef="#br0" timeOffset="3010.48">1204 56,'0'0,"0"0,0 0</inkml:trace>
  <inkml:trace contextRef="#ctx0" brushRef="#br0" timeOffset="3581.19">1214 0,'-1'70,"-1"-30,2 1,1-1,6 29,-6-59,1 0,1 1,-1-1,2 0,0 0,0-1,0 1,1-1,1 0,-1 0,1-1,1 1,0-1,0-1,1 1,2 1,-7-7,0 1,0-1,0 0,1-1,-1 1,1 0,-1-1,1 0,-1 0,1 0,0 0,0 0,0-1,-1 0,1 1,0-2,0 1,2 0,-4-1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9-09-19T15:47:50.742"/>
    </inkml:context>
    <inkml:brush xml:id="br0">
      <inkml:brushProperty name="width" value="0.05" units="cm"/>
      <inkml:brushProperty name="height" value="0.05" units="cm"/>
      <inkml:brushProperty name="color" value="#F6630D"/>
      <inkml:brushProperty name="ignorePressure" value="1"/>
    </inkml:brush>
  </inkml:definitions>
  <inkml:trace contextRef="#ctx0" brushRef="#br0">0 0,'0'0,"0"0,3 23,13 18,2 0,11 19,-4-12,5 21,-29-67,-1 0,1 0,0-1,0 1,0-1,0 1,0-1,1 1,-1-1,0 1,2 0,-2-1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9-09-19T15:47:51.737"/>
    </inkml:context>
    <inkml:brush xml:id="br0">
      <inkml:brushProperty name="width" value="0.05" units="cm"/>
      <inkml:brushProperty name="height" value="0.05" units="cm"/>
      <inkml:brushProperty name="color" value="#F6630D"/>
      <inkml:brushProperty name="ignorePressure" value="1"/>
    </inkml:brush>
  </inkml:definitions>
  <inkml:trace contextRef="#ctx0" brushRef="#br0">48 207,'-2'0,"0"-1,0 1,0-1,1 0,-1 0,0 0,1 0,-1 0,1 0,-1 0,1-1,0 1,0-1,-1 1,1 0,0-1,0 0,0 1,0-1,1 0,-1 1,0-1,1 0,-1 0,1 0,0 0,-12-49,10 38,1 1,1-1,0 0,0-2,0 12,0 1,0 0,0-1,1 1,-1 0,1-1,-1 1,1 0,0 0,0-1,0 1,0 0,0 0,0 0,1 0,-1 0,1 1,-1-1,1 0,0 1,-1-1,1 1,0-1,0 1,0 0,2-1,-1 2,1-1,-1 1,0 0,1 0,-1 1,0-1,1 1,-1 0,0-1,1 1,-1 1,0-1,0 0,0 1,0 0,0 0,0 0,47 37,-43-31,0-1,-1 2,0-1,0 1,0 0,-1 0,-1 0,0 1,0 0,-1 0,0 0,0 0,-1 0,0 10,-1-12,0 0,-1 0,0 0,0 0,-1 0,0 0,-1 0,0 0,0 0,0 0,-1-1,0 1,-1-1,1 0,-2 0,1 0,-1 0,0-1,-3 3,6-7,0 0,0 0,0 0,0-1,0 1,-1-1,1 1,-1-1,1 0,-1 0,1 0,-4 0,5 0,0-1,-1 0,1 0,-1 0,1 0,-1 0,1-1,0 1,-1 0,1-1,0 1,-1-1,1 1,0-1,-1 0,1 1,0-1,-1 0,0-2,-1 0,1 1,0-1,0 0,0 0,0-1,0 1,1 0,0 0,-1-1,1 1,0-1,1 1,-1-1,0 1,1-1,0-2,0 2,-1-1,1 0,0 1,1-1,-1 1,1-1,0 0,0 1,1-2,-2 4,1 1,0 0,0 0,0-1,0 1,0 0,0 0,0 0,0 1,1-1,-1 0,0 0,0 0,1 1,-1-1,1 1,-1-1,0 1,1 0,-1-1,1 1,-1 0,1 0,-1 0,1 0,-1 0,1 0,-1 1,0-1,2 1,56 10,-45-7,0-1,-1 0,1-1,0-1,1 0,-1-1,0-1,11-1,-20 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9-09-19T15:47:53.400"/>
    </inkml:context>
    <inkml:brush xml:id="br0">
      <inkml:brushProperty name="width" value="0.05" units="cm"/>
      <inkml:brushProperty name="height" value="0.05" units="cm"/>
      <inkml:brushProperty name="color" value="#F6630D"/>
      <inkml:brushProperty name="ignorePressure" value="1"/>
    </inkml:brush>
  </inkml:definitions>
  <inkml:trace contextRef="#ctx0" brushRef="#br0">57 40,'-35'-26,"14"12,31 23,0 1,0 0,-1 0,6 11,5 4,0-1,0-3,-2 1,-1 1,-1 1,7 13,-20-31,1 1,-2-1,1 1,-1 0,1 0,-2 0,1 0,-1 0,0 0,-1 0,0 1,0-1,0 0,-1 0,0 0,0 1,-1-1,0 0,0-1,-1 2,-28 54,28-56,0 0,-1-1,0 0,1 0,-2 0,1 0,-1-1,0 1,-4 2,10-8,-1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9-09-16T19:23:30.203"/>
    </inkml:context>
    <inkml:brush xml:id="br0">
      <inkml:brushProperty name="width" value="0.05" units="cm"/>
      <inkml:brushProperty name="height" value="0.05" units="cm"/>
      <inkml:brushProperty name="color" value="#F6630D"/>
      <inkml:brushProperty name="ignorePressure" value="1"/>
    </inkml:brush>
  </inkml:definitions>
  <inkml:trace contextRef="#ctx0" brushRef="#br0">0 1,'0'0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9-09-16T19:22:59.199"/>
    </inkml:context>
    <inkml:brush xml:id="br0">
      <inkml:brushProperty name="width" value="0.05" units="cm"/>
      <inkml:brushProperty name="height" value="0.05" units="cm"/>
      <inkml:brushProperty name="color" value="#F6630D"/>
      <inkml:brushProperty name="ignorePressure" value="1"/>
    </inkml:brush>
  </inkml:definitions>
  <inkml:trace contextRef="#ctx0" brushRef="#br0">36 1150,'-26'-1,"17"0,25-14,70-49,3 3,3 5,2 3,97-38,415-137,-367 144,44-14,4 13,4 12,55 3,156-6,4 22,1 23,157 23,301 56,-504 0,36 26,-308-37,-2 8,-2 8,99 46,-136-38,-2 7,-4 6,-3 6,58 49,45 50,71 79,208 219,-291-246,-12 9,-9 9,-12 9,72 138,-146-195,-10 6,-9 4,-9 4,-10 4,51 209,-105-305,-5 1,-6 2,-6 0,-5 0,-5 1,-6 0,-6-1,-5 1,-19 75,-12-8,-7-2,-10-2,-81 174,41-146,-9-5,-10-6,-24 19,75-127,-4-4,-5-3,-3-4,-4-3,-4-4,-3-3,-81 50,-13-9,-5-7,-9-7,-406 178,505-239,103-45,-2 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9-09-16T19:23:15.258"/>
    </inkml:context>
    <inkml:brush xml:id="br0">
      <inkml:brushProperty name="width" value="0.05" units="cm"/>
      <inkml:brushProperty name="height" value="0.05" units="cm"/>
      <inkml:brushProperty name="color" value="#F6630D"/>
      <inkml:brushProperty name="ignorePressure" value="1"/>
    </inkml:brush>
  </inkml:definitions>
  <inkml:trace contextRef="#ctx0" brushRef="#br0">1 15,'0'0,"0"0,0 0,20 0,217-8,40 1,-216 9,1 3,-1 2,32 9,-24 0,0 4,-1 3,-1 2,-1 3,15 13,-34-16,-1 3,-2 1,-1 3,-2 1,-1 2,-1 2,13 19,-30-28,-2 0,-2 1,0 1,-2 0,-1 1,-1 1,-2 1,-2 0,0 0,3 27,-2 12,-3 0,-2 0,-4 0,-6 49,-7-7,-5-1,-5 0,-25 69,-2-32,-1 6,48-153,0 0,0 1,1-1,-1 0,1 1,-1-1,1 1,0-1,1 0,-1 1,0-1,1 0,0 1,0-1,0 0,1 2,-1-3,1 0,0 0,0 0,-1 0,1-1,0 1,0-1,1 0,-1 1,0-1,0 0,0 0,1-1,-1 1,1 0,-1-1,1 1,-1-1,1 0,-1 0,0 0,3 0,57-2,-1-2,1-4,-1-2,28-9,-75 16,-7 2,-1-1,1 0,0 1,0 0,0 0,0 1,0 0,0 0,0 1,0 0,-42 20,-26 10,30-16,1 1,0 2,1 1,-3 5,28-21,1 0,0 0,0 1,1 0,-1 0,1-1,-1 1,1 1,1-1,-1 0,0 0,1 1,0-1,0 1,1-1,-1 1,1-1,0 1,0-1,0 1,0 0,1-1,0 1,0-1,1 2,2 8,1 0,0 0,1 0,0-1,1 0,0 0,4 3,43 55,3-2,3-3,3-3,35 27,-64-59,-1 1,-2 2,-1 2,-2 0,-1 2,2 8,-11-13,-1 0,-2 2,-1-1,-2 2,-1-1,-2 2,4 32,-8-30,-2 1,-2-1,-2 0,-1 0,-2 0,-2 0,-1 0,-2-1,-2-1,-1 1,-2-2,-1 0,-8 11,-2-2,-2-2,-1-1,-3-1,-1-1,-2-2,-1-1,-2-2,-2-1,-1-2,-1-2,-36 20,-2-3,-2-3,-2-4,-28 7,-28 4,-3-6,-41 4,88-25,-1-5,0-4,-34-1,118-13,8 0,0-1,0 1,-1-1,1-1,0 1,-1 0,1-1,-4-1,11 2,-3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9-09-16T19:23:37.131"/>
    </inkml:context>
    <inkml:brush xml:id="br0">
      <inkml:brushProperty name="width" value="0.05" units="cm"/>
      <inkml:brushProperty name="height" value="0.05" units="cm"/>
      <inkml:brushProperty name="color" value="#F6630D"/>
      <inkml:brushProperty name="ignorePressure" value="1"/>
    </inkml:brush>
  </inkml:definitions>
  <inkml:trace contextRef="#ctx0" brushRef="#br0">130 590,'4'83,"5"0,3-1,10 31,2 17,-21-115,-1-9,-1-1,0 1,-1 0,1 0,-1 1,0 4,0-10</inkml:trace>
  <inkml:trace contextRef="#ctx0" brushRef="#br0" timeOffset="451">0 890,'23'-3,"-3"-1,-1-1,1 0,-1-2,0 0,0-1,-1-1,0-1,-1 0,0-1,-1-1,0-1,0 0,3-5,-16 13,-1 2</inkml:trace>
  <inkml:trace contextRef="#ctx0" brushRef="#br0" timeOffset="1152.08">416 759,'-10'-1,"-1"2,0-1,1 1,-1 1,1 0,-1 0,-1 2,8-3,0 1,0 0,1 0,-1 0,0 1,1-1,0 1,0 0,0 0,0 0,0 0,0 0,1 1,0-1,-1 1,1 0,1 0,-1 0,0 2,-1 2,1 1,0 0,0 0,1 0,1 0,-1 0,1 1,1-1,0 0,0 0,1 0,2 6,-4-12,1 0,0 0,-1-1,2 1,-1-1,0 1,0-1,1 1,-1-1,1 0,0 0,0 0,-1 0,1 0,1 0,-1 0,0-1,0 1,1-1,-1 1,1-1,-1 0,1 0,-1 0,1 0,0-1,0 1,-1-1,1 1,0-1,0 0,-1 0,1-1,0 1,0 0,-1-1,1 0,0 1,-1-1,1 0,0 0,1-2,1 1,0-1,-1 0,1 0,-1-1,1 1,-1-1,-1 0,1 0,0 0,-1 0,0-1,0 0,0 1,-1-1,1 0,-1 0,-1 0,1-1,-1 1,1 0,-1-1,-1 1,1-4,0 0,-1 1,1-1,-2 0,1 1,-1-1,0 0,-1 1,0-1,-1 1,1 0,-2 0,1 0,-1 0,-4-6,-3 2,9 11</inkml:trace>
  <inkml:trace contextRef="#ctx0" brushRef="#br0" timeOffset="1963.52">733 469,'0'0,"-6"1,0-1,0 2,0-1,-1 1,2 0,-1 0,0 0,0 1,1 0,-1 0,1 0,0 1,0 0,0 0,1 0,-3 3,5-5,0 0,1 0,-1-1,1 1,-1 0,1 0,0 0,0 1,0-1,0 0,0 0,0 1,1-1,-1 0,1 1,-1-1,1 1,0-1,0 0,0 1,0-1,1 1,-1-1,1 0,-1 1,1-1,0 0,0 0,0 1,0-1,0 0,0 0,1 0,-1 0,1 0,0-1,-1 1,1 0,0-1,0 1,0-1,0 0,0 1,10 4,-1 0,1 0,0-1,0-1,5 2,-6-3,-1 0,0 1,0 0,0 1,0 0,-1 1,7 5,-14-9,1 0,-1 1,0 0,0 0,0-1,0 1,0 0,-1 1,1-1,-1 0,0 0,0 1,0-1,-1 0,1 1,-1-1,0 1,0-1,0 1,0-1,0 0,-1 1,0-1,1 1,-1-1,-1 0,1 1,0 1,-1-1,0 1,0-1,0 0,0 0,-1 0,1 0,-1 0,0 0,0 0,-1-1,1 0,-1 0,1 0,-1 0,-3 1,5-2,0-1,-1 0,1 0,0-1,-1 1,1 0,-1-1,1 0,0 1,-1-1,1 0,-1 0,1-1,-1 1,1 0,-1-1,1 1,0-1,-1 0,1 0,0 0,-1 0,1 0,0-1,0 1,0-1,0 1,0-1,1 0,-1 1,0-1,1-1,-8-8,2 2</inkml:trace>
  <inkml:trace contextRef="#ctx0" brushRef="#br0" timeOffset="2629.1">951 492,'0'-2,"0"1,0-1,0 1,0 0,0-1,-1 1,1 0,-1-1,1 1,-1 0,1 0,-1-1,0 1,0 0,0 0,1 0,-1 0,0 0,0 0,-1 0,1 0,0 1,0-1,0 0,0 1,-1-1,1 0,0 1,-1 0,1-1,0 1,-1 0,1 0,0-1,-1 1,1 0,0 0,-1 1,1-1,-2 0,-1 1,0-1,1 1,-1-1,0 1,0 0,0 1,1-1,-1 1,0-1,1 1,0 0,-1 0,-2 3,2 1,-1 0,1 0,0 1,1-1,0 1,0 0,0 0,1 0,0 1,0-1,0 1,1-1,1 1,-1-1,1 1,0-1,2 7,-2-9,1 0,0 0,0 1,1-1,0 0,-1 0,2 0,-1-1,1 1,-1 0,4 3,-3-5,-1 0,1-1,-1 1,1-1,0 0,0 0,0 0,0 0,0-1,0 1,1-1,-1 0,0 0,1 0,-1 0,1-1,-1 1,3-1,-3 0,0 1,0-1,0-1,0 1,0 0,1-1,-1 1,0-1,0 0,0 0,-1 0,1-1,0 1,0 0,-1-1,1 0,-1 0,1 0,-1 0,0 0,1 0,0-2,-1 0,1-1,-1 1,1-1,-1 0,-1 1,1-1,-1 0,1 0,-1 0,-1 0,1 0,-1 0,0-2,0-2,0 0,-1 0,0 1,-1-1,0 1,0-1,-1 1,-1-2,2 5,0 0,0 1,-1-1,1 1,-1 0,0 0,0 0,0 0,-1 1,0-1,1 1,-1 0,-1-1,-3 0</inkml:trace>
  <inkml:trace contextRef="#ctx0" brushRef="#br0" timeOffset="3214.06">969 1,'2'26,"1"-1,1 1,1-1,6 17,2 10,11 60,49 194,-73-306</inkml:trace>
  <inkml:trace contextRef="#ctx0" brushRef="#br0" timeOffset="3818.72">1137 356,'3'3,"0"0,0 0,0 1,-1-1,1 1,-1 0,1-1,-1 1,0 3,6 7,14 18,0-1,2-1,2-2,3 3,-27-64,-6-68,1 51,2-1,2-3,1 42,-1 9</inkml:trace>
  <inkml:trace contextRef="#ctx0" brushRef="#br0" timeOffset="4549.29">1385 328,'0'0,"0"0,25 3,-20-3,-1-1,1-1,0 1,-1-1,1 0,-1 0,1 0,-1 0,0-1,0 0,0 1,0-2,-1 1,1 0,-1-1,0 0,1-1,-1 3,-1-1,0 1,0-1,-1 0,1 0,-1 1,1-1,-1 0,0 0,0 0,0-1,-1 1,1 0,-1 0,1 0,-1 0,0-1,0 1,-1 0,1 0,-1 0,1-1,-1 1,0 0,0 0,-2-2,3 4,-1 0,1 0,-1 0,0 0,0 0,0 0,1 0,-1 0,0 1,0-1,0 0,0 1,0-1,0 0,0 1,-1-1,1 1,0 0,0-1,0 1,0 0,-1 0,1 0,0 0,0 0,0 0,-1 0,1 0,0 0,0 1,0-1,0 0,-1 1,1-1,0 1,0-1,0 1,0 0,0-1,0 1,0 0,0 0,1-1,-1 1,0 0,0 0,1 0,-6 5,1-1,1 1,-1-1,1 2,0-1,0 0,0 3,0 0,1 0,0 1,0-1,1 1,0 0,1 0,0 0,1 0,0 0,0 0,1 0,1 0,-1-1,2 1,0 2,-2-8,1 1,-1-1,1 0,0 0,0 1,1-2,-1 1,1 0,0 0,0-1,0 1,1-1,-1 0,1 0,-1-1,1 1,0-1,0 1,0-1,1 0,-1-1,0 1,1-1,-1 0,1 0,-1 0,1-1,-1 1,1-1,0 0,-1-1,1 1,1-1,1 0,0-1,1 1,-1-1,0-1,0 1,0-1,2-2,-3 1</inkml:trace>
  <inkml:trace contextRef="#ctx0" brushRef="#br0" timeOffset="5528.07">660 1043,'0'0,"0"0,5 22,23 85,30 134,-57-238</inkml:trace>
  <inkml:trace contextRef="#ctx0" brushRef="#br0" timeOffset="5864">607 1340,'0'0,"0"0,0 0,0 0,0 0,4-1,3-2,4-2,6-3,3-3,4-3,0-2,1-3,-6 3,-4 4</inkml:trace>
  <inkml:trace contextRef="#ctx0" brushRef="#br0" timeOffset="6954.1">817 1026,'1'15,"1"0,0 0,1 0,5 12,3 19,28 149,-39-215,0 0,1 0,0 0,2 0,1 0,3-10,-6 23,1 0,8-33,-10 38,1-1,0 1,0 0,0-1,1 1,-1 0,0 0,1 0,-1 0,1 0,0 0,0 0,1-1,-2 3,0 0,0-1,0 1,-1 0,1 0,0 0,0 0,0 0,0 1,0-1,-1 0,1 0,0 0,0 1,0-1,-1 0,1 1,0-1,0 1,-1-1,1 1,0-1,-1 1,1 0,-1-1,1 1,-1 0,1-1,0 2,19 25,-14-18,-1-2,1 0,-1 0,1-1,1 0,0 0,-1 0,2-1,6 5,-11-9,-1 0,0 0,1 0,0 0,-1-1,1 1,-1-1,1 1,0-1,-1 0,1 0,0 0,0 0,-1 0,1-1,-1 1,1-1,0 0,-1 0,1 0,-1 0,1 0,-1-1,0 1,0-1,0 1,1-1,-1 0,-1 0,1 0,0 0,4-5,-1 0,0 0,0 0,-1-1,0 0,0 1,-1-1,0-1,-1 1,0 0,0-1,0 1,-1-1,0-2,-1 6,1 0,-1-1,0 1,-1 0,1 0,-1 0,0 0,0 0,-1 0,1 0,-1 0,0 1,-1-1,1 0,-1 1,0 0,0 0,0 0,0 0,-1 0,1 0,-1 1,0 0,-3-2,6 4,0 1,-1-1,1 0,0 1,0-1,-1 1,1 0,0-1,-1 1,1 0,0 0,-1 0,1 0,-1 0,1 0,0 0,-1 0,1 1,0-1,-1 0,1 1,0-1,0 1,-1-1,1 1,0 0,0 0,0 0,0-1,0 1,0 0,0 0,0 0,0 0,1 1,-1-1,0 0,0 0,1 0,-1 1,1-1,-1 0,1 0,0 1,0 0,-3 5,1 0,0 1,0 0,1-1,0 1,1 0,0 3,0-4,1 0,-1 0,2-1,-1 1,1 0,0-1,0 0,1 1,0-1,0 0,0 0,1-1,0 1,0-1,0 0,1 0,0 0,0 0,0-1,3 2,-3-3,0 0,0 0,0-1,1 1,-1-1,0-1,1 1,0-1,-1 0,1 0,0-1,-1 1,1-1,0-1,0 1,-1-1,1 0,0 0,-1 0,1-1,-1 0,0 0,1-1,1-1,-1 1,-3 0</inkml:trace>
  <inkml:trace contextRef="#ctx0" brushRef="#br0" timeOffset="7845.81">997 1728,'2'4,"0"-1,-1 0,1 1,-1-1,1 1,-1-1,-1 1,1 1,4 11,32 69,-20-47,-1 0,-2 1,7 35,-20-72,-1-1</inkml:trace>
  <inkml:trace contextRef="#ctx0" brushRef="#br0" timeOffset="8312.79">984 1756,'1'-5,"0"1,0-1,0 1,1-1,-1 1,1 0,0-1,0 1,1 0,-1 0,1 0,0 1,2-3,44-44,-47 49,0-1,0 0,0 1,0-1,0 1,0 0,0-1,1 1,-1 0,0 0,1 1,-1-1,1 0,-1 1,1-1,-1 1,1 0,-1 0,1 0,2 1,-3-1,-1 1,1 0,0 0,0 0,-1 0,1 0,-1 1,1-1,-1 0,1 1,-1-1,0 1,0 0,1-1,-1 1,0 0,-1 0,1 0,0-1,0 1,-1 0,1 0,-1 0,0 0,0 0,0 2,1 8,0 0,-2-1,1 1,-2 0,0 0,0-1,-1 1,0-1,-1 1,0-1,-1 0,0-1,-1 1,0-1,-1 0,0-1,0 1,-2 0,-2-2,9-7</inkml:trace>
  <inkml:trace contextRef="#ctx0" brushRef="#br0" timeOffset="8963.34">1228 1640,'2'17,"0"-1,1 0,1 0,1 0,0-1,1 1,1-1,0-1,1 1,8 11,-19-33,0 0,0 1,0-1,1-1,0 1,0 0,1-5,-8-56,9 68,-1-3,-2-65,3 63,0 1,1-1,-1 1,1 0,0 0,0-1,0 1,1 0,-1 0,1 0,0 0,0 1,1-1,0-1,-1 4,-1 0,1 0,-1 0,1 0,0 0,-1 0,1 1,0-1,0 1,-1-1,1 1,0 0,0 0,0-1,0 1,-1 1,1-1,0 0,0 0,1 1,4 0</inkml:trace>
  <inkml:trace contextRef="#ctx0" brushRef="#br0" timeOffset="9582">1504 1532,'0'0,"-24"-13,21 12,1 0,0 1,0-1,0 1,-1 0,1 0,0-1,0 1,-1 1,1-1,0 0,0 1,-1-1,1 1,0-1,0 1,0 0,0 0,0 0,0 0,0 1,0-1,1 0,-1 1,0-1,1 1,-1 0,1-1,-1 1,1 0,0 0,0 0,0 0,0 0,0 0,0 0,1 0,-1 1,1-1,-1 0,1 0,0 2,-1 3,0-1,1 1,0 0,1-1,-1 1,1-1,0 1,1-1,-1 0,1 1,1-1,-1 0,1 0,1 2,-2-5,0 0,0 0,0-1,0 0,1 1,-1-1,1 0,-1 0,1 0,0 0,-1 0,1-1,0 1,0-1,0 0,0 0,1 0,-1 0,0-1,0 1,1-1,-1 0,0 0,0 0,1 0,0-1,-1 0,-1 1,0-1,1 0,-1-1,0 1,0 0,0-1,0 1,0-1,0 1,0-1,0 0,-1 0,1 0,0 0,-1 0,0 0,0-1,1 1,-1 0,-1-1,1 1,0-1,-1 1,1-1,-1 1,1-1,-1 1,0-1,0 1,-1-1,1 1,-1-3,0-3,0 1,0 0,-1 0,0-1,0 1,-1 0,1 1,-2-1,1 0,-1 1,0 0,0 0,-1 0,0 0,0 1,0 0,-1-1,-1 1</inkml:trace>
  <inkml:trace contextRef="#ctx0" brushRef="#br0" timeOffset="10391.51">1507 1199,'3'4,"-1"1,1-1,-1 0,0 1,0-1,0 1,0 2,6 14,55 97,-38-74,-1 1,-2 1,8 31,-32-87,0-1,1 0,0 0,1 0,0 0,0 0,2 0,-1 0,3-10,-3 15,1-1,0 1,0-1,0 1,0 0,1 0,0 0,1 0,-1 0,1 1,0 0,0 0,1 0,0 0,-1 0,2 1,-1 0,6-3,-10 6,1 0,-1 0,1 0,0 0,-1 1,1-1,0 1,0-1,-1 1,1 0,0 0,0 0,0 0,-1 0,1 0,0 0,0 0,0 1,-1-1,1 1,0-1,-1 1,1 0,0 0,-1 0,1 0,-1 0,1 0,-1 0,0 0,1 0,-1 1,0-1,0 1,0-1,0 1,0-1,0 1,0-1,-1 1,1 0,-1 0,1 1,1 3,0 0,-1 0,0 0,0 0,-1 0,1 0,-1 0,-1 0,1 0,-1 0,0 0,-1 4,-2-1,1-1,-1 1,-1-1,1 0,-2 0,1-1,-3 3,5-6,0 0,-1 0,0-1,0 1,0-1,0 1,-1-1,0-1,1 1,-1-1,0 1,0-1,-1 0,-9-3,11-1</inkml:trace>
  <inkml:trace contextRef="#ctx0" brushRef="#br0" timeOffset="11193.96">1834 973,'6'31,"5"21,1 3,15 42,-22-82,1-1,0 0,1 0,0 0,1-1,1 0,0 0,8 8,-14-18,0 0,0 0,0 0,0-1,1 1,-1-1,1 0,-1 0,1 0,0 0,0-1,0 1,0-1,0 0,0 0,0-1,0 1,0-1,0 0,0 0,0 0,3-1,-2-1,1 1,0-1,-1-1,1 1,-1-1,1 0,-1 0,0 0,0-1,-1 0,1 0,-1 0,0 0,0-1,1-1,3-5,0-1,0 0,-1-1,-1 1,0-2,0 1,0-7,-4 15,0-1,0 0,-1 0,0 0,0 0,-1 1,1-1,-1-1,-1 1,1 1,-1-1,0 0,0 0,-1 0,0 0,0 1,0-1,-3-5,4 10,0-1,0 0,0 0,0 1,0-1,-1 1,1-1,0 1,-1 0,1-1,-1 1,0 0,1 0,-1 0,0 0,1 0,-1 0,0 1,0-1,0 1,0-1,0 1,0 0,0-1,0 1,0 0,0 0,0 1,0-1,1 0,-1 1,0-1,0 1,-2 0,2 1,-1-1,1 1,0 0,0 0,0 0,0 1,0-1,0 0,0 1,1-1,-1 1,1 0,0-1,0 1,0 0,0 0,0 0,0-1,1 1,0 0,-1 0,1 3,0 4,1 1,0-1,1 1,0-1,0 0,1 0,1 0,0 0,0 0,0-1,1 0,1 0,0 0,0 0,-3-6,-1 1,1-1,-1 0,1-1,0 1,0 0,1-1,-1 1,0-1,1 0,-1 0,1-1,0 1,-1-1,1 0,0 0,0 0,0 0,0 0,0-1,0 0,0 0,0 0,0 0,0-1,0 0,0 1,0-1,0-1,-1 1,1-1,0 1,-1-1,1 0,-1 0,3-3,7-4</inkml:trace>
  <inkml:trace contextRef="#ctx0" brushRef="#br0" timeOffset="12145.76">2204 1031,'0'0,"11"20,81 125,-101-167,2-1,0 0,0-8,5 20,1 1,0-1,0 1,1-1,0 0,1 0,0 1,2-8,-3 17,0 0,0 0,0 0,1 0,-1 0,0 0,1 0,-1 0,0 0,1 0,-1 0,1 0,-1 0,1 1,0-1,-1 0,1 0,0 1,0-1,-1 0,1 1,0-1,0 1,0-1,0 1,0-1,0 1,0 0,0-1,0 1,0 0,0 0,0 0,0 0,0 0,0 0,0 0,0 0,0 0,0 0,0 0,0 1,0-1,0 1,0-1,-1 0,1 1,0-1,0 1,0 0,0-1,-1 1,1 0,0-1,0 1,6 5,-1 0,1 0,-1 0,0 1,4 6,9 18,12 27,-21-41,-18-42,1 1,1-1,1 0,0-15,4 33,0 0,1 0,0 0,0 0,1 0,0 0,0 0,0 0,1 0,0 1,1-1,-1 1,1-1,0 1,1 0,-1 0,1 0,1 1,0-1,-4 4,0 1,0 0,1 0,-1 0,1 0,-1 0,1 0,-1 0,1 0,0 0,-1 1,1-1,0 1,-1-1,1 1,0 0,0 0,0-1,-1 1,1 1,0-1,0 0,1 0,0 2,0-1,0 0,-1 1,1-1,0 1,-1 0,1 0,-1 0,1 0,-1 0,0 1,2 2,5 7,-1 1,0 1,-1-1,-1 1,0 1,2 4,-4-8,1 0,0 0,0 0,1-1,1 1,4 4,-3-7</inkml:trace>
  <inkml:trace contextRef="#ctx0" brushRef="#br0" timeOffset="13245.82">2681 844,'3'-1,"0"0,0 0,0 0,0 0,0-1,0 1,0-1,-1 0,1 0,2-2,-1 1,9-6,0-1,0-1,-1 0,0-1,-1 0,0-1,-7 8</inkml:trace>
  <inkml:trace contextRef="#ctx0" brushRef="#br0" timeOffset="14058.99">3130 550,'-2'-2,"-1"0,0 0,1 1,-1-1,0 1,1 0,-1 0,0 0,0 0,0 0,0 1,0 0,0-1,0 1,0 0,0 0,0 0,0 1,0-1,0 1,0 0,0 0,0 0,0 0,1 0,-3 1,-2 1,0 1,1 0,-1 0,1 0,0 0,0 1,0 0,0 1,1-1,0 1,2 0,0-1,0 1,1 0,0 0,0 0,1 0,-1 0,1 0,0 0,1 0,0 1,0-1,0 0,1 0,0 1,0-1,0 0,1 0,0 0,1 2,-1-4,-1 0,1 0,0 0,1 0,-1 0,1-1,-1 1,1-1,0 0,0 1,1-1,-1-1,3 2,-4-2,1-1,0 1,0-1,0 0,0 0,0 0,0-1,0 1,0-1,0 0,0 1,0-1,0-1,0 1,0 0,0-1,1 1,-1-1,-1 0,2-1,0 0,0 0,0 0,0 0,0-1,0 0,-1 0,1 0,-1 0,0 0,0-1,0 0,-1 1,1-1,-1 0,0 0,0 0,0 0,-1-1,1 1,-1-1,0 1,0-1,-1 1,1-1,-1 1,0-3,0 0,0 0,0 0,0 0,-1 0,0 0,-1 1,1-1,-1 0,-1 1,1 0,-1-1,0 1,0 0,-1 0,0 1,0-1,-2-1,-21-13,21 17</inkml:trace>
  <inkml:trace contextRef="#ctx0" brushRef="#br0" timeOffset="15305.78">3178 507,'0'0,"0"0,9 23,8 11,2-1,18 26,-42-69,1 0,0-1,1 0,0 1,0-1,0-8,0 3,-1-1,2-1,0 0,1 1,0-1,2-8,-1 20,1 1,-1-1,1 1,0 0,0-1,1 1,0 0,0 0,0 0,0 0,1 0,0 0,0 1,0-1,1 1,-1 0,1 0,0 0,3-2,-5 5,0-1,0 1,0 0,0 0,1 0,-1 0,0 0,1 1,-1-1,0 0,1 1,-1 0,1 0,-1 0,1 0,-1 0,0 0,1 0,-1 1,1-1,1 2,0 0,0 0,-1 0,1 0,-1 1,1-1,-1 1,0 0,0 0,0 0,0 0,-1 1,1 0,6 9,-1 1,-1 1,0-1,-1 1,-1 0,1 4,2 14,-5-19,0 0,2 0,2 7,-7-21,1 1,-1-1,0 0,0 1,0-1,1 1,-1-1,0 0,0 1,1-1,-1 0,0 1,0-1,1 0,-1 0,0 1,1-1,-1 0,1 0,-1 0,0 1,1-1,-1 0,0 0,1 0,-1 0,1 0,-1 0,1 0,-1 0,0 0,1 0,-1 0,1 0,-1 0,0 0,1 0,15-13,9-22,-13 14,-1-1,-1 0,-1-1,-1 0,3-14,-9 29,0-1,0 1,-1-1,0 0,0 1,-1-1,0 0,-1 0,0 1,0-1,-1 0,0 1,-1 0,0-1,0 1,0 0,-2-1,4 7,-1 0,1 0,0 0,-1 0,1 0,-1 0,0 1,1-1,-1 1,0-1,0 1,0 0,0-1,0 1,0 0,0 1,-1-1,1 0,0 1,-1-1,1 1,0-1,-1 1,1 0,0 0,-1 0,0 1,1-1,0 1,0 0,0 0,0 0,0 0,0 0,0 1,0-1,1 0,-1 1,1 0,-1-1,1 1,-1 0,1 0,0-1,0 1,0 0,0 0,0 0,1 0,-1 1,0-1,1 0,0 0,-1 0,1 0,0 1,0 0,0 5,1 0,0 0,0 0,0 0,1 0,0 0,1 0,0-1,0 1,0-1,1 0,0 0,1 0,-1 0,1-1,1 0,-1 0,1 0,0-1,0 0,6 4,-6-5,-1 0,1-1,0 1,0-1,0-1,0 1,1-1,-1 0,1 0,-1-1,1 0,-1 0,1-1,0 1,0-2,-1 1,1-1,0 0,-1 0,1 0,-1-1,1 0,-1-1,0 1,0-1,3-2,-1-1,-3 1</inkml:trace>
  <inkml:trace contextRef="#ctx0" brushRef="#br0" timeOffset="16628.06">1902 1806,'-23'-16,"19"13,1 0,0 1,-1 0,1 0,-1-1,1 2,-1-1,0 0,0 1,-2 0,1-1,-1 1,1 1,-1-1,0 1,1 0,-1 0,0 1,1-1,-1 1,1 1,-1-1,1 1,0 0,-1 0,1 0,0 1,0 0,0 0,-3 3,5-3,0-1,0 1,0 0,1 0,-1 1,1-1,0 1,0-1,0 1,0-1,1 1,0 0,-1 0,1 0,1 0,-1 0,0 0,1 0,0 0,0 0,0 0,1 0,-1 0,1 0,0 0,0 0,0 0,1 0,0 0,1 2,0 0,0 0,1 0,0 0,0-1,1 1,-1-1,1 0,1-1,-1 1,0-1,1 0,0 0,0-1,0 0,0 0,6 2,-9-4,0 0,0 0,0 0,0-1,1 1,-1-1,0 0,0 0,0 0,1 0,-1 0,0-1,0 1,0-1,0 0,1 0,-1 0,-1 0,1-1,0 1,0-1,0 0,-1 0,1 0,-1 0,1 0,-1 0,0-1,0 1,0-1,0 1,-1-1,1 0,-1 0,1 0,-1 0,0 0,0-2,1-1,0 0,-1 0,0 0,-1-1,1 1,-1 0,0 0,-1-1,1 1,-1 0,-1 0,1 0,-1 0,0 0,0 0,-1 1,0-1,-2-3,10 14,0 0,0 0,0-1,0 0,1 0,0 0,0 0,2 0,11 8,-7-4</inkml:trace>
  <inkml:trace contextRef="#ctx0" brushRef="#br0" timeOffset="17113.97">2029 1721,'16'18,"-1"2,0 0,-2 0,11 22,8 12,-5-14,-15-24,-1 1,0 0,-2 1,0 0,1 5,-9-22,-1 0</inkml:trace>
  <inkml:trace contextRef="#ctx0" brushRef="#br0" timeOffset="17555.62">2027 1696,'15'-28,"-10"23,0 1,0-1,1 1,-1 0,1 1,0-1,0 1,0 0,0 1,1 0,-1 0,1 0,-1 0,1 1,6 0,-9 1,-1 0,1 0,-1 0,0 0,1 1,-1 0,0-1,0 1,1 0,-1 1,0-1,0 1,0-1,0 1,0 0,-1 0,1 0,-1 0,1 1,-1-1,0 1,0-1,0 1,0 0,0 0,0 0,-1 0,0 0,1 0,-1 0,0 1,0 1,0 2,0 1,0-1,-1 0,0 0,0 0,0 1,-1-1,0 0,-1 0,0 0,0 2,0-4,1-1,-1 1,0-1,0 0,0 1,-1-1,1 0,-1 0,0 0,0-1,-1 1,1-1,-1 0,0 0,1 0,-1 0,-2 0,2-1</inkml:trace>
  <inkml:trace contextRef="#ctx0" brushRef="#br0" timeOffset="18073.76">2303 1603,'11'21,"36"73,-18-31,3-2,29 39,-49-85,-9-13,-6-11,0 4</inkml:trace>
  <inkml:trace contextRef="#ctx0" brushRef="#br0" timeOffset="18526.82">2288 1582,'-8'-27,"8"22,1 1,-1-1,1 1,0-1,1 1,-1-1,1 1,0 0,0 0,0 0,1 0,-1 0,1 0,0 1,0-1,0 1,1 0,-1 0,1 0,-1 0,1 1,0-1,0 1,4-1,-4 0,0 1,0 0,0 0,0 0,1 1,-1-1,0 1,1 0,0 1,-1-1,1 1,-1-1,1 1,0 1,-1-1,1 1,-1 0,1 0,-1 0,1 0,-1 1,0 0,1 0,1 1,-4-1,0 0,0-1,-1 1,1 0,-1 0,0 0,1 0,-1 0,0 0,0 0,0 0,0 1,-1-1,1 0,0 1,-1-1,0 0,0 1,1-1,-1 3,-1 1,1-1,-1 0,0 0,0 0,0 0,-1-1,0 1,-1 2,0 0,0-1,0 0,-1 0,0 0,0 0,0-1,-1 0,0 0,0 0,0 0,-1-1,1 1,-6 1,7-4</inkml:trace>
  <inkml:trace contextRef="#ctx0" brushRef="#br0" timeOffset="19126">2539 1421,'8'20,"1"-1,1-1,1 1,0-2,9 11,3 6,-16-24,-16-21,-15-23,18 22,0 0,1-1,1 1,0-1,1 0,0 0,1 0,0-5,2 12,-1 1,1 0,1 0,-1 0,1 0,0-1,0 1,0 0,1 0,-1 0,1 1,1-1,-1 0,1 1,-1-1,1 1,1 0,-1 0,0 0,1 1,0-1,2-1,1 0</inkml:trace>
  <inkml:trace contextRef="#ctx0" brushRef="#br0" timeOffset="19758.27">2871 1288,'-24'-19,"21"17,0 1,0-1,0 1,0 0,0 1,0-1,0 0,0 1,0 0,0-1,0 1,-1 0,1 1,0-1,0 1,0-1,0 1,0 0,0 0,0 0,0 1,0-1,1 1,-3 0,1 2,-1-1,1 1,0 0,0 1,1-1,-1 0,1 1,0 0,0 0,1 0,-1 0,1 0,-1 4,1-3,0-1,1 1,0 0,0 0,0-1,1 1,0 0,0 0,0 0,1 0,0 0,0-1,1 2,-1-4,0 0,0 0,0 0,1 0,-1-1,1 1,0-1,0 1,0-1,0 0,0 1,0-1,1 0,-1 0,1-1,-1 1,1 0,0-1,-1 0,1 1,0-1,0 0,0-1,2 1,-3 0,1-1,-1 1,1-1,-1 0,1 1,-1-2,1 1,-1 0,1 0,-1-1,1 1,-1-1,1 0,-1 0,0 0,0 0,1 0,-1 0,0 0,0-1,0 1,0-1,0 0,0 0,-1 1,1-1,-1 0,1 0,-1-1,0 1,0 0,0 0,0-1,0 1,0 0,0-1,-1 1,1-2,0-3,0 0,0 0,-1 1,1-1,-2 0,1 0,-1 0,0 0,0 0,-1 0,0 1,0-1,-2-3,2 6,0 0,0 0,0 0,-1 1,0-1,0 0,0 1,0 0,0 0,-1 0,0 0,0 0,-4-2</inkml:trace>
  <inkml:trace contextRef="#ctx0" brushRef="#br0" timeOffset="20558.58">3003 1177,'-2'-1,"-1"0,1 0,0 0,-1 0,1 1,0 0,-1-1,1 1,-1 0,1 0,-1 0,-1 0,2 1,0-1,0 0,-1 1,1-1,0 1,0 0,0 0,0 0,0 0,0 0,0 0,1 0,-1 1,0-1,1 1,-1-1,1 1,-1 0,1-1,0 1,-1 1,0 1,0 0,1 0,-1 1,1-1,0 0,0 0,0 1,1-1,0 0,0 1,0 0,0 2,0 0,1 0,0-1,1 1,-1 0,1-1,0 1,1-1,0 0,0 0,0 0,1 0,-1 0,4 3,-6-8,0 1,0-1,0 0,0 0,0-1,0 1,0 0,0 0,0 0,0-1,0 1,1 0,-1-1,0 1,1-1,-1 0,0 1,1-1,-1 0,0 0,1 0,-1 0,0 0,1 0,-1 0,0 0,1 0,-1-1,0 1,1-1,-1 1,0-1,0 1,1-1,-1 0,0 0,0 1,0-1,0 0,0 0,0 0,0 0,0 0,-1 0,1-1,0 1,-1 0,1 0,0 0,-1-1,3-4,0-1,-1 1,1-1,-2 1,1-1,-1 0,0 0,0 0,0-2,-2-2,0-1,0 1,-1 0,0 0,-1 1,0-1,-1 0,-2-3,11 19,-1 0,1 0,0-1,0 0,1 0,-1 0,1-1,0 0,1 1,1 1,60 29,-62-32</inkml:trace>
  <inkml:trace contextRef="#ctx0" brushRef="#br0" timeOffset="21109.03">3259 1023,'-4'1,"0"-1,0 1,0 0,0 0,1 0,-1 1,0 0,1-1,-1 1,1 0,-1 1,1-1,0 0,0 1,0 0,0 0,1 0,-1 0,1 0,-1 0,1 1,0-1,1 1,-2 1,1 0,-1 0,1 1,0-1,1 0,-1 1,1-1,0 1,0-1,1 1,0 0,0-1,0 1,1 0,-1-1,1 1,1-1,-1 1,0-3,1 0,-1 0,0-1,1 1,-1 0,1-1,0 0,0 1,0-1,0 0,0 0,0 0,1 0,-1 0,1-1,-1 1,1-1,0 0,-1 0,1 1,0-2,0 1,0 0,0-1,0 1,0-1,0 0,0 0,0 0,0 0,0-1,-1 1,1-1,0 1,0-1,2-1,2-1,1 1,-1-2,0 1,0-1,0 0,0-1,-1 1,0-1,0-1,0 1,0-1,-1 0,1-1,0-3</inkml:trace>
  <inkml:trace contextRef="#ctx0" brushRef="#br0" timeOffset="21823.76">3315 834,'1'5,"1"-1,-1 1,1-1,0 1,0-1,1 0,-1 0,1 0,0 0,7 11,5 14,-1-2,0-1,2 0,1-1,1 0,1-2,2 1,-23-65,1 38,0-78,1 75,0 0,1 0,0 0,0 0,1 1,0-1,0 0,0 1,1-1,-1 1,1 0,1-2,-2 6,-1 0,0 0,1-1,-1 1,1 0,0 0,-1 0,1 1,0-1,-1 0,1 1,0-1,0 1,0-1,0 1,0 0,-1 0,1 0,0 0,0 0,0 0,0 0,0 1,0-1,-1 1,1-1,0 1,0 0,-1 0,1 0,0 0,0 0,10 6,-1 0,0 1,0 0,3 4,-4-4,54 43,-58-47</inkml:trace>
  <inkml:trace contextRef="#ctx0" brushRef="#br0" timeOffset="22703.27">2993 1723,'-1'-1,"-1"-1,0 1,1-1,-1 1,0-1,1 1,-1 0,0 0,0 0,0 0,0 0,0 1,0-1,-1 1,1-1,0 1,0-1,0 1,0 0,-1 0,1 0,0 1,0-1,0 0,-1 1,1 0,0-1,0 1,0 0,0 0,0 0,0 0,0 1,-1 0,-1 1,1 0,0-1,1 1,-1 1,0-1,1 0,0 0,0 1,0 0,0-1,0 1,1 0,0 0,-1 0,1 0,1 1,-1 1,0 1,1-1,0 0,1 1,-1-1,1 0,1 1,-1-1,1 0,0 0,0 0,1 0,0 0,0-1,0 1,0-1,1 0,0 0,0 0,1 0,-2-2,0 0,1-1,-1 1,0-1,1 0,-1 0,1 0,0 0,-1-1,1 1,0-1,0 0,0 0,0-1,0 1,0-1,0 0,1 0,-1 0,0-1,0 1,0-1,0 0,0 0,0 0,-1-1,1 0,0 1,-1-1,1 0,1-2,1 0,0-1,0 1,-1-1,1 0,-1-1,0 1,-1-1,4-5,-3 2</inkml:trace>
  <inkml:trace contextRef="#ctx0" brushRef="#br0" timeOffset="23370">3221 1628,'0'0,"-29"5,24-3,1 0,0 1,0 0,0-1,0 1,1 1,-1-1,1 1,0-1,0 1,0 0,0 0,1 0,0 0,-1 1,2-1,-1 1,0-1,1 1,0 0,0-1,0 5,0-5,1 0,-1 1,1-1,0 0,0 1,0-1,1 0,0 1,0-1,0 0,0 0,1 0,-1 0,1 0,0 0,0 0,1 0,-1-1,1 1,0-1,0 0,0 0,0 0,0 0,2 1,-2-3,-1 1,1-1,0 1,0-1,0 0,0 0,0 0,0-1,0 1,0-1,0 0,0 0,1 0,-1 0,0 0,0-1,0 1,0-1,0 0,0 0,0 0,0 0,0 0,-1-1,1 1,0-1,-1 0,1 0,-1 0,0 0,2-2,0 0,-1 1,0-1,0 0,0 0,0-1,-1 1,0 0,0-1,0 1,0-1,-1 0,1 0,-1 1,-1-1,1 0,-1 0,1 0,-2 0,1-4,-2 0,0 1,0 1,-1-1,0 0,0 0,-1 1,-3-5,5 8,-1 0,1 1,-1-1,0 1,0-1,0 1,-1 0,1 0,-1 0,0 1,0-1,1 1,-1 0,-4-1,5 2</inkml:trace>
  <inkml:trace contextRef="#ctx0" brushRef="#br0" timeOffset="24184.72">3333 1542,'2'5,"-1"-1,1 1,1-1,-1 0,1 0,-1 0,1 0,0 0,4 3,2 4,-3-1,1-2,0 1,0-1,1 0,0 0,9 6,-15-13,-1 1,1-1,0 0,0 0,0 0,0-1,0 1,0 0,0-1,0 1,0-1,0 0,0 0,0 0,0 0,0 0,1 0,-1 0,0-1,0 1,0-1,0 1,0-1,0 0,0 0,0 0,-1 0,1 0,0 0,-1-1,1 1,0 0,-1-1,1 0,-1 1,0-1,0 0,0 1,1-2,3-5,-1 1,0-1,-1 0,0 0,0 0,-1 0,1-1,-2 1,1-1,-1 1,-1-8,1 8,-1 1,0-1,-1 1,0 0,0 0,-1-1,1 1,-1 0,-1 0,0 1,0-1,0 0,-1 1,0-1,16 23,0-1,1 0,1-1,0 0,1-1,1-1,0 0,3 1,-17-13,-1 1,0 0,0-1,0 0,0 1,1-1,-1 1,0-1,0 0,1 0,-1 0,0 0,1 0,-1 0,0 0,0 0,1-1,-1 1,0 0,0-1,1 1,2-2</inkml:trace>
  <inkml:trace contextRef="#ctx0" brushRef="#br0" timeOffset="24674.09">3520 1242,'11'24,"7"9,3-1,0 0,2-2,1-1,2 0,19 15,-44-43</inkml:trace>
  <inkml:trace contextRef="#ctx0" brushRef="#br0" timeOffset="25279.97">3860 1275,'-2'-3,"0"1,0-1,-1 1,1 0,-1 0,0-1,0 2,0-1,0 0,0 1,0-1,0 1,0 0,-1 0,1 0,0 0,-1 1,1-1,0 1,-1 0,1 0,-1 0,1 1,0-1,-1 1,1 0,0 0,-1 0,1 0,0 0,0 1,0-1,0 1,0 0,0 0,1 0,-1 0,1 1,-1-1,0 2,1-2,-1 1,1 0,0 0,0 0,0 0,0 0,0 0,1 1,0-1,-1 0,1 1,1-1,-1 1,0 0,1-1,0 1,-1-1,2 1,-1 0,0-1,1 1,-1 0,1-1,0 1,0-1,1 0,-1 1,1-1,-1 0,1 0,0 0,0 0,1 0,-1 0,1 0,-1-1,3 2,-3-2,0 0,0 0,0 0,1-1,-1 1,0-1,1 0,-1 1,1-1,-1 0,1-1,-1 1,1 0,0-1,-1 1,1-1,0 0,0 0,-1 0,1 0,0-1,-1 1,1-1,0 1,-1-1,1 0,-1 0,3-1,-1-1,-1 0,0 1,1-1,-1 0,0-1,0 1,-1 0,1-1,-1 0,0 1,0-1,0 0,0 0,0 0,-1-1,0 1,0-2,3-13,-1 2</inkml:trace>
  <inkml:trace contextRef="#ctx0" brushRef="#br0" timeOffset="25691.18">3716 1099,'19'22,"49"62,65 60,-131-142</inkml:trace>
  <inkml:trace contextRef="#ctx0" brushRef="#br0" timeOffset="26786.92">3373 1887,'15'22,"35"40,-30-39,-1 1,-1 0,13 25,-32-57,1 0,-1 0,2 0,-1-1,1 1,2-6,-3 9,2-5,0 0,0 0,1 0,1 0,-1 1,4-6,-5 12,-1-1,1 1,0 0,0 0,0 0,1 0,-1 0,1 0,-1 1,1-1,0 1,0 0,0 0,1 0,-1 0,0 0,1 1,-1-1,2 1,-3 0,0 1,-1 0,1 0,0-1,-1 1,1 0,0 1,-1-1,1 0,0 0,-1 1,1-1,-1 1,1-1,-1 1,1 0,-1 0,1 0,-1 0,1 0,-1 0,1 1,0 0,0 1,0 0,0-1,0 1,-1 0,1 0,-1 1,0-1,0 0,0 0,0 2,1 4,0 0,-2 1,1-1,-1 0,0 1,-1-1,-1 10,0-13,0 1,-1 0,1-1,-1 1,-1-1,1 0,-1 0,0 0,0 0,-3 1,5-4,0-1,1 0,-1 0,0 0,-1-1,1 1,0 0,0-1,-1 0,1 1,-1-1,1 0,-1 0,1 0,-1-1,0 1,1-1,-1 1,0-1,0 0,1 0,-1 0,0 0,0-1,1 1,-1-1,0 1,0-1,-2-2,2 0</inkml:trace>
  <inkml:trace contextRef="#ctx0" brushRef="#br0" timeOffset="27549.06">3736 1953,'7'-6,"5"-5,1 0,-2-1,1 0,-2-1,5-7,-12 16,0-1,-1 1,0 0,0-1,-1 1,1-1,-1 0,0 1,0-1,0 0,-1 0,0 1,0-1,0 0,0 0,-1 0,0 1,0-1,0 0,-1 1,0-3,1 5,0 0,0 0,1 0,-2 0,1 0,0 0,0 0,0 1,-1-1,1 0,-1 1,0-1,1 1,-1 0,0-1,0 1,0 0,0 0,0 0,1 1,0 0,1 0,-1 0,0 0,0 0,1 0,-1 0,0 0,1 0,-1 0,0 0,1 0,-1 0,0 1,1-1,-1 0,0 1,1-1,-1 0,1 1,-1-1,0 1,0 1,0-1,0 0,0 1,0 0,0-1,0 1,0 0,1-1,-1 1,1 0,-1 0,1-1,0 1,-2 7,2-1,-1 1,1 0,0-1,1 1,0-1,1 1,0-1,0 0,0 0,1 1,0-1,1-1,0 1,0-1,1 1,5 5,-8-9,1-1,0 0,0 0,0 0,0 0,0 0,1-1,0 0,-1 1,1-1,0 0,0-1,0 1,0-1,0 0,0 0,0 0,1 0,-1-1,0 0,0 0,1 0,-1 0,0-1,0 1,1-1,-1 0,0 0,0-1,0 1,0-1,-1 0,1 0,0-1,-1 1,1-1,22-16,-25 18,1 0,-1 0,1 0,-1-1,1 1,-1 0,0-1,0 1,0-1,0 0,0 1,0-1,0 0,-1 1,1-2,-1 3,-1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9-09-16T19:24:26.190"/>
    </inkml:context>
    <inkml:brush xml:id="br0">
      <inkml:brushProperty name="width" value="0.05" units="cm"/>
      <inkml:brushProperty name="height" value="0.05" units="cm"/>
      <inkml:brushProperty name="color" value="#F6630D"/>
      <inkml:brushProperty name="ignorePressure" value="1"/>
    </inkml:brush>
  </inkml:definitions>
  <inkml:trace contextRef="#ctx0" brushRef="#br0">1 537,'7'18,"159"379,-154-372,18 45,-29-68</inkml:trace>
  <inkml:trace contextRef="#ctx0" brushRef="#br0" timeOffset="439.28">18 881,'3'0,"0"0,0 0,0-1,0 0,-1 0,1 1,0-1,0-1,-1 1,2-1,4-1,18-8,0 0,-1-1,8-7,-21 12,0-1,-1 0,-1 0,1-1,-1-1,-1 0,9-10,-14 13,-2 3</inkml:trace>
  <inkml:trace contextRef="#ctx0" brushRef="#br0" timeOffset="1184.53">232 399,'6'29,"88"324,-47-188,-50-187,1 0,0 1,2-1,2-21,-1 24,-1 12,0-15,0 0,2 0,1 0,0 1,2-1,0 1,4-7,-9 28,0 0,1-1,-1 1,0 0,0-1,0 1,1-1,-1 1,0 0,0 0,1-1,-1 1,0 0,1-1,-1 1,0 0,1 0,-1 0,1-1,-1 1,0 0,1 0,-1 0,1 0,-1 0,0 0,1 0,-1 0,1 0,-1 0,1 0,-1 0,0 0,1 0,-1 0,1 0,-1 0,0 1,1-1,-1 0,0 0,1 0,-1 1,0-1,1 0,-1 1,0-1,1 0,-1 0,0 1,0-1,1 1,-1-1,17 23,-14-20,30 51,15 21,-43-68,1 0,0 0,0-1,1 1,-1-1,2-1,-1 1,3 0,-8-5,0 0,0 0,0 0,0 0,0-1,0 1,0-1,0 1,0-1,1 0,-1 0,0 0,0 0,1 0,4-2</inkml:trace>
  <inkml:trace contextRef="#ctx0" brushRef="#br0" timeOffset="1511.74">657 574,'0'0,"0"0,1 1,1 3,2 4,2 5,2 3,3 3,1 4,1 0,0 0,-1-1,0-3,-3-4,-2-5,-3-4,-1-2</inkml:trace>
  <inkml:trace contextRef="#ctx0" brushRef="#br0" timeOffset="1873.49">596 425,'0'0,"0"0,0 0,0 0</inkml:trace>
  <inkml:trace contextRef="#ctx0" brushRef="#br0" timeOffset="2349.51">875 412,'-24'5,"19"-3,1 1,0-1,0 1,0 0,0 1,1-1,-1 0,1 1,0 0,0 0,0 0,1 0,-1 0,1 1,0-1,0 1,0 0,1-3,1 0,-1-1,1 1,-1 0,1 0,0 0,0 0,0 0,0 0,0 0,0 0,0-1,1 1,-1 0,1 0,-1 0,1 0,0-1,0 1,0 0,0 0,0-1,0 1,0-1,0 1,1-1,-1 0,1 1,-1-1,1 0,-1 0,1 0,0 0,-1 0,1 0,0-1,0 1,-1-1,1 1,0-1,0 1,0-1,1 0,46 4,17 3,-62-6,1 0,-1 0,0 1,1-1,-1 1,0 0,0 0,0 0,-1 1,1 0,0-1,1 3,-4-4,1 1,-1-1,0 1,1-1,-1 1,0 0,0 0,0-1,0 1,-1 0,1 0,0 0,-1 0,1 0,-1 0,0 0,0 0,0 0,0 0,0 0,0 0,0 0,-1 0,1 0,-1 0,1 0,-1 0,0 0,0 0,0-1,0 1,0 0,0 0,0-1,0 1,-1-1,1 1,-2 0,-2 2,1 0,0 0,-1-1,0 0,0 0,0 0,0-1,0 1,-1-1,1-1,-1 1,1-1,-3 1,2-2</inkml:trace>
  <inkml:trace contextRef="#ctx0" brushRef="#br0" timeOffset="3899.43">1293 307,'1'4,"0"0,1 0,0 0,-1-1,1 1,0-1,1 0,1 4,4 4,86 156,-129-201,26 22,1 0,1 0,0-1,0 0,1 0,1-1,0 0,1 0,1 0,-2-13,4 20,1 0,-1-1,1 1,1 0,-1-1,1 1,1 0,-1 0,1 0,2-5,-2 8,0 0,0 0,1 0,0 0,-1 0,1 0,1 1,-1-1,0 1,1 0,0 0,-1 0,1 1,0-1,1 1,3-2,30-5,-30 8</inkml:trace>
  <inkml:trace contextRef="#ctx0" brushRef="#br0" timeOffset="4579.84">1480 334,'0'0,"0"0,25-11,-18 6,0 1,-1-1,0 0,0-1,0 0,-1 0,0 0,0 0,0-1,2-5,-5 9,0-1,0 1,-1-1,1 0,-1 1,0-1,0 0,0 0,-1 0,1 1,-1-1,0 0,0 0,0 0,-1 0,0 0,1 0,-1 1,0-1,-1 0,1 1,-1-1,0 0,2 3,0 0,-1 1,1-1,0 1,-1-1,1 0,-1 1,1-1,-1 1,1-1,-1 1,1-1,-1 1,0-1,1 1,-1 0,0-1,1 1,-1 0,0-1,1 1,-1 0,0 0,1 0,-1 0,0 0,0 0,1 0,-1 0,-1 0,1 1,-1-1,1 1,0 0,0 0,-1-1,1 1,0 0,0 0,0 0,0 0,0 1,0-1,0 0,-3 5,0 0,0 0,1 0,0 1,-2 4,2-1,0 0,1 0,0 0,0 1,1-1,0 0,1 1,1-1,0 10,0-16,0 0,-1 0,1 0,1-1,-1 1,0 0,1-1,0 1,0-1,0 0,0 0,1 1,-1-1,1-1,0 1,-1 0,1-1,1 1,-1-1,0 0,0 0,1 0,-1-1,1 1,0-1,0 0,2 1,4 0,0-1,0 0,1 0,-1-1,0 0,0-1,4-1,-9 2,0-1,-1 0,1 0,0 0,-1-1,0 1,1-1,-1 0,0-1,0 1,0-1,0 0,0 0,-1 0,1 0,2-4,-3 3</inkml:trace>
  <inkml:trace contextRef="#ctx0" brushRef="#br0" timeOffset="4961.92">1721 176,'0'0,"15"-8,21-12,-2-2,0-2,10-10,-41 32</inkml:trace>
  <inkml:trace contextRef="#ctx0" brushRef="#br0" timeOffset="6281.51">304 1324,'1'5,"0"0,0 0,1 0,-1 0,1 0,1 0,-1-1,1 2,5 10,-4-6,8 20,2-1,1-1,-11-21,0 0,0 0,1-1,0 0,0 0,0 0,1-1,0 0,0 0,6 4,-11-8,0-1,0 1,1 0,-1-1,0 1,0-1,0 1,0-1,1 0,-1 0,0 1,0-1,1 0,-1 0,0 0,0 0,1 0,-1-1,0 1,0 0,0 0,1-1,-1 1,0-1,0 1,0-1,1 0,0-1,0 0,0 0,-1 0,1-1,-1 1,0 0,1 0,-1-1,0 1,0-1,-1 1,1-1,0 0,1-8,0-1,-1 0,0 1,-1-1,-1-8,0 6,0 1,-1 0,-1 0,0 0,-1 0,0 0,-1 1,-1-1,-1-2,19 62,-5-33,0-1,1 1,10 11,-15-21,0 0,1 0,-1 0,1 0,0-1,0 1,0-1,0 0,1-1,-1 1,1-1,0 1,3 0,-7-3,0 0,0 1,0-1,0 0,0 0,0 1,0-1,0 0,1 0,-1 0,0 0,0-1,0 1,0 0,0 0,0-1,0 1,0 0,0-1,0 1,0-1,0 0,0 1,0-1,0 0,-1 1,1-1,0 0,0 0,0-1,0-1,0 1,0 0,0-1,-1 1,1-1,-1 1,0-1,0 1,1-1,-2 1,1-1,0 1,-1-9,-1 0,0 0,-1 1,0-1,-3-6,-1 1,-1 1,-1 0,0 1,-4-4,7 11</inkml:trace>
  <inkml:trace contextRef="#ctx0" brushRef="#br0" timeOffset="6997.94">633 1215,'15'16,"-2"0,0 1,0 0,-2 1,0 0,-1 1,6 17,-63-135,44 91,1 1,0-1,0 1,0-1,1 0,1 1,-1-1,1 0,0 0,1 0,0 1,1-4,-1 7,0-1,1 1,0 0,0 0,0 1,0-1,1 0,-1 1,1-1,0 1,0 0,0 0,1 0,-1 0,1 1,-1-1,1 1,0 0,0 0,0 1,0-1,3 0,9-3,-3 2</inkml:trace>
  <inkml:trace contextRef="#ctx0" brushRef="#br0" timeOffset="7414.98">926 1027,'2'2,"0"1,-1 0,1-1,-1 1,1 0,-1 0,0 0,0 0,-1 0,1 0,0 1,1 5,3 6,1 5,0 0,1-1,2 0,0 0,0-1,7 8,-15-25</inkml:trace>
  <inkml:trace contextRef="#ctx0" brushRef="#br0" timeOffset="7966.37">1038 878,'0'0,"0"0,9 19,18 31,-4-8,-3 0,-1 1,1 9,-17-43,-3-7</inkml:trace>
  <inkml:trace contextRef="#ctx0" brushRef="#br0" timeOffset="8293.58">1024 1067,'0'0,"0"0,0 0,1 0,1-1,3 0,4-4,6-2,5-4,5-3,2-2,-2-1,-4 3,-6 3</inkml:trace>
  <inkml:trace contextRef="#ctx0" brushRef="#br0" timeOffset="8656.41">1222 770,'9'21,"128"249,-136-268</inkml:trace>
  <inkml:trace contextRef="#ctx0" brushRef="#br0" timeOffset="9352.34">1208 1003,'16'-14,"18"-10,28-14,-38 24,-1 0,0-1,-1-2,-1 0,12-13,-32 28,1 0,0 0,-1 0,0 0,1-1,-1 1,0 0,0-1,0 1,-1 0,1-1,0 0,-1 1,0-1,0 1,1-1,-2 1,1-1,0 0,0 2,-1-1,1 1,0 0,-1-1,0 1,1-1,-1 1,0 0,0-1,1 1,-1 0,0 0,0 0,0 0,-1 0,1 0,0 0,0 0,-1 0,1 1,0-1,-1 0,1 1,0-1,-1 1,1-1,-1 1,1 0,-1 0,1 0,-1 0,1 0,-2 0,1 0,0 0,0 1,0-1,0 1,-1-1,1 1,0 0,0 0,0 0,0 0,1 0,-1 0,0 1,0-1,1 0,-1 1,1 0,-1-1,1 1,-1 0,1 0,0 0,0 0,0 0,0 0,0 0,1 0,-1 0,1 0,-1 0,1 0,0 1,0 0,-2 5,2 0,-1 0,1 1,0-1,1 0,0 0,0 0,2 5,1-2,0 1,1 0,0-1,1 0,1 0,0-1,7 10,-11-16,1 1,0-1,0 0,0 0,0 0,0-1,1 1,0-1,0 0,-1-1,2 1,-1-1,0 0,0 0,1 0,-1-1,1 0,3 1,-6-3,0 1,0 0,0-1,0 0,0 1,0-1,0 0,0-1,0 1,0 0,-1-1,1 0,1 0,4-5</inkml:trace>
  <inkml:trace contextRef="#ctx0" brushRef="#br0" timeOffset="10142.41">1579 712,'2'3,"0"0,0-1,0 1,0 0,0 0,-1 0,1 0,-1 0,1 2,4 7,-3-6,14 22,-1 1,-2 0,-1 1,-2 0,7 27,-52-102,19 17,2 0,-5-14,14 33,1-1,0 0,1-1,0 1,0 0,1-1,0 1,1-1,0-2,1 9,-1 1,1 0,0-1,0 1,0-1,0 1,0 0,1 0,-1 0,1 0,0 0,0 0,0 0,0 0,1 1,-1-1,1 1,0 0,-1-1,1 1,0 1,0-1,0 0,1 1,-1-1,0 1,0 0,1 0,-1 1,2-1,1 0,-1 1,0-1,1 1,-1 1,1-1,-1 1,0 0,1 0,-1 0,0 1,0 0,0 0,0 0,0 1,0-1,-1 1,1 0,-1 1,2 0,3 6,-1 0,0 1,0 0,-1 0,0 0,-1 1,0 0,2 8,0-1,2 1,7 11,-10-25,-6-6</inkml:trace>
  <inkml:trace contextRef="#ctx0" brushRef="#br0" timeOffset="11045.87">967 1661,'-15'-22,"13"20,0 0,0 0,-1 0,1 0,0 1,-1-1,0 1,1-1,-1 1,0 0,1 0,-1 1,0-1,0 0,0 1,1 0,-1 0,0 0,0 0,0 0,0 0,0 1,0-1,1 1,-1 0,0 0,0 0,1 0,-1 0,1 1,-1-1,1 1,-1 0,1 0,0-1,-1 2,0 1,-1-1,0 1,1 0,0 0,0 0,0 0,1 1,-1-1,1 1,0 0,1-1,-1 1,1 0,0 0,0 0,0 0,0 0,1 0,0 0,1 3,-1-1,2-1,-1 0,0 1,1-1,0 0,1 0,0-1,-1 1,2 0,-1-1,1 0,0 1,0-2,0 1,0 0,1-1,0 0,0 0,0 0,1-1,-1 1,1-1,0-1,-1 1,1-1,1 0,-1 0,0-1,0 0,1 0,-1 0,0-1,1 0,-1 0,1 0,-1-1,0 0,1-1,-1 1,0-1,0 0,0-1,0 1,-1-1,3-2,6-4,-4 1</inkml:trace>
  <inkml:trace contextRef="#ctx0" brushRef="#br0" timeOffset="11464.71">1031 1445,'1'5,"1"0,-1 0,1 0,0-1,0 1,1-1,-1 1,1-1,1 2,7 11,29 65,-23-44,2 0,1-1,3-1,17 21,-37-52,0-3</inkml:trace>
  <inkml:trace contextRef="#ctx0" brushRef="#br0" timeOffset="12207.74">1385 1540,'-18'-23,"16"21,0 0,0 0,-1 0,1 0,-1 1,1-1,-1 1,1 0,-1 0,0 0,1 0,-1 0,0 0,0 1,0 0,0-1,1 1,-1 0,0 0,0 0,0 1,0-1,0 1,1 0,-1 0,0 0,0 0,1 0,-1 0,1 1,-1-1,1 1,0 0,-2 0,1 2,-1-1,1 1,0-1,0 1,0 0,0 0,1 0,-1 1,1-1,0 1,0-1,1 1,0-1,0 1,0 0,0 0,0 0,1-1,0 1,0 2,2 3,0 1,0 0,1-1,0 0,1 0,2 3,-5-9,0-1,1 1,0-1,0 0,0 1,0-1,0 0,1 0,-1-1,1 1,0 0,0-1,0 0,0 0,0 0,0 0,1 0,-1 0,3 0,-5-2,1 0,0 0,0 0,0-1,0 1,-1 0,1-1,0 1,0-1,0 0,-1 0,1 1,-1-1,1 0,0 0,-1-1,0 1,1 0,-1 0,0-1,1 1,-1-1,0 1,0-1,0 1,0-1,-1 0,1 1,0-1,0-1,3-7,-1 0,0 0,0 0,1-9,-1-44,-2 26,0 40,1-1,0 1,0-1,-1 0,1 0,0 0,1 0,-1 0,1 1,1 1,6 5,0-1,0 0,0 0,1-1,0-1,1 1,9 2,-11-5</inkml:trace>
  <inkml:trace contextRef="#ctx0" brushRef="#br0" timeOffset="12873.17">1582 1337,'-12'6,"1"1,0-1,0 2,1 0,-8 7,14-12,1 0,0 1,0-1,0 1,0 0,0 0,1 0,0 0,0 0,0 0,0 1,1-1,-1 1,1-1,0 1,1 0,-1 3,1-7,0 1,0-1,1 1,-1-1,0 0,1 0,-1 1,1-1,0 0,-1 0,1 1,0-1,0 0,-1 0,1 0,0 0,0 0,0 0,1 0,-1-1,0 1,0 0,0-1,0 1,1 0,-1-1,0 0,1 1,-1-1,0 0,1 1,-1-1,0 0,1 0,-1 0,1-1,8 2,1-2,-1 1,0-2,6 0,-9 0,16-2,36-5,-55 9,-1-1,0 1,1 0,-1 1,0-1,0 1,1-1,-1 1,0 0,0 0,0 0,0 1,0-1,0 1,0 0,-1-1,-1 1,0-1,0 0,0 1,0-1,0 1,0-1,-1 1,1-1,0 1,-1 0,0-1,1 1,-1 0,0-1,0 1,1 0,-1-1,-1 1,1 0,0 0,0-1,-1 1,1 0,-1-1,1 1,-1-1,0 1,1 0,-1-1,0 1,0-1,0 0,0 1,0-1,-1 0,-3 6,0-1,0 0,-1 0,0 0,0-1,-7 5,7-6,1-1,0 0,-1-1,1 1,-1-1,0 0,0-1,1 1,-1-1,0 0,-1-1,-1 1,-3-2</inkml:trace>
  <inkml:trace contextRef="#ctx0" brushRef="#br0" timeOffset="13589.63">1871 1155,'-28'12,"-23"23,49-33,-1 0,1 0,-1 0,1 0,0 1,0-1,0 1,0 0,1-1,-1 1,1 0,-1 0,1 0,0 0,0 0,0 0,0 3,2-4,-1-1,1 0,-1 1,1-1,-1 0,1 1,0-1,-1 0,1 0,0 1,0-1,0 0,0 0,0 0,0 0,0 0,1 0,-1-1,0 1,0 0,1-1,-1 1,0-1,1 1,0-1,42 12,-35-10,13 2,41 11,-59-14,-1 0,1 1,0 0,0-1,-1 1,1 1,-1-1,0 0,0 1,0 0,0-1,0 1,1 2,-3-3,-1 0,1 0,0 0,-1 0,1 0,-1 0,0 0,0 0,0 0,0 1,0-1,0 0,0 0,-1 0,1 0,-1 0,0 0,1 0,-1 0,0 0,0 0,0 0,0-1,-1 1,1 0,0-1,-1 1,0 0,-7 8,0 0,-1-1,-8 7,-29 16,45-30,0-1,-1 0,1 0,-1 0,1 0,-1 0,1-1,-1 1,1-1,-1 1,0-1,1 0,-1 0,1 0,-1-1,0 1,1 0,-1-1,-2-1,-2-2</inkml:trace>
  <inkml:trace contextRef="#ctx0" brushRef="#br0" timeOffset="15654.15">738 1,'0'0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9-09-16T19:27:18.350"/>
    </inkml:context>
    <inkml:brush xml:id="br0">
      <inkml:brushProperty name="width" value="0.05" units="cm"/>
      <inkml:brushProperty name="height" value="0.05" units="cm"/>
      <inkml:brushProperty name="color" value="#F6630D"/>
      <inkml:brushProperty name="ignorePressure" value="1"/>
    </inkml:brush>
  </inkml:definitions>
  <inkml:trace contextRef="#ctx0" brushRef="#br0">3522 1407,'0'0,"0"0,0 0,0 0,0 0,0 0,0 0,0 0,0 0,0 0,0 0,0 0,0 0,8-8,42-40,-17 16,-1 0,-1-3,3-7,-25 30,0-1,-2 0,0 0,0 0,-1-1,-1 0,0 0,-1-1,0 1,-1-1,0-13,-2 19,-1-1,0 1,-1 0,0 0,-1-1,1 1,-2 0,1 1,-1-1,-1 0,0 1,0-1,-3-3,0 1,-1 0,0 0,-1 1,0 0,0 1,-11-9,-7-2,-1 2,-1 0,-1 2,0 1,-1 1,-9-2,-40-11,-1 4,0 3,-2 4,0 3,-60 0,-121 3,-39 14,260-3,-275 8,-374 0,510-15,0-8,-140-31,266 34,0-1,1-3,1-3,-41-19,76 28,0-1,0 0,1-2,1 0,0-1,0 0,1-2,1 0,1 0,0-2,1 1,1-2,0 0,-2-6,5 6,1 0,1 0,0 0,1-1,1 0,1 0,1 0,1-1,0 1,1-1,2-3,-1 21,1 5,-1-3</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9-09-16T19:27:30.516"/>
    </inkml:context>
    <inkml:brush xml:id="br0">
      <inkml:brushProperty name="width" value="0.05" units="cm"/>
      <inkml:brushProperty name="height" value="0.05" units="cm"/>
      <inkml:brushProperty name="color" value="#F6630D"/>
      <inkml:brushProperty name="ignorePressure" value="1"/>
    </inkml:brush>
  </inkml:definitions>
  <inkml:trace contextRef="#ctx0" brushRef="#br0">3 0,'0'0,"8"25,2 10,-2-1,-1 2,-1-1,-2 1,-1 22,-3-55,0-3</inkml:trace>
  <inkml:trace contextRef="#ctx0" brushRef="#br0" timeOffset="1159.96">0 13,'0'0,"0"0,30 9,1-4,0-1,3-2,-5-1,0 2,20 5,-27-2,-16-3,0-1,1 0,-1-1,0 0,1 0,-1 0,1-1,0 0,-1 0,3-1,-29 35,-20 10,-36 31,-12 13,45-37,43-51</inkml:trace>
  <inkml:trace contextRef="#ctx0" brushRef="#br0" timeOffset="3593.25">36 66,'0'0,"16"25,-11-13,1 1,-2 0,0 0,0 1,-1-1,-1 1,-1 0,1 0,-2-1,0 1,-1 3,3-75,-3 45,1 1,0-1,2 0,-1 1,1-1,1 0,0 11,1 8,7 22,4 35,-13-36,-3-44,1 2,0 5,-1 0,2 1,-1-1,2 0,-1 1,1-1,2-4,-4 14,1 0,-1 0,1-1,-1 1,1 0,-1 0,1 0,-1 0,1 0,-1 0,1 0,-1 0,1 0,-1 0,1 0,-1 0,1 0,-1 0,1 1,-1-1,1 0,-1 0,1 1,-1-1,1 0,-1 0,0 1,1-1,-1 0,0 1,1-1,-1 1,20 15,-16-13,-1-1,0 1,1 0,-1-1,1 0,-1 0,1 0,0 0,0 0,0-1,-2-1,1 0,-1 0,0 0,0 0,1 0,-1 0,0-1,0 1,0-1,0 0,1 0,-1 1,0-1,0-1,0 1,-1 0,2-1,-129 113,124-110,1 1,-1-1,1 1,0-1,-1 1,1-1,0 1,0 0,0-1,0 1,0 0,1 0,-1 0,1 0,-1 0,1-2</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9-07-11T17:16:20.594"/>
    </inkml:context>
    <inkml:brush xml:id="br0">
      <inkml:brushProperty name="width" value="0.05" units="cm"/>
      <inkml:brushProperty name="height" value="0.05" units="cm"/>
      <inkml:brushProperty name="ignorePressure" value="1"/>
    </inkml:brush>
  </inkml:definitions>
  <inkml:trace contextRef="#ctx0" brushRef="#br0">2307 771,'-1'-30,"-1"12,-1 0,0 0,-2 0,0 0,-1 1,-4-7,-15-30,-11-16,14 31,-1 1,-2 1,-2 1,-1 1,-1 2,-2 1,-2 1,-25-18,32 29,-1 2,-1 1,0 1,-1 2,-1 1,0 1,0 1,-2 2,1 1,-1 2,0 0,-12 2,9 2,-1 3,1 1,-1 1,1 2,0 2,1 1,0 2,0 1,1 1,-20 11,24-8,0 0,1 2,0 1,2 1,0 1,1 2,1 0,2 1,0 2,1 0,-10 17,19-22,1 1,0 0,2 1,0 0,2 1,0-1,1 2,3-7,0 1,0-1,2 1,0 0,2 0,-1-1,2 1,1-1,3 14,-9-27,1-1,-1-1,0 1,0 0,0-1,0 1,0-1,0 0,-1 0,-2 1,-1 1,-12 9,-177 118,150-97,2 2,1 3,-4 7,10-6,2 1,1 2,2 2,3 0,1 3,3 0,1 1,2 5,11-23,1 0,2 1,1 0,1 1,2-1,1 17,2-24,2 0,1 0,1 0,1-1,1 1,2-1,0 0,10 22,-9-28,2 0,0-1,1 0,0-1,1 0,1 0,1-2,0 1,1-2,0 0,1-1,1 0,0-2,0 1,1-2,6 2,0-2,0 0,0-1,0-2,1 0,0-2,0-1,0-1,0-1,1-1,-1-1,0-1,22-5,-23 39,-4-10,1 0,1-1,1-2,1 0,13 7,7 2,2-2,36 15,-68-35,0-1,0 0,1 0,0-1,0-1,0-1,0 0,0-1,0-1,1 0,12-2,-9-1,0-1,-1-1,0 0,0-2,-1 0,0-1,0 0,0-2,5-4,10-8,-1-1,-1-1,-1-1,-2-2,0-1,-2-2,17-25,-21 73,31 18,3-3,0-2,2-2,1-3,1-3,1-2,1-2,31 3,-54-15,1-1,-1-2,1-2,0-1,0-2,0-2,-1-1,1-2,-1-2,-1-2,1-1,-2-1,0-3,15-8,-35 15,0-1,-1-1,0 0,0-1,-1-1,-1 0,0-1,-1-1,0 0,2-4,-6 7,-1-2,0 1,-1-1,0 0,-1 0,-1-1,0 1,-1-1,0 0,-1 0,-1 0,0-1,-1-4,-1-3,-1 0,-1 0,-1 1,-1-1,-1 1,-1 0,0 0,-2 1,-1 0,0 1,-1 0,-6-7,9 15,0 1,-1 0,0 1,0-1,-1 2,0 0,-1 0,0 1,0 0,-1 0,3 3,0 0,1 1,-1 0,-1 1,1 0,0 0,-1 1,1 0,0 1,-1 0,1 0,-1 1,1 0,-6 2,35-20,0 0,-1-1,13-17,-6 7,-2-2,0 0,-3-2,0 0,-2-2,-2 0,3-10,-12 26,-2-1,0 0,-2 0,0 0,0 0,-2-1,-1 0,0 1,-2-1,0 0,-1 1,-1-1,0 1,-2 0,-1-2,0 0,-2 1,0 0,-2 1,0 0,0 0,-2 1,-1 0,0 1,-1 1,0 0,-2 1,0 0,0 1,-2 1,1 1,-2 0,1 2,-2 0,1 1,-1 1,-1 0,1 2,-18-3,5 4,1 1,-1 2,0 2,1 0,-21 5,-18 5,1 3,-4 4,72-13,1-2</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1" y="0"/>
            <a:ext cx="3037840" cy="464820"/>
          </a:xfrm>
          <a:prstGeom prst="rect">
            <a:avLst/>
          </a:prstGeom>
          <a:noFill/>
          <a:ln>
            <a:noFill/>
          </a:ln>
        </p:spPr>
        <p:txBody>
          <a:bodyPr spcFirstLastPara="1" wrap="square" lIns="93150" tIns="46575" rIns="93150" bIns="46575" anchor="t" anchorCtr="0"/>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970938" y="0"/>
            <a:ext cx="3037840" cy="464820"/>
          </a:xfrm>
          <a:prstGeom prst="rect">
            <a:avLst/>
          </a:prstGeom>
          <a:noFill/>
          <a:ln>
            <a:noFill/>
          </a:ln>
        </p:spPr>
        <p:txBody>
          <a:bodyPr spcFirstLastPara="1" wrap="square" lIns="93150" tIns="46575" rIns="93150" bIns="46575" anchor="t" anchorCtr="0"/>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01040" y="4415790"/>
            <a:ext cx="5608320" cy="4183380"/>
          </a:xfrm>
          <a:prstGeom prst="rect">
            <a:avLst/>
          </a:prstGeom>
          <a:noFill/>
          <a:ln>
            <a:noFill/>
          </a:ln>
        </p:spPr>
        <p:txBody>
          <a:bodyPr spcFirstLastPara="1" wrap="square" lIns="93150" tIns="46575" rIns="93150" bIns="46575" anchor="t" anchorCtr="0"/>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1" y="8829965"/>
            <a:ext cx="3037840" cy="464820"/>
          </a:xfrm>
          <a:prstGeom prst="rect">
            <a:avLst/>
          </a:prstGeom>
          <a:noFill/>
          <a:ln>
            <a:noFill/>
          </a:ln>
        </p:spPr>
        <p:txBody>
          <a:bodyPr spcFirstLastPara="1" wrap="square" lIns="93150" tIns="46575" rIns="93150" bIns="46575" anchor="b" anchorCtr="0"/>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970938" y="8829965"/>
            <a:ext cx="3037840" cy="464820"/>
          </a:xfrm>
          <a:prstGeom prst="rect">
            <a:avLst/>
          </a:prstGeom>
          <a:noFill/>
          <a:ln>
            <a:noFill/>
          </a:ln>
        </p:spPr>
        <p:txBody>
          <a:bodyPr spcFirstLastPara="1" wrap="square" lIns="93150" tIns="46575" rIns="93150" bIns="4657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10" name="Google Shape;210;p1: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1: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23" name="Google Shape;223;p11: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1: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23" name="Google Shape;223;p11: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209974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13: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93" name="Google Shape;293;p13: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2: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30" name="Google Shape;230;p12: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3: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37" name="Google Shape;237;p3: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5: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51" name="Google Shape;251;p5: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9: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79" name="Google Shape;279;p9: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6707599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3: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22" name="Google Shape;222;p3: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822750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7: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dirty="0"/>
          </a:p>
        </p:txBody>
      </p:sp>
      <p:sp>
        <p:nvSpPr>
          <p:cNvPr id="251" name="Google Shape;251;p7: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7: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dirty="0"/>
          </a:p>
        </p:txBody>
      </p:sp>
      <p:sp>
        <p:nvSpPr>
          <p:cNvPr id="251" name="Google Shape;251;p7: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197028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7: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dirty="0"/>
          </a:p>
        </p:txBody>
      </p:sp>
      <p:sp>
        <p:nvSpPr>
          <p:cNvPr id="251" name="Google Shape;251;p7: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834408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7: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dirty="0"/>
          </a:p>
        </p:txBody>
      </p:sp>
      <p:sp>
        <p:nvSpPr>
          <p:cNvPr id="251" name="Google Shape;251;p7: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8914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1: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23" name="Google Shape;223;p11: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209974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a:extLst>
            <a:ext uri="{FF2B5EF4-FFF2-40B4-BE49-F238E27FC236}">
              <a16:creationId xmlns:a16="http://schemas.microsoft.com/office/drawing/2014/main" id="{36D585E8-60AC-48A9-04BF-24DCC9A6A5BD}"/>
            </a:ext>
          </a:extLst>
        </p:cNvPr>
        <p:cNvGrpSpPr/>
        <p:nvPr/>
      </p:nvGrpSpPr>
      <p:grpSpPr>
        <a:xfrm>
          <a:off x="0" y="0"/>
          <a:ext cx="0" cy="0"/>
          <a:chOff x="0" y="0"/>
          <a:chExt cx="0" cy="0"/>
        </a:xfrm>
      </p:grpSpPr>
      <p:sp>
        <p:nvSpPr>
          <p:cNvPr id="250" name="Google Shape;250;p5:notes">
            <a:extLst>
              <a:ext uri="{FF2B5EF4-FFF2-40B4-BE49-F238E27FC236}">
                <a16:creationId xmlns:a16="http://schemas.microsoft.com/office/drawing/2014/main" id="{178BB7A8-F610-596A-31FE-F007D903C4EE}"/>
              </a:ext>
            </a:extLst>
          </p:cNvPr>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51" name="Google Shape;251;p5:notes">
            <a:extLst>
              <a:ext uri="{FF2B5EF4-FFF2-40B4-BE49-F238E27FC236}">
                <a16:creationId xmlns:a16="http://schemas.microsoft.com/office/drawing/2014/main" id="{7FF85109-D52A-1809-49B9-7937A0ADAC9E}"/>
              </a:ext>
            </a:extLst>
          </p:cNvPr>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270385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5: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51" name="Google Shape;251;p5: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651442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3: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37" name="Google Shape;237;p3: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3: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37" name="Google Shape;237;p3: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828106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a:extLst>
            <a:ext uri="{FF2B5EF4-FFF2-40B4-BE49-F238E27FC236}">
              <a16:creationId xmlns:a16="http://schemas.microsoft.com/office/drawing/2014/main" id="{9D69A3D2-68D2-7C29-B42B-183799D70A97}"/>
            </a:ext>
          </a:extLst>
        </p:cNvPr>
        <p:cNvGrpSpPr/>
        <p:nvPr/>
      </p:nvGrpSpPr>
      <p:grpSpPr>
        <a:xfrm>
          <a:off x="0" y="0"/>
          <a:ext cx="0" cy="0"/>
          <a:chOff x="0" y="0"/>
          <a:chExt cx="0" cy="0"/>
        </a:xfrm>
      </p:grpSpPr>
      <p:sp>
        <p:nvSpPr>
          <p:cNvPr id="236" name="Google Shape;236;p3:notes">
            <a:extLst>
              <a:ext uri="{FF2B5EF4-FFF2-40B4-BE49-F238E27FC236}">
                <a16:creationId xmlns:a16="http://schemas.microsoft.com/office/drawing/2014/main" id="{61D7856F-F20D-2AA1-4C61-13BA9CE1ED05}"/>
              </a:ext>
            </a:extLst>
          </p:cNvPr>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37" name="Google Shape;237;p3:notes">
            <a:extLst>
              <a:ext uri="{FF2B5EF4-FFF2-40B4-BE49-F238E27FC236}">
                <a16:creationId xmlns:a16="http://schemas.microsoft.com/office/drawing/2014/main" id="{53C098C6-E212-D2E4-B08B-6F220BE92CFA}"/>
              </a:ext>
            </a:extLst>
          </p:cNvPr>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395604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2: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16" name="Google Shape;216;p2: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012065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7: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65" name="Google Shape;265;p7: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3: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23" name="Google Shape;223;p3: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7: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51" name="Google Shape;251;p7: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780737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2: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16" name="Google Shape;216;p2: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550050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9: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65" name="Google Shape;265;p9: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9: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64" name="Google Shape;264;p9: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8: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57" name="Google Shape;257;p8: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10: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71" name="Google Shape;271;p10: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11: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78" name="Google Shape;278;p11: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3: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37" name="Google Shape;237;p3: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9428248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3: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37" name="Google Shape;237;p3: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655056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3: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37" name="Google Shape;237;p3: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7716923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2: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16" name="Google Shape;216;p2: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3: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23" name="Google Shape;223;p3: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9: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65" name="Google Shape;265;p9: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994614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14: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300" name="Google Shape;300;p14: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15: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307" name="Google Shape;307;p15: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7: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51" name="Google Shape;251;p7: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5: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37" name="Google Shape;237;p5: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2: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16" name="Google Shape;216;p2: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5500506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6: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44" name="Google Shape;244;p6: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6: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44" name="Google Shape;244;p6: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4: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30" name="Google Shape;230;p4: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1: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23" name="Google Shape;223;p11: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2099742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a:extLst>
            <a:ext uri="{FF2B5EF4-FFF2-40B4-BE49-F238E27FC236}">
              <a16:creationId xmlns:a16="http://schemas.microsoft.com/office/drawing/2014/main" id="{E45C0B6A-6884-C63B-D7DF-E10D6B76A0D4}"/>
            </a:ext>
          </a:extLst>
        </p:cNvPr>
        <p:cNvGrpSpPr/>
        <p:nvPr/>
      </p:nvGrpSpPr>
      <p:grpSpPr>
        <a:xfrm>
          <a:off x="0" y="0"/>
          <a:ext cx="0" cy="0"/>
          <a:chOff x="0" y="0"/>
          <a:chExt cx="0" cy="0"/>
        </a:xfrm>
      </p:grpSpPr>
      <p:sp>
        <p:nvSpPr>
          <p:cNvPr id="222" name="Google Shape;222;p11:notes">
            <a:extLst>
              <a:ext uri="{FF2B5EF4-FFF2-40B4-BE49-F238E27FC236}">
                <a16:creationId xmlns:a16="http://schemas.microsoft.com/office/drawing/2014/main" id="{DF9EDE56-345D-3B59-B8DC-A0FBCE5A30B3}"/>
              </a:ext>
            </a:extLst>
          </p:cNvPr>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23" name="Google Shape;223;p11:notes">
            <a:extLst>
              <a:ext uri="{FF2B5EF4-FFF2-40B4-BE49-F238E27FC236}">
                <a16:creationId xmlns:a16="http://schemas.microsoft.com/office/drawing/2014/main" id="{C43262A6-7871-5184-BBD5-53003315BD98}"/>
              </a:ext>
            </a:extLst>
          </p:cNvPr>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1194720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a:extLst>
            <a:ext uri="{FF2B5EF4-FFF2-40B4-BE49-F238E27FC236}">
              <a16:creationId xmlns:a16="http://schemas.microsoft.com/office/drawing/2014/main" id="{F3ADB501-C40B-FA42-6761-37D92FBD5080}"/>
            </a:ext>
          </a:extLst>
        </p:cNvPr>
        <p:cNvGrpSpPr/>
        <p:nvPr/>
      </p:nvGrpSpPr>
      <p:grpSpPr>
        <a:xfrm>
          <a:off x="0" y="0"/>
          <a:ext cx="0" cy="0"/>
          <a:chOff x="0" y="0"/>
          <a:chExt cx="0" cy="0"/>
        </a:xfrm>
      </p:grpSpPr>
      <p:sp>
        <p:nvSpPr>
          <p:cNvPr id="222" name="Google Shape;222;p11:notes">
            <a:extLst>
              <a:ext uri="{FF2B5EF4-FFF2-40B4-BE49-F238E27FC236}">
                <a16:creationId xmlns:a16="http://schemas.microsoft.com/office/drawing/2014/main" id="{313758D0-D007-F2EC-15A9-32729A5BADAE}"/>
              </a:ext>
            </a:extLst>
          </p:cNvPr>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23" name="Google Shape;223;p11:notes">
            <a:extLst>
              <a:ext uri="{FF2B5EF4-FFF2-40B4-BE49-F238E27FC236}">
                <a16:creationId xmlns:a16="http://schemas.microsoft.com/office/drawing/2014/main" id="{F161AA49-AB1C-A3B1-52DC-464C6468A548}"/>
              </a:ext>
            </a:extLst>
          </p:cNvPr>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125084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a:extLst>
            <a:ext uri="{FF2B5EF4-FFF2-40B4-BE49-F238E27FC236}">
              <a16:creationId xmlns:a16="http://schemas.microsoft.com/office/drawing/2014/main" id="{5DE77B4F-49DF-15B7-3637-106586EA0D32}"/>
            </a:ext>
          </a:extLst>
        </p:cNvPr>
        <p:cNvGrpSpPr/>
        <p:nvPr/>
      </p:nvGrpSpPr>
      <p:grpSpPr>
        <a:xfrm>
          <a:off x="0" y="0"/>
          <a:ext cx="0" cy="0"/>
          <a:chOff x="0" y="0"/>
          <a:chExt cx="0" cy="0"/>
        </a:xfrm>
      </p:grpSpPr>
      <p:sp>
        <p:nvSpPr>
          <p:cNvPr id="222" name="Google Shape;222;p11:notes">
            <a:extLst>
              <a:ext uri="{FF2B5EF4-FFF2-40B4-BE49-F238E27FC236}">
                <a16:creationId xmlns:a16="http://schemas.microsoft.com/office/drawing/2014/main" id="{D4263AA3-4862-C105-F6A2-6F633AB98B95}"/>
              </a:ext>
            </a:extLst>
          </p:cNvPr>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23" name="Google Shape;223;p11:notes">
            <a:extLst>
              <a:ext uri="{FF2B5EF4-FFF2-40B4-BE49-F238E27FC236}">
                <a16:creationId xmlns:a16="http://schemas.microsoft.com/office/drawing/2014/main" id="{ABCC935B-D40F-61AC-E4C3-FFB4BAF43FC4}"/>
              </a:ext>
            </a:extLst>
          </p:cNvPr>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4701014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2: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15" name="Google Shape;215;p2: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15: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307" name="Google Shape;307;p15: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pic>
        <p:nvPicPr>
          <p:cNvPr id="34" name="Google Shape;34;p2"/>
          <p:cNvPicPr preferRelativeResize="0"/>
          <p:nvPr/>
        </p:nvPicPr>
        <p:blipFill rotWithShape="1">
          <a:blip r:embed="rId2">
            <a:alphaModFix/>
          </a:blip>
          <a:srcRect t="33848" b="649"/>
          <a:stretch/>
        </p:blipFill>
        <p:spPr>
          <a:xfrm>
            <a:off x="-1" y="0"/>
            <a:ext cx="9144002" cy="5030078"/>
          </a:xfrm>
          <a:prstGeom prst="rect">
            <a:avLst/>
          </a:prstGeom>
          <a:noFill/>
          <a:ln>
            <a:noFill/>
          </a:ln>
        </p:spPr>
      </p:pic>
      <p:grpSp>
        <p:nvGrpSpPr>
          <p:cNvPr id="35" name="Google Shape;35;p2"/>
          <p:cNvGrpSpPr/>
          <p:nvPr/>
        </p:nvGrpSpPr>
        <p:grpSpPr>
          <a:xfrm>
            <a:off x="496176" y="5451818"/>
            <a:ext cx="3105481" cy="975083"/>
            <a:chOff x="2814452" y="4625522"/>
            <a:chExt cx="5459889" cy="1714337"/>
          </a:xfrm>
        </p:grpSpPr>
        <p:sp>
          <p:nvSpPr>
            <p:cNvPr id="36" name="Google Shape;36;p2"/>
            <p:cNvSpPr/>
            <p:nvPr/>
          </p:nvSpPr>
          <p:spPr>
            <a:xfrm>
              <a:off x="2814452" y="5818063"/>
              <a:ext cx="523694" cy="508514"/>
            </a:xfrm>
            <a:custGeom>
              <a:avLst/>
              <a:gdLst/>
              <a:ahLst/>
              <a:cxnLst/>
              <a:rect l="l" t="t" r="r" b="b"/>
              <a:pathLst>
                <a:path w="552" h="536" extrusionOk="0">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 name="Google Shape;37;p2"/>
            <p:cNvSpPr/>
            <p:nvPr/>
          </p:nvSpPr>
          <p:spPr>
            <a:xfrm>
              <a:off x="3467172" y="5818063"/>
              <a:ext cx="462976" cy="508514"/>
            </a:xfrm>
            <a:custGeom>
              <a:avLst/>
              <a:gdLst/>
              <a:ahLst/>
              <a:cxnLst/>
              <a:rect l="l" t="t" r="r" b="b"/>
              <a:pathLst>
                <a:path w="488" h="536" extrusionOk="0">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 name="Google Shape;38;p2"/>
            <p:cNvSpPr/>
            <p:nvPr/>
          </p:nvSpPr>
          <p:spPr>
            <a:xfrm>
              <a:off x="4041148" y="5818063"/>
              <a:ext cx="541720" cy="508514"/>
            </a:xfrm>
            <a:custGeom>
              <a:avLst/>
              <a:gdLst/>
              <a:ahLst/>
              <a:cxnLst/>
              <a:rect l="l" t="t" r="r" b="b"/>
              <a:pathLst>
                <a:path w="571" h="536" extrusionOk="0">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9" name="Google Shape;39;p2"/>
            <p:cNvSpPr/>
            <p:nvPr/>
          </p:nvSpPr>
          <p:spPr>
            <a:xfrm>
              <a:off x="4582868" y="5818063"/>
              <a:ext cx="608130" cy="508514"/>
            </a:xfrm>
            <a:custGeom>
              <a:avLst/>
              <a:gdLst/>
              <a:ahLst/>
              <a:cxnLst/>
              <a:rect l="l" t="t" r="r" b="b"/>
              <a:pathLst>
                <a:path w="641" h="536" extrusionOk="0">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0" name="Google Shape;40;p2"/>
            <p:cNvSpPr/>
            <p:nvPr/>
          </p:nvSpPr>
          <p:spPr>
            <a:xfrm>
              <a:off x="5169177" y="5818063"/>
              <a:ext cx="555002" cy="508514"/>
            </a:xfrm>
            <a:custGeom>
              <a:avLst/>
              <a:gdLst/>
              <a:ahLst/>
              <a:cxnLst/>
              <a:rect l="l" t="t" r="r" b="b"/>
              <a:pathLst>
                <a:path w="585" h="536" extrusionOk="0">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1" name="Google Shape;41;p2"/>
            <p:cNvSpPr/>
            <p:nvPr/>
          </p:nvSpPr>
          <p:spPr>
            <a:xfrm>
              <a:off x="5831384" y="5818063"/>
              <a:ext cx="541720" cy="521796"/>
            </a:xfrm>
            <a:custGeom>
              <a:avLst/>
              <a:gdLst/>
              <a:ahLst/>
              <a:cxnLst/>
              <a:rect l="l" t="t" r="r" b="b"/>
              <a:pathLst>
                <a:path w="571" h="550" extrusionOk="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2" name="Google Shape;42;p2"/>
            <p:cNvSpPr/>
            <p:nvPr/>
          </p:nvSpPr>
          <p:spPr>
            <a:xfrm>
              <a:off x="6530592" y="5818063"/>
              <a:ext cx="521796" cy="508514"/>
            </a:xfrm>
            <a:custGeom>
              <a:avLst/>
              <a:gdLst/>
              <a:ahLst/>
              <a:cxnLst/>
              <a:rect l="l" t="t" r="r" b="b"/>
              <a:pathLst>
                <a:path w="550" h="536" extrusionOk="0">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3" name="Google Shape;43;p2"/>
            <p:cNvSpPr/>
            <p:nvPr/>
          </p:nvSpPr>
          <p:spPr>
            <a:xfrm>
              <a:off x="7183312" y="5818063"/>
              <a:ext cx="462976" cy="508514"/>
            </a:xfrm>
            <a:custGeom>
              <a:avLst/>
              <a:gdLst/>
              <a:ahLst/>
              <a:cxnLst/>
              <a:rect l="l" t="t" r="r" b="b"/>
              <a:pathLst>
                <a:path w="488" h="536" extrusionOk="0">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4" name="Google Shape;44;p2"/>
            <p:cNvSpPr/>
            <p:nvPr/>
          </p:nvSpPr>
          <p:spPr>
            <a:xfrm>
              <a:off x="4647381" y="5515421"/>
              <a:ext cx="91077" cy="87282"/>
            </a:xfrm>
            <a:custGeom>
              <a:avLst/>
              <a:gdLst/>
              <a:ahLst/>
              <a:cxnLst/>
              <a:rect l="l" t="t" r="r" b="b"/>
              <a:pathLst>
                <a:path w="96" h="92" extrusionOk="0">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5" name="Google Shape;45;p2"/>
            <p:cNvSpPr/>
            <p:nvPr/>
          </p:nvSpPr>
          <p:spPr>
            <a:xfrm>
              <a:off x="4937689" y="5235549"/>
              <a:ext cx="130923" cy="157487"/>
            </a:xfrm>
            <a:custGeom>
              <a:avLst/>
              <a:gdLst/>
              <a:ahLst/>
              <a:cxnLst/>
              <a:rect l="l" t="t" r="r" b="b"/>
              <a:pathLst>
                <a:path w="138" h="166" extrusionOk="0">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6" name="Google Shape;46;p2"/>
            <p:cNvSpPr/>
            <p:nvPr/>
          </p:nvSpPr>
          <p:spPr>
            <a:xfrm>
              <a:off x="5278280" y="5018292"/>
              <a:ext cx="132821" cy="243821"/>
            </a:xfrm>
            <a:custGeom>
              <a:avLst/>
              <a:gdLst/>
              <a:ahLst/>
              <a:cxnLst/>
              <a:rect l="l" t="t" r="r" b="b"/>
              <a:pathLst>
                <a:path w="140" h="257" extrusionOk="0">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 name="Google Shape;47;p2"/>
            <p:cNvSpPr/>
            <p:nvPr/>
          </p:nvSpPr>
          <p:spPr>
            <a:xfrm>
              <a:off x="5649230" y="4842779"/>
              <a:ext cx="112898" cy="335847"/>
            </a:xfrm>
            <a:custGeom>
              <a:avLst/>
              <a:gdLst/>
              <a:ahLst/>
              <a:cxnLst/>
              <a:rect l="l" t="t" r="r" b="b"/>
              <a:pathLst>
                <a:path w="119" h="354" extrusionOk="0">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 name="Google Shape;48;p2"/>
            <p:cNvSpPr/>
            <p:nvPr/>
          </p:nvSpPr>
          <p:spPr>
            <a:xfrm>
              <a:off x="6026821" y="4720394"/>
              <a:ext cx="104359" cy="420283"/>
            </a:xfrm>
            <a:custGeom>
              <a:avLst/>
              <a:gdLst/>
              <a:ahLst/>
              <a:cxnLst/>
              <a:rect l="l" t="t" r="r" b="b"/>
              <a:pathLst>
                <a:path w="110" h="443" extrusionOk="0">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 name="Google Shape;49;p2"/>
            <p:cNvSpPr/>
            <p:nvPr/>
          </p:nvSpPr>
          <p:spPr>
            <a:xfrm>
              <a:off x="6384489" y="4647343"/>
              <a:ext cx="162232" cy="497129"/>
            </a:xfrm>
            <a:custGeom>
              <a:avLst/>
              <a:gdLst/>
              <a:ahLst/>
              <a:cxnLst/>
              <a:rect l="l" t="t" r="r" b="b"/>
              <a:pathLst>
                <a:path w="171" h="524" extrusionOk="0">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 name="Google Shape;50;p2"/>
            <p:cNvSpPr/>
            <p:nvPr/>
          </p:nvSpPr>
          <p:spPr>
            <a:xfrm>
              <a:off x="6733618" y="4625522"/>
              <a:ext cx="241924" cy="568283"/>
            </a:xfrm>
            <a:custGeom>
              <a:avLst/>
              <a:gdLst/>
              <a:ahLst/>
              <a:cxnLst/>
              <a:rect l="l" t="t" r="r" b="b"/>
              <a:pathLst>
                <a:path w="255" h="599" extrusionOk="0">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1" name="Google Shape;51;p2"/>
            <p:cNvSpPr/>
            <p:nvPr/>
          </p:nvSpPr>
          <p:spPr>
            <a:xfrm>
              <a:off x="7077055" y="4665368"/>
              <a:ext cx="333950" cy="621412"/>
            </a:xfrm>
            <a:custGeom>
              <a:avLst/>
              <a:gdLst/>
              <a:ahLst/>
              <a:cxnLst/>
              <a:rect l="l" t="t" r="r" b="b"/>
              <a:pathLst>
                <a:path w="352" h="655" extrusionOk="0">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 name="Google Shape;52;p2"/>
            <p:cNvSpPr/>
            <p:nvPr/>
          </p:nvSpPr>
          <p:spPr>
            <a:xfrm>
              <a:off x="7414800" y="4764984"/>
              <a:ext cx="430719" cy="659361"/>
            </a:xfrm>
            <a:custGeom>
              <a:avLst/>
              <a:gdLst/>
              <a:ahLst/>
              <a:cxnLst/>
              <a:rect l="l" t="t" r="r" b="b"/>
              <a:pathLst>
                <a:path w="454" h="695" extrusionOk="0">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3" name="Google Shape;53;p2"/>
            <p:cNvSpPr/>
            <p:nvPr/>
          </p:nvSpPr>
          <p:spPr>
            <a:xfrm>
              <a:off x="7730724" y="4924369"/>
              <a:ext cx="543617" cy="680232"/>
            </a:xfrm>
            <a:custGeom>
              <a:avLst/>
              <a:gdLst/>
              <a:ahLst/>
              <a:cxnLst/>
              <a:rect l="l" t="t" r="r" b="b"/>
              <a:pathLst>
                <a:path w="573" h="717" extrusionOk="0">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54" name="Google Shape;54;p2"/>
          <p:cNvSpPr txBox="1">
            <a:spLocks noGrp="1"/>
          </p:cNvSpPr>
          <p:nvPr>
            <p:ph type="ctrTitle"/>
          </p:nvPr>
        </p:nvSpPr>
        <p:spPr>
          <a:xfrm>
            <a:off x="496177" y="320634"/>
            <a:ext cx="6807148" cy="2543545"/>
          </a:xfrm>
          <a:prstGeom prst="rect">
            <a:avLst/>
          </a:prstGeom>
          <a:noFill/>
          <a:ln>
            <a:noFill/>
          </a:ln>
        </p:spPr>
        <p:txBody>
          <a:bodyPr spcFirstLastPara="1" wrap="square" lIns="91425" tIns="45700" rIns="91425" bIns="45700" anchor="b" anchorCtr="0"/>
          <a:lstStyle>
            <a:lvl1pPr lvl="0" algn="l">
              <a:lnSpc>
                <a:spcPct val="80000"/>
              </a:lnSpc>
              <a:spcBef>
                <a:spcPts val="0"/>
              </a:spcBef>
              <a:spcAft>
                <a:spcPts val="0"/>
              </a:spcAft>
              <a:buClr>
                <a:schemeClr val="accent1"/>
              </a:buClr>
              <a:buSzPts val="4400"/>
              <a:buFont typeface="Arial"/>
              <a:buNone/>
              <a:defRPr sz="4400">
                <a:solidFill>
                  <a:schemeClr val="accen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2"/>
          <p:cNvSpPr txBox="1">
            <a:spLocks noGrp="1"/>
          </p:cNvSpPr>
          <p:nvPr>
            <p:ph type="subTitle" idx="1"/>
          </p:nvPr>
        </p:nvSpPr>
        <p:spPr>
          <a:xfrm>
            <a:off x="496176" y="2924299"/>
            <a:ext cx="6814614" cy="1752600"/>
          </a:xfrm>
          <a:prstGeom prst="rect">
            <a:avLst/>
          </a:prstGeom>
          <a:noFill/>
          <a:ln>
            <a:noFill/>
          </a:ln>
        </p:spPr>
        <p:txBody>
          <a:bodyPr spcFirstLastPara="1" wrap="square" lIns="91425" tIns="45700" rIns="91425" bIns="45700" anchor="t" anchorCtr="0"/>
          <a:lstStyle>
            <a:lvl1pPr lvl="0" algn="l">
              <a:spcBef>
                <a:spcPts val="560"/>
              </a:spcBef>
              <a:spcAft>
                <a:spcPts val="0"/>
              </a:spcAft>
              <a:buSzPts val="2800"/>
              <a:buNone/>
              <a:defRPr b="1">
                <a:solidFill>
                  <a:schemeClr val="lt1"/>
                </a:solidFill>
                <a:latin typeface="Arial"/>
                <a:ea typeface="Arial"/>
                <a:cs typeface="Arial"/>
                <a:sym typeface="Arial"/>
              </a:defRPr>
            </a:lvl1pPr>
            <a:lvl2pPr lvl="1" algn="ctr">
              <a:spcBef>
                <a:spcPts val="480"/>
              </a:spcBef>
              <a:spcAft>
                <a:spcPts val="0"/>
              </a:spcAft>
              <a:buSzPts val="2400"/>
              <a:buNone/>
              <a:defRPr>
                <a:solidFill>
                  <a:srgbClr val="888888"/>
                </a:solidFill>
              </a:defRPr>
            </a:lvl2pPr>
            <a:lvl3pPr lvl="2" algn="ctr">
              <a:spcBef>
                <a:spcPts val="400"/>
              </a:spcBef>
              <a:spcAft>
                <a:spcPts val="0"/>
              </a:spcAft>
              <a:buSzPts val="2000"/>
              <a:buNone/>
              <a:defRPr>
                <a:solidFill>
                  <a:srgbClr val="888888"/>
                </a:solidFill>
              </a:defRPr>
            </a:lvl3pPr>
            <a:lvl4pPr lvl="3" algn="ctr">
              <a:spcBef>
                <a:spcPts val="360"/>
              </a:spcBef>
              <a:spcAft>
                <a:spcPts val="0"/>
              </a:spcAft>
              <a:buSzPts val="1800"/>
              <a:buNone/>
              <a:defRPr>
                <a:solidFill>
                  <a:srgbClr val="888888"/>
                </a:solidFill>
              </a:defRPr>
            </a:lvl4pPr>
            <a:lvl5pPr lvl="4" algn="ctr">
              <a:spcBef>
                <a:spcPts val="360"/>
              </a:spcBef>
              <a:spcAft>
                <a:spcPts val="0"/>
              </a:spcAft>
              <a:buSzPts val="18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6"/>
        <p:cNvGrpSpPr/>
        <p:nvPr/>
      </p:nvGrpSpPr>
      <p:grpSpPr>
        <a:xfrm>
          <a:off x="0" y="0"/>
          <a:ext cx="0" cy="0"/>
          <a:chOff x="0" y="0"/>
          <a:chExt cx="0" cy="0"/>
        </a:xfrm>
      </p:grpSpPr>
      <p:sp>
        <p:nvSpPr>
          <p:cNvPr id="57" name="Google Shape;57;p3"/>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lstStyle>
            <a:lvl1pPr lvl="0" algn="l">
              <a:spcBef>
                <a:spcPts val="0"/>
              </a:spcBef>
              <a:spcAft>
                <a:spcPts val="0"/>
              </a:spcAft>
              <a:buClr>
                <a:schemeClr val="lt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3"/>
          <p:cNvSpPr txBox="1">
            <a:spLocks noGrp="1"/>
          </p:cNvSpPr>
          <p:nvPr>
            <p:ph type="body" idx="1"/>
          </p:nvPr>
        </p:nvSpPr>
        <p:spPr>
          <a:xfrm>
            <a:off x="380010" y="1481446"/>
            <a:ext cx="8383980" cy="4525963"/>
          </a:xfrm>
          <a:prstGeom prst="rect">
            <a:avLst/>
          </a:prstGeom>
          <a:noFill/>
          <a:ln>
            <a:noFill/>
          </a:ln>
        </p:spPr>
        <p:txBody>
          <a:bodyPr spcFirstLastPara="1" wrap="square" lIns="91425" tIns="45700" rIns="91425" bIns="45700" anchor="t" anchorCtr="0"/>
          <a:lstStyle>
            <a:lvl1pPr marL="457200" lvl="0" indent="-406400" algn="l">
              <a:spcBef>
                <a:spcPts val="560"/>
              </a:spcBef>
              <a:spcAft>
                <a:spcPts val="0"/>
              </a:spcAft>
              <a:buSzPts val="2800"/>
              <a:buChar char="•"/>
              <a:defRPr>
                <a:latin typeface="Arial"/>
                <a:ea typeface="Arial"/>
                <a:cs typeface="Arial"/>
                <a:sym typeface="Arial"/>
              </a:defRPr>
            </a:lvl1pPr>
            <a:lvl2pPr marL="914400" lvl="1" indent="-381000" algn="l">
              <a:spcBef>
                <a:spcPts val="480"/>
              </a:spcBef>
              <a:spcAft>
                <a:spcPts val="0"/>
              </a:spcAft>
              <a:buSzPts val="2400"/>
              <a:buChar char="–"/>
              <a:defRPr>
                <a:latin typeface="Arial"/>
                <a:ea typeface="Arial"/>
                <a:cs typeface="Arial"/>
                <a:sym typeface="Arial"/>
              </a:defRPr>
            </a:lvl2pPr>
            <a:lvl3pPr marL="1371600" lvl="2" indent="-355600" algn="l">
              <a:spcBef>
                <a:spcPts val="400"/>
              </a:spcBef>
              <a:spcAft>
                <a:spcPts val="0"/>
              </a:spcAft>
              <a:buSzPts val="2000"/>
              <a:buChar char="•"/>
              <a:defRPr>
                <a:latin typeface="Arial"/>
                <a:ea typeface="Arial"/>
                <a:cs typeface="Arial"/>
                <a:sym typeface="Arial"/>
              </a:defRPr>
            </a:lvl3pPr>
            <a:lvl4pPr marL="1828800" lvl="3" indent="-342900" algn="l">
              <a:spcBef>
                <a:spcPts val="360"/>
              </a:spcBef>
              <a:spcAft>
                <a:spcPts val="0"/>
              </a:spcAft>
              <a:buSzPts val="1800"/>
              <a:buChar char="–"/>
              <a:defRPr>
                <a:latin typeface="Arial"/>
                <a:ea typeface="Arial"/>
                <a:cs typeface="Arial"/>
                <a:sym typeface="Arial"/>
              </a:defRPr>
            </a:lvl4pPr>
            <a:lvl5pPr marL="2286000" lvl="4" indent="-342900" algn="l">
              <a:spcBef>
                <a:spcPts val="360"/>
              </a:spcBef>
              <a:spcAft>
                <a:spcPts val="0"/>
              </a:spcAft>
              <a:buSzPts val="1800"/>
              <a:buChar char="»"/>
              <a:defRPr>
                <a:latin typeface="Arial"/>
                <a:ea typeface="Arial"/>
                <a:cs typeface="Arial"/>
                <a:sym typeface="Aria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59" name="Google Shape;59;p3"/>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Title Only" type="titleOnly">
  <p:cSld name="TITLE_ONLY">
    <p:spTree>
      <p:nvGrpSpPr>
        <p:cNvPr id="1" name="Shape 60"/>
        <p:cNvGrpSpPr/>
        <p:nvPr/>
      </p:nvGrpSpPr>
      <p:grpSpPr>
        <a:xfrm>
          <a:off x="0" y="0"/>
          <a:ext cx="0" cy="0"/>
          <a:chOff x="0" y="0"/>
          <a:chExt cx="0" cy="0"/>
        </a:xfrm>
      </p:grpSpPr>
      <p:sp>
        <p:nvSpPr>
          <p:cNvPr id="61" name="Google Shape;61;p4"/>
          <p:cNvSpPr/>
          <p:nvPr/>
        </p:nvSpPr>
        <p:spPr>
          <a:xfrm rot="10800000" flipH="1">
            <a:off x="0" y="1219200"/>
            <a:ext cx="9144000" cy="56388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2" name="Google Shape;62;p4"/>
          <p:cNvSpPr/>
          <p:nvPr/>
        </p:nvSpPr>
        <p:spPr>
          <a:xfrm>
            <a:off x="0" y="0"/>
            <a:ext cx="9144000" cy="1219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3" name="Google Shape;63;p4"/>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lstStyle>
            <a:lvl1pPr lvl="0" algn="l">
              <a:spcBef>
                <a:spcPts val="0"/>
              </a:spcBef>
              <a:spcAft>
                <a:spcPts val="0"/>
              </a:spcAft>
              <a:buClr>
                <a:schemeClr val="dk2"/>
              </a:buClr>
              <a:buSzPts val="2400"/>
              <a:buFont typeface="Arial"/>
              <a:buNone/>
              <a:defRPr>
                <a:solidFill>
                  <a:schemeClr val="dk2"/>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4"/>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grpSp>
        <p:nvGrpSpPr>
          <p:cNvPr id="65" name="Google Shape;65;p4"/>
          <p:cNvGrpSpPr/>
          <p:nvPr/>
        </p:nvGrpSpPr>
        <p:grpSpPr>
          <a:xfrm>
            <a:off x="7264458" y="365740"/>
            <a:ext cx="1553308" cy="487719"/>
            <a:chOff x="7264458" y="365740"/>
            <a:chExt cx="1553308" cy="487719"/>
          </a:xfrm>
        </p:grpSpPr>
        <p:sp>
          <p:nvSpPr>
            <p:cNvPr id="66" name="Google Shape;66;p4"/>
            <p:cNvSpPr/>
            <p:nvPr/>
          </p:nvSpPr>
          <p:spPr>
            <a:xfrm>
              <a:off x="7264458" y="705011"/>
              <a:ext cx="148988" cy="144669"/>
            </a:xfrm>
            <a:custGeom>
              <a:avLst/>
              <a:gdLst/>
              <a:ahLst/>
              <a:cxnLst/>
              <a:rect l="l" t="t" r="r" b="b"/>
              <a:pathLst>
                <a:path w="552" h="536" extrusionOk="0">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7" name="Google Shape;67;p4"/>
            <p:cNvSpPr/>
            <p:nvPr/>
          </p:nvSpPr>
          <p:spPr>
            <a:xfrm>
              <a:off x="7450153" y="705011"/>
              <a:ext cx="131714" cy="144669"/>
            </a:xfrm>
            <a:custGeom>
              <a:avLst/>
              <a:gdLst/>
              <a:ahLst/>
              <a:cxnLst/>
              <a:rect l="l" t="t" r="r" b="b"/>
              <a:pathLst>
                <a:path w="488" h="536" extrusionOk="0">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8" name="Google Shape;68;p4"/>
            <p:cNvSpPr/>
            <p:nvPr/>
          </p:nvSpPr>
          <p:spPr>
            <a:xfrm>
              <a:off x="7613446" y="705011"/>
              <a:ext cx="154116" cy="144669"/>
            </a:xfrm>
            <a:custGeom>
              <a:avLst/>
              <a:gdLst/>
              <a:ahLst/>
              <a:cxnLst/>
              <a:rect l="l" t="t" r="r" b="b"/>
              <a:pathLst>
                <a:path w="571" h="536" extrusionOk="0">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 name="Google Shape;69;p4"/>
            <p:cNvSpPr/>
            <p:nvPr/>
          </p:nvSpPr>
          <p:spPr>
            <a:xfrm>
              <a:off x="7767562" y="705011"/>
              <a:ext cx="173010" cy="144669"/>
            </a:xfrm>
            <a:custGeom>
              <a:avLst/>
              <a:gdLst/>
              <a:ahLst/>
              <a:cxnLst/>
              <a:rect l="l" t="t" r="r" b="b"/>
              <a:pathLst>
                <a:path w="641" h="536" extrusionOk="0">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0" name="Google Shape;70;p4"/>
            <p:cNvSpPr/>
            <p:nvPr/>
          </p:nvSpPr>
          <p:spPr>
            <a:xfrm>
              <a:off x="7934364" y="705011"/>
              <a:ext cx="157895" cy="144669"/>
            </a:xfrm>
            <a:custGeom>
              <a:avLst/>
              <a:gdLst/>
              <a:ahLst/>
              <a:cxnLst/>
              <a:rect l="l" t="t" r="r" b="b"/>
              <a:pathLst>
                <a:path w="585" h="536" extrusionOk="0">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1" name="Google Shape;71;p4"/>
            <p:cNvSpPr/>
            <p:nvPr/>
          </p:nvSpPr>
          <p:spPr>
            <a:xfrm>
              <a:off x="8122758" y="705011"/>
              <a:ext cx="154116" cy="148448"/>
            </a:xfrm>
            <a:custGeom>
              <a:avLst/>
              <a:gdLst/>
              <a:ahLst/>
              <a:cxnLst/>
              <a:rect l="l" t="t" r="r" b="b"/>
              <a:pathLst>
                <a:path w="571" h="550" extrusionOk="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2" name="Google Shape;72;p4"/>
            <p:cNvSpPr/>
            <p:nvPr/>
          </p:nvSpPr>
          <p:spPr>
            <a:xfrm>
              <a:off x="8321678" y="705011"/>
              <a:ext cx="148448" cy="144669"/>
            </a:xfrm>
            <a:custGeom>
              <a:avLst/>
              <a:gdLst/>
              <a:ahLst/>
              <a:cxnLst/>
              <a:rect l="l" t="t" r="r" b="b"/>
              <a:pathLst>
                <a:path w="550" h="536" extrusionOk="0">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3" name="Google Shape;73;p4"/>
            <p:cNvSpPr/>
            <p:nvPr/>
          </p:nvSpPr>
          <p:spPr>
            <a:xfrm>
              <a:off x="8507374" y="705011"/>
              <a:ext cx="131714" cy="144669"/>
            </a:xfrm>
            <a:custGeom>
              <a:avLst/>
              <a:gdLst/>
              <a:ahLst/>
              <a:cxnLst/>
              <a:rect l="l" t="t" r="r" b="b"/>
              <a:pathLst>
                <a:path w="488" h="536" extrusionOk="0">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4" name="Google Shape;74;p4"/>
            <p:cNvSpPr/>
            <p:nvPr/>
          </p:nvSpPr>
          <p:spPr>
            <a:xfrm>
              <a:off x="7785916" y="618911"/>
              <a:ext cx="25911" cy="24831"/>
            </a:xfrm>
            <a:custGeom>
              <a:avLst/>
              <a:gdLst/>
              <a:ahLst/>
              <a:cxnLst/>
              <a:rect l="l" t="t" r="r" b="b"/>
              <a:pathLst>
                <a:path w="96" h="92" extrusionOk="0">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5" name="Google Shape;75;p4"/>
            <p:cNvSpPr/>
            <p:nvPr/>
          </p:nvSpPr>
          <p:spPr>
            <a:xfrm>
              <a:off x="7868507" y="539289"/>
              <a:ext cx="37247" cy="44804"/>
            </a:xfrm>
            <a:custGeom>
              <a:avLst/>
              <a:gdLst/>
              <a:ahLst/>
              <a:cxnLst/>
              <a:rect l="l" t="t" r="r" b="b"/>
              <a:pathLst>
                <a:path w="138" h="166" extrusionOk="0">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6" name="Google Shape;76;p4"/>
            <p:cNvSpPr/>
            <p:nvPr/>
          </p:nvSpPr>
          <p:spPr>
            <a:xfrm>
              <a:off x="7965403" y="477481"/>
              <a:ext cx="37787" cy="69366"/>
            </a:xfrm>
            <a:custGeom>
              <a:avLst/>
              <a:gdLst/>
              <a:ahLst/>
              <a:cxnLst/>
              <a:rect l="l" t="t" r="r" b="b"/>
              <a:pathLst>
                <a:path w="140" h="257" extrusionOk="0">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7" name="Google Shape;77;p4"/>
            <p:cNvSpPr/>
            <p:nvPr/>
          </p:nvSpPr>
          <p:spPr>
            <a:xfrm>
              <a:off x="8070936" y="427548"/>
              <a:ext cx="32119" cy="95546"/>
            </a:xfrm>
            <a:custGeom>
              <a:avLst/>
              <a:gdLst/>
              <a:ahLst/>
              <a:cxnLst/>
              <a:rect l="l" t="t" r="r" b="b"/>
              <a:pathLst>
                <a:path w="119" h="354" extrusionOk="0">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8" name="Google Shape;78;p4"/>
            <p:cNvSpPr/>
            <p:nvPr/>
          </p:nvSpPr>
          <p:spPr>
            <a:xfrm>
              <a:off x="8178358" y="392731"/>
              <a:ext cx="29690" cy="119568"/>
            </a:xfrm>
            <a:custGeom>
              <a:avLst/>
              <a:gdLst/>
              <a:ahLst/>
              <a:cxnLst/>
              <a:rect l="l" t="t" r="r" b="b"/>
              <a:pathLst>
                <a:path w="110" h="443" extrusionOk="0">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9" name="Google Shape;79;p4"/>
            <p:cNvSpPr/>
            <p:nvPr/>
          </p:nvSpPr>
          <p:spPr>
            <a:xfrm>
              <a:off x="8280113" y="371948"/>
              <a:ext cx="46154" cy="141430"/>
            </a:xfrm>
            <a:custGeom>
              <a:avLst/>
              <a:gdLst/>
              <a:ahLst/>
              <a:cxnLst/>
              <a:rect l="l" t="t" r="r" b="b"/>
              <a:pathLst>
                <a:path w="171" h="524" extrusionOk="0">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0" name="Google Shape;80;p4"/>
            <p:cNvSpPr/>
            <p:nvPr/>
          </p:nvSpPr>
          <p:spPr>
            <a:xfrm>
              <a:off x="8379438" y="365740"/>
              <a:ext cx="68826" cy="161673"/>
            </a:xfrm>
            <a:custGeom>
              <a:avLst/>
              <a:gdLst/>
              <a:ahLst/>
              <a:cxnLst/>
              <a:rect l="l" t="t" r="r" b="b"/>
              <a:pathLst>
                <a:path w="255" h="599" extrusionOk="0">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1" name="Google Shape;81;p4"/>
            <p:cNvSpPr/>
            <p:nvPr/>
          </p:nvSpPr>
          <p:spPr>
            <a:xfrm>
              <a:off x="8477144" y="377076"/>
              <a:ext cx="95007" cy="176788"/>
            </a:xfrm>
            <a:custGeom>
              <a:avLst/>
              <a:gdLst/>
              <a:ahLst/>
              <a:cxnLst/>
              <a:rect l="l" t="t" r="r" b="b"/>
              <a:pathLst>
                <a:path w="352" h="655" extrusionOk="0">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2" name="Google Shape;82;p4"/>
            <p:cNvSpPr/>
            <p:nvPr/>
          </p:nvSpPr>
          <p:spPr>
            <a:xfrm>
              <a:off x="8573230" y="405416"/>
              <a:ext cx="122537" cy="187584"/>
            </a:xfrm>
            <a:custGeom>
              <a:avLst/>
              <a:gdLst/>
              <a:ahLst/>
              <a:cxnLst/>
              <a:rect l="l" t="t" r="r" b="b"/>
              <a:pathLst>
                <a:path w="454" h="695" extrusionOk="0">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3" name="Google Shape;83;p4"/>
            <p:cNvSpPr/>
            <p:nvPr/>
          </p:nvSpPr>
          <p:spPr>
            <a:xfrm>
              <a:off x="8663109" y="450760"/>
              <a:ext cx="154656" cy="193522"/>
            </a:xfrm>
            <a:custGeom>
              <a:avLst/>
              <a:gdLst/>
              <a:ahLst/>
              <a:cxnLst/>
              <a:rect l="l" t="t" r="r" b="b"/>
              <a:pathLst>
                <a:path w="573" h="717" extrusionOk="0">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84"/>
        <p:cNvGrpSpPr/>
        <p:nvPr/>
      </p:nvGrpSpPr>
      <p:grpSpPr>
        <a:xfrm>
          <a:off x="0" y="0"/>
          <a:ext cx="0" cy="0"/>
          <a:chOff x="0" y="0"/>
          <a:chExt cx="0" cy="0"/>
        </a:xfrm>
      </p:grpSpPr>
      <p:pic>
        <p:nvPicPr>
          <p:cNvPr id="85" name="Google Shape;85;p5"/>
          <p:cNvPicPr preferRelativeResize="0"/>
          <p:nvPr/>
        </p:nvPicPr>
        <p:blipFill rotWithShape="1">
          <a:blip r:embed="rId2">
            <a:alphaModFix/>
          </a:blip>
          <a:srcRect t="33085" b="1379"/>
          <a:stretch/>
        </p:blipFill>
        <p:spPr>
          <a:xfrm rot="10800000" flipH="1">
            <a:off x="0" y="0"/>
            <a:ext cx="9144000" cy="5030078"/>
          </a:xfrm>
          <a:prstGeom prst="rect">
            <a:avLst/>
          </a:prstGeom>
          <a:noFill/>
          <a:ln>
            <a:noFill/>
          </a:ln>
        </p:spPr>
      </p:pic>
      <p:grpSp>
        <p:nvGrpSpPr>
          <p:cNvPr id="86" name="Google Shape;86;p5"/>
          <p:cNvGrpSpPr/>
          <p:nvPr/>
        </p:nvGrpSpPr>
        <p:grpSpPr>
          <a:xfrm>
            <a:off x="496176" y="5451818"/>
            <a:ext cx="3105481" cy="975083"/>
            <a:chOff x="2814452" y="4625522"/>
            <a:chExt cx="5459889" cy="1714337"/>
          </a:xfrm>
        </p:grpSpPr>
        <p:sp>
          <p:nvSpPr>
            <p:cNvPr id="87" name="Google Shape;87;p5"/>
            <p:cNvSpPr/>
            <p:nvPr/>
          </p:nvSpPr>
          <p:spPr>
            <a:xfrm>
              <a:off x="2814452" y="5818063"/>
              <a:ext cx="523694" cy="508514"/>
            </a:xfrm>
            <a:custGeom>
              <a:avLst/>
              <a:gdLst/>
              <a:ahLst/>
              <a:cxnLst/>
              <a:rect l="l" t="t" r="r" b="b"/>
              <a:pathLst>
                <a:path w="552" h="536" extrusionOk="0">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8" name="Google Shape;88;p5"/>
            <p:cNvSpPr/>
            <p:nvPr/>
          </p:nvSpPr>
          <p:spPr>
            <a:xfrm>
              <a:off x="3467172" y="5818063"/>
              <a:ext cx="462976" cy="508514"/>
            </a:xfrm>
            <a:custGeom>
              <a:avLst/>
              <a:gdLst/>
              <a:ahLst/>
              <a:cxnLst/>
              <a:rect l="l" t="t" r="r" b="b"/>
              <a:pathLst>
                <a:path w="488" h="536" extrusionOk="0">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9" name="Google Shape;89;p5"/>
            <p:cNvSpPr/>
            <p:nvPr/>
          </p:nvSpPr>
          <p:spPr>
            <a:xfrm>
              <a:off x="4041148" y="5818063"/>
              <a:ext cx="541720" cy="508514"/>
            </a:xfrm>
            <a:custGeom>
              <a:avLst/>
              <a:gdLst/>
              <a:ahLst/>
              <a:cxnLst/>
              <a:rect l="l" t="t" r="r" b="b"/>
              <a:pathLst>
                <a:path w="571" h="536" extrusionOk="0">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0" name="Google Shape;90;p5"/>
            <p:cNvSpPr/>
            <p:nvPr/>
          </p:nvSpPr>
          <p:spPr>
            <a:xfrm>
              <a:off x="4582868" y="5818063"/>
              <a:ext cx="608130" cy="508514"/>
            </a:xfrm>
            <a:custGeom>
              <a:avLst/>
              <a:gdLst/>
              <a:ahLst/>
              <a:cxnLst/>
              <a:rect l="l" t="t" r="r" b="b"/>
              <a:pathLst>
                <a:path w="641" h="536" extrusionOk="0">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1" name="Google Shape;91;p5"/>
            <p:cNvSpPr/>
            <p:nvPr/>
          </p:nvSpPr>
          <p:spPr>
            <a:xfrm>
              <a:off x="5169177" y="5818063"/>
              <a:ext cx="555002" cy="508514"/>
            </a:xfrm>
            <a:custGeom>
              <a:avLst/>
              <a:gdLst/>
              <a:ahLst/>
              <a:cxnLst/>
              <a:rect l="l" t="t" r="r" b="b"/>
              <a:pathLst>
                <a:path w="585" h="536" extrusionOk="0">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2" name="Google Shape;92;p5"/>
            <p:cNvSpPr/>
            <p:nvPr/>
          </p:nvSpPr>
          <p:spPr>
            <a:xfrm>
              <a:off x="5831384" y="5818063"/>
              <a:ext cx="541720" cy="521796"/>
            </a:xfrm>
            <a:custGeom>
              <a:avLst/>
              <a:gdLst/>
              <a:ahLst/>
              <a:cxnLst/>
              <a:rect l="l" t="t" r="r" b="b"/>
              <a:pathLst>
                <a:path w="571" h="550" extrusionOk="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3" name="Google Shape;93;p5"/>
            <p:cNvSpPr/>
            <p:nvPr/>
          </p:nvSpPr>
          <p:spPr>
            <a:xfrm>
              <a:off x="6530592" y="5818063"/>
              <a:ext cx="521796" cy="508514"/>
            </a:xfrm>
            <a:custGeom>
              <a:avLst/>
              <a:gdLst/>
              <a:ahLst/>
              <a:cxnLst/>
              <a:rect l="l" t="t" r="r" b="b"/>
              <a:pathLst>
                <a:path w="550" h="536" extrusionOk="0">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4" name="Google Shape;94;p5"/>
            <p:cNvSpPr/>
            <p:nvPr/>
          </p:nvSpPr>
          <p:spPr>
            <a:xfrm>
              <a:off x="7183312" y="5818063"/>
              <a:ext cx="462976" cy="508514"/>
            </a:xfrm>
            <a:custGeom>
              <a:avLst/>
              <a:gdLst/>
              <a:ahLst/>
              <a:cxnLst/>
              <a:rect l="l" t="t" r="r" b="b"/>
              <a:pathLst>
                <a:path w="488" h="536" extrusionOk="0">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5" name="Google Shape;95;p5"/>
            <p:cNvSpPr/>
            <p:nvPr/>
          </p:nvSpPr>
          <p:spPr>
            <a:xfrm>
              <a:off x="4647381" y="5515421"/>
              <a:ext cx="91077" cy="87282"/>
            </a:xfrm>
            <a:custGeom>
              <a:avLst/>
              <a:gdLst/>
              <a:ahLst/>
              <a:cxnLst/>
              <a:rect l="l" t="t" r="r" b="b"/>
              <a:pathLst>
                <a:path w="96" h="92" extrusionOk="0">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6" name="Google Shape;96;p5"/>
            <p:cNvSpPr/>
            <p:nvPr/>
          </p:nvSpPr>
          <p:spPr>
            <a:xfrm>
              <a:off x="4937689" y="5235549"/>
              <a:ext cx="130923" cy="157487"/>
            </a:xfrm>
            <a:custGeom>
              <a:avLst/>
              <a:gdLst/>
              <a:ahLst/>
              <a:cxnLst/>
              <a:rect l="l" t="t" r="r" b="b"/>
              <a:pathLst>
                <a:path w="138" h="166" extrusionOk="0">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7" name="Google Shape;97;p5"/>
            <p:cNvSpPr/>
            <p:nvPr/>
          </p:nvSpPr>
          <p:spPr>
            <a:xfrm>
              <a:off x="5278280" y="5018292"/>
              <a:ext cx="132821" cy="243821"/>
            </a:xfrm>
            <a:custGeom>
              <a:avLst/>
              <a:gdLst/>
              <a:ahLst/>
              <a:cxnLst/>
              <a:rect l="l" t="t" r="r" b="b"/>
              <a:pathLst>
                <a:path w="140" h="257" extrusionOk="0">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8" name="Google Shape;98;p5"/>
            <p:cNvSpPr/>
            <p:nvPr/>
          </p:nvSpPr>
          <p:spPr>
            <a:xfrm>
              <a:off x="5649230" y="4842779"/>
              <a:ext cx="112898" cy="335847"/>
            </a:xfrm>
            <a:custGeom>
              <a:avLst/>
              <a:gdLst/>
              <a:ahLst/>
              <a:cxnLst/>
              <a:rect l="l" t="t" r="r" b="b"/>
              <a:pathLst>
                <a:path w="119" h="354" extrusionOk="0">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9" name="Google Shape;99;p5"/>
            <p:cNvSpPr/>
            <p:nvPr/>
          </p:nvSpPr>
          <p:spPr>
            <a:xfrm>
              <a:off x="6026821" y="4720394"/>
              <a:ext cx="104359" cy="420283"/>
            </a:xfrm>
            <a:custGeom>
              <a:avLst/>
              <a:gdLst/>
              <a:ahLst/>
              <a:cxnLst/>
              <a:rect l="l" t="t" r="r" b="b"/>
              <a:pathLst>
                <a:path w="110" h="443" extrusionOk="0">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0" name="Google Shape;100;p5"/>
            <p:cNvSpPr/>
            <p:nvPr/>
          </p:nvSpPr>
          <p:spPr>
            <a:xfrm>
              <a:off x="6384489" y="4647343"/>
              <a:ext cx="162232" cy="497129"/>
            </a:xfrm>
            <a:custGeom>
              <a:avLst/>
              <a:gdLst/>
              <a:ahLst/>
              <a:cxnLst/>
              <a:rect l="l" t="t" r="r" b="b"/>
              <a:pathLst>
                <a:path w="171" h="524" extrusionOk="0">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1" name="Google Shape;101;p5"/>
            <p:cNvSpPr/>
            <p:nvPr/>
          </p:nvSpPr>
          <p:spPr>
            <a:xfrm>
              <a:off x="6733618" y="4625522"/>
              <a:ext cx="241924" cy="568283"/>
            </a:xfrm>
            <a:custGeom>
              <a:avLst/>
              <a:gdLst/>
              <a:ahLst/>
              <a:cxnLst/>
              <a:rect l="l" t="t" r="r" b="b"/>
              <a:pathLst>
                <a:path w="255" h="599" extrusionOk="0">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2" name="Google Shape;102;p5"/>
            <p:cNvSpPr/>
            <p:nvPr/>
          </p:nvSpPr>
          <p:spPr>
            <a:xfrm>
              <a:off x="7077055" y="4665368"/>
              <a:ext cx="333950" cy="621412"/>
            </a:xfrm>
            <a:custGeom>
              <a:avLst/>
              <a:gdLst/>
              <a:ahLst/>
              <a:cxnLst/>
              <a:rect l="l" t="t" r="r" b="b"/>
              <a:pathLst>
                <a:path w="352" h="655" extrusionOk="0">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3" name="Google Shape;103;p5"/>
            <p:cNvSpPr/>
            <p:nvPr/>
          </p:nvSpPr>
          <p:spPr>
            <a:xfrm>
              <a:off x="7414800" y="4764984"/>
              <a:ext cx="430719" cy="659361"/>
            </a:xfrm>
            <a:custGeom>
              <a:avLst/>
              <a:gdLst/>
              <a:ahLst/>
              <a:cxnLst/>
              <a:rect l="l" t="t" r="r" b="b"/>
              <a:pathLst>
                <a:path w="454" h="695" extrusionOk="0">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4" name="Google Shape;104;p5"/>
            <p:cNvSpPr/>
            <p:nvPr/>
          </p:nvSpPr>
          <p:spPr>
            <a:xfrm>
              <a:off x="7730724" y="4924369"/>
              <a:ext cx="543617" cy="680232"/>
            </a:xfrm>
            <a:custGeom>
              <a:avLst/>
              <a:gdLst/>
              <a:ahLst/>
              <a:cxnLst/>
              <a:rect l="l" t="t" r="r" b="b"/>
              <a:pathLst>
                <a:path w="573" h="717" extrusionOk="0">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105" name="Google Shape;105;p5"/>
          <p:cNvSpPr txBox="1">
            <a:spLocks noGrp="1"/>
          </p:cNvSpPr>
          <p:nvPr>
            <p:ph type="ctrTitle"/>
          </p:nvPr>
        </p:nvSpPr>
        <p:spPr>
          <a:xfrm>
            <a:off x="496177" y="320634"/>
            <a:ext cx="6807148" cy="2543545"/>
          </a:xfrm>
          <a:prstGeom prst="rect">
            <a:avLst/>
          </a:prstGeom>
          <a:noFill/>
          <a:ln>
            <a:noFill/>
          </a:ln>
        </p:spPr>
        <p:txBody>
          <a:bodyPr spcFirstLastPara="1" wrap="square" lIns="91425" tIns="45700" rIns="91425" bIns="45700" anchor="b" anchorCtr="0"/>
          <a:lstStyle>
            <a:lvl1pPr lvl="0" algn="l">
              <a:lnSpc>
                <a:spcPct val="80000"/>
              </a:lnSpc>
              <a:spcBef>
                <a:spcPts val="0"/>
              </a:spcBef>
              <a:spcAft>
                <a:spcPts val="0"/>
              </a:spcAft>
              <a:buClr>
                <a:schemeClr val="lt1"/>
              </a:buClr>
              <a:buSzPts val="4400"/>
              <a:buFont typeface="Arial"/>
              <a:buNone/>
              <a:defRPr sz="44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6" name="Google Shape;106;p5"/>
          <p:cNvSpPr txBox="1">
            <a:spLocks noGrp="1"/>
          </p:cNvSpPr>
          <p:nvPr>
            <p:ph type="subTitle" idx="1"/>
          </p:nvPr>
        </p:nvSpPr>
        <p:spPr>
          <a:xfrm>
            <a:off x="496176" y="2924299"/>
            <a:ext cx="6814614" cy="1752600"/>
          </a:xfrm>
          <a:prstGeom prst="rect">
            <a:avLst/>
          </a:prstGeom>
          <a:noFill/>
          <a:ln>
            <a:noFill/>
          </a:ln>
        </p:spPr>
        <p:txBody>
          <a:bodyPr spcFirstLastPara="1" wrap="square" lIns="91425" tIns="45700" rIns="91425" bIns="45700" anchor="t" anchorCtr="0"/>
          <a:lstStyle>
            <a:lvl1pPr lvl="0" algn="l">
              <a:spcBef>
                <a:spcPts val="560"/>
              </a:spcBef>
              <a:spcAft>
                <a:spcPts val="0"/>
              </a:spcAft>
              <a:buSzPts val="2800"/>
              <a:buNone/>
              <a:defRPr>
                <a:solidFill>
                  <a:schemeClr val="dk2"/>
                </a:solidFill>
                <a:latin typeface="Arial"/>
                <a:ea typeface="Arial"/>
                <a:cs typeface="Arial"/>
                <a:sym typeface="Arial"/>
              </a:defRPr>
            </a:lvl1pPr>
            <a:lvl2pPr lvl="1" algn="ctr">
              <a:spcBef>
                <a:spcPts val="480"/>
              </a:spcBef>
              <a:spcAft>
                <a:spcPts val="0"/>
              </a:spcAft>
              <a:buSzPts val="2400"/>
              <a:buNone/>
              <a:defRPr>
                <a:solidFill>
                  <a:srgbClr val="888888"/>
                </a:solidFill>
              </a:defRPr>
            </a:lvl2pPr>
            <a:lvl3pPr lvl="2" algn="ctr">
              <a:spcBef>
                <a:spcPts val="400"/>
              </a:spcBef>
              <a:spcAft>
                <a:spcPts val="0"/>
              </a:spcAft>
              <a:buSzPts val="2000"/>
              <a:buNone/>
              <a:defRPr>
                <a:solidFill>
                  <a:srgbClr val="888888"/>
                </a:solidFill>
              </a:defRPr>
            </a:lvl3pPr>
            <a:lvl4pPr lvl="3" algn="ctr">
              <a:spcBef>
                <a:spcPts val="360"/>
              </a:spcBef>
              <a:spcAft>
                <a:spcPts val="0"/>
              </a:spcAft>
              <a:buSzPts val="1800"/>
              <a:buNone/>
              <a:defRPr>
                <a:solidFill>
                  <a:srgbClr val="888888"/>
                </a:solidFill>
              </a:defRPr>
            </a:lvl4pPr>
            <a:lvl5pPr lvl="4" algn="ctr">
              <a:spcBef>
                <a:spcPts val="360"/>
              </a:spcBef>
              <a:spcAft>
                <a:spcPts val="0"/>
              </a:spcAft>
              <a:buSzPts val="18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p:cSld name="section">
    <p:spTree>
      <p:nvGrpSpPr>
        <p:cNvPr id="1" name="Shape 107"/>
        <p:cNvGrpSpPr/>
        <p:nvPr/>
      </p:nvGrpSpPr>
      <p:grpSpPr>
        <a:xfrm>
          <a:off x="0" y="0"/>
          <a:ext cx="0" cy="0"/>
          <a:chOff x="0" y="0"/>
          <a:chExt cx="0" cy="0"/>
        </a:xfrm>
      </p:grpSpPr>
      <p:sp>
        <p:nvSpPr>
          <p:cNvPr id="108" name="Google Shape;108;p6"/>
          <p:cNvSpPr/>
          <p:nvPr/>
        </p:nvSpPr>
        <p:spPr>
          <a:xfrm>
            <a:off x="0" y="0"/>
            <a:ext cx="9144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09" name="Google Shape;109;p6"/>
          <p:cNvPicPr preferRelativeResize="0"/>
          <p:nvPr/>
        </p:nvPicPr>
        <p:blipFill rotWithShape="1">
          <a:blip r:embed="rId2">
            <a:alphaModFix/>
          </a:blip>
          <a:srcRect t="67499" b="6701"/>
          <a:stretch/>
        </p:blipFill>
        <p:spPr>
          <a:xfrm rot="10800000" flipH="1">
            <a:off x="0" y="1740436"/>
            <a:ext cx="9144000" cy="1502227"/>
          </a:xfrm>
          <a:prstGeom prst="rect">
            <a:avLst/>
          </a:prstGeom>
          <a:noFill/>
          <a:ln>
            <a:noFill/>
          </a:ln>
        </p:spPr>
      </p:pic>
      <p:pic>
        <p:nvPicPr>
          <p:cNvPr id="110" name="Google Shape;110;p6"/>
          <p:cNvPicPr preferRelativeResize="0"/>
          <p:nvPr/>
        </p:nvPicPr>
        <p:blipFill rotWithShape="1">
          <a:blip r:embed="rId3">
            <a:alphaModFix/>
          </a:blip>
          <a:srcRect t="24620" b="16130"/>
          <a:stretch/>
        </p:blipFill>
        <p:spPr>
          <a:xfrm flipH="1">
            <a:off x="2766" y="3242663"/>
            <a:ext cx="9144000" cy="3615334"/>
          </a:xfrm>
          <a:prstGeom prst="rect">
            <a:avLst/>
          </a:prstGeom>
          <a:noFill/>
          <a:ln>
            <a:noFill/>
          </a:ln>
        </p:spPr>
      </p:pic>
      <p:sp>
        <p:nvSpPr>
          <p:cNvPr id="111" name="Google Shape;111;p6"/>
          <p:cNvSpPr/>
          <p:nvPr/>
        </p:nvSpPr>
        <p:spPr>
          <a:xfrm>
            <a:off x="-3" y="0"/>
            <a:ext cx="9143999" cy="1740437"/>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112" name="Google Shape;112;p6"/>
          <p:cNvGrpSpPr/>
          <p:nvPr/>
        </p:nvGrpSpPr>
        <p:grpSpPr>
          <a:xfrm>
            <a:off x="496176" y="382676"/>
            <a:ext cx="3105481" cy="975083"/>
            <a:chOff x="2814452" y="4625522"/>
            <a:chExt cx="5459889" cy="1714337"/>
          </a:xfrm>
        </p:grpSpPr>
        <p:sp>
          <p:nvSpPr>
            <p:cNvPr id="113" name="Google Shape;113;p6"/>
            <p:cNvSpPr/>
            <p:nvPr/>
          </p:nvSpPr>
          <p:spPr>
            <a:xfrm>
              <a:off x="2814452" y="5818063"/>
              <a:ext cx="523694" cy="508514"/>
            </a:xfrm>
            <a:custGeom>
              <a:avLst/>
              <a:gdLst/>
              <a:ahLst/>
              <a:cxnLst/>
              <a:rect l="l" t="t" r="r" b="b"/>
              <a:pathLst>
                <a:path w="552" h="536" extrusionOk="0">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4" name="Google Shape;114;p6"/>
            <p:cNvSpPr/>
            <p:nvPr/>
          </p:nvSpPr>
          <p:spPr>
            <a:xfrm>
              <a:off x="3467172" y="5818063"/>
              <a:ext cx="462976" cy="508514"/>
            </a:xfrm>
            <a:custGeom>
              <a:avLst/>
              <a:gdLst/>
              <a:ahLst/>
              <a:cxnLst/>
              <a:rect l="l" t="t" r="r" b="b"/>
              <a:pathLst>
                <a:path w="488" h="536" extrusionOk="0">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5" name="Google Shape;115;p6"/>
            <p:cNvSpPr/>
            <p:nvPr/>
          </p:nvSpPr>
          <p:spPr>
            <a:xfrm>
              <a:off x="4041148" y="5818063"/>
              <a:ext cx="541720" cy="508514"/>
            </a:xfrm>
            <a:custGeom>
              <a:avLst/>
              <a:gdLst/>
              <a:ahLst/>
              <a:cxnLst/>
              <a:rect l="l" t="t" r="r" b="b"/>
              <a:pathLst>
                <a:path w="571" h="536" extrusionOk="0">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6" name="Google Shape;116;p6"/>
            <p:cNvSpPr/>
            <p:nvPr/>
          </p:nvSpPr>
          <p:spPr>
            <a:xfrm>
              <a:off x="4582868" y="5818063"/>
              <a:ext cx="608130" cy="508514"/>
            </a:xfrm>
            <a:custGeom>
              <a:avLst/>
              <a:gdLst/>
              <a:ahLst/>
              <a:cxnLst/>
              <a:rect l="l" t="t" r="r" b="b"/>
              <a:pathLst>
                <a:path w="641" h="536" extrusionOk="0">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7" name="Google Shape;117;p6"/>
            <p:cNvSpPr/>
            <p:nvPr/>
          </p:nvSpPr>
          <p:spPr>
            <a:xfrm>
              <a:off x="5169177" y="5818063"/>
              <a:ext cx="555002" cy="508514"/>
            </a:xfrm>
            <a:custGeom>
              <a:avLst/>
              <a:gdLst/>
              <a:ahLst/>
              <a:cxnLst/>
              <a:rect l="l" t="t" r="r" b="b"/>
              <a:pathLst>
                <a:path w="585" h="536" extrusionOk="0">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8" name="Google Shape;118;p6"/>
            <p:cNvSpPr/>
            <p:nvPr/>
          </p:nvSpPr>
          <p:spPr>
            <a:xfrm>
              <a:off x="5831384" y="5818063"/>
              <a:ext cx="541720" cy="521796"/>
            </a:xfrm>
            <a:custGeom>
              <a:avLst/>
              <a:gdLst/>
              <a:ahLst/>
              <a:cxnLst/>
              <a:rect l="l" t="t" r="r" b="b"/>
              <a:pathLst>
                <a:path w="571" h="550" extrusionOk="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9" name="Google Shape;119;p6"/>
            <p:cNvSpPr/>
            <p:nvPr/>
          </p:nvSpPr>
          <p:spPr>
            <a:xfrm>
              <a:off x="6530592" y="5818063"/>
              <a:ext cx="521796" cy="508514"/>
            </a:xfrm>
            <a:custGeom>
              <a:avLst/>
              <a:gdLst/>
              <a:ahLst/>
              <a:cxnLst/>
              <a:rect l="l" t="t" r="r" b="b"/>
              <a:pathLst>
                <a:path w="550" h="536" extrusionOk="0">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0" name="Google Shape;120;p6"/>
            <p:cNvSpPr/>
            <p:nvPr/>
          </p:nvSpPr>
          <p:spPr>
            <a:xfrm>
              <a:off x="7183312" y="5818063"/>
              <a:ext cx="462976" cy="508514"/>
            </a:xfrm>
            <a:custGeom>
              <a:avLst/>
              <a:gdLst/>
              <a:ahLst/>
              <a:cxnLst/>
              <a:rect l="l" t="t" r="r" b="b"/>
              <a:pathLst>
                <a:path w="488" h="536" extrusionOk="0">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1" name="Google Shape;121;p6"/>
            <p:cNvSpPr/>
            <p:nvPr/>
          </p:nvSpPr>
          <p:spPr>
            <a:xfrm>
              <a:off x="4647381" y="5515421"/>
              <a:ext cx="91077" cy="87282"/>
            </a:xfrm>
            <a:custGeom>
              <a:avLst/>
              <a:gdLst/>
              <a:ahLst/>
              <a:cxnLst/>
              <a:rect l="l" t="t" r="r" b="b"/>
              <a:pathLst>
                <a:path w="96" h="92" extrusionOk="0">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2" name="Google Shape;122;p6"/>
            <p:cNvSpPr/>
            <p:nvPr/>
          </p:nvSpPr>
          <p:spPr>
            <a:xfrm>
              <a:off x="4937689" y="5235549"/>
              <a:ext cx="130923" cy="157487"/>
            </a:xfrm>
            <a:custGeom>
              <a:avLst/>
              <a:gdLst/>
              <a:ahLst/>
              <a:cxnLst/>
              <a:rect l="l" t="t" r="r" b="b"/>
              <a:pathLst>
                <a:path w="138" h="166" extrusionOk="0">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3" name="Google Shape;123;p6"/>
            <p:cNvSpPr/>
            <p:nvPr/>
          </p:nvSpPr>
          <p:spPr>
            <a:xfrm>
              <a:off x="5278280" y="5018292"/>
              <a:ext cx="132821" cy="243821"/>
            </a:xfrm>
            <a:custGeom>
              <a:avLst/>
              <a:gdLst/>
              <a:ahLst/>
              <a:cxnLst/>
              <a:rect l="l" t="t" r="r" b="b"/>
              <a:pathLst>
                <a:path w="140" h="257" extrusionOk="0">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4" name="Google Shape;124;p6"/>
            <p:cNvSpPr/>
            <p:nvPr/>
          </p:nvSpPr>
          <p:spPr>
            <a:xfrm>
              <a:off x="5649230" y="4842779"/>
              <a:ext cx="112898" cy="335847"/>
            </a:xfrm>
            <a:custGeom>
              <a:avLst/>
              <a:gdLst/>
              <a:ahLst/>
              <a:cxnLst/>
              <a:rect l="l" t="t" r="r" b="b"/>
              <a:pathLst>
                <a:path w="119" h="354" extrusionOk="0">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5" name="Google Shape;125;p6"/>
            <p:cNvSpPr/>
            <p:nvPr/>
          </p:nvSpPr>
          <p:spPr>
            <a:xfrm>
              <a:off x="6026821" y="4720394"/>
              <a:ext cx="104359" cy="420283"/>
            </a:xfrm>
            <a:custGeom>
              <a:avLst/>
              <a:gdLst/>
              <a:ahLst/>
              <a:cxnLst/>
              <a:rect l="l" t="t" r="r" b="b"/>
              <a:pathLst>
                <a:path w="110" h="443" extrusionOk="0">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6" name="Google Shape;126;p6"/>
            <p:cNvSpPr/>
            <p:nvPr/>
          </p:nvSpPr>
          <p:spPr>
            <a:xfrm>
              <a:off x="6384489" y="4647343"/>
              <a:ext cx="162232" cy="497129"/>
            </a:xfrm>
            <a:custGeom>
              <a:avLst/>
              <a:gdLst/>
              <a:ahLst/>
              <a:cxnLst/>
              <a:rect l="l" t="t" r="r" b="b"/>
              <a:pathLst>
                <a:path w="171" h="524" extrusionOk="0">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7" name="Google Shape;127;p6"/>
            <p:cNvSpPr/>
            <p:nvPr/>
          </p:nvSpPr>
          <p:spPr>
            <a:xfrm>
              <a:off x="6733618" y="4625522"/>
              <a:ext cx="241924" cy="568283"/>
            </a:xfrm>
            <a:custGeom>
              <a:avLst/>
              <a:gdLst/>
              <a:ahLst/>
              <a:cxnLst/>
              <a:rect l="l" t="t" r="r" b="b"/>
              <a:pathLst>
                <a:path w="255" h="599" extrusionOk="0">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8" name="Google Shape;128;p6"/>
            <p:cNvSpPr/>
            <p:nvPr/>
          </p:nvSpPr>
          <p:spPr>
            <a:xfrm>
              <a:off x="7077055" y="4665368"/>
              <a:ext cx="333950" cy="621412"/>
            </a:xfrm>
            <a:custGeom>
              <a:avLst/>
              <a:gdLst/>
              <a:ahLst/>
              <a:cxnLst/>
              <a:rect l="l" t="t" r="r" b="b"/>
              <a:pathLst>
                <a:path w="352" h="655" extrusionOk="0">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9" name="Google Shape;129;p6"/>
            <p:cNvSpPr/>
            <p:nvPr/>
          </p:nvSpPr>
          <p:spPr>
            <a:xfrm>
              <a:off x="7414800" y="4764984"/>
              <a:ext cx="430719" cy="659361"/>
            </a:xfrm>
            <a:custGeom>
              <a:avLst/>
              <a:gdLst/>
              <a:ahLst/>
              <a:cxnLst/>
              <a:rect l="l" t="t" r="r" b="b"/>
              <a:pathLst>
                <a:path w="454" h="695" extrusionOk="0">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0" name="Google Shape;130;p6"/>
            <p:cNvSpPr/>
            <p:nvPr/>
          </p:nvSpPr>
          <p:spPr>
            <a:xfrm>
              <a:off x="7730724" y="4924369"/>
              <a:ext cx="543617" cy="680232"/>
            </a:xfrm>
            <a:custGeom>
              <a:avLst/>
              <a:gdLst/>
              <a:ahLst/>
              <a:cxnLst/>
              <a:rect l="l" t="t" r="r" b="b"/>
              <a:pathLst>
                <a:path w="573" h="717" extrusionOk="0">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131" name="Google Shape;131;p6"/>
          <p:cNvSpPr txBox="1">
            <a:spLocks noGrp="1"/>
          </p:cNvSpPr>
          <p:nvPr>
            <p:ph type="body" idx="1"/>
          </p:nvPr>
        </p:nvSpPr>
        <p:spPr>
          <a:xfrm>
            <a:off x="323135" y="1846263"/>
            <a:ext cx="8441453" cy="1241425"/>
          </a:xfrm>
          <a:prstGeom prst="rect">
            <a:avLst/>
          </a:prstGeom>
          <a:noFill/>
          <a:ln>
            <a:noFill/>
          </a:ln>
        </p:spPr>
        <p:txBody>
          <a:bodyPr spcFirstLastPara="1" wrap="square" lIns="91425" tIns="45700" rIns="91425" bIns="45700" anchor="ctr" anchorCtr="0"/>
          <a:lstStyle>
            <a:lvl1pPr marL="457200" lvl="0" indent="-228600" algn="l">
              <a:spcBef>
                <a:spcPts val="800"/>
              </a:spcBef>
              <a:spcAft>
                <a:spcPts val="0"/>
              </a:spcAft>
              <a:buSzPts val="4000"/>
              <a:buNone/>
              <a:defRPr sz="4000" b="1">
                <a:solidFill>
                  <a:schemeClr val="lt1"/>
                </a:solidFill>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300"/>
                                  </p:stCondLst>
                                  <p:childTnLst>
                                    <p:set>
                                      <p:cBhvr>
                                        <p:cTn id="6" dur="1" fill="hold">
                                          <p:stCondLst>
                                            <p:cond delay="0"/>
                                          </p:stCondLst>
                                        </p:cTn>
                                        <p:tgtEl>
                                          <p:spTgt spid="110"/>
                                        </p:tgtEl>
                                        <p:attrNameLst>
                                          <p:attrName>style.visibility</p:attrName>
                                        </p:attrNameLst>
                                      </p:cBhvr>
                                      <p:to>
                                        <p:strVal val="visible"/>
                                      </p:to>
                                    </p:set>
                                    <p:anim calcmode="lin" valueType="num">
                                      <p:cBhvr additive="base">
                                        <p:cTn id="7" dur="750"/>
                                        <p:tgtEl>
                                          <p:spTgt spid="110"/>
                                        </p:tgtEl>
                                        <p:attrNameLst>
                                          <p:attrName>ppt_x</p:attrName>
                                        </p:attrNameLst>
                                      </p:cBhvr>
                                      <p:tavLst>
                                        <p:tav tm="0">
                                          <p:val>
                                            <p:strVal val="#ppt_x-1"/>
                                          </p:val>
                                        </p:tav>
                                        <p:tav tm="100000">
                                          <p:val>
                                            <p:strVal val="#ppt_x"/>
                                          </p:val>
                                        </p:tav>
                                      </p:tavLst>
                                    </p:anim>
                                  </p:childTnLst>
                                </p:cTn>
                              </p:par>
                              <p:par>
                                <p:cTn id="8" presetID="2" presetClass="entr" presetSubtype="1" fill="hold" nodeType="withEffect">
                                  <p:stCondLst>
                                    <p:cond delay="0"/>
                                  </p:stCondLst>
                                  <p:childTnLst>
                                    <p:set>
                                      <p:cBhvr>
                                        <p:cTn id="9" dur="1" fill="hold">
                                          <p:stCondLst>
                                            <p:cond delay="0"/>
                                          </p:stCondLst>
                                        </p:cTn>
                                        <p:tgtEl>
                                          <p:spTgt spid="109"/>
                                        </p:tgtEl>
                                        <p:attrNameLst>
                                          <p:attrName>style.visibility</p:attrName>
                                        </p:attrNameLst>
                                      </p:cBhvr>
                                      <p:to>
                                        <p:strVal val="visible"/>
                                      </p:to>
                                    </p:set>
                                    <p:anim calcmode="lin" valueType="num">
                                      <p:cBhvr additive="base">
                                        <p:cTn id="10" dur="750"/>
                                        <p:tgtEl>
                                          <p:spTgt spid="10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2">
  <p:cSld name="section 2">
    <p:spTree>
      <p:nvGrpSpPr>
        <p:cNvPr id="1" name="Shape 132"/>
        <p:cNvGrpSpPr/>
        <p:nvPr/>
      </p:nvGrpSpPr>
      <p:grpSpPr>
        <a:xfrm>
          <a:off x="0" y="0"/>
          <a:ext cx="0" cy="0"/>
          <a:chOff x="0" y="0"/>
          <a:chExt cx="0" cy="0"/>
        </a:xfrm>
      </p:grpSpPr>
      <p:pic>
        <p:nvPicPr>
          <p:cNvPr id="133" name="Google Shape;133;p7"/>
          <p:cNvPicPr preferRelativeResize="0"/>
          <p:nvPr/>
        </p:nvPicPr>
        <p:blipFill rotWithShape="1">
          <a:blip r:embed="rId2">
            <a:alphaModFix/>
          </a:blip>
          <a:srcRect l="6614" t="2065" r="80083" b="1471"/>
          <a:stretch/>
        </p:blipFill>
        <p:spPr>
          <a:xfrm rot="5400000">
            <a:off x="3820885" y="-2080448"/>
            <a:ext cx="1502227" cy="9143997"/>
          </a:xfrm>
          <a:prstGeom prst="rect">
            <a:avLst/>
          </a:prstGeom>
          <a:noFill/>
          <a:ln>
            <a:noFill/>
          </a:ln>
        </p:spPr>
      </p:pic>
      <p:pic>
        <p:nvPicPr>
          <p:cNvPr id="134" name="Google Shape;134;p7"/>
          <p:cNvPicPr preferRelativeResize="0"/>
          <p:nvPr/>
        </p:nvPicPr>
        <p:blipFill rotWithShape="1">
          <a:blip r:embed="rId3">
            <a:alphaModFix/>
          </a:blip>
          <a:srcRect t="20282" b="20282"/>
          <a:stretch/>
        </p:blipFill>
        <p:spPr>
          <a:xfrm>
            <a:off x="0" y="3242662"/>
            <a:ext cx="9144000" cy="3623223"/>
          </a:xfrm>
          <a:prstGeom prst="rect">
            <a:avLst/>
          </a:prstGeom>
          <a:noFill/>
          <a:ln>
            <a:noFill/>
          </a:ln>
        </p:spPr>
      </p:pic>
      <p:sp>
        <p:nvSpPr>
          <p:cNvPr id="135" name="Google Shape;135;p7"/>
          <p:cNvSpPr/>
          <p:nvPr/>
        </p:nvSpPr>
        <p:spPr>
          <a:xfrm>
            <a:off x="-3" y="0"/>
            <a:ext cx="9143999" cy="1740437"/>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136" name="Google Shape;136;p7"/>
          <p:cNvGrpSpPr/>
          <p:nvPr/>
        </p:nvGrpSpPr>
        <p:grpSpPr>
          <a:xfrm>
            <a:off x="496176" y="382676"/>
            <a:ext cx="3105481" cy="975083"/>
            <a:chOff x="2814452" y="4625522"/>
            <a:chExt cx="5459889" cy="1714337"/>
          </a:xfrm>
        </p:grpSpPr>
        <p:sp>
          <p:nvSpPr>
            <p:cNvPr id="137" name="Google Shape;137;p7"/>
            <p:cNvSpPr/>
            <p:nvPr/>
          </p:nvSpPr>
          <p:spPr>
            <a:xfrm>
              <a:off x="2814452" y="5818063"/>
              <a:ext cx="523694" cy="508514"/>
            </a:xfrm>
            <a:custGeom>
              <a:avLst/>
              <a:gdLst/>
              <a:ahLst/>
              <a:cxnLst/>
              <a:rect l="l" t="t" r="r" b="b"/>
              <a:pathLst>
                <a:path w="552" h="536" extrusionOk="0">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8" name="Google Shape;138;p7"/>
            <p:cNvSpPr/>
            <p:nvPr/>
          </p:nvSpPr>
          <p:spPr>
            <a:xfrm>
              <a:off x="3467172" y="5818063"/>
              <a:ext cx="462976" cy="508514"/>
            </a:xfrm>
            <a:custGeom>
              <a:avLst/>
              <a:gdLst/>
              <a:ahLst/>
              <a:cxnLst/>
              <a:rect l="l" t="t" r="r" b="b"/>
              <a:pathLst>
                <a:path w="488" h="536" extrusionOk="0">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9" name="Google Shape;139;p7"/>
            <p:cNvSpPr/>
            <p:nvPr/>
          </p:nvSpPr>
          <p:spPr>
            <a:xfrm>
              <a:off x="4041148" y="5818063"/>
              <a:ext cx="541720" cy="508514"/>
            </a:xfrm>
            <a:custGeom>
              <a:avLst/>
              <a:gdLst/>
              <a:ahLst/>
              <a:cxnLst/>
              <a:rect l="l" t="t" r="r" b="b"/>
              <a:pathLst>
                <a:path w="571" h="536" extrusionOk="0">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0" name="Google Shape;140;p7"/>
            <p:cNvSpPr/>
            <p:nvPr/>
          </p:nvSpPr>
          <p:spPr>
            <a:xfrm>
              <a:off x="4582868" y="5818063"/>
              <a:ext cx="608130" cy="508514"/>
            </a:xfrm>
            <a:custGeom>
              <a:avLst/>
              <a:gdLst/>
              <a:ahLst/>
              <a:cxnLst/>
              <a:rect l="l" t="t" r="r" b="b"/>
              <a:pathLst>
                <a:path w="641" h="536" extrusionOk="0">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1" name="Google Shape;141;p7"/>
            <p:cNvSpPr/>
            <p:nvPr/>
          </p:nvSpPr>
          <p:spPr>
            <a:xfrm>
              <a:off x="5169177" y="5818063"/>
              <a:ext cx="555002" cy="508514"/>
            </a:xfrm>
            <a:custGeom>
              <a:avLst/>
              <a:gdLst/>
              <a:ahLst/>
              <a:cxnLst/>
              <a:rect l="l" t="t" r="r" b="b"/>
              <a:pathLst>
                <a:path w="585" h="536" extrusionOk="0">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2" name="Google Shape;142;p7"/>
            <p:cNvSpPr/>
            <p:nvPr/>
          </p:nvSpPr>
          <p:spPr>
            <a:xfrm>
              <a:off x="5831384" y="5818063"/>
              <a:ext cx="541720" cy="521796"/>
            </a:xfrm>
            <a:custGeom>
              <a:avLst/>
              <a:gdLst/>
              <a:ahLst/>
              <a:cxnLst/>
              <a:rect l="l" t="t" r="r" b="b"/>
              <a:pathLst>
                <a:path w="571" h="550" extrusionOk="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3" name="Google Shape;143;p7"/>
            <p:cNvSpPr/>
            <p:nvPr/>
          </p:nvSpPr>
          <p:spPr>
            <a:xfrm>
              <a:off x="6530592" y="5818063"/>
              <a:ext cx="521796" cy="508514"/>
            </a:xfrm>
            <a:custGeom>
              <a:avLst/>
              <a:gdLst/>
              <a:ahLst/>
              <a:cxnLst/>
              <a:rect l="l" t="t" r="r" b="b"/>
              <a:pathLst>
                <a:path w="550" h="536" extrusionOk="0">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4" name="Google Shape;144;p7"/>
            <p:cNvSpPr/>
            <p:nvPr/>
          </p:nvSpPr>
          <p:spPr>
            <a:xfrm>
              <a:off x="7183312" y="5818063"/>
              <a:ext cx="462976" cy="508514"/>
            </a:xfrm>
            <a:custGeom>
              <a:avLst/>
              <a:gdLst/>
              <a:ahLst/>
              <a:cxnLst/>
              <a:rect l="l" t="t" r="r" b="b"/>
              <a:pathLst>
                <a:path w="488" h="536" extrusionOk="0">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5" name="Google Shape;145;p7"/>
            <p:cNvSpPr/>
            <p:nvPr/>
          </p:nvSpPr>
          <p:spPr>
            <a:xfrm>
              <a:off x="4647381" y="5515421"/>
              <a:ext cx="91077" cy="87282"/>
            </a:xfrm>
            <a:custGeom>
              <a:avLst/>
              <a:gdLst/>
              <a:ahLst/>
              <a:cxnLst/>
              <a:rect l="l" t="t" r="r" b="b"/>
              <a:pathLst>
                <a:path w="96" h="92" extrusionOk="0">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6" name="Google Shape;146;p7"/>
            <p:cNvSpPr/>
            <p:nvPr/>
          </p:nvSpPr>
          <p:spPr>
            <a:xfrm>
              <a:off x="4937689" y="5235549"/>
              <a:ext cx="130923" cy="157487"/>
            </a:xfrm>
            <a:custGeom>
              <a:avLst/>
              <a:gdLst/>
              <a:ahLst/>
              <a:cxnLst/>
              <a:rect l="l" t="t" r="r" b="b"/>
              <a:pathLst>
                <a:path w="138" h="166" extrusionOk="0">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7" name="Google Shape;147;p7"/>
            <p:cNvSpPr/>
            <p:nvPr/>
          </p:nvSpPr>
          <p:spPr>
            <a:xfrm>
              <a:off x="5278280" y="5018292"/>
              <a:ext cx="132821" cy="243821"/>
            </a:xfrm>
            <a:custGeom>
              <a:avLst/>
              <a:gdLst/>
              <a:ahLst/>
              <a:cxnLst/>
              <a:rect l="l" t="t" r="r" b="b"/>
              <a:pathLst>
                <a:path w="140" h="257" extrusionOk="0">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8" name="Google Shape;148;p7"/>
            <p:cNvSpPr/>
            <p:nvPr/>
          </p:nvSpPr>
          <p:spPr>
            <a:xfrm>
              <a:off x="5649230" y="4842779"/>
              <a:ext cx="112898" cy="335847"/>
            </a:xfrm>
            <a:custGeom>
              <a:avLst/>
              <a:gdLst/>
              <a:ahLst/>
              <a:cxnLst/>
              <a:rect l="l" t="t" r="r" b="b"/>
              <a:pathLst>
                <a:path w="119" h="354" extrusionOk="0">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9" name="Google Shape;149;p7"/>
            <p:cNvSpPr/>
            <p:nvPr/>
          </p:nvSpPr>
          <p:spPr>
            <a:xfrm>
              <a:off x="6026821" y="4720394"/>
              <a:ext cx="104359" cy="420283"/>
            </a:xfrm>
            <a:custGeom>
              <a:avLst/>
              <a:gdLst/>
              <a:ahLst/>
              <a:cxnLst/>
              <a:rect l="l" t="t" r="r" b="b"/>
              <a:pathLst>
                <a:path w="110" h="443" extrusionOk="0">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0" name="Google Shape;150;p7"/>
            <p:cNvSpPr/>
            <p:nvPr/>
          </p:nvSpPr>
          <p:spPr>
            <a:xfrm>
              <a:off x="6384489" y="4647343"/>
              <a:ext cx="162232" cy="497129"/>
            </a:xfrm>
            <a:custGeom>
              <a:avLst/>
              <a:gdLst/>
              <a:ahLst/>
              <a:cxnLst/>
              <a:rect l="l" t="t" r="r" b="b"/>
              <a:pathLst>
                <a:path w="171" h="524" extrusionOk="0">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1" name="Google Shape;151;p7"/>
            <p:cNvSpPr/>
            <p:nvPr/>
          </p:nvSpPr>
          <p:spPr>
            <a:xfrm>
              <a:off x="6733618" y="4625522"/>
              <a:ext cx="241924" cy="568283"/>
            </a:xfrm>
            <a:custGeom>
              <a:avLst/>
              <a:gdLst/>
              <a:ahLst/>
              <a:cxnLst/>
              <a:rect l="l" t="t" r="r" b="b"/>
              <a:pathLst>
                <a:path w="255" h="599" extrusionOk="0">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2" name="Google Shape;152;p7"/>
            <p:cNvSpPr/>
            <p:nvPr/>
          </p:nvSpPr>
          <p:spPr>
            <a:xfrm>
              <a:off x="7077055" y="4665368"/>
              <a:ext cx="333950" cy="621412"/>
            </a:xfrm>
            <a:custGeom>
              <a:avLst/>
              <a:gdLst/>
              <a:ahLst/>
              <a:cxnLst/>
              <a:rect l="l" t="t" r="r" b="b"/>
              <a:pathLst>
                <a:path w="352" h="655" extrusionOk="0">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3" name="Google Shape;153;p7"/>
            <p:cNvSpPr/>
            <p:nvPr/>
          </p:nvSpPr>
          <p:spPr>
            <a:xfrm>
              <a:off x="7414800" y="4764984"/>
              <a:ext cx="430719" cy="659361"/>
            </a:xfrm>
            <a:custGeom>
              <a:avLst/>
              <a:gdLst/>
              <a:ahLst/>
              <a:cxnLst/>
              <a:rect l="l" t="t" r="r" b="b"/>
              <a:pathLst>
                <a:path w="454" h="695" extrusionOk="0">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4" name="Google Shape;154;p7"/>
            <p:cNvSpPr/>
            <p:nvPr/>
          </p:nvSpPr>
          <p:spPr>
            <a:xfrm>
              <a:off x="7730724" y="4924369"/>
              <a:ext cx="543617" cy="680232"/>
            </a:xfrm>
            <a:custGeom>
              <a:avLst/>
              <a:gdLst/>
              <a:ahLst/>
              <a:cxnLst/>
              <a:rect l="l" t="t" r="r" b="b"/>
              <a:pathLst>
                <a:path w="573" h="717" extrusionOk="0">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155" name="Google Shape;155;p7"/>
          <p:cNvSpPr txBox="1">
            <a:spLocks noGrp="1"/>
          </p:cNvSpPr>
          <p:nvPr>
            <p:ph type="body" idx="1"/>
          </p:nvPr>
        </p:nvSpPr>
        <p:spPr>
          <a:xfrm>
            <a:off x="323135" y="1846263"/>
            <a:ext cx="8441453" cy="1241425"/>
          </a:xfrm>
          <a:prstGeom prst="rect">
            <a:avLst/>
          </a:prstGeom>
          <a:noFill/>
          <a:ln>
            <a:noFill/>
          </a:ln>
        </p:spPr>
        <p:txBody>
          <a:bodyPr spcFirstLastPara="1" wrap="square" lIns="91425" tIns="45700" rIns="91425" bIns="45700" anchor="ctr" anchorCtr="0"/>
          <a:lstStyle>
            <a:lvl1pPr marL="457200" lvl="0" indent="-228600" algn="l">
              <a:spcBef>
                <a:spcPts val="800"/>
              </a:spcBef>
              <a:spcAft>
                <a:spcPts val="0"/>
              </a:spcAft>
              <a:buSzPts val="4000"/>
              <a:buNone/>
              <a:defRPr sz="4000" b="1">
                <a:solidFill>
                  <a:schemeClr val="lt1"/>
                </a:solidFill>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133"/>
                                        </p:tgtEl>
                                        <p:attrNameLst>
                                          <p:attrName>style.visibility</p:attrName>
                                        </p:attrNameLst>
                                      </p:cBhvr>
                                      <p:to>
                                        <p:strVal val="visible"/>
                                      </p:to>
                                    </p:set>
                                    <p:anim calcmode="lin" valueType="num">
                                      <p:cBhvr additive="base">
                                        <p:cTn id="7" dur="750"/>
                                        <p:tgtEl>
                                          <p:spTgt spid="133"/>
                                        </p:tgtEl>
                                        <p:attrNameLst>
                                          <p:attrName>ppt_y</p:attrName>
                                        </p:attrNameLst>
                                      </p:cBhvr>
                                      <p:tavLst>
                                        <p:tav tm="0">
                                          <p:val>
                                            <p:strVal val="#ppt_y-1"/>
                                          </p:val>
                                        </p:tav>
                                        <p:tav tm="100000">
                                          <p:val>
                                            <p:strVal val="#ppt_y"/>
                                          </p:val>
                                        </p:tav>
                                      </p:tavLst>
                                    </p:anim>
                                  </p:childTnLst>
                                </p:cTn>
                              </p:par>
                              <p:par>
                                <p:cTn id="8" presetID="2" presetClass="entr" presetSubtype="8" fill="hold" nodeType="withEffect">
                                  <p:stCondLst>
                                    <p:cond delay="300"/>
                                  </p:stCondLst>
                                  <p:childTnLst>
                                    <p:set>
                                      <p:cBhvr>
                                        <p:cTn id="9" dur="1" fill="hold">
                                          <p:stCondLst>
                                            <p:cond delay="0"/>
                                          </p:stCondLst>
                                        </p:cTn>
                                        <p:tgtEl>
                                          <p:spTgt spid="134"/>
                                        </p:tgtEl>
                                        <p:attrNameLst>
                                          <p:attrName>style.visibility</p:attrName>
                                        </p:attrNameLst>
                                      </p:cBhvr>
                                      <p:to>
                                        <p:strVal val="visible"/>
                                      </p:to>
                                    </p:set>
                                    <p:anim calcmode="lin" valueType="num">
                                      <p:cBhvr additive="base">
                                        <p:cTn id="10" dur="750"/>
                                        <p:tgtEl>
                                          <p:spTgt spid="134"/>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156"/>
        <p:cNvGrpSpPr/>
        <p:nvPr/>
      </p:nvGrpSpPr>
      <p:grpSpPr>
        <a:xfrm>
          <a:off x="0" y="0"/>
          <a:ext cx="0" cy="0"/>
          <a:chOff x="0" y="0"/>
          <a:chExt cx="0" cy="0"/>
        </a:xfrm>
      </p:grpSpPr>
      <p:sp>
        <p:nvSpPr>
          <p:cNvPr id="157" name="Google Shape;157;p8"/>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lstStyle>
            <a:lvl1pPr lvl="0" algn="l">
              <a:spcBef>
                <a:spcPts val="0"/>
              </a:spcBef>
              <a:spcAft>
                <a:spcPts val="0"/>
              </a:spcAft>
              <a:buClr>
                <a:schemeClr val="lt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8" name="Google Shape;158;p8"/>
          <p:cNvSpPr txBox="1">
            <a:spLocks noGrp="1"/>
          </p:cNvSpPr>
          <p:nvPr>
            <p:ph type="body" idx="1"/>
          </p:nvPr>
        </p:nvSpPr>
        <p:spPr>
          <a:xfrm>
            <a:off x="380010" y="1481446"/>
            <a:ext cx="4009110" cy="4525963"/>
          </a:xfrm>
          <a:prstGeom prst="rect">
            <a:avLst/>
          </a:prstGeom>
          <a:noFill/>
          <a:ln>
            <a:noFill/>
          </a:ln>
        </p:spPr>
        <p:txBody>
          <a:bodyPr spcFirstLastPara="1" wrap="square" lIns="91425" tIns="45700" rIns="91425" bIns="45700" anchor="t" anchorCtr="0"/>
          <a:lstStyle>
            <a:lvl1pPr marL="457200" lvl="0" indent="-406400" algn="l">
              <a:spcBef>
                <a:spcPts val="560"/>
              </a:spcBef>
              <a:spcAft>
                <a:spcPts val="0"/>
              </a:spcAft>
              <a:buSzPts val="2800"/>
              <a:buChar char="•"/>
              <a:defRPr>
                <a:latin typeface="Arial"/>
                <a:ea typeface="Arial"/>
                <a:cs typeface="Arial"/>
                <a:sym typeface="Arial"/>
              </a:defRPr>
            </a:lvl1pPr>
            <a:lvl2pPr marL="914400" lvl="1" indent="-381000" algn="l">
              <a:spcBef>
                <a:spcPts val="480"/>
              </a:spcBef>
              <a:spcAft>
                <a:spcPts val="0"/>
              </a:spcAft>
              <a:buSzPts val="2400"/>
              <a:buChar char="–"/>
              <a:defRPr>
                <a:latin typeface="Arial"/>
                <a:ea typeface="Arial"/>
                <a:cs typeface="Arial"/>
                <a:sym typeface="Arial"/>
              </a:defRPr>
            </a:lvl2pPr>
            <a:lvl3pPr marL="1371600" lvl="2" indent="-355600" algn="l">
              <a:spcBef>
                <a:spcPts val="400"/>
              </a:spcBef>
              <a:spcAft>
                <a:spcPts val="0"/>
              </a:spcAft>
              <a:buSzPts val="2000"/>
              <a:buChar char="•"/>
              <a:defRPr>
                <a:latin typeface="Arial"/>
                <a:ea typeface="Arial"/>
                <a:cs typeface="Arial"/>
                <a:sym typeface="Arial"/>
              </a:defRPr>
            </a:lvl3pPr>
            <a:lvl4pPr marL="1828800" lvl="3" indent="-342900" algn="l">
              <a:spcBef>
                <a:spcPts val="360"/>
              </a:spcBef>
              <a:spcAft>
                <a:spcPts val="0"/>
              </a:spcAft>
              <a:buSzPts val="1800"/>
              <a:buChar char="–"/>
              <a:defRPr>
                <a:latin typeface="Arial"/>
                <a:ea typeface="Arial"/>
                <a:cs typeface="Arial"/>
                <a:sym typeface="Arial"/>
              </a:defRPr>
            </a:lvl4pPr>
            <a:lvl5pPr marL="2286000" lvl="4" indent="-342900" algn="l">
              <a:spcBef>
                <a:spcPts val="360"/>
              </a:spcBef>
              <a:spcAft>
                <a:spcPts val="0"/>
              </a:spcAft>
              <a:buSzPts val="1800"/>
              <a:buChar char="»"/>
              <a:defRPr>
                <a:latin typeface="Arial"/>
                <a:ea typeface="Arial"/>
                <a:cs typeface="Arial"/>
                <a:sym typeface="Aria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59" name="Google Shape;159;p8"/>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a:solidFill>
                  <a:schemeClr val="accent2"/>
                </a:solidFill>
                <a:latin typeface="Arial"/>
                <a:ea typeface="Arial"/>
                <a:cs typeface="Arial"/>
                <a:sym typeface="Arial"/>
              </a:defRPr>
            </a:lvl1pPr>
            <a:lvl2pPr marL="0" lvl="1" indent="0" algn="r">
              <a:spcBef>
                <a:spcPts val="0"/>
              </a:spcBef>
              <a:buNone/>
              <a:defRPr sz="1200" b="1">
                <a:solidFill>
                  <a:schemeClr val="accent2"/>
                </a:solidFill>
                <a:latin typeface="Arial"/>
                <a:ea typeface="Arial"/>
                <a:cs typeface="Arial"/>
                <a:sym typeface="Arial"/>
              </a:defRPr>
            </a:lvl2pPr>
            <a:lvl3pPr marL="0" lvl="2" indent="0" algn="r">
              <a:spcBef>
                <a:spcPts val="0"/>
              </a:spcBef>
              <a:buNone/>
              <a:defRPr sz="1200" b="1">
                <a:solidFill>
                  <a:schemeClr val="accent2"/>
                </a:solidFill>
                <a:latin typeface="Arial"/>
                <a:ea typeface="Arial"/>
                <a:cs typeface="Arial"/>
                <a:sym typeface="Arial"/>
              </a:defRPr>
            </a:lvl3pPr>
            <a:lvl4pPr marL="0" lvl="3" indent="0" algn="r">
              <a:spcBef>
                <a:spcPts val="0"/>
              </a:spcBef>
              <a:buNone/>
              <a:defRPr sz="1200" b="1">
                <a:solidFill>
                  <a:schemeClr val="accent2"/>
                </a:solidFill>
                <a:latin typeface="Arial"/>
                <a:ea typeface="Arial"/>
                <a:cs typeface="Arial"/>
                <a:sym typeface="Arial"/>
              </a:defRPr>
            </a:lvl4pPr>
            <a:lvl5pPr marL="0" lvl="4" indent="0" algn="r">
              <a:spcBef>
                <a:spcPts val="0"/>
              </a:spcBef>
              <a:buNone/>
              <a:defRPr sz="1200" b="1">
                <a:solidFill>
                  <a:schemeClr val="accent2"/>
                </a:solidFill>
                <a:latin typeface="Arial"/>
                <a:ea typeface="Arial"/>
                <a:cs typeface="Arial"/>
                <a:sym typeface="Arial"/>
              </a:defRPr>
            </a:lvl5pPr>
            <a:lvl6pPr marL="0" lvl="5" indent="0" algn="r">
              <a:spcBef>
                <a:spcPts val="0"/>
              </a:spcBef>
              <a:buNone/>
              <a:defRPr sz="1200" b="1">
                <a:solidFill>
                  <a:schemeClr val="accent2"/>
                </a:solidFill>
                <a:latin typeface="Arial"/>
                <a:ea typeface="Arial"/>
                <a:cs typeface="Arial"/>
                <a:sym typeface="Arial"/>
              </a:defRPr>
            </a:lvl6pPr>
            <a:lvl7pPr marL="0" lvl="6" indent="0" algn="r">
              <a:spcBef>
                <a:spcPts val="0"/>
              </a:spcBef>
              <a:buNone/>
              <a:defRPr sz="1200" b="1">
                <a:solidFill>
                  <a:schemeClr val="accent2"/>
                </a:solidFill>
                <a:latin typeface="Arial"/>
                <a:ea typeface="Arial"/>
                <a:cs typeface="Arial"/>
                <a:sym typeface="Arial"/>
              </a:defRPr>
            </a:lvl7pPr>
            <a:lvl8pPr marL="0" lvl="7" indent="0" algn="r">
              <a:spcBef>
                <a:spcPts val="0"/>
              </a:spcBef>
              <a:buNone/>
              <a:defRPr sz="1200" b="1">
                <a:solidFill>
                  <a:schemeClr val="accent2"/>
                </a:solidFill>
                <a:latin typeface="Arial"/>
                <a:ea typeface="Arial"/>
                <a:cs typeface="Arial"/>
                <a:sym typeface="Arial"/>
              </a:defRPr>
            </a:lvl8pPr>
            <a:lvl9pPr marL="0" lvl="8" indent="0" algn="r">
              <a:spcBef>
                <a:spcPts val="0"/>
              </a:spcBef>
              <a:buNone/>
              <a:defRPr sz="1200" b="1">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60" name="Google Shape;160;p8"/>
          <p:cNvSpPr txBox="1">
            <a:spLocks noGrp="1"/>
          </p:cNvSpPr>
          <p:nvPr>
            <p:ph type="body" idx="2"/>
          </p:nvPr>
        </p:nvSpPr>
        <p:spPr>
          <a:xfrm>
            <a:off x="4644440" y="1481446"/>
            <a:ext cx="4009110" cy="4525963"/>
          </a:xfrm>
          <a:prstGeom prst="rect">
            <a:avLst/>
          </a:prstGeom>
          <a:noFill/>
          <a:ln>
            <a:noFill/>
          </a:ln>
        </p:spPr>
        <p:txBody>
          <a:bodyPr spcFirstLastPara="1" wrap="square" lIns="91425" tIns="45700" rIns="91425" bIns="45700" anchor="t" anchorCtr="0"/>
          <a:lstStyle>
            <a:lvl1pPr marL="457200" lvl="0" indent="-406400" algn="l">
              <a:spcBef>
                <a:spcPts val="560"/>
              </a:spcBef>
              <a:spcAft>
                <a:spcPts val="0"/>
              </a:spcAft>
              <a:buSzPts val="2800"/>
              <a:buChar char="•"/>
              <a:defRPr>
                <a:latin typeface="Arial"/>
                <a:ea typeface="Arial"/>
                <a:cs typeface="Arial"/>
                <a:sym typeface="Arial"/>
              </a:defRPr>
            </a:lvl1pPr>
            <a:lvl2pPr marL="914400" lvl="1" indent="-381000" algn="l">
              <a:spcBef>
                <a:spcPts val="480"/>
              </a:spcBef>
              <a:spcAft>
                <a:spcPts val="0"/>
              </a:spcAft>
              <a:buSzPts val="2400"/>
              <a:buChar char="–"/>
              <a:defRPr>
                <a:latin typeface="Arial"/>
                <a:ea typeface="Arial"/>
                <a:cs typeface="Arial"/>
                <a:sym typeface="Arial"/>
              </a:defRPr>
            </a:lvl2pPr>
            <a:lvl3pPr marL="1371600" lvl="2" indent="-355600" algn="l">
              <a:spcBef>
                <a:spcPts val="400"/>
              </a:spcBef>
              <a:spcAft>
                <a:spcPts val="0"/>
              </a:spcAft>
              <a:buSzPts val="2000"/>
              <a:buChar char="•"/>
              <a:defRPr>
                <a:latin typeface="Arial"/>
                <a:ea typeface="Arial"/>
                <a:cs typeface="Arial"/>
                <a:sym typeface="Arial"/>
              </a:defRPr>
            </a:lvl3pPr>
            <a:lvl4pPr marL="1828800" lvl="3" indent="-342900" algn="l">
              <a:spcBef>
                <a:spcPts val="360"/>
              </a:spcBef>
              <a:spcAft>
                <a:spcPts val="0"/>
              </a:spcAft>
              <a:buSzPts val="1800"/>
              <a:buChar char="–"/>
              <a:defRPr>
                <a:latin typeface="Arial"/>
                <a:ea typeface="Arial"/>
                <a:cs typeface="Arial"/>
                <a:sym typeface="Arial"/>
              </a:defRPr>
            </a:lvl4pPr>
            <a:lvl5pPr marL="2286000" lvl="4" indent="-342900" algn="l">
              <a:spcBef>
                <a:spcPts val="360"/>
              </a:spcBef>
              <a:spcAft>
                <a:spcPts val="0"/>
              </a:spcAft>
              <a:buSzPts val="1800"/>
              <a:buChar char="»"/>
              <a:defRPr>
                <a:latin typeface="Arial"/>
                <a:ea typeface="Arial"/>
                <a:cs typeface="Arial"/>
                <a:sym typeface="Aria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Title Only">
  <p:cSld name="Title Only">
    <p:spTree>
      <p:nvGrpSpPr>
        <p:cNvPr id="1" name="Shape 168"/>
        <p:cNvGrpSpPr/>
        <p:nvPr/>
      </p:nvGrpSpPr>
      <p:grpSpPr>
        <a:xfrm>
          <a:off x="0" y="0"/>
          <a:ext cx="0" cy="0"/>
          <a:chOff x="0" y="0"/>
          <a:chExt cx="0" cy="0"/>
        </a:xfrm>
      </p:grpSpPr>
      <p:pic>
        <p:nvPicPr>
          <p:cNvPr id="169" name="Google Shape;169;p10"/>
          <p:cNvPicPr preferRelativeResize="0"/>
          <p:nvPr/>
        </p:nvPicPr>
        <p:blipFill rotWithShape="1">
          <a:blip r:embed="rId2">
            <a:alphaModFix/>
          </a:blip>
          <a:srcRect t="91557" b="648"/>
          <a:stretch/>
        </p:blipFill>
        <p:spPr>
          <a:xfrm>
            <a:off x="-1" y="6259484"/>
            <a:ext cx="9144002" cy="598516"/>
          </a:xfrm>
          <a:prstGeom prst="rect">
            <a:avLst/>
          </a:prstGeom>
          <a:noFill/>
          <a:ln>
            <a:noFill/>
          </a:ln>
        </p:spPr>
      </p:pic>
      <p:sp>
        <p:nvSpPr>
          <p:cNvPr id="170" name="Google Shape;170;p10"/>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71" name="Google Shape;171;p10"/>
          <p:cNvSpPr txBox="1">
            <a:spLocks noGrp="1"/>
          </p:cNvSpPr>
          <p:nvPr>
            <p:ph type="body" idx="1"/>
          </p:nvPr>
        </p:nvSpPr>
        <p:spPr>
          <a:xfrm>
            <a:off x="157163" y="133350"/>
            <a:ext cx="8826500" cy="5951538"/>
          </a:xfrm>
          <a:prstGeom prst="rect">
            <a:avLst/>
          </a:prstGeom>
          <a:noFill/>
          <a:ln>
            <a:noFill/>
          </a:ln>
        </p:spPr>
        <p:txBody>
          <a:bodyPr spcFirstLastPara="1" wrap="square" lIns="91425" tIns="45700" rIns="91425" bIns="45700" anchor="t" anchorCtr="0"/>
          <a:lstStyle>
            <a:lvl1pPr marL="457200" lvl="0" indent="-228600" algn="l">
              <a:spcBef>
                <a:spcPts val="560"/>
              </a:spcBef>
              <a:spcAft>
                <a:spcPts val="0"/>
              </a:spcAft>
              <a:buSzPts val="2800"/>
              <a:buNone/>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 white">
  <p:cSld name="title only - white">
    <p:spTree>
      <p:nvGrpSpPr>
        <p:cNvPr id="1" name="Shape 172"/>
        <p:cNvGrpSpPr/>
        <p:nvPr/>
      </p:nvGrpSpPr>
      <p:grpSpPr>
        <a:xfrm>
          <a:off x="0" y="0"/>
          <a:ext cx="0" cy="0"/>
          <a:chOff x="0" y="0"/>
          <a:chExt cx="0" cy="0"/>
        </a:xfrm>
      </p:grpSpPr>
      <p:sp>
        <p:nvSpPr>
          <p:cNvPr id="173" name="Google Shape;173;p11"/>
          <p:cNvSpPr/>
          <p:nvPr/>
        </p:nvSpPr>
        <p:spPr>
          <a:xfrm>
            <a:off x="0" y="0"/>
            <a:ext cx="9144000" cy="1219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74" name="Google Shape;174;p11"/>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lstStyle>
            <a:lvl1pPr lvl="0" algn="l">
              <a:spcBef>
                <a:spcPts val="0"/>
              </a:spcBef>
              <a:spcAft>
                <a:spcPts val="0"/>
              </a:spcAft>
              <a:buClr>
                <a:schemeClr val="accent3"/>
              </a:buClr>
              <a:buSzPts val="2400"/>
              <a:buFont typeface="Arial"/>
              <a:buNone/>
              <a:defRPr>
                <a:solidFill>
                  <a:schemeClr val="accent3"/>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5" name="Google Shape;175;p11"/>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grpSp>
        <p:nvGrpSpPr>
          <p:cNvPr id="176" name="Google Shape;176;p11"/>
          <p:cNvGrpSpPr/>
          <p:nvPr/>
        </p:nvGrpSpPr>
        <p:grpSpPr>
          <a:xfrm>
            <a:off x="7264458" y="365740"/>
            <a:ext cx="1553308" cy="487719"/>
            <a:chOff x="7264458" y="365740"/>
            <a:chExt cx="1553308" cy="487719"/>
          </a:xfrm>
        </p:grpSpPr>
        <p:sp>
          <p:nvSpPr>
            <p:cNvPr id="177" name="Google Shape;177;p11"/>
            <p:cNvSpPr/>
            <p:nvPr/>
          </p:nvSpPr>
          <p:spPr>
            <a:xfrm>
              <a:off x="7264458" y="705011"/>
              <a:ext cx="148988" cy="144669"/>
            </a:xfrm>
            <a:custGeom>
              <a:avLst/>
              <a:gdLst/>
              <a:ahLst/>
              <a:cxnLst/>
              <a:rect l="l" t="t" r="r" b="b"/>
              <a:pathLst>
                <a:path w="552" h="536" extrusionOk="0">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8" name="Google Shape;178;p11"/>
            <p:cNvSpPr/>
            <p:nvPr/>
          </p:nvSpPr>
          <p:spPr>
            <a:xfrm>
              <a:off x="7450153" y="705011"/>
              <a:ext cx="131714" cy="144669"/>
            </a:xfrm>
            <a:custGeom>
              <a:avLst/>
              <a:gdLst/>
              <a:ahLst/>
              <a:cxnLst/>
              <a:rect l="l" t="t" r="r" b="b"/>
              <a:pathLst>
                <a:path w="488" h="536" extrusionOk="0">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9" name="Google Shape;179;p11"/>
            <p:cNvSpPr/>
            <p:nvPr/>
          </p:nvSpPr>
          <p:spPr>
            <a:xfrm>
              <a:off x="7613446" y="705011"/>
              <a:ext cx="154116" cy="144669"/>
            </a:xfrm>
            <a:custGeom>
              <a:avLst/>
              <a:gdLst/>
              <a:ahLst/>
              <a:cxnLst/>
              <a:rect l="l" t="t" r="r" b="b"/>
              <a:pathLst>
                <a:path w="571" h="536" extrusionOk="0">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0" name="Google Shape;180;p11"/>
            <p:cNvSpPr/>
            <p:nvPr/>
          </p:nvSpPr>
          <p:spPr>
            <a:xfrm>
              <a:off x="7767562" y="705011"/>
              <a:ext cx="173010" cy="144669"/>
            </a:xfrm>
            <a:custGeom>
              <a:avLst/>
              <a:gdLst/>
              <a:ahLst/>
              <a:cxnLst/>
              <a:rect l="l" t="t" r="r" b="b"/>
              <a:pathLst>
                <a:path w="641" h="536" extrusionOk="0">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1" name="Google Shape;181;p11"/>
            <p:cNvSpPr/>
            <p:nvPr/>
          </p:nvSpPr>
          <p:spPr>
            <a:xfrm>
              <a:off x="7934364" y="705011"/>
              <a:ext cx="157895" cy="144669"/>
            </a:xfrm>
            <a:custGeom>
              <a:avLst/>
              <a:gdLst/>
              <a:ahLst/>
              <a:cxnLst/>
              <a:rect l="l" t="t" r="r" b="b"/>
              <a:pathLst>
                <a:path w="585" h="536" extrusionOk="0">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2" name="Google Shape;182;p11"/>
            <p:cNvSpPr/>
            <p:nvPr/>
          </p:nvSpPr>
          <p:spPr>
            <a:xfrm>
              <a:off x="8122758" y="705011"/>
              <a:ext cx="154116" cy="148448"/>
            </a:xfrm>
            <a:custGeom>
              <a:avLst/>
              <a:gdLst/>
              <a:ahLst/>
              <a:cxnLst/>
              <a:rect l="l" t="t" r="r" b="b"/>
              <a:pathLst>
                <a:path w="571" h="550" extrusionOk="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3" name="Google Shape;183;p11"/>
            <p:cNvSpPr/>
            <p:nvPr/>
          </p:nvSpPr>
          <p:spPr>
            <a:xfrm>
              <a:off x="8321678" y="705011"/>
              <a:ext cx="148448" cy="144669"/>
            </a:xfrm>
            <a:custGeom>
              <a:avLst/>
              <a:gdLst/>
              <a:ahLst/>
              <a:cxnLst/>
              <a:rect l="l" t="t" r="r" b="b"/>
              <a:pathLst>
                <a:path w="550" h="536" extrusionOk="0">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4" name="Google Shape;184;p11"/>
            <p:cNvSpPr/>
            <p:nvPr/>
          </p:nvSpPr>
          <p:spPr>
            <a:xfrm>
              <a:off x="8507374" y="705011"/>
              <a:ext cx="131714" cy="144669"/>
            </a:xfrm>
            <a:custGeom>
              <a:avLst/>
              <a:gdLst/>
              <a:ahLst/>
              <a:cxnLst/>
              <a:rect l="l" t="t" r="r" b="b"/>
              <a:pathLst>
                <a:path w="488" h="536" extrusionOk="0">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5" name="Google Shape;185;p11"/>
            <p:cNvSpPr/>
            <p:nvPr/>
          </p:nvSpPr>
          <p:spPr>
            <a:xfrm>
              <a:off x="7785916" y="618911"/>
              <a:ext cx="25911" cy="24831"/>
            </a:xfrm>
            <a:custGeom>
              <a:avLst/>
              <a:gdLst/>
              <a:ahLst/>
              <a:cxnLst/>
              <a:rect l="l" t="t" r="r" b="b"/>
              <a:pathLst>
                <a:path w="96" h="92" extrusionOk="0">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6" name="Google Shape;186;p11"/>
            <p:cNvSpPr/>
            <p:nvPr/>
          </p:nvSpPr>
          <p:spPr>
            <a:xfrm>
              <a:off x="7868507" y="539289"/>
              <a:ext cx="37247" cy="44804"/>
            </a:xfrm>
            <a:custGeom>
              <a:avLst/>
              <a:gdLst/>
              <a:ahLst/>
              <a:cxnLst/>
              <a:rect l="l" t="t" r="r" b="b"/>
              <a:pathLst>
                <a:path w="138" h="166" extrusionOk="0">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7" name="Google Shape;187;p11"/>
            <p:cNvSpPr/>
            <p:nvPr/>
          </p:nvSpPr>
          <p:spPr>
            <a:xfrm>
              <a:off x="7965403" y="477481"/>
              <a:ext cx="37787" cy="69366"/>
            </a:xfrm>
            <a:custGeom>
              <a:avLst/>
              <a:gdLst/>
              <a:ahLst/>
              <a:cxnLst/>
              <a:rect l="l" t="t" r="r" b="b"/>
              <a:pathLst>
                <a:path w="140" h="257" extrusionOk="0">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8" name="Google Shape;188;p11"/>
            <p:cNvSpPr/>
            <p:nvPr/>
          </p:nvSpPr>
          <p:spPr>
            <a:xfrm>
              <a:off x="8070936" y="427548"/>
              <a:ext cx="32119" cy="95546"/>
            </a:xfrm>
            <a:custGeom>
              <a:avLst/>
              <a:gdLst/>
              <a:ahLst/>
              <a:cxnLst/>
              <a:rect l="l" t="t" r="r" b="b"/>
              <a:pathLst>
                <a:path w="119" h="354" extrusionOk="0">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9" name="Google Shape;189;p11"/>
            <p:cNvSpPr/>
            <p:nvPr/>
          </p:nvSpPr>
          <p:spPr>
            <a:xfrm>
              <a:off x="8178358" y="392731"/>
              <a:ext cx="29690" cy="119568"/>
            </a:xfrm>
            <a:custGeom>
              <a:avLst/>
              <a:gdLst/>
              <a:ahLst/>
              <a:cxnLst/>
              <a:rect l="l" t="t" r="r" b="b"/>
              <a:pathLst>
                <a:path w="110" h="443" extrusionOk="0">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0" name="Google Shape;190;p11"/>
            <p:cNvSpPr/>
            <p:nvPr/>
          </p:nvSpPr>
          <p:spPr>
            <a:xfrm>
              <a:off x="8280113" y="371948"/>
              <a:ext cx="46154" cy="141430"/>
            </a:xfrm>
            <a:custGeom>
              <a:avLst/>
              <a:gdLst/>
              <a:ahLst/>
              <a:cxnLst/>
              <a:rect l="l" t="t" r="r" b="b"/>
              <a:pathLst>
                <a:path w="171" h="524" extrusionOk="0">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1" name="Google Shape;191;p11"/>
            <p:cNvSpPr/>
            <p:nvPr/>
          </p:nvSpPr>
          <p:spPr>
            <a:xfrm>
              <a:off x="8379438" y="365740"/>
              <a:ext cx="68826" cy="161673"/>
            </a:xfrm>
            <a:custGeom>
              <a:avLst/>
              <a:gdLst/>
              <a:ahLst/>
              <a:cxnLst/>
              <a:rect l="l" t="t" r="r" b="b"/>
              <a:pathLst>
                <a:path w="255" h="599" extrusionOk="0">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2" name="Google Shape;192;p11"/>
            <p:cNvSpPr/>
            <p:nvPr/>
          </p:nvSpPr>
          <p:spPr>
            <a:xfrm>
              <a:off x="8477144" y="377076"/>
              <a:ext cx="95007" cy="176788"/>
            </a:xfrm>
            <a:custGeom>
              <a:avLst/>
              <a:gdLst/>
              <a:ahLst/>
              <a:cxnLst/>
              <a:rect l="l" t="t" r="r" b="b"/>
              <a:pathLst>
                <a:path w="352" h="655" extrusionOk="0">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3" name="Google Shape;193;p11"/>
            <p:cNvSpPr/>
            <p:nvPr/>
          </p:nvSpPr>
          <p:spPr>
            <a:xfrm>
              <a:off x="8573230" y="405416"/>
              <a:ext cx="122537" cy="187584"/>
            </a:xfrm>
            <a:custGeom>
              <a:avLst/>
              <a:gdLst/>
              <a:ahLst/>
              <a:cxnLst/>
              <a:rect l="l" t="t" r="r" b="b"/>
              <a:pathLst>
                <a:path w="454" h="695" extrusionOk="0">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4" name="Google Shape;194;p11"/>
            <p:cNvSpPr/>
            <p:nvPr/>
          </p:nvSpPr>
          <p:spPr>
            <a:xfrm>
              <a:off x="8663109" y="450760"/>
              <a:ext cx="154656" cy="193522"/>
            </a:xfrm>
            <a:custGeom>
              <a:avLst/>
              <a:gdLst/>
              <a:ahLst/>
              <a:cxnLst/>
              <a:rect l="l" t="t" r="r" b="b"/>
              <a:pathLst>
                <a:path w="573" h="717" extrusionOk="0">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3_Title Only">
  <p:cSld name="3_Title Only">
    <p:spTree>
      <p:nvGrpSpPr>
        <p:cNvPr id="1" name="Shape 195"/>
        <p:cNvGrpSpPr/>
        <p:nvPr/>
      </p:nvGrpSpPr>
      <p:grpSpPr>
        <a:xfrm>
          <a:off x="0" y="0"/>
          <a:ext cx="0" cy="0"/>
          <a:chOff x="0" y="0"/>
          <a:chExt cx="0" cy="0"/>
        </a:xfrm>
      </p:grpSpPr>
      <p:pic>
        <p:nvPicPr>
          <p:cNvPr id="196" name="Google Shape;196;p12"/>
          <p:cNvPicPr preferRelativeResize="0"/>
          <p:nvPr/>
        </p:nvPicPr>
        <p:blipFill rotWithShape="1">
          <a:blip r:embed="rId2">
            <a:alphaModFix/>
          </a:blip>
          <a:srcRect t="91557" b="648"/>
          <a:stretch/>
        </p:blipFill>
        <p:spPr>
          <a:xfrm>
            <a:off x="-1" y="6259484"/>
            <a:ext cx="9144002" cy="598516"/>
          </a:xfrm>
          <a:prstGeom prst="rect">
            <a:avLst/>
          </a:prstGeom>
          <a:noFill/>
          <a:ln>
            <a:noFill/>
          </a:ln>
        </p:spPr>
      </p:pic>
      <p:sp>
        <p:nvSpPr>
          <p:cNvPr id="197" name="Google Shape;197;p12"/>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98" name="Google Shape;198;p12"/>
          <p:cNvSpPr>
            <a:spLocks noGrp="1"/>
          </p:cNvSpPr>
          <p:nvPr>
            <p:ph type="dgm" idx="2"/>
          </p:nvPr>
        </p:nvSpPr>
        <p:spPr>
          <a:xfrm>
            <a:off x="133350" y="125413"/>
            <a:ext cx="8850313" cy="6008687"/>
          </a:xfrm>
          <a:prstGeom prst="rect">
            <a:avLst/>
          </a:prstGeom>
          <a:noFill/>
          <a:ln>
            <a:noFill/>
          </a:ln>
        </p:spPr>
        <p:txBody>
          <a:bodyPr spcFirstLastPara="1" wrap="square" lIns="91425" tIns="45700" rIns="91425" bIns="45700" anchor="t" anchorCtr="0"/>
          <a:lstStyle>
            <a:lvl1pPr marR="0" lvl="0" algn="l" rtl="0">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R="0" lvl="1" algn="l" rtl="0">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R="0" lvl="2" algn="l" rtl="0">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R="0" lvl="3" algn="l" rtl="0">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R="0" lvl="4" algn="l" rtl="0">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R="0" lvl="5"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05"/>
        <p:cNvGrpSpPr/>
        <p:nvPr/>
      </p:nvGrpSpPr>
      <p:grpSpPr>
        <a:xfrm>
          <a:off x="0" y="0"/>
          <a:ext cx="0" cy="0"/>
          <a:chOff x="0" y="0"/>
          <a:chExt cx="0" cy="0"/>
        </a:xfrm>
      </p:grpSpPr>
      <p:sp>
        <p:nvSpPr>
          <p:cNvPr id="206" name="Google Shape;206;p14"/>
          <p:cNvSpPr/>
          <p:nvPr/>
        </p:nvSpPr>
        <p:spPr>
          <a:xfrm>
            <a:off x="0" y="0"/>
            <a:ext cx="9144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07" name="Google Shape;207;p14"/>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Title Only" preserve="1" userDrawn="1">
  <p:cSld name="2_Title Only">
    <p:spTree>
      <p:nvGrpSpPr>
        <p:cNvPr id="1" name="Shape 168"/>
        <p:cNvGrpSpPr/>
        <p:nvPr/>
      </p:nvGrpSpPr>
      <p:grpSpPr>
        <a:xfrm>
          <a:off x="0" y="0"/>
          <a:ext cx="0" cy="0"/>
          <a:chOff x="0" y="0"/>
          <a:chExt cx="0" cy="0"/>
        </a:xfrm>
      </p:grpSpPr>
      <p:pic>
        <p:nvPicPr>
          <p:cNvPr id="169" name="Google Shape;169;p10"/>
          <p:cNvPicPr preferRelativeResize="0"/>
          <p:nvPr/>
        </p:nvPicPr>
        <p:blipFill rotWithShape="1">
          <a:blip r:embed="rId2">
            <a:alphaModFix/>
          </a:blip>
          <a:srcRect t="91557" b="648"/>
          <a:stretch/>
        </p:blipFill>
        <p:spPr>
          <a:xfrm>
            <a:off x="-1" y="6259484"/>
            <a:ext cx="9144002" cy="598516"/>
          </a:xfrm>
          <a:prstGeom prst="rect">
            <a:avLst/>
          </a:prstGeom>
          <a:noFill/>
          <a:ln>
            <a:noFill/>
          </a:ln>
        </p:spPr>
      </p:pic>
      <p:sp>
        <p:nvSpPr>
          <p:cNvPr id="170" name="Google Shape;170;p10"/>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 name="Title 1">
            <a:extLst>
              <a:ext uri="{FF2B5EF4-FFF2-40B4-BE49-F238E27FC236}">
                <a16:creationId xmlns:a16="http://schemas.microsoft.com/office/drawing/2014/main" id="{8A3E5519-BCE2-45F2-2CB8-0E6D0DAEE480}"/>
              </a:ext>
            </a:extLst>
          </p:cNvPr>
          <p:cNvSpPr>
            <a:spLocks noGrp="1"/>
          </p:cNvSpPr>
          <p:nvPr>
            <p:ph type="title"/>
          </p:nvPr>
        </p:nvSpPr>
        <p:spPr>
          <a:xfrm>
            <a:off x="1460664" y="2816925"/>
            <a:ext cx="6222671" cy="1224150"/>
          </a:xfrm>
        </p:spPr>
        <p:txBody>
          <a:bodyPr/>
          <a:lstStyle>
            <a:lvl1pPr algn="ctr">
              <a:defRPr baseline="0">
                <a:solidFill>
                  <a:schemeClr val="tx2"/>
                </a:solidFill>
                <a:latin typeface="Arial" panose="020B0604020202020204" pitchFamily="34" charset="0"/>
                <a:cs typeface="Arial" panose="020B0604020202020204" pitchFamily="34" charset="0"/>
              </a:defRPr>
            </a:lvl1pPr>
          </a:lstStyle>
          <a:p>
            <a:r>
              <a:rPr lang="en-US" dirty="0"/>
              <a:t>Click to edit Master title style</a:t>
            </a:r>
          </a:p>
        </p:txBody>
      </p:sp>
      <p:grpSp>
        <p:nvGrpSpPr>
          <p:cNvPr id="3" name="Group 2">
            <a:extLst>
              <a:ext uri="{FF2B5EF4-FFF2-40B4-BE49-F238E27FC236}">
                <a16:creationId xmlns:a16="http://schemas.microsoft.com/office/drawing/2014/main" id="{C619CA9B-AF8F-87A7-664B-F95C0134414C}"/>
              </a:ext>
            </a:extLst>
          </p:cNvPr>
          <p:cNvGrpSpPr/>
          <p:nvPr userDrawn="1"/>
        </p:nvGrpSpPr>
        <p:grpSpPr>
          <a:xfrm>
            <a:off x="6681759" y="0"/>
            <a:ext cx="2462241" cy="773113"/>
            <a:chOff x="7264458" y="365740"/>
            <a:chExt cx="1553307" cy="487719"/>
          </a:xfrm>
        </p:grpSpPr>
        <p:sp>
          <p:nvSpPr>
            <p:cNvPr id="4" name="Freeform 6">
              <a:extLst>
                <a:ext uri="{FF2B5EF4-FFF2-40B4-BE49-F238E27FC236}">
                  <a16:creationId xmlns:a16="http://schemas.microsoft.com/office/drawing/2014/main" id="{2A9D49A4-C029-2001-5A0F-3F2082CAD22E}"/>
                </a:ext>
              </a:extLst>
            </p:cNvPr>
            <p:cNvSpPr>
              <a:spLocks noEditPoints="1"/>
            </p:cNvSpPr>
            <p:nvPr userDrawn="1"/>
          </p:nvSpPr>
          <p:spPr bwMode="auto">
            <a:xfrm>
              <a:off x="7264458" y="705011"/>
              <a:ext cx="148988" cy="144669"/>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 name="Freeform 7">
              <a:extLst>
                <a:ext uri="{FF2B5EF4-FFF2-40B4-BE49-F238E27FC236}">
                  <a16:creationId xmlns:a16="http://schemas.microsoft.com/office/drawing/2014/main" id="{89A9B437-540E-333F-9B54-390C0EE61585}"/>
                </a:ext>
              </a:extLst>
            </p:cNvPr>
            <p:cNvSpPr>
              <a:spLocks/>
            </p:cNvSpPr>
            <p:nvPr userDrawn="1"/>
          </p:nvSpPr>
          <p:spPr bwMode="auto">
            <a:xfrm>
              <a:off x="7450153" y="705011"/>
              <a:ext cx="131714" cy="144669"/>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 name="Freeform 8">
              <a:extLst>
                <a:ext uri="{FF2B5EF4-FFF2-40B4-BE49-F238E27FC236}">
                  <a16:creationId xmlns:a16="http://schemas.microsoft.com/office/drawing/2014/main" id="{645A3999-205C-7640-E332-1C3336AC3CE2}"/>
                </a:ext>
              </a:extLst>
            </p:cNvPr>
            <p:cNvSpPr>
              <a:spLocks/>
            </p:cNvSpPr>
            <p:nvPr userDrawn="1"/>
          </p:nvSpPr>
          <p:spPr bwMode="auto">
            <a:xfrm>
              <a:off x="7613446" y="705011"/>
              <a:ext cx="154116" cy="144669"/>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 name="Freeform 9">
              <a:extLst>
                <a:ext uri="{FF2B5EF4-FFF2-40B4-BE49-F238E27FC236}">
                  <a16:creationId xmlns:a16="http://schemas.microsoft.com/office/drawing/2014/main" id="{B55F5EA6-ACB4-F73B-8708-83192579DBBB}"/>
                </a:ext>
              </a:extLst>
            </p:cNvPr>
            <p:cNvSpPr>
              <a:spLocks noEditPoints="1"/>
            </p:cNvSpPr>
            <p:nvPr userDrawn="1"/>
          </p:nvSpPr>
          <p:spPr bwMode="auto">
            <a:xfrm>
              <a:off x="7767562" y="705011"/>
              <a:ext cx="173010" cy="144669"/>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 name="Freeform 10">
              <a:extLst>
                <a:ext uri="{FF2B5EF4-FFF2-40B4-BE49-F238E27FC236}">
                  <a16:creationId xmlns:a16="http://schemas.microsoft.com/office/drawing/2014/main" id="{F2B4DF57-055A-A5B3-F9EA-D5A8751833BE}"/>
                </a:ext>
              </a:extLst>
            </p:cNvPr>
            <p:cNvSpPr>
              <a:spLocks/>
            </p:cNvSpPr>
            <p:nvPr userDrawn="1"/>
          </p:nvSpPr>
          <p:spPr bwMode="auto">
            <a:xfrm>
              <a:off x="7934364" y="705011"/>
              <a:ext cx="157895" cy="144669"/>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 name="Freeform 11">
              <a:extLst>
                <a:ext uri="{FF2B5EF4-FFF2-40B4-BE49-F238E27FC236}">
                  <a16:creationId xmlns:a16="http://schemas.microsoft.com/office/drawing/2014/main" id="{2D5EF9E0-0962-BE13-EA0D-E37FC7AD8645}"/>
                </a:ext>
              </a:extLst>
            </p:cNvPr>
            <p:cNvSpPr>
              <a:spLocks/>
            </p:cNvSpPr>
            <p:nvPr userDrawn="1"/>
          </p:nvSpPr>
          <p:spPr bwMode="auto">
            <a:xfrm>
              <a:off x="8122758" y="705011"/>
              <a:ext cx="154116" cy="148448"/>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12">
              <a:extLst>
                <a:ext uri="{FF2B5EF4-FFF2-40B4-BE49-F238E27FC236}">
                  <a16:creationId xmlns:a16="http://schemas.microsoft.com/office/drawing/2014/main" id="{EB24C6E3-9AC5-E695-8BED-7BE61A5CB631}"/>
                </a:ext>
              </a:extLst>
            </p:cNvPr>
            <p:cNvSpPr>
              <a:spLocks noEditPoints="1"/>
            </p:cNvSpPr>
            <p:nvPr userDrawn="1"/>
          </p:nvSpPr>
          <p:spPr bwMode="auto">
            <a:xfrm>
              <a:off x="8321678" y="705011"/>
              <a:ext cx="148448" cy="144669"/>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13">
              <a:extLst>
                <a:ext uri="{FF2B5EF4-FFF2-40B4-BE49-F238E27FC236}">
                  <a16:creationId xmlns:a16="http://schemas.microsoft.com/office/drawing/2014/main" id="{47756FA6-C29B-BFEB-7653-543BD807F2D1}"/>
                </a:ext>
              </a:extLst>
            </p:cNvPr>
            <p:cNvSpPr>
              <a:spLocks/>
            </p:cNvSpPr>
            <p:nvPr userDrawn="1"/>
          </p:nvSpPr>
          <p:spPr bwMode="auto">
            <a:xfrm>
              <a:off x="8507374" y="705011"/>
              <a:ext cx="131714" cy="144669"/>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14">
              <a:extLst>
                <a:ext uri="{FF2B5EF4-FFF2-40B4-BE49-F238E27FC236}">
                  <a16:creationId xmlns:a16="http://schemas.microsoft.com/office/drawing/2014/main" id="{38A89EE8-B866-AAED-26C2-BE18B4FBF047}"/>
                </a:ext>
              </a:extLst>
            </p:cNvPr>
            <p:cNvSpPr>
              <a:spLocks/>
            </p:cNvSpPr>
            <p:nvPr userDrawn="1"/>
          </p:nvSpPr>
          <p:spPr bwMode="auto">
            <a:xfrm>
              <a:off x="7785916" y="618911"/>
              <a:ext cx="25911" cy="24831"/>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5">
              <a:extLst>
                <a:ext uri="{FF2B5EF4-FFF2-40B4-BE49-F238E27FC236}">
                  <a16:creationId xmlns:a16="http://schemas.microsoft.com/office/drawing/2014/main" id="{5DB3E0E0-34C3-52AE-7CD3-F1AB984B2625}"/>
                </a:ext>
              </a:extLst>
            </p:cNvPr>
            <p:cNvSpPr>
              <a:spLocks/>
            </p:cNvSpPr>
            <p:nvPr userDrawn="1"/>
          </p:nvSpPr>
          <p:spPr bwMode="auto">
            <a:xfrm>
              <a:off x="7868507" y="539289"/>
              <a:ext cx="37247" cy="44804"/>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6">
              <a:extLst>
                <a:ext uri="{FF2B5EF4-FFF2-40B4-BE49-F238E27FC236}">
                  <a16:creationId xmlns:a16="http://schemas.microsoft.com/office/drawing/2014/main" id="{F6622341-E269-B3DE-12CB-68A866A7FB21}"/>
                </a:ext>
              </a:extLst>
            </p:cNvPr>
            <p:cNvSpPr>
              <a:spLocks/>
            </p:cNvSpPr>
            <p:nvPr userDrawn="1"/>
          </p:nvSpPr>
          <p:spPr bwMode="auto">
            <a:xfrm>
              <a:off x="7965403" y="477481"/>
              <a:ext cx="37787" cy="69366"/>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7">
              <a:extLst>
                <a:ext uri="{FF2B5EF4-FFF2-40B4-BE49-F238E27FC236}">
                  <a16:creationId xmlns:a16="http://schemas.microsoft.com/office/drawing/2014/main" id="{62B18E42-6F06-C998-AC7F-4559FE8283A9}"/>
                </a:ext>
              </a:extLst>
            </p:cNvPr>
            <p:cNvSpPr>
              <a:spLocks/>
            </p:cNvSpPr>
            <p:nvPr userDrawn="1"/>
          </p:nvSpPr>
          <p:spPr bwMode="auto">
            <a:xfrm>
              <a:off x="8070936" y="427548"/>
              <a:ext cx="32119" cy="95546"/>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8">
              <a:extLst>
                <a:ext uri="{FF2B5EF4-FFF2-40B4-BE49-F238E27FC236}">
                  <a16:creationId xmlns:a16="http://schemas.microsoft.com/office/drawing/2014/main" id="{9889642E-9A28-1238-56CF-BB1CC02E4B25}"/>
                </a:ext>
              </a:extLst>
            </p:cNvPr>
            <p:cNvSpPr>
              <a:spLocks/>
            </p:cNvSpPr>
            <p:nvPr userDrawn="1"/>
          </p:nvSpPr>
          <p:spPr bwMode="auto">
            <a:xfrm>
              <a:off x="8178358" y="392731"/>
              <a:ext cx="29690" cy="119568"/>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9">
              <a:extLst>
                <a:ext uri="{FF2B5EF4-FFF2-40B4-BE49-F238E27FC236}">
                  <a16:creationId xmlns:a16="http://schemas.microsoft.com/office/drawing/2014/main" id="{DB97D7BD-2CAD-CF0D-7625-C390C88021E8}"/>
                </a:ext>
              </a:extLst>
            </p:cNvPr>
            <p:cNvSpPr>
              <a:spLocks/>
            </p:cNvSpPr>
            <p:nvPr userDrawn="1"/>
          </p:nvSpPr>
          <p:spPr bwMode="auto">
            <a:xfrm>
              <a:off x="8280113" y="371948"/>
              <a:ext cx="46154" cy="14143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20">
              <a:extLst>
                <a:ext uri="{FF2B5EF4-FFF2-40B4-BE49-F238E27FC236}">
                  <a16:creationId xmlns:a16="http://schemas.microsoft.com/office/drawing/2014/main" id="{51BD1B0C-B2D3-C1B8-799E-D42AB3B0AA35}"/>
                </a:ext>
              </a:extLst>
            </p:cNvPr>
            <p:cNvSpPr>
              <a:spLocks/>
            </p:cNvSpPr>
            <p:nvPr userDrawn="1"/>
          </p:nvSpPr>
          <p:spPr bwMode="auto">
            <a:xfrm>
              <a:off x="8379438" y="365740"/>
              <a:ext cx="68826" cy="16167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21">
              <a:extLst>
                <a:ext uri="{FF2B5EF4-FFF2-40B4-BE49-F238E27FC236}">
                  <a16:creationId xmlns:a16="http://schemas.microsoft.com/office/drawing/2014/main" id="{403D9FBC-D098-4A6C-D21D-AD6C28E57C49}"/>
                </a:ext>
              </a:extLst>
            </p:cNvPr>
            <p:cNvSpPr>
              <a:spLocks/>
            </p:cNvSpPr>
            <p:nvPr userDrawn="1"/>
          </p:nvSpPr>
          <p:spPr bwMode="auto">
            <a:xfrm>
              <a:off x="8477144" y="377076"/>
              <a:ext cx="95007" cy="176788"/>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22">
              <a:extLst>
                <a:ext uri="{FF2B5EF4-FFF2-40B4-BE49-F238E27FC236}">
                  <a16:creationId xmlns:a16="http://schemas.microsoft.com/office/drawing/2014/main" id="{01D3E76D-1730-AFA4-D967-418E4B74EA68}"/>
                </a:ext>
              </a:extLst>
            </p:cNvPr>
            <p:cNvSpPr>
              <a:spLocks/>
            </p:cNvSpPr>
            <p:nvPr userDrawn="1"/>
          </p:nvSpPr>
          <p:spPr bwMode="auto">
            <a:xfrm>
              <a:off x="8573230" y="405416"/>
              <a:ext cx="122537" cy="187584"/>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23">
              <a:extLst>
                <a:ext uri="{FF2B5EF4-FFF2-40B4-BE49-F238E27FC236}">
                  <a16:creationId xmlns:a16="http://schemas.microsoft.com/office/drawing/2014/main" id="{912810A0-76DC-7E83-8BFC-C1A4F60F8D89}"/>
                </a:ext>
              </a:extLst>
            </p:cNvPr>
            <p:cNvSpPr>
              <a:spLocks/>
            </p:cNvSpPr>
            <p:nvPr userDrawn="1"/>
          </p:nvSpPr>
          <p:spPr bwMode="auto">
            <a:xfrm>
              <a:off x="8663109" y="450760"/>
              <a:ext cx="154656" cy="19352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5740870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p:nvPr/>
        </p:nvSpPr>
        <p:spPr>
          <a:xfrm>
            <a:off x="0" y="0"/>
            <a:ext cx="9144000" cy="12192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nvGrpSpPr>
          <p:cNvPr id="11" name="Google Shape;11;p1"/>
          <p:cNvGrpSpPr/>
          <p:nvPr/>
        </p:nvGrpSpPr>
        <p:grpSpPr>
          <a:xfrm>
            <a:off x="7264458" y="365740"/>
            <a:ext cx="1553307" cy="487719"/>
            <a:chOff x="166688" y="-3240088"/>
            <a:chExt cx="9136063" cy="2868613"/>
          </a:xfrm>
        </p:grpSpPr>
        <p:sp>
          <p:nvSpPr>
            <p:cNvPr id="12" name="Google Shape;12;p1"/>
            <p:cNvSpPr/>
            <p:nvPr/>
          </p:nvSpPr>
          <p:spPr>
            <a:xfrm>
              <a:off x="166688" y="-1244600"/>
              <a:ext cx="876300" cy="850900"/>
            </a:xfrm>
            <a:custGeom>
              <a:avLst/>
              <a:gdLst/>
              <a:ahLst/>
              <a:cxnLst/>
              <a:rect l="l" t="t" r="r" b="b"/>
              <a:pathLst>
                <a:path w="552" h="536" extrusionOk="0">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 name="Google Shape;13;p1"/>
            <p:cNvSpPr/>
            <p:nvPr/>
          </p:nvSpPr>
          <p:spPr>
            <a:xfrm>
              <a:off x="1258888" y="-1244600"/>
              <a:ext cx="774700" cy="850900"/>
            </a:xfrm>
            <a:custGeom>
              <a:avLst/>
              <a:gdLst/>
              <a:ahLst/>
              <a:cxnLst/>
              <a:rect l="l" t="t" r="r" b="b"/>
              <a:pathLst>
                <a:path w="488" h="536" extrusionOk="0">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 name="Google Shape;14;p1"/>
            <p:cNvSpPr/>
            <p:nvPr/>
          </p:nvSpPr>
          <p:spPr>
            <a:xfrm>
              <a:off x="2219326" y="-1244600"/>
              <a:ext cx="906463" cy="850900"/>
            </a:xfrm>
            <a:custGeom>
              <a:avLst/>
              <a:gdLst/>
              <a:ahLst/>
              <a:cxnLst/>
              <a:rect l="l" t="t" r="r" b="b"/>
              <a:pathLst>
                <a:path w="571" h="536" extrusionOk="0">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 name="Google Shape;15;p1"/>
            <p:cNvSpPr/>
            <p:nvPr/>
          </p:nvSpPr>
          <p:spPr>
            <a:xfrm>
              <a:off x="3125788" y="-1244600"/>
              <a:ext cx="1017588" cy="850900"/>
            </a:xfrm>
            <a:custGeom>
              <a:avLst/>
              <a:gdLst/>
              <a:ahLst/>
              <a:cxnLst/>
              <a:rect l="l" t="t" r="r" b="b"/>
              <a:pathLst>
                <a:path w="641" h="536" extrusionOk="0">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6" name="Google Shape;16;p1"/>
            <p:cNvSpPr/>
            <p:nvPr/>
          </p:nvSpPr>
          <p:spPr>
            <a:xfrm>
              <a:off x="4106863" y="-1244600"/>
              <a:ext cx="928688" cy="850900"/>
            </a:xfrm>
            <a:custGeom>
              <a:avLst/>
              <a:gdLst/>
              <a:ahLst/>
              <a:cxnLst/>
              <a:rect l="l" t="t" r="r" b="b"/>
              <a:pathLst>
                <a:path w="585" h="536" extrusionOk="0">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 name="Google Shape;17;p1"/>
            <p:cNvSpPr/>
            <p:nvPr/>
          </p:nvSpPr>
          <p:spPr>
            <a:xfrm>
              <a:off x="5214938" y="-1244600"/>
              <a:ext cx="906463" cy="873125"/>
            </a:xfrm>
            <a:custGeom>
              <a:avLst/>
              <a:gdLst/>
              <a:ahLst/>
              <a:cxnLst/>
              <a:rect l="l" t="t" r="r" b="b"/>
              <a:pathLst>
                <a:path w="571" h="550" extrusionOk="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 name="Google Shape;18;p1"/>
            <p:cNvSpPr/>
            <p:nvPr/>
          </p:nvSpPr>
          <p:spPr>
            <a:xfrm>
              <a:off x="6384926" y="-1244600"/>
              <a:ext cx="873125" cy="850900"/>
            </a:xfrm>
            <a:custGeom>
              <a:avLst/>
              <a:gdLst/>
              <a:ahLst/>
              <a:cxnLst/>
              <a:rect l="l" t="t" r="r" b="b"/>
              <a:pathLst>
                <a:path w="550" h="536" extrusionOk="0">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 name="Google Shape;19;p1"/>
            <p:cNvSpPr/>
            <p:nvPr/>
          </p:nvSpPr>
          <p:spPr>
            <a:xfrm>
              <a:off x="7477126" y="-1244600"/>
              <a:ext cx="774700" cy="850900"/>
            </a:xfrm>
            <a:custGeom>
              <a:avLst/>
              <a:gdLst/>
              <a:ahLst/>
              <a:cxnLst/>
              <a:rect l="l" t="t" r="r" b="b"/>
              <a:pathLst>
                <a:path w="488" h="536" extrusionOk="0">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0" name="Google Shape;20;p1"/>
            <p:cNvSpPr/>
            <p:nvPr/>
          </p:nvSpPr>
          <p:spPr>
            <a:xfrm>
              <a:off x="3233738" y="-1751013"/>
              <a:ext cx="152400" cy="146050"/>
            </a:xfrm>
            <a:custGeom>
              <a:avLst/>
              <a:gdLst/>
              <a:ahLst/>
              <a:cxnLst/>
              <a:rect l="l" t="t" r="r" b="b"/>
              <a:pathLst>
                <a:path w="96" h="92" extrusionOk="0">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1" name="Google Shape;21;p1"/>
            <p:cNvSpPr/>
            <p:nvPr/>
          </p:nvSpPr>
          <p:spPr>
            <a:xfrm>
              <a:off x="3719513" y="-2219325"/>
              <a:ext cx="219075" cy="263525"/>
            </a:xfrm>
            <a:custGeom>
              <a:avLst/>
              <a:gdLst/>
              <a:ahLst/>
              <a:cxnLst/>
              <a:rect l="l" t="t" r="r" b="b"/>
              <a:pathLst>
                <a:path w="138" h="166" extrusionOk="0">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 name="Google Shape;22;p1"/>
            <p:cNvSpPr/>
            <p:nvPr/>
          </p:nvSpPr>
          <p:spPr>
            <a:xfrm>
              <a:off x="4289426" y="-2582863"/>
              <a:ext cx="222250" cy="407988"/>
            </a:xfrm>
            <a:custGeom>
              <a:avLst/>
              <a:gdLst/>
              <a:ahLst/>
              <a:cxnLst/>
              <a:rect l="l" t="t" r="r" b="b"/>
              <a:pathLst>
                <a:path w="140" h="257" extrusionOk="0">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3" name="Google Shape;23;p1"/>
            <p:cNvSpPr/>
            <p:nvPr/>
          </p:nvSpPr>
          <p:spPr>
            <a:xfrm>
              <a:off x="4910138" y="-2876550"/>
              <a:ext cx="188913" cy="561975"/>
            </a:xfrm>
            <a:custGeom>
              <a:avLst/>
              <a:gdLst/>
              <a:ahLst/>
              <a:cxnLst/>
              <a:rect l="l" t="t" r="r" b="b"/>
              <a:pathLst>
                <a:path w="119" h="354" extrusionOk="0">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4" name="Google Shape;24;p1"/>
            <p:cNvSpPr/>
            <p:nvPr/>
          </p:nvSpPr>
          <p:spPr>
            <a:xfrm>
              <a:off x="5541963" y="-3081338"/>
              <a:ext cx="174625" cy="703263"/>
            </a:xfrm>
            <a:custGeom>
              <a:avLst/>
              <a:gdLst/>
              <a:ahLst/>
              <a:cxnLst/>
              <a:rect l="l" t="t" r="r" b="b"/>
              <a:pathLst>
                <a:path w="110" h="443" extrusionOk="0">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5" name="Google Shape;25;p1"/>
            <p:cNvSpPr/>
            <p:nvPr/>
          </p:nvSpPr>
          <p:spPr>
            <a:xfrm>
              <a:off x="6140451" y="-3203575"/>
              <a:ext cx="271463" cy="831850"/>
            </a:xfrm>
            <a:custGeom>
              <a:avLst/>
              <a:gdLst/>
              <a:ahLst/>
              <a:cxnLst/>
              <a:rect l="l" t="t" r="r" b="b"/>
              <a:pathLst>
                <a:path w="171" h="524" extrusionOk="0">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6" name="Google Shape;26;p1"/>
            <p:cNvSpPr/>
            <p:nvPr/>
          </p:nvSpPr>
          <p:spPr>
            <a:xfrm>
              <a:off x="6724651" y="-3240088"/>
              <a:ext cx="404813" cy="950913"/>
            </a:xfrm>
            <a:custGeom>
              <a:avLst/>
              <a:gdLst/>
              <a:ahLst/>
              <a:cxnLst/>
              <a:rect l="l" t="t" r="r" b="b"/>
              <a:pathLst>
                <a:path w="255" h="599" extrusionOk="0">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7" name="Google Shape;27;p1"/>
            <p:cNvSpPr/>
            <p:nvPr/>
          </p:nvSpPr>
          <p:spPr>
            <a:xfrm>
              <a:off x="7299326" y="-3173413"/>
              <a:ext cx="558800" cy="1039813"/>
            </a:xfrm>
            <a:custGeom>
              <a:avLst/>
              <a:gdLst/>
              <a:ahLst/>
              <a:cxnLst/>
              <a:rect l="l" t="t" r="r" b="b"/>
              <a:pathLst>
                <a:path w="352" h="655" extrusionOk="0">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8" name="Google Shape;28;p1"/>
            <p:cNvSpPr/>
            <p:nvPr/>
          </p:nvSpPr>
          <p:spPr>
            <a:xfrm>
              <a:off x="7864476" y="-3006725"/>
              <a:ext cx="720725" cy="1103313"/>
            </a:xfrm>
            <a:custGeom>
              <a:avLst/>
              <a:gdLst/>
              <a:ahLst/>
              <a:cxnLst/>
              <a:rect l="l" t="t" r="r" b="b"/>
              <a:pathLst>
                <a:path w="454" h="695" extrusionOk="0">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9" name="Google Shape;29;p1"/>
            <p:cNvSpPr/>
            <p:nvPr/>
          </p:nvSpPr>
          <p:spPr>
            <a:xfrm>
              <a:off x="8393113" y="-2740025"/>
              <a:ext cx="909638" cy="1138238"/>
            </a:xfrm>
            <a:custGeom>
              <a:avLst/>
              <a:gdLst/>
              <a:ahLst/>
              <a:cxnLst/>
              <a:rect l="l" t="t" r="r" b="b"/>
              <a:pathLst>
                <a:path w="573" h="717" extrusionOk="0">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30" name="Google Shape;30;p1"/>
          <p:cNvSpPr txBox="1">
            <a:spLocks noGrp="1"/>
          </p:cNvSpPr>
          <p:nvPr>
            <p:ph type="body" idx="1"/>
          </p:nvPr>
        </p:nvSpPr>
        <p:spPr>
          <a:xfrm>
            <a:off x="380010" y="1481446"/>
            <a:ext cx="8383980" cy="4525963"/>
          </a:xfrm>
          <a:prstGeom prst="rect">
            <a:avLst/>
          </a:prstGeom>
          <a:noFill/>
          <a:ln>
            <a:noFill/>
          </a:ln>
        </p:spPr>
        <p:txBody>
          <a:bodyPr spcFirstLastPara="1" wrap="square" lIns="91425" tIns="45700" rIns="91425" bIns="45700" anchor="t" anchorCtr="0"/>
          <a:lstStyle>
            <a:lvl1pPr marL="457200" marR="0" lvl="0" indent="-406400" algn="l" rtl="0">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31" name="Google Shape;31;p1"/>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u="none">
                <a:solidFill>
                  <a:schemeClr val="accent2"/>
                </a:solidFill>
                <a:latin typeface="Arial"/>
                <a:ea typeface="Arial"/>
                <a:cs typeface="Arial"/>
                <a:sym typeface="Arial"/>
              </a:defRPr>
            </a:lvl1pPr>
            <a:lvl2pPr marL="0" marR="0" lvl="1" indent="0" algn="r" rtl="0">
              <a:spcBef>
                <a:spcPts val="0"/>
              </a:spcBef>
              <a:buNone/>
              <a:defRPr sz="1200" b="0" u="none">
                <a:solidFill>
                  <a:schemeClr val="accent2"/>
                </a:solidFill>
                <a:latin typeface="Arial"/>
                <a:ea typeface="Arial"/>
                <a:cs typeface="Arial"/>
                <a:sym typeface="Arial"/>
              </a:defRPr>
            </a:lvl2pPr>
            <a:lvl3pPr marL="0" marR="0" lvl="2" indent="0" algn="r" rtl="0">
              <a:spcBef>
                <a:spcPts val="0"/>
              </a:spcBef>
              <a:buNone/>
              <a:defRPr sz="1200" b="0" u="none">
                <a:solidFill>
                  <a:schemeClr val="accent2"/>
                </a:solidFill>
                <a:latin typeface="Arial"/>
                <a:ea typeface="Arial"/>
                <a:cs typeface="Arial"/>
                <a:sym typeface="Arial"/>
              </a:defRPr>
            </a:lvl3pPr>
            <a:lvl4pPr marL="0" marR="0" lvl="3" indent="0" algn="r" rtl="0">
              <a:spcBef>
                <a:spcPts val="0"/>
              </a:spcBef>
              <a:buNone/>
              <a:defRPr sz="1200" b="0" u="none">
                <a:solidFill>
                  <a:schemeClr val="accent2"/>
                </a:solidFill>
                <a:latin typeface="Arial"/>
                <a:ea typeface="Arial"/>
                <a:cs typeface="Arial"/>
                <a:sym typeface="Arial"/>
              </a:defRPr>
            </a:lvl4pPr>
            <a:lvl5pPr marL="0" marR="0" lvl="4" indent="0" algn="r" rtl="0">
              <a:spcBef>
                <a:spcPts val="0"/>
              </a:spcBef>
              <a:buNone/>
              <a:defRPr sz="1200" b="0" u="none">
                <a:solidFill>
                  <a:schemeClr val="accent2"/>
                </a:solidFill>
                <a:latin typeface="Arial"/>
                <a:ea typeface="Arial"/>
                <a:cs typeface="Arial"/>
                <a:sym typeface="Arial"/>
              </a:defRPr>
            </a:lvl5pPr>
            <a:lvl6pPr marL="0" marR="0" lvl="5" indent="0" algn="r" rtl="0">
              <a:spcBef>
                <a:spcPts val="0"/>
              </a:spcBef>
              <a:buNone/>
              <a:defRPr sz="1200" b="0" u="none">
                <a:solidFill>
                  <a:schemeClr val="accent2"/>
                </a:solidFill>
                <a:latin typeface="Arial"/>
                <a:ea typeface="Arial"/>
                <a:cs typeface="Arial"/>
                <a:sym typeface="Arial"/>
              </a:defRPr>
            </a:lvl6pPr>
            <a:lvl7pPr marL="0" marR="0" lvl="6" indent="0" algn="r" rtl="0">
              <a:spcBef>
                <a:spcPts val="0"/>
              </a:spcBef>
              <a:buNone/>
              <a:defRPr sz="1200" b="0" u="none">
                <a:solidFill>
                  <a:schemeClr val="accent2"/>
                </a:solidFill>
                <a:latin typeface="Arial"/>
                <a:ea typeface="Arial"/>
                <a:cs typeface="Arial"/>
                <a:sym typeface="Arial"/>
              </a:defRPr>
            </a:lvl7pPr>
            <a:lvl8pPr marL="0" marR="0" lvl="7" indent="0" algn="r" rtl="0">
              <a:spcBef>
                <a:spcPts val="0"/>
              </a:spcBef>
              <a:buNone/>
              <a:defRPr sz="1200" b="0" u="none">
                <a:solidFill>
                  <a:schemeClr val="accent2"/>
                </a:solidFill>
                <a:latin typeface="Arial"/>
                <a:ea typeface="Arial"/>
                <a:cs typeface="Arial"/>
                <a:sym typeface="Arial"/>
              </a:defRPr>
            </a:lvl8pPr>
            <a:lvl9pPr marL="0" marR="0" lvl="8" indent="0" algn="r" rtl="0">
              <a:spcBef>
                <a:spcPts val="0"/>
              </a:spcBef>
              <a:buNone/>
              <a:defRPr sz="1200" b="0" u="none">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32" name="Google Shape;32;p1"/>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Clr>
                <a:schemeClr val="lt1"/>
              </a:buClr>
              <a:buSzPts val="2400"/>
              <a:buFont typeface="Arial"/>
              <a:buNone/>
              <a:defRPr sz="2400" b="1" i="0" u="none" strike="noStrike" cap="non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6" r:id="rId8"/>
    <p:sldLayoutId id="2147483657" r:id="rId9"/>
    <p:sldLayoutId id="2147483658" r:id="rId10"/>
    <p:sldLayoutId id="2147483660" r:id="rId11"/>
    <p:sldLayoutId id="2147483662"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customXml" Target="../ink/ink2.xml"/><Relationship Id="rId5" Type="http://schemas.openxmlformats.org/officeDocument/2006/relationships/image" Target="../media/image81.png"/></Relationships>
</file>

<file path=ppt/slides/_rels/slide10.xml.rels><?xml version="1.0" encoding="UTF-8" standalone="yes"?>
<Relationships xmlns="http://schemas.openxmlformats.org/package/2006/relationships"><Relationship Id="rId3" Type="http://schemas.openxmlformats.org/officeDocument/2006/relationships/hyperlink" Target="https://docs.oracle.com/javase/specs/jvms/se7/html/jvms-3.html"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customXml" Target="../ink/ink4.xml"/><Relationship Id="rId7" Type="http://schemas.openxmlformats.org/officeDocument/2006/relationships/customXml" Target="../ink/ink6.xm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customXml" Target="../ink/ink5.xml"/><Relationship Id="rId4" Type="http://schemas.openxmlformats.org/officeDocument/2006/relationships/image" Target="../media/image70.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customXml" Target="../ink/ink7.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8" Type="http://schemas.openxmlformats.org/officeDocument/2006/relationships/customXml" Target="../ink/ink11.xml"/><Relationship Id="rId13"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12" Type="http://schemas.openxmlformats.org/officeDocument/2006/relationships/customXml" Target="../ink/ink13.xml"/><Relationship Id="rId2" Type="http://schemas.openxmlformats.org/officeDocument/2006/relationships/customXml" Target="../ink/ink8.xml"/><Relationship Id="rId1" Type="http://schemas.openxmlformats.org/officeDocument/2006/relationships/slideLayout" Target="../slideLayouts/slideLayout2.xml"/><Relationship Id="rId6" Type="http://schemas.openxmlformats.org/officeDocument/2006/relationships/customXml" Target="../ink/ink10.xml"/><Relationship Id="rId11" Type="http://schemas.openxmlformats.org/officeDocument/2006/relationships/image" Target="NULL"/><Relationship Id="rId5" Type="http://schemas.openxmlformats.org/officeDocument/2006/relationships/image" Target="NULL"/><Relationship Id="rId10" Type="http://schemas.openxmlformats.org/officeDocument/2006/relationships/customXml" Target="../ink/ink12.xml"/><Relationship Id="rId4" Type="http://schemas.openxmlformats.org/officeDocument/2006/relationships/customXml" Target="../ink/ink9.xml"/><Relationship Id="rId9" Type="http://schemas.openxmlformats.org/officeDocument/2006/relationships/image" Target="NUL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8" Type="http://schemas.openxmlformats.org/officeDocument/2006/relationships/customXml" Target="../ink/ink17.xml"/><Relationship Id="rId13"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12" Type="http://schemas.openxmlformats.org/officeDocument/2006/relationships/customXml" Target="../ink/ink19.xml"/><Relationship Id="rId2" Type="http://schemas.openxmlformats.org/officeDocument/2006/relationships/customXml" Target="../ink/ink14.xml"/><Relationship Id="rId1" Type="http://schemas.openxmlformats.org/officeDocument/2006/relationships/slideLayout" Target="../slideLayouts/slideLayout2.xml"/><Relationship Id="rId6" Type="http://schemas.openxmlformats.org/officeDocument/2006/relationships/customXml" Target="../ink/ink16.xml"/><Relationship Id="rId11" Type="http://schemas.openxmlformats.org/officeDocument/2006/relationships/image" Target="NULL"/><Relationship Id="rId5" Type="http://schemas.openxmlformats.org/officeDocument/2006/relationships/image" Target="NULL"/><Relationship Id="rId10" Type="http://schemas.openxmlformats.org/officeDocument/2006/relationships/customXml" Target="../ink/ink18.xml"/><Relationship Id="rId4" Type="http://schemas.openxmlformats.org/officeDocument/2006/relationships/customXml" Target="../ink/ink15.xml"/><Relationship Id="rId9" Type="http://schemas.openxmlformats.org/officeDocument/2006/relationships/image" Target="NULL"/></Relationships>
</file>

<file path=ppt/slides/_rels/slide72.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customXml" Target="../ink/ink25.xml"/><Relationship Id="rId3" Type="http://schemas.openxmlformats.org/officeDocument/2006/relationships/customXml" Target="../ink/ink20.xml"/><Relationship Id="rId7" Type="http://schemas.openxmlformats.org/officeDocument/2006/relationships/customXml" Target="../ink/ink22.xml"/><Relationship Id="rId12" Type="http://schemas.openxmlformats.org/officeDocument/2006/relationships/image" Target="NULL"/><Relationship Id="rId2" Type="http://schemas.openxmlformats.org/officeDocument/2006/relationships/notesSlide" Target="../notesSlides/notesSlide30.xml"/><Relationship Id="rId16" Type="http://schemas.openxmlformats.org/officeDocument/2006/relationships/image" Target="NULL"/><Relationship Id="rId1" Type="http://schemas.openxmlformats.org/officeDocument/2006/relationships/slideLayout" Target="../slideLayouts/slideLayout2.xml"/><Relationship Id="rId6" Type="http://schemas.openxmlformats.org/officeDocument/2006/relationships/image" Target="NULL"/><Relationship Id="rId11" Type="http://schemas.openxmlformats.org/officeDocument/2006/relationships/customXml" Target="../ink/ink24.xml"/><Relationship Id="rId5" Type="http://schemas.openxmlformats.org/officeDocument/2006/relationships/customXml" Target="../ink/ink21.xml"/><Relationship Id="rId15" Type="http://schemas.openxmlformats.org/officeDocument/2006/relationships/customXml" Target="../ink/ink26.xml"/><Relationship Id="rId10" Type="http://schemas.openxmlformats.org/officeDocument/2006/relationships/image" Target="NULL"/><Relationship Id="rId4" Type="http://schemas.openxmlformats.org/officeDocument/2006/relationships/image" Target="NULL"/><Relationship Id="rId9" Type="http://schemas.openxmlformats.org/officeDocument/2006/relationships/customXml" Target="../ink/ink23.xml"/><Relationship Id="rId14" Type="http://schemas.openxmlformats.org/officeDocument/2006/relationships/image" Target="NULL"/></Relationships>
</file>

<file path=ppt/slides/_rels/slide7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customXml" Target="../ink/ink27.xml"/><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700.png"/></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15"/>
          <p:cNvSpPr txBox="1">
            <a:spLocks noGrp="1"/>
          </p:cNvSpPr>
          <p:nvPr>
            <p:ph type="ctrTitle"/>
          </p:nvPr>
        </p:nvSpPr>
        <p:spPr>
          <a:xfrm>
            <a:off x="496177" y="320634"/>
            <a:ext cx="6807148" cy="2543545"/>
          </a:xfrm>
          <a:prstGeom prst="rect">
            <a:avLst/>
          </a:prstGeom>
          <a:noFill/>
          <a:ln>
            <a:noFill/>
          </a:ln>
        </p:spPr>
        <p:txBody>
          <a:bodyPr spcFirstLastPara="1" wrap="square" lIns="91425" tIns="45700" rIns="91425" bIns="45700" anchor="b" anchorCtr="0">
            <a:noAutofit/>
          </a:bodyPr>
          <a:lstStyle/>
          <a:p>
            <a:pPr marL="0" lvl="0" indent="0" algn="l" rtl="0">
              <a:lnSpc>
                <a:spcPct val="80000"/>
              </a:lnSpc>
              <a:spcBef>
                <a:spcPts val="0"/>
              </a:spcBef>
              <a:spcAft>
                <a:spcPts val="0"/>
              </a:spcAft>
              <a:buClr>
                <a:schemeClr val="accent1"/>
              </a:buClr>
              <a:buSzPts val="4400"/>
              <a:buFont typeface="Arial"/>
              <a:buNone/>
            </a:pPr>
            <a:r>
              <a:rPr lang="en-US" dirty="0"/>
              <a:t>Programming Basics with Java</a:t>
            </a:r>
            <a:endParaRPr dirty="0"/>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947FC-ED58-14EC-766E-B345CBB2129B}"/>
              </a:ext>
            </a:extLst>
          </p:cNvPr>
          <p:cNvSpPr>
            <a:spLocks noGrp="1"/>
          </p:cNvSpPr>
          <p:nvPr>
            <p:ph type="title"/>
          </p:nvPr>
        </p:nvSpPr>
        <p:spPr/>
        <p:txBody>
          <a:bodyPr/>
          <a:lstStyle/>
          <a:p>
            <a:r>
              <a:rPr lang="en-US" dirty="0"/>
              <a:t>Topics</a:t>
            </a:r>
          </a:p>
        </p:txBody>
      </p:sp>
      <p:sp>
        <p:nvSpPr>
          <p:cNvPr id="3" name="Text Placeholder 2">
            <a:extLst>
              <a:ext uri="{FF2B5EF4-FFF2-40B4-BE49-F238E27FC236}">
                <a16:creationId xmlns:a16="http://schemas.microsoft.com/office/drawing/2014/main" id="{31D0A314-1889-7642-D5E4-583ADD03E47C}"/>
              </a:ext>
            </a:extLst>
          </p:cNvPr>
          <p:cNvSpPr>
            <a:spLocks noGrp="1"/>
          </p:cNvSpPr>
          <p:nvPr>
            <p:ph type="body" idx="1"/>
          </p:nvPr>
        </p:nvSpPr>
        <p:spPr>
          <a:xfrm>
            <a:off x="380010" y="1481446"/>
            <a:ext cx="8383980" cy="5247391"/>
          </a:xfrm>
        </p:spPr>
        <p:txBody>
          <a:bodyPr numCol="2">
            <a:normAutofit fontScale="77500" lnSpcReduction="20000"/>
          </a:bodyPr>
          <a:lstStyle/>
          <a:p>
            <a:r>
              <a:rPr lang="en-US" dirty="0"/>
              <a:t>Binary &amp; Computer Memory</a:t>
            </a:r>
          </a:p>
          <a:p>
            <a:r>
              <a:rPr lang="en-US" dirty="0"/>
              <a:t>Java Environment &amp; Compilation</a:t>
            </a:r>
          </a:p>
          <a:p>
            <a:r>
              <a:rPr lang="en-US" dirty="0"/>
              <a:t>Why use Java?</a:t>
            </a:r>
          </a:p>
          <a:p>
            <a:r>
              <a:rPr lang="en-US" dirty="0"/>
              <a:t>Java Basics &amp; Executable Classes</a:t>
            </a:r>
          </a:p>
          <a:p>
            <a:r>
              <a:rPr lang="en-US" dirty="0"/>
              <a:t>Packages &amp; Imports</a:t>
            </a:r>
          </a:p>
          <a:p>
            <a:r>
              <a:rPr lang="en-US" dirty="0"/>
              <a:t>Expressions, Variables &amp; Primitives</a:t>
            </a:r>
          </a:p>
          <a:p>
            <a:r>
              <a:rPr lang="en-US" dirty="0"/>
              <a:t>Java Operators</a:t>
            </a:r>
          </a:p>
          <a:p>
            <a:r>
              <a:rPr lang="en-US" dirty="0"/>
              <a:t>Class introduction</a:t>
            </a:r>
          </a:p>
          <a:p>
            <a:r>
              <a:rPr lang="en-US" dirty="0"/>
              <a:t>Methods</a:t>
            </a:r>
          </a:p>
          <a:p>
            <a:r>
              <a:rPr lang="en-US" dirty="0"/>
              <a:t>Using Objects</a:t>
            </a:r>
          </a:p>
          <a:p>
            <a:r>
              <a:rPr lang="en-US" dirty="0"/>
              <a:t>Reference Variables &amp; Memory</a:t>
            </a:r>
          </a:p>
          <a:p>
            <a:r>
              <a:rPr lang="en-US" dirty="0"/>
              <a:t>‘this’ keyword</a:t>
            </a:r>
          </a:p>
          <a:p>
            <a:r>
              <a:rPr lang="en-US" dirty="0"/>
              <a:t>Constructors</a:t>
            </a:r>
          </a:p>
          <a:p>
            <a:r>
              <a:rPr lang="en-US" dirty="0"/>
              <a:t>Control Flow</a:t>
            </a:r>
          </a:p>
          <a:p>
            <a:r>
              <a:rPr lang="en-US" dirty="0"/>
              <a:t>Arrays</a:t>
            </a:r>
          </a:p>
          <a:p>
            <a:r>
              <a:rPr lang="en-US" dirty="0"/>
              <a:t>Varargs</a:t>
            </a:r>
          </a:p>
          <a:p>
            <a:r>
              <a:rPr lang="en-US" dirty="0"/>
              <a:t>Scope &amp; Static keyword</a:t>
            </a:r>
          </a:p>
          <a:p>
            <a:r>
              <a:rPr lang="en-US" dirty="0"/>
              <a:t>Wrapper Classes</a:t>
            </a:r>
          </a:p>
          <a:p>
            <a:r>
              <a:rPr lang="en-US" dirty="0"/>
              <a:t>Object Class</a:t>
            </a:r>
          </a:p>
          <a:p>
            <a:r>
              <a:rPr lang="en-US" dirty="0"/>
              <a:t>Strings</a:t>
            </a:r>
          </a:p>
          <a:p>
            <a:r>
              <a:rPr lang="en-US" dirty="0"/>
              <a:t>String Builder &amp; </a:t>
            </a:r>
            <a:r>
              <a:rPr lang="en-US" dirty="0" err="1"/>
              <a:t>StringBuffer</a:t>
            </a:r>
            <a:endParaRPr lang="en-US" dirty="0"/>
          </a:p>
          <a:p>
            <a:r>
              <a:rPr lang="en-US" dirty="0"/>
              <a:t>Non-access Modifiers</a:t>
            </a:r>
          </a:p>
          <a:p>
            <a:r>
              <a:rPr lang="en-US" dirty="0"/>
              <a:t>Annotations</a:t>
            </a:r>
          </a:p>
          <a:p>
            <a:r>
              <a:rPr lang="en-US" dirty="0"/>
              <a:t>Enums</a:t>
            </a:r>
          </a:p>
        </p:txBody>
      </p:sp>
      <p:sp>
        <p:nvSpPr>
          <p:cNvPr id="4" name="Slide Number Placeholder 3">
            <a:extLst>
              <a:ext uri="{FF2B5EF4-FFF2-40B4-BE49-F238E27FC236}">
                <a16:creationId xmlns:a16="http://schemas.microsoft.com/office/drawing/2014/main" id="{E6ADCEA2-50D6-C516-65CC-742821A02E1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a:t>
            </a:fld>
            <a:endParaRPr lang="en-US"/>
          </a:p>
        </p:txBody>
      </p:sp>
    </p:spTree>
    <p:extLst>
      <p:ext uri="{BB962C8B-B14F-4D97-AF65-F5344CB8AC3E}">
        <p14:creationId xmlns:p14="http://schemas.microsoft.com/office/powerpoint/2010/main" val="19574334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8AAE37-6C44-EFD1-A224-1FC82F61AD64}"/>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2</a:t>
            </a:fld>
            <a:endParaRPr lang="en-US"/>
          </a:p>
        </p:txBody>
      </p:sp>
      <p:sp>
        <p:nvSpPr>
          <p:cNvPr id="4" name="Google Shape;212;p15">
            <a:extLst>
              <a:ext uri="{FF2B5EF4-FFF2-40B4-BE49-F238E27FC236}">
                <a16:creationId xmlns:a16="http://schemas.microsoft.com/office/drawing/2014/main" id="{597E6BDC-DC3A-A131-3C64-1F04AFB6626D}"/>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Binary &amp; Computer Memory</a:t>
            </a:r>
          </a:p>
        </p:txBody>
      </p:sp>
      <p:pic>
        <p:nvPicPr>
          <p:cNvPr id="6" name="Picture 5">
            <a:extLst>
              <a:ext uri="{FF2B5EF4-FFF2-40B4-BE49-F238E27FC236}">
                <a16:creationId xmlns:a16="http://schemas.microsoft.com/office/drawing/2014/main" id="{8A8E09B7-A980-6E75-DAC8-46C12A48941D}"/>
              </a:ext>
            </a:extLst>
          </p:cNvPr>
          <p:cNvPicPr>
            <a:picLocks noChangeAspect="1"/>
          </p:cNvPicPr>
          <p:nvPr/>
        </p:nvPicPr>
        <p:blipFill>
          <a:blip r:embed="rId2"/>
          <a:stretch>
            <a:fillRect/>
          </a:stretch>
        </p:blipFill>
        <p:spPr>
          <a:xfrm>
            <a:off x="7036646" y="0"/>
            <a:ext cx="2107354" cy="773112"/>
          </a:xfrm>
          <a:prstGeom prst="rect">
            <a:avLst/>
          </a:prstGeom>
        </p:spPr>
      </p:pic>
    </p:spTree>
    <p:extLst>
      <p:ext uri="{BB962C8B-B14F-4D97-AF65-F5344CB8AC3E}">
        <p14:creationId xmlns:p14="http://schemas.microsoft.com/office/powerpoint/2010/main" val="1720100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41F7E-B9A5-4C74-922B-513C237CD0FC}"/>
              </a:ext>
            </a:extLst>
          </p:cNvPr>
          <p:cNvSpPr>
            <a:spLocks noGrp="1"/>
          </p:cNvSpPr>
          <p:nvPr>
            <p:ph type="title"/>
          </p:nvPr>
        </p:nvSpPr>
        <p:spPr/>
        <p:txBody>
          <a:bodyPr/>
          <a:lstStyle/>
          <a:p>
            <a:r>
              <a:rPr lang="en-US" dirty="0"/>
              <a:t>Broad Categories of Languages</a:t>
            </a:r>
          </a:p>
        </p:txBody>
      </p:sp>
      <p:sp>
        <p:nvSpPr>
          <p:cNvPr id="3" name="Content Placeholder 2">
            <a:extLst>
              <a:ext uri="{FF2B5EF4-FFF2-40B4-BE49-F238E27FC236}">
                <a16:creationId xmlns:a16="http://schemas.microsoft.com/office/drawing/2014/main" id="{39248842-1B3D-406C-952C-0E1D3252B26A}"/>
              </a:ext>
            </a:extLst>
          </p:cNvPr>
          <p:cNvSpPr>
            <a:spLocks noGrp="1"/>
          </p:cNvSpPr>
          <p:nvPr>
            <p:ph idx="1"/>
          </p:nvPr>
        </p:nvSpPr>
        <p:spPr>
          <a:xfrm>
            <a:off x="380010" y="1481446"/>
            <a:ext cx="8383980" cy="4997175"/>
          </a:xfrm>
        </p:spPr>
        <p:txBody>
          <a:bodyPr>
            <a:normAutofit fontScale="77500" lnSpcReduction="20000"/>
          </a:bodyPr>
          <a:lstStyle/>
          <a:p>
            <a:r>
              <a:rPr lang="en-US" dirty="0"/>
              <a:t>Binary</a:t>
            </a:r>
          </a:p>
          <a:p>
            <a:pPr lvl="1"/>
            <a:r>
              <a:rPr lang="en-US" dirty="0"/>
              <a:t>“0’s and 1’s”, lowest level language, not actually written</a:t>
            </a:r>
          </a:p>
          <a:p>
            <a:r>
              <a:rPr lang="en-US" dirty="0"/>
              <a:t>Assembly</a:t>
            </a:r>
          </a:p>
          <a:p>
            <a:pPr lvl="1"/>
            <a:r>
              <a:rPr lang="en-US" dirty="0"/>
              <a:t>Language used by the processor (CPU) to generate binary.</a:t>
            </a:r>
          </a:p>
          <a:p>
            <a:r>
              <a:rPr lang="en-US" dirty="0"/>
              <a:t>Compiled Languages</a:t>
            </a:r>
          </a:p>
          <a:p>
            <a:pPr lvl="1"/>
            <a:r>
              <a:rPr lang="en-US" dirty="0"/>
              <a:t>Written in plain text, so need to be transformed into another form that can be directly used by the CPU (Assembly) or another application (interpreted language).</a:t>
            </a:r>
          </a:p>
          <a:p>
            <a:pPr lvl="1"/>
            <a:r>
              <a:rPr lang="en-US" dirty="0"/>
              <a:t>We will examine Java.</a:t>
            </a:r>
          </a:p>
          <a:p>
            <a:r>
              <a:rPr lang="en-US" dirty="0"/>
              <a:t>Query Languages</a:t>
            </a:r>
          </a:p>
          <a:p>
            <a:pPr lvl="1"/>
            <a:r>
              <a:rPr lang="en-US" dirty="0"/>
              <a:t>Languages that can classified as Database query languages, for those which retrieve factual data from a repository, or information retrieval query languages for those which attempt to find documentation containing relevant information to the inquiry.</a:t>
            </a:r>
          </a:p>
          <a:p>
            <a:pPr lvl="1"/>
            <a:r>
              <a:rPr lang="en-US" dirty="0"/>
              <a:t>We will examine Structure Query Language (SQL) a database query language.</a:t>
            </a:r>
          </a:p>
          <a:p>
            <a:r>
              <a:rPr lang="en-US" dirty="0"/>
              <a:t>Many More…</a:t>
            </a:r>
          </a:p>
        </p:txBody>
      </p:sp>
      <p:sp>
        <p:nvSpPr>
          <p:cNvPr id="4" name="Slide Number Placeholder 3">
            <a:extLst>
              <a:ext uri="{FF2B5EF4-FFF2-40B4-BE49-F238E27FC236}">
                <a16:creationId xmlns:a16="http://schemas.microsoft.com/office/drawing/2014/main" id="{9ED26A5B-5DCE-4B6E-8044-89DB8F195593}"/>
              </a:ext>
            </a:extLst>
          </p:cNvPr>
          <p:cNvSpPr>
            <a:spLocks noGrp="1"/>
          </p:cNvSpPr>
          <p:nvPr>
            <p:ph type="sldNum" sz="quarter" idx="12"/>
          </p:nvPr>
        </p:nvSpPr>
        <p:spPr/>
        <p:txBody>
          <a:bodyPr/>
          <a:lstStyle/>
          <a:p>
            <a:fld id="{F6728BC2-ACA3-447C-A909-F3F49211C066}" type="slidenum">
              <a:rPr lang="en-US" smtClean="0"/>
              <a:pPr/>
              <a:t>3</a:t>
            </a:fld>
            <a:endParaRPr lang="en-US" dirty="0"/>
          </a:p>
        </p:txBody>
      </p:sp>
    </p:spTree>
    <p:extLst>
      <p:ext uri="{BB962C8B-B14F-4D97-AF65-F5344CB8AC3E}">
        <p14:creationId xmlns:p14="http://schemas.microsoft.com/office/powerpoint/2010/main" val="3882070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41F7E-B9A5-4C74-922B-513C237CD0FC}"/>
              </a:ext>
            </a:extLst>
          </p:cNvPr>
          <p:cNvSpPr>
            <a:spLocks noGrp="1"/>
          </p:cNvSpPr>
          <p:nvPr>
            <p:ph type="title"/>
          </p:nvPr>
        </p:nvSpPr>
        <p:spPr/>
        <p:txBody>
          <a:bodyPr/>
          <a:lstStyle/>
          <a:p>
            <a:r>
              <a:rPr lang="en-US" dirty="0"/>
              <a:t>Binary – Examples</a:t>
            </a:r>
          </a:p>
        </p:txBody>
      </p:sp>
      <p:pic>
        <p:nvPicPr>
          <p:cNvPr id="6" name="Content Placeholder 5">
            <a:extLst>
              <a:ext uri="{FF2B5EF4-FFF2-40B4-BE49-F238E27FC236}">
                <a16:creationId xmlns:a16="http://schemas.microsoft.com/office/drawing/2014/main" id="{1757274F-66C9-476F-A56A-A1096BFA465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9572" y="1464867"/>
            <a:ext cx="3488257" cy="2886509"/>
          </a:xfrm>
        </p:spPr>
      </p:pic>
      <p:sp>
        <p:nvSpPr>
          <p:cNvPr id="4" name="Slide Number Placeholder 3">
            <a:extLst>
              <a:ext uri="{FF2B5EF4-FFF2-40B4-BE49-F238E27FC236}">
                <a16:creationId xmlns:a16="http://schemas.microsoft.com/office/drawing/2014/main" id="{9ED26A5B-5DCE-4B6E-8044-89DB8F195593}"/>
              </a:ext>
            </a:extLst>
          </p:cNvPr>
          <p:cNvSpPr>
            <a:spLocks noGrp="1"/>
          </p:cNvSpPr>
          <p:nvPr>
            <p:ph type="sldNum" sz="quarter" idx="12"/>
          </p:nvPr>
        </p:nvSpPr>
        <p:spPr/>
        <p:txBody>
          <a:bodyPr/>
          <a:lstStyle/>
          <a:p>
            <a:fld id="{F6728BC2-ACA3-447C-A909-F3F49211C066}" type="slidenum">
              <a:rPr lang="en-US" smtClean="0"/>
              <a:pPr/>
              <a:t>4</a:t>
            </a:fld>
            <a:endParaRPr lang="en-US" dirty="0"/>
          </a:p>
        </p:txBody>
      </p:sp>
      <p:pic>
        <p:nvPicPr>
          <p:cNvPr id="10" name="Picture 9">
            <a:extLst>
              <a:ext uri="{FF2B5EF4-FFF2-40B4-BE49-F238E27FC236}">
                <a16:creationId xmlns:a16="http://schemas.microsoft.com/office/drawing/2014/main" id="{150516D3-6843-4B6E-8CB4-6D954865A13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121425" y="2043501"/>
            <a:ext cx="4942472" cy="1195349"/>
          </a:xfrm>
          <a:prstGeom prst="rect">
            <a:avLst/>
          </a:prstGeom>
        </p:spPr>
      </p:pic>
      <p:pic>
        <p:nvPicPr>
          <p:cNvPr id="11" name="Content Placeholder 5">
            <a:extLst>
              <a:ext uri="{FF2B5EF4-FFF2-40B4-BE49-F238E27FC236}">
                <a16:creationId xmlns:a16="http://schemas.microsoft.com/office/drawing/2014/main" id="{DCD45773-02C2-48BC-AFBB-066C3F9FB3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570" y="3736712"/>
            <a:ext cx="3488257" cy="2886509"/>
          </a:xfrm>
          <a:prstGeom prst="rect">
            <a:avLst/>
          </a:prstGeom>
        </p:spPr>
      </p:pic>
      <p:pic>
        <p:nvPicPr>
          <p:cNvPr id="12" name="Picture 11" descr="A screenshot of a cell phone&#10;&#10;Description generated with high confidence">
            <a:extLst>
              <a:ext uri="{FF2B5EF4-FFF2-40B4-BE49-F238E27FC236}">
                <a16:creationId xmlns:a16="http://schemas.microsoft.com/office/drawing/2014/main" id="{06CE2D95-49E7-41C1-85E2-B411E9999DD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21425" y="4094049"/>
            <a:ext cx="4743099" cy="2386559"/>
          </a:xfrm>
          <a:prstGeom prst="rect">
            <a:avLst/>
          </a:prstGeom>
        </p:spPr>
      </p:pic>
    </p:spTree>
    <p:extLst>
      <p:ext uri="{BB962C8B-B14F-4D97-AF65-F5344CB8AC3E}">
        <p14:creationId xmlns:p14="http://schemas.microsoft.com/office/powerpoint/2010/main" val="35165512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17"/>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dirty="0"/>
              <a:t>Computer Memory Structure</a:t>
            </a:r>
            <a:endParaRPr dirty="0"/>
          </a:p>
        </p:txBody>
      </p:sp>
      <p:sp>
        <p:nvSpPr>
          <p:cNvPr id="227" name="Google Shape;227;p17"/>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grpSp>
        <p:nvGrpSpPr>
          <p:cNvPr id="12" name="Group 11">
            <a:extLst>
              <a:ext uri="{FF2B5EF4-FFF2-40B4-BE49-F238E27FC236}">
                <a16:creationId xmlns:a16="http://schemas.microsoft.com/office/drawing/2014/main" id="{2B5AA88E-F54D-4DC6-BBAA-15CC2C23ACAB}"/>
              </a:ext>
            </a:extLst>
          </p:cNvPr>
          <p:cNvGrpSpPr/>
          <p:nvPr/>
        </p:nvGrpSpPr>
        <p:grpSpPr>
          <a:xfrm>
            <a:off x="1189607" y="1656813"/>
            <a:ext cx="6764786" cy="4552882"/>
            <a:chOff x="1935332" y="1603547"/>
            <a:chExt cx="5273337" cy="3625974"/>
          </a:xfrm>
        </p:grpSpPr>
        <p:sp>
          <p:nvSpPr>
            <p:cNvPr id="2" name="Isosceles Triangle 1">
              <a:extLst>
                <a:ext uri="{FF2B5EF4-FFF2-40B4-BE49-F238E27FC236}">
                  <a16:creationId xmlns:a16="http://schemas.microsoft.com/office/drawing/2014/main" id="{FC0312FF-3F46-4C83-99A0-21E9DF44680E}"/>
                </a:ext>
              </a:extLst>
            </p:cNvPr>
            <p:cNvSpPr/>
            <p:nvPr/>
          </p:nvSpPr>
          <p:spPr>
            <a:xfrm>
              <a:off x="1935333" y="1603547"/>
              <a:ext cx="5273336" cy="3625974"/>
            </a:xfrm>
            <a:prstGeom prst="triangle">
              <a:avLst>
                <a:gd name="adj" fmla="val 50185"/>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4" name="Trapezoid 3">
              <a:extLst>
                <a:ext uri="{FF2B5EF4-FFF2-40B4-BE49-F238E27FC236}">
                  <a16:creationId xmlns:a16="http://schemas.microsoft.com/office/drawing/2014/main" id="{40146557-C35F-4786-A5CC-0F5236A880ED}"/>
                </a:ext>
              </a:extLst>
            </p:cNvPr>
            <p:cNvSpPr/>
            <p:nvPr/>
          </p:nvSpPr>
          <p:spPr>
            <a:xfrm>
              <a:off x="3229446" y="2539014"/>
              <a:ext cx="2692031" cy="915494"/>
            </a:xfrm>
            <a:prstGeom prst="trapezoid">
              <a:avLst>
                <a:gd name="adj" fmla="val 7529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Segoe Print" panose="02000600000000000000" pitchFamily="2" charset="0"/>
                </a:rPr>
                <a:t>CPU Cache</a:t>
              </a:r>
            </a:p>
          </p:txBody>
        </p:sp>
        <p:sp>
          <p:nvSpPr>
            <p:cNvPr id="6" name="Trapezoid 5">
              <a:extLst>
                <a:ext uri="{FF2B5EF4-FFF2-40B4-BE49-F238E27FC236}">
                  <a16:creationId xmlns:a16="http://schemas.microsoft.com/office/drawing/2014/main" id="{E8EE6E9D-1727-4DF4-9B55-B46F76574C78}"/>
                </a:ext>
              </a:extLst>
            </p:cNvPr>
            <p:cNvSpPr/>
            <p:nvPr/>
          </p:nvSpPr>
          <p:spPr>
            <a:xfrm>
              <a:off x="1935332" y="4429958"/>
              <a:ext cx="5273336" cy="799563"/>
            </a:xfrm>
            <a:prstGeom prst="trapezoid">
              <a:avLst>
                <a:gd name="adj" fmla="val 7345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Segoe Print" panose="02000600000000000000" pitchFamily="2" charset="0"/>
                </a:rPr>
                <a:t>Permanent Storage- Hard Disk</a:t>
              </a:r>
            </a:p>
          </p:txBody>
        </p:sp>
        <p:sp>
          <p:nvSpPr>
            <p:cNvPr id="7" name="Trapezoid 6">
              <a:extLst>
                <a:ext uri="{FF2B5EF4-FFF2-40B4-BE49-F238E27FC236}">
                  <a16:creationId xmlns:a16="http://schemas.microsoft.com/office/drawing/2014/main" id="{4C5B0C33-1156-474C-9794-5B22DCF95658}"/>
                </a:ext>
              </a:extLst>
            </p:cNvPr>
            <p:cNvSpPr/>
            <p:nvPr/>
          </p:nvSpPr>
          <p:spPr>
            <a:xfrm>
              <a:off x="2618913" y="3597677"/>
              <a:ext cx="3906174" cy="689111"/>
            </a:xfrm>
            <a:prstGeom prst="trapezoid">
              <a:avLst>
                <a:gd name="adj" fmla="val 7653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Segoe Print" panose="02000600000000000000" pitchFamily="2" charset="0"/>
                </a:rPr>
                <a:t>RAM</a:t>
              </a:r>
            </a:p>
          </p:txBody>
        </p:sp>
        <p:sp>
          <p:nvSpPr>
            <p:cNvPr id="11" name="Isosceles Triangle 10">
              <a:extLst>
                <a:ext uri="{FF2B5EF4-FFF2-40B4-BE49-F238E27FC236}">
                  <a16:creationId xmlns:a16="http://schemas.microsoft.com/office/drawing/2014/main" id="{A2750A23-CA13-4F68-89D4-0DBFC75220F1}"/>
                </a:ext>
              </a:extLst>
            </p:cNvPr>
            <p:cNvSpPr/>
            <p:nvPr/>
          </p:nvSpPr>
          <p:spPr>
            <a:xfrm>
              <a:off x="4021584" y="1628479"/>
              <a:ext cx="1127465" cy="767366"/>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59A8A4E3-8434-40CC-B1DA-832E79AB3679}"/>
                </a:ext>
              </a:extLst>
            </p:cNvPr>
            <p:cNvSpPr txBox="1"/>
            <p:nvPr/>
          </p:nvSpPr>
          <p:spPr>
            <a:xfrm>
              <a:off x="4358914" y="1935082"/>
              <a:ext cx="575799" cy="307777"/>
            </a:xfrm>
            <a:prstGeom prst="rect">
              <a:avLst/>
            </a:prstGeom>
            <a:noFill/>
          </p:spPr>
          <p:txBody>
            <a:bodyPr wrap="none" rtlCol="0">
              <a:spAutoFit/>
            </a:bodyPr>
            <a:lstStyle/>
            <a:p>
              <a:r>
                <a:rPr lang="en-US" dirty="0">
                  <a:solidFill>
                    <a:schemeClr val="bg1"/>
                  </a:solidFill>
                  <a:latin typeface="Segoe Print" panose="02000600000000000000" pitchFamily="2" charset="0"/>
                </a:rPr>
                <a:t>CPU</a:t>
              </a:r>
            </a:p>
          </p:txBody>
        </p:sp>
      </p:grpSp>
      <p:sp>
        <p:nvSpPr>
          <p:cNvPr id="13" name="Left Brace 12">
            <a:extLst>
              <a:ext uri="{FF2B5EF4-FFF2-40B4-BE49-F238E27FC236}">
                <a16:creationId xmlns:a16="http://schemas.microsoft.com/office/drawing/2014/main" id="{02743121-0DA5-40CB-B611-37F7608A4BD2}"/>
              </a:ext>
            </a:extLst>
          </p:cNvPr>
          <p:cNvSpPr/>
          <p:nvPr/>
        </p:nvSpPr>
        <p:spPr>
          <a:xfrm>
            <a:off x="1367161" y="1656813"/>
            <a:ext cx="577049" cy="330580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a:extLst>
              <a:ext uri="{FF2B5EF4-FFF2-40B4-BE49-F238E27FC236}">
                <a16:creationId xmlns:a16="http://schemas.microsoft.com/office/drawing/2014/main" id="{7E6EBB0D-AB73-4A20-AFF2-DF4BB8F128EA}"/>
              </a:ext>
            </a:extLst>
          </p:cNvPr>
          <p:cNvSpPr txBox="1"/>
          <p:nvPr/>
        </p:nvSpPr>
        <p:spPr>
          <a:xfrm>
            <a:off x="221943" y="2950860"/>
            <a:ext cx="1295688" cy="523220"/>
          </a:xfrm>
          <a:prstGeom prst="rect">
            <a:avLst/>
          </a:prstGeom>
          <a:noFill/>
        </p:spPr>
        <p:txBody>
          <a:bodyPr wrap="square" rtlCol="0">
            <a:spAutoFit/>
          </a:bodyPr>
          <a:lstStyle/>
          <a:p>
            <a:r>
              <a:rPr lang="en-US" dirty="0">
                <a:solidFill>
                  <a:schemeClr val="accent1"/>
                </a:solidFill>
                <a:latin typeface="Segoe Print" panose="02000600000000000000" pitchFamily="2" charset="0"/>
              </a:rPr>
              <a:t>Temporary Storage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C13E3-22F2-4DE2-A66C-D3EA4DAF0515}"/>
              </a:ext>
            </a:extLst>
          </p:cNvPr>
          <p:cNvSpPr>
            <a:spLocks noGrp="1"/>
          </p:cNvSpPr>
          <p:nvPr>
            <p:ph type="title"/>
          </p:nvPr>
        </p:nvSpPr>
        <p:spPr/>
        <p:txBody>
          <a:bodyPr/>
          <a:lstStyle/>
          <a:p>
            <a:r>
              <a:rPr lang="en-US" dirty="0"/>
              <a:t>What’s Missing?</a:t>
            </a:r>
          </a:p>
        </p:txBody>
      </p:sp>
      <p:sp>
        <p:nvSpPr>
          <p:cNvPr id="4" name="Content Placeholder 3">
            <a:extLst>
              <a:ext uri="{FF2B5EF4-FFF2-40B4-BE49-F238E27FC236}">
                <a16:creationId xmlns:a16="http://schemas.microsoft.com/office/drawing/2014/main" id="{6619B891-5ADC-4745-891C-F7005B38E0FB}"/>
              </a:ext>
            </a:extLst>
          </p:cNvPr>
          <p:cNvSpPr>
            <a:spLocks noGrp="1"/>
          </p:cNvSpPr>
          <p:nvPr>
            <p:ph idx="1"/>
          </p:nvPr>
        </p:nvSpPr>
        <p:spPr>
          <a:xfrm>
            <a:off x="380010" y="1481445"/>
            <a:ext cx="8383980" cy="5247391"/>
          </a:xfrm>
        </p:spPr>
        <p:txBody>
          <a:bodyPr>
            <a:normAutofit lnSpcReduction="10000"/>
          </a:bodyPr>
          <a:lstStyle/>
          <a:p>
            <a:r>
              <a:rPr lang="en-US" dirty="0"/>
              <a:t>Frameworks &amp; Libraries</a:t>
            </a:r>
          </a:p>
          <a:p>
            <a:pPr lvl="1"/>
            <a:r>
              <a:rPr lang="en-US" b="1" dirty="0"/>
              <a:t>Library</a:t>
            </a:r>
            <a:r>
              <a:rPr lang="en-US" dirty="0"/>
              <a:t>: utilities written by someone else to perform complex work with a simple(r) API.</a:t>
            </a:r>
          </a:p>
          <a:p>
            <a:pPr lvl="2"/>
            <a:r>
              <a:rPr lang="en-US" dirty="0"/>
              <a:t>Ex: JDBC Drivers: Java libraries to facilitate sending SQL queries from a Java application to a database, and translating the results into Java code</a:t>
            </a:r>
          </a:p>
          <a:p>
            <a:pPr lvl="2"/>
            <a:r>
              <a:rPr lang="en-US" dirty="0"/>
              <a:t>Ex: React: Open-source JavaScript library for building single-page web applications</a:t>
            </a:r>
          </a:p>
          <a:p>
            <a:pPr lvl="1"/>
            <a:r>
              <a:rPr lang="en-US" b="1" dirty="0"/>
              <a:t>Framework</a:t>
            </a:r>
            <a:r>
              <a:rPr lang="en-US" dirty="0"/>
              <a:t>: Larger utilities designed to run your code </a:t>
            </a:r>
            <a:r>
              <a:rPr lang="en-US" i="1" dirty="0"/>
              <a:t>for you</a:t>
            </a:r>
            <a:r>
              <a:rPr lang="en-US" dirty="0"/>
              <a:t> (i.e. you write code specifically to be used by the framework) to make certain tasks easier.</a:t>
            </a:r>
          </a:p>
          <a:p>
            <a:pPr lvl="2"/>
            <a:r>
              <a:rPr lang="en-US" dirty="0"/>
              <a:t>Ex: Spring: Java framework for building applications that are extremely easy to expand and test.</a:t>
            </a:r>
          </a:p>
          <a:p>
            <a:pPr lvl="2"/>
            <a:r>
              <a:rPr lang="en-US" dirty="0"/>
              <a:t>Ex: Angular: TypeScript framework used to build dynamic web applications</a:t>
            </a:r>
          </a:p>
        </p:txBody>
      </p:sp>
      <p:sp>
        <p:nvSpPr>
          <p:cNvPr id="3" name="Slide Number Placeholder 2">
            <a:extLst>
              <a:ext uri="{FF2B5EF4-FFF2-40B4-BE49-F238E27FC236}">
                <a16:creationId xmlns:a16="http://schemas.microsoft.com/office/drawing/2014/main" id="{F008CF56-3E30-418C-85BA-A6C93FB6B32C}"/>
              </a:ext>
            </a:extLst>
          </p:cNvPr>
          <p:cNvSpPr>
            <a:spLocks noGrp="1"/>
          </p:cNvSpPr>
          <p:nvPr>
            <p:ph type="sldNum" sz="quarter" idx="12"/>
          </p:nvPr>
        </p:nvSpPr>
        <p:spPr/>
        <p:txBody>
          <a:bodyPr/>
          <a:lstStyle/>
          <a:p>
            <a:fld id="{F6728BC2-ACA3-447C-A909-F3F49211C066}" type="slidenum">
              <a:rPr lang="en-US" smtClean="0"/>
              <a:pPr/>
              <a:t>6</a:t>
            </a:fld>
            <a:endParaRPr lang="en-US" dirty="0"/>
          </a:p>
        </p:txBody>
      </p:sp>
    </p:spTree>
    <p:extLst>
      <p:ext uri="{BB962C8B-B14F-4D97-AF65-F5344CB8AC3E}">
        <p14:creationId xmlns:p14="http://schemas.microsoft.com/office/powerpoint/2010/main" val="3682436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animEffect transition="in" filter="fade">
                                      <p:cBhvr>
                                        <p:cTn id="15" dur="500"/>
                                        <p:tgtEl>
                                          <p:spTgt spid="4">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
                                            <p:txEl>
                                              <p:pRg st="4" end="4"/>
                                            </p:txEl>
                                          </p:spTgt>
                                        </p:tgtEl>
                                        <p:attrNameLst>
                                          <p:attrName>style.visibility</p:attrName>
                                        </p:attrNameLst>
                                      </p:cBhvr>
                                      <p:to>
                                        <p:strVal val="visible"/>
                                      </p:to>
                                    </p:set>
                                    <p:animEffect transition="in" filter="fade">
                                      <p:cBhvr>
                                        <p:cTn id="20" dur="500"/>
                                        <p:tgtEl>
                                          <p:spTgt spid="4">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4">
                                            <p:txEl>
                                              <p:pRg st="5" end="5"/>
                                            </p:txEl>
                                          </p:spTgt>
                                        </p:tgtEl>
                                        <p:attrNameLst>
                                          <p:attrName>style.visibility</p:attrName>
                                        </p:attrNameLst>
                                      </p:cBhvr>
                                      <p:to>
                                        <p:strVal val="visible"/>
                                      </p:to>
                                    </p:set>
                                    <p:animEffect transition="in" filter="fade">
                                      <p:cBhvr>
                                        <p:cTn id="25" dur="500"/>
                                        <p:tgtEl>
                                          <p:spTgt spid="4">
                                            <p:txEl>
                                              <p:pRg st="5" end="5"/>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4">
                                            <p:txEl>
                                              <p:pRg st="6" end="6"/>
                                            </p:txEl>
                                          </p:spTgt>
                                        </p:tgtEl>
                                        <p:attrNameLst>
                                          <p:attrName>style.visibility</p:attrName>
                                        </p:attrNameLst>
                                      </p:cBhvr>
                                      <p:to>
                                        <p:strVal val="visible"/>
                                      </p:to>
                                    </p:set>
                                    <p:animEffect transition="in" filter="fade">
                                      <p:cBhvr>
                                        <p:cTn id="28"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AB998-190F-2731-9FBF-B29B89E0B09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EBAEBE5-5018-CEA3-7A7E-021A1AE2B943}"/>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7</a:t>
            </a:fld>
            <a:endParaRPr lang="en-US"/>
          </a:p>
        </p:txBody>
      </p:sp>
      <p:sp>
        <p:nvSpPr>
          <p:cNvPr id="4" name="Google Shape;212;p15">
            <a:extLst>
              <a:ext uri="{FF2B5EF4-FFF2-40B4-BE49-F238E27FC236}">
                <a16:creationId xmlns:a16="http://schemas.microsoft.com/office/drawing/2014/main" id="{1460DB65-D1DF-DB8D-7BE3-487567050CDC}"/>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Java Environment &amp; Compilation</a:t>
            </a:r>
          </a:p>
        </p:txBody>
      </p:sp>
      <p:pic>
        <p:nvPicPr>
          <p:cNvPr id="6" name="Picture 5">
            <a:extLst>
              <a:ext uri="{FF2B5EF4-FFF2-40B4-BE49-F238E27FC236}">
                <a16:creationId xmlns:a16="http://schemas.microsoft.com/office/drawing/2014/main" id="{829AAAF2-1355-D032-F2E8-A184AE7292AA}"/>
              </a:ext>
            </a:extLst>
          </p:cNvPr>
          <p:cNvPicPr>
            <a:picLocks noChangeAspect="1"/>
          </p:cNvPicPr>
          <p:nvPr/>
        </p:nvPicPr>
        <p:blipFill>
          <a:blip r:embed="rId2"/>
          <a:stretch>
            <a:fillRect/>
          </a:stretch>
        </p:blipFill>
        <p:spPr>
          <a:xfrm>
            <a:off x="7036646" y="0"/>
            <a:ext cx="2107354" cy="773112"/>
          </a:xfrm>
          <a:prstGeom prst="rect">
            <a:avLst/>
          </a:prstGeom>
        </p:spPr>
      </p:pic>
    </p:spTree>
    <p:extLst>
      <p:ext uri="{BB962C8B-B14F-4D97-AF65-F5344CB8AC3E}">
        <p14:creationId xmlns:p14="http://schemas.microsoft.com/office/powerpoint/2010/main" val="21730706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47687-FC36-4628-A7FB-F67D98761677}"/>
              </a:ext>
            </a:extLst>
          </p:cNvPr>
          <p:cNvSpPr>
            <a:spLocks noGrp="1"/>
          </p:cNvSpPr>
          <p:nvPr>
            <p:ph type="title"/>
          </p:nvPr>
        </p:nvSpPr>
        <p:spPr/>
        <p:txBody>
          <a:bodyPr/>
          <a:lstStyle/>
          <a:p>
            <a:r>
              <a:rPr lang="en-US" dirty="0"/>
              <a:t>JDK, JRE, JVM</a:t>
            </a:r>
          </a:p>
        </p:txBody>
      </p:sp>
      <p:sp>
        <p:nvSpPr>
          <p:cNvPr id="4" name="Slide Number Placeholder 3">
            <a:extLst>
              <a:ext uri="{FF2B5EF4-FFF2-40B4-BE49-F238E27FC236}">
                <a16:creationId xmlns:a16="http://schemas.microsoft.com/office/drawing/2014/main" id="{9D53BCEC-77E7-4D40-B575-EDB061FAAA0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
        <p:nvSpPr>
          <p:cNvPr id="20" name="Rectangle 19">
            <a:extLst>
              <a:ext uri="{FF2B5EF4-FFF2-40B4-BE49-F238E27FC236}">
                <a16:creationId xmlns:a16="http://schemas.microsoft.com/office/drawing/2014/main" id="{950695CA-9ECE-4B80-903D-62A77103A841}"/>
              </a:ext>
            </a:extLst>
          </p:cNvPr>
          <p:cNvSpPr/>
          <p:nvPr/>
        </p:nvSpPr>
        <p:spPr>
          <a:xfrm>
            <a:off x="653896" y="2198157"/>
            <a:ext cx="3918104" cy="3474720"/>
          </a:xfrm>
          <a:prstGeom prst="rect">
            <a:avLst/>
          </a:prstGeom>
          <a:solidFill>
            <a:srgbClr val="000000">
              <a:alpha val="5000"/>
            </a:srgbClr>
          </a:solidFill>
          <a:ln w="180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numCol="2" rtlCol="0" anchor="t" anchorCtr="1"/>
          <a:lstStyle/>
          <a:p>
            <a:endParaRPr lang="en-US" dirty="0">
              <a:solidFill>
                <a:srgbClr val="000000"/>
              </a:solidFill>
              <a:latin typeface="Segoe Print" panose="02000600000000000000" pitchFamily="2" charset="0"/>
            </a:endParaRPr>
          </a:p>
          <a:p>
            <a:endParaRPr lang="en-US" dirty="0">
              <a:solidFill>
                <a:srgbClr val="000000"/>
              </a:solidFill>
              <a:latin typeface="Segoe Print" panose="02000600000000000000" pitchFamily="2" charset="0"/>
            </a:endParaRPr>
          </a:p>
          <a:p>
            <a:r>
              <a:rPr lang="en-US" dirty="0" err="1">
                <a:solidFill>
                  <a:srgbClr val="000000"/>
                </a:solidFill>
                <a:latin typeface="Segoe Print" panose="02000600000000000000" pitchFamily="2" charset="0"/>
              </a:rPr>
              <a:t>javac</a:t>
            </a:r>
            <a:r>
              <a:rPr lang="en-US" dirty="0">
                <a:solidFill>
                  <a:srgbClr val="000000"/>
                </a:solidFill>
                <a:latin typeface="Segoe Print" panose="02000600000000000000" pitchFamily="2" charset="0"/>
              </a:rPr>
              <a:t> command</a:t>
            </a:r>
          </a:p>
        </p:txBody>
      </p:sp>
      <p:sp>
        <p:nvSpPr>
          <p:cNvPr id="29" name="Rectangle 28">
            <a:extLst>
              <a:ext uri="{FF2B5EF4-FFF2-40B4-BE49-F238E27FC236}">
                <a16:creationId xmlns:a16="http://schemas.microsoft.com/office/drawing/2014/main" id="{BB2C8024-0DFB-4664-9D60-1FC2F51226C7}"/>
              </a:ext>
            </a:extLst>
          </p:cNvPr>
          <p:cNvSpPr/>
          <p:nvPr/>
        </p:nvSpPr>
        <p:spPr>
          <a:xfrm>
            <a:off x="882032" y="3129700"/>
            <a:ext cx="3482578" cy="23189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a:latin typeface="Segoe Print" panose="02000600000000000000" pitchFamily="2" charset="0"/>
              </a:rPr>
              <a:t>JRE: Java Runtime Environment</a:t>
            </a:r>
          </a:p>
        </p:txBody>
      </p:sp>
      <p:sp>
        <p:nvSpPr>
          <p:cNvPr id="31" name="Rectangle 30">
            <a:extLst>
              <a:ext uri="{FF2B5EF4-FFF2-40B4-BE49-F238E27FC236}">
                <a16:creationId xmlns:a16="http://schemas.microsoft.com/office/drawing/2014/main" id="{097FADB2-4D94-4BA3-82FC-2F78CBEDA5ED}"/>
              </a:ext>
            </a:extLst>
          </p:cNvPr>
          <p:cNvSpPr/>
          <p:nvPr/>
        </p:nvSpPr>
        <p:spPr>
          <a:xfrm>
            <a:off x="537547" y="2240112"/>
            <a:ext cx="4034453" cy="400110"/>
          </a:xfrm>
          <a:prstGeom prst="rect">
            <a:avLst/>
          </a:prstGeom>
          <a:noFill/>
        </p:spPr>
        <p:txBody>
          <a:bodyPr wrap="square" lIns="91440" tIns="45720" rIns="91440" bIns="45720">
            <a:spAutoFit/>
          </a:bodyPr>
          <a:lstStyle/>
          <a:p>
            <a:pPr algn="ctr"/>
            <a:r>
              <a:rPr lang="en-US" sz="2000" b="0" cap="none" spc="0" dirty="0">
                <a:ln w="0"/>
                <a:solidFill>
                  <a:schemeClr val="tx1"/>
                </a:solidFill>
                <a:effectLst>
                  <a:outerShdw blurRad="38100" dist="19050" dir="2700000" algn="tl" rotWithShape="0">
                    <a:schemeClr val="dk1">
                      <a:alpha val="40000"/>
                    </a:schemeClr>
                  </a:outerShdw>
                </a:effectLst>
                <a:latin typeface="Segoe Print" panose="02000600000000000000" pitchFamily="2" charset="0"/>
              </a:rPr>
              <a:t>JDK: Java Development Kit</a:t>
            </a:r>
          </a:p>
        </p:txBody>
      </p:sp>
      <p:sp>
        <p:nvSpPr>
          <p:cNvPr id="32" name="Rectangle 31">
            <a:extLst>
              <a:ext uri="{FF2B5EF4-FFF2-40B4-BE49-F238E27FC236}">
                <a16:creationId xmlns:a16="http://schemas.microsoft.com/office/drawing/2014/main" id="{1506E8BE-D0B1-447D-9B31-63172F9DAA68}"/>
              </a:ext>
            </a:extLst>
          </p:cNvPr>
          <p:cNvSpPr/>
          <p:nvPr/>
        </p:nvSpPr>
        <p:spPr>
          <a:xfrm>
            <a:off x="1414021" y="3780148"/>
            <a:ext cx="2366127" cy="137631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latin typeface="Segoe Print" panose="02000600000000000000" pitchFamily="2" charset="0"/>
              </a:rPr>
              <a:t>JVM: Java Virtual Machine</a:t>
            </a:r>
          </a:p>
          <a:p>
            <a:pPr algn="ctr"/>
            <a:endParaRPr lang="en-US" dirty="0">
              <a:latin typeface="Segoe Print" panose="02000600000000000000" pitchFamily="2" charset="0"/>
            </a:endParaRPr>
          </a:p>
          <a:p>
            <a:pPr algn="ctr"/>
            <a:r>
              <a:rPr lang="en-US" sz="1200" dirty="0" err="1">
                <a:latin typeface="Segoe Print" panose="02000600000000000000" pitchFamily="2" charset="0"/>
              </a:rPr>
              <a:t>JiT</a:t>
            </a:r>
            <a:r>
              <a:rPr lang="en-US" sz="1200" dirty="0">
                <a:latin typeface="Segoe Print" panose="02000600000000000000" pitchFamily="2" charset="0"/>
              </a:rPr>
              <a:t> compilation</a:t>
            </a:r>
          </a:p>
        </p:txBody>
      </p:sp>
      <p:sp>
        <p:nvSpPr>
          <p:cNvPr id="33" name="Flowchart: Document 32">
            <a:extLst>
              <a:ext uri="{FF2B5EF4-FFF2-40B4-BE49-F238E27FC236}">
                <a16:creationId xmlns:a16="http://schemas.microsoft.com/office/drawing/2014/main" id="{C1D67B8F-72A8-4739-8BC0-E05570199DD3}"/>
              </a:ext>
            </a:extLst>
          </p:cNvPr>
          <p:cNvSpPr/>
          <p:nvPr/>
        </p:nvSpPr>
        <p:spPr>
          <a:xfrm>
            <a:off x="6042581" y="1630737"/>
            <a:ext cx="1185884" cy="1218750"/>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Source Code: </a:t>
            </a:r>
          </a:p>
          <a:p>
            <a:pPr algn="ctr"/>
            <a:r>
              <a:rPr lang="en-US" dirty="0"/>
              <a:t>.java</a:t>
            </a:r>
          </a:p>
        </p:txBody>
      </p:sp>
      <p:sp>
        <p:nvSpPr>
          <p:cNvPr id="37" name="Freeform: Shape 36">
            <a:extLst>
              <a:ext uri="{FF2B5EF4-FFF2-40B4-BE49-F238E27FC236}">
                <a16:creationId xmlns:a16="http://schemas.microsoft.com/office/drawing/2014/main" id="{72C5F55C-B4B3-48D7-8CB7-1B374219866E}"/>
              </a:ext>
            </a:extLst>
          </p:cNvPr>
          <p:cNvSpPr/>
          <p:nvPr/>
        </p:nvSpPr>
        <p:spPr>
          <a:xfrm>
            <a:off x="2330314" y="1989056"/>
            <a:ext cx="3712267" cy="771558"/>
          </a:xfrm>
          <a:custGeom>
            <a:avLst/>
            <a:gdLst>
              <a:gd name="connsiteX0" fmla="*/ 3742441 w 3742441"/>
              <a:gd name="connsiteY0" fmla="*/ 0 h 744717"/>
              <a:gd name="connsiteX1" fmla="*/ 2149312 w 3742441"/>
              <a:gd name="connsiteY1" fmla="*/ 622169 h 744717"/>
              <a:gd name="connsiteX2" fmla="*/ 0 w 3742441"/>
              <a:gd name="connsiteY2" fmla="*/ 744717 h 744717"/>
              <a:gd name="connsiteX3" fmla="*/ 0 w 3742441"/>
              <a:gd name="connsiteY3" fmla="*/ 744717 h 744717"/>
            </a:gdLst>
            <a:ahLst/>
            <a:cxnLst>
              <a:cxn ang="0">
                <a:pos x="connsiteX0" y="connsiteY0"/>
              </a:cxn>
              <a:cxn ang="0">
                <a:pos x="connsiteX1" y="connsiteY1"/>
              </a:cxn>
              <a:cxn ang="0">
                <a:pos x="connsiteX2" y="connsiteY2"/>
              </a:cxn>
              <a:cxn ang="0">
                <a:pos x="connsiteX3" y="connsiteY3"/>
              </a:cxn>
            </a:cxnLst>
            <a:rect l="l" t="t" r="r" b="b"/>
            <a:pathLst>
              <a:path w="3742441" h="744717">
                <a:moveTo>
                  <a:pt x="3742441" y="0"/>
                </a:moveTo>
                <a:cubicBezTo>
                  <a:pt x="3257746" y="249025"/>
                  <a:pt x="2773052" y="498050"/>
                  <a:pt x="2149312" y="622169"/>
                </a:cubicBezTo>
                <a:cubicBezTo>
                  <a:pt x="1525572" y="746289"/>
                  <a:pt x="0" y="744717"/>
                  <a:pt x="0" y="744717"/>
                </a:cubicBezTo>
                <a:lnTo>
                  <a:pt x="0" y="744717"/>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37">
            <a:extLst>
              <a:ext uri="{FF2B5EF4-FFF2-40B4-BE49-F238E27FC236}">
                <a16:creationId xmlns:a16="http://schemas.microsoft.com/office/drawing/2014/main" id="{123FBC8F-B443-48B1-A4C1-7951E1E005FB}"/>
              </a:ext>
            </a:extLst>
          </p:cNvPr>
          <p:cNvSpPr/>
          <p:nvPr/>
        </p:nvSpPr>
        <p:spPr>
          <a:xfrm>
            <a:off x="2262325" y="2712639"/>
            <a:ext cx="98520" cy="106111"/>
          </a:xfrm>
          <a:custGeom>
            <a:avLst/>
            <a:gdLst>
              <a:gd name="connsiteX0" fmla="*/ 94376 w 98520"/>
              <a:gd name="connsiteY0" fmla="*/ 2281 h 106111"/>
              <a:gd name="connsiteX1" fmla="*/ 108 w 98520"/>
              <a:gd name="connsiteY1" fmla="*/ 39988 h 106111"/>
              <a:gd name="connsiteX2" fmla="*/ 75522 w 98520"/>
              <a:gd name="connsiteY2" fmla="*/ 105975 h 106111"/>
              <a:gd name="connsiteX3" fmla="*/ 94376 w 98520"/>
              <a:gd name="connsiteY3" fmla="*/ 2281 h 106111"/>
            </a:gdLst>
            <a:ahLst/>
            <a:cxnLst>
              <a:cxn ang="0">
                <a:pos x="connsiteX0" y="connsiteY0"/>
              </a:cxn>
              <a:cxn ang="0">
                <a:pos x="connsiteX1" y="connsiteY1"/>
              </a:cxn>
              <a:cxn ang="0">
                <a:pos x="connsiteX2" y="connsiteY2"/>
              </a:cxn>
              <a:cxn ang="0">
                <a:pos x="connsiteX3" y="connsiteY3"/>
              </a:cxn>
            </a:cxnLst>
            <a:rect l="l" t="t" r="r" b="b"/>
            <a:pathLst>
              <a:path w="98520" h="106111">
                <a:moveTo>
                  <a:pt x="94376" y="2281"/>
                </a:moveTo>
                <a:cubicBezTo>
                  <a:pt x="81807" y="-8717"/>
                  <a:pt x="3250" y="22706"/>
                  <a:pt x="108" y="39988"/>
                </a:cubicBezTo>
                <a:cubicBezTo>
                  <a:pt x="-3034" y="57270"/>
                  <a:pt x="62953" y="109117"/>
                  <a:pt x="75522" y="105975"/>
                </a:cubicBezTo>
                <a:cubicBezTo>
                  <a:pt x="88091" y="102833"/>
                  <a:pt x="106945" y="13279"/>
                  <a:pt x="94376" y="2281"/>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39">
            <a:extLst>
              <a:ext uri="{FF2B5EF4-FFF2-40B4-BE49-F238E27FC236}">
                <a16:creationId xmlns:a16="http://schemas.microsoft.com/office/drawing/2014/main" id="{31CE484F-0D46-46BC-8579-D124FFDDB7E2}"/>
              </a:ext>
            </a:extLst>
          </p:cNvPr>
          <p:cNvSpPr/>
          <p:nvPr/>
        </p:nvSpPr>
        <p:spPr>
          <a:xfrm>
            <a:off x="1885361" y="2894029"/>
            <a:ext cx="4715608" cy="616920"/>
          </a:xfrm>
          <a:custGeom>
            <a:avLst/>
            <a:gdLst>
              <a:gd name="connsiteX0" fmla="*/ 0 w 4715608"/>
              <a:gd name="connsiteY0" fmla="*/ 0 h 616920"/>
              <a:gd name="connsiteX1" fmla="*/ 952107 w 4715608"/>
              <a:gd name="connsiteY1" fmla="*/ 94268 h 616920"/>
              <a:gd name="connsiteX2" fmla="*/ 3723587 w 4715608"/>
              <a:gd name="connsiteY2" fmla="*/ 75414 h 616920"/>
              <a:gd name="connsiteX3" fmla="*/ 4581427 w 4715608"/>
              <a:gd name="connsiteY3" fmla="*/ 546755 h 616920"/>
              <a:gd name="connsiteX4" fmla="*/ 4581427 w 4715608"/>
              <a:gd name="connsiteY4" fmla="*/ 546755 h 616920"/>
              <a:gd name="connsiteX5" fmla="*/ 4703975 w 4715608"/>
              <a:gd name="connsiteY5" fmla="*/ 471340 h 616920"/>
              <a:gd name="connsiteX6" fmla="*/ 4694548 w 4715608"/>
              <a:gd name="connsiteY6" fmla="*/ 612742 h 616920"/>
              <a:gd name="connsiteX7" fmla="*/ 4562573 w 4715608"/>
              <a:gd name="connsiteY7" fmla="*/ 565608 h 616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15608" h="616920">
                <a:moveTo>
                  <a:pt x="0" y="0"/>
                </a:moveTo>
                <a:cubicBezTo>
                  <a:pt x="165754" y="40849"/>
                  <a:pt x="331509" y="81699"/>
                  <a:pt x="952107" y="94268"/>
                </a:cubicBezTo>
                <a:cubicBezTo>
                  <a:pt x="1572705" y="106837"/>
                  <a:pt x="3118700" y="0"/>
                  <a:pt x="3723587" y="75414"/>
                </a:cubicBezTo>
                <a:cubicBezTo>
                  <a:pt x="4328474" y="150828"/>
                  <a:pt x="4581427" y="546755"/>
                  <a:pt x="4581427" y="546755"/>
                </a:cubicBezTo>
                <a:lnTo>
                  <a:pt x="4581427" y="546755"/>
                </a:lnTo>
                <a:cubicBezTo>
                  <a:pt x="4601851" y="534186"/>
                  <a:pt x="4685121" y="460342"/>
                  <a:pt x="4703975" y="471340"/>
                </a:cubicBezTo>
                <a:cubicBezTo>
                  <a:pt x="4722829" y="482338"/>
                  <a:pt x="4718115" y="597031"/>
                  <a:pt x="4694548" y="612742"/>
                </a:cubicBezTo>
                <a:cubicBezTo>
                  <a:pt x="4670981" y="628453"/>
                  <a:pt x="4616777" y="597030"/>
                  <a:pt x="4562573" y="56560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2">
            <p14:nvContentPartPr>
              <p14:cNvPr id="46" name="Ink 45">
                <a:extLst>
                  <a:ext uri="{FF2B5EF4-FFF2-40B4-BE49-F238E27FC236}">
                    <a16:creationId xmlns:a16="http://schemas.microsoft.com/office/drawing/2014/main" id="{90AEBC5B-8F06-4BF3-B402-BE4E5EFDC8B6}"/>
                  </a:ext>
                </a:extLst>
              </p14:cNvPr>
              <p14:cNvContentPartPr/>
              <p14:nvPr/>
            </p14:nvContentPartPr>
            <p14:xfrm>
              <a:off x="6488506" y="3392132"/>
              <a:ext cx="101520" cy="103320"/>
            </p14:xfrm>
          </p:contentPart>
        </mc:Choice>
        <mc:Fallback xmlns="">
          <p:pic>
            <p:nvPicPr>
              <p:cNvPr id="46" name="Ink 45">
                <a:extLst>
                  <a:ext uri="{FF2B5EF4-FFF2-40B4-BE49-F238E27FC236}">
                    <a16:creationId xmlns:a16="http://schemas.microsoft.com/office/drawing/2014/main" id="{90AEBC5B-8F06-4BF3-B402-BE4E5EFDC8B6}"/>
                  </a:ext>
                </a:extLst>
              </p:cNvPr>
              <p:cNvPicPr/>
              <p:nvPr/>
            </p:nvPicPr>
            <p:blipFill>
              <a:blip r:embed="rId5"/>
              <a:stretch>
                <a:fillRect/>
              </a:stretch>
            </p:blipFill>
            <p:spPr>
              <a:xfrm>
                <a:off x="6479506" y="3383132"/>
                <a:ext cx="119160" cy="120960"/>
              </a:xfrm>
              <a:prstGeom prst="rect">
                <a:avLst/>
              </a:prstGeom>
            </p:spPr>
          </p:pic>
        </mc:Fallback>
      </mc:AlternateContent>
      <p:sp>
        <p:nvSpPr>
          <p:cNvPr id="47" name="Flowchart: Document 46">
            <a:extLst>
              <a:ext uri="{FF2B5EF4-FFF2-40B4-BE49-F238E27FC236}">
                <a16:creationId xmlns:a16="http://schemas.microsoft.com/office/drawing/2014/main" id="{8F4D69AB-4332-4F5B-8529-9A5D5E2132D8}"/>
              </a:ext>
            </a:extLst>
          </p:cNvPr>
          <p:cNvSpPr/>
          <p:nvPr/>
        </p:nvSpPr>
        <p:spPr>
          <a:xfrm>
            <a:off x="6042581" y="3619343"/>
            <a:ext cx="1185884" cy="1150070"/>
          </a:xfrm>
          <a:prstGeom prst="flowChartDocumen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Bytecode:</a:t>
            </a:r>
          </a:p>
          <a:p>
            <a:pPr algn="ctr"/>
            <a:r>
              <a:rPr lang="en-US" dirty="0"/>
              <a:t>.class</a:t>
            </a:r>
          </a:p>
        </p:txBody>
      </p:sp>
      <p:sp>
        <p:nvSpPr>
          <p:cNvPr id="48" name="Freeform: Shape 47">
            <a:extLst>
              <a:ext uri="{FF2B5EF4-FFF2-40B4-BE49-F238E27FC236}">
                <a16:creationId xmlns:a16="http://schemas.microsoft.com/office/drawing/2014/main" id="{29BE5914-F7A3-40F3-810C-1269638EBC6B}"/>
              </a:ext>
            </a:extLst>
          </p:cNvPr>
          <p:cNvSpPr/>
          <p:nvPr/>
        </p:nvSpPr>
        <p:spPr>
          <a:xfrm>
            <a:off x="3299382" y="4074212"/>
            <a:ext cx="2743200" cy="695201"/>
          </a:xfrm>
          <a:custGeom>
            <a:avLst/>
            <a:gdLst>
              <a:gd name="connsiteX0" fmla="*/ 3742441 w 3742441"/>
              <a:gd name="connsiteY0" fmla="*/ 0 h 744717"/>
              <a:gd name="connsiteX1" fmla="*/ 2149312 w 3742441"/>
              <a:gd name="connsiteY1" fmla="*/ 622169 h 744717"/>
              <a:gd name="connsiteX2" fmla="*/ 0 w 3742441"/>
              <a:gd name="connsiteY2" fmla="*/ 744717 h 744717"/>
              <a:gd name="connsiteX3" fmla="*/ 0 w 3742441"/>
              <a:gd name="connsiteY3" fmla="*/ 744717 h 744717"/>
            </a:gdLst>
            <a:ahLst/>
            <a:cxnLst>
              <a:cxn ang="0">
                <a:pos x="connsiteX0" y="connsiteY0"/>
              </a:cxn>
              <a:cxn ang="0">
                <a:pos x="connsiteX1" y="connsiteY1"/>
              </a:cxn>
              <a:cxn ang="0">
                <a:pos x="connsiteX2" y="connsiteY2"/>
              </a:cxn>
              <a:cxn ang="0">
                <a:pos x="connsiteX3" y="connsiteY3"/>
              </a:cxn>
            </a:cxnLst>
            <a:rect l="l" t="t" r="r" b="b"/>
            <a:pathLst>
              <a:path w="3742441" h="744717">
                <a:moveTo>
                  <a:pt x="3742441" y="0"/>
                </a:moveTo>
                <a:cubicBezTo>
                  <a:pt x="3257746" y="249025"/>
                  <a:pt x="2773052" y="498050"/>
                  <a:pt x="2149312" y="622169"/>
                </a:cubicBezTo>
                <a:cubicBezTo>
                  <a:pt x="1525572" y="746289"/>
                  <a:pt x="0" y="744717"/>
                  <a:pt x="0" y="744717"/>
                </a:cubicBezTo>
                <a:lnTo>
                  <a:pt x="0" y="744717"/>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Freeform: Shape 48">
            <a:extLst>
              <a:ext uri="{FF2B5EF4-FFF2-40B4-BE49-F238E27FC236}">
                <a16:creationId xmlns:a16="http://schemas.microsoft.com/office/drawing/2014/main" id="{64CDFA0A-CFDB-4F5F-AF3D-D8BE99A12F2A}"/>
              </a:ext>
            </a:extLst>
          </p:cNvPr>
          <p:cNvSpPr/>
          <p:nvPr/>
        </p:nvSpPr>
        <p:spPr>
          <a:xfrm>
            <a:off x="3250122" y="4710554"/>
            <a:ext cx="98520" cy="106111"/>
          </a:xfrm>
          <a:custGeom>
            <a:avLst/>
            <a:gdLst>
              <a:gd name="connsiteX0" fmla="*/ 94376 w 98520"/>
              <a:gd name="connsiteY0" fmla="*/ 2281 h 106111"/>
              <a:gd name="connsiteX1" fmla="*/ 108 w 98520"/>
              <a:gd name="connsiteY1" fmla="*/ 39988 h 106111"/>
              <a:gd name="connsiteX2" fmla="*/ 75522 w 98520"/>
              <a:gd name="connsiteY2" fmla="*/ 105975 h 106111"/>
              <a:gd name="connsiteX3" fmla="*/ 94376 w 98520"/>
              <a:gd name="connsiteY3" fmla="*/ 2281 h 106111"/>
            </a:gdLst>
            <a:ahLst/>
            <a:cxnLst>
              <a:cxn ang="0">
                <a:pos x="connsiteX0" y="connsiteY0"/>
              </a:cxn>
              <a:cxn ang="0">
                <a:pos x="connsiteX1" y="connsiteY1"/>
              </a:cxn>
              <a:cxn ang="0">
                <a:pos x="connsiteX2" y="connsiteY2"/>
              </a:cxn>
              <a:cxn ang="0">
                <a:pos x="connsiteX3" y="connsiteY3"/>
              </a:cxn>
            </a:cxnLst>
            <a:rect l="l" t="t" r="r" b="b"/>
            <a:pathLst>
              <a:path w="98520" h="106111">
                <a:moveTo>
                  <a:pt x="94376" y="2281"/>
                </a:moveTo>
                <a:cubicBezTo>
                  <a:pt x="81807" y="-8717"/>
                  <a:pt x="3250" y="22706"/>
                  <a:pt x="108" y="39988"/>
                </a:cubicBezTo>
                <a:cubicBezTo>
                  <a:pt x="-3034" y="57270"/>
                  <a:pt x="62953" y="109117"/>
                  <a:pt x="75522" y="105975"/>
                </a:cubicBezTo>
                <a:cubicBezTo>
                  <a:pt x="88091" y="102833"/>
                  <a:pt x="106945" y="13279"/>
                  <a:pt x="94376" y="2281"/>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reeform: Shape 49">
            <a:extLst>
              <a:ext uri="{FF2B5EF4-FFF2-40B4-BE49-F238E27FC236}">
                <a16:creationId xmlns:a16="http://schemas.microsoft.com/office/drawing/2014/main" id="{FB0FF403-ADD3-414C-B437-D60E369F9B13}"/>
              </a:ext>
            </a:extLst>
          </p:cNvPr>
          <p:cNvSpPr/>
          <p:nvPr/>
        </p:nvSpPr>
        <p:spPr>
          <a:xfrm>
            <a:off x="3172449" y="4893613"/>
            <a:ext cx="3633704" cy="616920"/>
          </a:xfrm>
          <a:custGeom>
            <a:avLst/>
            <a:gdLst>
              <a:gd name="connsiteX0" fmla="*/ 0 w 4715608"/>
              <a:gd name="connsiteY0" fmla="*/ 0 h 616920"/>
              <a:gd name="connsiteX1" fmla="*/ 952107 w 4715608"/>
              <a:gd name="connsiteY1" fmla="*/ 94268 h 616920"/>
              <a:gd name="connsiteX2" fmla="*/ 3723587 w 4715608"/>
              <a:gd name="connsiteY2" fmla="*/ 75414 h 616920"/>
              <a:gd name="connsiteX3" fmla="*/ 4581427 w 4715608"/>
              <a:gd name="connsiteY3" fmla="*/ 546755 h 616920"/>
              <a:gd name="connsiteX4" fmla="*/ 4581427 w 4715608"/>
              <a:gd name="connsiteY4" fmla="*/ 546755 h 616920"/>
              <a:gd name="connsiteX5" fmla="*/ 4703975 w 4715608"/>
              <a:gd name="connsiteY5" fmla="*/ 471340 h 616920"/>
              <a:gd name="connsiteX6" fmla="*/ 4694548 w 4715608"/>
              <a:gd name="connsiteY6" fmla="*/ 612742 h 616920"/>
              <a:gd name="connsiteX7" fmla="*/ 4562573 w 4715608"/>
              <a:gd name="connsiteY7" fmla="*/ 565608 h 616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15608" h="616920">
                <a:moveTo>
                  <a:pt x="0" y="0"/>
                </a:moveTo>
                <a:cubicBezTo>
                  <a:pt x="165754" y="40849"/>
                  <a:pt x="331509" y="81699"/>
                  <a:pt x="952107" y="94268"/>
                </a:cubicBezTo>
                <a:cubicBezTo>
                  <a:pt x="1572705" y="106837"/>
                  <a:pt x="3118700" y="0"/>
                  <a:pt x="3723587" y="75414"/>
                </a:cubicBezTo>
                <a:cubicBezTo>
                  <a:pt x="4328474" y="150828"/>
                  <a:pt x="4581427" y="546755"/>
                  <a:pt x="4581427" y="546755"/>
                </a:cubicBezTo>
                <a:lnTo>
                  <a:pt x="4581427" y="546755"/>
                </a:lnTo>
                <a:cubicBezTo>
                  <a:pt x="4601851" y="534186"/>
                  <a:pt x="4685121" y="460342"/>
                  <a:pt x="4703975" y="471340"/>
                </a:cubicBezTo>
                <a:cubicBezTo>
                  <a:pt x="4722829" y="482338"/>
                  <a:pt x="4718115" y="597031"/>
                  <a:pt x="4694548" y="612742"/>
                </a:cubicBezTo>
                <a:cubicBezTo>
                  <a:pt x="4670981" y="628453"/>
                  <a:pt x="4616777" y="597030"/>
                  <a:pt x="4562573" y="56560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6">
            <p14:nvContentPartPr>
              <p14:cNvPr id="51" name="Ink 50">
                <a:extLst>
                  <a:ext uri="{FF2B5EF4-FFF2-40B4-BE49-F238E27FC236}">
                    <a16:creationId xmlns:a16="http://schemas.microsoft.com/office/drawing/2014/main" id="{F61F241E-9743-44BF-92E4-2B8DA9EA2062}"/>
                  </a:ext>
                </a:extLst>
              </p14:cNvPr>
              <p14:cNvContentPartPr/>
              <p14:nvPr/>
            </p14:nvContentPartPr>
            <p14:xfrm>
              <a:off x="6704633" y="5397033"/>
              <a:ext cx="101520" cy="103320"/>
            </p14:xfrm>
          </p:contentPart>
        </mc:Choice>
        <mc:Fallback xmlns="">
          <p:pic>
            <p:nvPicPr>
              <p:cNvPr id="51" name="Ink 50">
                <a:extLst>
                  <a:ext uri="{FF2B5EF4-FFF2-40B4-BE49-F238E27FC236}">
                    <a16:creationId xmlns:a16="http://schemas.microsoft.com/office/drawing/2014/main" id="{F61F241E-9743-44BF-92E4-2B8DA9EA2062}"/>
                  </a:ext>
                </a:extLst>
              </p:cNvPr>
              <p:cNvPicPr/>
              <p:nvPr/>
            </p:nvPicPr>
            <p:blipFill>
              <a:blip r:embed="rId5"/>
              <a:stretch>
                <a:fillRect/>
              </a:stretch>
            </p:blipFill>
            <p:spPr>
              <a:xfrm>
                <a:off x="6695633" y="5388033"/>
                <a:ext cx="119160" cy="120960"/>
              </a:xfrm>
              <a:prstGeom prst="rect">
                <a:avLst/>
              </a:prstGeom>
            </p:spPr>
          </p:pic>
        </mc:Fallback>
      </mc:AlternateContent>
      <p:sp>
        <p:nvSpPr>
          <p:cNvPr id="52" name="TextBox 51">
            <a:extLst>
              <a:ext uri="{FF2B5EF4-FFF2-40B4-BE49-F238E27FC236}">
                <a16:creationId xmlns:a16="http://schemas.microsoft.com/office/drawing/2014/main" id="{E661F72A-B3D6-4ADB-842A-B50E6D2D9051}"/>
              </a:ext>
            </a:extLst>
          </p:cNvPr>
          <p:cNvSpPr txBox="1"/>
          <p:nvPr/>
        </p:nvSpPr>
        <p:spPr>
          <a:xfrm>
            <a:off x="5375149" y="5613266"/>
            <a:ext cx="3114955" cy="523220"/>
          </a:xfrm>
          <a:prstGeom prst="rect">
            <a:avLst/>
          </a:prstGeom>
          <a:noFill/>
        </p:spPr>
        <p:txBody>
          <a:bodyPr wrap="none" rtlCol="0">
            <a:spAutoFit/>
          </a:bodyPr>
          <a:lstStyle/>
          <a:p>
            <a:r>
              <a:rPr lang="en-US" dirty="0">
                <a:latin typeface="Segoe Print" panose="02000600000000000000" pitchFamily="2" charset="0"/>
              </a:rPr>
              <a:t>What the OS, operating system,</a:t>
            </a:r>
          </a:p>
          <a:p>
            <a:r>
              <a:rPr lang="en-US" dirty="0">
                <a:latin typeface="Segoe Print" panose="02000600000000000000" pitchFamily="2" charset="0"/>
              </a:rPr>
              <a:t> can actually understand</a:t>
            </a:r>
          </a:p>
        </p:txBody>
      </p:sp>
    </p:spTree>
    <p:extLst>
      <p:ext uri="{BB962C8B-B14F-4D97-AF65-F5344CB8AC3E}">
        <p14:creationId xmlns:p14="http://schemas.microsoft.com/office/powerpoint/2010/main" val="1269834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2">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2">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5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9" grpId="0" animBg="1"/>
      <p:bldP spid="31" grpId="0"/>
      <p:bldP spid="32" grpId="0" animBg="1"/>
      <p:bldP spid="33" grpId="0" animBg="1"/>
      <p:bldP spid="37" grpId="0" animBg="1"/>
      <p:bldP spid="38" grpId="0" animBg="1"/>
      <p:bldP spid="40" grpId="0" animBg="1"/>
      <p:bldP spid="47" grpId="0" animBg="1"/>
      <p:bldP spid="48" grpId="0" animBg="1"/>
      <p:bldP spid="49" grpId="0" animBg="1"/>
      <p:bldP spid="50" grpId="0" animBg="1"/>
      <p:bldP spid="5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17"/>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a:t>What is Compilation</a:t>
            </a:r>
            <a:endParaRPr/>
          </a:p>
        </p:txBody>
      </p:sp>
      <p:sp>
        <p:nvSpPr>
          <p:cNvPr id="226" name="Google Shape;226;p17"/>
          <p:cNvSpPr txBox="1">
            <a:spLocks noGrp="1"/>
          </p:cNvSpPr>
          <p:nvPr>
            <p:ph type="body" idx="1"/>
          </p:nvPr>
        </p:nvSpPr>
        <p:spPr>
          <a:xfrm>
            <a:off x="380010" y="1265408"/>
            <a:ext cx="8384100" cy="5052000"/>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SzPts val="2800"/>
              <a:buChar char="•"/>
            </a:pPr>
            <a:r>
              <a:rPr lang="en-US" dirty="0"/>
              <a:t>Computer hardware runs on binary code</a:t>
            </a:r>
            <a:endParaRPr dirty="0"/>
          </a:p>
          <a:p>
            <a:pPr marL="342900" lvl="0" indent="-342900" algn="l" rtl="0">
              <a:lnSpc>
                <a:spcPct val="90000"/>
              </a:lnSpc>
              <a:spcBef>
                <a:spcPts val="560"/>
              </a:spcBef>
              <a:spcAft>
                <a:spcPts val="0"/>
              </a:spcAft>
              <a:buSzPts val="2800"/>
              <a:buChar char="•"/>
            </a:pPr>
            <a:r>
              <a:rPr lang="en-US" dirty="0"/>
              <a:t>The registers of a CPU are capable of converting Assembly code into binary</a:t>
            </a:r>
            <a:endParaRPr dirty="0"/>
          </a:p>
          <a:p>
            <a:pPr marL="342900" lvl="0" indent="-342900" algn="l" rtl="0">
              <a:lnSpc>
                <a:spcPct val="90000"/>
              </a:lnSpc>
              <a:spcBef>
                <a:spcPts val="560"/>
              </a:spcBef>
              <a:spcAft>
                <a:spcPts val="0"/>
              </a:spcAft>
              <a:buSzPts val="2800"/>
              <a:buChar char="•"/>
            </a:pPr>
            <a:r>
              <a:rPr lang="en-US" dirty="0"/>
              <a:t>So how do we get Assembly from Java?</a:t>
            </a:r>
            <a:endParaRPr dirty="0"/>
          </a:p>
          <a:p>
            <a:pPr marL="742950" lvl="1" indent="-311150" algn="l" rtl="0">
              <a:lnSpc>
                <a:spcPct val="90000"/>
              </a:lnSpc>
              <a:spcBef>
                <a:spcPts val="560"/>
              </a:spcBef>
              <a:spcAft>
                <a:spcPts val="0"/>
              </a:spcAft>
              <a:buSzPts val="2800"/>
              <a:buChar char="–"/>
            </a:pPr>
            <a:r>
              <a:rPr lang="en-US" dirty="0"/>
              <a:t>“Oracle's JDK software contains a compiler from source code written in the Java programming language to the instruction set of the Java Virtual Machine, and a run-time system that implements the Java Virtual Machine itself”- </a:t>
            </a:r>
            <a:r>
              <a:rPr lang="en-US" u="sng" dirty="0">
                <a:solidFill>
                  <a:schemeClr val="hlink"/>
                </a:solidFill>
                <a:hlinkClick r:id="rId3"/>
              </a:rPr>
              <a:t>Oracle specs</a:t>
            </a:r>
            <a:endParaRPr dirty="0"/>
          </a:p>
          <a:p>
            <a:pPr marL="342900" lvl="0" indent="-342900" algn="l" rtl="0">
              <a:lnSpc>
                <a:spcPct val="90000"/>
              </a:lnSpc>
              <a:spcBef>
                <a:spcPts val="560"/>
              </a:spcBef>
              <a:spcAft>
                <a:spcPts val="0"/>
              </a:spcAft>
              <a:buSzPts val="2800"/>
              <a:buChar char="•"/>
            </a:pPr>
            <a:r>
              <a:rPr lang="en-US" dirty="0"/>
              <a:t>At runtime, the JVM compiles the bytecode into machine code</a:t>
            </a:r>
            <a:endParaRPr dirty="0"/>
          </a:p>
          <a:p>
            <a:pPr marL="742950" lvl="1" indent="-285750" algn="l" rtl="0">
              <a:lnSpc>
                <a:spcPct val="90000"/>
              </a:lnSpc>
              <a:spcBef>
                <a:spcPts val="480"/>
              </a:spcBef>
              <a:spcAft>
                <a:spcPts val="0"/>
              </a:spcAft>
              <a:buSzPts val="2400"/>
              <a:buChar char="–"/>
            </a:pPr>
            <a:r>
              <a:rPr lang="en-US" dirty="0"/>
              <a:t>This is called Just-In-Time (JIT) compilation</a:t>
            </a:r>
            <a:endParaRPr dirty="0"/>
          </a:p>
        </p:txBody>
      </p:sp>
      <p:sp>
        <p:nvSpPr>
          <p:cNvPr id="227" name="Google Shape;227;p17"/>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2714876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6">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6">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26">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27"/>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a:t>Compile Time Errors</a:t>
            </a:r>
            <a:endParaRPr/>
          </a:p>
        </p:txBody>
      </p:sp>
      <p:sp>
        <p:nvSpPr>
          <p:cNvPr id="296" name="Google Shape;296;p27"/>
          <p:cNvSpPr txBox="1">
            <a:spLocks noGrp="1"/>
          </p:cNvSpPr>
          <p:nvPr>
            <p:ph type="body" idx="1"/>
          </p:nvPr>
        </p:nvSpPr>
        <p:spPr>
          <a:xfrm>
            <a:off x="380010" y="1481446"/>
            <a:ext cx="8383980" cy="4882266"/>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SzPts val="2800"/>
              <a:buChar char="•"/>
            </a:pPr>
            <a:r>
              <a:rPr lang="en-US" dirty="0"/>
              <a:t>When compiling a program, the compiler will look for common problems, typos, or other mistakes in your code.</a:t>
            </a:r>
            <a:endParaRPr dirty="0"/>
          </a:p>
          <a:p>
            <a:pPr marL="742950" lvl="1" indent="-285750" algn="l" rtl="0">
              <a:lnSpc>
                <a:spcPct val="90000"/>
              </a:lnSpc>
              <a:spcBef>
                <a:spcPts val="480"/>
              </a:spcBef>
              <a:spcAft>
                <a:spcPts val="0"/>
              </a:spcAft>
              <a:buSzPts val="2400"/>
              <a:buChar char="–"/>
            </a:pPr>
            <a:r>
              <a:rPr lang="en-US" dirty="0"/>
              <a:t>Missing semicolons</a:t>
            </a:r>
            <a:endParaRPr dirty="0"/>
          </a:p>
          <a:p>
            <a:pPr marL="742950" lvl="1" indent="-285750" algn="l" rtl="0">
              <a:lnSpc>
                <a:spcPct val="90000"/>
              </a:lnSpc>
              <a:spcBef>
                <a:spcPts val="480"/>
              </a:spcBef>
              <a:spcAft>
                <a:spcPts val="0"/>
              </a:spcAft>
              <a:buSzPts val="2400"/>
              <a:buChar char="–"/>
            </a:pPr>
            <a:r>
              <a:rPr lang="en-US" dirty="0"/>
              <a:t>“Symbol not found”: a typo in a keyword, or a valid class couldn’t be found by the compiler</a:t>
            </a:r>
            <a:endParaRPr dirty="0"/>
          </a:p>
          <a:p>
            <a:pPr marL="742950" lvl="1" indent="-285750" algn="l" rtl="0">
              <a:lnSpc>
                <a:spcPct val="90000"/>
              </a:lnSpc>
              <a:spcBef>
                <a:spcPts val="480"/>
              </a:spcBef>
              <a:spcAft>
                <a:spcPts val="0"/>
              </a:spcAft>
              <a:buSzPts val="2400"/>
              <a:buChar char="–"/>
            </a:pPr>
            <a:r>
              <a:rPr lang="en-US" dirty="0"/>
              <a:t>Code that could generate problems (exceptions) is not handled safely</a:t>
            </a:r>
            <a:endParaRPr dirty="0"/>
          </a:p>
          <a:p>
            <a:pPr marL="342900" lvl="0" indent="-342900" algn="l" rtl="0">
              <a:lnSpc>
                <a:spcPct val="90000"/>
              </a:lnSpc>
              <a:spcBef>
                <a:spcPts val="560"/>
              </a:spcBef>
              <a:spcAft>
                <a:spcPts val="0"/>
              </a:spcAft>
              <a:buSzPts val="2800"/>
              <a:buChar char="•"/>
            </a:pPr>
            <a:r>
              <a:rPr lang="en-US" dirty="0"/>
              <a:t>The compiler will tell you the line on which the error occurs, </a:t>
            </a:r>
            <a:r>
              <a:rPr lang="en-US" i="1" dirty="0"/>
              <a:t>or near it.</a:t>
            </a:r>
            <a:endParaRPr dirty="0"/>
          </a:p>
          <a:p>
            <a:pPr marL="342900" lvl="0" indent="-342900" algn="l" rtl="0">
              <a:lnSpc>
                <a:spcPct val="90000"/>
              </a:lnSpc>
              <a:spcBef>
                <a:spcPts val="560"/>
              </a:spcBef>
              <a:spcAft>
                <a:spcPts val="0"/>
              </a:spcAft>
              <a:buSzPts val="2800"/>
              <a:buChar char="•"/>
            </a:pPr>
            <a:r>
              <a:rPr lang="en-US" dirty="0"/>
              <a:t>An IDE will usually catch these errors before compiling, and warn you.</a:t>
            </a:r>
            <a:endParaRPr dirty="0"/>
          </a:p>
        </p:txBody>
      </p:sp>
      <p:sp>
        <p:nvSpPr>
          <p:cNvPr id="297" name="Google Shape;297;p27"/>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6">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6">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9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4990B-8613-A319-B626-20A1E683863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12BAEF-717B-B01F-F9D3-8ADA52CCB1EE}"/>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11</a:t>
            </a:fld>
            <a:endParaRPr lang="en-US"/>
          </a:p>
        </p:txBody>
      </p:sp>
      <p:sp>
        <p:nvSpPr>
          <p:cNvPr id="4" name="Google Shape;212;p15">
            <a:extLst>
              <a:ext uri="{FF2B5EF4-FFF2-40B4-BE49-F238E27FC236}">
                <a16:creationId xmlns:a16="http://schemas.microsoft.com/office/drawing/2014/main" id="{07454A00-8DDF-2F47-070A-7CFC11477800}"/>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Why use Java?</a:t>
            </a:r>
          </a:p>
        </p:txBody>
      </p:sp>
      <p:pic>
        <p:nvPicPr>
          <p:cNvPr id="6" name="Picture 5">
            <a:extLst>
              <a:ext uri="{FF2B5EF4-FFF2-40B4-BE49-F238E27FC236}">
                <a16:creationId xmlns:a16="http://schemas.microsoft.com/office/drawing/2014/main" id="{AE81D746-FA1A-9EDB-DF54-51BD0E404124}"/>
              </a:ext>
            </a:extLst>
          </p:cNvPr>
          <p:cNvPicPr>
            <a:picLocks noChangeAspect="1"/>
          </p:cNvPicPr>
          <p:nvPr/>
        </p:nvPicPr>
        <p:blipFill>
          <a:blip r:embed="rId2"/>
          <a:stretch>
            <a:fillRect/>
          </a:stretch>
        </p:blipFill>
        <p:spPr>
          <a:xfrm>
            <a:off x="7036646" y="0"/>
            <a:ext cx="2107354" cy="773112"/>
          </a:xfrm>
          <a:prstGeom prst="rect">
            <a:avLst/>
          </a:prstGeom>
        </p:spPr>
      </p:pic>
    </p:spTree>
    <p:extLst>
      <p:ext uri="{BB962C8B-B14F-4D97-AF65-F5344CB8AC3E}">
        <p14:creationId xmlns:p14="http://schemas.microsoft.com/office/powerpoint/2010/main" val="30463386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18"/>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dirty="0"/>
              <a:t>Java on Every Platform?</a:t>
            </a:r>
            <a:endParaRPr dirty="0"/>
          </a:p>
        </p:txBody>
      </p:sp>
      <p:sp>
        <p:nvSpPr>
          <p:cNvPr id="233" name="Google Shape;233;p18"/>
          <p:cNvSpPr txBox="1">
            <a:spLocks noGrp="1"/>
          </p:cNvSpPr>
          <p:nvPr>
            <p:ph type="body" idx="1"/>
          </p:nvPr>
        </p:nvSpPr>
        <p:spPr>
          <a:xfrm>
            <a:off x="379950" y="1297012"/>
            <a:ext cx="8384100" cy="5066700"/>
          </a:xfrm>
          <a:prstGeom prst="rect">
            <a:avLst/>
          </a:prstGeom>
          <a:noFill/>
          <a:ln>
            <a:noFill/>
          </a:ln>
        </p:spPr>
        <p:txBody>
          <a:bodyPr spcFirstLastPara="1" wrap="square" lIns="91425" tIns="45700" rIns="91425" bIns="45700" anchor="t" anchorCtr="0">
            <a:noAutofit/>
          </a:bodyPr>
          <a:lstStyle/>
          <a:p>
            <a:pPr marL="342900" lvl="0" indent="-342900" algn="l" rtl="0">
              <a:lnSpc>
                <a:spcPct val="80000"/>
              </a:lnSpc>
              <a:spcBef>
                <a:spcPts val="0"/>
              </a:spcBef>
              <a:spcAft>
                <a:spcPts val="0"/>
              </a:spcAft>
              <a:buSzPts val="2590"/>
              <a:buChar char="•"/>
            </a:pPr>
            <a:r>
              <a:rPr lang="en-US" sz="2590" dirty="0"/>
              <a:t>Different computer processors (CPU) may have different “instruction sets” – commands that can be invoked by Assembly.</a:t>
            </a:r>
            <a:endParaRPr dirty="0"/>
          </a:p>
          <a:p>
            <a:pPr marL="742950" lvl="1" indent="-285750" algn="l" rtl="0">
              <a:lnSpc>
                <a:spcPct val="80000"/>
              </a:lnSpc>
              <a:spcBef>
                <a:spcPts val="444"/>
              </a:spcBef>
              <a:spcAft>
                <a:spcPts val="0"/>
              </a:spcAft>
              <a:buSzPts val="2220"/>
              <a:buChar char="–"/>
            </a:pPr>
            <a:r>
              <a:rPr lang="en-US" sz="2220" dirty="0"/>
              <a:t>Processor instruction sets are often standardized and called “architectures”. x86 and x64 are the most common architectures in use today</a:t>
            </a:r>
            <a:endParaRPr dirty="0"/>
          </a:p>
          <a:p>
            <a:pPr marL="342900" lvl="0" indent="-342900" algn="l" rtl="0">
              <a:lnSpc>
                <a:spcPct val="80000"/>
              </a:lnSpc>
              <a:spcBef>
                <a:spcPts val="518"/>
              </a:spcBef>
              <a:spcAft>
                <a:spcPts val="0"/>
              </a:spcAft>
              <a:buSzPts val="2590"/>
              <a:buChar char="•"/>
            </a:pPr>
            <a:r>
              <a:rPr lang="en-US" sz="2590" dirty="0"/>
              <a:t>Different architectures require different JVM implementations to convert Java code to platform-specific machine code.</a:t>
            </a:r>
            <a:endParaRPr dirty="0"/>
          </a:p>
          <a:p>
            <a:pPr marL="342900" lvl="0" indent="-342900" algn="l" rtl="0">
              <a:lnSpc>
                <a:spcPct val="80000"/>
              </a:lnSpc>
              <a:spcBef>
                <a:spcPts val="518"/>
              </a:spcBef>
              <a:spcAft>
                <a:spcPts val="0"/>
              </a:spcAft>
              <a:buSzPts val="2590"/>
              <a:buChar char="•"/>
            </a:pPr>
            <a:r>
              <a:rPr lang="en-US" sz="2590" dirty="0"/>
              <a:t>Java (and bytecode) is universal. Any JVM can turn Java code into machine code specific to its platform.</a:t>
            </a:r>
            <a:endParaRPr dirty="0"/>
          </a:p>
          <a:p>
            <a:pPr marL="342900" lvl="0" indent="-342900" algn="l" rtl="0">
              <a:lnSpc>
                <a:spcPct val="80000"/>
              </a:lnSpc>
              <a:spcBef>
                <a:spcPts val="518"/>
              </a:spcBef>
              <a:spcAft>
                <a:spcPts val="0"/>
              </a:spcAft>
              <a:buSzPts val="2590"/>
              <a:buChar char="•"/>
            </a:pPr>
            <a:r>
              <a:rPr lang="en-US" sz="2590" dirty="0"/>
              <a:t>The JVM is a black box. Different implementations mean that some things work slightly differently on different platforms. Java works around these.</a:t>
            </a:r>
            <a:endParaRPr dirty="0"/>
          </a:p>
        </p:txBody>
      </p:sp>
      <p:sp>
        <p:nvSpPr>
          <p:cNvPr id="234" name="Google Shape;234;p18"/>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3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3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3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19"/>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FFFFFF"/>
              </a:buClr>
              <a:buSzPts val="2400"/>
              <a:buFont typeface="Arial"/>
              <a:buNone/>
            </a:pPr>
            <a:r>
              <a:rPr lang="en-US">
                <a:solidFill>
                  <a:srgbClr val="FFFFFF"/>
                </a:solidFill>
                <a:latin typeface="Arial"/>
                <a:ea typeface="Arial"/>
                <a:cs typeface="Arial"/>
                <a:sym typeface="Arial"/>
              </a:rPr>
              <a:t>Why Use Java?</a:t>
            </a:r>
            <a:endParaRPr/>
          </a:p>
        </p:txBody>
      </p:sp>
      <p:sp>
        <p:nvSpPr>
          <p:cNvPr id="240" name="Google Shape;240;p19"/>
          <p:cNvSpPr txBox="1">
            <a:spLocks noGrp="1"/>
          </p:cNvSpPr>
          <p:nvPr>
            <p:ph type="body" idx="1"/>
          </p:nvPr>
        </p:nvSpPr>
        <p:spPr>
          <a:xfrm>
            <a:off x="380010" y="1481446"/>
            <a:ext cx="8383980" cy="5066838"/>
          </a:xfrm>
          <a:prstGeom prst="rect">
            <a:avLst/>
          </a:prstGeom>
          <a:noFill/>
          <a:ln>
            <a:noFill/>
          </a:ln>
        </p:spPr>
        <p:txBody>
          <a:bodyPr spcFirstLastPara="1" wrap="square" lIns="91425" tIns="45700" rIns="91425" bIns="45700" anchor="t" anchorCtr="0">
            <a:noAutofit/>
          </a:bodyPr>
          <a:lstStyle/>
          <a:p>
            <a:pPr marL="343080" lvl="0" indent="-342720" algn="l" rtl="0">
              <a:spcBef>
                <a:spcPts val="0"/>
              </a:spcBef>
              <a:spcAft>
                <a:spcPts val="0"/>
              </a:spcAft>
              <a:buClr>
                <a:srgbClr val="F36A25"/>
              </a:buClr>
              <a:buSzPts val="2800"/>
              <a:buFont typeface="Arial"/>
              <a:buChar char="•"/>
            </a:pPr>
            <a:r>
              <a:rPr lang="en-US" dirty="0">
                <a:solidFill>
                  <a:srgbClr val="474C55"/>
                </a:solidFill>
                <a:latin typeface="Arial"/>
                <a:ea typeface="Arial"/>
                <a:cs typeface="Arial"/>
                <a:sym typeface="Arial"/>
              </a:rPr>
              <a:t>“Write Once, Run Anywhere”</a:t>
            </a:r>
            <a:endParaRPr dirty="0"/>
          </a:p>
          <a:p>
            <a:pPr marL="743040" lvl="1" indent="-285480" algn="l" rtl="0">
              <a:spcBef>
                <a:spcPts val="480"/>
              </a:spcBef>
              <a:spcAft>
                <a:spcPts val="0"/>
              </a:spcAft>
              <a:buClr>
                <a:srgbClr val="F36A25"/>
              </a:buClr>
              <a:buSzPts val="2400"/>
              <a:buFont typeface="Arial"/>
              <a:buChar char="–"/>
            </a:pPr>
            <a:r>
              <a:rPr lang="en-US" dirty="0">
                <a:solidFill>
                  <a:srgbClr val="474C55"/>
                </a:solidFill>
                <a:latin typeface="Arial"/>
                <a:ea typeface="Arial"/>
                <a:cs typeface="Arial"/>
                <a:sym typeface="Arial"/>
              </a:rPr>
              <a:t>JDK compiles Java to bytecode, JVM translates bytecode to machine code</a:t>
            </a:r>
          </a:p>
          <a:p>
            <a:pPr marL="743040" lvl="1" indent="-285480" algn="l" rtl="0">
              <a:spcBef>
                <a:spcPts val="480"/>
              </a:spcBef>
              <a:spcAft>
                <a:spcPts val="0"/>
              </a:spcAft>
              <a:buClr>
                <a:srgbClr val="F36A25"/>
              </a:buClr>
              <a:buSzPts val="2400"/>
              <a:buFont typeface="Arial"/>
              <a:buChar char="–"/>
            </a:pPr>
            <a:r>
              <a:rPr lang="en-US" dirty="0">
                <a:solidFill>
                  <a:srgbClr val="474C55"/>
                </a:solidFill>
              </a:rPr>
              <a:t>Java is environment “agnostic” – so long as you have the JVM you can run Java code</a:t>
            </a:r>
            <a:endParaRPr lang="en-US" dirty="0">
              <a:solidFill>
                <a:srgbClr val="474C55"/>
              </a:solidFill>
              <a:latin typeface="Arial"/>
              <a:ea typeface="Arial"/>
              <a:cs typeface="Arial"/>
              <a:sym typeface="Arial"/>
            </a:endParaRPr>
          </a:p>
          <a:p>
            <a:pPr marL="343080" lvl="0" indent="-342720" algn="l" rtl="0">
              <a:spcBef>
                <a:spcPts val="560"/>
              </a:spcBef>
              <a:spcAft>
                <a:spcPts val="0"/>
              </a:spcAft>
              <a:buClr>
                <a:srgbClr val="F36A25"/>
              </a:buClr>
              <a:buSzPts val="2800"/>
              <a:buFont typeface="Arial"/>
              <a:buChar char="•"/>
            </a:pPr>
            <a:r>
              <a:rPr lang="en-US" dirty="0">
                <a:solidFill>
                  <a:srgbClr val="474C55"/>
                </a:solidFill>
                <a:latin typeface="Arial"/>
                <a:ea typeface="Arial"/>
                <a:cs typeface="Arial"/>
                <a:sym typeface="Arial"/>
              </a:rPr>
              <a:t>Java is “safe” and “easier” to use</a:t>
            </a:r>
            <a:endParaRPr dirty="0"/>
          </a:p>
          <a:p>
            <a:pPr marL="743040" lvl="1" indent="-285480" algn="l" rtl="0">
              <a:spcBef>
                <a:spcPts val="480"/>
              </a:spcBef>
              <a:spcAft>
                <a:spcPts val="0"/>
              </a:spcAft>
              <a:buClr>
                <a:srgbClr val="F36A25"/>
              </a:buClr>
              <a:buSzPts val="2400"/>
              <a:buFont typeface="Arial"/>
              <a:buChar char="–"/>
            </a:pPr>
            <a:r>
              <a:rPr lang="en-US" dirty="0">
                <a:solidFill>
                  <a:srgbClr val="474C55"/>
                </a:solidFill>
                <a:latin typeface="Arial"/>
                <a:ea typeface="Arial"/>
                <a:cs typeface="Arial"/>
                <a:sym typeface="Arial"/>
              </a:rPr>
              <a:t>No memory management in Java</a:t>
            </a:r>
            <a:endParaRPr dirty="0">
              <a:solidFill>
                <a:srgbClr val="474C55"/>
              </a:solidFill>
              <a:latin typeface="Arial"/>
              <a:ea typeface="Arial"/>
              <a:cs typeface="Arial"/>
              <a:sym typeface="Arial"/>
            </a:endParaRPr>
          </a:p>
          <a:p>
            <a:pPr marL="343080" lvl="0" indent="-342720" algn="l" rtl="0">
              <a:spcBef>
                <a:spcPts val="560"/>
              </a:spcBef>
              <a:spcAft>
                <a:spcPts val="0"/>
              </a:spcAft>
              <a:buClr>
                <a:srgbClr val="F36A25"/>
              </a:buClr>
              <a:buSzPts val="2800"/>
              <a:buFont typeface="Arial"/>
              <a:buChar char="•"/>
            </a:pPr>
            <a:r>
              <a:rPr lang="en-US" dirty="0">
                <a:solidFill>
                  <a:srgbClr val="474C55"/>
                </a:solidFill>
                <a:latin typeface="Arial"/>
                <a:ea typeface="Arial"/>
                <a:cs typeface="Arial"/>
                <a:sym typeface="Arial"/>
              </a:rPr>
              <a:t>Java is free</a:t>
            </a:r>
            <a:endParaRPr dirty="0">
              <a:solidFill>
                <a:srgbClr val="474C55"/>
              </a:solidFill>
              <a:latin typeface="Arial"/>
              <a:ea typeface="Arial"/>
              <a:cs typeface="Arial"/>
              <a:sym typeface="Arial"/>
            </a:endParaRPr>
          </a:p>
          <a:p>
            <a:pPr marL="343080" lvl="0" indent="-342720" algn="l" rtl="0">
              <a:spcBef>
                <a:spcPts val="560"/>
              </a:spcBef>
              <a:spcAft>
                <a:spcPts val="0"/>
              </a:spcAft>
              <a:buClr>
                <a:srgbClr val="F36A25"/>
              </a:buClr>
              <a:buSzPts val="2800"/>
              <a:buFont typeface="Arial"/>
              <a:buChar char="•"/>
            </a:pPr>
            <a:r>
              <a:rPr lang="en-US" dirty="0">
                <a:solidFill>
                  <a:srgbClr val="474C55"/>
                </a:solidFill>
                <a:latin typeface="Arial"/>
                <a:ea typeface="Arial"/>
                <a:cs typeface="Arial"/>
                <a:sym typeface="Arial"/>
              </a:rPr>
              <a:t>Java has an incredibly rich library and frameworks</a:t>
            </a:r>
          </a:p>
          <a:p>
            <a:pPr marL="343080" lvl="0" indent="-342720" algn="l" rtl="0">
              <a:spcBef>
                <a:spcPts val="560"/>
              </a:spcBef>
              <a:spcAft>
                <a:spcPts val="0"/>
              </a:spcAft>
              <a:buClr>
                <a:srgbClr val="F36A25"/>
              </a:buClr>
              <a:buSzPts val="2800"/>
              <a:buFont typeface="Arial"/>
              <a:buChar char="•"/>
            </a:pPr>
            <a:r>
              <a:rPr lang="en-US" dirty="0">
                <a:solidFill>
                  <a:srgbClr val="474C55"/>
                </a:solidFill>
              </a:rPr>
              <a:t>Java is resilient</a:t>
            </a:r>
          </a:p>
        </p:txBody>
      </p:sp>
      <p:sp>
        <p:nvSpPr>
          <p:cNvPr id="241" name="Google Shape;241;p19"/>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0">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0">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40">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0">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0">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40">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4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F0BD2-B20C-9BD4-B5CD-27062C7D582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DED113B-B631-B2C9-02F4-87AD1AA43D13}"/>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14</a:t>
            </a:fld>
            <a:endParaRPr lang="en-US"/>
          </a:p>
        </p:txBody>
      </p:sp>
      <p:sp>
        <p:nvSpPr>
          <p:cNvPr id="4" name="Google Shape;212;p15">
            <a:extLst>
              <a:ext uri="{FF2B5EF4-FFF2-40B4-BE49-F238E27FC236}">
                <a16:creationId xmlns:a16="http://schemas.microsoft.com/office/drawing/2014/main" id="{394A04FC-F77E-6666-0355-0CB434A4BD8F}"/>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Java</a:t>
            </a:r>
            <a:r>
              <a:rPr lang="en-US" sz="4000" dirty="0">
                <a:solidFill>
                  <a:schemeClr val="dk2"/>
                </a:solidFill>
              </a:rPr>
              <a:t> Basics &amp; Executable Classes</a:t>
            </a:r>
            <a:endParaRPr lang="en-US" sz="4000" b="0" i="0" u="none" strike="noStrike" cap="none" dirty="0">
              <a:solidFill>
                <a:schemeClr val="dk2"/>
              </a:solidFill>
              <a:latin typeface="Arial"/>
              <a:ea typeface="Arial"/>
              <a:cs typeface="Arial"/>
              <a:sym typeface="Arial"/>
            </a:endParaRPr>
          </a:p>
        </p:txBody>
      </p:sp>
      <p:pic>
        <p:nvPicPr>
          <p:cNvPr id="6" name="Picture 5">
            <a:extLst>
              <a:ext uri="{FF2B5EF4-FFF2-40B4-BE49-F238E27FC236}">
                <a16:creationId xmlns:a16="http://schemas.microsoft.com/office/drawing/2014/main" id="{643BE0CA-B643-9545-1AF2-FA11541346B2}"/>
              </a:ext>
            </a:extLst>
          </p:cNvPr>
          <p:cNvPicPr>
            <a:picLocks noChangeAspect="1"/>
          </p:cNvPicPr>
          <p:nvPr/>
        </p:nvPicPr>
        <p:blipFill>
          <a:blip r:embed="rId2"/>
          <a:stretch>
            <a:fillRect/>
          </a:stretch>
        </p:blipFill>
        <p:spPr>
          <a:xfrm>
            <a:off x="7036646" y="0"/>
            <a:ext cx="2107354" cy="773112"/>
          </a:xfrm>
          <a:prstGeom prst="rect">
            <a:avLst/>
          </a:prstGeom>
        </p:spPr>
      </p:pic>
    </p:spTree>
    <p:extLst>
      <p:ext uri="{BB962C8B-B14F-4D97-AF65-F5344CB8AC3E}">
        <p14:creationId xmlns:p14="http://schemas.microsoft.com/office/powerpoint/2010/main" val="37101717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0C18A-C730-463B-8C77-41387B14480D}"/>
              </a:ext>
            </a:extLst>
          </p:cNvPr>
          <p:cNvSpPr>
            <a:spLocks noGrp="1"/>
          </p:cNvSpPr>
          <p:nvPr>
            <p:ph type="title"/>
          </p:nvPr>
        </p:nvSpPr>
        <p:spPr/>
        <p:txBody>
          <a:bodyPr/>
          <a:lstStyle/>
          <a:p>
            <a:r>
              <a:rPr lang="en-US" dirty="0"/>
              <a:t>Code Comments</a:t>
            </a:r>
          </a:p>
        </p:txBody>
      </p:sp>
      <p:sp>
        <p:nvSpPr>
          <p:cNvPr id="3" name="Content Placeholder 2">
            <a:extLst>
              <a:ext uri="{FF2B5EF4-FFF2-40B4-BE49-F238E27FC236}">
                <a16:creationId xmlns:a16="http://schemas.microsoft.com/office/drawing/2014/main" id="{1DFAE63A-01D3-44FF-B81E-DD258884043D}"/>
              </a:ext>
            </a:extLst>
          </p:cNvPr>
          <p:cNvSpPr>
            <a:spLocks noGrp="1"/>
          </p:cNvSpPr>
          <p:nvPr>
            <p:ph idx="1"/>
          </p:nvPr>
        </p:nvSpPr>
        <p:spPr>
          <a:xfrm>
            <a:off x="380010" y="1481446"/>
            <a:ext cx="8383980" cy="5074099"/>
          </a:xfrm>
        </p:spPr>
        <p:txBody>
          <a:bodyPr>
            <a:normAutofit fontScale="92500"/>
          </a:bodyPr>
          <a:lstStyle/>
          <a:p>
            <a:r>
              <a:rPr lang="en-US" dirty="0"/>
              <a:t>Programming Languages allow you to comment your code, to leave notes for yourself or other developers.</a:t>
            </a:r>
          </a:p>
          <a:p>
            <a:pPr lvl="1"/>
            <a:r>
              <a:rPr lang="en-US" dirty="0"/>
              <a:t>Adding comprehensive notes is called ‘documentation’ – in Java we use Javadoc comments to document our code</a:t>
            </a:r>
          </a:p>
          <a:p>
            <a:r>
              <a:rPr lang="en-US" dirty="0"/>
              <a:t>Code Comments are ignored by the compiler/environment which reads the code.</a:t>
            </a:r>
          </a:p>
          <a:p>
            <a:r>
              <a:rPr lang="en-US" dirty="0"/>
              <a:t>Most programming languages use a similar syntax for Code Comments. </a:t>
            </a:r>
          </a:p>
          <a:p>
            <a:r>
              <a:rPr lang="en-US" dirty="0"/>
              <a:t>In Java:</a:t>
            </a:r>
          </a:p>
          <a:p>
            <a:pPr lvl="2"/>
            <a:r>
              <a:rPr lang="en-US" dirty="0"/>
              <a:t>// for single-line comments</a:t>
            </a:r>
          </a:p>
          <a:p>
            <a:pPr lvl="2"/>
            <a:r>
              <a:rPr lang="en-US" dirty="0"/>
              <a:t>/* multi-line comment */</a:t>
            </a:r>
          </a:p>
          <a:p>
            <a:pPr lvl="2"/>
            <a:r>
              <a:rPr lang="en-US" dirty="0"/>
              <a:t>/** Javadoc Comments */</a:t>
            </a:r>
          </a:p>
        </p:txBody>
      </p:sp>
      <p:sp>
        <p:nvSpPr>
          <p:cNvPr id="4" name="Slide Number Placeholder 3">
            <a:extLst>
              <a:ext uri="{FF2B5EF4-FFF2-40B4-BE49-F238E27FC236}">
                <a16:creationId xmlns:a16="http://schemas.microsoft.com/office/drawing/2014/main" id="{70027B83-31A7-46F0-8D1F-9719EF6642C1}"/>
              </a:ext>
            </a:extLst>
          </p:cNvPr>
          <p:cNvSpPr>
            <a:spLocks noGrp="1"/>
          </p:cNvSpPr>
          <p:nvPr>
            <p:ph type="sldNum" sz="quarter" idx="12"/>
          </p:nvPr>
        </p:nvSpPr>
        <p:spPr/>
        <p:txBody>
          <a:bodyPr/>
          <a:lstStyle/>
          <a:p>
            <a:fld id="{F6728BC2-ACA3-447C-A909-F3F49211C066}" type="slidenum">
              <a:rPr lang="en-US" smtClean="0"/>
              <a:pPr/>
              <a:t>15</a:t>
            </a:fld>
            <a:endParaRPr lang="en-US" dirty="0"/>
          </a:p>
        </p:txBody>
      </p:sp>
    </p:spTree>
    <p:extLst>
      <p:ext uri="{BB962C8B-B14F-4D97-AF65-F5344CB8AC3E}">
        <p14:creationId xmlns:p14="http://schemas.microsoft.com/office/powerpoint/2010/main" val="1287501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500"/>
                                        <p:tgtEl>
                                          <p:spTgt spid="3">
                                            <p:txEl>
                                              <p:pRg st="5" end="5"/>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500"/>
                                        <p:tgtEl>
                                          <p:spTgt spid="3">
                                            <p:txEl>
                                              <p:pRg st="6" end="6"/>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fade">
                                      <p:cBhvr>
                                        <p:cTn id="26"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21"/>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FFFFFF"/>
              </a:buClr>
              <a:buSzPts val="2400"/>
              <a:buFont typeface="Arial"/>
              <a:buNone/>
            </a:pPr>
            <a:r>
              <a:rPr lang="en-US">
                <a:solidFill>
                  <a:srgbClr val="FFFFFF"/>
                </a:solidFill>
                <a:latin typeface="Arial"/>
                <a:ea typeface="Arial"/>
                <a:cs typeface="Arial"/>
                <a:sym typeface="Arial"/>
              </a:rPr>
              <a:t>Java Classes</a:t>
            </a:r>
            <a:endParaRPr/>
          </a:p>
        </p:txBody>
      </p:sp>
      <p:sp>
        <p:nvSpPr>
          <p:cNvPr id="254" name="Google Shape;254;p21"/>
          <p:cNvSpPr txBox="1">
            <a:spLocks noGrp="1"/>
          </p:cNvSpPr>
          <p:nvPr>
            <p:ph type="body" idx="1"/>
          </p:nvPr>
        </p:nvSpPr>
        <p:spPr>
          <a:xfrm>
            <a:off x="380010" y="1481446"/>
            <a:ext cx="8383980" cy="4525963"/>
          </a:xfrm>
          <a:prstGeom prst="rect">
            <a:avLst/>
          </a:prstGeom>
          <a:noFill/>
          <a:ln>
            <a:noFill/>
          </a:ln>
        </p:spPr>
        <p:txBody>
          <a:bodyPr spcFirstLastPara="1" wrap="square" lIns="91425" tIns="45700" rIns="91425" bIns="45700" anchor="t" anchorCtr="0">
            <a:noAutofit/>
          </a:bodyPr>
          <a:lstStyle/>
          <a:p>
            <a:pPr marL="343080" lvl="0" indent="-342720" algn="l" rtl="0">
              <a:spcBef>
                <a:spcPts val="0"/>
              </a:spcBef>
              <a:spcAft>
                <a:spcPts val="0"/>
              </a:spcAft>
              <a:buClr>
                <a:srgbClr val="F36A25"/>
              </a:buClr>
              <a:buSzPts val="2800"/>
              <a:buFont typeface="Arial"/>
              <a:buChar char="•"/>
            </a:pPr>
            <a:r>
              <a:rPr lang="en-US" dirty="0">
                <a:solidFill>
                  <a:srgbClr val="474C55"/>
                </a:solidFill>
                <a:latin typeface="Arial"/>
                <a:ea typeface="Arial"/>
                <a:cs typeface="Arial"/>
                <a:sym typeface="Arial"/>
              </a:rPr>
              <a:t>Java </a:t>
            </a:r>
            <a:r>
              <a:rPr lang="en-US" b="1" u="sng" dirty="0">
                <a:solidFill>
                  <a:srgbClr val="474C55"/>
                </a:solidFill>
                <a:latin typeface="Arial"/>
                <a:ea typeface="Arial"/>
                <a:cs typeface="Arial"/>
                <a:sym typeface="Arial"/>
              </a:rPr>
              <a:t>classes</a:t>
            </a:r>
            <a:r>
              <a:rPr lang="en-US" dirty="0">
                <a:solidFill>
                  <a:srgbClr val="474C55"/>
                </a:solidFill>
                <a:latin typeface="Arial"/>
                <a:ea typeface="Arial"/>
                <a:cs typeface="Arial"/>
                <a:sym typeface="Arial"/>
              </a:rPr>
              <a:t> are blueprints used to </a:t>
            </a:r>
            <a:r>
              <a:rPr lang="en-US" i="1" dirty="0">
                <a:solidFill>
                  <a:srgbClr val="474C55"/>
                </a:solidFill>
                <a:latin typeface="Arial"/>
                <a:ea typeface="Arial"/>
                <a:cs typeface="Arial"/>
                <a:sym typeface="Arial"/>
              </a:rPr>
              <a:t>instantiate</a:t>
            </a:r>
            <a:r>
              <a:rPr lang="en-US" dirty="0">
                <a:solidFill>
                  <a:srgbClr val="474C55"/>
                </a:solidFill>
                <a:latin typeface="Arial"/>
                <a:ea typeface="Arial"/>
                <a:cs typeface="Arial"/>
                <a:sym typeface="Arial"/>
              </a:rPr>
              <a:t> objects</a:t>
            </a:r>
            <a:endParaRPr dirty="0"/>
          </a:p>
          <a:p>
            <a:pPr marL="342900" lvl="0" indent="-165100" algn="l" rtl="0">
              <a:lnSpc>
                <a:spcPct val="100000"/>
              </a:lnSpc>
              <a:spcBef>
                <a:spcPts val="560"/>
              </a:spcBef>
              <a:spcAft>
                <a:spcPts val="0"/>
              </a:spcAft>
              <a:buSzPts val="2800"/>
              <a:buNone/>
            </a:pPr>
            <a:endParaRPr dirty="0">
              <a:solidFill>
                <a:srgbClr val="474C55"/>
              </a:solidFill>
              <a:latin typeface="Arial"/>
              <a:ea typeface="Arial"/>
              <a:cs typeface="Arial"/>
              <a:sym typeface="Arial"/>
            </a:endParaRPr>
          </a:p>
          <a:p>
            <a:pPr marL="343080" lvl="0" indent="-342720" algn="l" rtl="0">
              <a:spcBef>
                <a:spcPts val="560"/>
              </a:spcBef>
              <a:spcAft>
                <a:spcPts val="0"/>
              </a:spcAft>
              <a:buClr>
                <a:srgbClr val="F36A25"/>
              </a:buClr>
              <a:buSzPts val="2800"/>
              <a:buFont typeface="Arial"/>
              <a:buChar char="•"/>
            </a:pPr>
            <a:r>
              <a:rPr lang="en-US" dirty="0">
                <a:solidFill>
                  <a:srgbClr val="474C55"/>
                </a:solidFill>
                <a:latin typeface="Arial"/>
                <a:ea typeface="Arial"/>
                <a:cs typeface="Arial"/>
                <a:sym typeface="Arial"/>
              </a:rPr>
              <a:t>Classes have </a:t>
            </a:r>
            <a:r>
              <a:rPr lang="en-US" i="1" dirty="0">
                <a:solidFill>
                  <a:srgbClr val="474C55"/>
                </a:solidFill>
                <a:latin typeface="Arial"/>
                <a:ea typeface="Arial"/>
                <a:cs typeface="Arial"/>
                <a:sym typeface="Arial"/>
              </a:rPr>
              <a:t>states</a:t>
            </a:r>
            <a:r>
              <a:rPr lang="en-US" dirty="0">
                <a:solidFill>
                  <a:srgbClr val="474C55"/>
                </a:solidFill>
                <a:latin typeface="Arial"/>
                <a:ea typeface="Arial"/>
                <a:cs typeface="Arial"/>
                <a:sym typeface="Arial"/>
              </a:rPr>
              <a:t> (variables) and </a:t>
            </a:r>
            <a:r>
              <a:rPr lang="en-US" i="1" dirty="0">
                <a:solidFill>
                  <a:srgbClr val="474C55"/>
                </a:solidFill>
                <a:latin typeface="Arial"/>
                <a:ea typeface="Arial"/>
                <a:cs typeface="Arial"/>
                <a:sym typeface="Arial"/>
              </a:rPr>
              <a:t>behaviors</a:t>
            </a:r>
            <a:r>
              <a:rPr lang="en-US" dirty="0">
                <a:solidFill>
                  <a:srgbClr val="474C55"/>
                </a:solidFill>
                <a:latin typeface="Arial"/>
                <a:ea typeface="Arial"/>
                <a:cs typeface="Arial"/>
                <a:sym typeface="Arial"/>
              </a:rPr>
              <a:t> (methods)</a:t>
            </a:r>
            <a:endParaRPr dirty="0"/>
          </a:p>
          <a:p>
            <a:pPr marL="342900" lvl="0" indent="-165100" algn="l" rtl="0">
              <a:lnSpc>
                <a:spcPct val="100000"/>
              </a:lnSpc>
              <a:spcBef>
                <a:spcPts val="560"/>
              </a:spcBef>
              <a:spcAft>
                <a:spcPts val="0"/>
              </a:spcAft>
              <a:buSzPts val="2800"/>
              <a:buNone/>
            </a:pPr>
            <a:endParaRPr dirty="0">
              <a:solidFill>
                <a:srgbClr val="474C55"/>
              </a:solidFill>
              <a:latin typeface="Arial"/>
              <a:ea typeface="Arial"/>
              <a:cs typeface="Arial"/>
              <a:sym typeface="Arial"/>
            </a:endParaRPr>
          </a:p>
          <a:p>
            <a:pPr marL="343080" lvl="0" indent="-342720" algn="l" rtl="0">
              <a:spcBef>
                <a:spcPts val="560"/>
              </a:spcBef>
              <a:spcAft>
                <a:spcPts val="0"/>
              </a:spcAft>
              <a:buClr>
                <a:srgbClr val="F36A25"/>
              </a:buClr>
              <a:buSzPts val="2800"/>
              <a:buFont typeface="Arial"/>
              <a:buChar char="•"/>
            </a:pPr>
            <a:r>
              <a:rPr lang="en-US" dirty="0">
                <a:solidFill>
                  <a:srgbClr val="474C55"/>
                </a:solidFill>
                <a:latin typeface="Arial"/>
                <a:ea typeface="Arial"/>
                <a:cs typeface="Arial"/>
                <a:sym typeface="Arial"/>
              </a:rPr>
              <a:t>Behaviors and states are shared across all instances of a class, but the values of variables may be different</a:t>
            </a:r>
            <a:endParaRPr dirty="0"/>
          </a:p>
          <a:p>
            <a:pPr marL="342900" lvl="0" indent="-165100" algn="l" rtl="0">
              <a:spcBef>
                <a:spcPts val="560"/>
              </a:spcBef>
              <a:spcAft>
                <a:spcPts val="0"/>
              </a:spcAft>
              <a:buSzPts val="2800"/>
              <a:buNone/>
            </a:pPr>
            <a:endParaRPr dirty="0"/>
          </a:p>
        </p:txBody>
      </p:sp>
      <p:sp>
        <p:nvSpPr>
          <p:cNvPr id="255" name="Google Shape;255;p21"/>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25"/>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FFFFFF"/>
              </a:buClr>
              <a:buSzPts val="2400"/>
              <a:buFont typeface="Arial"/>
              <a:buNone/>
            </a:pPr>
            <a:r>
              <a:rPr lang="en-US">
                <a:solidFill>
                  <a:srgbClr val="FFFFFF"/>
                </a:solidFill>
                <a:latin typeface="Arial"/>
                <a:ea typeface="Arial"/>
                <a:cs typeface="Arial"/>
                <a:sym typeface="Arial"/>
              </a:rPr>
              <a:t>Executable Classes</a:t>
            </a:r>
            <a:endParaRPr/>
          </a:p>
        </p:txBody>
      </p:sp>
      <p:sp>
        <p:nvSpPr>
          <p:cNvPr id="282" name="Google Shape;282;p25"/>
          <p:cNvSpPr txBox="1">
            <a:spLocks noGrp="1"/>
          </p:cNvSpPr>
          <p:nvPr>
            <p:ph type="body" idx="1"/>
          </p:nvPr>
        </p:nvSpPr>
        <p:spPr>
          <a:xfrm>
            <a:off x="380010" y="1481446"/>
            <a:ext cx="8383980" cy="4882266"/>
          </a:xfrm>
          <a:prstGeom prst="rect">
            <a:avLst/>
          </a:prstGeom>
          <a:noFill/>
          <a:ln>
            <a:noFill/>
          </a:ln>
        </p:spPr>
        <p:txBody>
          <a:bodyPr spcFirstLastPara="1" wrap="square" lIns="91425" tIns="45700" rIns="91425" bIns="45700" anchor="t" anchorCtr="0">
            <a:noAutofit/>
          </a:bodyPr>
          <a:lstStyle/>
          <a:p>
            <a:pPr marL="343080" lvl="0" indent="-342720" algn="l" rtl="0">
              <a:lnSpc>
                <a:spcPct val="90000"/>
              </a:lnSpc>
              <a:spcBef>
                <a:spcPts val="0"/>
              </a:spcBef>
              <a:spcAft>
                <a:spcPts val="0"/>
              </a:spcAft>
              <a:buClr>
                <a:srgbClr val="F36A25"/>
              </a:buClr>
              <a:buSzPts val="2800"/>
              <a:buFont typeface="Arial"/>
              <a:buChar char="•"/>
            </a:pPr>
            <a:r>
              <a:rPr lang="en-US" dirty="0">
                <a:solidFill>
                  <a:srgbClr val="474C55"/>
                </a:solidFill>
                <a:latin typeface="Arial"/>
                <a:ea typeface="Arial"/>
                <a:cs typeface="Arial"/>
                <a:sym typeface="Arial"/>
              </a:rPr>
              <a:t>A class with a specifically-declared main() method is “executable”</a:t>
            </a:r>
            <a:endParaRPr dirty="0"/>
          </a:p>
          <a:p>
            <a:pPr marL="743040" lvl="1" indent="-285480" algn="l" rtl="0">
              <a:lnSpc>
                <a:spcPct val="90000"/>
              </a:lnSpc>
              <a:spcBef>
                <a:spcPts val="480"/>
              </a:spcBef>
              <a:spcAft>
                <a:spcPts val="0"/>
              </a:spcAft>
              <a:buClr>
                <a:srgbClr val="F36A25"/>
              </a:buClr>
              <a:buSzPts val="2400"/>
              <a:buFont typeface="Arial"/>
              <a:buChar char="–"/>
            </a:pPr>
            <a:r>
              <a:rPr lang="en-US" dirty="0">
                <a:solidFill>
                  <a:srgbClr val="474C55"/>
                </a:solidFill>
                <a:latin typeface="Arial"/>
                <a:ea typeface="Arial"/>
                <a:cs typeface="Arial"/>
                <a:sym typeface="Arial"/>
              </a:rPr>
              <a:t>The JVM can invoke the main method without creating an instance of the class first</a:t>
            </a:r>
          </a:p>
          <a:p>
            <a:pPr marL="743040" lvl="1" indent="-285480" algn="l" rtl="0">
              <a:lnSpc>
                <a:spcPct val="90000"/>
              </a:lnSpc>
              <a:spcBef>
                <a:spcPts val="480"/>
              </a:spcBef>
              <a:spcAft>
                <a:spcPts val="0"/>
              </a:spcAft>
              <a:buClr>
                <a:srgbClr val="F36A25"/>
              </a:buClr>
              <a:buSzPts val="2400"/>
              <a:buFont typeface="Arial"/>
              <a:buChar char="–"/>
            </a:pPr>
            <a:endParaRPr lang="en-US" sz="2000" dirty="0">
              <a:solidFill>
                <a:srgbClr val="474C55"/>
              </a:solidFill>
            </a:endParaRPr>
          </a:p>
          <a:p>
            <a:pPr marL="743040" lvl="1" indent="-285480" algn="l" rtl="0">
              <a:lnSpc>
                <a:spcPct val="90000"/>
              </a:lnSpc>
              <a:spcBef>
                <a:spcPts val="480"/>
              </a:spcBef>
              <a:spcAft>
                <a:spcPts val="0"/>
              </a:spcAft>
              <a:buClr>
                <a:srgbClr val="F36A25"/>
              </a:buClr>
              <a:buSzPts val="2400"/>
              <a:buFont typeface="Arial"/>
              <a:buChar char="–"/>
            </a:pPr>
            <a:endParaRPr lang="en-US" sz="2000" dirty="0">
              <a:solidFill>
                <a:srgbClr val="474C55"/>
              </a:solidFill>
            </a:endParaRPr>
          </a:p>
          <a:p>
            <a:pPr marL="743040" lvl="1" indent="-285480" algn="l" rtl="0">
              <a:lnSpc>
                <a:spcPct val="90000"/>
              </a:lnSpc>
              <a:spcBef>
                <a:spcPts val="480"/>
              </a:spcBef>
              <a:spcAft>
                <a:spcPts val="0"/>
              </a:spcAft>
              <a:buClr>
                <a:srgbClr val="F36A25"/>
              </a:buClr>
              <a:buSzPts val="2400"/>
              <a:buFont typeface="Arial"/>
              <a:buChar char="–"/>
            </a:pPr>
            <a:endParaRPr lang="en-US" sz="2000" dirty="0">
              <a:solidFill>
                <a:srgbClr val="474C55"/>
              </a:solidFill>
            </a:endParaRPr>
          </a:p>
          <a:p>
            <a:pPr marL="743040" lvl="1" indent="-285480" algn="l" rtl="0">
              <a:lnSpc>
                <a:spcPct val="90000"/>
              </a:lnSpc>
              <a:spcBef>
                <a:spcPts val="480"/>
              </a:spcBef>
              <a:spcAft>
                <a:spcPts val="0"/>
              </a:spcAft>
              <a:buClr>
                <a:srgbClr val="F36A25"/>
              </a:buClr>
              <a:buSzPts val="2400"/>
              <a:buFont typeface="Arial"/>
              <a:buChar char="–"/>
            </a:pPr>
            <a:endParaRPr dirty="0">
              <a:solidFill>
                <a:srgbClr val="474C55"/>
              </a:solidFill>
              <a:latin typeface="Arial"/>
              <a:ea typeface="Arial"/>
              <a:cs typeface="Arial"/>
              <a:sym typeface="Arial"/>
            </a:endParaRPr>
          </a:p>
          <a:p>
            <a:pPr marL="342900" lvl="0" indent="-165100" algn="l" rtl="0">
              <a:lnSpc>
                <a:spcPct val="90000"/>
              </a:lnSpc>
              <a:spcBef>
                <a:spcPts val="560"/>
              </a:spcBef>
              <a:spcAft>
                <a:spcPts val="0"/>
              </a:spcAft>
              <a:buSzPts val="2800"/>
              <a:buNone/>
            </a:pPr>
            <a:endParaRPr dirty="0">
              <a:solidFill>
                <a:srgbClr val="474C55"/>
              </a:solidFill>
              <a:latin typeface="Arial"/>
              <a:ea typeface="Arial"/>
              <a:cs typeface="Arial"/>
              <a:sym typeface="Arial"/>
            </a:endParaRPr>
          </a:p>
          <a:p>
            <a:pPr marL="343080" lvl="0" indent="-342720" algn="l" rtl="0">
              <a:lnSpc>
                <a:spcPct val="90000"/>
              </a:lnSpc>
              <a:spcBef>
                <a:spcPts val="520"/>
              </a:spcBef>
              <a:spcAft>
                <a:spcPts val="0"/>
              </a:spcAft>
              <a:buClr>
                <a:srgbClr val="F36A25"/>
              </a:buClr>
              <a:buSzPts val="2600"/>
              <a:buFont typeface="Arial"/>
              <a:buChar char="•"/>
            </a:pPr>
            <a:r>
              <a:rPr lang="en-US" sz="2600" dirty="0">
                <a:solidFill>
                  <a:srgbClr val="474C55"/>
                </a:solidFill>
                <a:latin typeface="Arial"/>
                <a:ea typeface="Arial"/>
                <a:cs typeface="Arial"/>
                <a:sym typeface="Arial"/>
              </a:rPr>
              <a:t>An application usually only has 1 executable class. This is the “entry point” where processing starts.</a:t>
            </a:r>
            <a:endParaRPr dirty="0">
              <a:solidFill>
                <a:srgbClr val="474C55"/>
              </a:solidFill>
              <a:latin typeface="Arial"/>
              <a:ea typeface="Arial"/>
              <a:cs typeface="Arial"/>
              <a:sym typeface="Arial"/>
            </a:endParaRPr>
          </a:p>
          <a:p>
            <a:pPr marL="342900" lvl="0" indent="-165100" algn="l" rtl="0">
              <a:lnSpc>
                <a:spcPct val="90000"/>
              </a:lnSpc>
              <a:spcBef>
                <a:spcPts val="560"/>
              </a:spcBef>
              <a:spcAft>
                <a:spcPts val="0"/>
              </a:spcAft>
              <a:buSzPts val="2800"/>
              <a:buNone/>
            </a:pPr>
            <a:endParaRPr dirty="0"/>
          </a:p>
        </p:txBody>
      </p:sp>
      <p:sp>
        <p:nvSpPr>
          <p:cNvPr id="283" name="Google Shape;283;p25"/>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sp>
        <p:nvSpPr>
          <p:cNvPr id="5" name="Google Shape;219;p16">
            <a:extLst>
              <a:ext uri="{FF2B5EF4-FFF2-40B4-BE49-F238E27FC236}">
                <a16:creationId xmlns:a16="http://schemas.microsoft.com/office/drawing/2014/main" id="{1DAF422E-C23F-4EA0-9500-68B4C6EDC0A5}"/>
              </a:ext>
            </a:extLst>
          </p:cNvPr>
          <p:cNvSpPr txBox="1">
            <a:spLocks/>
          </p:cNvSpPr>
          <p:nvPr/>
        </p:nvSpPr>
        <p:spPr>
          <a:xfrm>
            <a:off x="1301261" y="3167400"/>
            <a:ext cx="6541477" cy="1510358"/>
          </a:xfrm>
          <a:prstGeom prst="rect">
            <a:avLst/>
          </a:prstGeom>
        </p:spPr>
        <p:style>
          <a:lnRef idx="1">
            <a:schemeClr val="accent2"/>
          </a:lnRef>
          <a:fillRef idx="2">
            <a:schemeClr val="accent2"/>
          </a:fillRef>
          <a:effectRef idx="1">
            <a:schemeClr val="accent2"/>
          </a:effectRef>
          <a:fontRef idx="minor">
            <a:schemeClr val="dk1"/>
          </a:fontRef>
        </p:style>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100000"/>
              </a:lnSpc>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100000"/>
              </a:lnSpc>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9pPr>
          </a:lstStyle>
          <a:p>
            <a:pPr marL="0" lvl="0" indent="0">
              <a:lnSpc>
                <a:spcPct val="90000"/>
              </a:lnSpc>
              <a:spcBef>
                <a:spcPts val="360"/>
              </a:spcBef>
              <a:buSzPts val="1800"/>
              <a:buNone/>
            </a:pPr>
            <a:r>
              <a:rPr lang="en-US" sz="1800" dirty="0">
                <a:solidFill>
                  <a:srgbClr val="474C55"/>
                </a:solidFill>
                <a:latin typeface="Courier New"/>
                <a:ea typeface="Courier New"/>
                <a:cs typeface="Courier New"/>
                <a:sym typeface="Courier New"/>
              </a:rPr>
              <a:t>public class Hello {</a:t>
            </a:r>
            <a:br>
              <a:rPr lang="en-US" sz="1800" dirty="0">
                <a:solidFill>
                  <a:srgbClr val="474C55"/>
                </a:solidFill>
                <a:latin typeface="Courier New"/>
                <a:ea typeface="Courier New"/>
                <a:cs typeface="Courier New"/>
                <a:sym typeface="Courier New"/>
              </a:rPr>
            </a:br>
            <a:r>
              <a:rPr lang="en-US" sz="1800" dirty="0">
                <a:solidFill>
                  <a:srgbClr val="474C55"/>
                </a:solidFill>
                <a:latin typeface="Courier New"/>
                <a:ea typeface="Courier New"/>
                <a:cs typeface="Courier New"/>
                <a:sym typeface="Courier New"/>
              </a:rPr>
              <a:t>    </a:t>
            </a:r>
            <a:r>
              <a:rPr lang="en-US" sz="1800" b="1" dirty="0">
                <a:solidFill>
                  <a:srgbClr val="474C55"/>
                </a:solidFill>
                <a:latin typeface="Courier New"/>
                <a:ea typeface="Courier New"/>
                <a:cs typeface="Courier New"/>
                <a:sym typeface="Courier New"/>
              </a:rPr>
              <a:t>public static void main(String[] </a:t>
            </a:r>
            <a:r>
              <a:rPr lang="en-US" sz="1800" b="1" dirty="0" err="1">
                <a:solidFill>
                  <a:srgbClr val="474C55"/>
                </a:solidFill>
                <a:latin typeface="Courier New"/>
                <a:ea typeface="Courier New"/>
                <a:cs typeface="Courier New"/>
                <a:sym typeface="Courier New"/>
              </a:rPr>
              <a:t>args</a:t>
            </a:r>
            <a:r>
              <a:rPr lang="en-US" sz="1800" b="1" dirty="0">
                <a:solidFill>
                  <a:srgbClr val="474C55"/>
                </a:solidFill>
                <a:latin typeface="Courier New"/>
                <a:ea typeface="Courier New"/>
                <a:cs typeface="Courier New"/>
                <a:sym typeface="Courier New"/>
              </a:rPr>
              <a:t>) {</a:t>
            </a:r>
            <a:br>
              <a:rPr lang="en-US" sz="1800" dirty="0">
                <a:solidFill>
                  <a:srgbClr val="474C55"/>
                </a:solidFill>
                <a:latin typeface="Courier New"/>
                <a:ea typeface="Courier New"/>
                <a:cs typeface="Courier New"/>
                <a:sym typeface="Courier New"/>
              </a:rPr>
            </a:br>
            <a:r>
              <a:rPr lang="en-US" sz="1800" dirty="0">
                <a:solidFill>
                  <a:srgbClr val="474C55"/>
                </a:solidFill>
                <a:latin typeface="Courier New"/>
                <a:ea typeface="Courier New"/>
                <a:cs typeface="Courier New"/>
                <a:sym typeface="Courier New"/>
              </a:rPr>
              <a:t>        </a:t>
            </a:r>
            <a:r>
              <a:rPr lang="en-US" sz="1800" dirty="0" err="1">
                <a:solidFill>
                  <a:srgbClr val="474C55"/>
                </a:solidFill>
                <a:latin typeface="Courier New"/>
                <a:ea typeface="Courier New"/>
                <a:cs typeface="Courier New"/>
                <a:sym typeface="Courier New"/>
              </a:rPr>
              <a:t>System.out.println</a:t>
            </a:r>
            <a:r>
              <a:rPr lang="en-US" sz="1800" dirty="0">
                <a:solidFill>
                  <a:srgbClr val="474C55"/>
                </a:solidFill>
                <a:latin typeface="Courier New"/>
                <a:ea typeface="Courier New"/>
                <a:cs typeface="Courier New"/>
                <a:sym typeface="Courier New"/>
              </a:rPr>
              <a:t>(“Hello World!”);</a:t>
            </a:r>
            <a:br>
              <a:rPr lang="en-US" sz="1800" dirty="0">
                <a:solidFill>
                  <a:srgbClr val="474C55"/>
                </a:solidFill>
                <a:latin typeface="Courier New"/>
                <a:ea typeface="Courier New"/>
                <a:cs typeface="Courier New"/>
                <a:sym typeface="Courier New"/>
              </a:rPr>
            </a:br>
            <a:r>
              <a:rPr lang="en-US" sz="1800" dirty="0">
                <a:solidFill>
                  <a:srgbClr val="474C55"/>
                </a:solidFill>
                <a:latin typeface="Courier New"/>
                <a:ea typeface="Courier New"/>
                <a:cs typeface="Courier New"/>
                <a:sym typeface="Courier New"/>
              </a:rPr>
              <a:t>    }</a:t>
            </a:r>
            <a:br>
              <a:rPr lang="en-US" sz="1800" dirty="0">
                <a:solidFill>
                  <a:srgbClr val="474C55"/>
                </a:solidFill>
                <a:latin typeface="Courier New"/>
                <a:ea typeface="Courier New"/>
                <a:cs typeface="Courier New"/>
                <a:sym typeface="Courier New"/>
              </a:rPr>
            </a:br>
            <a:r>
              <a:rPr lang="en-US" sz="1800" dirty="0">
                <a:solidFill>
                  <a:srgbClr val="474C55"/>
                </a:solidFill>
                <a:latin typeface="Courier New"/>
                <a:ea typeface="Courier New"/>
                <a:cs typeface="Courier New"/>
                <a:sym typeface="Courier New"/>
              </a:rPr>
              <a:t>}</a:t>
            </a:r>
            <a:endParaRPr lang="en-US" dirty="0">
              <a:solidFill>
                <a:srgbClr val="474C55"/>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82">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2" grpId="0" build="p"/>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45D40-6AAA-D024-2AE9-07D0458222C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A711C0-1FF6-C696-B69C-0F612EB73AA3}"/>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18</a:t>
            </a:fld>
            <a:endParaRPr lang="en-US"/>
          </a:p>
        </p:txBody>
      </p:sp>
      <p:sp>
        <p:nvSpPr>
          <p:cNvPr id="4" name="Google Shape;212;p15">
            <a:extLst>
              <a:ext uri="{FF2B5EF4-FFF2-40B4-BE49-F238E27FC236}">
                <a16:creationId xmlns:a16="http://schemas.microsoft.com/office/drawing/2014/main" id="{213D38DD-D43F-6A12-1266-AAC15E5A881A}"/>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Packages &amp; Imports</a:t>
            </a:r>
          </a:p>
        </p:txBody>
      </p:sp>
      <p:pic>
        <p:nvPicPr>
          <p:cNvPr id="6" name="Picture 5">
            <a:extLst>
              <a:ext uri="{FF2B5EF4-FFF2-40B4-BE49-F238E27FC236}">
                <a16:creationId xmlns:a16="http://schemas.microsoft.com/office/drawing/2014/main" id="{A6976D52-66FF-CBA2-E338-E9501FC1819C}"/>
              </a:ext>
            </a:extLst>
          </p:cNvPr>
          <p:cNvPicPr>
            <a:picLocks noChangeAspect="1"/>
          </p:cNvPicPr>
          <p:nvPr/>
        </p:nvPicPr>
        <p:blipFill>
          <a:blip r:embed="rId2"/>
          <a:stretch>
            <a:fillRect/>
          </a:stretch>
        </p:blipFill>
        <p:spPr>
          <a:xfrm>
            <a:off x="7036646" y="0"/>
            <a:ext cx="2107354" cy="773112"/>
          </a:xfrm>
          <a:prstGeom prst="rect">
            <a:avLst/>
          </a:prstGeom>
        </p:spPr>
      </p:pic>
    </p:spTree>
    <p:extLst>
      <p:ext uri="{BB962C8B-B14F-4D97-AF65-F5344CB8AC3E}">
        <p14:creationId xmlns:p14="http://schemas.microsoft.com/office/powerpoint/2010/main" val="19420668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0D9F5-C0D5-4829-8B18-7E89C83A245D}"/>
              </a:ext>
            </a:extLst>
          </p:cNvPr>
          <p:cNvSpPr>
            <a:spLocks noGrp="1"/>
          </p:cNvSpPr>
          <p:nvPr>
            <p:ph type="title"/>
          </p:nvPr>
        </p:nvSpPr>
        <p:spPr/>
        <p:txBody>
          <a:bodyPr/>
          <a:lstStyle/>
          <a:p>
            <a:r>
              <a:rPr lang="en-US" dirty="0"/>
              <a:t>Packages and the JRE</a:t>
            </a:r>
          </a:p>
        </p:txBody>
      </p:sp>
      <p:sp>
        <p:nvSpPr>
          <p:cNvPr id="3" name="Text Placeholder 2">
            <a:extLst>
              <a:ext uri="{FF2B5EF4-FFF2-40B4-BE49-F238E27FC236}">
                <a16:creationId xmlns:a16="http://schemas.microsoft.com/office/drawing/2014/main" id="{907E4FBF-DDE1-4DDE-A6CB-E3250BF3DC1E}"/>
              </a:ext>
            </a:extLst>
          </p:cNvPr>
          <p:cNvSpPr>
            <a:spLocks noGrp="1"/>
          </p:cNvSpPr>
          <p:nvPr>
            <p:ph type="body" idx="1"/>
          </p:nvPr>
        </p:nvSpPr>
        <p:spPr>
          <a:xfrm>
            <a:off x="380010" y="1302337"/>
            <a:ext cx="8383980" cy="5426500"/>
          </a:xfrm>
        </p:spPr>
        <p:txBody>
          <a:bodyPr wrap="square">
            <a:normAutofit fontScale="77500" lnSpcReduction="20000"/>
          </a:bodyPr>
          <a:lstStyle/>
          <a:p>
            <a:pPr marL="285750" indent="-285750">
              <a:lnSpc>
                <a:spcPct val="90000"/>
              </a:lnSpc>
              <a:spcBef>
                <a:spcPts val="444"/>
              </a:spcBef>
              <a:buSzPts val="2220"/>
            </a:pPr>
            <a:r>
              <a:rPr lang="en-US" sz="2620" dirty="0"/>
              <a:t>Although you can create your own classes, where do other classes like String come from?</a:t>
            </a:r>
          </a:p>
          <a:p>
            <a:pPr marL="742950" lvl="1" indent="-285750">
              <a:lnSpc>
                <a:spcPct val="90000"/>
              </a:lnSpc>
              <a:spcBef>
                <a:spcPts val="444"/>
              </a:spcBef>
              <a:buSzPts val="2220"/>
            </a:pPr>
            <a:r>
              <a:rPr lang="en-US" sz="2220" dirty="0"/>
              <a:t>They come from </a:t>
            </a:r>
            <a:r>
              <a:rPr lang="en-US" sz="2220" dirty="0" err="1"/>
              <a:t>java.lang</a:t>
            </a:r>
            <a:r>
              <a:rPr lang="en-US" sz="2220" dirty="0"/>
              <a:t> (in the JRE)</a:t>
            </a:r>
          </a:p>
          <a:p>
            <a:pPr marL="742950" lvl="1" indent="-285750">
              <a:lnSpc>
                <a:spcPct val="90000"/>
              </a:lnSpc>
              <a:spcBef>
                <a:spcPts val="444"/>
              </a:spcBef>
              <a:buSzPts val="2220"/>
            </a:pPr>
            <a:r>
              <a:rPr lang="en-US" sz="2220" dirty="0"/>
              <a:t>We have access to </a:t>
            </a:r>
            <a:r>
              <a:rPr lang="en-US" sz="2220" dirty="0" err="1"/>
              <a:t>java.lang</a:t>
            </a:r>
            <a:r>
              <a:rPr lang="en-US" sz="2220" dirty="0"/>
              <a:t> and our current package by default  </a:t>
            </a:r>
          </a:p>
          <a:p>
            <a:pPr marL="285750" indent="-285750">
              <a:lnSpc>
                <a:spcPct val="90000"/>
              </a:lnSpc>
              <a:spcBef>
                <a:spcPts val="444"/>
              </a:spcBef>
              <a:buSzPts val="2220"/>
            </a:pPr>
            <a:r>
              <a:rPr lang="en-US" sz="2620" dirty="0"/>
              <a:t>Packages are essentially just folders that contain classes, interfaces and more in Java.</a:t>
            </a:r>
          </a:p>
          <a:p>
            <a:pPr marL="285750" indent="-285750">
              <a:lnSpc>
                <a:spcPct val="90000"/>
              </a:lnSpc>
              <a:spcBef>
                <a:spcPts val="444"/>
              </a:spcBef>
              <a:buSzPts val="2220"/>
            </a:pPr>
            <a:r>
              <a:rPr lang="en-US" sz="2620" dirty="0"/>
              <a:t>When you ‘import’ a package (or class), you gain access to visible code of that package.</a:t>
            </a:r>
          </a:p>
          <a:p>
            <a:pPr marL="342900" lvl="0" indent="-342900">
              <a:lnSpc>
                <a:spcPct val="90000"/>
              </a:lnSpc>
              <a:spcBef>
                <a:spcPts val="518"/>
              </a:spcBef>
              <a:buSzPts val="2590"/>
            </a:pPr>
            <a:r>
              <a:rPr lang="en-US" sz="2590" dirty="0"/>
              <a:t>You declare your imports at the top of your class using the ‘import’ keyword and the name of the package and class (you may also all classes in a package using the wildcard (*) symbol.</a:t>
            </a:r>
            <a:endParaRPr lang="en-US" dirty="0"/>
          </a:p>
          <a:p>
            <a:pPr marL="742950" lvl="1" indent="-285750">
              <a:lnSpc>
                <a:spcPct val="90000"/>
              </a:lnSpc>
              <a:spcBef>
                <a:spcPts val="444"/>
              </a:spcBef>
              <a:buSzPts val="2220"/>
            </a:pPr>
            <a:r>
              <a:rPr lang="en-US" sz="2220" dirty="0"/>
              <a:t>import </a:t>
            </a:r>
            <a:r>
              <a:rPr lang="en-US" sz="2220" dirty="0" err="1"/>
              <a:t>java.util</a:t>
            </a:r>
            <a:r>
              <a:rPr lang="en-US" sz="2220" dirty="0"/>
              <a:t>.*;</a:t>
            </a:r>
            <a:endParaRPr lang="en-US" dirty="0"/>
          </a:p>
          <a:p>
            <a:pPr marL="742950" lvl="1" indent="-285750">
              <a:lnSpc>
                <a:spcPct val="90000"/>
              </a:lnSpc>
              <a:spcBef>
                <a:spcPts val="444"/>
              </a:spcBef>
              <a:buSzPts val="2220"/>
            </a:pPr>
            <a:r>
              <a:rPr lang="en-US" sz="2220" dirty="0"/>
              <a:t>import </a:t>
            </a:r>
            <a:r>
              <a:rPr lang="en-US" sz="2220" dirty="0" err="1"/>
              <a:t>java.util.ArrayList</a:t>
            </a:r>
            <a:r>
              <a:rPr lang="en-US" sz="2220" dirty="0"/>
              <a:t>;</a:t>
            </a:r>
          </a:p>
          <a:p>
            <a:pPr marL="742950" lvl="1" indent="-285750">
              <a:lnSpc>
                <a:spcPct val="90000"/>
              </a:lnSpc>
              <a:spcBef>
                <a:spcPts val="444"/>
              </a:spcBef>
              <a:buSzPts val="2220"/>
            </a:pPr>
            <a:r>
              <a:rPr lang="en-US" sz="2220" dirty="0"/>
              <a:t>This prevents name confusion (</a:t>
            </a:r>
            <a:r>
              <a:rPr lang="en-US" sz="2220" dirty="0" err="1"/>
              <a:t>java.util.Date</a:t>
            </a:r>
            <a:r>
              <a:rPr lang="en-US" sz="2220" dirty="0"/>
              <a:t> vs </a:t>
            </a:r>
            <a:r>
              <a:rPr lang="en-US" sz="2220" dirty="0" err="1"/>
              <a:t>java.sql.Date</a:t>
            </a:r>
            <a:r>
              <a:rPr lang="en-US" sz="2220" dirty="0"/>
              <a:t>)</a:t>
            </a:r>
            <a:endParaRPr lang="en-US" sz="2400" dirty="0"/>
          </a:p>
          <a:p>
            <a:pPr marL="342900" indent="-342900">
              <a:lnSpc>
                <a:spcPct val="90000"/>
              </a:lnSpc>
              <a:spcBef>
                <a:spcPts val="518"/>
              </a:spcBef>
              <a:buSzPts val="2590"/>
            </a:pPr>
            <a:r>
              <a:rPr lang="en-US" sz="2190" dirty="0"/>
              <a:t>When creating a variable, you can also declare the datatype using the full P</a:t>
            </a:r>
            <a:r>
              <a:rPr lang="en-US" sz="2400" dirty="0"/>
              <a:t>ackage and class name. This is called the “fully qualified class name”</a:t>
            </a:r>
          </a:p>
          <a:p>
            <a:pPr marL="800100" lvl="1" indent="-342900">
              <a:lnSpc>
                <a:spcPct val="90000"/>
              </a:lnSpc>
              <a:spcBef>
                <a:spcPts val="518"/>
              </a:spcBef>
              <a:buSzPts val="2590"/>
            </a:pPr>
            <a:r>
              <a:rPr lang="en-US" sz="2000" dirty="0" err="1"/>
              <a:t>com.revature.example.MyClass</a:t>
            </a:r>
            <a:r>
              <a:rPr lang="en-US" sz="2000" dirty="0"/>
              <a:t> </a:t>
            </a:r>
            <a:r>
              <a:rPr lang="en-US" sz="2000" dirty="0" err="1"/>
              <a:t>myClass</a:t>
            </a:r>
            <a:r>
              <a:rPr lang="en-US" sz="2000" dirty="0"/>
              <a:t> = new </a:t>
            </a:r>
            <a:r>
              <a:rPr lang="en-US" sz="2000" dirty="0" err="1"/>
              <a:t>com.revature.example.MyClass</a:t>
            </a:r>
            <a:r>
              <a:rPr lang="en-US" sz="2000" dirty="0"/>
              <a:t>()</a:t>
            </a:r>
          </a:p>
          <a:p>
            <a:pPr marL="342900" indent="-342900">
              <a:lnSpc>
                <a:spcPct val="90000"/>
              </a:lnSpc>
              <a:spcBef>
                <a:spcPts val="518"/>
              </a:spcBef>
              <a:buSzPts val="2590"/>
            </a:pPr>
            <a:r>
              <a:rPr lang="en-US" dirty="0"/>
              <a:t>When we use the fully qualified class name, we don’t have to declare a package or class import</a:t>
            </a:r>
          </a:p>
          <a:p>
            <a:pPr marL="342900" indent="-342900">
              <a:lnSpc>
                <a:spcPct val="90000"/>
              </a:lnSpc>
              <a:spcBef>
                <a:spcPts val="518"/>
              </a:spcBef>
              <a:buSzPts val="2590"/>
            </a:pPr>
            <a:endParaRPr lang="en-US" sz="2400" dirty="0"/>
          </a:p>
          <a:p>
            <a:pPr marL="342900" lvl="0" indent="-342900">
              <a:lnSpc>
                <a:spcPct val="90000"/>
              </a:lnSpc>
              <a:spcBef>
                <a:spcPts val="518"/>
              </a:spcBef>
              <a:buSzPts val="2590"/>
            </a:pPr>
            <a:endParaRPr lang="en-US" sz="2590" dirty="0"/>
          </a:p>
          <a:p>
            <a:pPr marL="342900" lvl="0" indent="-342900">
              <a:lnSpc>
                <a:spcPct val="90000"/>
              </a:lnSpc>
              <a:spcBef>
                <a:spcPts val="518"/>
              </a:spcBef>
              <a:buSzPts val="2590"/>
            </a:pPr>
            <a:endParaRPr lang="en-US" dirty="0"/>
          </a:p>
          <a:p>
            <a:endParaRPr lang="en-US" dirty="0"/>
          </a:p>
        </p:txBody>
      </p:sp>
      <p:sp>
        <p:nvSpPr>
          <p:cNvPr id="4" name="Slide Number Placeholder 3">
            <a:extLst>
              <a:ext uri="{FF2B5EF4-FFF2-40B4-BE49-F238E27FC236}">
                <a16:creationId xmlns:a16="http://schemas.microsoft.com/office/drawing/2014/main" id="{B1AEA075-E4AA-4126-B7AB-0FB4FC64224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19</a:t>
            </a:fld>
            <a:endParaRPr lang="en-US"/>
          </a:p>
        </p:txBody>
      </p:sp>
    </p:spTree>
    <p:extLst>
      <p:ext uri="{BB962C8B-B14F-4D97-AF65-F5344CB8AC3E}">
        <p14:creationId xmlns:p14="http://schemas.microsoft.com/office/powerpoint/2010/main" val="3501695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17"/>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dirty="0"/>
              <a:t>Package Structure	</a:t>
            </a:r>
            <a:endParaRPr dirty="0"/>
          </a:p>
        </p:txBody>
      </p:sp>
      <p:sp>
        <p:nvSpPr>
          <p:cNvPr id="225" name="Google Shape;225;p17"/>
          <p:cNvSpPr txBox="1">
            <a:spLocks noGrp="1"/>
          </p:cNvSpPr>
          <p:nvPr>
            <p:ph type="body" idx="1"/>
          </p:nvPr>
        </p:nvSpPr>
        <p:spPr>
          <a:xfrm>
            <a:off x="380010" y="1481446"/>
            <a:ext cx="8383980" cy="4882266"/>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SzPts val="2590"/>
              <a:buChar char="•"/>
            </a:pPr>
            <a:r>
              <a:rPr lang="en-US" sz="2590" dirty="0"/>
              <a:t>Java classes are stored in packages</a:t>
            </a:r>
          </a:p>
          <a:p>
            <a:pPr marL="342900" lvl="0" indent="-342900">
              <a:lnSpc>
                <a:spcPct val="90000"/>
              </a:lnSpc>
              <a:spcBef>
                <a:spcPts val="518"/>
              </a:spcBef>
              <a:buSzPts val="2590"/>
            </a:pPr>
            <a:r>
              <a:rPr lang="en-US" sz="2590" dirty="0"/>
              <a:t>Packages become nested folders</a:t>
            </a:r>
            <a:endParaRPr lang="en-US" dirty="0"/>
          </a:p>
          <a:p>
            <a:pPr marL="742950" lvl="1" indent="-285750">
              <a:lnSpc>
                <a:spcPct val="90000"/>
              </a:lnSpc>
              <a:spcBef>
                <a:spcPts val="444"/>
              </a:spcBef>
              <a:buSzPts val="2220"/>
            </a:pPr>
            <a:r>
              <a:rPr lang="en-US" sz="2220" dirty="0" err="1"/>
              <a:t>com.revature.example</a:t>
            </a:r>
            <a:r>
              <a:rPr lang="en-US" sz="2220" dirty="0"/>
              <a:t> → /com/</a:t>
            </a:r>
            <a:r>
              <a:rPr lang="en-US" sz="2220" dirty="0" err="1"/>
              <a:t>revature</a:t>
            </a:r>
            <a:r>
              <a:rPr lang="en-US" sz="2220" dirty="0"/>
              <a:t>/examples</a:t>
            </a:r>
          </a:p>
          <a:p>
            <a:pPr marL="342900" lvl="0" indent="-342900">
              <a:lnSpc>
                <a:spcPct val="90000"/>
              </a:lnSpc>
              <a:spcBef>
                <a:spcPts val="518"/>
              </a:spcBef>
              <a:buSzPts val="2590"/>
            </a:pPr>
            <a:r>
              <a:rPr lang="en-US" sz="2400" dirty="0"/>
              <a:t>How do we specify what package we want our file to be in? </a:t>
            </a:r>
          </a:p>
          <a:p>
            <a:pPr marL="800100" lvl="1" indent="-342900">
              <a:lnSpc>
                <a:spcPct val="90000"/>
              </a:lnSpc>
              <a:spcBef>
                <a:spcPts val="518"/>
              </a:spcBef>
              <a:buSzPts val="2590"/>
            </a:pPr>
            <a:r>
              <a:rPr lang="en-US" sz="2200" dirty="0"/>
              <a:t>Add a line at the top of your java file</a:t>
            </a:r>
          </a:p>
          <a:p>
            <a:pPr marL="800100" lvl="1" indent="-342900">
              <a:lnSpc>
                <a:spcPct val="90000"/>
              </a:lnSpc>
              <a:spcBef>
                <a:spcPts val="518"/>
              </a:spcBef>
              <a:buSzPts val="2590"/>
            </a:pPr>
            <a:endParaRPr lang="en-US" sz="2200" dirty="0"/>
          </a:p>
          <a:p>
            <a:pPr marL="800100" lvl="1" indent="-342900">
              <a:lnSpc>
                <a:spcPct val="90000"/>
              </a:lnSpc>
              <a:spcBef>
                <a:spcPts val="518"/>
              </a:spcBef>
              <a:buSzPts val="2590"/>
            </a:pPr>
            <a:endParaRPr lang="en-US" sz="2200" dirty="0"/>
          </a:p>
          <a:p>
            <a:pPr marL="800100" lvl="1" indent="-342900">
              <a:lnSpc>
                <a:spcPct val="90000"/>
              </a:lnSpc>
              <a:spcBef>
                <a:spcPts val="518"/>
              </a:spcBef>
              <a:buSzPts val="2590"/>
            </a:pPr>
            <a:endParaRPr lang="en-US" sz="2200" dirty="0"/>
          </a:p>
          <a:p>
            <a:pPr marL="800100" lvl="1" indent="-342900">
              <a:lnSpc>
                <a:spcPct val="90000"/>
              </a:lnSpc>
              <a:spcBef>
                <a:spcPts val="518"/>
              </a:spcBef>
              <a:buSzPts val="2590"/>
            </a:pPr>
            <a:endParaRPr lang="en-US" sz="2200" dirty="0"/>
          </a:p>
          <a:p>
            <a:pPr marL="285750" indent="-285750">
              <a:lnSpc>
                <a:spcPct val="90000"/>
              </a:lnSpc>
              <a:spcBef>
                <a:spcPts val="444"/>
              </a:spcBef>
              <a:buSzPts val="2220"/>
            </a:pPr>
            <a:endParaRPr lang="en-US" sz="2400" dirty="0"/>
          </a:p>
          <a:p>
            <a:pPr marL="285750" indent="-285750">
              <a:lnSpc>
                <a:spcPct val="90000"/>
              </a:lnSpc>
              <a:spcBef>
                <a:spcPts val="444"/>
              </a:spcBef>
              <a:buSzPts val="2220"/>
            </a:pPr>
            <a:r>
              <a:rPr lang="en-US" sz="2400" dirty="0"/>
              <a:t>What if we don’t specify?</a:t>
            </a:r>
          </a:p>
          <a:p>
            <a:pPr marL="742950" lvl="1" indent="-285750">
              <a:lnSpc>
                <a:spcPct val="90000"/>
              </a:lnSpc>
              <a:spcBef>
                <a:spcPts val="444"/>
              </a:spcBef>
              <a:buSzPts val="2220"/>
            </a:pPr>
            <a:r>
              <a:rPr lang="en-US" sz="2200" dirty="0"/>
              <a:t>The class ends up in the default package</a:t>
            </a:r>
          </a:p>
          <a:p>
            <a:pPr marL="342900" lvl="0" indent="-342900" algn="l" rtl="0">
              <a:lnSpc>
                <a:spcPct val="90000"/>
              </a:lnSpc>
              <a:spcBef>
                <a:spcPts val="0"/>
              </a:spcBef>
              <a:spcAft>
                <a:spcPts val="0"/>
              </a:spcAft>
              <a:buSzPts val="2590"/>
              <a:buChar char="•"/>
            </a:pPr>
            <a:endParaRPr lang="en-US" sz="2590" dirty="0"/>
          </a:p>
          <a:p>
            <a:pPr marL="342900" lvl="0" indent="-342900" algn="l" rtl="0">
              <a:lnSpc>
                <a:spcPct val="90000"/>
              </a:lnSpc>
              <a:spcBef>
                <a:spcPts val="0"/>
              </a:spcBef>
              <a:spcAft>
                <a:spcPts val="0"/>
              </a:spcAft>
              <a:buSzPts val="2590"/>
              <a:buChar char="•"/>
            </a:pPr>
            <a:endParaRPr dirty="0"/>
          </a:p>
        </p:txBody>
      </p:sp>
      <p:sp>
        <p:nvSpPr>
          <p:cNvPr id="226" name="Google Shape;226;p17"/>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sp>
        <p:nvSpPr>
          <p:cNvPr id="5" name="Rectangle 4">
            <a:extLst>
              <a:ext uri="{FF2B5EF4-FFF2-40B4-BE49-F238E27FC236}">
                <a16:creationId xmlns:a16="http://schemas.microsoft.com/office/drawing/2014/main" id="{0D678738-F03D-47BA-9777-8ECDDB1E8122}"/>
              </a:ext>
            </a:extLst>
          </p:cNvPr>
          <p:cNvSpPr/>
          <p:nvPr/>
        </p:nvSpPr>
        <p:spPr>
          <a:xfrm>
            <a:off x="816983" y="3922579"/>
            <a:ext cx="7305774" cy="1309297"/>
          </a:xfrm>
          <a:prstGeom prst="rect">
            <a:avLst/>
          </a:prstGeom>
        </p:spPr>
        <p:style>
          <a:lnRef idx="1">
            <a:schemeClr val="accent2"/>
          </a:lnRef>
          <a:fillRef idx="2">
            <a:schemeClr val="accent2"/>
          </a:fillRef>
          <a:effectRef idx="1">
            <a:schemeClr val="accent2"/>
          </a:effectRef>
          <a:fontRef idx="minor">
            <a:schemeClr val="dk1"/>
          </a:fontRef>
        </p:style>
        <p:txBody>
          <a:bodyPr rtlCol="0" anchor="t"/>
          <a:lstStyle/>
          <a:p>
            <a:r>
              <a:rPr lang="en-US" dirty="0">
                <a:latin typeface="Courier New" panose="02070309020205020404" pitchFamily="49" charset="0"/>
                <a:cs typeface="Courier New" panose="02070309020205020404" pitchFamily="49" charset="0"/>
              </a:rPr>
              <a:t>package </a:t>
            </a:r>
            <a:r>
              <a:rPr lang="en-US" dirty="0" err="1">
                <a:latin typeface="Courier New" panose="02070309020205020404" pitchFamily="49" charset="0"/>
                <a:cs typeface="Courier New" panose="02070309020205020404" pitchFamily="49" charset="0"/>
              </a:rPr>
              <a:t>com.Revature.example</a:t>
            </a:r>
            <a:r>
              <a:rPr lang="en-US" dirty="0">
                <a:latin typeface="Courier New" panose="02070309020205020404" pitchFamily="49" charset="0"/>
                <a:cs typeface="Courier New" panose="02070309020205020404" pitchFamily="49" charset="0"/>
              </a:rPr>
              <a:t>; </a:t>
            </a:r>
          </a:p>
          <a:p>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public class </a:t>
            </a:r>
            <a:r>
              <a:rPr lang="en-US" dirty="0" err="1">
                <a:latin typeface="Courier New" panose="02070309020205020404" pitchFamily="49" charset="0"/>
                <a:cs typeface="Courier New" panose="02070309020205020404" pitchFamily="49" charset="0"/>
              </a:rPr>
              <a:t>MyClass</a:t>
            </a:r>
            <a:r>
              <a:rPr lang="en-US" dirty="0">
                <a:latin typeface="Courier New" panose="02070309020205020404" pitchFamily="49" charset="0"/>
                <a:cs typeface="Courier New" panose="02070309020205020404" pitchFamily="49" charset="0"/>
              </a:rPr>
              <a:t>{</a:t>
            </a:r>
          </a:p>
          <a:p>
            <a:pPr lvl="2"/>
            <a:r>
              <a:rPr lang="en-US" dirty="0">
                <a:latin typeface="Courier New" panose="02070309020205020404" pitchFamily="49" charset="0"/>
                <a:cs typeface="Courier New" panose="02070309020205020404" pitchFamily="49" charset="0"/>
              </a:rPr>
              <a:t>	…	</a:t>
            </a:r>
          </a:p>
          <a:p>
            <a:pPr lvl="2"/>
            <a:r>
              <a:rPr lang="en-US"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42061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5">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5">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25">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2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1" nodeType="clickEffect">
                                  <p:stCondLst>
                                    <p:cond delay="0"/>
                                  </p:stCondLst>
                                  <p:childTnLst>
                                    <p:set>
                                      <p:cBhvr>
                                        <p:cTn id="26" dur="1" fill="hold">
                                          <p:stCondLst>
                                            <p:cond delay="0"/>
                                          </p:stCondLst>
                                        </p:cTn>
                                        <p:tgtEl>
                                          <p:spTgt spid="5">
                                            <p:bg/>
                                          </p:spTgt>
                                        </p:tgtEl>
                                        <p:attrNameLst>
                                          <p:attrName>style.visibility</p:attrName>
                                        </p:attrNameLst>
                                      </p:cBhvr>
                                      <p:to>
                                        <p:strVal val="visible"/>
                                      </p:to>
                                    </p:set>
                                  </p:childTnLst>
                                </p:cTn>
                              </p:par>
                              <p:par>
                                <p:cTn id="27" presetID="1" presetClass="entr" presetSubtype="0" fill="hold" grpId="1" nodeType="withEffect">
                                  <p:stCondLst>
                                    <p:cond delay="0"/>
                                  </p:stCondLst>
                                  <p:iterate type="lt">
                                    <p:tmAbs val="0"/>
                                  </p:iterate>
                                  <p:childTnLst>
                                    <p:set>
                                      <p:cBhvr>
                                        <p:cTn id="2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iterate type="lt">
                                    <p:tmAbs val="0"/>
                                  </p:iterate>
                                  <p:childTnLst>
                                    <p:set>
                                      <p:cBhvr>
                                        <p:cTn id="32" dur="1" fill="hold">
                                          <p:stCondLst>
                                            <p:cond delay="0"/>
                                          </p:stCondLst>
                                        </p:cTn>
                                        <p:tgtEl>
                                          <p:spTgt spid="5">
                                            <p:txEl>
                                              <p:pRg st="0" end="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
                                            <p:txEl>
                                              <p:pRg st="2" end="2"/>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
                                            <p:txEl>
                                              <p:pRg st="3" end="3"/>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5" presetClass="emph" presetSubtype="0" nodeType="clickEffect">
                                  <p:stCondLst>
                                    <p:cond delay="0"/>
                                  </p:stCondLst>
                                  <p:iterate type="lt">
                                    <p:tmAbs val="25"/>
                                  </p:iterate>
                                  <p:childTnLst>
                                    <p:set>
                                      <p:cBhvr override="childStyle">
                                        <p:cTn id="42" dur="indefinite"/>
                                        <p:tgtEl>
                                          <p:spTgt spid="5">
                                            <p:txEl>
                                              <p:pRg st="0" end="0"/>
                                            </p:txEl>
                                          </p:spTgt>
                                        </p:tgtEl>
                                        <p:attrNameLst>
                                          <p:attrName>style.fontWeight</p:attrName>
                                        </p:attrNameLst>
                                      </p:cBhvr>
                                      <p:to>
                                        <p:strVal val="bold"/>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25">
                                            <p:txEl>
                                              <p:pRg st="10" end="10"/>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2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 grpId="0" uiExpand="1" build="p"/>
      <p:bldP spid="5" grpId="0" animBg="1"/>
      <p:bldP spid="5" grpId="1" uiExpand="1" build="allAtOnce"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D0E3E-9E6E-E4CE-6CA2-71D586F835D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301A290-A0C2-850F-B743-281CF07A7A3F}"/>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21</a:t>
            </a:fld>
            <a:endParaRPr lang="en-US"/>
          </a:p>
        </p:txBody>
      </p:sp>
      <p:sp>
        <p:nvSpPr>
          <p:cNvPr id="4" name="Google Shape;212;p15">
            <a:extLst>
              <a:ext uri="{FF2B5EF4-FFF2-40B4-BE49-F238E27FC236}">
                <a16:creationId xmlns:a16="http://schemas.microsoft.com/office/drawing/2014/main" id="{1D72DA7F-25D8-6FE0-F773-80D1669AB106}"/>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Expressions, Variables &amp; Primitives</a:t>
            </a:r>
          </a:p>
        </p:txBody>
      </p:sp>
      <p:pic>
        <p:nvPicPr>
          <p:cNvPr id="6" name="Picture 5">
            <a:extLst>
              <a:ext uri="{FF2B5EF4-FFF2-40B4-BE49-F238E27FC236}">
                <a16:creationId xmlns:a16="http://schemas.microsoft.com/office/drawing/2014/main" id="{BF9B2879-DF29-462D-1405-6714334C88A9}"/>
              </a:ext>
            </a:extLst>
          </p:cNvPr>
          <p:cNvPicPr>
            <a:picLocks noChangeAspect="1"/>
          </p:cNvPicPr>
          <p:nvPr/>
        </p:nvPicPr>
        <p:blipFill>
          <a:blip r:embed="rId2"/>
          <a:stretch>
            <a:fillRect/>
          </a:stretch>
        </p:blipFill>
        <p:spPr>
          <a:xfrm>
            <a:off x="7036646" y="0"/>
            <a:ext cx="2107354" cy="773112"/>
          </a:xfrm>
          <a:prstGeom prst="rect">
            <a:avLst/>
          </a:prstGeom>
        </p:spPr>
      </p:pic>
    </p:spTree>
    <p:extLst>
      <p:ext uri="{BB962C8B-B14F-4D97-AF65-F5344CB8AC3E}">
        <p14:creationId xmlns:p14="http://schemas.microsoft.com/office/powerpoint/2010/main" val="26916763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A9113-7303-4B61-3A78-A1D991931869}"/>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286B7BED-3ECE-AA6E-DCCA-AD687A8BD8C4}"/>
              </a:ext>
            </a:extLst>
          </p:cNvPr>
          <p:cNvSpPr>
            <a:spLocks noGrp="1"/>
          </p:cNvSpPr>
          <p:nvPr>
            <p:ph type="body" idx="1"/>
          </p:nvPr>
        </p:nvSpPr>
        <p:spPr>
          <a:xfrm>
            <a:off x="380010" y="1481447"/>
            <a:ext cx="8383980" cy="3393244"/>
          </a:xfrm>
        </p:spPr>
        <p:txBody>
          <a:bodyPr>
            <a:normAutofit fontScale="85000" lnSpcReduction="20000"/>
          </a:bodyPr>
          <a:lstStyle/>
          <a:p>
            <a:r>
              <a:rPr lang="en-US" dirty="0"/>
              <a:t>A combination of operations, constants and variables that a programming language interprets to produce a value.</a:t>
            </a:r>
          </a:p>
          <a:p>
            <a:r>
              <a:rPr lang="en-US" dirty="0"/>
              <a:t>When we say that variables “hold/contain” value, we are referring to this expression value.</a:t>
            </a:r>
          </a:p>
          <a:p>
            <a:r>
              <a:rPr lang="en-US" dirty="0"/>
              <a:t>In Java, expressions can be…</a:t>
            </a:r>
          </a:p>
          <a:p>
            <a:pPr lvl="1"/>
            <a:r>
              <a:rPr lang="en-US" dirty="0"/>
              <a:t>Assigned to a variable</a:t>
            </a:r>
          </a:p>
          <a:p>
            <a:pPr lvl="1"/>
            <a:r>
              <a:rPr lang="en-US" dirty="0"/>
              <a:t>Passed as an argument to a method</a:t>
            </a:r>
          </a:p>
          <a:p>
            <a:pPr lvl="1"/>
            <a:r>
              <a:rPr lang="en-US" dirty="0"/>
              <a:t>Used in an operation</a:t>
            </a:r>
          </a:p>
          <a:p>
            <a:pPr lvl="1"/>
            <a:r>
              <a:rPr lang="en-US" dirty="0"/>
              <a:t>And more…</a:t>
            </a:r>
          </a:p>
        </p:txBody>
      </p:sp>
      <p:sp>
        <p:nvSpPr>
          <p:cNvPr id="2" name="Title 1">
            <a:extLst>
              <a:ext uri="{FF2B5EF4-FFF2-40B4-BE49-F238E27FC236}">
                <a16:creationId xmlns:a16="http://schemas.microsoft.com/office/drawing/2014/main" id="{06C6C074-7AB0-F6D5-FC08-DD18F65126C9}"/>
              </a:ext>
            </a:extLst>
          </p:cNvPr>
          <p:cNvSpPr>
            <a:spLocks noGrp="1"/>
          </p:cNvSpPr>
          <p:nvPr>
            <p:ph type="title"/>
          </p:nvPr>
        </p:nvSpPr>
        <p:spPr/>
        <p:txBody>
          <a:bodyPr/>
          <a:lstStyle/>
          <a:p>
            <a:r>
              <a:rPr lang="en-US" dirty="0"/>
              <a:t>Expressions</a:t>
            </a:r>
          </a:p>
        </p:txBody>
      </p:sp>
      <p:sp>
        <p:nvSpPr>
          <p:cNvPr id="4" name="Slide Number Placeholder 3">
            <a:extLst>
              <a:ext uri="{FF2B5EF4-FFF2-40B4-BE49-F238E27FC236}">
                <a16:creationId xmlns:a16="http://schemas.microsoft.com/office/drawing/2014/main" id="{C60CE045-63E5-E815-6127-34BA82FDA21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22</a:t>
            </a:fld>
            <a:endParaRPr lang="en-US"/>
          </a:p>
        </p:txBody>
      </p:sp>
      <p:sp>
        <p:nvSpPr>
          <p:cNvPr id="7" name="Google Shape;219;p16">
            <a:extLst>
              <a:ext uri="{FF2B5EF4-FFF2-40B4-BE49-F238E27FC236}">
                <a16:creationId xmlns:a16="http://schemas.microsoft.com/office/drawing/2014/main" id="{65150D4D-67C8-0F0D-56C4-CB30E13C4947}"/>
              </a:ext>
            </a:extLst>
          </p:cNvPr>
          <p:cNvSpPr txBox="1">
            <a:spLocks/>
          </p:cNvSpPr>
          <p:nvPr/>
        </p:nvSpPr>
        <p:spPr>
          <a:xfrm>
            <a:off x="1759788" y="5136938"/>
            <a:ext cx="5624423" cy="1292787"/>
          </a:xfrm>
          <a:prstGeom prst="rect">
            <a:avLst/>
          </a:prstGeom>
        </p:spPr>
        <p:style>
          <a:lnRef idx="1">
            <a:schemeClr val="accent2"/>
          </a:lnRef>
          <a:fillRef idx="2">
            <a:schemeClr val="accent2"/>
          </a:fillRef>
          <a:effectRef idx="1">
            <a:schemeClr val="accent2"/>
          </a:effectRef>
          <a:fontRef idx="minor">
            <a:schemeClr val="dk1"/>
          </a:fontRef>
        </p:style>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100000"/>
              </a:lnSpc>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100000"/>
              </a:lnSpc>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9pPr>
          </a:lstStyle>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int </a:t>
            </a:r>
            <a:r>
              <a:rPr lang="en-US" sz="1400" dirty="0" err="1">
                <a:latin typeface="Courier New" panose="02070309020205020404" pitchFamily="49" charset="0"/>
                <a:cs typeface="Courier New" panose="02070309020205020404" pitchFamily="49" charset="0"/>
              </a:rPr>
              <a:t>i</a:t>
            </a:r>
            <a:r>
              <a:rPr lang="en-US" sz="1400" dirty="0">
                <a:latin typeface="Courier New" panose="02070309020205020404" pitchFamily="49" charset="0"/>
                <a:cs typeface="Courier New" panose="02070309020205020404" pitchFamily="49" charset="0"/>
              </a:rPr>
              <a:t> = 15;</a:t>
            </a:r>
          </a:p>
          <a:p>
            <a:pPr marL="182880" lvl="1" indent="0" defTabSz="457200">
              <a:lnSpc>
                <a:spcPct val="90000"/>
              </a:lnSpc>
              <a:buNone/>
            </a:pPr>
            <a:endParaRPr lang="en-US" sz="1400" dirty="0">
              <a:latin typeface="Courier New" panose="02070309020205020404" pitchFamily="49" charset="0"/>
              <a:cs typeface="Courier New" panose="02070309020205020404" pitchFamily="49" charset="0"/>
            </a:endParaRPr>
          </a:p>
          <a:p>
            <a:pPr marL="182880" lvl="1" indent="0" defTabSz="457200">
              <a:lnSpc>
                <a:spcPct val="90000"/>
              </a:lnSpc>
              <a:buNone/>
            </a:pPr>
            <a:r>
              <a:rPr lang="en-US" sz="1400" dirty="0" err="1">
                <a:latin typeface="Courier New" panose="02070309020205020404" pitchFamily="49" charset="0"/>
                <a:cs typeface="Courier New" panose="02070309020205020404" pitchFamily="49" charset="0"/>
              </a:rPr>
              <a:t>System.out.println</a:t>
            </a:r>
            <a:r>
              <a:rPr lang="en-US" sz="1400" dirty="0">
                <a:latin typeface="Courier New" panose="02070309020205020404" pitchFamily="49" charset="0"/>
                <a:cs typeface="Courier New" panose="02070309020205020404" pitchFamily="49" charset="0"/>
              </a:rPr>
              <a:t>( “Hello” );</a:t>
            </a:r>
          </a:p>
          <a:p>
            <a:pPr marL="182880" lvl="1" indent="0" defTabSz="457200">
              <a:lnSpc>
                <a:spcPct val="90000"/>
              </a:lnSpc>
              <a:buNone/>
            </a:pPr>
            <a:endParaRPr lang="en-US" sz="1400" dirty="0">
              <a:latin typeface="Courier New" panose="02070309020205020404" pitchFamily="49" charset="0"/>
              <a:cs typeface="Courier New" panose="02070309020205020404" pitchFamily="49" charset="0"/>
            </a:endParaRP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int sum = 100 + 200;</a:t>
            </a:r>
          </a:p>
        </p:txBody>
      </p:sp>
    </p:spTree>
    <p:extLst>
      <p:ext uri="{BB962C8B-B14F-4D97-AF65-F5344CB8AC3E}">
        <p14:creationId xmlns:p14="http://schemas.microsoft.com/office/powerpoint/2010/main" val="4139356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500"/>
                                        <p:tgtEl>
                                          <p:spTgt spid="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500"/>
                                        <p:tgtEl>
                                          <p:spTgt spid="6">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animEffect transition="in" filter="fade">
                                      <p:cBhvr>
                                        <p:cTn id="15" dur="500"/>
                                        <p:tgtEl>
                                          <p:spTgt spid="6">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6">
                                            <p:txEl>
                                              <p:pRg st="4" end="4"/>
                                            </p:txEl>
                                          </p:spTgt>
                                        </p:tgtEl>
                                        <p:attrNameLst>
                                          <p:attrName>style.visibility</p:attrName>
                                        </p:attrNameLst>
                                      </p:cBhvr>
                                      <p:to>
                                        <p:strVal val="visible"/>
                                      </p:to>
                                    </p:set>
                                    <p:animEffect transition="in" filter="fade">
                                      <p:cBhvr>
                                        <p:cTn id="18" dur="500"/>
                                        <p:tgtEl>
                                          <p:spTgt spid="6">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6">
                                            <p:txEl>
                                              <p:pRg st="5" end="5"/>
                                            </p:txEl>
                                          </p:spTgt>
                                        </p:tgtEl>
                                        <p:attrNameLst>
                                          <p:attrName>style.visibility</p:attrName>
                                        </p:attrNameLst>
                                      </p:cBhvr>
                                      <p:to>
                                        <p:strVal val="visible"/>
                                      </p:to>
                                    </p:set>
                                    <p:animEffect transition="in" filter="fade">
                                      <p:cBhvr>
                                        <p:cTn id="21" dur="500"/>
                                        <p:tgtEl>
                                          <p:spTgt spid="6">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6">
                                            <p:txEl>
                                              <p:pRg st="6" end="6"/>
                                            </p:txEl>
                                          </p:spTgt>
                                        </p:tgtEl>
                                        <p:attrNameLst>
                                          <p:attrName>style.visibility</p:attrName>
                                        </p:attrNameLst>
                                      </p:cBhvr>
                                      <p:to>
                                        <p:strVal val="visible"/>
                                      </p:to>
                                    </p:set>
                                    <p:animEffect transition="in" filter="fade">
                                      <p:cBhvr>
                                        <p:cTn id="24" dur="500"/>
                                        <p:tgtEl>
                                          <p:spTgt spid="6">
                                            <p:txEl>
                                              <p:pRg st="6" end="6"/>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21"/>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dirty="0"/>
              <a:t>Categories of Variables</a:t>
            </a:r>
            <a:endParaRPr dirty="0"/>
          </a:p>
        </p:txBody>
      </p:sp>
      <p:sp>
        <p:nvSpPr>
          <p:cNvPr id="254" name="Google Shape;254;p21"/>
          <p:cNvSpPr txBox="1">
            <a:spLocks noGrp="1"/>
          </p:cNvSpPr>
          <p:nvPr>
            <p:ph type="body" idx="1"/>
          </p:nvPr>
        </p:nvSpPr>
        <p:spPr>
          <a:xfrm>
            <a:off x="412696" y="1362172"/>
            <a:ext cx="8383980" cy="5228409"/>
          </a:xfrm>
          <a:prstGeom prst="rect">
            <a:avLst/>
          </a:prstGeom>
          <a:noFill/>
          <a:ln>
            <a:noFill/>
          </a:ln>
        </p:spPr>
        <p:txBody>
          <a:bodyPr spcFirstLastPara="1" wrap="square" lIns="91425" tIns="45700" rIns="91425" bIns="45700" anchor="t" anchorCtr="0">
            <a:noAutofit/>
          </a:bodyPr>
          <a:lstStyle/>
          <a:p>
            <a:pPr marL="342900" lvl="0" indent="-342900">
              <a:lnSpc>
                <a:spcPct val="80000"/>
              </a:lnSpc>
              <a:spcBef>
                <a:spcPts val="0"/>
              </a:spcBef>
              <a:buSzPts val="2590"/>
            </a:pPr>
            <a:r>
              <a:rPr lang="en-US" sz="2590" dirty="0"/>
              <a:t>All variables only hold a single value</a:t>
            </a:r>
            <a:endParaRPr lang="en-US" sz="2400" dirty="0"/>
          </a:p>
          <a:p>
            <a:pPr marL="342900" lvl="0" indent="-342900">
              <a:lnSpc>
                <a:spcPct val="80000"/>
              </a:lnSpc>
              <a:spcBef>
                <a:spcPts val="518"/>
              </a:spcBef>
              <a:buSzPts val="2590"/>
            </a:pPr>
            <a:r>
              <a:rPr lang="en-US" sz="2590" dirty="0"/>
              <a:t>Primitives reserve a fixed amount of memory to hold a single value of a specific type</a:t>
            </a:r>
          </a:p>
          <a:p>
            <a:pPr marL="342900" lvl="0" indent="-342900" algn="l" rtl="0">
              <a:lnSpc>
                <a:spcPct val="80000"/>
              </a:lnSpc>
              <a:spcBef>
                <a:spcPts val="518"/>
              </a:spcBef>
              <a:spcAft>
                <a:spcPts val="0"/>
              </a:spcAft>
              <a:buSzPts val="2590"/>
              <a:buChar char="•"/>
            </a:pPr>
            <a:endParaRPr lang="en-US" sz="2590" dirty="0"/>
          </a:p>
          <a:p>
            <a:pPr marL="0" lvl="0" indent="0" algn="l" rtl="0">
              <a:lnSpc>
                <a:spcPct val="80000"/>
              </a:lnSpc>
              <a:spcBef>
                <a:spcPts val="518"/>
              </a:spcBef>
              <a:spcAft>
                <a:spcPts val="0"/>
              </a:spcAft>
              <a:buSzPts val="2590"/>
              <a:buNone/>
            </a:pPr>
            <a:endParaRPr lang="en-US" sz="2000" dirty="0"/>
          </a:p>
          <a:p>
            <a:pPr marL="342900" lvl="0" indent="-342900" algn="l" rtl="0">
              <a:lnSpc>
                <a:spcPct val="80000"/>
              </a:lnSpc>
              <a:spcBef>
                <a:spcPts val="518"/>
              </a:spcBef>
              <a:spcAft>
                <a:spcPts val="0"/>
              </a:spcAft>
              <a:buSzPts val="2590"/>
              <a:buChar char="•"/>
            </a:pPr>
            <a:endParaRPr lang="en-US" sz="2590" dirty="0"/>
          </a:p>
          <a:p>
            <a:pPr marL="342900" lvl="0" indent="-342900" algn="l" rtl="0">
              <a:lnSpc>
                <a:spcPct val="80000"/>
              </a:lnSpc>
              <a:spcBef>
                <a:spcPts val="518"/>
              </a:spcBef>
              <a:spcAft>
                <a:spcPts val="0"/>
              </a:spcAft>
              <a:buSzPts val="2590"/>
              <a:buChar char="•"/>
            </a:pPr>
            <a:endParaRPr lang="en-US" sz="2590" dirty="0"/>
          </a:p>
          <a:p>
            <a:pPr marL="342900" lvl="0" indent="-342900" algn="l" rtl="0">
              <a:lnSpc>
                <a:spcPct val="80000"/>
              </a:lnSpc>
              <a:spcBef>
                <a:spcPts val="518"/>
              </a:spcBef>
              <a:spcAft>
                <a:spcPts val="0"/>
              </a:spcAft>
              <a:buSzPts val="2590"/>
              <a:buChar char="•"/>
            </a:pPr>
            <a:endParaRPr lang="en-US" sz="2590" dirty="0"/>
          </a:p>
          <a:p>
            <a:pPr marL="342900" lvl="0" indent="-342900" algn="l" rtl="0">
              <a:lnSpc>
                <a:spcPct val="80000"/>
              </a:lnSpc>
              <a:spcBef>
                <a:spcPts val="518"/>
              </a:spcBef>
              <a:spcAft>
                <a:spcPts val="0"/>
              </a:spcAft>
              <a:buSzPts val="2590"/>
              <a:buChar char="•"/>
            </a:pPr>
            <a:endParaRPr lang="en-US" sz="2590" dirty="0"/>
          </a:p>
          <a:p>
            <a:pPr marL="342900" lvl="0" indent="-342900" algn="l" rtl="0">
              <a:lnSpc>
                <a:spcPct val="80000"/>
              </a:lnSpc>
              <a:spcBef>
                <a:spcPts val="518"/>
              </a:spcBef>
              <a:spcAft>
                <a:spcPts val="0"/>
              </a:spcAft>
              <a:buSzPts val="2590"/>
              <a:buChar char="•"/>
            </a:pPr>
            <a:endParaRPr lang="en-US" sz="2590" dirty="0"/>
          </a:p>
          <a:p>
            <a:pPr marL="342900" lvl="0" indent="-342900" algn="l" rtl="0">
              <a:lnSpc>
                <a:spcPct val="80000"/>
              </a:lnSpc>
              <a:spcBef>
                <a:spcPts val="518"/>
              </a:spcBef>
              <a:spcAft>
                <a:spcPts val="0"/>
              </a:spcAft>
              <a:buSzPts val="2590"/>
              <a:buChar char="•"/>
            </a:pPr>
            <a:endParaRPr lang="en-US" sz="2590" dirty="0"/>
          </a:p>
          <a:p>
            <a:pPr marL="342900" lvl="0" indent="-342900" algn="l" rtl="0">
              <a:lnSpc>
                <a:spcPct val="80000"/>
              </a:lnSpc>
              <a:spcBef>
                <a:spcPts val="518"/>
              </a:spcBef>
              <a:spcAft>
                <a:spcPts val="0"/>
              </a:spcAft>
              <a:buSzPts val="2590"/>
              <a:buChar char="•"/>
            </a:pPr>
            <a:endParaRPr lang="en-US" sz="2590" dirty="0"/>
          </a:p>
          <a:p>
            <a:pPr marL="342900" lvl="0" indent="-342900" algn="l" rtl="0">
              <a:lnSpc>
                <a:spcPct val="80000"/>
              </a:lnSpc>
              <a:spcBef>
                <a:spcPts val="518"/>
              </a:spcBef>
              <a:spcAft>
                <a:spcPts val="0"/>
              </a:spcAft>
              <a:buSzPts val="2590"/>
              <a:buChar char="•"/>
            </a:pPr>
            <a:r>
              <a:rPr lang="en-US" sz="2590" dirty="0"/>
              <a:t>If the variable has any other data type; it is a reference variables (object)…</a:t>
            </a:r>
            <a:endParaRPr dirty="0"/>
          </a:p>
        </p:txBody>
      </p:sp>
      <p:sp>
        <p:nvSpPr>
          <p:cNvPr id="255" name="Google Shape;255;p21"/>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a:p>
        </p:txBody>
      </p:sp>
      <p:grpSp>
        <p:nvGrpSpPr>
          <p:cNvPr id="4" name="Group 3">
            <a:extLst>
              <a:ext uri="{FF2B5EF4-FFF2-40B4-BE49-F238E27FC236}">
                <a16:creationId xmlns:a16="http://schemas.microsoft.com/office/drawing/2014/main" id="{89FE247F-F950-4B1F-AA9C-9D48647FB5B0}"/>
              </a:ext>
            </a:extLst>
          </p:cNvPr>
          <p:cNvGrpSpPr/>
          <p:nvPr/>
        </p:nvGrpSpPr>
        <p:grpSpPr>
          <a:xfrm>
            <a:off x="347324" y="2620652"/>
            <a:ext cx="8405771" cy="2875176"/>
            <a:chOff x="347324" y="2620652"/>
            <a:chExt cx="8405771" cy="2875176"/>
          </a:xfrm>
        </p:grpSpPr>
        <p:sp>
          <p:nvSpPr>
            <p:cNvPr id="3" name="Rectangle 2">
              <a:extLst>
                <a:ext uri="{FF2B5EF4-FFF2-40B4-BE49-F238E27FC236}">
                  <a16:creationId xmlns:a16="http://schemas.microsoft.com/office/drawing/2014/main" id="{8F86191B-7B9C-458C-AAFA-300CB47F384A}"/>
                </a:ext>
              </a:extLst>
            </p:cNvPr>
            <p:cNvSpPr/>
            <p:nvPr/>
          </p:nvSpPr>
          <p:spPr>
            <a:xfrm>
              <a:off x="347324" y="2620652"/>
              <a:ext cx="8405771" cy="2875176"/>
            </a:xfrm>
            <a:prstGeom prst="rect">
              <a:avLst/>
            </a:prstGeom>
            <a:solidFill>
              <a:schemeClr val="tx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nSpc>
                  <a:spcPct val="80000"/>
                </a:lnSpc>
                <a:spcBef>
                  <a:spcPts val="518"/>
                </a:spcBef>
                <a:buClr>
                  <a:srgbClr val="F36A25"/>
                </a:buClr>
                <a:buSzPts val="2590"/>
              </a:pPr>
              <a:r>
                <a:rPr lang="en-US" sz="2590" dirty="0">
                  <a:ln w="0"/>
                  <a:solidFill>
                    <a:schemeClr val="accent1"/>
                  </a:solidFill>
                  <a:effectLst>
                    <a:outerShdw blurRad="38100" dist="25400" dir="5400000" algn="ctr" rotWithShape="0">
                      <a:srgbClr val="6E747A">
                        <a:alpha val="43000"/>
                      </a:srgbClr>
                    </a:outerShdw>
                  </a:effectLst>
                  <a:cs typeface="Arial"/>
                </a:rPr>
                <a:t>Primitive types</a:t>
              </a:r>
            </a:p>
            <a:p>
              <a:pPr lvl="0">
                <a:lnSpc>
                  <a:spcPct val="80000"/>
                </a:lnSpc>
                <a:spcBef>
                  <a:spcPts val="518"/>
                </a:spcBef>
                <a:buClr>
                  <a:srgbClr val="F36A25"/>
                </a:buClr>
                <a:buSzPts val="2590"/>
              </a:pPr>
              <a:r>
                <a:rPr lang="en-US" sz="2000" dirty="0">
                  <a:solidFill>
                    <a:srgbClr val="474C55"/>
                  </a:solidFill>
                  <a:cs typeface="Arial"/>
                </a:rPr>
                <a:t>Whole Numbers</a:t>
              </a:r>
            </a:p>
            <a:p>
              <a:pPr marL="800100" lvl="1" indent="-342900">
                <a:lnSpc>
                  <a:spcPct val="80000"/>
                </a:lnSpc>
                <a:spcBef>
                  <a:spcPts val="518"/>
                </a:spcBef>
                <a:buClr>
                  <a:srgbClr val="F36A25"/>
                </a:buClr>
                <a:buSzPts val="2590"/>
                <a:buFont typeface="Arial"/>
                <a:buChar char="–"/>
              </a:pPr>
              <a:r>
                <a:rPr lang="en-US" sz="2400" dirty="0">
                  <a:solidFill>
                    <a:srgbClr val="474C55"/>
                  </a:solidFill>
                  <a:cs typeface="Arial"/>
                </a:rPr>
                <a:t>byte</a:t>
              </a:r>
            </a:p>
            <a:p>
              <a:pPr marL="800100" lvl="1" indent="-342900">
                <a:lnSpc>
                  <a:spcPct val="80000"/>
                </a:lnSpc>
                <a:spcBef>
                  <a:spcPts val="518"/>
                </a:spcBef>
                <a:buClr>
                  <a:srgbClr val="F36A25"/>
                </a:buClr>
                <a:buSzPts val="2590"/>
                <a:buFont typeface="Arial"/>
                <a:buChar char="–"/>
              </a:pPr>
              <a:r>
                <a:rPr lang="en-US" sz="2400" dirty="0">
                  <a:solidFill>
                    <a:srgbClr val="474C55"/>
                  </a:solidFill>
                  <a:cs typeface="Arial"/>
                </a:rPr>
                <a:t>short</a:t>
              </a:r>
            </a:p>
            <a:p>
              <a:pPr marL="800100" lvl="1" indent="-342900">
                <a:lnSpc>
                  <a:spcPct val="80000"/>
                </a:lnSpc>
                <a:spcBef>
                  <a:spcPts val="518"/>
                </a:spcBef>
                <a:buClr>
                  <a:srgbClr val="F36A25"/>
                </a:buClr>
                <a:buSzPts val="2590"/>
                <a:buFont typeface="Arial"/>
                <a:buChar char="–"/>
              </a:pPr>
              <a:r>
                <a:rPr lang="en-US" sz="2400" dirty="0">
                  <a:solidFill>
                    <a:srgbClr val="474C55"/>
                  </a:solidFill>
                  <a:cs typeface="Arial"/>
                </a:rPr>
                <a:t>***char</a:t>
              </a:r>
            </a:p>
            <a:p>
              <a:pPr marL="800100" lvl="1" indent="-342900">
                <a:lnSpc>
                  <a:spcPct val="80000"/>
                </a:lnSpc>
                <a:spcBef>
                  <a:spcPts val="518"/>
                </a:spcBef>
                <a:buClr>
                  <a:srgbClr val="F36A25"/>
                </a:buClr>
                <a:buSzPts val="2590"/>
                <a:buFont typeface="Arial"/>
                <a:buChar char="–"/>
              </a:pPr>
              <a:r>
                <a:rPr lang="en-US" sz="2400" dirty="0">
                  <a:solidFill>
                    <a:srgbClr val="474C55"/>
                  </a:solidFill>
                  <a:cs typeface="Arial"/>
                </a:rPr>
                <a:t>int </a:t>
              </a:r>
            </a:p>
            <a:p>
              <a:pPr marL="800100" lvl="1" indent="-342900">
                <a:lnSpc>
                  <a:spcPct val="80000"/>
                </a:lnSpc>
                <a:spcBef>
                  <a:spcPts val="518"/>
                </a:spcBef>
                <a:buClr>
                  <a:srgbClr val="F36A25"/>
                </a:buClr>
                <a:buSzPts val="2590"/>
                <a:buFont typeface="Arial"/>
                <a:buChar char="–"/>
              </a:pPr>
              <a:r>
                <a:rPr lang="en-US" sz="2400" dirty="0">
                  <a:solidFill>
                    <a:srgbClr val="474C55"/>
                  </a:solidFill>
                  <a:cs typeface="Arial"/>
                </a:rPr>
                <a:t>long</a:t>
              </a:r>
            </a:p>
          </p:txBody>
        </p:sp>
        <p:sp>
          <p:nvSpPr>
            <p:cNvPr id="2" name="TextBox 1">
              <a:extLst>
                <a:ext uri="{FF2B5EF4-FFF2-40B4-BE49-F238E27FC236}">
                  <a16:creationId xmlns:a16="http://schemas.microsoft.com/office/drawing/2014/main" id="{765241DC-570A-4475-9087-5A43F8527902}"/>
                </a:ext>
              </a:extLst>
            </p:cNvPr>
            <p:cNvSpPr txBox="1"/>
            <p:nvPr/>
          </p:nvSpPr>
          <p:spPr>
            <a:xfrm>
              <a:off x="3584173" y="3219254"/>
              <a:ext cx="2223686" cy="1273169"/>
            </a:xfrm>
            <a:prstGeom prst="rect">
              <a:avLst/>
            </a:prstGeom>
            <a:noFill/>
          </p:spPr>
          <p:txBody>
            <a:bodyPr wrap="none" rtlCol="0">
              <a:spAutoFit/>
            </a:bodyPr>
            <a:lstStyle/>
            <a:p>
              <a:pPr lvl="0">
                <a:lnSpc>
                  <a:spcPct val="80000"/>
                </a:lnSpc>
                <a:spcBef>
                  <a:spcPts val="518"/>
                </a:spcBef>
                <a:buClr>
                  <a:srgbClr val="F36A25"/>
                </a:buClr>
                <a:buSzPts val="2590"/>
              </a:pPr>
              <a:r>
                <a:rPr lang="en-US" sz="2000" dirty="0">
                  <a:solidFill>
                    <a:srgbClr val="474C55"/>
                  </a:solidFill>
                </a:rPr>
                <a:t>Decimal Numbers</a:t>
              </a:r>
            </a:p>
            <a:p>
              <a:pPr marL="800100" lvl="1" indent="-342900">
                <a:lnSpc>
                  <a:spcPct val="80000"/>
                </a:lnSpc>
                <a:spcBef>
                  <a:spcPts val="518"/>
                </a:spcBef>
                <a:buClr>
                  <a:srgbClr val="F36A25"/>
                </a:buClr>
                <a:buSzPts val="2590"/>
                <a:buFont typeface="Arial"/>
                <a:buChar char="–"/>
              </a:pPr>
              <a:r>
                <a:rPr lang="en-US" sz="2400" dirty="0">
                  <a:solidFill>
                    <a:srgbClr val="474C55"/>
                  </a:solidFill>
                </a:rPr>
                <a:t>float</a:t>
              </a:r>
            </a:p>
            <a:p>
              <a:pPr marL="800100" lvl="1" indent="-342900">
                <a:lnSpc>
                  <a:spcPct val="80000"/>
                </a:lnSpc>
                <a:spcBef>
                  <a:spcPts val="518"/>
                </a:spcBef>
                <a:buClr>
                  <a:srgbClr val="F36A25"/>
                </a:buClr>
                <a:buSzPts val="2590"/>
                <a:buFont typeface="Arial"/>
                <a:buChar char="–"/>
              </a:pPr>
              <a:r>
                <a:rPr lang="en-US" sz="2400" dirty="0">
                  <a:solidFill>
                    <a:srgbClr val="474C55"/>
                  </a:solidFill>
                </a:rPr>
                <a:t>double</a:t>
              </a:r>
            </a:p>
            <a:p>
              <a:endParaRPr lang="en-US" dirty="0"/>
            </a:p>
          </p:txBody>
        </p:sp>
        <p:sp>
          <p:nvSpPr>
            <p:cNvPr id="7" name="TextBox 6">
              <a:extLst>
                <a:ext uri="{FF2B5EF4-FFF2-40B4-BE49-F238E27FC236}">
                  <a16:creationId xmlns:a16="http://schemas.microsoft.com/office/drawing/2014/main" id="{9B9EA28E-3733-4345-9D30-6EAAD696BB8D}"/>
                </a:ext>
              </a:extLst>
            </p:cNvPr>
            <p:cNvSpPr txBox="1"/>
            <p:nvPr/>
          </p:nvSpPr>
          <p:spPr>
            <a:xfrm>
              <a:off x="6387541" y="3219255"/>
              <a:ext cx="2090637" cy="1273169"/>
            </a:xfrm>
            <a:prstGeom prst="rect">
              <a:avLst/>
            </a:prstGeom>
            <a:noFill/>
          </p:spPr>
          <p:txBody>
            <a:bodyPr wrap="none" rtlCol="0">
              <a:spAutoFit/>
            </a:bodyPr>
            <a:lstStyle/>
            <a:p>
              <a:pPr lvl="0">
                <a:lnSpc>
                  <a:spcPct val="80000"/>
                </a:lnSpc>
                <a:spcBef>
                  <a:spcPts val="518"/>
                </a:spcBef>
                <a:buClr>
                  <a:srgbClr val="F36A25"/>
                </a:buClr>
                <a:buSzPts val="2590"/>
              </a:pPr>
              <a:r>
                <a:rPr lang="en-US" sz="2000" dirty="0">
                  <a:solidFill>
                    <a:srgbClr val="474C55"/>
                  </a:solidFill>
                </a:rPr>
                <a:t>Other</a:t>
              </a:r>
            </a:p>
            <a:p>
              <a:pPr marL="800100" lvl="1" indent="-342900">
                <a:lnSpc>
                  <a:spcPct val="80000"/>
                </a:lnSpc>
                <a:spcBef>
                  <a:spcPts val="518"/>
                </a:spcBef>
                <a:buClr>
                  <a:srgbClr val="F36A25"/>
                </a:buClr>
                <a:buSzPts val="2590"/>
                <a:buFont typeface="Arial"/>
                <a:buChar char="–"/>
              </a:pPr>
              <a:r>
                <a:rPr lang="en-US" sz="2400" dirty="0" err="1">
                  <a:solidFill>
                    <a:srgbClr val="474C55"/>
                  </a:solidFill>
                </a:rPr>
                <a:t>boolean</a:t>
              </a:r>
              <a:endParaRPr lang="en-US" sz="2400" dirty="0">
                <a:solidFill>
                  <a:srgbClr val="474C55"/>
                </a:solidFill>
              </a:endParaRPr>
            </a:p>
            <a:p>
              <a:pPr marL="457200" lvl="1">
                <a:lnSpc>
                  <a:spcPct val="80000"/>
                </a:lnSpc>
                <a:spcBef>
                  <a:spcPts val="518"/>
                </a:spcBef>
                <a:buClr>
                  <a:srgbClr val="F36A25"/>
                </a:buClr>
                <a:buSzPts val="2590"/>
              </a:pPr>
              <a:endParaRPr lang="en-US" sz="2400" dirty="0">
                <a:solidFill>
                  <a:srgbClr val="474C55"/>
                </a:solidFill>
              </a:endParaRPr>
            </a:p>
            <a:p>
              <a:endParaRPr lang="en-US"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21"/>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dirty="0"/>
              <a:t>Primitive Data Types revisit</a:t>
            </a:r>
            <a:endParaRPr dirty="0"/>
          </a:p>
        </p:txBody>
      </p:sp>
      <p:sp>
        <p:nvSpPr>
          <p:cNvPr id="254" name="Google Shape;254;p21"/>
          <p:cNvSpPr txBox="1">
            <a:spLocks noGrp="1"/>
          </p:cNvSpPr>
          <p:nvPr>
            <p:ph type="body" idx="1"/>
          </p:nvPr>
        </p:nvSpPr>
        <p:spPr>
          <a:xfrm>
            <a:off x="159572" y="1362172"/>
            <a:ext cx="8824856" cy="5366665"/>
          </a:xfrm>
          <a:prstGeom prst="rect">
            <a:avLst/>
          </a:prstGeom>
          <a:noFill/>
          <a:ln>
            <a:noFill/>
          </a:ln>
        </p:spPr>
        <p:txBody>
          <a:bodyPr spcFirstLastPara="1" wrap="square" lIns="91425" tIns="45700" rIns="91425" bIns="45700" anchor="t" anchorCtr="0">
            <a:noAutofit/>
          </a:bodyPr>
          <a:lstStyle/>
          <a:p>
            <a:pPr marL="0" lvl="0" indent="0" algn="l" rtl="0">
              <a:lnSpc>
                <a:spcPct val="80000"/>
              </a:lnSpc>
              <a:spcBef>
                <a:spcPts val="518"/>
              </a:spcBef>
              <a:spcAft>
                <a:spcPts val="0"/>
              </a:spcAft>
              <a:buSzPts val="2590"/>
              <a:buNone/>
            </a:pPr>
            <a:r>
              <a:rPr lang="en-US" sz="2590" dirty="0"/>
              <a:t>Primitive Datatypes</a:t>
            </a:r>
          </a:p>
          <a:p>
            <a:pPr lvl="1" indent="-457200">
              <a:lnSpc>
                <a:spcPct val="80000"/>
              </a:lnSpc>
              <a:spcBef>
                <a:spcPts val="518"/>
              </a:spcBef>
              <a:buSzPts val="2590"/>
            </a:pPr>
            <a:r>
              <a:rPr lang="en-US" sz="2190" b="1" dirty="0"/>
              <a:t>byte</a:t>
            </a:r>
            <a:r>
              <a:rPr lang="en-US" sz="2190" dirty="0"/>
              <a:t> – 8-bit non-floating integer number</a:t>
            </a:r>
          </a:p>
          <a:p>
            <a:pPr lvl="1" indent="-457200">
              <a:lnSpc>
                <a:spcPct val="80000"/>
              </a:lnSpc>
              <a:spcBef>
                <a:spcPts val="518"/>
              </a:spcBef>
              <a:buSzPts val="2590"/>
            </a:pPr>
            <a:r>
              <a:rPr lang="en-US" sz="2190" b="1" dirty="0"/>
              <a:t>short</a:t>
            </a:r>
            <a:r>
              <a:rPr lang="en-US" sz="2190" dirty="0"/>
              <a:t> – 16-bit non-floating integer number</a:t>
            </a:r>
          </a:p>
          <a:p>
            <a:pPr lvl="1" indent="-457200">
              <a:lnSpc>
                <a:spcPct val="80000"/>
              </a:lnSpc>
              <a:spcBef>
                <a:spcPts val="518"/>
              </a:spcBef>
              <a:buSzPts val="2590"/>
            </a:pPr>
            <a:r>
              <a:rPr lang="en-US" sz="2190" b="1" dirty="0"/>
              <a:t>int**</a:t>
            </a:r>
            <a:r>
              <a:rPr lang="en-US" sz="2190" dirty="0"/>
              <a:t> – 32-bit non-floating integer number [default integer type]</a:t>
            </a:r>
          </a:p>
          <a:p>
            <a:pPr lvl="1" indent="-457200">
              <a:lnSpc>
                <a:spcPct val="80000"/>
              </a:lnSpc>
              <a:spcBef>
                <a:spcPts val="518"/>
              </a:spcBef>
              <a:buSzPts val="2590"/>
            </a:pPr>
            <a:r>
              <a:rPr lang="en-US" sz="2190" b="1" dirty="0"/>
              <a:t>long</a:t>
            </a:r>
            <a:r>
              <a:rPr lang="en-US" sz="2190" dirty="0"/>
              <a:t> – 64-bit non-floating integer number</a:t>
            </a:r>
          </a:p>
          <a:p>
            <a:pPr marL="457200" lvl="1" indent="0">
              <a:lnSpc>
                <a:spcPct val="80000"/>
              </a:lnSpc>
              <a:spcBef>
                <a:spcPts val="518"/>
              </a:spcBef>
              <a:buSzPts val="2590"/>
              <a:buNone/>
            </a:pPr>
            <a:endParaRPr lang="en-US" sz="2190" dirty="0"/>
          </a:p>
          <a:p>
            <a:pPr lvl="1" indent="-457200">
              <a:lnSpc>
                <a:spcPct val="80000"/>
              </a:lnSpc>
              <a:spcBef>
                <a:spcPts val="518"/>
              </a:spcBef>
              <a:buSzPts val="2590"/>
            </a:pPr>
            <a:r>
              <a:rPr lang="en-US" sz="2190" b="1" dirty="0"/>
              <a:t>char</a:t>
            </a:r>
            <a:r>
              <a:rPr lang="en-US" sz="2190" dirty="0"/>
              <a:t> – 16-bit character (computers understand this as a numerical value)</a:t>
            </a:r>
          </a:p>
          <a:p>
            <a:pPr marL="457200" lvl="1" indent="0">
              <a:lnSpc>
                <a:spcPct val="80000"/>
              </a:lnSpc>
              <a:spcBef>
                <a:spcPts val="518"/>
              </a:spcBef>
              <a:buSzPts val="2590"/>
              <a:buNone/>
            </a:pPr>
            <a:endParaRPr lang="en-US" sz="2190" dirty="0"/>
          </a:p>
          <a:p>
            <a:pPr lvl="1" indent="-457200">
              <a:lnSpc>
                <a:spcPct val="80000"/>
              </a:lnSpc>
              <a:spcBef>
                <a:spcPts val="518"/>
              </a:spcBef>
              <a:buSzPts val="2590"/>
            </a:pPr>
            <a:r>
              <a:rPr lang="en-US" sz="2190" b="1" dirty="0"/>
              <a:t>float</a:t>
            </a:r>
            <a:r>
              <a:rPr lang="en-US" sz="2190" dirty="0"/>
              <a:t> – 32-bit decimal number</a:t>
            </a:r>
          </a:p>
          <a:p>
            <a:pPr lvl="1" indent="-457200">
              <a:lnSpc>
                <a:spcPct val="80000"/>
              </a:lnSpc>
              <a:spcBef>
                <a:spcPts val="518"/>
              </a:spcBef>
              <a:buSzPts val="2590"/>
            </a:pPr>
            <a:r>
              <a:rPr lang="en-US" sz="2190" b="1" dirty="0"/>
              <a:t>double**</a:t>
            </a:r>
            <a:r>
              <a:rPr lang="en-US" sz="2190" dirty="0"/>
              <a:t> – 64-bit decimal number [default decimal type]</a:t>
            </a:r>
          </a:p>
          <a:p>
            <a:pPr marL="457200" lvl="1" indent="0">
              <a:lnSpc>
                <a:spcPct val="80000"/>
              </a:lnSpc>
              <a:spcBef>
                <a:spcPts val="518"/>
              </a:spcBef>
              <a:buSzPts val="2590"/>
              <a:buNone/>
            </a:pPr>
            <a:endParaRPr lang="en-US" sz="2190" dirty="0"/>
          </a:p>
          <a:p>
            <a:pPr lvl="1" indent="-457200">
              <a:lnSpc>
                <a:spcPct val="80000"/>
              </a:lnSpc>
              <a:spcBef>
                <a:spcPts val="518"/>
              </a:spcBef>
              <a:buSzPts val="2590"/>
            </a:pPr>
            <a:r>
              <a:rPr lang="en-US" sz="2190" b="1" dirty="0"/>
              <a:t>Boolean </a:t>
            </a:r>
            <a:r>
              <a:rPr lang="en-US" sz="2190" dirty="0"/>
              <a:t>– a single bit representation of a </a:t>
            </a:r>
            <a:r>
              <a:rPr lang="en-US" sz="2190" b="1" i="1" dirty="0"/>
              <a:t>true</a:t>
            </a:r>
            <a:r>
              <a:rPr lang="en-US" sz="2190" dirty="0"/>
              <a:t> or </a:t>
            </a:r>
            <a:r>
              <a:rPr lang="en-US" sz="2190" b="1" i="1" dirty="0"/>
              <a:t>false </a:t>
            </a:r>
            <a:r>
              <a:rPr lang="en-US" sz="2190" dirty="0"/>
              <a:t>value (1-8 bits depending on memory location)</a:t>
            </a:r>
          </a:p>
          <a:p>
            <a:pPr marL="342900" lvl="0" indent="-342900" algn="l" rtl="0">
              <a:lnSpc>
                <a:spcPct val="80000"/>
              </a:lnSpc>
              <a:spcBef>
                <a:spcPts val="518"/>
              </a:spcBef>
              <a:spcAft>
                <a:spcPts val="0"/>
              </a:spcAft>
              <a:buSzPts val="2590"/>
              <a:buChar char="•"/>
            </a:pPr>
            <a:endParaRPr lang="en-US" sz="2590" dirty="0"/>
          </a:p>
          <a:p>
            <a:pPr marL="342900" lvl="0" indent="-342900" algn="l" rtl="0">
              <a:lnSpc>
                <a:spcPct val="80000"/>
              </a:lnSpc>
              <a:spcBef>
                <a:spcPts val="518"/>
              </a:spcBef>
              <a:spcAft>
                <a:spcPts val="0"/>
              </a:spcAft>
              <a:buSzPts val="2590"/>
              <a:buChar char="•"/>
            </a:pPr>
            <a:endParaRPr lang="en-US" sz="2590" dirty="0"/>
          </a:p>
          <a:p>
            <a:pPr marL="342900" lvl="0" indent="-342900" algn="l" rtl="0">
              <a:lnSpc>
                <a:spcPct val="80000"/>
              </a:lnSpc>
              <a:spcBef>
                <a:spcPts val="518"/>
              </a:spcBef>
              <a:spcAft>
                <a:spcPts val="0"/>
              </a:spcAft>
              <a:buSzPts val="2590"/>
              <a:buChar char="•"/>
            </a:pPr>
            <a:endParaRPr lang="en-US" sz="2590" dirty="0"/>
          </a:p>
          <a:p>
            <a:pPr marL="342900" lvl="0" indent="-342900" algn="l" rtl="0">
              <a:lnSpc>
                <a:spcPct val="80000"/>
              </a:lnSpc>
              <a:spcBef>
                <a:spcPts val="518"/>
              </a:spcBef>
              <a:spcAft>
                <a:spcPts val="0"/>
              </a:spcAft>
              <a:buSzPts val="2590"/>
              <a:buChar char="•"/>
            </a:pPr>
            <a:endParaRPr lang="en-US" sz="2590" dirty="0"/>
          </a:p>
          <a:p>
            <a:pPr marL="342900" lvl="0" indent="-342900" algn="l" rtl="0">
              <a:lnSpc>
                <a:spcPct val="80000"/>
              </a:lnSpc>
              <a:spcBef>
                <a:spcPts val="518"/>
              </a:spcBef>
              <a:spcAft>
                <a:spcPts val="0"/>
              </a:spcAft>
              <a:buSzPts val="2590"/>
              <a:buChar char="•"/>
            </a:pPr>
            <a:endParaRPr lang="en-US" sz="2590" dirty="0"/>
          </a:p>
          <a:p>
            <a:pPr marL="342900" lvl="0" indent="-342900" algn="l" rtl="0">
              <a:lnSpc>
                <a:spcPct val="80000"/>
              </a:lnSpc>
              <a:spcBef>
                <a:spcPts val="518"/>
              </a:spcBef>
              <a:spcAft>
                <a:spcPts val="0"/>
              </a:spcAft>
              <a:buSzPts val="2590"/>
              <a:buChar char="•"/>
            </a:pPr>
            <a:endParaRPr lang="en-US" sz="2590" dirty="0"/>
          </a:p>
        </p:txBody>
      </p:sp>
      <p:sp>
        <p:nvSpPr>
          <p:cNvPr id="255" name="Google Shape;255;p21"/>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18402203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0DDA9-3A1C-4517-AD24-98372032A564}"/>
              </a:ext>
            </a:extLst>
          </p:cNvPr>
          <p:cNvSpPr>
            <a:spLocks noGrp="1"/>
          </p:cNvSpPr>
          <p:nvPr>
            <p:ph type="title"/>
          </p:nvPr>
        </p:nvSpPr>
        <p:spPr/>
        <p:txBody>
          <a:bodyPr/>
          <a:lstStyle/>
          <a:p>
            <a:r>
              <a:rPr lang="en-US" dirty="0"/>
              <a:t>What about converting between other variables?</a:t>
            </a:r>
          </a:p>
        </p:txBody>
      </p:sp>
      <p:sp>
        <p:nvSpPr>
          <p:cNvPr id="3" name="Text Placeholder 2">
            <a:extLst>
              <a:ext uri="{FF2B5EF4-FFF2-40B4-BE49-F238E27FC236}">
                <a16:creationId xmlns:a16="http://schemas.microsoft.com/office/drawing/2014/main" id="{1094D086-FC96-4179-810D-B0806FF8D187}"/>
              </a:ext>
            </a:extLst>
          </p:cNvPr>
          <p:cNvSpPr>
            <a:spLocks noGrp="1"/>
          </p:cNvSpPr>
          <p:nvPr>
            <p:ph type="body" idx="1"/>
          </p:nvPr>
        </p:nvSpPr>
        <p:spPr/>
        <p:txBody>
          <a:bodyPr/>
          <a:lstStyle/>
          <a:p>
            <a:r>
              <a:rPr lang="en-US" dirty="0"/>
              <a:t>Most conversions have to be done explicitly- we have to </a:t>
            </a:r>
            <a:r>
              <a:rPr lang="en-US" i="1" dirty="0"/>
              <a:t>cast</a:t>
            </a:r>
            <a:r>
              <a:rPr lang="en-US" dirty="0"/>
              <a:t> from one type into a variable of another</a:t>
            </a:r>
          </a:p>
          <a:p>
            <a:endParaRPr lang="en-US" dirty="0"/>
          </a:p>
          <a:p>
            <a:endParaRPr lang="en-US" dirty="0"/>
          </a:p>
          <a:p>
            <a:r>
              <a:rPr lang="en-US" dirty="0"/>
              <a:t>Technically we only have to be explicit when we are </a:t>
            </a:r>
            <a:r>
              <a:rPr lang="en-US" i="1" dirty="0"/>
              <a:t>down casting (casting from a larger data-type to a smaller data type, or down the inheritance tree) –</a:t>
            </a:r>
            <a:r>
              <a:rPr lang="en-US" dirty="0"/>
              <a:t> if we are going up in size or up the inheritance tree we can do it cast implicitly</a:t>
            </a:r>
          </a:p>
        </p:txBody>
      </p:sp>
      <p:sp>
        <p:nvSpPr>
          <p:cNvPr id="4" name="Slide Number Placeholder 3">
            <a:extLst>
              <a:ext uri="{FF2B5EF4-FFF2-40B4-BE49-F238E27FC236}">
                <a16:creationId xmlns:a16="http://schemas.microsoft.com/office/drawing/2014/main" id="{AEFADF28-6864-403C-B359-721F96341AA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25</a:t>
            </a:fld>
            <a:endParaRPr lang="en-US"/>
          </a:p>
        </p:txBody>
      </p:sp>
      <p:sp>
        <p:nvSpPr>
          <p:cNvPr id="7" name="Google Shape;219;p16">
            <a:extLst>
              <a:ext uri="{FF2B5EF4-FFF2-40B4-BE49-F238E27FC236}">
                <a16:creationId xmlns:a16="http://schemas.microsoft.com/office/drawing/2014/main" id="{83573741-B404-43AC-8347-06DEDA1EFF2F}"/>
              </a:ext>
            </a:extLst>
          </p:cNvPr>
          <p:cNvSpPr txBox="1">
            <a:spLocks/>
          </p:cNvSpPr>
          <p:nvPr/>
        </p:nvSpPr>
        <p:spPr>
          <a:xfrm>
            <a:off x="1356203" y="3045331"/>
            <a:ext cx="2135142" cy="699096"/>
          </a:xfrm>
          <a:prstGeom prst="rect">
            <a:avLst/>
          </a:prstGeom>
        </p:spPr>
        <p:style>
          <a:lnRef idx="1">
            <a:schemeClr val="accent2"/>
          </a:lnRef>
          <a:fillRef idx="2">
            <a:schemeClr val="accent2"/>
          </a:fillRef>
          <a:effectRef idx="1">
            <a:schemeClr val="accent2"/>
          </a:effectRef>
          <a:fontRef idx="minor">
            <a:schemeClr val="dk1"/>
          </a:fontRef>
        </p:style>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100000"/>
              </a:lnSpc>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100000"/>
              </a:lnSpc>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9pPr>
          </a:lstStyle>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long l = 9l;</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int s = (int)l;</a:t>
            </a:r>
          </a:p>
        </p:txBody>
      </p:sp>
    </p:spTree>
    <p:extLst>
      <p:ext uri="{BB962C8B-B14F-4D97-AF65-F5344CB8AC3E}">
        <p14:creationId xmlns:p14="http://schemas.microsoft.com/office/powerpoint/2010/main" val="1443225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21"/>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dirty="0"/>
              <a:t>Numbers and Underscores</a:t>
            </a:r>
            <a:endParaRPr dirty="0"/>
          </a:p>
        </p:txBody>
      </p:sp>
      <p:sp>
        <p:nvSpPr>
          <p:cNvPr id="254" name="Google Shape;254;p21"/>
          <p:cNvSpPr txBox="1">
            <a:spLocks noGrp="1"/>
          </p:cNvSpPr>
          <p:nvPr>
            <p:ph type="body" idx="1"/>
          </p:nvPr>
        </p:nvSpPr>
        <p:spPr>
          <a:xfrm>
            <a:off x="524844" y="1404730"/>
            <a:ext cx="8094311" cy="4958982"/>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518"/>
              </a:spcBef>
              <a:spcAft>
                <a:spcPts val="0"/>
              </a:spcAft>
              <a:buSzPts val="2590"/>
              <a:buNone/>
            </a:pPr>
            <a:r>
              <a:rPr lang="en-US" sz="2590" dirty="0"/>
              <a:t>When you declare numeric literals, you can include underscores to make the value easier to read.</a:t>
            </a:r>
          </a:p>
          <a:p>
            <a:pPr marL="0" lvl="0" indent="0" algn="l" rtl="0">
              <a:lnSpc>
                <a:spcPct val="80000"/>
              </a:lnSpc>
              <a:spcBef>
                <a:spcPts val="518"/>
              </a:spcBef>
              <a:spcAft>
                <a:spcPts val="0"/>
              </a:spcAft>
              <a:buSzPts val="2590"/>
              <a:buNone/>
            </a:pPr>
            <a:endParaRPr lang="en-US" sz="2590" dirty="0"/>
          </a:p>
          <a:p>
            <a:pPr marL="0" lvl="0" indent="0" algn="l" rtl="0">
              <a:lnSpc>
                <a:spcPct val="80000"/>
              </a:lnSpc>
              <a:spcBef>
                <a:spcPts val="518"/>
              </a:spcBef>
              <a:spcAft>
                <a:spcPts val="0"/>
              </a:spcAft>
              <a:buSzPts val="2590"/>
              <a:buNone/>
            </a:pPr>
            <a:r>
              <a:rPr lang="en-US" sz="2590" dirty="0"/>
              <a:t>When using underscores in numbers there are a number of rules to keep in mind:</a:t>
            </a:r>
          </a:p>
          <a:p>
            <a:pPr indent="-457200">
              <a:lnSpc>
                <a:spcPct val="80000"/>
              </a:lnSpc>
              <a:spcBef>
                <a:spcPts val="518"/>
              </a:spcBef>
              <a:buSzPts val="2590"/>
            </a:pPr>
            <a:r>
              <a:rPr lang="en-US" sz="2590" dirty="0"/>
              <a:t>You can place any number of underscores in the number, even one after another</a:t>
            </a:r>
          </a:p>
          <a:p>
            <a:pPr indent="-457200">
              <a:lnSpc>
                <a:spcPct val="80000"/>
              </a:lnSpc>
              <a:spcBef>
                <a:spcPts val="518"/>
              </a:spcBef>
              <a:buSzPts val="2590"/>
            </a:pPr>
            <a:r>
              <a:rPr lang="en-US" sz="2590" dirty="0"/>
              <a:t>You cannot start a number with an underscore</a:t>
            </a:r>
          </a:p>
          <a:p>
            <a:pPr indent="-457200">
              <a:lnSpc>
                <a:spcPct val="80000"/>
              </a:lnSpc>
              <a:spcBef>
                <a:spcPts val="518"/>
              </a:spcBef>
              <a:buSzPts val="2590"/>
            </a:pPr>
            <a:r>
              <a:rPr lang="en-US" sz="2590" dirty="0"/>
              <a:t>You cannot end a number with an underscore</a:t>
            </a:r>
          </a:p>
          <a:p>
            <a:pPr indent="-457200">
              <a:lnSpc>
                <a:spcPct val="80000"/>
              </a:lnSpc>
              <a:spcBef>
                <a:spcPts val="518"/>
              </a:spcBef>
              <a:buSzPts val="2590"/>
            </a:pPr>
            <a:r>
              <a:rPr lang="en-US" sz="2590" dirty="0"/>
              <a:t>You cannot place an underscore immediately before or immediately after a decimal point.</a:t>
            </a:r>
          </a:p>
          <a:p>
            <a:pPr marL="0" indent="0">
              <a:lnSpc>
                <a:spcPct val="80000"/>
              </a:lnSpc>
              <a:spcBef>
                <a:spcPts val="518"/>
              </a:spcBef>
              <a:buSzPts val="2590"/>
              <a:buNone/>
            </a:pPr>
            <a:r>
              <a:rPr lang="en-US" sz="2590" dirty="0"/>
              <a:t>Typically, underscores are used in place of commas when writing large numbers (after every 3 digits).</a:t>
            </a:r>
            <a:endParaRPr lang="en-US" sz="2990" dirty="0"/>
          </a:p>
          <a:p>
            <a:pPr indent="-457200">
              <a:lnSpc>
                <a:spcPct val="80000"/>
              </a:lnSpc>
              <a:spcBef>
                <a:spcPts val="518"/>
              </a:spcBef>
              <a:buSzPts val="2590"/>
            </a:pPr>
            <a:endParaRPr lang="en-US" sz="2190" dirty="0"/>
          </a:p>
          <a:p>
            <a:pPr marL="342900" lvl="0" indent="-342900" algn="l" rtl="0">
              <a:lnSpc>
                <a:spcPct val="80000"/>
              </a:lnSpc>
              <a:spcBef>
                <a:spcPts val="518"/>
              </a:spcBef>
              <a:spcAft>
                <a:spcPts val="0"/>
              </a:spcAft>
              <a:buSzPts val="2590"/>
              <a:buChar char="•"/>
            </a:pPr>
            <a:endParaRPr lang="en-US" sz="2590" dirty="0"/>
          </a:p>
          <a:p>
            <a:pPr marL="342900" lvl="0" indent="-342900" algn="l" rtl="0">
              <a:lnSpc>
                <a:spcPct val="80000"/>
              </a:lnSpc>
              <a:spcBef>
                <a:spcPts val="518"/>
              </a:spcBef>
              <a:spcAft>
                <a:spcPts val="0"/>
              </a:spcAft>
              <a:buSzPts val="2590"/>
              <a:buChar char="•"/>
            </a:pPr>
            <a:endParaRPr lang="en-US" sz="2590" dirty="0"/>
          </a:p>
          <a:p>
            <a:pPr marL="342900" lvl="0" indent="-342900" algn="l" rtl="0">
              <a:lnSpc>
                <a:spcPct val="80000"/>
              </a:lnSpc>
              <a:spcBef>
                <a:spcPts val="518"/>
              </a:spcBef>
              <a:spcAft>
                <a:spcPts val="0"/>
              </a:spcAft>
              <a:buSzPts val="2590"/>
              <a:buChar char="•"/>
            </a:pPr>
            <a:endParaRPr lang="en-US" sz="2590" dirty="0"/>
          </a:p>
          <a:p>
            <a:pPr marL="342900" lvl="0" indent="-342900" algn="l" rtl="0">
              <a:lnSpc>
                <a:spcPct val="80000"/>
              </a:lnSpc>
              <a:spcBef>
                <a:spcPts val="518"/>
              </a:spcBef>
              <a:spcAft>
                <a:spcPts val="0"/>
              </a:spcAft>
              <a:buSzPts val="2590"/>
              <a:buChar char="•"/>
            </a:pPr>
            <a:endParaRPr lang="en-US" sz="2590" dirty="0"/>
          </a:p>
          <a:p>
            <a:pPr marL="342900" lvl="0" indent="-342900" algn="l" rtl="0">
              <a:lnSpc>
                <a:spcPct val="80000"/>
              </a:lnSpc>
              <a:spcBef>
                <a:spcPts val="518"/>
              </a:spcBef>
              <a:spcAft>
                <a:spcPts val="0"/>
              </a:spcAft>
              <a:buSzPts val="2590"/>
              <a:buChar char="•"/>
            </a:pPr>
            <a:endParaRPr lang="en-US" sz="2590" dirty="0"/>
          </a:p>
          <a:p>
            <a:pPr marL="342900" lvl="0" indent="-342900" algn="l" rtl="0">
              <a:lnSpc>
                <a:spcPct val="80000"/>
              </a:lnSpc>
              <a:spcBef>
                <a:spcPts val="518"/>
              </a:spcBef>
              <a:spcAft>
                <a:spcPts val="0"/>
              </a:spcAft>
              <a:buSzPts val="2590"/>
              <a:buChar char="•"/>
            </a:pPr>
            <a:endParaRPr lang="en-US" sz="2590" dirty="0"/>
          </a:p>
        </p:txBody>
      </p:sp>
      <p:sp>
        <p:nvSpPr>
          <p:cNvPr id="255" name="Google Shape;255;p21"/>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811452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5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5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21"/>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dirty="0"/>
              <a:t>Numbers and Underscores Examples</a:t>
            </a:r>
            <a:endParaRPr dirty="0"/>
          </a:p>
        </p:txBody>
      </p:sp>
      <p:sp>
        <p:nvSpPr>
          <p:cNvPr id="254" name="Google Shape;254;p21"/>
          <p:cNvSpPr txBox="1">
            <a:spLocks noGrp="1"/>
          </p:cNvSpPr>
          <p:nvPr>
            <p:ph type="body" idx="1"/>
          </p:nvPr>
        </p:nvSpPr>
        <p:spPr>
          <a:xfrm>
            <a:off x="524844" y="1890110"/>
            <a:ext cx="8195086" cy="3556534"/>
          </a:xfrm>
          <a:prstGeom prst="rect">
            <a:avLst/>
          </a:prstGeom>
          <a:noFill/>
          <a:ln>
            <a:noFill/>
          </a:ln>
        </p:spPr>
        <p:txBody>
          <a:bodyPr spcFirstLastPara="1" wrap="square" lIns="91425" tIns="45700" rIns="91425" bIns="45700" anchor="t" anchorCtr="0">
            <a:normAutofit fontScale="77500" lnSpcReduction="20000"/>
          </a:bodyPr>
          <a:lstStyle/>
          <a:p>
            <a:pPr marL="0" indent="0">
              <a:lnSpc>
                <a:spcPct val="80000"/>
              </a:lnSpc>
              <a:spcBef>
                <a:spcPts val="518"/>
              </a:spcBef>
              <a:buSzPts val="2590"/>
              <a:buNone/>
            </a:pPr>
            <a:r>
              <a:rPr lang="en-US" sz="2590" dirty="0">
                <a:latin typeface="Courier New" panose="02070309020205020404" pitchFamily="49" charset="0"/>
                <a:cs typeface="Courier New" panose="02070309020205020404" pitchFamily="49" charset="0"/>
              </a:rPr>
              <a:t>double </a:t>
            </a:r>
            <a:r>
              <a:rPr lang="en-US" sz="2590" dirty="0" err="1">
                <a:latin typeface="Courier New" panose="02070309020205020404" pitchFamily="49" charset="0"/>
                <a:cs typeface="Courier New" panose="02070309020205020404" pitchFamily="49" charset="0"/>
              </a:rPr>
              <a:t>atStart</a:t>
            </a:r>
            <a:r>
              <a:rPr lang="en-US" sz="2590" dirty="0">
                <a:latin typeface="Courier New" panose="02070309020205020404" pitchFamily="49" charset="0"/>
                <a:cs typeface="Courier New" panose="02070309020205020404" pitchFamily="49" charset="0"/>
              </a:rPr>
              <a:t> = _1000.00; // DOES NOT COMPILE</a:t>
            </a:r>
          </a:p>
          <a:p>
            <a:pPr marL="0" indent="0">
              <a:lnSpc>
                <a:spcPct val="80000"/>
              </a:lnSpc>
              <a:spcBef>
                <a:spcPts val="518"/>
              </a:spcBef>
              <a:buSzPts val="2590"/>
              <a:buNone/>
            </a:pPr>
            <a:endParaRPr lang="en-US" sz="2590" dirty="0">
              <a:latin typeface="Courier New" panose="02070309020205020404" pitchFamily="49" charset="0"/>
              <a:cs typeface="Courier New" panose="02070309020205020404" pitchFamily="49" charset="0"/>
            </a:endParaRPr>
          </a:p>
          <a:p>
            <a:pPr marL="0" indent="0">
              <a:lnSpc>
                <a:spcPct val="80000"/>
              </a:lnSpc>
              <a:spcBef>
                <a:spcPts val="518"/>
              </a:spcBef>
              <a:buSzPts val="2590"/>
              <a:buNone/>
            </a:pPr>
            <a:r>
              <a:rPr lang="en-US" sz="2590" dirty="0">
                <a:latin typeface="Courier New" panose="02070309020205020404" pitchFamily="49" charset="0"/>
                <a:cs typeface="Courier New" panose="02070309020205020404" pitchFamily="49" charset="0"/>
              </a:rPr>
              <a:t>double </a:t>
            </a:r>
            <a:r>
              <a:rPr lang="en-US" sz="2590" dirty="0" err="1">
                <a:latin typeface="Courier New" panose="02070309020205020404" pitchFamily="49" charset="0"/>
                <a:cs typeface="Courier New" panose="02070309020205020404" pitchFamily="49" charset="0"/>
              </a:rPr>
              <a:t>atEnd</a:t>
            </a:r>
            <a:r>
              <a:rPr lang="en-US" sz="2590" dirty="0">
                <a:latin typeface="Courier New" panose="02070309020205020404" pitchFamily="49" charset="0"/>
                <a:cs typeface="Courier New" panose="02070309020205020404" pitchFamily="49" charset="0"/>
              </a:rPr>
              <a:t> = 1000.00_; // DOES NOT COMPILE</a:t>
            </a:r>
          </a:p>
          <a:p>
            <a:pPr marL="0" indent="0">
              <a:lnSpc>
                <a:spcPct val="80000"/>
              </a:lnSpc>
              <a:spcBef>
                <a:spcPts val="518"/>
              </a:spcBef>
              <a:buSzPts val="2590"/>
              <a:buNone/>
            </a:pPr>
            <a:endParaRPr lang="en-US" sz="2590" dirty="0">
              <a:latin typeface="Courier New" panose="02070309020205020404" pitchFamily="49" charset="0"/>
              <a:cs typeface="Courier New" panose="02070309020205020404" pitchFamily="49" charset="0"/>
            </a:endParaRPr>
          </a:p>
          <a:p>
            <a:pPr marL="0" indent="0">
              <a:lnSpc>
                <a:spcPct val="80000"/>
              </a:lnSpc>
              <a:spcBef>
                <a:spcPts val="518"/>
              </a:spcBef>
              <a:buSzPts val="2590"/>
              <a:buNone/>
            </a:pPr>
            <a:r>
              <a:rPr lang="en-US" sz="2590" dirty="0">
                <a:latin typeface="Courier New" panose="02070309020205020404" pitchFamily="49" charset="0"/>
                <a:cs typeface="Courier New" panose="02070309020205020404" pitchFamily="49" charset="0"/>
              </a:rPr>
              <a:t>double byDecimal_1 = 1000_.00; // DOES NOT COMPILE</a:t>
            </a:r>
          </a:p>
          <a:p>
            <a:pPr marL="0" indent="0">
              <a:lnSpc>
                <a:spcPct val="80000"/>
              </a:lnSpc>
              <a:spcBef>
                <a:spcPts val="518"/>
              </a:spcBef>
              <a:buSzPts val="2590"/>
              <a:buNone/>
            </a:pPr>
            <a:endParaRPr lang="en-US" sz="2590" dirty="0">
              <a:latin typeface="Courier New" panose="02070309020205020404" pitchFamily="49" charset="0"/>
              <a:cs typeface="Courier New" panose="02070309020205020404" pitchFamily="49" charset="0"/>
            </a:endParaRPr>
          </a:p>
          <a:p>
            <a:pPr marL="0" indent="0">
              <a:lnSpc>
                <a:spcPct val="80000"/>
              </a:lnSpc>
              <a:spcBef>
                <a:spcPts val="518"/>
              </a:spcBef>
              <a:buSzPts val="2590"/>
              <a:buNone/>
            </a:pPr>
            <a:r>
              <a:rPr lang="en-US" sz="2590" dirty="0">
                <a:latin typeface="Courier New" panose="02070309020205020404" pitchFamily="49" charset="0"/>
                <a:cs typeface="Courier New" panose="02070309020205020404" pitchFamily="49" charset="0"/>
              </a:rPr>
              <a:t>double byDecimal_2 = 1000._00; // DOES NOT COMPILE</a:t>
            </a:r>
          </a:p>
          <a:p>
            <a:pPr marL="0" indent="0">
              <a:lnSpc>
                <a:spcPct val="80000"/>
              </a:lnSpc>
              <a:spcBef>
                <a:spcPts val="518"/>
              </a:spcBef>
              <a:buSzPts val="2590"/>
              <a:buNone/>
            </a:pPr>
            <a:endParaRPr lang="en-US" sz="2590" dirty="0">
              <a:latin typeface="Courier New" panose="02070309020205020404" pitchFamily="49" charset="0"/>
              <a:cs typeface="Courier New" panose="02070309020205020404" pitchFamily="49" charset="0"/>
            </a:endParaRPr>
          </a:p>
          <a:p>
            <a:pPr marL="0" indent="0">
              <a:lnSpc>
                <a:spcPct val="80000"/>
              </a:lnSpc>
              <a:spcBef>
                <a:spcPts val="518"/>
              </a:spcBef>
              <a:buSzPts val="2590"/>
              <a:buNone/>
            </a:pPr>
            <a:r>
              <a:rPr lang="en-US" sz="2590" dirty="0">
                <a:latin typeface="Courier New" panose="02070309020205020404" pitchFamily="49" charset="0"/>
                <a:cs typeface="Courier New" panose="02070309020205020404" pitchFamily="49" charset="0"/>
              </a:rPr>
              <a:t>double </a:t>
            </a:r>
            <a:r>
              <a:rPr lang="en-US" sz="2590" dirty="0" err="1">
                <a:latin typeface="Courier New" panose="02070309020205020404" pitchFamily="49" charset="0"/>
                <a:cs typeface="Courier New" panose="02070309020205020404" pitchFamily="49" charset="0"/>
              </a:rPr>
              <a:t>uglyButWorks</a:t>
            </a:r>
            <a:r>
              <a:rPr lang="en-US" sz="2590" dirty="0">
                <a:latin typeface="Courier New" panose="02070309020205020404" pitchFamily="49" charset="0"/>
                <a:cs typeface="Courier New" panose="02070309020205020404" pitchFamily="49" charset="0"/>
              </a:rPr>
              <a:t> = 1_0_0_0.0_0; // Works Fine</a:t>
            </a:r>
          </a:p>
          <a:p>
            <a:pPr marL="0" indent="0">
              <a:lnSpc>
                <a:spcPct val="80000"/>
              </a:lnSpc>
              <a:spcBef>
                <a:spcPts val="518"/>
              </a:spcBef>
              <a:buSzPts val="2590"/>
              <a:buNone/>
            </a:pPr>
            <a:endParaRPr lang="en-US" sz="2590" dirty="0">
              <a:latin typeface="Courier New" panose="02070309020205020404" pitchFamily="49" charset="0"/>
              <a:cs typeface="Courier New" panose="02070309020205020404" pitchFamily="49" charset="0"/>
            </a:endParaRPr>
          </a:p>
          <a:p>
            <a:pPr marL="0" indent="0">
              <a:lnSpc>
                <a:spcPct val="80000"/>
              </a:lnSpc>
              <a:spcBef>
                <a:spcPts val="518"/>
              </a:spcBef>
              <a:buSzPts val="2590"/>
              <a:buNone/>
            </a:pPr>
            <a:r>
              <a:rPr lang="en-US" sz="2590" dirty="0">
                <a:latin typeface="Courier New" panose="02070309020205020404" pitchFamily="49" charset="0"/>
                <a:cs typeface="Courier New" panose="02070309020205020404" pitchFamily="49" charset="0"/>
              </a:rPr>
              <a:t>double </a:t>
            </a:r>
            <a:r>
              <a:rPr lang="en-US" sz="2590" dirty="0" err="1">
                <a:latin typeface="Courier New" panose="02070309020205020404" pitchFamily="49" charset="0"/>
                <a:cs typeface="Courier New" panose="02070309020205020404" pitchFamily="49" charset="0"/>
              </a:rPr>
              <a:t>hardToRead</a:t>
            </a:r>
            <a:r>
              <a:rPr lang="en-US" sz="2590" dirty="0">
                <a:latin typeface="Courier New" panose="02070309020205020404" pitchFamily="49" charset="0"/>
                <a:cs typeface="Courier New" panose="02070309020205020404" pitchFamily="49" charset="0"/>
              </a:rPr>
              <a:t> = 10_ _ _ _ _00.00; // Works Fine</a:t>
            </a:r>
          </a:p>
          <a:p>
            <a:pPr marL="0" indent="0">
              <a:lnSpc>
                <a:spcPct val="80000"/>
              </a:lnSpc>
              <a:spcBef>
                <a:spcPts val="518"/>
              </a:spcBef>
              <a:buSzPts val="2590"/>
              <a:buNone/>
            </a:pPr>
            <a:endParaRPr lang="en-US" sz="2590" dirty="0">
              <a:latin typeface="Courier New" panose="02070309020205020404" pitchFamily="49" charset="0"/>
              <a:cs typeface="Courier New" panose="02070309020205020404" pitchFamily="49" charset="0"/>
            </a:endParaRPr>
          </a:p>
          <a:p>
            <a:pPr marL="0" indent="0">
              <a:lnSpc>
                <a:spcPct val="80000"/>
              </a:lnSpc>
              <a:spcBef>
                <a:spcPts val="518"/>
              </a:spcBef>
              <a:buSzPts val="2590"/>
              <a:buNone/>
            </a:pPr>
            <a:r>
              <a:rPr lang="en-US" sz="2590" dirty="0">
                <a:latin typeface="Courier New" panose="02070309020205020404" pitchFamily="49" charset="0"/>
                <a:cs typeface="Courier New" panose="02070309020205020404" pitchFamily="49" charset="0"/>
              </a:rPr>
              <a:t>double </a:t>
            </a:r>
            <a:r>
              <a:rPr lang="en-US" sz="2590" dirty="0" err="1">
                <a:latin typeface="Courier New" panose="02070309020205020404" pitchFamily="49" charset="0"/>
                <a:cs typeface="Courier New" panose="02070309020205020404" pitchFamily="49" charset="0"/>
              </a:rPr>
              <a:t>properFormat</a:t>
            </a:r>
            <a:r>
              <a:rPr lang="en-US" sz="2590" dirty="0">
                <a:latin typeface="Courier New" panose="02070309020205020404" pitchFamily="49" charset="0"/>
                <a:cs typeface="Courier New" panose="02070309020205020404" pitchFamily="49" charset="0"/>
              </a:rPr>
              <a:t> = 1_000_000.00; // Proper Use</a:t>
            </a:r>
          </a:p>
        </p:txBody>
      </p:sp>
      <p:sp>
        <p:nvSpPr>
          <p:cNvPr id="255" name="Google Shape;255;p21"/>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27</a:t>
            </a:fld>
            <a:endParaRPr/>
          </a:p>
        </p:txBody>
      </p:sp>
    </p:spTree>
    <p:extLst>
      <p:ext uri="{BB962C8B-B14F-4D97-AF65-F5344CB8AC3E}">
        <p14:creationId xmlns:p14="http://schemas.microsoft.com/office/powerpoint/2010/main" val="41965625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5B163-DF60-C196-8331-4108376A1CE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B138A13-6A65-09C4-231E-394D46FF25A7}"/>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28</a:t>
            </a:fld>
            <a:endParaRPr lang="en-US"/>
          </a:p>
        </p:txBody>
      </p:sp>
      <p:sp>
        <p:nvSpPr>
          <p:cNvPr id="4" name="Google Shape;212;p15">
            <a:extLst>
              <a:ext uri="{FF2B5EF4-FFF2-40B4-BE49-F238E27FC236}">
                <a16:creationId xmlns:a16="http://schemas.microsoft.com/office/drawing/2014/main" id="{AA4C0109-5785-1F15-8590-2814CD7273FF}"/>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Java Operators</a:t>
            </a:r>
          </a:p>
        </p:txBody>
      </p:sp>
      <p:pic>
        <p:nvPicPr>
          <p:cNvPr id="6" name="Picture 5">
            <a:extLst>
              <a:ext uri="{FF2B5EF4-FFF2-40B4-BE49-F238E27FC236}">
                <a16:creationId xmlns:a16="http://schemas.microsoft.com/office/drawing/2014/main" id="{33617C63-B792-076A-E816-1BBEFBFB28DC}"/>
              </a:ext>
            </a:extLst>
          </p:cNvPr>
          <p:cNvPicPr>
            <a:picLocks noChangeAspect="1"/>
          </p:cNvPicPr>
          <p:nvPr/>
        </p:nvPicPr>
        <p:blipFill>
          <a:blip r:embed="rId2"/>
          <a:stretch>
            <a:fillRect/>
          </a:stretch>
        </p:blipFill>
        <p:spPr>
          <a:xfrm>
            <a:off x="7036646" y="0"/>
            <a:ext cx="2107354" cy="773112"/>
          </a:xfrm>
          <a:prstGeom prst="rect">
            <a:avLst/>
          </a:prstGeom>
        </p:spPr>
      </p:pic>
    </p:spTree>
    <p:extLst>
      <p:ext uri="{BB962C8B-B14F-4D97-AF65-F5344CB8AC3E}">
        <p14:creationId xmlns:p14="http://schemas.microsoft.com/office/powerpoint/2010/main" val="8684210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17"/>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dirty="0"/>
              <a:t>Java Operators</a:t>
            </a:r>
            <a:endParaRPr dirty="0"/>
          </a:p>
        </p:txBody>
      </p:sp>
      <p:sp>
        <p:nvSpPr>
          <p:cNvPr id="226" name="Google Shape;226;p17"/>
          <p:cNvSpPr txBox="1">
            <a:spLocks noGrp="1"/>
          </p:cNvSpPr>
          <p:nvPr>
            <p:ph type="body" idx="1"/>
          </p:nvPr>
        </p:nvSpPr>
        <p:spPr>
          <a:xfrm>
            <a:off x="380010" y="1392701"/>
            <a:ext cx="8384100" cy="5096875"/>
          </a:xfrm>
          <a:prstGeom prst="rect">
            <a:avLst/>
          </a:prstGeom>
          <a:noFill/>
          <a:ln>
            <a:noFill/>
          </a:ln>
        </p:spPr>
        <p:txBody>
          <a:bodyPr spcFirstLastPara="1" wrap="square" lIns="91425" tIns="45700" rIns="91425" bIns="45700" anchor="t" anchorCtr="0">
            <a:normAutofit lnSpcReduction="10000"/>
          </a:bodyPr>
          <a:lstStyle/>
          <a:p>
            <a:pPr marL="342900" indent="-342900">
              <a:lnSpc>
                <a:spcPct val="90000"/>
              </a:lnSpc>
              <a:spcBef>
                <a:spcPts val="0"/>
              </a:spcBef>
            </a:pPr>
            <a:r>
              <a:rPr lang="en-US" dirty="0"/>
              <a:t>An operator is a special symbol or reserved word that can be applied to a set of expressions, values or literals (referred to as operands) and return a result.</a:t>
            </a:r>
          </a:p>
          <a:p>
            <a:pPr marL="342900" indent="-342900">
              <a:lnSpc>
                <a:spcPct val="90000"/>
              </a:lnSpc>
              <a:spcBef>
                <a:spcPts val="0"/>
              </a:spcBef>
            </a:pPr>
            <a:r>
              <a:rPr lang="en-US" dirty="0"/>
              <a:t>Broadly speaking, there are three categories of operators in Java (if you ignore assignment operators)</a:t>
            </a:r>
          </a:p>
          <a:p>
            <a:pPr marL="800100" lvl="1" indent="-342900">
              <a:lnSpc>
                <a:spcPct val="90000"/>
              </a:lnSpc>
              <a:spcBef>
                <a:spcPts val="0"/>
              </a:spcBef>
            </a:pPr>
            <a:r>
              <a:rPr lang="en-US" b="1" dirty="0"/>
              <a:t>Unary operators </a:t>
            </a:r>
            <a:r>
              <a:rPr lang="en-US" dirty="0"/>
              <a:t>– applied to a single operand</a:t>
            </a:r>
          </a:p>
          <a:p>
            <a:pPr marL="800100" lvl="1" indent="-342900">
              <a:lnSpc>
                <a:spcPct val="90000"/>
              </a:lnSpc>
              <a:spcBef>
                <a:spcPts val="0"/>
              </a:spcBef>
            </a:pPr>
            <a:r>
              <a:rPr lang="en-US" b="1" dirty="0"/>
              <a:t>Binary operators</a:t>
            </a:r>
            <a:r>
              <a:rPr lang="en-US" dirty="0"/>
              <a:t> – applied to two operands</a:t>
            </a:r>
          </a:p>
          <a:p>
            <a:pPr marL="800100" lvl="1" indent="-342900">
              <a:lnSpc>
                <a:spcPct val="90000"/>
              </a:lnSpc>
              <a:spcBef>
                <a:spcPts val="0"/>
              </a:spcBef>
            </a:pPr>
            <a:r>
              <a:rPr lang="en-US" b="1" dirty="0"/>
              <a:t>Ternary operators</a:t>
            </a:r>
            <a:r>
              <a:rPr lang="en-US" dirty="0"/>
              <a:t> – applied to three operands</a:t>
            </a:r>
          </a:p>
          <a:p>
            <a:pPr marL="342900" indent="-342900">
              <a:lnSpc>
                <a:spcPct val="90000"/>
              </a:lnSpc>
              <a:spcBef>
                <a:spcPts val="0"/>
              </a:spcBef>
            </a:pPr>
            <a:r>
              <a:rPr lang="en-US" dirty="0"/>
              <a:t>Operations follow an execution order, with those of a higher level of precedence executing first. </a:t>
            </a:r>
          </a:p>
          <a:p>
            <a:pPr marL="800100" lvl="1" indent="-342900">
              <a:lnSpc>
                <a:spcPct val="90000"/>
              </a:lnSpc>
              <a:spcBef>
                <a:spcPts val="0"/>
              </a:spcBef>
            </a:pPr>
            <a:r>
              <a:rPr lang="en-US" dirty="0"/>
              <a:t>When multiple operators have the same ‘level of precedence’ they will be evaluated from left-to-right</a:t>
            </a:r>
          </a:p>
          <a:p>
            <a:pPr marL="342900" indent="-342900">
              <a:lnSpc>
                <a:spcPct val="90000"/>
              </a:lnSpc>
              <a:spcBef>
                <a:spcPts val="0"/>
              </a:spcBef>
            </a:pPr>
            <a:endParaRPr lang="en-US" dirty="0"/>
          </a:p>
        </p:txBody>
      </p:sp>
      <p:sp>
        <p:nvSpPr>
          <p:cNvPr id="227" name="Google Shape;227;p17"/>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29</a:t>
            </a:fld>
            <a:endParaRPr/>
          </a:p>
        </p:txBody>
      </p:sp>
    </p:spTree>
    <p:extLst>
      <p:ext uri="{BB962C8B-B14F-4D97-AF65-F5344CB8AC3E}">
        <p14:creationId xmlns:p14="http://schemas.microsoft.com/office/powerpoint/2010/main" val="1566526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6">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6">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6">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26">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97EDC-C968-4146-8EBD-666AE92291AA}"/>
              </a:ext>
            </a:extLst>
          </p:cNvPr>
          <p:cNvSpPr>
            <a:spLocks noGrp="1"/>
          </p:cNvSpPr>
          <p:nvPr>
            <p:ph type="title"/>
          </p:nvPr>
        </p:nvSpPr>
        <p:spPr/>
        <p:txBody>
          <a:bodyPr/>
          <a:lstStyle/>
          <a:p>
            <a:r>
              <a:rPr lang="en-US" dirty="0"/>
              <a:t>Common Java Operators (Unary)</a:t>
            </a:r>
          </a:p>
        </p:txBody>
      </p:sp>
      <p:sp>
        <p:nvSpPr>
          <p:cNvPr id="4" name="Slide Number Placeholder 3">
            <a:extLst>
              <a:ext uri="{FF2B5EF4-FFF2-40B4-BE49-F238E27FC236}">
                <a16:creationId xmlns:a16="http://schemas.microsoft.com/office/drawing/2014/main" id="{7ABBEA9E-2FCF-4F4D-BD7A-D6F0C52BDB9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28BC2-ACA3-447C-A909-F3F49211C066}" type="slidenum">
              <a:rPr kumimoji="0" lang="en-US" sz="1200" b="0" i="0" u="none" strike="noStrike" kern="1200" cap="none" spc="0" normalizeH="0" baseline="0" noProof="0" smtClean="0">
                <a:ln>
                  <a:noFill/>
                </a:ln>
                <a:solidFill>
                  <a:srgbClr val="A0A1A0"/>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dirty="0">
              <a:ln>
                <a:noFill/>
              </a:ln>
              <a:solidFill>
                <a:srgbClr val="A0A1A0"/>
              </a:solidFill>
              <a:effectLst/>
              <a:uLnTx/>
              <a:uFillTx/>
              <a:latin typeface="Arial" panose="020B0604020202020204" pitchFamily="34" charset="0"/>
              <a:ea typeface="+mn-ea"/>
              <a:cs typeface="Arial" panose="020B0604020202020204" pitchFamily="34" charset="0"/>
            </a:endParaRPr>
          </a:p>
        </p:txBody>
      </p:sp>
      <p:graphicFrame>
        <p:nvGraphicFramePr>
          <p:cNvPr id="7" name="Content Placeholder 4">
            <a:extLst>
              <a:ext uri="{FF2B5EF4-FFF2-40B4-BE49-F238E27FC236}">
                <a16:creationId xmlns:a16="http://schemas.microsoft.com/office/drawing/2014/main" id="{CF679FCA-F9FE-4369-8266-E1BEC2D7A21A}"/>
              </a:ext>
            </a:extLst>
          </p:cNvPr>
          <p:cNvGraphicFramePr>
            <a:graphicFrameLocks noGrp="1"/>
          </p:cNvGraphicFramePr>
          <p:nvPr>
            <p:ph idx="1"/>
          </p:nvPr>
        </p:nvGraphicFramePr>
        <p:xfrm>
          <a:off x="380010" y="1607660"/>
          <a:ext cx="8493655" cy="2519680"/>
        </p:xfrm>
        <a:graphic>
          <a:graphicData uri="http://schemas.openxmlformats.org/drawingml/2006/table">
            <a:tbl>
              <a:tblPr firstRow="1" bandRow="1">
                <a:tableStyleId>{5C22544A-7EE6-4342-B048-85BDC9FD1C3A}</a:tableStyleId>
              </a:tblPr>
              <a:tblGrid>
                <a:gridCol w="2256658">
                  <a:extLst>
                    <a:ext uri="{9D8B030D-6E8A-4147-A177-3AD203B41FA5}">
                      <a16:colId xmlns:a16="http://schemas.microsoft.com/office/drawing/2014/main" val="989114358"/>
                    </a:ext>
                  </a:extLst>
                </a:gridCol>
                <a:gridCol w="1765206">
                  <a:extLst>
                    <a:ext uri="{9D8B030D-6E8A-4147-A177-3AD203B41FA5}">
                      <a16:colId xmlns:a16="http://schemas.microsoft.com/office/drawing/2014/main" val="3916710713"/>
                    </a:ext>
                  </a:extLst>
                </a:gridCol>
                <a:gridCol w="4471791">
                  <a:extLst>
                    <a:ext uri="{9D8B030D-6E8A-4147-A177-3AD203B41FA5}">
                      <a16:colId xmlns:a16="http://schemas.microsoft.com/office/drawing/2014/main" val="3238090680"/>
                    </a:ext>
                  </a:extLst>
                </a:gridCol>
              </a:tblGrid>
              <a:tr h="370840">
                <a:tc>
                  <a:txBody>
                    <a:bodyPr/>
                    <a:lstStyle/>
                    <a:p>
                      <a:r>
                        <a:rPr lang="en-US" dirty="0"/>
                        <a:t>Name</a:t>
                      </a:r>
                    </a:p>
                  </a:txBody>
                  <a:tcPr/>
                </a:tc>
                <a:tc>
                  <a:txBody>
                    <a:bodyPr/>
                    <a:lstStyle/>
                    <a:p>
                      <a:r>
                        <a:rPr lang="en-US" dirty="0"/>
                        <a:t>Operator</a:t>
                      </a:r>
                    </a:p>
                  </a:txBody>
                  <a:tcPr/>
                </a:tc>
                <a:tc>
                  <a:txBody>
                    <a:bodyPr/>
                    <a:lstStyle/>
                    <a:p>
                      <a:r>
                        <a:rPr lang="en-US" dirty="0"/>
                        <a:t>Definition</a:t>
                      </a:r>
                    </a:p>
                  </a:txBody>
                  <a:tcPr/>
                </a:tc>
                <a:extLst>
                  <a:ext uri="{0D108BD9-81ED-4DB2-BD59-A6C34878D82A}">
                    <a16:rowId xmlns:a16="http://schemas.microsoft.com/office/drawing/2014/main" val="2896108126"/>
                  </a:ext>
                </a:extLst>
              </a:tr>
              <a:tr h="370840">
                <a:tc>
                  <a:txBody>
                    <a:bodyPr/>
                    <a:lstStyle/>
                    <a:p>
                      <a:pPr marL="285750" indent="-285750">
                        <a:buFont typeface="Arial" panose="020B0604020202020204" pitchFamily="34" charset="0"/>
                        <a:buChar char="•"/>
                      </a:pPr>
                      <a:r>
                        <a:rPr lang="en-US" dirty="0"/>
                        <a:t>Post-unary Increment/Decrement</a:t>
                      </a:r>
                    </a:p>
                  </a:txBody>
                  <a:tcPr/>
                </a:tc>
                <a:tc>
                  <a:txBody>
                    <a:bodyPr/>
                    <a:lstStyle/>
                    <a:p>
                      <a:r>
                        <a:rPr lang="en-US" dirty="0"/>
                        <a:t>expression++</a:t>
                      </a:r>
                    </a:p>
                    <a:p>
                      <a:r>
                        <a:rPr lang="en-US" dirty="0"/>
                        <a:t>expression--</a:t>
                      </a:r>
                    </a:p>
                  </a:txBody>
                  <a:tcPr/>
                </a:tc>
                <a:tc>
                  <a:txBody>
                    <a:bodyPr/>
                    <a:lstStyle/>
                    <a:p>
                      <a:r>
                        <a:rPr lang="en-US" dirty="0"/>
                        <a:t>Return value then increase expression by 1</a:t>
                      </a:r>
                    </a:p>
                    <a:p>
                      <a:r>
                        <a:rPr lang="en-US" dirty="0"/>
                        <a:t>Return value then decrease expression by 1</a:t>
                      </a:r>
                    </a:p>
                  </a:txBody>
                  <a:tcPr/>
                </a:tc>
                <a:extLst>
                  <a:ext uri="{0D108BD9-81ED-4DB2-BD59-A6C34878D82A}">
                    <a16:rowId xmlns:a16="http://schemas.microsoft.com/office/drawing/2014/main" val="2676476840"/>
                  </a:ext>
                </a:extLst>
              </a:tr>
              <a:tr h="370840">
                <a:tc>
                  <a:txBody>
                    <a:bodyPr/>
                    <a:lstStyle/>
                    <a:p>
                      <a:pPr marL="285750" indent="-285750">
                        <a:buFont typeface="Arial" panose="020B0604020202020204" pitchFamily="34" charset="0"/>
                        <a:buChar char="•"/>
                      </a:pPr>
                      <a:r>
                        <a:rPr lang="en-US" dirty="0"/>
                        <a:t>Pre-unary Increment/Decrement</a:t>
                      </a:r>
                    </a:p>
                  </a:txBody>
                  <a:tcPr/>
                </a:tc>
                <a:tc>
                  <a:txBody>
                    <a:bodyPr/>
                    <a:lstStyle/>
                    <a:p>
                      <a:r>
                        <a:rPr lang="en-US" dirty="0"/>
                        <a:t>++expression</a:t>
                      </a:r>
                    </a:p>
                    <a:p>
                      <a:r>
                        <a:rPr lang="en-US" dirty="0"/>
                        <a:t>--expression</a:t>
                      </a:r>
                    </a:p>
                  </a:txBody>
                  <a:tcPr/>
                </a:tc>
                <a:tc>
                  <a:txBody>
                    <a:bodyPr/>
                    <a:lstStyle/>
                    <a:p>
                      <a:r>
                        <a:rPr lang="en-US" dirty="0"/>
                        <a:t>Increase expression by 1, then return value</a:t>
                      </a:r>
                    </a:p>
                    <a:p>
                      <a:r>
                        <a:rPr lang="en-US" dirty="0"/>
                        <a:t>Decrease expression by 1, then return value</a:t>
                      </a:r>
                    </a:p>
                  </a:txBody>
                  <a:tcPr/>
                </a:tc>
                <a:extLst>
                  <a:ext uri="{0D108BD9-81ED-4DB2-BD59-A6C34878D82A}">
                    <a16:rowId xmlns:a16="http://schemas.microsoft.com/office/drawing/2014/main" val="380921674"/>
                  </a:ext>
                </a:extLst>
              </a:tr>
              <a:tr h="370840">
                <a:tc>
                  <a:txBody>
                    <a:bodyPr/>
                    <a:lstStyle/>
                    <a:p>
                      <a:pPr marL="285750" indent="-285750">
                        <a:buFont typeface="Arial" panose="020B0604020202020204" pitchFamily="34" charset="0"/>
                        <a:buChar char="•"/>
                      </a:pPr>
                      <a:r>
                        <a:rPr lang="en-US" dirty="0"/>
                        <a:t>Not operator</a:t>
                      </a:r>
                    </a:p>
                  </a:txBody>
                  <a:tcPr/>
                </a:tc>
                <a:tc>
                  <a:txBody>
                    <a:bodyPr/>
                    <a:lstStyle/>
                    <a:p>
                      <a:r>
                        <a:rPr lang="en-US" dirty="0"/>
                        <a:t>!expression</a:t>
                      </a:r>
                    </a:p>
                  </a:txBody>
                  <a:tcPr/>
                </a:tc>
                <a:tc>
                  <a:txBody>
                    <a:bodyPr/>
                    <a:lstStyle/>
                    <a:p>
                      <a:r>
                        <a:rPr lang="en-US" dirty="0"/>
                        <a:t>Returns the inverse of a Boolean expression</a:t>
                      </a:r>
                    </a:p>
                  </a:txBody>
                  <a:tcPr/>
                </a:tc>
                <a:extLst>
                  <a:ext uri="{0D108BD9-81ED-4DB2-BD59-A6C34878D82A}">
                    <a16:rowId xmlns:a16="http://schemas.microsoft.com/office/drawing/2014/main" val="3281177292"/>
                  </a:ext>
                </a:extLst>
              </a:tr>
              <a:tr h="370840">
                <a:tc>
                  <a:txBody>
                    <a:bodyPr/>
                    <a:lstStyle/>
                    <a:p>
                      <a:pPr marL="285750" indent="-285750">
                        <a:buFont typeface="Arial" panose="020B0604020202020204" pitchFamily="34" charset="0"/>
                        <a:buChar char="•"/>
                      </a:pPr>
                      <a:r>
                        <a:rPr lang="en-US" dirty="0"/>
                        <a:t>Negative Sign</a:t>
                      </a:r>
                    </a:p>
                  </a:txBody>
                  <a:tcPr/>
                </a:tc>
                <a:tc>
                  <a:txBody>
                    <a:bodyPr/>
                    <a:lstStyle/>
                    <a:p>
                      <a:r>
                        <a:rPr lang="en-US" dirty="0"/>
                        <a:t>-expression</a:t>
                      </a:r>
                    </a:p>
                  </a:txBody>
                  <a:tcPr/>
                </a:tc>
                <a:tc>
                  <a:txBody>
                    <a:bodyPr/>
                    <a:lstStyle/>
                    <a:p>
                      <a:r>
                        <a:rPr lang="en-US" dirty="0"/>
                        <a:t>Indicates that a numerical expression is negative</a:t>
                      </a:r>
                    </a:p>
                  </a:txBody>
                  <a:tcPr/>
                </a:tc>
                <a:extLst>
                  <a:ext uri="{0D108BD9-81ED-4DB2-BD59-A6C34878D82A}">
                    <a16:rowId xmlns:a16="http://schemas.microsoft.com/office/drawing/2014/main" val="1660611145"/>
                  </a:ext>
                </a:extLst>
              </a:tr>
              <a:tr h="370840">
                <a:tc>
                  <a:txBody>
                    <a:bodyPr/>
                    <a:lstStyle/>
                    <a:p>
                      <a:pPr marL="285750" indent="-285750">
                        <a:buFont typeface="Arial" panose="020B0604020202020204" pitchFamily="34" charset="0"/>
                        <a:buChar char="•"/>
                      </a:pPr>
                      <a:r>
                        <a:rPr lang="en-US" dirty="0"/>
                        <a:t>Cast</a:t>
                      </a:r>
                    </a:p>
                  </a:txBody>
                  <a:tcPr/>
                </a:tc>
                <a:tc>
                  <a:txBody>
                    <a:bodyPr/>
                    <a:lstStyle/>
                    <a:p>
                      <a:r>
                        <a:rPr lang="en-US" dirty="0"/>
                        <a:t>(type)</a:t>
                      </a:r>
                    </a:p>
                  </a:txBody>
                  <a:tcPr/>
                </a:tc>
                <a:tc>
                  <a:txBody>
                    <a:bodyPr/>
                    <a:lstStyle/>
                    <a:p>
                      <a:r>
                        <a:rPr lang="en-US" dirty="0"/>
                        <a:t>Casts a value to a specific type</a:t>
                      </a:r>
                    </a:p>
                  </a:txBody>
                  <a:tcPr/>
                </a:tc>
                <a:extLst>
                  <a:ext uri="{0D108BD9-81ED-4DB2-BD59-A6C34878D82A}">
                    <a16:rowId xmlns:a16="http://schemas.microsoft.com/office/drawing/2014/main" val="2099282515"/>
                  </a:ext>
                </a:extLst>
              </a:tr>
            </a:tbl>
          </a:graphicData>
        </a:graphic>
      </p:graphicFrame>
    </p:spTree>
    <p:extLst>
      <p:ext uri="{BB962C8B-B14F-4D97-AF65-F5344CB8AC3E}">
        <p14:creationId xmlns:p14="http://schemas.microsoft.com/office/powerpoint/2010/main" val="16289309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97EDC-C968-4146-8EBD-666AE92291AA}"/>
              </a:ext>
            </a:extLst>
          </p:cNvPr>
          <p:cNvSpPr>
            <a:spLocks noGrp="1"/>
          </p:cNvSpPr>
          <p:nvPr>
            <p:ph type="title"/>
          </p:nvPr>
        </p:nvSpPr>
        <p:spPr/>
        <p:txBody>
          <a:bodyPr/>
          <a:lstStyle/>
          <a:p>
            <a:r>
              <a:rPr lang="en-US" dirty="0"/>
              <a:t>Common Java Operators (Binary)</a:t>
            </a:r>
          </a:p>
        </p:txBody>
      </p:sp>
      <p:sp>
        <p:nvSpPr>
          <p:cNvPr id="4" name="Slide Number Placeholder 3">
            <a:extLst>
              <a:ext uri="{FF2B5EF4-FFF2-40B4-BE49-F238E27FC236}">
                <a16:creationId xmlns:a16="http://schemas.microsoft.com/office/drawing/2014/main" id="{7ABBEA9E-2FCF-4F4D-BD7A-D6F0C52BDB9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28BC2-ACA3-447C-A909-F3F49211C066}" type="slidenum">
              <a:rPr kumimoji="0" lang="en-US" sz="1200" b="0" i="0" u="none" strike="noStrike" kern="1200" cap="none" spc="0" normalizeH="0" baseline="0" noProof="0" smtClean="0">
                <a:ln>
                  <a:noFill/>
                </a:ln>
                <a:solidFill>
                  <a:srgbClr val="A0A1A0"/>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dirty="0">
              <a:ln>
                <a:noFill/>
              </a:ln>
              <a:solidFill>
                <a:srgbClr val="A0A1A0"/>
              </a:solidFill>
              <a:effectLst/>
              <a:uLnTx/>
              <a:uFillTx/>
              <a:latin typeface="Arial" panose="020B0604020202020204" pitchFamily="34" charset="0"/>
              <a:ea typeface="+mn-ea"/>
              <a:cs typeface="Arial" panose="020B0604020202020204" pitchFamily="34" charset="0"/>
            </a:endParaRPr>
          </a:p>
        </p:txBody>
      </p:sp>
      <p:graphicFrame>
        <p:nvGraphicFramePr>
          <p:cNvPr id="7" name="Content Placeholder 4">
            <a:extLst>
              <a:ext uri="{FF2B5EF4-FFF2-40B4-BE49-F238E27FC236}">
                <a16:creationId xmlns:a16="http://schemas.microsoft.com/office/drawing/2014/main" id="{CF679FCA-F9FE-4369-8266-E1BEC2D7A21A}"/>
              </a:ext>
            </a:extLst>
          </p:cNvPr>
          <p:cNvGraphicFramePr>
            <a:graphicFrameLocks noGrp="1"/>
          </p:cNvGraphicFramePr>
          <p:nvPr>
            <p:ph idx="1"/>
          </p:nvPr>
        </p:nvGraphicFramePr>
        <p:xfrm>
          <a:off x="379413" y="1481138"/>
          <a:ext cx="8493655" cy="4759960"/>
        </p:xfrm>
        <a:graphic>
          <a:graphicData uri="http://schemas.openxmlformats.org/drawingml/2006/table">
            <a:tbl>
              <a:tblPr firstRow="1" bandRow="1">
                <a:tableStyleId>{5C22544A-7EE6-4342-B048-85BDC9FD1C3A}</a:tableStyleId>
              </a:tblPr>
              <a:tblGrid>
                <a:gridCol w="2195111">
                  <a:extLst>
                    <a:ext uri="{9D8B030D-6E8A-4147-A177-3AD203B41FA5}">
                      <a16:colId xmlns:a16="http://schemas.microsoft.com/office/drawing/2014/main" val="1518270610"/>
                    </a:ext>
                  </a:extLst>
                </a:gridCol>
                <a:gridCol w="1826753">
                  <a:extLst>
                    <a:ext uri="{9D8B030D-6E8A-4147-A177-3AD203B41FA5}">
                      <a16:colId xmlns:a16="http://schemas.microsoft.com/office/drawing/2014/main" val="3916710713"/>
                    </a:ext>
                  </a:extLst>
                </a:gridCol>
                <a:gridCol w="4471791">
                  <a:extLst>
                    <a:ext uri="{9D8B030D-6E8A-4147-A177-3AD203B41FA5}">
                      <a16:colId xmlns:a16="http://schemas.microsoft.com/office/drawing/2014/main" val="3238090680"/>
                    </a:ext>
                  </a:extLst>
                </a:gridCol>
              </a:tblGrid>
              <a:tr h="370840">
                <a:tc>
                  <a:txBody>
                    <a:bodyPr/>
                    <a:lstStyle/>
                    <a:p>
                      <a:r>
                        <a:rPr lang="en-US" dirty="0"/>
                        <a:t>Name</a:t>
                      </a:r>
                    </a:p>
                  </a:txBody>
                  <a:tcPr/>
                </a:tc>
                <a:tc>
                  <a:txBody>
                    <a:bodyPr/>
                    <a:lstStyle/>
                    <a:p>
                      <a:r>
                        <a:rPr lang="en-US" dirty="0"/>
                        <a:t>Operator</a:t>
                      </a:r>
                    </a:p>
                  </a:txBody>
                  <a:tcPr/>
                </a:tc>
                <a:tc>
                  <a:txBody>
                    <a:bodyPr/>
                    <a:lstStyle/>
                    <a:p>
                      <a:r>
                        <a:rPr lang="en-US" dirty="0"/>
                        <a:t>Definition</a:t>
                      </a:r>
                    </a:p>
                  </a:txBody>
                  <a:tcPr/>
                </a:tc>
                <a:extLst>
                  <a:ext uri="{0D108BD9-81ED-4DB2-BD59-A6C34878D82A}">
                    <a16:rowId xmlns:a16="http://schemas.microsoft.com/office/drawing/2014/main" val="2896108126"/>
                  </a:ext>
                </a:extLst>
              </a:tr>
              <a:tr h="370840">
                <a:tc>
                  <a:txBody>
                    <a:bodyPr/>
                    <a:lstStyle/>
                    <a:p>
                      <a:pPr marL="285750" indent="-285750">
                        <a:buFont typeface="Arial" panose="020B0604020202020204" pitchFamily="34" charset="0"/>
                        <a:buChar char="•"/>
                      </a:pPr>
                      <a:r>
                        <a:rPr lang="en-US" dirty="0"/>
                        <a:t>Multiplication</a:t>
                      </a:r>
                    </a:p>
                    <a:p>
                      <a:pPr marL="285750" indent="-285750">
                        <a:buFont typeface="Arial" panose="020B0604020202020204" pitchFamily="34" charset="0"/>
                        <a:buChar char="•"/>
                      </a:pPr>
                      <a:r>
                        <a:rPr lang="en-US" dirty="0"/>
                        <a:t>Division</a:t>
                      </a:r>
                    </a:p>
                    <a:p>
                      <a:pPr marL="285750" indent="-285750">
                        <a:buFont typeface="Arial" panose="020B0604020202020204" pitchFamily="34" charset="0"/>
                        <a:buChar char="•"/>
                      </a:pPr>
                      <a:r>
                        <a:rPr lang="en-US" dirty="0"/>
                        <a:t>Modulus</a:t>
                      </a:r>
                    </a:p>
                  </a:txBody>
                  <a:tcPr/>
                </a:tc>
                <a:tc>
                  <a:txBody>
                    <a:bodyPr/>
                    <a:lstStyle/>
                    <a:p>
                      <a:r>
                        <a:rPr lang="en-US" dirty="0"/>
                        <a:t>x * y</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x / y</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x % y</a:t>
                      </a:r>
                    </a:p>
                  </a:txBody>
                  <a:tcPr/>
                </a:tc>
                <a:tc>
                  <a:txBody>
                    <a:bodyPr/>
                    <a:lstStyle/>
                    <a:p>
                      <a:r>
                        <a:rPr lang="en-US" dirty="0"/>
                        <a:t>Return product after multiplying x and y</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Return quotient and remainder after dividing x by y</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Return remainder after x is divided by y.</a:t>
                      </a:r>
                    </a:p>
                  </a:txBody>
                  <a:tcPr/>
                </a:tc>
                <a:extLst>
                  <a:ext uri="{0D108BD9-81ED-4DB2-BD59-A6C34878D82A}">
                    <a16:rowId xmlns:a16="http://schemas.microsoft.com/office/drawing/2014/main" val="2676476840"/>
                  </a:ext>
                </a:extLst>
              </a:tr>
              <a:tr h="370840">
                <a:tc>
                  <a:txBody>
                    <a:bodyPr/>
                    <a:lstStyle/>
                    <a:p>
                      <a:pPr marL="285750" indent="-285750">
                        <a:buFont typeface="Arial" panose="020B0604020202020204" pitchFamily="34" charset="0"/>
                        <a:buChar char="•"/>
                      </a:pPr>
                      <a:r>
                        <a:rPr lang="en-US" dirty="0"/>
                        <a:t>Addition</a:t>
                      </a:r>
                    </a:p>
                    <a:p>
                      <a:pPr marL="285750" indent="-285750">
                        <a:buFont typeface="Arial" panose="020B0604020202020204" pitchFamily="34" charset="0"/>
                        <a:buChar char="•"/>
                      </a:pPr>
                      <a:r>
                        <a:rPr lang="en-US" dirty="0"/>
                        <a:t>Subtraction</a:t>
                      </a:r>
                    </a:p>
                  </a:txBody>
                  <a:tcPr/>
                </a:tc>
                <a:tc>
                  <a:txBody>
                    <a:bodyPr/>
                    <a:lstStyle/>
                    <a:p>
                      <a:r>
                        <a:rPr lang="en-US" dirty="0"/>
                        <a:t>x + y</a:t>
                      </a:r>
                    </a:p>
                    <a:p>
                      <a:r>
                        <a:rPr lang="en-US" dirty="0"/>
                        <a:t>x – y</a:t>
                      </a:r>
                    </a:p>
                  </a:txBody>
                  <a:tcPr/>
                </a:tc>
                <a:tc>
                  <a:txBody>
                    <a:bodyPr/>
                    <a:lstStyle/>
                    <a:p>
                      <a:r>
                        <a:rPr lang="en-US" dirty="0"/>
                        <a:t>Return sum of x and y</a:t>
                      </a:r>
                    </a:p>
                    <a:p>
                      <a:r>
                        <a:rPr lang="en-US" dirty="0"/>
                        <a:t>Return difference between x and y</a:t>
                      </a:r>
                    </a:p>
                  </a:txBody>
                  <a:tcPr/>
                </a:tc>
                <a:extLst>
                  <a:ext uri="{0D108BD9-81ED-4DB2-BD59-A6C34878D82A}">
                    <a16:rowId xmlns:a16="http://schemas.microsoft.com/office/drawing/2014/main" val="380921674"/>
                  </a:ext>
                </a:extLst>
              </a:tr>
              <a:tr h="370840">
                <a:tc>
                  <a:txBody>
                    <a:bodyPr/>
                    <a:lstStyle/>
                    <a:p>
                      <a:pPr marL="285750" indent="-285750">
                        <a:buFont typeface="Arial" panose="020B0604020202020204" pitchFamily="34" charset="0"/>
                        <a:buChar char="•"/>
                      </a:pPr>
                      <a:r>
                        <a:rPr lang="en-US" dirty="0"/>
                        <a:t>Greater than</a:t>
                      </a:r>
                    </a:p>
                    <a:p>
                      <a:pPr marL="285750" indent="-285750">
                        <a:buFont typeface="Arial" panose="020B0604020202020204" pitchFamily="34" charset="0"/>
                        <a:buChar char="•"/>
                      </a:pPr>
                      <a:r>
                        <a:rPr lang="en-US" dirty="0"/>
                        <a:t>Less than</a:t>
                      </a:r>
                    </a:p>
                    <a:p>
                      <a:pPr marL="285750" indent="-285750">
                        <a:buFont typeface="Arial" panose="020B0604020202020204" pitchFamily="34" charset="0"/>
                        <a:buChar char="•"/>
                      </a:pPr>
                      <a:r>
                        <a:rPr lang="en-US" dirty="0"/>
                        <a:t>Greater or equal than</a:t>
                      </a:r>
                    </a:p>
                    <a:p>
                      <a:pPr marL="285750" indent="-285750">
                        <a:buFont typeface="Arial" panose="020B0604020202020204" pitchFamily="34" charset="0"/>
                        <a:buChar char="•"/>
                      </a:pPr>
                      <a:r>
                        <a:rPr lang="en-US" dirty="0"/>
                        <a:t>Less or equal than</a:t>
                      </a:r>
                    </a:p>
                    <a:p>
                      <a:pPr marL="285750" indent="-285750">
                        <a:buFont typeface="Arial" panose="020B0604020202020204" pitchFamily="34" charset="0"/>
                        <a:buChar char="•"/>
                      </a:pPr>
                      <a:r>
                        <a:rPr lang="en-US" dirty="0"/>
                        <a:t>Instance of</a:t>
                      </a:r>
                    </a:p>
                  </a:txBody>
                  <a:tcPr/>
                </a:tc>
                <a:tc>
                  <a:txBody>
                    <a:bodyPr/>
                    <a:lstStyle/>
                    <a:p>
                      <a:r>
                        <a:rPr lang="en-US" dirty="0"/>
                        <a:t>x &gt; y</a:t>
                      </a:r>
                    </a:p>
                    <a:p>
                      <a:r>
                        <a:rPr lang="en-US" dirty="0"/>
                        <a:t>x &lt; y</a:t>
                      </a:r>
                    </a:p>
                    <a:p>
                      <a:r>
                        <a:rPr lang="en-US" dirty="0"/>
                        <a:t>x &gt;= y </a:t>
                      </a:r>
                    </a:p>
                    <a:p>
                      <a:r>
                        <a:rPr lang="en-US" dirty="0"/>
                        <a:t>x &lt;= y</a:t>
                      </a:r>
                    </a:p>
                    <a:p>
                      <a:r>
                        <a:rPr lang="en-US" dirty="0"/>
                        <a:t>x instanceof y</a:t>
                      </a:r>
                    </a:p>
                  </a:txBody>
                  <a:tcPr/>
                </a:tc>
                <a:tc>
                  <a:txBody>
                    <a:bodyPr/>
                    <a:lstStyle/>
                    <a:p>
                      <a:r>
                        <a:rPr lang="en-US" dirty="0"/>
                        <a:t>Returns true if x is greater than y.</a:t>
                      </a:r>
                    </a:p>
                    <a:p>
                      <a:r>
                        <a:rPr lang="en-US" dirty="0"/>
                        <a:t>Returns true if x is less than y.</a:t>
                      </a:r>
                    </a:p>
                    <a:p>
                      <a:r>
                        <a:rPr lang="en-US" dirty="0"/>
                        <a:t>Returns true if x is greater than or equal to y.</a:t>
                      </a:r>
                    </a:p>
                    <a:p>
                      <a:r>
                        <a:rPr lang="en-US" dirty="0"/>
                        <a:t>Returns true if x is less than or equal to y.</a:t>
                      </a:r>
                    </a:p>
                    <a:p>
                      <a:r>
                        <a:rPr lang="en-US" dirty="0"/>
                        <a:t>Returns true if x is a type derived from y.</a:t>
                      </a:r>
                    </a:p>
                  </a:txBody>
                  <a:tcPr/>
                </a:tc>
                <a:extLst>
                  <a:ext uri="{0D108BD9-81ED-4DB2-BD59-A6C34878D82A}">
                    <a16:rowId xmlns:a16="http://schemas.microsoft.com/office/drawing/2014/main" val="850552294"/>
                  </a:ext>
                </a:extLst>
              </a:tr>
              <a:tr h="370840">
                <a:tc>
                  <a:txBody>
                    <a:bodyPr/>
                    <a:lstStyle/>
                    <a:p>
                      <a:pPr marL="285750" indent="-285750">
                        <a:buFont typeface="Arial" panose="020B0604020202020204" pitchFamily="34" charset="0"/>
                        <a:buChar char="•"/>
                      </a:pPr>
                      <a:r>
                        <a:rPr lang="en-US" dirty="0"/>
                        <a:t>Equal to</a:t>
                      </a:r>
                    </a:p>
                    <a:p>
                      <a:pPr marL="285750" indent="-285750">
                        <a:buFont typeface="Arial" panose="020B0604020202020204" pitchFamily="34" charset="0"/>
                        <a:buChar char="•"/>
                      </a:pPr>
                      <a:r>
                        <a:rPr lang="en-US" dirty="0"/>
                        <a:t>Not equal to</a:t>
                      </a:r>
                    </a:p>
                  </a:txBody>
                  <a:tcPr/>
                </a:tc>
                <a:tc>
                  <a:txBody>
                    <a:bodyPr/>
                    <a:lstStyle/>
                    <a:p>
                      <a:r>
                        <a:rPr lang="en-US" dirty="0"/>
                        <a:t>x == y</a:t>
                      </a:r>
                    </a:p>
                    <a:p>
                      <a:r>
                        <a:rPr lang="en-US" dirty="0"/>
                        <a:t>x != y</a:t>
                      </a:r>
                    </a:p>
                  </a:txBody>
                  <a:tcPr/>
                </a:tc>
                <a:tc>
                  <a:txBody>
                    <a:bodyPr/>
                    <a:lstStyle/>
                    <a:p>
                      <a:r>
                        <a:rPr lang="en-US" dirty="0"/>
                        <a:t>Returns true if two values/objects are the same</a:t>
                      </a:r>
                    </a:p>
                    <a:p>
                      <a:r>
                        <a:rPr lang="en-US" dirty="0"/>
                        <a:t>Returns true if two values/objects are not the same</a:t>
                      </a:r>
                    </a:p>
                  </a:txBody>
                  <a:tcPr/>
                </a:tc>
                <a:extLst>
                  <a:ext uri="{0D108BD9-81ED-4DB2-BD59-A6C34878D82A}">
                    <a16:rowId xmlns:a16="http://schemas.microsoft.com/office/drawing/2014/main" val="2169682219"/>
                  </a:ext>
                </a:extLst>
              </a:tr>
              <a:tr h="370840">
                <a:tc>
                  <a:txBody>
                    <a:bodyPr/>
                    <a:lstStyle/>
                    <a:p>
                      <a:pPr marL="285750" indent="-285750">
                        <a:buFont typeface="Arial" panose="020B0604020202020204" pitchFamily="34" charset="0"/>
                        <a:buChar char="•"/>
                      </a:pPr>
                      <a:r>
                        <a:rPr lang="en-US" dirty="0"/>
                        <a:t>Logical AND</a:t>
                      </a:r>
                    </a:p>
                    <a:p>
                      <a:pPr marL="285750" indent="-285750">
                        <a:buFont typeface="Arial" panose="020B0604020202020204" pitchFamily="34" charset="0"/>
                        <a:buChar char="•"/>
                      </a:pPr>
                      <a:r>
                        <a:rPr lang="en-US" dirty="0"/>
                        <a:t>Logical OR</a:t>
                      </a:r>
                    </a:p>
                  </a:txBody>
                  <a:tcPr/>
                </a:tc>
                <a:tc>
                  <a:txBody>
                    <a:bodyPr/>
                    <a:lstStyle/>
                    <a:p>
                      <a:r>
                        <a:rPr lang="en-US" dirty="0"/>
                        <a:t>expr &amp; expr</a:t>
                      </a:r>
                    </a:p>
                    <a:p>
                      <a:r>
                        <a:rPr lang="en-US" dirty="0"/>
                        <a:t>expr | expr</a:t>
                      </a:r>
                    </a:p>
                  </a:txBody>
                  <a:tcPr/>
                </a:tc>
                <a:tc>
                  <a:txBody>
                    <a:bodyPr/>
                    <a:lstStyle/>
                    <a:p>
                      <a:r>
                        <a:rPr lang="en-US" dirty="0"/>
                        <a:t>Only returns true if both operands are true.</a:t>
                      </a:r>
                    </a:p>
                    <a:p>
                      <a:r>
                        <a:rPr lang="en-US" dirty="0"/>
                        <a:t>Only returns false if both operands are false.</a:t>
                      </a:r>
                    </a:p>
                  </a:txBody>
                  <a:tcPr/>
                </a:tc>
                <a:extLst>
                  <a:ext uri="{0D108BD9-81ED-4DB2-BD59-A6C34878D82A}">
                    <a16:rowId xmlns:a16="http://schemas.microsoft.com/office/drawing/2014/main" val="440045779"/>
                  </a:ext>
                </a:extLst>
              </a:tr>
              <a:tr h="370840">
                <a:tc>
                  <a:txBody>
                    <a:bodyPr/>
                    <a:lstStyle/>
                    <a:p>
                      <a:pPr marL="285750" indent="-285750">
                        <a:buFont typeface="Arial" panose="020B0604020202020204" pitchFamily="34" charset="0"/>
                        <a:buChar char="•"/>
                      </a:pPr>
                      <a:r>
                        <a:rPr lang="en-US" dirty="0"/>
                        <a:t>Shortcut AND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Shortcut OR</a:t>
                      </a:r>
                    </a:p>
                  </a:txBody>
                  <a:tcPr/>
                </a:tc>
                <a:tc>
                  <a:txBody>
                    <a:bodyPr/>
                    <a:lstStyle/>
                    <a:p>
                      <a:r>
                        <a:rPr lang="en-US" dirty="0"/>
                        <a:t>expr &amp;&amp; expr</a:t>
                      </a:r>
                    </a:p>
                    <a:p>
                      <a:endParaRPr lang="en-US" dirty="0"/>
                    </a:p>
                    <a:p>
                      <a:r>
                        <a:rPr lang="en-US" dirty="0"/>
                        <a:t>expr || expr</a:t>
                      </a:r>
                    </a:p>
                  </a:txBody>
                  <a:tcPr/>
                </a:tc>
                <a:tc>
                  <a:txBody>
                    <a:bodyPr/>
                    <a:lstStyle/>
                    <a:p>
                      <a:r>
                        <a:rPr lang="en-US" dirty="0"/>
                        <a:t>Same as logical AND; but skips second evaluation if first expression is false.</a:t>
                      </a:r>
                    </a:p>
                    <a:p>
                      <a:r>
                        <a:rPr lang="en-US" dirty="0"/>
                        <a:t>Same as logical OR; but skips second evaluation if first expression is true.</a:t>
                      </a:r>
                    </a:p>
                  </a:txBody>
                  <a:tcPr/>
                </a:tc>
                <a:extLst>
                  <a:ext uri="{0D108BD9-81ED-4DB2-BD59-A6C34878D82A}">
                    <a16:rowId xmlns:a16="http://schemas.microsoft.com/office/drawing/2014/main" val="1963867900"/>
                  </a:ext>
                </a:extLst>
              </a:tr>
            </a:tbl>
          </a:graphicData>
        </a:graphic>
      </p:graphicFrame>
    </p:spTree>
    <p:extLst>
      <p:ext uri="{BB962C8B-B14F-4D97-AF65-F5344CB8AC3E}">
        <p14:creationId xmlns:p14="http://schemas.microsoft.com/office/powerpoint/2010/main" val="31832401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97EDC-C968-4146-8EBD-666AE92291AA}"/>
              </a:ext>
            </a:extLst>
          </p:cNvPr>
          <p:cNvSpPr>
            <a:spLocks noGrp="1"/>
          </p:cNvSpPr>
          <p:nvPr>
            <p:ph type="title"/>
          </p:nvPr>
        </p:nvSpPr>
        <p:spPr/>
        <p:txBody>
          <a:bodyPr/>
          <a:lstStyle/>
          <a:p>
            <a:r>
              <a:rPr lang="en-US" dirty="0"/>
              <a:t>Assignment Operations</a:t>
            </a:r>
          </a:p>
        </p:txBody>
      </p:sp>
      <p:sp>
        <p:nvSpPr>
          <p:cNvPr id="4" name="Slide Number Placeholder 3">
            <a:extLst>
              <a:ext uri="{FF2B5EF4-FFF2-40B4-BE49-F238E27FC236}">
                <a16:creationId xmlns:a16="http://schemas.microsoft.com/office/drawing/2014/main" id="{7ABBEA9E-2FCF-4F4D-BD7A-D6F0C52BDB9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28BC2-ACA3-447C-A909-F3F49211C066}" type="slidenum">
              <a:rPr kumimoji="0" lang="en-US" sz="1200" b="0" i="0" u="none" strike="noStrike" kern="1200" cap="none" spc="0" normalizeH="0" baseline="0" noProof="0" smtClean="0">
                <a:ln>
                  <a:noFill/>
                </a:ln>
                <a:solidFill>
                  <a:srgbClr val="A0A1A0"/>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dirty="0">
              <a:ln>
                <a:noFill/>
              </a:ln>
              <a:solidFill>
                <a:srgbClr val="A0A1A0"/>
              </a:solidFill>
              <a:effectLst/>
              <a:uLnTx/>
              <a:uFillTx/>
              <a:latin typeface="Arial" panose="020B0604020202020204" pitchFamily="34" charset="0"/>
              <a:ea typeface="+mn-ea"/>
              <a:cs typeface="Arial" panose="020B0604020202020204" pitchFamily="34" charset="0"/>
            </a:endParaRPr>
          </a:p>
        </p:txBody>
      </p:sp>
      <p:graphicFrame>
        <p:nvGraphicFramePr>
          <p:cNvPr id="7" name="Content Placeholder 4">
            <a:extLst>
              <a:ext uri="{FF2B5EF4-FFF2-40B4-BE49-F238E27FC236}">
                <a16:creationId xmlns:a16="http://schemas.microsoft.com/office/drawing/2014/main" id="{CF679FCA-F9FE-4369-8266-E1BEC2D7A21A}"/>
              </a:ext>
            </a:extLst>
          </p:cNvPr>
          <p:cNvGraphicFramePr>
            <a:graphicFrameLocks noGrp="1"/>
          </p:cNvGraphicFramePr>
          <p:nvPr>
            <p:ph idx="1"/>
          </p:nvPr>
        </p:nvGraphicFramePr>
        <p:xfrm>
          <a:off x="379950" y="3337711"/>
          <a:ext cx="8493655" cy="2814320"/>
        </p:xfrm>
        <a:graphic>
          <a:graphicData uri="http://schemas.openxmlformats.org/drawingml/2006/table">
            <a:tbl>
              <a:tblPr firstRow="1" bandRow="1">
                <a:tableStyleId>{5C22544A-7EE6-4342-B048-85BDC9FD1C3A}</a:tableStyleId>
              </a:tblPr>
              <a:tblGrid>
                <a:gridCol w="2301106">
                  <a:extLst>
                    <a:ext uri="{9D8B030D-6E8A-4147-A177-3AD203B41FA5}">
                      <a16:colId xmlns:a16="http://schemas.microsoft.com/office/drawing/2014/main" val="239001462"/>
                    </a:ext>
                  </a:extLst>
                </a:gridCol>
                <a:gridCol w="2414727">
                  <a:extLst>
                    <a:ext uri="{9D8B030D-6E8A-4147-A177-3AD203B41FA5}">
                      <a16:colId xmlns:a16="http://schemas.microsoft.com/office/drawing/2014/main" val="3916710713"/>
                    </a:ext>
                  </a:extLst>
                </a:gridCol>
                <a:gridCol w="3777822">
                  <a:extLst>
                    <a:ext uri="{9D8B030D-6E8A-4147-A177-3AD203B41FA5}">
                      <a16:colId xmlns:a16="http://schemas.microsoft.com/office/drawing/2014/main" val="3238090680"/>
                    </a:ext>
                  </a:extLst>
                </a:gridCol>
              </a:tblGrid>
              <a:tr h="370840">
                <a:tc>
                  <a:txBody>
                    <a:bodyPr/>
                    <a:lstStyle/>
                    <a:p>
                      <a:r>
                        <a:rPr lang="en-US" dirty="0"/>
                        <a:t>Name</a:t>
                      </a:r>
                    </a:p>
                  </a:txBody>
                  <a:tcPr/>
                </a:tc>
                <a:tc>
                  <a:txBody>
                    <a:bodyPr/>
                    <a:lstStyle/>
                    <a:p>
                      <a:r>
                        <a:rPr lang="en-US" dirty="0"/>
                        <a:t>Operator</a:t>
                      </a:r>
                    </a:p>
                  </a:txBody>
                  <a:tcPr/>
                </a:tc>
                <a:tc>
                  <a:txBody>
                    <a:bodyPr/>
                    <a:lstStyle/>
                    <a:p>
                      <a:r>
                        <a:rPr lang="en-US" dirty="0"/>
                        <a:t>Definition</a:t>
                      </a:r>
                    </a:p>
                  </a:txBody>
                  <a:tcPr/>
                </a:tc>
                <a:extLst>
                  <a:ext uri="{0D108BD9-81ED-4DB2-BD59-A6C34878D82A}">
                    <a16:rowId xmlns:a16="http://schemas.microsoft.com/office/drawing/2014/main" val="2896108126"/>
                  </a:ext>
                </a:extLst>
              </a:tr>
              <a:tr h="370840">
                <a:tc>
                  <a:txBody>
                    <a:bodyPr/>
                    <a:lstStyle/>
                    <a:p>
                      <a:r>
                        <a:rPr lang="en-US" dirty="0"/>
                        <a:t>Assignment Operator</a:t>
                      </a:r>
                    </a:p>
                  </a:txBody>
                  <a:tcPr/>
                </a:tc>
                <a:tc>
                  <a:txBody>
                    <a:bodyPr/>
                    <a:lstStyle/>
                    <a:p>
                      <a:r>
                        <a:rPr lang="en-US" dirty="0"/>
                        <a:t>x = y</a:t>
                      </a:r>
                    </a:p>
                  </a:txBody>
                  <a:tcPr/>
                </a:tc>
                <a:tc>
                  <a:txBody>
                    <a:bodyPr/>
                    <a:lstStyle/>
                    <a:p>
                      <a:r>
                        <a:rPr lang="en-US" dirty="0"/>
                        <a:t>Assign the value of y to x</a:t>
                      </a:r>
                    </a:p>
                  </a:txBody>
                  <a:tcPr/>
                </a:tc>
                <a:extLst>
                  <a:ext uri="{0D108BD9-81ED-4DB2-BD59-A6C34878D82A}">
                    <a16:rowId xmlns:a16="http://schemas.microsoft.com/office/drawing/2014/main" val="2676476840"/>
                  </a:ext>
                </a:extLst>
              </a:tr>
              <a:tr h="370840">
                <a:tc>
                  <a:txBody>
                    <a:bodyPr/>
                    <a:lstStyle/>
                    <a:p>
                      <a:r>
                        <a:rPr lang="en-US" dirty="0"/>
                        <a:t>Compound Assignment (addition)</a:t>
                      </a:r>
                    </a:p>
                  </a:txBody>
                  <a:tcPr/>
                </a:tc>
                <a:tc>
                  <a:txBody>
                    <a:bodyPr/>
                    <a:lstStyle/>
                    <a:p>
                      <a:r>
                        <a:rPr lang="en-US" dirty="0"/>
                        <a:t>x += y</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Shorthand for: x = x + y</a:t>
                      </a:r>
                    </a:p>
                  </a:txBody>
                  <a:tcPr/>
                </a:tc>
                <a:tc>
                  <a:txBody>
                    <a:bodyPr/>
                    <a:lstStyle/>
                    <a:p>
                      <a:r>
                        <a:rPr lang="en-US" dirty="0"/>
                        <a:t>Add x and y then reassign x to the new value</a:t>
                      </a:r>
                    </a:p>
                  </a:txBody>
                  <a:tcPr/>
                </a:tc>
                <a:extLst>
                  <a:ext uri="{0D108BD9-81ED-4DB2-BD59-A6C34878D82A}">
                    <a16:rowId xmlns:a16="http://schemas.microsoft.com/office/drawing/2014/main" val="380921674"/>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Compound Assignment (subtraction)</a:t>
                      </a:r>
                    </a:p>
                  </a:txBody>
                  <a:tcPr/>
                </a:tc>
                <a:tc>
                  <a:txBody>
                    <a:bodyPr/>
                    <a:lstStyle/>
                    <a:p>
                      <a:r>
                        <a:rPr lang="en-US" dirty="0"/>
                        <a:t>x -= y</a:t>
                      </a:r>
                    </a:p>
                    <a:p>
                      <a:r>
                        <a:rPr lang="en-US" dirty="0"/>
                        <a:t>Shorthand for: x = x - y</a:t>
                      </a:r>
                    </a:p>
                  </a:txBody>
                  <a:tcPr/>
                </a:tc>
                <a:tc>
                  <a:txBody>
                    <a:bodyPr/>
                    <a:lstStyle/>
                    <a:p>
                      <a:r>
                        <a:rPr lang="en-US" dirty="0"/>
                        <a:t>Subtract y from x then reassign x to the new value</a:t>
                      </a:r>
                    </a:p>
                  </a:txBody>
                  <a:tcPr/>
                </a:tc>
                <a:extLst>
                  <a:ext uri="{0D108BD9-81ED-4DB2-BD59-A6C34878D82A}">
                    <a16:rowId xmlns:a16="http://schemas.microsoft.com/office/drawing/2014/main" val="850552294"/>
                  </a:ext>
                </a:extLst>
              </a:tr>
              <a:tr h="370840">
                <a:tc>
                  <a:txBody>
                    <a:bodyPr/>
                    <a:lstStyle/>
                    <a:p>
                      <a:r>
                        <a:rPr lang="en-US" dirty="0"/>
                        <a:t>Compound Assignment (Multiplication)</a:t>
                      </a:r>
                    </a:p>
                  </a:txBody>
                  <a:tcPr/>
                </a:tc>
                <a:tc>
                  <a:txBody>
                    <a:bodyPr/>
                    <a:lstStyle/>
                    <a:p>
                      <a:r>
                        <a:rPr lang="en-US" dirty="0"/>
                        <a:t>x *= y</a:t>
                      </a:r>
                    </a:p>
                    <a:p>
                      <a:r>
                        <a:rPr lang="en-US" dirty="0"/>
                        <a:t>Shorthand for: x = x * y</a:t>
                      </a:r>
                    </a:p>
                  </a:txBody>
                  <a:tcPr/>
                </a:tc>
                <a:tc>
                  <a:txBody>
                    <a:bodyPr/>
                    <a:lstStyle/>
                    <a:p>
                      <a:r>
                        <a:rPr lang="en-US" dirty="0"/>
                        <a:t>Multiply x and y then reassign x to the new value</a:t>
                      </a:r>
                    </a:p>
                  </a:txBody>
                  <a:tcPr/>
                </a:tc>
                <a:extLst>
                  <a:ext uri="{0D108BD9-81ED-4DB2-BD59-A6C34878D82A}">
                    <a16:rowId xmlns:a16="http://schemas.microsoft.com/office/drawing/2014/main" val="2169682219"/>
                  </a:ext>
                </a:extLst>
              </a:tr>
              <a:tr h="370840">
                <a:tc>
                  <a:txBody>
                    <a:bodyPr/>
                    <a:lstStyle/>
                    <a:p>
                      <a:r>
                        <a:rPr lang="en-US" dirty="0"/>
                        <a:t>Compound Assignment (Division)</a:t>
                      </a:r>
                    </a:p>
                  </a:txBody>
                  <a:tcPr/>
                </a:tc>
                <a:tc>
                  <a:txBody>
                    <a:bodyPr/>
                    <a:lstStyle/>
                    <a:p>
                      <a:r>
                        <a:rPr lang="en-US" dirty="0"/>
                        <a:t>x /= y</a:t>
                      </a:r>
                    </a:p>
                    <a:p>
                      <a:r>
                        <a:rPr lang="en-US" dirty="0"/>
                        <a:t>Shorthand for: x = x / y</a:t>
                      </a:r>
                    </a:p>
                  </a:txBody>
                  <a:tcPr/>
                </a:tc>
                <a:tc>
                  <a:txBody>
                    <a:bodyPr/>
                    <a:lstStyle/>
                    <a:p>
                      <a:r>
                        <a:rPr lang="en-US" dirty="0"/>
                        <a:t>Divide x by y then reassign x to the new value</a:t>
                      </a:r>
                    </a:p>
                  </a:txBody>
                  <a:tcPr/>
                </a:tc>
                <a:extLst>
                  <a:ext uri="{0D108BD9-81ED-4DB2-BD59-A6C34878D82A}">
                    <a16:rowId xmlns:a16="http://schemas.microsoft.com/office/drawing/2014/main" val="440045779"/>
                  </a:ext>
                </a:extLst>
              </a:tr>
            </a:tbl>
          </a:graphicData>
        </a:graphic>
      </p:graphicFrame>
      <p:sp>
        <p:nvSpPr>
          <p:cNvPr id="5" name="Google Shape;226;p17">
            <a:extLst>
              <a:ext uri="{FF2B5EF4-FFF2-40B4-BE49-F238E27FC236}">
                <a16:creationId xmlns:a16="http://schemas.microsoft.com/office/drawing/2014/main" id="{4A3AC0B6-8F1D-4575-A274-B45752AA511F}"/>
              </a:ext>
            </a:extLst>
          </p:cNvPr>
          <p:cNvSpPr txBox="1">
            <a:spLocks/>
          </p:cNvSpPr>
          <p:nvPr/>
        </p:nvSpPr>
        <p:spPr>
          <a:xfrm>
            <a:off x="379950" y="1348402"/>
            <a:ext cx="8384100" cy="1596171"/>
          </a:xfrm>
          <a:prstGeom prst="rect">
            <a:avLst/>
          </a:prstGeom>
          <a:noFill/>
          <a:ln>
            <a:noFill/>
          </a:ln>
        </p:spPr>
        <p:txBody>
          <a:bodyPr spcFirstLastPara="1" wrap="square" lIns="91425" tIns="45700" rIns="91425" bIns="45700" anchor="t" anchorCtr="0">
            <a:normAutofit lnSpcReduction="10000"/>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100000"/>
              </a:lnSpc>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100000"/>
              </a:lnSpc>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9pPr>
          </a:lstStyle>
          <a:p>
            <a:pPr marL="342900" indent="-342900">
              <a:lnSpc>
                <a:spcPct val="90000"/>
              </a:lnSpc>
              <a:spcBef>
                <a:spcPts val="0"/>
              </a:spcBef>
            </a:pPr>
            <a:r>
              <a:rPr lang="en-US" sz="2400" dirty="0"/>
              <a:t>Note that all Assignment operations have the same level of precedence. Though it can be said that assignment operators are “binary operations”, that is not completely accurate… They are better described as their own category.</a:t>
            </a:r>
          </a:p>
        </p:txBody>
      </p:sp>
    </p:spTree>
    <p:extLst>
      <p:ext uri="{BB962C8B-B14F-4D97-AF65-F5344CB8AC3E}">
        <p14:creationId xmlns:p14="http://schemas.microsoft.com/office/powerpoint/2010/main" val="3904708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DA5A4-D5AE-AE61-77D7-F733E9FDF23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8CECD7-759C-E4EE-336F-44B273D161D7}"/>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33</a:t>
            </a:fld>
            <a:endParaRPr lang="en-US"/>
          </a:p>
        </p:txBody>
      </p:sp>
      <p:sp>
        <p:nvSpPr>
          <p:cNvPr id="4" name="Google Shape;212;p15">
            <a:extLst>
              <a:ext uri="{FF2B5EF4-FFF2-40B4-BE49-F238E27FC236}">
                <a16:creationId xmlns:a16="http://schemas.microsoft.com/office/drawing/2014/main" id="{A5DF9DF9-D47B-99F3-C771-8F3D6C3ADF88}"/>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Class Introduction</a:t>
            </a:r>
          </a:p>
        </p:txBody>
      </p:sp>
      <p:pic>
        <p:nvPicPr>
          <p:cNvPr id="6" name="Picture 5">
            <a:extLst>
              <a:ext uri="{FF2B5EF4-FFF2-40B4-BE49-F238E27FC236}">
                <a16:creationId xmlns:a16="http://schemas.microsoft.com/office/drawing/2014/main" id="{BB578E8C-117A-4722-9DB6-69315FC02FC5}"/>
              </a:ext>
            </a:extLst>
          </p:cNvPr>
          <p:cNvPicPr>
            <a:picLocks noChangeAspect="1"/>
          </p:cNvPicPr>
          <p:nvPr/>
        </p:nvPicPr>
        <p:blipFill>
          <a:blip r:embed="rId2"/>
          <a:stretch>
            <a:fillRect/>
          </a:stretch>
        </p:blipFill>
        <p:spPr>
          <a:xfrm>
            <a:off x="7036646" y="0"/>
            <a:ext cx="2107354" cy="773112"/>
          </a:xfrm>
          <a:prstGeom prst="rect">
            <a:avLst/>
          </a:prstGeom>
        </p:spPr>
      </p:pic>
    </p:spTree>
    <p:extLst>
      <p:ext uri="{BB962C8B-B14F-4D97-AF65-F5344CB8AC3E}">
        <p14:creationId xmlns:p14="http://schemas.microsoft.com/office/powerpoint/2010/main" val="4762744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52">
          <a:extLst>
            <a:ext uri="{FF2B5EF4-FFF2-40B4-BE49-F238E27FC236}">
              <a16:creationId xmlns:a16="http://schemas.microsoft.com/office/drawing/2014/main" id="{53488705-7BD6-EA1B-FD70-94210AA277AA}"/>
            </a:ext>
          </a:extLst>
        </p:cNvPr>
        <p:cNvGrpSpPr/>
        <p:nvPr/>
      </p:nvGrpSpPr>
      <p:grpSpPr>
        <a:xfrm>
          <a:off x="0" y="0"/>
          <a:ext cx="0" cy="0"/>
          <a:chOff x="0" y="0"/>
          <a:chExt cx="0" cy="0"/>
        </a:xfrm>
      </p:grpSpPr>
      <p:sp>
        <p:nvSpPr>
          <p:cNvPr id="253" name="Google Shape;253;p21">
            <a:extLst>
              <a:ext uri="{FF2B5EF4-FFF2-40B4-BE49-F238E27FC236}">
                <a16:creationId xmlns:a16="http://schemas.microsoft.com/office/drawing/2014/main" id="{4B72C0C9-D354-89D0-9939-191F308B1C02}"/>
              </a:ext>
            </a:extLst>
          </p:cNvPr>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FFFFFF"/>
              </a:buClr>
              <a:buSzPts val="2400"/>
              <a:buFont typeface="Arial"/>
              <a:buNone/>
            </a:pPr>
            <a:r>
              <a:rPr lang="en-US">
                <a:solidFill>
                  <a:srgbClr val="FFFFFF"/>
                </a:solidFill>
                <a:latin typeface="Arial"/>
                <a:ea typeface="Arial"/>
                <a:cs typeface="Arial"/>
                <a:sym typeface="Arial"/>
              </a:rPr>
              <a:t>Java Classes</a:t>
            </a:r>
            <a:endParaRPr/>
          </a:p>
        </p:txBody>
      </p:sp>
      <p:sp>
        <p:nvSpPr>
          <p:cNvPr id="254" name="Google Shape;254;p21">
            <a:extLst>
              <a:ext uri="{FF2B5EF4-FFF2-40B4-BE49-F238E27FC236}">
                <a16:creationId xmlns:a16="http://schemas.microsoft.com/office/drawing/2014/main" id="{B7B48F4D-E7F0-6280-4FC8-53BD075DABC6}"/>
              </a:ext>
            </a:extLst>
          </p:cNvPr>
          <p:cNvSpPr txBox="1">
            <a:spLocks noGrp="1"/>
          </p:cNvSpPr>
          <p:nvPr>
            <p:ph type="body" idx="1"/>
          </p:nvPr>
        </p:nvSpPr>
        <p:spPr>
          <a:xfrm>
            <a:off x="380010" y="1481446"/>
            <a:ext cx="8383980" cy="4525963"/>
          </a:xfrm>
          <a:prstGeom prst="rect">
            <a:avLst/>
          </a:prstGeom>
          <a:noFill/>
          <a:ln>
            <a:noFill/>
          </a:ln>
        </p:spPr>
        <p:txBody>
          <a:bodyPr spcFirstLastPara="1" wrap="square" lIns="91425" tIns="45700" rIns="91425" bIns="45700" anchor="t" anchorCtr="0">
            <a:noAutofit/>
          </a:bodyPr>
          <a:lstStyle/>
          <a:p>
            <a:pPr marL="343080" lvl="0" indent="-342720" algn="l" rtl="0">
              <a:spcBef>
                <a:spcPts val="0"/>
              </a:spcBef>
              <a:spcAft>
                <a:spcPts val="0"/>
              </a:spcAft>
              <a:buClr>
                <a:srgbClr val="F36A25"/>
              </a:buClr>
              <a:buSzPts val="2800"/>
              <a:buFont typeface="Arial"/>
              <a:buChar char="•"/>
            </a:pPr>
            <a:r>
              <a:rPr lang="en-US" dirty="0">
                <a:solidFill>
                  <a:srgbClr val="474C55"/>
                </a:solidFill>
                <a:latin typeface="Arial"/>
                <a:ea typeface="Arial"/>
                <a:cs typeface="Arial"/>
                <a:sym typeface="Arial"/>
              </a:rPr>
              <a:t>Java </a:t>
            </a:r>
            <a:r>
              <a:rPr lang="en-US" b="1" u="sng" dirty="0">
                <a:solidFill>
                  <a:srgbClr val="474C55"/>
                </a:solidFill>
                <a:latin typeface="Arial"/>
                <a:ea typeface="Arial"/>
                <a:cs typeface="Arial"/>
                <a:sym typeface="Arial"/>
              </a:rPr>
              <a:t>classes</a:t>
            </a:r>
            <a:r>
              <a:rPr lang="en-US" dirty="0">
                <a:solidFill>
                  <a:srgbClr val="474C55"/>
                </a:solidFill>
                <a:latin typeface="Arial"/>
                <a:ea typeface="Arial"/>
                <a:cs typeface="Arial"/>
                <a:sym typeface="Arial"/>
              </a:rPr>
              <a:t> are blueprints used to </a:t>
            </a:r>
            <a:r>
              <a:rPr lang="en-US" i="1" dirty="0">
                <a:solidFill>
                  <a:srgbClr val="474C55"/>
                </a:solidFill>
                <a:latin typeface="Arial"/>
                <a:ea typeface="Arial"/>
                <a:cs typeface="Arial"/>
                <a:sym typeface="Arial"/>
              </a:rPr>
              <a:t>instantiate</a:t>
            </a:r>
            <a:r>
              <a:rPr lang="en-US" dirty="0">
                <a:solidFill>
                  <a:srgbClr val="474C55"/>
                </a:solidFill>
                <a:latin typeface="Arial"/>
                <a:ea typeface="Arial"/>
                <a:cs typeface="Arial"/>
                <a:sym typeface="Arial"/>
              </a:rPr>
              <a:t> </a:t>
            </a:r>
            <a:r>
              <a:rPr lang="en-US" b="1" u="sng" dirty="0">
                <a:solidFill>
                  <a:srgbClr val="474C55"/>
                </a:solidFill>
                <a:sym typeface="Arial"/>
              </a:rPr>
              <a:t>objects</a:t>
            </a:r>
            <a:endParaRPr b="1" u="sng" dirty="0"/>
          </a:p>
          <a:p>
            <a:pPr marL="342900" lvl="0" indent="-165100" algn="l" rtl="0">
              <a:lnSpc>
                <a:spcPct val="100000"/>
              </a:lnSpc>
              <a:spcBef>
                <a:spcPts val="560"/>
              </a:spcBef>
              <a:spcAft>
                <a:spcPts val="0"/>
              </a:spcAft>
              <a:buSzPts val="2800"/>
              <a:buNone/>
            </a:pPr>
            <a:endParaRPr dirty="0">
              <a:solidFill>
                <a:srgbClr val="474C55"/>
              </a:solidFill>
              <a:latin typeface="Arial"/>
              <a:ea typeface="Arial"/>
              <a:cs typeface="Arial"/>
              <a:sym typeface="Arial"/>
            </a:endParaRPr>
          </a:p>
          <a:p>
            <a:pPr marL="343080" lvl="0" indent="-342720" algn="l" rtl="0">
              <a:spcBef>
                <a:spcPts val="560"/>
              </a:spcBef>
              <a:spcAft>
                <a:spcPts val="0"/>
              </a:spcAft>
              <a:buClr>
                <a:srgbClr val="F36A25"/>
              </a:buClr>
              <a:buSzPts val="2800"/>
              <a:buFont typeface="Arial"/>
              <a:buChar char="•"/>
            </a:pPr>
            <a:r>
              <a:rPr lang="en-US" dirty="0">
                <a:solidFill>
                  <a:srgbClr val="474C55"/>
                </a:solidFill>
                <a:latin typeface="Arial"/>
                <a:ea typeface="Arial"/>
                <a:cs typeface="Arial"/>
                <a:sym typeface="Arial"/>
              </a:rPr>
              <a:t>Classes have </a:t>
            </a:r>
            <a:r>
              <a:rPr lang="en-US" i="1" dirty="0">
                <a:solidFill>
                  <a:srgbClr val="474C55"/>
                </a:solidFill>
                <a:latin typeface="Arial"/>
                <a:ea typeface="Arial"/>
                <a:cs typeface="Arial"/>
                <a:sym typeface="Arial"/>
              </a:rPr>
              <a:t>states</a:t>
            </a:r>
            <a:r>
              <a:rPr lang="en-US" dirty="0">
                <a:solidFill>
                  <a:srgbClr val="474C55"/>
                </a:solidFill>
                <a:latin typeface="Arial"/>
                <a:ea typeface="Arial"/>
                <a:cs typeface="Arial"/>
                <a:sym typeface="Arial"/>
              </a:rPr>
              <a:t> (variables) and </a:t>
            </a:r>
            <a:r>
              <a:rPr lang="en-US" i="1" dirty="0">
                <a:solidFill>
                  <a:srgbClr val="474C55"/>
                </a:solidFill>
                <a:latin typeface="Arial"/>
                <a:ea typeface="Arial"/>
                <a:cs typeface="Arial"/>
                <a:sym typeface="Arial"/>
              </a:rPr>
              <a:t>behaviors</a:t>
            </a:r>
            <a:r>
              <a:rPr lang="en-US" dirty="0">
                <a:solidFill>
                  <a:srgbClr val="474C55"/>
                </a:solidFill>
                <a:latin typeface="Arial"/>
                <a:ea typeface="Arial"/>
                <a:cs typeface="Arial"/>
                <a:sym typeface="Arial"/>
              </a:rPr>
              <a:t> (methods)</a:t>
            </a:r>
            <a:endParaRPr dirty="0"/>
          </a:p>
          <a:p>
            <a:pPr marL="342900" lvl="0" indent="-165100" algn="l" rtl="0">
              <a:lnSpc>
                <a:spcPct val="100000"/>
              </a:lnSpc>
              <a:spcBef>
                <a:spcPts val="560"/>
              </a:spcBef>
              <a:spcAft>
                <a:spcPts val="0"/>
              </a:spcAft>
              <a:buSzPts val="2800"/>
              <a:buNone/>
            </a:pPr>
            <a:endParaRPr dirty="0">
              <a:solidFill>
                <a:srgbClr val="474C55"/>
              </a:solidFill>
              <a:latin typeface="Arial"/>
              <a:ea typeface="Arial"/>
              <a:cs typeface="Arial"/>
              <a:sym typeface="Arial"/>
            </a:endParaRPr>
          </a:p>
          <a:p>
            <a:pPr marL="343080" lvl="0" indent="-342720" algn="l" rtl="0">
              <a:spcBef>
                <a:spcPts val="560"/>
              </a:spcBef>
              <a:spcAft>
                <a:spcPts val="0"/>
              </a:spcAft>
              <a:buClr>
                <a:srgbClr val="F36A25"/>
              </a:buClr>
              <a:buSzPts val="2800"/>
              <a:buFont typeface="Arial"/>
              <a:buChar char="•"/>
            </a:pPr>
            <a:r>
              <a:rPr lang="en-US" dirty="0">
                <a:solidFill>
                  <a:srgbClr val="474C55"/>
                </a:solidFill>
                <a:latin typeface="Arial"/>
                <a:ea typeface="Arial"/>
                <a:cs typeface="Arial"/>
                <a:sym typeface="Arial"/>
              </a:rPr>
              <a:t>Behaviors and states are shared across all instances of a class, but the values of variables may be different</a:t>
            </a:r>
            <a:endParaRPr dirty="0"/>
          </a:p>
          <a:p>
            <a:pPr marL="342900" lvl="0" indent="-165100" algn="l" rtl="0">
              <a:spcBef>
                <a:spcPts val="560"/>
              </a:spcBef>
              <a:spcAft>
                <a:spcPts val="0"/>
              </a:spcAft>
              <a:buSzPts val="2800"/>
              <a:buNone/>
            </a:pPr>
            <a:endParaRPr dirty="0"/>
          </a:p>
        </p:txBody>
      </p:sp>
      <p:sp>
        <p:nvSpPr>
          <p:cNvPr id="255" name="Google Shape;255;p21">
            <a:extLst>
              <a:ext uri="{FF2B5EF4-FFF2-40B4-BE49-F238E27FC236}">
                <a16:creationId xmlns:a16="http://schemas.microsoft.com/office/drawing/2014/main" id="{C021316E-896D-029A-C111-516DECA02B3D}"/>
              </a:ext>
            </a:extLst>
          </p:cNvPr>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34</a:t>
            </a:fld>
            <a:endParaRPr/>
          </a:p>
        </p:txBody>
      </p:sp>
    </p:spTree>
    <p:extLst>
      <p:ext uri="{BB962C8B-B14F-4D97-AF65-F5344CB8AC3E}">
        <p14:creationId xmlns:p14="http://schemas.microsoft.com/office/powerpoint/2010/main" val="3468249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21"/>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FFFFFF"/>
              </a:buClr>
              <a:buSzPts val="2400"/>
              <a:buFont typeface="Arial"/>
              <a:buNone/>
            </a:pPr>
            <a:r>
              <a:rPr lang="en-US" dirty="0">
                <a:solidFill>
                  <a:srgbClr val="FFFFFF"/>
                </a:solidFill>
                <a:latin typeface="Arial"/>
                <a:ea typeface="Arial"/>
                <a:cs typeface="Arial"/>
                <a:sym typeface="Arial"/>
              </a:rPr>
              <a:t>Anatomy of a Class</a:t>
            </a:r>
            <a:endParaRPr dirty="0"/>
          </a:p>
        </p:txBody>
      </p:sp>
      <p:sp>
        <p:nvSpPr>
          <p:cNvPr id="254" name="Google Shape;254;p21"/>
          <p:cNvSpPr txBox="1">
            <a:spLocks noGrp="1"/>
          </p:cNvSpPr>
          <p:nvPr>
            <p:ph type="body" idx="1"/>
          </p:nvPr>
        </p:nvSpPr>
        <p:spPr>
          <a:xfrm>
            <a:off x="380010" y="1481446"/>
            <a:ext cx="8383980" cy="4525963"/>
          </a:xfrm>
          <a:prstGeom prst="rect">
            <a:avLst/>
          </a:prstGeom>
          <a:noFill/>
          <a:ln>
            <a:noFill/>
          </a:ln>
        </p:spPr>
        <p:txBody>
          <a:bodyPr spcFirstLastPara="1" wrap="square" lIns="91425" tIns="45700" rIns="91425" bIns="45700" anchor="t" anchorCtr="0">
            <a:noAutofit/>
          </a:bodyPr>
          <a:lstStyle/>
          <a:p>
            <a:pPr marL="457200" lvl="1" indent="0">
              <a:lnSpc>
                <a:spcPct val="90000"/>
              </a:lnSpc>
              <a:buNone/>
            </a:pPr>
            <a:r>
              <a:rPr lang="en-US" sz="2000" dirty="0">
                <a:highlight>
                  <a:srgbClr val="FFFF00"/>
                </a:highlight>
              </a:rPr>
              <a:t>Access Modifier</a:t>
            </a:r>
            <a:r>
              <a:rPr lang="en-US" sz="2000" dirty="0"/>
              <a:t> </a:t>
            </a:r>
            <a:r>
              <a:rPr lang="en-US" sz="2000" dirty="0">
                <a:highlight>
                  <a:srgbClr val="00FF00"/>
                </a:highlight>
              </a:rPr>
              <a:t>non-access modifier(s)</a:t>
            </a:r>
            <a:r>
              <a:rPr lang="en-US" sz="2000" dirty="0"/>
              <a:t> </a:t>
            </a:r>
            <a:r>
              <a:rPr lang="en-US" sz="2000" dirty="0">
                <a:latin typeface="Calibri" panose="020F0502020204030204" pitchFamily="34" charset="0"/>
                <a:ea typeface="Calibri" panose="020F0502020204030204" pitchFamily="34" charset="0"/>
                <a:cs typeface="Calibri" panose="020F0502020204030204" pitchFamily="34" charset="0"/>
              </a:rPr>
              <a:t>class</a:t>
            </a:r>
            <a:r>
              <a:rPr lang="en-US" sz="2000" dirty="0"/>
              <a:t> </a:t>
            </a:r>
            <a:r>
              <a:rPr lang="en-US" sz="2000" u="sng" dirty="0" err="1">
                <a:highlight>
                  <a:srgbClr val="00FFFF"/>
                </a:highlight>
              </a:rPr>
              <a:t>ClassName</a:t>
            </a:r>
            <a:r>
              <a:rPr lang="en-US" sz="2000" dirty="0"/>
              <a:t> {</a:t>
            </a:r>
          </a:p>
          <a:p>
            <a:pPr marL="457200" lvl="1" indent="0">
              <a:lnSpc>
                <a:spcPct val="90000"/>
              </a:lnSpc>
              <a:buNone/>
            </a:pPr>
            <a:r>
              <a:rPr lang="en-US" sz="2000" dirty="0"/>
              <a:t>	</a:t>
            </a:r>
          </a:p>
          <a:p>
            <a:pPr marL="457200" lvl="1" indent="0">
              <a:lnSpc>
                <a:spcPct val="90000"/>
              </a:lnSpc>
              <a:buNone/>
            </a:pPr>
            <a:r>
              <a:rPr lang="en-US" sz="2000" dirty="0"/>
              <a:t>}</a:t>
            </a:r>
          </a:p>
          <a:p>
            <a:pPr marL="457200" lvl="1" indent="0">
              <a:lnSpc>
                <a:spcPct val="90000"/>
              </a:lnSpc>
              <a:buNone/>
            </a:pPr>
            <a:endParaRPr lang="en-US" sz="2000" dirty="0"/>
          </a:p>
          <a:p>
            <a:pPr marL="457200" lvl="1" indent="0">
              <a:lnSpc>
                <a:spcPct val="90000"/>
              </a:lnSpc>
              <a:buNone/>
            </a:pPr>
            <a:r>
              <a:rPr lang="en-US" sz="2000" dirty="0"/>
              <a:t>Ex:</a:t>
            </a:r>
          </a:p>
          <a:p>
            <a:pPr marL="457200" lvl="1" indent="0">
              <a:lnSpc>
                <a:spcPct val="90000"/>
              </a:lnSpc>
              <a:buNone/>
            </a:pPr>
            <a:endParaRPr lang="en-US" sz="2000" dirty="0"/>
          </a:p>
          <a:p>
            <a:pPr marL="457200" lvl="1" indent="0">
              <a:lnSpc>
                <a:spcPct val="90000"/>
              </a:lnSpc>
              <a:buNone/>
            </a:pPr>
            <a:r>
              <a:rPr lang="en-US" sz="2000" dirty="0">
                <a:highlight>
                  <a:srgbClr val="FFFF00"/>
                </a:highlight>
              </a:rPr>
              <a:t>public</a:t>
            </a:r>
            <a:r>
              <a:rPr lang="en-US" sz="2000" dirty="0"/>
              <a:t> class </a:t>
            </a:r>
            <a:r>
              <a:rPr lang="en-US" sz="2000" dirty="0">
                <a:highlight>
                  <a:srgbClr val="00FFFF"/>
                </a:highlight>
              </a:rPr>
              <a:t>Dog</a:t>
            </a:r>
            <a:r>
              <a:rPr lang="en-US" sz="2000" dirty="0"/>
              <a:t> {</a:t>
            </a:r>
          </a:p>
          <a:p>
            <a:pPr marL="457200" lvl="1" indent="0">
              <a:lnSpc>
                <a:spcPct val="90000"/>
              </a:lnSpc>
              <a:buNone/>
            </a:pPr>
            <a:r>
              <a:rPr lang="en-US" sz="2000" dirty="0"/>
              <a:t>	// class variables &amp; methods</a:t>
            </a:r>
          </a:p>
          <a:p>
            <a:pPr marL="457200" lvl="1" indent="0">
              <a:lnSpc>
                <a:spcPct val="90000"/>
              </a:lnSpc>
              <a:buNone/>
            </a:pPr>
            <a:r>
              <a:rPr lang="en-US" sz="2000" dirty="0"/>
              <a:t>}</a:t>
            </a:r>
          </a:p>
        </p:txBody>
      </p:sp>
      <p:sp>
        <p:nvSpPr>
          <p:cNvPr id="255" name="Google Shape;255;p21"/>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35</a:t>
            </a:fld>
            <a:endParaRPr/>
          </a:p>
        </p:txBody>
      </p:sp>
    </p:spTree>
    <p:extLst>
      <p:ext uri="{BB962C8B-B14F-4D97-AF65-F5344CB8AC3E}">
        <p14:creationId xmlns:p14="http://schemas.microsoft.com/office/powerpoint/2010/main" val="23207205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76204-ACE8-1EC5-656E-10003974B54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FECA582-402E-862F-786F-643D71FCA2EA}"/>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36</a:t>
            </a:fld>
            <a:endParaRPr lang="en-US"/>
          </a:p>
        </p:txBody>
      </p:sp>
      <p:sp>
        <p:nvSpPr>
          <p:cNvPr id="4" name="Google Shape;212;p15">
            <a:extLst>
              <a:ext uri="{FF2B5EF4-FFF2-40B4-BE49-F238E27FC236}">
                <a16:creationId xmlns:a16="http://schemas.microsoft.com/office/drawing/2014/main" id="{CDC11BBB-E645-ECAF-5AD5-19B4C558E007}"/>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Methods</a:t>
            </a:r>
          </a:p>
        </p:txBody>
      </p:sp>
      <p:pic>
        <p:nvPicPr>
          <p:cNvPr id="6" name="Picture 5">
            <a:extLst>
              <a:ext uri="{FF2B5EF4-FFF2-40B4-BE49-F238E27FC236}">
                <a16:creationId xmlns:a16="http://schemas.microsoft.com/office/drawing/2014/main" id="{BA6461EA-EFC3-9594-1CED-EBC68857C9A3}"/>
              </a:ext>
            </a:extLst>
          </p:cNvPr>
          <p:cNvPicPr>
            <a:picLocks noChangeAspect="1"/>
          </p:cNvPicPr>
          <p:nvPr/>
        </p:nvPicPr>
        <p:blipFill>
          <a:blip r:embed="rId2"/>
          <a:stretch>
            <a:fillRect/>
          </a:stretch>
        </p:blipFill>
        <p:spPr>
          <a:xfrm>
            <a:off x="7036646" y="0"/>
            <a:ext cx="2107354" cy="773112"/>
          </a:xfrm>
          <a:prstGeom prst="rect">
            <a:avLst/>
          </a:prstGeom>
        </p:spPr>
      </p:pic>
    </p:spTree>
    <p:extLst>
      <p:ext uri="{BB962C8B-B14F-4D97-AF65-F5344CB8AC3E}">
        <p14:creationId xmlns:p14="http://schemas.microsoft.com/office/powerpoint/2010/main" val="33865077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19"/>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FFFFFF"/>
              </a:buClr>
              <a:buSzPts val="2400"/>
              <a:buFont typeface="Arial"/>
              <a:buNone/>
            </a:pPr>
            <a:r>
              <a:rPr lang="en-US" dirty="0">
                <a:solidFill>
                  <a:srgbClr val="FFFFFF"/>
                </a:solidFill>
                <a:latin typeface="Arial"/>
                <a:ea typeface="Arial"/>
                <a:cs typeface="Arial"/>
                <a:sym typeface="Arial"/>
              </a:rPr>
              <a:t>Methods</a:t>
            </a:r>
            <a:endParaRPr dirty="0"/>
          </a:p>
        </p:txBody>
      </p:sp>
      <p:sp>
        <p:nvSpPr>
          <p:cNvPr id="240" name="Google Shape;240;p19"/>
          <p:cNvSpPr txBox="1">
            <a:spLocks noGrp="1"/>
          </p:cNvSpPr>
          <p:nvPr>
            <p:ph type="body" idx="1"/>
          </p:nvPr>
        </p:nvSpPr>
        <p:spPr>
          <a:xfrm>
            <a:off x="380010" y="1481446"/>
            <a:ext cx="8383980" cy="5066838"/>
          </a:xfrm>
          <a:prstGeom prst="rect">
            <a:avLst/>
          </a:prstGeom>
          <a:noFill/>
          <a:ln>
            <a:noFill/>
          </a:ln>
        </p:spPr>
        <p:txBody>
          <a:bodyPr spcFirstLastPara="1" wrap="square" lIns="91425" tIns="45700" rIns="91425" bIns="45700" anchor="t" anchorCtr="0">
            <a:noAutofit/>
          </a:bodyPr>
          <a:lstStyle/>
          <a:p>
            <a:pPr marL="343080" lvl="0" indent="-342720" algn="l" rtl="0">
              <a:spcBef>
                <a:spcPts val="0"/>
              </a:spcBef>
              <a:spcAft>
                <a:spcPts val="0"/>
              </a:spcAft>
              <a:buClr>
                <a:srgbClr val="F36A25"/>
              </a:buClr>
              <a:buSzPts val="2800"/>
              <a:buFont typeface="Arial"/>
              <a:buChar char="•"/>
            </a:pPr>
            <a:r>
              <a:rPr lang="en-US" dirty="0">
                <a:solidFill>
                  <a:srgbClr val="474C55"/>
                </a:solidFill>
              </a:rPr>
              <a:t>Methods act as an isolated set of statements that can be invoked as a batch.</a:t>
            </a:r>
          </a:p>
          <a:p>
            <a:pPr marL="343080" lvl="0" indent="-342720" algn="l" rtl="0">
              <a:spcBef>
                <a:spcPts val="0"/>
              </a:spcBef>
              <a:spcAft>
                <a:spcPts val="0"/>
              </a:spcAft>
              <a:buClr>
                <a:srgbClr val="F36A25"/>
              </a:buClr>
              <a:buSzPts val="2800"/>
              <a:buFont typeface="Arial"/>
              <a:buChar char="•"/>
            </a:pPr>
            <a:r>
              <a:rPr lang="en-US" dirty="0">
                <a:solidFill>
                  <a:srgbClr val="474C55"/>
                </a:solidFill>
              </a:rPr>
              <a:t>Methods are ‘functions’ which are defined within a class.</a:t>
            </a:r>
          </a:p>
          <a:p>
            <a:pPr marL="343080" lvl="0" indent="-342720" algn="l" rtl="0">
              <a:spcBef>
                <a:spcPts val="0"/>
              </a:spcBef>
              <a:spcAft>
                <a:spcPts val="0"/>
              </a:spcAft>
              <a:buClr>
                <a:srgbClr val="F36A25"/>
              </a:buClr>
              <a:buSzPts val="2800"/>
              <a:buFont typeface="Arial"/>
              <a:buChar char="•"/>
            </a:pPr>
            <a:r>
              <a:rPr lang="en-US" dirty="0">
                <a:solidFill>
                  <a:srgbClr val="474C55"/>
                </a:solidFill>
              </a:rPr>
              <a:t>You can pass input values into a method for use, through what is known as parameters. </a:t>
            </a:r>
          </a:p>
          <a:p>
            <a:pPr marL="343080" lvl="0" indent="-342720" algn="l" rtl="0">
              <a:spcBef>
                <a:spcPts val="0"/>
              </a:spcBef>
              <a:spcAft>
                <a:spcPts val="0"/>
              </a:spcAft>
              <a:buClr>
                <a:srgbClr val="F36A25"/>
              </a:buClr>
              <a:buSzPts val="2800"/>
              <a:buFont typeface="Arial"/>
              <a:buChar char="•"/>
            </a:pPr>
            <a:r>
              <a:rPr lang="en-US" dirty="0">
                <a:solidFill>
                  <a:srgbClr val="474C55"/>
                </a:solidFill>
              </a:rPr>
              <a:t>A method may return a value or object, but must also declare the type of information that will be returned, if any.</a:t>
            </a:r>
          </a:p>
          <a:p>
            <a:pPr marL="343080" lvl="0" indent="-342720" algn="l" rtl="0">
              <a:spcBef>
                <a:spcPts val="0"/>
              </a:spcBef>
              <a:spcAft>
                <a:spcPts val="0"/>
              </a:spcAft>
              <a:buClr>
                <a:srgbClr val="F36A25"/>
              </a:buClr>
              <a:buSzPts val="2800"/>
              <a:buFont typeface="Arial"/>
              <a:buChar char="•"/>
            </a:pPr>
            <a:endParaRPr lang="en-US" dirty="0">
              <a:solidFill>
                <a:srgbClr val="474C55"/>
              </a:solidFill>
            </a:endParaRPr>
          </a:p>
        </p:txBody>
      </p:sp>
      <p:sp>
        <p:nvSpPr>
          <p:cNvPr id="241" name="Google Shape;241;p19"/>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37</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19"/>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FFFFFF"/>
              </a:buClr>
              <a:buSzPts val="2400"/>
              <a:buFont typeface="Arial"/>
              <a:buNone/>
            </a:pPr>
            <a:r>
              <a:rPr lang="en-US" dirty="0">
                <a:solidFill>
                  <a:srgbClr val="FFFFFF"/>
                </a:solidFill>
                <a:latin typeface="Arial"/>
                <a:ea typeface="Arial"/>
                <a:cs typeface="Arial"/>
                <a:sym typeface="Arial"/>
              </a:rPr>
              <a:t>Method Declaration vs Invocation</a:t>
            </a:r>
            <a:endParaRPr dirty="0"/>
          </a:p>
        </p:txBody>
      </p:sp>
      <p:sp>
        <p:nvSpPr>
          <p:cNvPr id="240" name="Google Shape;240;p19"/>
          <p:cNvSpPr txBox="1">
            <a:spLocks noGrp="1"/>
          </p:cNvSpPr>
          <p:nvPr>
            <p:ph type="body" idx="1"/>
          </p:nvPr>
        </p:nvSpPr>
        <p:spPr>
          <a:xfrm>
            <a:off x="380010" y="1478701"/>
            <a:ext cx="8383980" cy="4975365"/>
          </a:xfrm>
          <a:prstGeom prst="rect">
            <a:avLst/>
          </a:prstGeom>
          <a:noFill/>
          <a:ln>
            <a:noFill/>
          </a:ln>
        </p:spPr>
        <p:txBody>
          <a:bodyPr spcFirstLastPara="1" wrap="square" lIns="91425" tIns="45700" rIns="91425" bIns="45700" anchor="t" anchorCtr="0">
            <a:normAutofit fontScale="92500"/>
          </a:bodyPr>
          <a:lstStyle/>
          <a:p>
            <a:pPr marL="343080" lvl="0" indent="-342720" algn="l" rtl="0">
              <a:spcBef>
                <a:spcPts val="0"/>
              </a:spcBef>
              <a:spcAft>
                <a:spcPts val="0"/>
              </a:spcAft>
              <a:buClr>
                <a:srgbClr val="F36A25"/>
              </a:buClr>
              <a:buSzPts val="2800"/>
              <a:buFont typeface="Arial"/>
              <a:buChar char="•"/>
            </a:pPr>
            <a:r>
              <a:rPr lang="en-US" sz="3000" dirty="0">
                <a:solidFill>
                  <a:srgbClr val="474C55"/>
                </a:solidFill>
              </a:rPr>
              <a:t>Methods are declared by stating the access level, modifiers, return type, name and parameters…</a:t>
            </a:r>
          </a:p>
          <a:p>
            <a:pPr marL="343080" lvl="0" indent="-342720" algn="l" rtl="0">
              <a:spcBef>
                <a:spcPts val="0"/>
              </a:spcBef>
              <a:spcAft>
                <a:spcPts val="0"/>
              </a:spcAft>
              <a:buClr>
                <a:srgbClr val="F36A25"/>
              </a:buClr>
              <a:buSzPts val="2800"/>
              <a:buFont typeface="Arial"/>
              <a:buChar char="•"/>
            </a:pPr>
            <a:r>
              <a:rPr lang="en-US" sz="3000" dirty="0">
                <a:solidFill>
                  <a:srgbClr val="474C55"/>
                </a:solidFill>
              </a:rPr>
              <a:t>Alone, the declaration simply provides the ability to execute some functionality with your objects and classes.</a:t>
            </a:r>
          </a:p>
          <a:p>
            <a:pPr marL="343080" lvl="0" indent="-342720" algn="l" rtl="0">
              <a:spcBef>
                <a:spcPts val="0"/>
              </a:spcBef>
              <a:spcAft>
                <a:spcPts val="0"/>
              </a:spcAft>
              <a:buClr>
                <a:srgbClr val="F36A25"/>
              </a:buClr>
              <a:buSzPts val="2800"/>
              <a:buFont typeface="Arial"/>
              <a:buChar char="•"/>
            </a:pPr>
            <a:r>
              <a:rPr lang="en-US" sz="3000" dirty="0">
                <a:solidFill>
                  <a:srgbClr val="474C55"/>
                </a:solidFill>
              </a:rPr>
              <a:t>To execute the actual functionality, methods must be </a:t>
            </a:r>
            <a:r>
              <a:rPr lang="en-US" sz="3000" b="1" dirty="0">
                <a:solidFill>
                  <a:srgbClr val="474C55"/>
                </a:solidFill>
              </a:rPr>
              <a:t>invoked</a:t>
            </a:r>
            <a:r>
              <a:rPr lang="en-US" sz="3000" dirty="0">
                <a:solidFill>
                  <a:srgbClr val="474C55"/>
                </a:solidFill>
              </a:rPr>
              <a:t>.</a:t>
            </a:r>
          </a:p>
          <a:p>
            <a:pPr marL="800280" lvl="1" indent="-342720">
              <a:spcBef>
                <a:spcPts val="0"/>
              </a:spcBef>
              <a:buClr>
                <a:srgbClr val="F36A25"/>
              </a:buClr>
              <a:buSzPts val="2800"/>
              <a:buFont typeface="Arial"/>
              <a:buChar char="•"/>
            </a:pPr>
            <a:r>
              <a:rPr lang="en-US" sz="2200" b="1" dirty="0">
                <a:solidFill>
                  <a:srgbClr val="474C55"/>
                </a:solidFill>
              </a:rPr>
              <a:t>Invocation</a:t>
            </a:r>
            <a:r>
              <a:rPr lang="en-US" sz="2200" dirty="0">
                <a:solidFill>
                  <a:srgbClr val="474C55"/>
                </a:solidFill>
              </a:rPr>
              <a:t> – call the name of a declared method and pass any arguments (if a parameter list is declared for the method).</a:t>
            </a:r>
          </a:p>
          <a:p>
            <a:pPr marL="800280" lvl="1" indent="-342720">
              <a:spcBef>
                <a:spcPts val="0"/>
              </a:spcBef>
              <a:buClr>
                <a:srgbClr val="F36A25"/>
              </a:buClr>
              <a:buSzPts val="2800"/>
              <a:buFont typeface="Arial"/>
              <a:buChar char="•"/>
            </a:pPr>
            <a:r>
              <a:rPr lang="en-US" sz="2200" b="1" dirty="0">
                <a:solidFill>
                  <a:srgbClr val="474C55"/>
                </a:solidFill>
              </a:rPr>
              <a:t>Arguments</a:t>
            </a:r>
            <a:r>
              <a:rPr lang="en-US" sz="2200" dirty="0">
                <a:solidFill>
                  <a:srgbClr val="474C55"/>
                </a:solidFill>
              </a:rPr>
              <a:t> – the values that are passed to a method. Arguments must match the order and type listed in a declared method’s parameter list</a:t>
            </a:r>
          </a:p>
          <a:p>
            <a:pPr marL="800280" lvl="1" indent="-342720">
              <a:spcBef>
                <a:spcPts val="0"/>
              </a:spcBef>
              <a:buClr>
                <a:srgbClr val="F36A25"/>
              </a:buClr>
              <a:buSzPts val="2800"/>
              <a:buFont typeface="Arial"/>
              <a:buChar char="•"/>
            </a:pPr>
            <a:endParaRPr lang="en-US" dirty="0">
              <a:solidFill>
                <a:srgbClr val="474C55"/>
              </a:solidFill>
            </a:endParaRPr>
          </a:p>
        </p:txBody>
      </p:sp>
      <p:sp>
        <p:nvSpPr>
          <p:cNvPr id="241" name="Google Shape;241;p19"/>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38</a:t>
            </a:fld>
            <a:endParaRPr/>
          </a:p>
        </p:txBody>
      </p:sp>
    </p:spTree>
    <p:extLst>
      <p:ext uri="{BB962C8B-B14F-4D97-AF65-F5344CB8AC3E}">
        <p14:creationId xmlns:p14="http://schemas.microsoft.com/office/powerpoint/2010/main" val="1706007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0">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0">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EDFCB-FA37-4084-AACB-7CD873C508BA}"/>
              </a:ext>
            </a:extLst>
          </p:cNvPr>
          <p:cNvSpPr>
            <a:spLocks noGrp="1"/>
          </p:cNvSpPr>
          <p:nvPr>
            <p:ph type="title"/>
          </p:nvPr>
        </p:nvSpPr>
        <p:spPr/>
        <p:txBody>
          <a:bodyPr/>
          <a:lstStyle/>
          <a:p>
            <a:r>
              <a:rPr lang="en-US" dirty="0"/>
              <a:t>Anatomy of a Method - Java</a:t>
            </a:r>
          </a:p>
        </p:txBody>
      </p:sp>
      <p:sp>
        <p:nvSpPr>
          <p:cNvPr id="3" name="Text Placeholder 2">
            <a:extLst>
              <a:ext uri="{FF2B5EF4-FFF2-40B4-BE49-F238E27FC236}">
                <a16:creationId xmlns:a16="http://schemas.microsoft.com/office/drawing/2014/main" id="{91F5DC43-911C-4E53-95FC-06FD90F09716}"/>
              </a:ext>
            </a:extLst>
          </p:cNvPr>
          <p:cNvSpPr>
            <a:spLocks noGrp="1"/>
          </p:cNvSpPr>
          <p:nvPr>
            <p:ph type="body" idx="1"/>
          </p:nvPr>
        </p:nvSpPr>
        <p:spPr>
          <a:xfrm>
            <a:off x="380010" y="1366082"/>
            <a:ext cx="8211899" cy="1351472"/>
          </a:xfrm>
        </p:spPr>
        <p:txBody>
          <a:bodyPr>
            <a:normAutofit fontScale="62500" lnSpcReduction="20000"/>
          </a:bodyPr>
          <a:lstStyle/>
          <a:p>
            <a:pPr marL="457200" lvl="1" indent="0">
              <a:lnSpc>
                <a:spcPct val="90000"/>
              </a:lnSpc>
              <a:buNone/>
            </a:pPr>
            <a:r>
              <a:rPr lang="en-US" sz="2000" u="sng" dirty="0">
                <a:highlight>
                  <a:srgbClr val="FFFF00"/>
                </a:highlight>
              </a:rPr>
              <a:t>Access Mod</a:t>
            </a:r>
            <a:r>
              <a:rPr lang="en-US" sz="2000" dirty="0"/>
              <a:t> </a:t>
            </a:r>
            <a:r>
              <a:rPr lang="en-US" sz="2000" dirty="0">
                <a:highlight>
                  <a:srgbClr val="00FF00"/>
                </a:highlight>
              </a:rPr>
              <a:t>Non-Access Mods</a:t>
            </a:r>
            <a:r>
              <a:rPr lang="en-US" sz="2000" dirty="0"/>
              <a:t> </a:t>
            </a:r>
            <a:r>
              <a:rPr lang="en-US" sz="2000" u="sng" dirty="0">
                <a:highlight>
                  <a:srgbClr val="FF00FF"/>
                </a:highlight>
              </a:rPr>
              <a:t>Return Type</a:t>
            </a:r>
            <a:r>
              <a:rPr lang="en-US" sz="2000" dirty="0"/>
              <a:t> </a:t>
            </a:r>
            <a:r>
              <a:rPr lang="en-US" sz="2000" u="sng" dirty="0">
                <a:highlight>
                  <a:srgbClr val="00FFFF"/>
                </a:highlight>
              </a:rPr>
              <a:t>Name</a:t>
            </a:r>
            <a:r>
              <a:rPr lang="en-US" sz="2000" dirty="0"/>
              <a:t> (</a:t>
            </a:r>
            <a:r>
              <a:rPr lang="en-US" sz="2000" dirty="0">
                <a:highlight>
                  <a:srgbClr val="C0C0C0"/>
                </a:highlight>
              </a:rPr>
              <a:t>Parameters</a:t>
            </a:r>
            <a:r>
              <a:rPr lang="en-US" sz="2000" dirty="0"/>
              <a:t>) </a:t>
            </a:r>
            <a:r>
              <a:rPr lang="en-US" sz="2000" dirty="0">
                <a:solidFill>
                  <a:srgbClr val="FF0000"/>
                </a:solidFill>
              </a:rPr>
              <a:t>throws declaration </a:t>
            </a:r>
            <a:r>
              <a:rPr lang="en-US" sz="2000" dirty="0"/>
              <a:t>{ Method Body }</a:t>
            </a:r>
          </a:p>
          <a:p>
            <a:pPr marL="457200" lvl="1" indent="0">
              <a:lnSpc>
                <a:spcPct val="90000"/>
              </a:lnSpc>
              <a:buNone/>
            </a:pPr>
            <a:endParaRPr lang="en-US" sz="2000" dirty="0"/>
          </a:p>
          <a:p>
            <a:pPr marL="457200" lvl="1" indent="0">
              <a:lnSpc>
                <a:spcPct val="90000"/>
              </a:lnSpc>
              <a:buNone/>
            </a:pPr>
            <a:r>
              <a:rPr lang="en-US" sz="2000" dirty="0"/>
              <a:t>Ex:</a:t>
            </a:r>
          </a:p>
          <a:p>
            <a:pPr marL="457200" lvl="1" indent="0">
              <a:lnSpc>
                <a:spcPct val="90000"/>
              </a:lnSpc>
              <a:buNone/>
            </a:pPr>
            <a:r>
              <a:rPr lang="en-US" sz="2000" dirty="0">
                <a:highlight>
                  <a:srgbClr val="FFFF00"/>
                </a:highlight>
              </a:rPr>
              <a:t>protected</a:t>
            </a:r>
            <a:r>
              <a:rPr lang="en-US" sz="2000" dirty="0"/>
              <a:t> </a:t>
            </a:r>
            <a:r>
              <a:rPr lang="en-US" sz="2000" dirty="0">
                <a:highlight>
                  <a:srgbClr val="FF00FF"/>
                </a:highlight>
              </a:rPr>
              <a:t>float</a:t>
            </a:r>
            <a:r>
              <a:rPr lang="en-US" sz="2000" dirty="0"/>
              <a:t> </a:t>
            </a:r>
            <a:r>
              <a:rPr lang="en-US" sz="2000" dirty="0">
                <a:highlight>
                  <a:srgbClr val="00FFFF"/>
                </a:highlight>
              </a:rPr>
              <a:t>add</a:t>
            </a:r>
            <a:r>
              <a:rPr lang="en-US" sz="2000" dirty="0"/>
              <a:t> (</a:t>
            </a:r>
            <a:r>
              <a:rPr lang="en-US" sz="2000" dirty="0">
                <a:highlight>
                  <a:srgbClr val="C0C0C0"/>
                </a:highlight>
              </a:rPr>
              <a:t>float num1</a:t>
            </a:r>
            <a:r>
              <a:rPr lang="en-US" sz="2000" dirty="0"/>
              <a:t>, </a:t>
            </a:r>
            <a:r>
              <a:rPr lang="en-US" sz="2000" dirty="0">
                <a:highlight>
                  <a:srgbClr val="C0C0C0"/>
                </a:highlight>
              </a:rPr>
              <a:t>float num2,</a:t>
            </a:r>
            <a:r>
              <a:rPr lang="en-US" sz="2000" dirty="0"/>
              <a:t> </a:t>
            </a:r>
            <a:r>
              <a:rPr lang="en-US" sz="2000" dirty="0">
                <a:highlight>
                  <a:srgbClr val="C0C0C0"/>
                </a:highlight>
              </a:rPr>
              <a:t>String str</a:t>
            </a:r>
            <a:r>
              <a:rPr lang="en-US" sz="2000" dirty="0"/>
              <a:t>) {</a:t>
            </a:r>
          </a:p>
          <a:p>
            <a:pPr marL="457200" lvl="1" indent="0">
              <a:lnSpc>
                <a:spcPct val="90000"/>
              </a:lnSpc>
              <a:buNone/>
            </a:pPr>
            <a:r>
              <a:rPr lang="en-US" sz="2000" i="1" dirty="0"/>
              <a:t>	return num1 + num2;</a:t>
            </a:r>
          </a:p>
          <a:p>
            <a:pPr marL="457200" lvl="1" indent="0">
              <a:lnSpc>
                <a:spcPct val="90000"/>
              </a:lnSpc>
              <a:buNone/>
            </a:pPr>
            <a:r>
              <a:rPr lang="en-US" sz="2000" dirty="0"/>
              <a:t>}</a:t>
            </a:r>
          </a:p>
          <a:p>
            <a:pPr marL="457200" lvl="1" indent="0">
              <a:lnSpc>
                <a:spcPct val="90000"/>
              </a:lnSpc>
              <a:buNone/>
            </a:pPr>
            <a:endParaRPr lang="en-US" sz="2000" dirty="0"/>
          </a:p>
        </p:txBody>
      </p:sp>
      <p:sp>
        <p:nvSpPr>
          <p:cNvPr id="4" name="Slide Number Placeholder 3">
            <a:extLst>
              <a:ext uri="{FF2B5EF4-FFF2-40B4-BE49-F238E27FC236}">
                <a16:creationId xmlns:a16="http://schemas.microsoft.com/office/drawing/2014/main" id="{B1F45DA0-5792-42CE-90CD-F4FA2300D15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39</a:t>
            </a:fld>
            <a:endParaRPr lang="en-US"/>
          </a:p>
        </p:txBody>
      </p:sp>
      <p:sp>
        <p:nvSpPr>
          <p:cNvPr id="240" name="Google Shape;240;p19"/>
          <p:cNvSpPr txBox="1">
            <a:spLocks/>
          </p:cNvSpPr>
          <p:nvPr/>
        </p:nvSpPr>
        <p:spPr>
          <a:xfrm>
            <a:off x="427231" y="2846717"/>
            <a:ext cx="8289537" cy="4011283"/>
          </a:xfrm>
          <a:prstGeom prst="rect">
            <a:avLst/>
          </a:prstGeom>
          <a:noFill/>
          <a:ln>
            <a:noFill/>
          </a:ln>
        </p:spPr>
        <p:txBody>
          <a:bodyPr spcFirstLastPara="1" wrap="square" lIns="91425" tIns="45700" rIns="91425" bIns="45700" anchor="t" anchorCtr="0">
            <a:normAutofit fontScale="92500" lnSpcReduction="10000"/>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100000"/>
              </a:lnSpc>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100000"/>
              </a:lnSpc>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9pPr>
          </a:lstStyle>
          <a:p>
            <a:pPr marL="343080" indent="-342720">
              <a:spcBef>
                <a:spcPts val="0"/>
              </a:spcBef>
              <a:buClr>
                <a:srgbClr val="F36A25"/>
              </a:buClr>
            </a:pPr>
            <a:r>
              <a:rPr lang="en-US" sz="2000" b="1">
                <a:solidFill>
                  <a:srgbClr val="474C55"/>
                </a:solidFill>
              </a:rPr>
              <a:t>Access Modifier</a:t>
            </a:r>
          </a:p>
          <a:p>
            <a:pPr marL="800280" lvl="1" indent="-342720">
              <a:spcBef>
                <a:spcPts val="0"/>
              </a:spcBef>
              <a:buClr>
                <a:srgbClr val="F36A25"/>
              </a:buClr>
              <a:buSzPts val="2800"/>
              <a:buFont typeface="Arial"/>
              <a:buChar char="•"/>
            </a:pPr>
            <a:r>
              <a:rPr lang="en-US" sz="1800">
                <a:solidFill>
                  <a:srgbClr val="474C55"/>
                </a:solidFill>
              </a:rPr>
              <a:t>A specifier used to define how accessible the given method is</a:t>
            </a:r>
          </a:p>
          <a:p>
            <a:pPr marL="343080" indent="-342720">
              <a:spcBef>
                <a:spcPts val="0"/>
              </a:spcBef>
              <a:buClr>
                <a:srgbClr val="F36A25"/>
              </a:buClr>
            </a:pPr>
            <a:r>
              <a:rPr lang="en-US" sz="2000" b="1">
                <a:solidFill>
                  <a:srgbClr val="474C55"/>
                </a:solidFill>
              </a:rPr>
              <a:t>Non-Access Modifiers [optional]</a:t>
            </a:r>
          </a:p>
          <a:p>
            <a:pPr marL="800280" lvl="1" indent="-342720">
              <a:spcBef>
                <a:spcPts val="0"/>
              </a:spcBef>
              <a:buClr>
                <a:srgbClr val="F36A25"/>
              </a:buClr>
              <a:buSzPts val="2800"/>
              <a:buFont typeface="Arial"/>
              <a:buChar char="•"/>
            </a:pPr>
            <a:r>
              <a:rPr lang="en-US" sz="1800">
                <a:solidFill>
                  <a:srgbClr val="474C55"/>
                </a:solidFill>
              </a:rPr>
              <a:t>Special keywords that can add or limit functionality to the given method</a:t>
            </a:r>
          </a:p>
          <a:p>
            <a:pPr marL="343080" indent="-342720">
              <a:spcBef>
                <a:spcPts val="0"/>
              </a:spcBef>
              <a:buClr>
                <a:srgbClr val="F36A25"/>
              </a:buClr>
            </a:pPr>
            <a:r>
              <a:rPr lang="en-US" sz="2000" b="1">
                <a:solidFill>
                  <a:srgbClr val="474C55"/>
                </a:solidFill>
              </a:rPr>
              <a:t>Return Type</a:t>
            </a:r>
          </a:p>
          <a:p>
            <a:pPr marL="800280" lvl="1" indent="-342720">
              <a:spcBef>
                <a:spcPts val="0"/>
              </a:spcBef>
              <a:buClr>
                <a:srgbClr val="F36A25"/>
              </a:buClr>
              <a:buSzPts val="2800"/>
              <a:buFont typeface="Arial"/>
              <a:buChar char="•"/>
            </a:pPr>
            <a:r>
              <a:rPr lang="en-US" sz="1800">
                <a:solidFill>
                  <a:srgbClr val="474C55"/>
                </a:solidFill>
              </a:rPr>
              <a:t>The specified type of information the method must return. If no data is returned the ‘void’ return type should be used.</a:t>
            </a:r>
          </a:p>
          <a:p>
            <a:pPr marL="343080" indent="-342720">
              <a:spcBef>
                <a:spcPts val="0"/>
              </a:spcBef>
              <a:buClr>
                <a:srgbClr val="F36A25"/>
              </a:buClr>
            </a:pPr>
            <a:r>
              <a:rPr lang="en-US" sz="2000" b="1">
                <a:solidFill>
                  <a:srgbClr val="474C55"/>
                </a:solidFill>
              </a:rPr>
              <a:t>Name</a:t>
            </a:r>
          </a:p>
          <a:p>
            <a:pPr marL="800280" lvl="1" indent="-342720">
              <a:spcBef>
                <a:spcPts val="0"/>
              </a:spcBef>
              <a:buClr>
                <a:srgbClr val="F36A25"/>
              </a:buClr>
              <a:buSzPts val="2800"/>
              <a:buFont typeface="Arial"/>
              <a:buChar char="•"/>
            </a:pPr>
            <a:r>
              <a:rPr lang="en-US" sz="1800">
                <a:solidFill>
                  <a:srgbClr val="474C55"/>
                </a:solidFill>
              </a:rPr>
              <a:t>The identifier used to call the method later</a:t>
            </a:r>
          </a:p>
          <a:p>
            <a:pPr marL="343080" indent="-342720">
              <a:spcBef>
                <a:spcPts val="0"/>
              </a:spcBef>
              <a:buClr>
                <a:srgbClr val="F36A25"/>
              </a:buClr>
            </a:pPr>
            <a:r>
              <a:rPr lang="en-US" sz="2000" b="1">
                <a:solidFill>
                  <a:srgbClr val="474C55"/>
                </a:solidFill>
              </a:rPr>
              <a:t>Parameters [optional]</a:t>
            </a:r>
          </a:p>
          <a:p>
            <a:pPr marL="800280" lvl="1" indent="-342720">
              <a:spcBef>
                <a:spcPts val="0"/>
              </a:spcBef>
              <a:buClr>
                <a:srgbClr val="F36A25"/>
              </a:buClr>
              <a:buSzPts val="2800"/>
              <a:buFont typeface="Arial"/>
              <a:buChar char="•"/>
            </a:pPr>
            <a:r>
              <a:rPr lang="en-US" sz="1800">
                <a:solidFill>
                  <a:srgbClr val="474C55"/>
                </a:solidFill>
              </a:rPr>
              <a:t>A list of placeholder variables that can be used to pass matching datatypes into a method. The names given to parameters are used to reference the information passed to a method</a:t>
            </a:r>
          </a:p>
          <a:p>
            <a:pPr marL="343080" indent="-342720">
              <a:spcBef>
                <a:spcPts val="0"/>
              </a:spcBef>
              <a:buClr>
                <a:srgbClr val="F36A25"/>
              </a:buClr>
            </a:pPr>
            <a:r>
              <a:rPr lang="en-US" sz="2000" b="1">
                <a:solidFill>
                  <a:srgbClr val="474C55"/>
                </a:solidFill>
              </a:rPr>
              <a:t>Throws Declaration [optional]</a:t>
            </a:r>
          </a:p>
          <a:p>
            <a:pPr marL="800280" lvl="1" indent="-342720">
              <a:spcBef>
                <a:spcPts val="0"/>
              </a:spcBef>
              <a:buClr>
                <a:srgbClr val="F36A25"/>
              </a:buClr>
              <a:buSzPts val="2800"/>
              <a:buFont typeface="Arial"/>
              <a:buChar char="•"/>
            </a:pPr>
            <a:r>
              <a:rPr lang="en-US" sz="1800">
                <a:solidFill>
                  <a:srgbClr val="474C55"/>
                </a:solidFill>
              </a:rPr>
              <a:t>A list of exceptions or errors that may occur during execution of a method</a:t>
            </a:r>
          </a:p>
          <a:p>
            <a:pPr marL="800280" lvl="1" indent="-342720">
              <a:spcBef>
                <a:spcPts val="0"/>
              </a:spcBef>
              <a:buClr>
                <a:srgbClr val="F36A25"/>
              </a:buClr>
              <a:buSzPts val="2800"/>
              <a:buFont typeface="Arial"/>
              <a:buChar char="•"/>
            </a:pPr>
            <a:endParaRPr lang="en-US" dirty="0">
              <a:solidFill>
                <a:srgbClr val="474C55"/>
              </a:solidFill>
            </a:endParaRPr>
          </a:p>
        </p:txBody>
      </p:sp>
    </p:spTree>
    <p:extLst>
      <p:ext uri="{BB962C8B-B14F-4D97-AF65-F5344CB8AC3E}">
        <p14:creationId xmlns:p14="http://schemas.microsoft.com/office/powerpoint/2010/main" val="1104934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0">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40">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0">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0">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0">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40">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40">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40">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40">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40">
                                            <p:txEl>
                                              <p:pRg st="10" end="10"/>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40">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38">
          <a:extLst>
            <a:ext uri="{FF2B5EF4-FFF2-40B4-BE49-F238E27FC236}">
              <a16:creationId xmlns:a16="http://schemas.microsoft.com/office/drawing/2014/main" id="{B1EC39C2-2D46-147D-542B-FBDE7A47156B}"/>
            </a:ext>
          </a:extLst>
        </p:cNvPr>
        <p:cNvGrpSpPr/>
        <p:nvPr/>
      </p:nvGrpSpPr>
      <p:grpSpPr>
        <a:xfrm>
          <a:off x="0" y="0"/>
          <a:ext cx="0" cy="0"/>
          <a:chOff x="0" y="0"/>
          <a:chExt cx="0" cy="0"/>
        </a:xfrm>
      </p:grpSpPr>
      <p:sp>
        <p:nvSpPr>
          <p:cNvPr id="239" name="Google Shape;239;p19">
            <a:extLst>
              <a:ext uri="{FF2B5EF4-FFF2-40B4-BE49-F238E27FC236}">
                <a16:creationId xmlns:a16="http://schemas.microsoft.com/office/drawing/2014/main" id="{30AA35E1-2784-2899-CD02-5890311D24E5}"/>
              </a:ext>
            </a:extLst>
          </p:cNvPr>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FFFFFF"/>
              </a:buClr>
              <a:buSzPts val="2400"/>
              <a:buFont typeface="Arial"/>
              <a:buNone/>
            </a:pPr>
            <a:r>
              <a:rPr lang="en-US" dirty="0">
                <a:solidFill>
                  <a:srgbClr val="FFFFFF"/>
                </a:solidFill>
                <a:latin typeface="Arial"/>
                <a:ea typeface="Arial"/>
                <a:cs typeface="Arial"/>
                <a:sym typeface="Arial"/>
              </a:rPr>
              <a:t>Return</a:t>
            </a:r>
            <a:endParaRPr dirty="0"/>
          </a:p>
        </p:txBody>
      </p:sp>
      <p:sp>
        <p:nvSpPr>
          <p:cNvPr id="240" name="Google Shape;240;p19">
            <a:extLst>
              <a:ext uri="{FF2B5EF4-FFF2-40B4-BE49-F238E27FC236}">
                <a16:creationId xmlns:a16="http://schemas.microsoft.com/office/drawing/2014/main" id="{699972AF-1F71-AECA-6723-5F044DFC0E7E}"/>
              </a:ext>
            </a:extLst>
          </p:cNvPr>
          <p:cNvSpPr txBox="1">
            <a:spLocks noGrp="1"/>
          </p:cNvSpPr>
          <p:nvPr>
            <p:ph type="body" idx="1"/>
          </p:nvPr>
        </p:nvSpPr>
        <p:spPr>
          <a:xfrm>
            <a:off x="380009" y="1276710"/>
            <a:ext cx="5442821" cy="5581290"/>
          </a:xfrm>
          <a:prstGeom prst="rect">
            <a:avLst/>
          </a:prstGeom>
          <a:noFill/>
          <a:ln>
            <a:noFill/>
          </a:ln>
        </p:spPr>
        <p:txBody>
          <a:bodyPr spcFirstLastPara="1" wrap="square" lIns="91425" tIns="45700" rIns="91425" bIns="45700" anchor="t" anchorCtr="0">
            <a:normAutofit fontScale="62500" lnSpcReduction="20000"/>
          </a:bodyPr>
          <a:lstStyle/>
          <a:p>
            <a:pPr marL="343080" indent="-342720">
              <a:spcBef>
                <a:spcPts val="0"/>
              </a:spcBef>
              <a:buClr>
                <a:srgbClr val="F36A25"/>
              </a:buClr>
            </a:pPr>
            <a:r>
              <a:rPr lang="en-US" dirty="0">
                <a:solidFill>
                  <a:srgbClr val="474C55"/>
                </a:solidFill>
              </a:rPr>
              <a:t>Expressions “return” a value to the program when processes (remember how we get a ‘value’ from an expression).</a:t>
            </a:r>
          </a:p>
          <a:p>
            <a:pPr marL="343080" indent="-342720">
              <a:spcBef>
                <a:spcPts val="0"/>
              </a:spcBef>
              <a:buClr>
                <a:srgbClr val="F36A25"/>
              </a:buClr>
            </a:pPr>
            <a:r>
              <a:rPr lang="en-US" dirty="0">
                <a:solidFill>
                  <a:srgbClr val="474C55"/>
                </a:solidFill>
              </a:rPr>
              <a:t>The keyword return can be used in a method to:</a:t>
            </a:r>
          </a:p>
          <a:p>
            <a:pPr marL="800280" lvl="1" indent="-342720">
              <a:spcBef>
                <a:spcPts val="0"/>
              </a:spcBef>
              <a:buClr>
                <a:srgbClr val="F36A25"/>
              </a:buClr>
            </a:pPr>
            <a:r>
              <a:rPr lang="en-US" dirty="0">
                <a:solidFill>
                  <a:srgbClr val="474C55"/>
                </a:solidFill>
              </a:rPr>
              <a:t>Terminate the local method</a:t>
            </a:r>
          </a:p>
          <a:p>
            <a:pPr marL="800280" lvl="1" indent="-342720">
              <a:spcBef>
                <a:spcPts val="0"/>
              </a:spcBef>
              <a:buClr>
                <a:srgbClr val="F36A25"/>
              </a:buClr>
            </a:pPr>
            <a:r>
              <a:rPr lang="en-US" dirty="0">
                <a:solidFill>
                  <a:srgbClr val="474C55"/>
                </a:solidFill>
              </a:rPr>
              <a:t>Pass the value to where the method was called</a:t>
            </a:r>
          </a:p>
          <a:p>
            <a:pPr marL="343080" indent="-342720">
              <a:spcBef>
                <a:spcPts val="0"/>
              </a:spcBef>
              <a:buClr>
                <a:srgbClr val="F36A25"/>
              </a:buClr>
            </a:pPr>
            <a:r>
              <a:rPr lang="en-US" dirty="0">
                <a:solidFill>
                  <a:srgbClr val="474C55"/>
                </a:solidFill>
              </a:rPr>
              <a:t>The use of ‘return’ is required in a method unless the return type is ‘void’.</a:t>
            </a:r>
          </a:p>
          <a:p>
            <a:pPr marL="343080" indent="-342720">
              <a:spcBef>
                <a:spcPts val="0"/>
              </a:spcBef>
              <a:buClr>
                <a:srgbClr val="F36A25"/>
              </a:buClr>
            </a:pPr>
            <a:r>
              <a:rPr lang="en-US" dirty="0">
                <a:solidFill>
                  <a:srgbClr val="474C55"/>
                </a:solidFill>
              </a:rPr>
              <a:t>When you use ‘return’ in a method, the corresponding expression must match the return type of the method.</a:t>
            </a:r>
          </a:p>
          <a:p>
            <a:pPr marL="343080" indent="-342720">
              <a:spcBef>
                <a:spcPts val="0"/>
              </a:spcBef>
              <a:buClr>
                <a:srgbClr val="F36A25"/>
              </a:buClr>
            </a:pPr>
            <a:endParaRPr lang="en-US" dirty="0">
              <a:solidFill>
                <a:srgbClr val="474C55"/>
              </a:solidFill>
            </a:endParaRPr>
          </a:p>
          <a:p>
            <a:pPr marL="343080" indent="-342720">
              <a:spcBef>
                <a:spcPts val="0"/>
              </a:spcBef>
              <a:buClr>
                <a:srgbClr val="F36A25"/>
              </a:buClr>
            </a:pPr>
            <a:endParaRPr lang="en-US" dirty="0">
              <a:solidFill>
                <a:srgbClr val="474C55"/>
              </a:solidFill>
            </a:endParaRPr>
          </a:p>
          <a:p>
            <a:pPr marL="343080" indent="-342720">
              <a:spcBef>
                <a:spcPts val="0"/>
              </a:spcBef>
              <a:buClr>
                <a:srgbClr val="F36A25"/>
              </a:buClr>
            </a:pPr>
            <a:endParaRPr lang="en-US" dirty="0">
              <a:solidFill>
                <a:srgbClr val="474C55"/>
              </a:solidFill>
            </a:endParaRPr>
          </a:p>
          <a:p>
            <a:pPr marL="343080" indent="-342720">
              <a:spcBef>
                <a:spcPts val="0"/>
              </a:spcBef>
              <a:buClr>
                <a:srgbClr val="F36A25"/>
              </a:buClr>
            </a:pPr>
            <a:endParaRPr lang="en-US" dirty="0">
              <a:solidFill>
                <a:srgbClr val="474C55"/>
              </a:solidFill>
            </a:endParaRPr>
          </a:p>
          <a:p>
            <a:pPr marL="343080" indent="-342720">
              <a:spcBef>
                <a:spcPts val="0"/>
              </a:spcBef>
              <a:buClr>
                <a:srgbClr val="F36A25"/>
              </a:buClr>
            </a:pPr>
            <a:endParaRPr lang="en-US" dirty="0">
              <a:solidFill>
                <a:srgbClr val="474C55"/>
              </a:solidFill>
            </a:endParaRPr>
          </a:p>
          <a:p>
            <a:pPr marL="343080" indent="-342720">
              <a:spcBef>
                <a:spcPts val="0"/>
              </a:spcBef>
              <a:buClr>
                <a:srgbClr val="F36A25"/>
              </a:buClr>
            </a:pPr>
            <a:endParaRPr lang="en-US" dirty="0">
              <a:solidFill>
                <a:srgbClr val="474C55"/>
              </a:solidFill>
            </a:endParaRPr>
          </a:p>
          <a:p>
            <a:pPr marL="343080" indent="-342720">
              <a:spcBef>
                <a:spcPts val="0"/>
              </a:spcBef>
              <a:buClr>
                <a:srgbClr val="F36A25"/>
              </a:buClr>
            </a:pPr>
            <a:endParaRPr lang="en-US" dirty="0">
              <a:solidFill>
                <a:srgbClr val="474C55"/>
              </a:solidFill>
            </a:endParaRPr>
          </a:p>
          <a:p>
            <a:pPr marL="343080" indent="-342720">
              <a:spcBef>
                <a:spcPts val="0"/>
              </a:spcBef>
              <a:buClr>
                <a:srgbClr val="F36A25"/>
              </a:buClr>
            </a:pPr>
            <a:endParaRPr lang="en-US" dirty="0">
              <a:solidFill>
                <a:srgbClr val="474C55"/>
              </a:solidFill>
            </a:endParaRPr>
          </a:p>
          <a:p>
            <a:pPr marL="343080" indent="-342720">
              <a:spcBef>
                <a:spcPts val="0"/>
              </a:spcBef>
              <a:buClr>
                <a:srgbClr val="F36A25"/>
              </a:buClr>
            </a:pPr>
            <a:endParaRPr lang="en-US" dirty="0">
              <a:solidFill>
                <a:srgbClr val="474C55"/>
              </a:solidFill>
            </a:endParaRPr>
          </a:p>
          <a:p>
            <a:pPr marL="343080" indent="-342720">
              <a:spcBef>
                <a:spcPts val="0"/>
              </a:spcBef>
              <a:buClr>
                <a:srgbClr val="F36A25"/>
              </a:buClr>
            </a:pPr>
            <a:r>
              <a:rPr lang="en-US" dirty="0">
                <a:solidFill>
                  <a:srgbClr val="474C55"/>
                </a:solidFill>
              </a:rPr>
              <a:t>You </a:t>
            </a:r>
            <a:r>
              <a:rPr lang="en-US" i="1" dirty="0">
                <a:solidFill>
                  <a:srgbClr val="474C55"/>
                </a:solidFill>
              </a:rPr>
              <a:t>can </a:t>
            </a:r>
            <a:r>
              <a:rPr lang="en-US" dirty="0">
                <a:solidFill>
                  <a:srgbClr val="474C55"/>
                </a:solidFill>
              </a:rPr>
              <a:t>use the return keyword more than once in a method when combined with flow control statements.</a:t>
            </a:r>
          </a:p>
          <a:p>
            <a:pPr marL="800280" lvl="1" indent="-342720">
              <a:spcBef>
                <a:spcPts val="0"/>
              </a:spcBef>
              <a:buClr>
                <a:srgbClr val="F36A25"/>
              </a:buClr>
            </a:pPr>
            <a:r>
              <a:rPr lang="en-US" dirty="0">
                <a:solidFill>
                  <a:srgbClr val="474C55"/>
                </a:solidFill>
              </a:rPr>
              <a:t>The first return keyword reached during program execution is used.</a:t>
            </a:r>
          </a:p>
        </p:txBody>
      </p:sp>
      <p:sp>
        <p:nvSpPr>
          <p:cNvPr id="241" name="Google Shape;241;p19">
            <a:extLst>
              <a:ext uri="{FF2B5EF4-FFF2-40B4-BE49-F238E27FC236}">
                <a16:creationId xmlns:a16="http://schemas.microsoft.com/office/drawing/2014/main" id="{F381BDB4-D126-34AE-2C6D-E441361CF243}"/>
              </a:ext>
            </a:extLst>
          </p:cNvPr>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40</a:t>
            </a:fld>
            <a:endParaRPr/>
          </a:p>
        </p:txBody>
      </p:sp>
      <p:pic>
        <p:nvPicPr>
          <p:cNvPr id="2" name="Picture 1">
            <a:extLst>
              <a:ext uri="{FF2B5EF4-FFF2-40B4-BE49-F238E27FC236}">
                <a16:creationId xmlns:a16="http://schemas.microsoft.com/office/drawing/2014/main" id="{F9282463-CACE-DB77-444F-640533C114A5}"/>
              </a:ext>
            </a:extLst>
          </p:cNvPr>
          <p:cNvPicPr>
            <a:picLocks noChangeAspect="1"/>
          </p:cNvPicPr>
          <p:nvPr/>
        </p:nvPicPr>
        <p:blipFill>
          <a:blip r:embed="rId3"/>
          <a:stretch>
            <a:fillRect/>
          </a:stretch>
        </p:blipFill>
        <p:spPr>
          <a:xfrm>
            <a:off x="5745907" y="1362154"/>
            <a:ext cx="3398093" cy="2416422"/>
          </a:xfrm>
          <a:prstGeom prst="rect">
            <a:avLst/>
          </a:prstGeom>
        </p:spPr>
      </p:pic>
      <p:sp>
        <p:nvSpPr>
          <p:cNvPr id="3" name="Google Shape;219;p16">
            <a:extLst>
              <a:ext uri="{FF2B5EF4-FFF2-40B4-BE49-F238E27FC236}">
                <a16:creationId xmlns:a16="http://schemas.microsoft.com/office/drawing/2014/main" id="{2B75D2C4-3AF5-A694-7D36-B1A77E926613}"/>
              </a:ext>
            </a:extLst>
          </p:cNvPr>
          <p:cNvSpPr txBox="1">
            <a:spLocks/>
          </p:cNvSpPr>
          <p:nvPr/>
        </p:nvSpPr>
        <p:spPr>
          <a:xfrm>
            <a:off x="1284565" y="3778576"/>
            <a:ext cx="3633708" cy="1630187"/>
          </a:xfrm>
          <a:prstGeom prst="rect">
            <a:avLst/>
          </a:prstGeom>
        </p:spPr>
        <p:style>
          <a:lnRef idx="1">
            <a:schemeClr val="accent2"/>
          </a:lnRef>
          <a:fillRef idx="2">
            <a:schemeClr val="accent2"/>
          </a:fillRef>
          <a:effectRef idx="1">
            <a:schemeClr val="accent2"/>
          </a:effectRef>
          <a:fontRef idx="minor">
            <a:schemeClr val="dk1"/>
          </a:fontRef>
        </p:style>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100000"/>
              </a:lnSpc>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100000"/>
              </a:lnSpc>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9pPr>
          </a:lstStyle>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int </a:t>
            </a:r>
            <a:r>
              <a:rPr lang="en-US" sz="1400" dirty="0" err="1">
                <a:latin typeface="Courier New" panose="02070309020205020404" pitchFamily="49" charset="0"/>
                <a:cs typeface="Courier New" panose="02070309020205020404" pitchFamily="49" charset="0"/>
              </a:rPr>
              <a:t>getMyNumber</a:t>
            </a: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return 100;</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int </a:t>
            </a:r>
            <a:r>
              <a:rPr lang="en-US" sz="1400" dirty="0" err="1">
                <a:latin typeface="Courier New" panose="02070309020205020404" pitchFamily="49" charset="0"/>
                <a:cs typeface="Courier New" panose="02070309020205020404" pitchFamily="49" charset="0"/>
              </a:rPr>
              <a:t>getMyNumber</a:t>
            </a: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return “one-hundred”;</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a:t>
            </a:r>
          </a:p>
        </p:txBody>
      </p:sp>
      <p:sp>
        <p:nvSpPr>
          <p:cNvPr id="4" name="Rectangle 3">
            <a:extLst>
              <a:ext uri="{FF2B5EF4-FFF2-40B4-BE49-F238E27FC236}">
                <a16:creationId xmlns:a16="http://schemas.microsoft.com/office/drawing/2014/main" id="{A9651BF3-E1C4-D2DD-CD25-F6AF7AE2414B}"/>
              </a:ext>
            </a:extLst>
          </p:cNvPr>
          <p:cNvSpPr/>
          <p:nvPr/>
        </p:nvSpPr>
        <p:spPr>
          <a:xfrm>
            <a:off x="1457864" y="4580832"/>
            <a:ext cx="2751828" cy="815094"/>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17FD8D3-657A-3897-D6F4-6E54B33DC0D6}"/>
              </a:ext>
            </a:extLst>
          </p:cNvPr>
          <p:cNvSpPr txBox="1"/>
          <p:nvPr/>
        </p:nvSpPr>
        <p:spPr>
          <a:xfrm>
            <a:off x="5091572" y="4426943"/>
            <a:ext cx="2484408" cy="307777"/>
          </a:xfrm>
          <a:prstGeom prst="rect">
            <a:avLst/>
          </a:prstGeom>
          <a:noFill/>
          <a:ln w="38100">
            <a:solidFill>
              <a:srgbClr val="C00000"/>
            </a:solidFill>
          </a:ln>
        </p:spPr>
        <p:txBody>
          <a:bodyPr wrap="square" rtlCol="0">
            <a:spAutoFit/>
          </a:bodyPr>
          <a:lstStyle/>
          <a:p>
            <a:r>
              <a:rPr lang="en-US" dirty="0"/>
              <a:t>Error – return type mismatch</a:t>
            </a:r>
          </a:p>
        </p:txBody>
      </p:sp>
      <p:cxnSp>
        <p:nvCxnSpPr>
          <p:cNvPr id="7" name="Straight Arrow Connector 6">
            <a:extLst>
              <a:ext uri="{FF2B5EF4-FFF2-40B4-BE49-F238E27FC236}">
                <a16:creationId xmlns:a16="http://schemas.microsoft.com/office/drawing/2014/main" id="{825726AF-5D33-99AB-FE5A-FE6E8C76AD38}"/>
              </a:ext>
            </a:extLst>
          </p:cNvPr>
          <p:cNvCxnSpPr>
            <a:endCxn id="4" idx="3"/>
          </p:cNvCxnSpPr>
          <p:nvPr/>
        </p:nvCxnSpPr>
        <p:spPr>
          <a:xfrm flipH="1">
            <a:off x="4209692" y="4580832"/>
            <a:ext cx="871266" cy="407547"/>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137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0">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0">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0">
                                            <p:txEl>
                                              <p:pRg st="3" end="3"/>
                                            </p:txEl>
                                          </p:spTgt>
                                        </p:tgtEl>
                                        <p:attrNameLst>
                                          <p:attrName>style.visibility</p:attrName>
                                        </p:attrNameLst>
                                      </p:cBhvr>
                                      <p:to>
                                        <p:strVal val="visible"/>
                                      </p:to>
                                    </p:set>
                                  </p:childTnLst>
                                </p:cTn>
                              </p:par>
                            </p:childTnLst>
                          </p:cTn>
                        </p:par>
                        <p:par>
                          <p:cTn id="11" fill="hold">
                            <p:stCondLst>
                              <p:cond delay="0"/>
                            </p:stCondLst>
                            <p:childTnLst>
                              <p:par>
                                <p:cTn id="12" presetID="10" presetClass="entr" presetSubtype="0" fill="hold" nodeType="after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5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0">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40">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fade">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fade">
                                      <p:cBhvr>
                                        <p:cTn id="32" dur="500"/>
                                        <p:tgtEl>
                                          <p:spTgt spid="4"/>
                                        </p:tgtEl>
                                      </p:cBhvr>
                                    </p:animEffect>
                                  </p:childTnLst>
                                </p:cTn>
                              </p:par>
                            </p:childTnLst>
                          </p:cTn>
                        </p:par>
                        <p:par>
                          <p:cTn id="33" fill="hold">
                            <p:stCondLst>
                              <p:cond delay="500"/>
                            </p:stCondLst>
                            <p:childTnLst>
                              <p:par>
                                <p:cTn id="34" presetID="10" presetClass="entr" presetSubtype="0" fill="hold" grpId="0" nodeType="afterEffect">
                                  <p:stCondLst>
                                    <p:cond delay="0"/>
                                  </p:stCondLst>
                                  <p:childTnLst>
                                    <p:set>
                                      <p:cBhvr>
                                        <p:cTn id="35" dur="1" fill="hold">
                                          <p:stCondLst>
                                            <p:cond delay="0"/>
                                          </p:stCondLst>
                                        </p:cTn>
                                        <p:tgtEl>
                                          <p:spTgt spid="5"/>
                                        </p:tgtEl>
                                        <p:attrNameLst>
                                          <p:attrName>style.visibility</p:attrName>
                                        </p:attrNameLst>
                                      </p:cBhvr>
                                      <p:to>
                                        <p:strVal val="visible"/>
                                      </p:to>
                                    </p:set>
                                    <p:animEffect transition="in" filter="fade">
                                      <p:cBhvr>
                                        <p:cTn id="36" dur="500"/>
                                        <p:tgtEl>
                                          <p:spTgt spid="5"/>
                                        </p:tgtEl>
                                      </p:cBhvr>
                                    </p:animEffect>
                                  </p:childTnLst>
                                </p:cTn>
                              </p:par>
                              <p:par>
                                <p:cTn id="37" presetID="10" presetClass="entr" presetSubtype="0" fill="hold" nodeType="with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fade">
                                      <p:cBhvr>
                                        <p:cTn id="39" dur="500"/>
                                        <p:tgtEl>
                                          <p:spTgt spid="7"/>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240">
                                            <p:txEl>
                                              <p:pRg st="15" end="15"/>
                                            </p:txEl>
                                          </p:spTgt>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240">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998C3-EA06-702A-1AEB-1EB837147AD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B3ACD8A-915C-B699-675E-646001A5D05A}"/>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41</a:t>
            </a:fld>
            <a:endParaRPr lang="en-US"/>
          </a:p>
        </p:txBody>
      </p:sp>
      <p:sp>
        <p:nvSpPr>
          <p:cNvPr id="4" name="Google Shape;212;p15">
            <a:extLst>
              <a:ext uri="{FF2B5EF4-FFF2-40B4-BE49-F238E27FC236}">
                <a16:creationId xmlns:a16="http://schemas.microsoft.com/office/drawing/2014/main" id="{B78A6B5E-E29D-60E1-81D2-C9DE74AAD0EB}"/>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Using Objects</a:t>
            </a:r>
          </a:p>
        </p:txBody>
      </p:sp>
      <p:pic>
        <p:nvPicPr>
          <p:cNvPr id="6" name="Picture 5">
            <a:extLst>
              <a:ext uri="{FF2B5EF4-FFF2-40B4-BE49-F238E27FC236}">
                <a16:creationId xmlns:a16="http://schemas.microsoft.com/office/drawing/2014/main" id="{598DF058-6C80-27EB-2188-B7D061F9DE48}"/>
              </a:ext>
            </a:extLst>
          </p:cNvPr>
          <p:cNvPicPr>
            <a:picLocks noChangeAspect="1"/>
          </p:cNvPicPr>
          <p:nvPr/>
        </p:nvPicPr>
        <p:blipFill>
          <a:blip r:embed="rId2"/>
          <a:stretch>
            <a:fillRect/>
          </a:stretch>
        </p:blipFill>
        <p:spPr>
          <a:xfrm>
            <a:off x="7036646" y="0"/>
            <a:ext cx="2107354" cy="773112"/>
          </a:xfrm>
          <a:prstGeom prst="rect">
            <a:avLst/>
          </a:prstGeom>
        </p:spPr>
      </p:pic>
    </p:spTree>
    <p:extLst>
      <p:ext uri="{BB962C8B-B14F-4D97-AF65-F5344CB8AC3E}">
        <p14:creationId xmlns:p14="http://schemas.microsoft.com/office/powerpoint/2010/main" val="9566542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E159F-2AB6-488C-8F7B-2B9032141817}"/>
              </a:ext>
            </a:extLst>
          </p:cNvPr>
          <p:cNvSpPr>
            <a:spLocks noGrp="1"/>
          </p:cNvSpPr>
          <p:nvPr>
            <p:ph type="title"/>
          </p:nvPr>
        </p:nvSpPr>
        <p:spPr/>
        <p:txBody>
          <a:bodyPr/>
          <a:lstStyle/>
          <a:p>
            <a:r>
              <a:rPr lang="en-US" dirty="0"/>
              <a:t>Example</a:t>
            </a:r>
          </a:p>
        </p:txBody>
      </p:sp>
      <p:sp>
        <p:nvSpPr>
          <p:cNvPr id="3" name="Text Placeholder 2">
            <a:extLst>
              <a:ext uri="{FF2B5EF4-FFF2-40B4-BE49-F238E27FC236}">
                <a16:creationId xmlns:a16="http://schemas.microsoft.com/office/drawing/2014/main" id="{E73CB89E-F46C-4F07-A0F3-BC663B68C555}"/>
              </a:ext>
            </a:extLst>
          </p:cNvPr>
          <p:cNvSpPr>
            <a:spLocks noGrp="1"/>
          </p:cNvSpPr>
          <p:nvPr>
            <p:ph type="body" idx="1"/>
          </p:nvPr>
        </p:nvSpPr>
        <p:spPr/>
        <p:txBody>
          <a:bodyPr/>
          <a:lstStyle/>
          <a:p>
            <a:r>
              <a:rPr lang="en-US" sz="2400" dirty="0"/>
              <a:t>Let’s say we were creating a program for an animal shelter – in this shelter we have a number of dogs. We want a program to model these dogs. </a:t>
            </a:r>
          </a:p>
          <a:p>
            <a:r>
              <a:rPr lang="en-US" sz="2400" dirty="0"/>
              <a:t>Each dog in our shelter has certain characteristics</a:t>
            </a:r>
          </a:p>
          <a:p>
            <a:endParaRPr lang="en-US" sz="2400" dirty="0"/>
          </a:p>
        </p:txBody>
      </p:sp>
      <p:sp>
        <p:nvSpPr>
          <p:cNvPr id="4" name="Slide Number Placeholder 3">
            <a:extLst>
              <a:ext uri="{FF2B5EF4-FFF2-40B4-BE49-F238E27FC236}">
                <a16:creationId xmlns:a16="http://schemas.microsoft.com/office/drawing/2014/main" id="{55F13088-ECD9-4E90-B141-418018814D4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42</a:t>
            </a:fld>
            <a:endParaRPr lang="en-US"/>
          </a:p>
        </p:txBody>
      </p:sp>
      <p:pic>
        <p:nvPicPr>
          <p:cNvPr id="6" name="Graphic 5" descr="Dog">
            <a:extLst>
              <a:ext uri="{FF2B5EF4-FFF2-40B4-BE49-F238E27FC236}">
                <a16:creationId xmlns:a16="http://schemas.microsoft.com/office/drawing/2014/main" id="{C230557F-C4AB-4B4B-BB83-BA1732DD8DB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283761" y="3889470"/>
            <a:ext cx="1914525" cy="1914525"/>
          </a:xfrm>
          <a:prstGeom prst="rect">
            <a:avLst/>
          </a:prstGeom>
        </p:spPr>
      </p:pic>
      <p:sp>
        <p:nvSpPr>
          <p:cNvPr id="7" name="TextBox 6">
            <a:extLst>
              <a:ext uri="{FF2B5EF4-FFF2-40B4-BE49-F238E27FC236}">
                <a16:creationId xmlns:a16="http://schemas.microsoft.com/office/drawing/2014/main" id="{AD79703D-F618-4C76-8007-B19CAF761C1E}"/>
              </a:ext>
            </a:extLst>
          </p:cNvPr>
          <p:cNvSpPr txBox="1"/>
          <p:nvPr/>
        </p:nvSpPr>
        <p:spPr>
          <a:xfrm>
            <a:off x="4497177" y="3507904"/>
            <a:ext cx="1342034" cy="2677656"/>
          </a:xfrm>
          <a:prstGeom prst="rect">
            <a:avLst/>
          </a:prstGeom>
          <a:noFill/>
        </p:spPr>
        <p:txBody>
          <a:bodyPr wrap="square" rtlCol="0">
            <a:spAutoFit/>
          </a:bodyPr>
          <a:lstStyle/>
          <a:p>
            <a:r>
              <a:rPr lang="en-US" sz="2400" dirty="0">
                <a:latin typeface="Segoe Print" panose="02000600000000000000" pitchFamily="2" charset="0"/>
              </a:rPr>
              <a:t>name </a:t>
            </a:r>
          </a:p>
          <a:p>
            <a:endParaRPr lang="en-US" sz="2400" dirty="0">
              <a:latin typeface="Segoe Print" panose="02000600000000000000" pitchFamily="2" charset="0"/>
            </a:endParaRPr>
          </a:p>
          <a:p>
            <a:r>
              <a:rPr lang="en-US" sz="2400" dirty="0">
                <a:latin typeface="Segoe Print" panose="02000600000000000000" pitchFamily="2" charset="0"/>
              </a:rPr>
              <a:t>weight </a:t>
            </a:r>
          </a:p>
          <a:p>
            <a:endParaRPr lang="en-US" sz="2400" dirty="0">
              <a:latin typeface="Segoe Print" panose="02000600000000000000" pitchFamily="2" charset="0"/>
            </a:endParaRPr>
          </a:p>
          <a:p>
            <a:r>
              <a:rPr lang="en-US" sz="2400" dirty="0">
                <a:latin typeface="Segoe Print" panose="02000600000000000000" pitchFamily="2" charset="0"/>
              </a:rPr>
              <a:t>breed </a:t>
            </a:r>
          </a:p>
          <a:p>
            <a:endParaRPr lang="en-US" sz="2400" dirty="0">
              <a:latin typeface="Segoe Print" panose="02000600000000000000" pitchFamily="2" charset="0"/>
            </a:endParaRPr>
          </a:p>
          <a:p>
            <a:r>
              <a:rPr lang="en-US" sz="2400" dirty="0">
                <a:latin typeface="Segoe Print" panose="02000600000000000000" pitchFamily="2" charset="0"/>
              </a:rPr>
              <a:t>age </a:t>
            </a:r>
          </a:p>
        </p:txBody>
      </p:sp>
      <p:sp>
        <p:nvSpPr>
          <p:cNvPr id="12" name="Straight Arrow Connector 11">
            <a:extLst>
              <a:ext uri="{FF2B5EF4-FFF2-40B4-BE49-F238E27FC236}">
                <a16:creationId xmlns:a16="http://schemas.microsoft.com/office/drawing/2014/main" id="{129AFF41-64E4-4CF0-83B4-1D3C335BD420}"/>
              </a:ext>
            </a:extLst>
          </p:cNvPr>
          <p:cNvSpPr/>
          <p:nvPr/>
        </p:nvSpPr>
        <p:spPr>
          <a:xfrm rot="9240511">
            <a:off x="3108123" y="4089600"/>
            <a:ext cx="1463040" cy="0"/>
          </a:xfrm>
          <a:prstGeom prst="straightConnector1">
            <a:avLst/>
          </a:prstGeom>
          <a:solidFill>
            <a:srgbClr val="000000">
              <a:alpha val="5000"/>
            </a:srgbClr>
          </a:solidFill>
          <a:ln w="18000">
            <a:solidFill>
              <a:srgbClr val="000000"/>
            </a:solidFill>
            <a:tailEnd type="arrow"/>
          </a:ln>
        </p:spPr>
        <p:style>
          <a:lnRef idx="1">
            <a:schemeClr val="accent1"/>
          </a:lnRef>
          <a:fillRef idx="0">
            <a:schemeClr val="accent1"/>
          </a:fillRef>
          <a:effectRef idx="0">
            <a:schemeClr val="accent1"/>
          </a:effectRef>
          <a:fontRef idx="minor">
            <a:schemeClr val="tx1"/>
          </a:fontRef>
        </p:style>
        <p:txBody>
          <a:bodyPr wrap="none" rtlCol="0" anchor="ctr" anchorCtr="1"/>
          <a:lstStyle/>
          <a:p>
            <a:pPr algn="ctr"/>
            <a:endParaRPr lang="en-US">
              <a:solidFill>
                <a:srgbClr val="000000"/>
              </a:solidFill>
            </a:endParaRPr>
          </a:p>
        </p:txBody>
      </p:sp>
      <p:sp>
        <p:nvSpPr>
          <p:cNvPr id="31" name="Straight Connector 30">
            <a:extLst>
              <a:ext uri="{FF2B5EF4-FFF2-40B4-BE49-F238E27FC236}">
                <a16:creationId xmlns:a16="http://schemas.microsoft.com/office/drawing/2014/main" id="{179211C2-5A36-4A6D-AB3C-28A9247BDA76}"/>
              </a:ext>
            </a:extLst>
          </p:cNvPr>
          <p:cNvSpPr/>
          <p:nvPr/>
        </p:nvSpPr>
        <p:spPr>
          <a:xfrm rot="10800000">
            <a:off x="3182108" y="4850578"/>
            <a:ext cx="1358211" cy="292022"/>
          </a:xfrm>
          <a:prstGeom prst="line">
            <a:avLst/>
          </a:prstGeom>
          <a:solidFill>
            <a:srgbClr val="000000">
              <a:alpha val="5000"/>
            </a:srgbClr>
          </a:solidFill>
          <a:ln w="18000">
            <a:solidFill>
              <a:srgbClr val="000000"/>
            </a:solidFill>
            <a:tailEnd type="arrow"/>
          </a:ln>
        </p:spPr>
        <p:style>
          <a:lnRef idx="1">
            <a:schemeClr val="accent1"/>
          </a:lnRef>
          <a:fillRef idx="0">
            <a:schemeClr val="accent1"/>
          </a:fillRef>
          <a:effectRef idx="0">
            <a:schemeClr val="accent1"/>
          </a:effectRef>
          <a:fontRef idx="minor">
            <a:schemeClr val="tx1"/>
          </a:fontRef>
        </p:style>
        <p:txBody>
          <a:bodyPr wrap="none" rtlCol="0" anchor="ctr" anchorCtr="1"/>
          <a:lstStyle/>
          <a:p>
            <a:pPr algn="ctr"/>
            <a:endParaRPr lang="en-US">
              <a:solidFill>
                <a:srgbClr val="000000"/>
              </a:solidFill>
            </a:endParaRPr>
          </a:p>
        </p:txBody>
      </p:sp>
      <p:sp>
        <p:nvSpPr>
          <p:cNvPr id="32" name="Straight Connector 31">
            <a:extLst>
              <a:ext uri="{FF2B5EF4-FFF2-40B4-BE49-F238E27FC236}">
                <a16:creationId xmlns:a16="http://schemas.microsoft.com/office/drawing/2014/main" id="{2478532B-6CFC-4253-B1FF-FED1F50B2E10}"/>
              </a:ext>
            </a:extLst>
          </p:cNvPr>
          <p:cNvSpPr/>
          <p:nvPr/>
        </p:nvSpPr>
        <p:spPr>
          <a:xfrm rot="10800000" flipV="1">
            <a:off x="3225252" y="4481207"/>
            <a:ext cx="1315068" cy="107124"/>
          </a:xfrm>
          <a:prstGeom prst="line">
            <a:avLst/>
          </a:prstGeom>
          <a:solidFill>
            <a:srgbClr val="000000">
              <a:alpha val="5000"/>
            </a:srgbClr>
          </a:solidFill>
          <a:ln w="18000">
            <a:solidFill>
              <a:srgbClr val="000000"/>
            </a:solidFill>
            <a:tailEnd type="arrow"/>
          </a:ln>
        </p:spPr>
        <p:style>
          <a:lnRef idx="1">
            <a:schemeClr val="accent1"/>
          </a:lnRef>
          <a:fillRef idx="0">
            <a:schemeClr val="accent1"/>
          </a:fillRef>
          <a:effectRef idx="0">
            <a:schemeClr val="accent1"/>
          </a:effectRef>
          <a:fontRef idx="minor">
            <a:schemeClr val="tx1"/>
          </a:fontRef>
        </p:style>
        <p:txBody>
          <a:bodyPr wrap="none" rtlCol="0" anchor="ctr" anchorCtr="1"/>
          <a:lstStyle/>
          <a:p>
            <a:pPr algn="ctr"/>
            <a:endParaRPr lang="en-US">
              <a:solidFill>
                <a:srgbClr val="000000"/>
              </a:solidFill>
            </a:endParaRPr>
          </a:p>
        </p:txBody>
      </p:sp>
      <p:sp>
        <p:nvSpPr>
          <p:cNvPr id="33" name="Straight Connector 32">
            <a:extLst>
              <a:ext uri="{FF2B5EF4-FFF2-40B4-BE49-F238E27FC236}">
                <a16:creationId xmlns:a16="http://schemas.microsoft.com/office/drawing/2014/main" id="{A3B3CDD6-F335-43EF-B64D-0A8F02F411B3}"/>
              </a:ext>
            </a:extLst>
          </p:cNvPr>
          <p:cNvSpPr/>
          <p:nvPr/>
        </p:nvSpPr>
        <p:spPr>
          <a:xfrm rot="10800000">
            <a:off x="3077280" y="5142600"/>
            <a:ext cx="1392932" cy="732422"/>
          </a:xfrm>
          <a:prstGeom prst="line">
            <a:avLst/>
          </a:prstGeom>
          <a:solidFill>
            <a:srgbClr val="000000">
              <a:alpha val="5000"/>
            </a:srgbClr>
          </a:solidFill>
          <a:ln w="18000">
            <a:solidFill>
              <a:srgbClr val="000000"/>
            </a:solidFill>
            <a:tailEnd type="arrow"/>
          </a:ln>
        </p:spPr>
        <p:style>
          <a:lnRef idx="1">
            <a:schemeClr val="accent1"/>
          </a:lnRef>
          <a:fillRef idx="0">
            <a:schemeClr val="accent1"/>
          </a:fillRef>
          <a:effectRef idx="0">
            <a:schemeClr val="accent1"/>
          </a:effectRef>
          <a:fontRef idx="minor">
            <a:schemeClr val="tx1"/>
          </a:fontRef>
        </p:style>
        <p:txBody>
          <a:bodyPr wrap="none" rtlCol="0" anchor="ctr" anchorCtr="1"/>
          <a:lstStyle/>
          <a:p>
            <a:pPr algn="ctr"/>
            <a:endParaRPr lang="en-US">
              <a:solidFill>
                <a:srgbClr val="000000"/>
              </a:solidFill>
            </a:endParaRPr>
          </a:p>
        </p:txBody>
      </p:sp>
      <p:sp>
        <p:nvSpPr>
          <p:cNvPr id="30" name="TextBox 29">
            <a:extLst>
              <a:ext uri="{FF2B5EF4-FFF2-40B4-BE49-F238E27FC236}">
                <a16:creationId xmlns:a16="http://schemas.microsoft.com/office/drawing/2014/main" id="{B6441A9F-71C9-4FA0-AF26-38C42EA8A56F}"/>
              </a:ext>
            </a:extLst>
          </p:cNvPr>
          <p:cNvSpPr txBox="1"/>
          <p:nvPr/>
        </p:nvSpPr>
        <p:spPr>
          <a:xfrm>
            <a:off x="5796068" y="3332962"/>
            <a:ext cx="2657101" cy="1785104"/>
          </a:xfrm>
          <a:prstGeom prst="rect">
            <a:avLst/>
          </a:prstGeom>
          <a:noFill/>
        </p:spPr>
        <p:txBody>
          <a:bodyPr wrap="square" rtlCol="0">
            <a:spAutoFit/>
          </a:bodyPr>
          <a:lstStyle/>
          <a:p>
            <a:pPr marL="457200" lvl="0" indent="-406400">
              <a:spcBef>
                <a:spcPts val="560"/>
              </a:spcBef>
              <a:buClr>
                <a:srgbClr val="F36A25"/>
              </a:buClr>
              <a:buSzPts val="2800"/>
              <a:buFont typeface="Arial"/>
              <a:buChar char="•"/>
            </a:pPr>
            <a:r>
              <a:rPr lang="en-US" sz="2400" dirty="0">
                <a:solidFill>
                  <a:srgbClr val="474C55"/>
                </a:solidFill>
              </a:rPr>
              <a:t>As well as certain behaviors like barking</a:t>
            </a:r>
          </a:p>
          <a:p>
            <a:endParaRPr lang="en-US" dirty="0"/>
          </a:p>
        </p:txBody>
      </p:sp>
      <p:sp>
        <p:nvSpPr>
          <p:cNvPr id="5" name="Speech Bubble: Oval 4">
            <a:extLst>
              <a:ext uri="{FF2B5EF4-FFF2-40B4-BE49-F238E27FC236}">
                <a16:creationId xmlns:a16="http://schemas.microsoft.com/office/drawing/2014/main" id="{D3D7E7EF-08BB-466A-8486-518610950AD8}"/>
              </a:ext>
            </a:extLst>
          </p:cNvPr>
          <p:cNvSpPr/>
          <p:nvPr/>
        </p:nvSpPr>
        <p:spPr>
          <a:xfrm flipH="1">
            <a:off x="1349961" y="3417756"/>
            <a:ext cx="1066513" cy="760184"/>
          </a:xfrm>
          <a:prstGeom prst="wedgeEllipse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Woof!</a:t>
            </a:r>
          </a:p>
        </p:txBody>
      </p:sp>
    </p:spTree>
    <p:extLst>
      <p:ext uri="{BB962C8B-B14F-4D97-AF65-F5344CB8AC3E}">
        <p14:creationId xmlns:p14="http://schemas.microsoft.com/office/powerpoint/2010/main" val="979078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type="wd">
                                    <p:tmAbs val="500"/>
                                  </p:iterate>
                                  <p:childTnLst>
                                    <p:set>
                                      <p:cBhvr>
                                        <p:cTn id="18" dur="1" fill="hold">
                                          <p:stCondLst>
                                            <p:cond delay="0"/>
                                          </p:stCondLst>
                                        </p:cTn>
                                        <p:tgtEl>
                                          <p:spTgt spid="7">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type="wd">
                                    <p:tmAbs val="500"/>
                                  </p:iterate>
                                  <p:childTnLst>
                                    <p:set>
                                      <p:cBhvr>
                                        <p:cTn id="24" dur="1" fill="hold">
                                          <p:stCondLst>
                                            <p:cond delay="0"/>
                                          </p:stCondLst>
                                        </p:cTn>
                                        <p:tgtEl>
                                          <p:spTgt spid="7">
                                            <p:txEl>
                                              <p:pRg st="2" end="2"/>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iterate type="wd">
                                    <p:tmAbs val="500"/>
                                  </p:iterate>
                                  <p:childTnLst>
                                    <p:set>
                                      <p:cBhvr>
                                        <p:cTn id="30" dur="1" fill="hold">
                                          <p:stCondLst>
                                            <p:cond delay="0"/>
                                          </p:stCondLst>
                                        </p:cTn>
                                        <p:tgtEl>
                                          <p:spTgt spid="7">
                                            <p:txEl>
                                              <p:pRg st="4" end="4"/>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iterate type="wd">
                                    <p:tmAbs val="500"/>
                                  </p:iterate>
                                  <p:childTnLst>
                                    <p:set>
                                      <p:cBhvr>
                                        <p:cTn id="36" dur="1" fill="hold">
                                          <p:stCondLst>
                                            <p:cond delay="0"/>
                                          </p:stCondLst>
                                        </p:cTn>
                                        <p:tgtEl>
                                          <p:spTgt spid="7">
                                            <p:txEl>
                                              <p:pRg st="6" end="6"/>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uiExpand="1" build="p"/>
      <p:bldP spid="12" grpId="0" animBg="1"/>
      <p:bldP spid="31" grpId="0" animBg="1"/>
      <p:bldP spid="32" grpId="0" animBg="1"/>
      <p:bldP spid="33" grpId="0" animBg="1"/>
      <p:bldP spid="30" grpId="0"/>
      <p:bldP spid="5"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EDFCB-FA37-4084-AACB-7CD873C508BA}"/>
              </a:ext>
            </a:extLst>
          </p:cNvPr>
          <p:cNvSpPr>
            <a:spLocks noGrp="1"/>
          </p:cNvSpPr>
          <p:nvPr>
            <p:ph type="title"/>
          </p:nvPr>
        </p:nvSpPr>
        <p:spPr/>
        <p:txBody>
          <a:bodyPr/>
          <a:lstStyle/>
          <a:p>
            <a:r>
              <a:rPr lang="en-US" dirty="0"/>
              <a:t>Dog Class</a:t>
            </a:r>
          </a:p>
        </p:txBody>
      </p:sp>
      <p:sp>
        <p:nvSpPr>
          <p:cNvPr id="3" name="Text Placeholder 2">
            <a:extLst>
              <a:ext uri="{FF2B5EF4-FFF2-40B4-BE49-F238E27FC236}">
                <a16:creationId xmlns:a16="http://schemas.microsoft.com/office/drawing/2014/main" id="{91F5DC43-911C-4E53-95FC-06FD90F09716}"/>
              </a:ext>
            </a:extLst>
          </p:cNvPr>
          <p:cNvSpPr>
            <a:spLocks noGrp="1"/>
          </p:cNvSpPr>
          <p:nvPr>
            <p:ph type="body" idx="1"/>
          </p:nvPr>
        </p:nvSpPr>
        <p:spPr/>
        <p:txBody>
          <a:bodyPr/>
          <a:lstStyle/>
          <a:p>
            <a:r>
              <a:rPr lang="en-US" dirty="0"/>
              <a:t>Then we want to create a Dog class to model these characteristics and behaviors. </a:t>
            </a:r>
          </a:p>
          <a:p>
            <a:pPr marL="50800" indent="0">
              <a:buNone/>
            </a:pPr>
            <a:endParaRPr lang="en-US" dirty="0"/>
          </a:p>
          <a:p>
            <a:r>
              <a:rPr lang="en-US" dirty="0"/>
              <a:t>Our state or characteristics, name, weight, breed, and age, will be saved in variables and our behavior, barking, will be defined in a method. </a:t>
            </a:r>
          </a:p>
        </p:txBody>
      </p:sp>
      <p:sp>
        <p:nvSpPr>
          <p:cNvPr id="4" name="Slide Number Placeholder 3">
            <a:extLst>
              <a:ext uri="{FF2B5EF4-FFF2-40B4-BE49-F238E27FC236}">
                <a16:creationId xmlns:a16="http://schemas.microsoft.com/office/drawing/2014/main" id="{B1F45DA0-5792-42CE-90CD-F4FA2300D15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43</a:t>
            </a:fld>
            <a:endParaRPr lang="en-US"/>
          </a:p>
        </p:txBody>
      </p:sp>
    </p:spTree>
    <p:extLst>
      <p:ext uri="{BB962C8B-B14F-4D97-AF65-F5344CB8AC3E}">
        <p14:creationId xmlns:p14="http://schemas.microsoft.com/office/powerpoint/2010/main" val="41509380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16"/>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dirty="0"/>
              <a:t>Dog</a:t>
            </a:r>
            <a:endParaRPr dirty="0"/>
          </a:p>
        </p:txBody>
      </p:sp>
      <p:sp>
        <p:nvSpPr>
          <p:cNvPr id="219" name="Google Shape;219;p16"/>
          <p:cNvSpPr txBox="1">
            <a:spLocks noGrp="1"/>
          </p:cNvSpPr>
          <p:nvPr>
            <p:ph type="body" idx="1"/>
          </p:nvPr>
        </p:nvSpPr>
        <p:spPr>
          <a:xfrm>
            <a:off x="380009" y="1481446"/>
            <a:ext cx="8604419" cy="4525963"/>
          </a:xfrm>
          <a:prstGeom prst="rect">
            <a:avLst/>
          </a:prstGeom>
          <a:solidFill>
            <a:schemeClr val="tx2"/>
          </a:solidFill>
          <a:ln>
            <a:solidFill>
              <a:schemeClr val="accent3"/>
            </a:solidFill>
          </a:ln>
        </p:spPr>
        <p:txBody>
          <a:bodyPr spcFirstLastPara="1" wrap="square" lIns="91425" tIns="45700" rIns="91425" bIns="45700" anchor="t" anchorCtr="0">
            <a:noAutofit/>
          </a:bodyPr>
          <a:lstStyle/>
          <a:p>
            <a:pPr marL="457200" lvl="1" indent="0" algn="l" rtl="0">
              <a:lnSpc>
                <a:spcPct val="90000"/>
              </a:lnSpc>
              <a:spcBef>
                <a:spcPts val="480"/>
              </a:spcBef>
              <a:spcAft>
                <a:spcPts val="0"/>
              </a:spcAft>
              <a:buSzPts val="2400"/>
              <a:buNone/>
            </a:pPr>
            <a:r>
              <a:rPr lang="en-US" dirty="0"/>
              <a:t>public class Dog {</a:t>
            </a:r>
          </a:p>
          <a:p>
            <a:pPr marL="457200" lvl="1" indent="0" algn="l" rtl="0">
              <a:lnSpc>
                <a:spcPct val="90000"/>
              </a:lnSpc>
              <a:spcBef>
                <a:spcPts val="480"/>
              </a:spcBef>
              <a:spcAft>
                <a:spcPts val="0"/>
              </a:spcAft>
              <a:buSzPts val="2400"/>
              <a:buNone/>
            </a:pPr>
            <a:r>
              <a:rPr lang="en-US" dirty="0"/>
              <a:t>	String name; </a:t>
            </a:r>
          </a:p>
          <a:p>
            <a:pPr marL="457200" lvl="1" indent="0" algn="l" rtl="0">
              <a:lnSpc>
                <a:spcPct val="90000"/>
              </a:lnSpc>
              <a:spcBef>
                <a:spcPts val="480"/>
              </a:spcBef>
              <a:spcAft>
                <a:spcPts val="0"/>
              </a:spcAft>
              <a:buSzPts val="2400"/>
              <a:buNone/>
            </a:pPr>
            <a:r>
              <a:rPr lang="en-US" dirty="0"/>
              <a:t>	double weight;</a:t>
            </a:r>
          </a:p>
          <a:p>
            <a:pPr marL="457200" lvl="1" indent="0" algn="l" rtl="0">
              <a:lnSpc>
                <a:spcPct val="90000"/>
              </a:lnSpc>
              <a:spcBef>
                <a:spcPts val="480"/>
              </a:spcBef>
              <a:spcAft>
                <a:spcPts val="0"/>
              </a:spcAft>
              <a:buSzPts val="2400"/>
              <a:buNone/>
            </a:pPr>
            <a:r>
              <a:rPr lang="en-US" dirty="0"/>
              <a:t>	String breed; </a:t>
            </a:r>
          </a:p>
          <a:p>
            <a:pPr marL="457200" lvl="1" indent="0" algn="l" rtl="0">
              <a:lnSpc>
                <a:spcPct val="90000"/>
              </a:lnSpc>
              <a:spcBef>
                <a:spcPts val="480"/>
              </a:spcBef>
              <a:spcAft>
                <a:spcPts val="0"/>
              </a:spcAft>
              <a:buSzPts val="2400"/>
              <a:buNone/>
            </a:pPr>
            <a:r>
              <a:rPr lang="en-US" dirty="0"/>
              <a:t>	int age; </a:t>
            </a:r>
          </a:p>
          <a:p>
            <a:pPr marL="457200" lvl="1" indent="0" algn="l" rtl="0">
              <a:lnSpc>
                <a:spcPct val="90000"/>
              </a:lnSpc>
              <a:spcBef>
                <a:spcPts val="480"/>
              </a:spcBef>
              <a:spcAft>
                <a:spcPts val="0"/>
              </a:spcAft>
              <a:buSzPts val="2400"/>
              <a:buNone/>
            </a:pPr>
            <a:endParaRPr lang="en-US" dirty="0"/>
          </a:p>
          <a:p>
            <a:pPr marL="457200" lvl="1" indent="0" algn="l" rtl="0">
              <a:lnSpc>
                <a:spcPct val="90000"/>
              </a:lnSpc>
              <a:spcBef>
                <a:spcPts val="480"/>
              </a:spcBef>
              <a:spcAft>
                <a:spcPts val="0"/>
              </a:spcAft>
              <a:buSzPts val="2400"/>
              <a:buNone/>
            </a:pPr>
            <a:r>
              <a:rPr lang="en-US" dirty="0"/>
              <a:t>	public void bark(){</a:t>
            </a:r>
          </a:p>
          <a:p>
            <a:pPr marL="457200" lvl="1" indent="0" algn="l" rtl="0">
              <a:lnSpc>
                <a:spcPct val="90000"/>
              </a:lnSpc>
              <a:spcBef>
                <a:spcPts val="480"/>
              </a:spcBef>
              <a:spcAft>
                <a:spcPts val="0"/>
              </a:spcAft>
              <a:buSzPts val="2400"/>
              <a:buNone/>
            </a:pPr>
            <a:r>
              <a:rPr lang="en-US" dirty="0"/>
              <a:t>		</a:t>
            </a:r>
            <a:r>
              <a:rPr lang="en-US" dirty="0" err="1"/>
              <a:t>System.out.println</a:t>
            </a:r>
            <a:r>
              <a:rPr lang="en-US" dirty="0"/>
              <a:t>(“Woof!!”);</a:t>
            </a:r>
          </a:p>
          <a:p>
            <a:pPr marL="457200" lvl="1" indent="0" algn="l" rtl="0">
              <a:lnSpc>
                <a:spcPct val="90000"/>
              </a:lnSpc>
              <a:spcBef>
                <a:spcPts val="480"/>
              </a:spcBef>
              <a:spcAft>
                <a:spcPts val="0"/>
              </a:spcAft>
              <a:buSzPts val="2400"/>
              <a:buNone/>
            </a:pPr>
            <a:r>
              <a:rPr lang="en-US" dirty="0"/>
              <a:t>	}</a:t>
            </a:r>
          </a:p>
          <a:p>
            <a:pPr marL="457200" lvl="1" indent="0" algn="l" rtl="0">
              <a:lnSpc>
                <a:spcPct val="90000"/>
              </a:lnSpc>
              <a:spcBef>
                <a:spcPts val="480"/>
              </a:spcBef>
              <a:spcAft>
                <a:spcPts val="0"/>
              </a:spcAft>
              <a:buSzPts val="2400"/>
              <a:buNone/>
            </a:pPr>
            <a:endParaRPr lang="en-US" dirty="0"/>
          </a:p>
          <a:p>
            <a:pPr marL="457200" lvl="1" indent="0" algn="l" rtl="0">
              <a:lnSpc>
                <a:spcPct val="90000"/>
              </a:lnSpc>
              <a:spcBef>
                <a:spcPts val="480"/>
              </a:spcBef>
              <a:spcAft>
                <a:spcPts val="0"/>
              </a:spcAft>
              <a:buSzPts val="2400"/>
              <a:buNone/>
            </a:pPr>
            <a:r>
              <a:rPr lang="en-US" dirty="0"/>
              <a:t>}</a:t>
            </a:r>
          </a:p>
        </p:txBody>
      </p:sp>
      <p:sp>
        <p:nvSpPr>
          <p:cNvPr id="220" name="Google Shape;220;p16"/>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44</a:t>
            </a:fld>
            <a:endParaRPr/>
          </a:p>
        </p:txBody>
      </p:sp>
      <p:sp>
        <p:nvSpPr>
          <p:cNvPr id="2" name="Rectangle 1">
            <a:extLst>
              <a:ext uri="{FF2B5EF4-FFF2-40B4-BE49-F238E27FC236}">
                <a16:creationId xmlns:a16="http://schemas.microsoft.com/office/drawing/2014/main" id="{D202454D-D86A-48FD-8EEC-4C63F7BD89D6}"/>
              </a:ext>
            </a:extLst>
          </p:cNvPr>
          <p:cNvSpPr/>
          <p:nvPr/>
        </p:nvSpPr>
        <p:spPr>
          <a:xfrm>
            <a:off x="4572000" y="1133475"/>
            <a:ext cx="3457575" cy="2476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NOTE: This class doesn’t actually run  or do </a:t>
            </a:r>
            <a:r>
              <a:rPr lang="en-US" sz="2000" i="1" dirty="0"/>
              <a:t>anything</a:t>
            </a:r>
            <a:r>
              <a:rPr lang="en-US" sz="2000" dirty="0"/>
              <a:t> at all on its own. </a:t>
            </a:r>
          </a:p>
          <a:p>
            <a:pPr algn="ctr"/>
            <a:endParaRPr lang="en-US" sz="2000" dirty="0"/>
          </a:p>
          <a:p>
            <a:pPr algn="ctr"/>
            <a:r>
              <a:rPr lang="en-US" sz="2000" dirty="0"/>
              <a:t>It provides the code that would need to be used somewhere else in the program. </a:t>
            </a:r>
          </a:p>
        </p:txBody>
      </p:sp>
    </p:spTree>
    <p:extLst>
      <p:ext uri="{BB962C8B-B14F-4D97-AF65-F5344CB8AC3E}">
        <p14:creationId xmlns:p14="http://schemas.microsoft.com/office/powerpoint/2010/main" val="1001930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9">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9">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19">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9">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9">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9">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9">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9">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9">
                                            <p:txEl>
                                              <p:pRg st="10" end="1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 grpId="0" uiExpand="1" build="p" animBg="1"/>
      <p:bldP spid="2"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D3D84-6A19-420F-8EBE-111855991513}"/>
              </a:ext>
            </a:extLst>
          </p:cNvPr>
          <p:cNvSpPr>
            <a:spLocks noGrp="1"/>
          </p:cNvSpPr>
          <p:nvPr>
            <p:ph type="title"/>
          </p:nvPr>
        </p:nvSpPr>
        <p:spPr/>
        <p:txBody>
          <a:bodyPr/>
          <a:lstStyle/>
          <a:p>
            <a:r>
              <a:rPr lang="en-US" dirty="0"/>
              <a:t>Using the Dog class…</a:t>
            </a:r>
          </a:p>
        </p:txBody>
      </p:sp>
      <p:sp>
        <p:nvSpPr>
          <p:cNvPr id="4" name="Slide Number Placeholder 3">
            <a:extLst>
              <a:ext uri="{FF2B5EF4-FFF2-40B4-BE49-F238E27FC236}">
                <a16:creationId xmlns:a16="http://schemas.microsoft.com/office/drawing/2014/main" id="{F12D7C43-E524-4156-B4EC-E63E5C3572C9}"/>
              </a:ext>
            </a:extLst>
          </p:cNvPr>
          <p:cNvSpPr>
            <a:spLocks noGrp="1"/>
          </p:cNvSpPr>
          <p:nvPr>
            <p:ph type="sldNum" idx="12"/>
          </p:nvPr>
        </p:nvSpPr>
        <p:spPr>
          <a:xfrm>
            <a:off x="8122757" y="6353432"/>
            <a:ext cx="861671" cy="365125"/>
          </a:xfrm>
        </p:spPr>
        <p:txBody>
          <a:bodyPr/>
          <a:lstStyle/>
          <a:p>
            <a:pPr marL="0" lvl="0" indent="0" algn="r" rtl="0">
              <a:spcBef>
                <a:spcPts val="0"/>
              </a:spcBef>
              <a:spcAft>
                <a:spcPts val="0"/>
              </a:spcAft>
              <a:buNone/>
            </a:pPr>
            <a:fld id="{00000000-1234-1234-1234-123412341234}" type="slidenum">
              <a:rPr lang="en-US" smtClean="0"/>
              <a:t>45</a:t>
            </a:fld>
            <a:endParaRPr lang="en-US"/>
          </a:p>
        </p:txBody>
      </p:sp>
      <p:sp>
        <p:nvSpPr>
          <p:cNvPr id="8" name="Google Shape;219;p16">
            <a:extLst>
              <a:ext uri="{FF2B5EF4-FFF2-40B4-BE49-F238E27FC236}">
                <a16:creationId xmlns:a16="http://schemas.microsoft.com/office/drawing/2014/main" id="{29C46E19-637D-40BC-9785-5495A54E65E5}"/>
              </a:ext>
            </a:extLst>
          </p:cNvPr>
          <p:cNvSpPr txBox="1">
            <a:spLocks/>
          </p:cNvSpPr>
          <p:nvPr/>
        </p:nvSpPr>
        <p:spPr>
          <a:xfrm>
            <a:off x="380010" y="1481446"/>
            <a:ext cx="4839690" cy="3042929"/>
          </a:xfrm>
          <a:prstGeom prst="rect">
            <a:avLst/>
          </a:prstGeom>
          <a:solidFill>
            <a:schemeClr val="tx2"/>
          </a:solidFill>
          <a:ln>
            <a:solidFill>
              <a:schemeClr val="accent3"/>
            </a:solid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100000"/>
              </a:lnSpc>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100000"/>
              </a:lnSpc>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9pPr>
          </a:lstStyle>
          <a:p>
            <a:pPr marL="91440" lvl="1" indent="0" defTabSz="457200">
              <a:lnSpc>
                <a:spcPct val="90000"/>
              </a:lnSpc>
              <a:buFont typeface="Arial"/>
              <a:buNone/>
            </a:pPr>
            <a:r>
              <a:rPr lang="en-US" sz="1600" dirty="0"/>
              <a:t>public class Dog {</a:t>
            </a:r>
          </a:p>
          <a:p>
            <a:pPr marL="91440" lvl="1" indent="0" defTabSz="457200">
              <a:lnSpc>
                <a:spcPct val="90000"/>
              </a:lnSpc>
              <a:buFont typeface="Arial"/>
              <a:buNone/>
            </a:pPr>
            <a:r>
              <a:rPr lang="en-US" sz="1600" dirty="0"/>
              <a:t>	private String name; </a:t>
            </a:r>
          </a:p>
          <a:p>
            <a:pPr marL="91440" lvl="1" indent="0" defTabSz="457200">
              <a:lnSpc>
                <a:spcPct val="90000"/>
              </a:lnSpc>
              <a:buFont typeface="Arial"/>
              <a:buNone/>
            </a:pPr>
            <a:r>
              <a:rPr lang="en-US" sz="1600" dirty="0"/>
              <a:t>	private double weight;</a:t>
            </a:r>
          </a:p>
          <a:p>
            <a:pPr marL="91440" lvl="1" indent="0" defTabSz="457200">
              <a:lnSpc>
                <a:spcPct val="90000"/>
              </a:lnSpc>
              <a:buFont typeface="Arial"/>
              <a:buNone/>
            </a:pPr>
            <a:r>
              <a:rPr lang="en-US" sz="1600" dirty="0"/>
              <a:t>	private String breed; </a:t>
            </a:r>
          </a:p>
          <a:p>
            <a:pPr marL="91440" lvl="1" indent="0" defTabSz="457200">
              <a:lnSpc>
                <a:spcPct val="90000"/>
              </a:lnSpc>
              <a:buFont typeface="Arial"/>
              <a:buNone/>
            </a:pPr>
            <a:r>
              <a:rPr lang="en-US" sz="1600" dirty="0"/>
              <a:t>	private int age; </a:t>
            </a:r>
          </a:p>
          <a:p>
            <a:pPr marL="91440" lvl="1" indent="0" defTabSz="457200">
              <a:lnSpc>
                <a:spcPct val="90000"/>
              </a:lnSpc>
              <a:buFont typeface="Arial"/>
              <a:buNone/>
            </a:pPr>
            <a:endParaRPr lang="en-US" sz="1600" dirty="0"/>
          </a:p>
          <a:p>
            <a:pPr marL="91440" lvl="1" indent="0" defTabSz="457200">
              <a:lnSpc>
                <a:spcPct val="90000"/>
              </a:lnSpc>
              <a:buFont typeface="Arial"/>
              <a:buNone/>
            </a:pPr>
            <a:r>
              <a:rPr lang="en-US" sz="1600" dirty="0"/>
              <a:t>	private void bark(){</a:t>
            </a:r>
          </a:p>
          <a:p>
            <a:pPr marL="91440" lvl="1" indent="0" defTabSz="457200">
              <a:lnSpc>
                <a:spcPct val="90000"/>
              </a:lnSpc>
              <a:buFont typeface="Arial"/>
              <a:buNone/>
            </a:pPr>
            <a:r>
              <a:rPr lang="en-US" sz="1600" dirty="0"/>
              <a:t>		</a:t>
            </a:r>
            <a:r>
              <a:rPr lang="en-US" sz="1600" dirty="0" err="1"/>
              <a:t>System.out.println</a:t>
            </a:r>
            <a:r>
              <a:rPr lang="en-US" sz="1600" dirty="0"/>
              <a:t>(“Woof!!”);</a:t>
            </a:r>
          </a:p>
          <a:p>
            <a:pPr marL="91440" lvl="1" indent="0" defTabSz="457200">
              <a:lnSpc>
                <a:spcPct val="90000"/>
              </a:lnSpc>
              <a:buFont typeface="Arial"/>
              <a:buNone/>
            </a:pPr>
            <a:r>
              <a:rPr lang="en-US" sz="1600" dirty="0"/>
              <a:t>	}</a:t>
            </a:r>
          </a:p>
          <a:p>
            <a:pPr marL="91440" lvl="1" indent="0" defTabSz="457200">
              <a:lnSpc>
                <a:spcPct val="90000"/>
              </a:lnSpc>
              <a:buFont typeface="Arial"/>
              <a:buNone/>
            </a:pPr>
            <a:r>
              <a:rPr lang="en-US" sz="1600" dirty="0"/>
              <a:t>}</a:t>
            </a:r>
          </a:p>
        </p:txBody>
      </p:sp>
      <p:sp>
        <p:nvSpPr>
          <p:cNvPr id="9" name="Google Shape;219;p16">
            <a:extLst>
              <a:ext uri="{FF2B5EF4-FFF2-40B4-BE49-F238E27FC236}">
                <a16:creationId xmlns:a16="http://schemas.microsoft.com/office/drawing/2014/main" id="{FB8B45DF-8649-4664-874A-F431232036E5}"/>
              </a:ext>
            </a:extLst>
          </p:cNvPr>
          <p:cNvSpPr txBox="1">
            <a:spLocks/>
          </p:cNvSpPr>
          <p:nvPr/>
        </p:nvSpPr>
        <p:spPr>
          <a:xfrm>
            <a:off x="3675456" y="3907182"/>
            <a:ext cx="4613302" cy="2724150"/>
          </a:xfrm>
          <a:prstGeom prst="rect">
            <a:avLst/>
          </a:prstGeom>
          <a:solidFill>
            <a:schemeClr val="tx2"/>
          </a:solidFill>
          <a:ln>
            <a:solidFill>
              <a:schemeClr val="accent3"/>
            </a:solid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100000"/>
              </a:lnSpc>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100000"/>
              </a:lnSpc>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9pPr>
          </a:lstStyle>
          <a:p>
            <a:pPr marL="228600" lvl="1" indent="0" defTabSz="457200">
              <a:lnSpc>
                <a:spcPct val="90000"/>
              </a:lnSpc>
              <a:buFont typeface="Arial"/>
              <a:buNone/>
            </a:pPr>
            <a:r>
              <a:rPr lang="en-US" sz="1600" dirty="0"/>
              <a:t>public class </a:t>
            </a:r>
            <a:r>
              <a:rPr lang="en-US" sz="1600" dirty="0" err="1"/>
              <a:t>ProgramExecution</a:t>
            </a:r>
            <a:r>
              <a:rPr lang="en-US" sz="1600" dirty="0"/>
              <a:t> {</a:t>
            </a:r>
          </a:p>
          <a:p>
            <a:pPr marL="228600" lvl="1" indent="0" defTabSz="457200">
              <a:lnSpc>
                <a:spcPct val="90000"/>
              </a:lnSpc>
              <a:buFont typeface="Arial"/>
              <a:buNone/>
            </a:pPr>
            <a:r>
              <a:rPr lang="en-US" sz="1600" dirty="0"/>
              <a:t>	public static void main(String[] </a:t>
            </a:r>
            <a:r>
              <a:rPr lang="en-US" sz="1600" dirty="0" err="1"/>
              <a:t>args</a:t>
            </a:r>
            <a:r>
              <a:rPr lang="en-US" sz="1600" dirty="0"/>
              <a:t>){</a:t>
            </a:r>
          </a:p>
          <a:p>
            <a:pPr marL="228600" lvl="1" indent="0" defTabSz="457200">
              <a:lnSpc>
                <a:spcPct val="90000"/>
              </a:lnSpc>
              <a:buFont typeface="Arial"/>
              <a:buNone/>
            </a:pPr>
            <a:r>
              <a:rPr lang="en-US" sz="1600" dirty="0"/>
              <a:t>		Dog daisy = new Dog();</a:t>
            </a:r>
          </a:p>
          <a:p>
            <a:pPr marL="228600" lvl="1" indent="0" defTabSz="457200">
              <a:lnSpc>
                <a:spcPct val="90000"/>
              </a:lnSpc>
              <a:buFont typeface="Arial"/>
              <a:buNone/>
            </a:pPr>
            <a:r>
              <a:rPr lang="en-US" sz="1600" dirty="0"/>
              <a:t>		daisy.name = “Daisy”;</a:t>
            </a:r>
          </a:p>
          <a:p>
            <a:pPr marL="228600" lvl="1" indent="0" defTabSz="457200">
              <a:lnSpc>
                <a:spcPct val="90000"/>
              </a:lnSpc>
              <a:buFont typeface="Arial"/>
              <a:buNone/>
            </a:pPr>
            <a:r>
              <a:rPr lang="en-US" sz="1600" dirty="0"/>
              <a:t>		</a:t>
            </a:r>
            <a:r>
              <a:rPr lang="en-US" sz="1600" dirty="0" err="1"/>
              <a:t>daisy.bark</a:t>
            </a:r>
            <a:r>
              <a:rPr lang="en-US" sz="1600" dirty="0"/>
              <a:t>();</a:t>
            </a:r>
          </a:p>
          <a:p>
            <a:pPr marL="228600" lvl="1" indent="0" defTabSz="457200">
              <a:lnSpc>
                <a:spcPct val="90000"/>
              </a:lnSpc>
              <a:buFont typeface="Arial"/>
              <a:buNone/>
            </a:pPr>
            <a:r>
              <a:rPr lang="en-US" sz="1600" dirty="0"/>
              <a:t>		Dog scruffy = new Dog(); </a:t>
            </a:r>
          </a:p>
          <a:p>
            <a:pPr marL="228600" lvl="1" indent="0" defTabSz="457200">
              <a:lnSpc>
                <a:spcPct val="90000"/>
              </a:lnSpc>
              <a:buFont typeface="Arial"/>
              <a:buNone/>
            </a:pPr>
            <a:r>
              <a:rPr lang="en-US" sz="1600" dirty="0"/>
              <a:t>		scruffy.name = “Scruffy”;</a:t>
            </a:r>
          </a:p>
          <a:p>
            <a:pPr marL="228600" lvl="1" indent="0" defTabSz="457200">
              <a:lnSpc>
                <a:spcPct val="90000"/>
              </a:lnSpc>
              <a:buFont typeface="Arial"/>
              <a:buNone/>
            </a:pPr>
            <a:r>
              <a:rPr lang="en-US" sz="1600" dirty="0"/>
              <a:t>	}	</a:t>
            </a:r>
          </a:p>
          <a:p>
            <a:pPr marL="228600" lvl="1" indent="0" defTabSz="457200">
              <a:lnSpc>
                <a:spcPct val="90000"/>
              </a:lnSpc>
              <a:buFont typeface="Arial"/>
              <a:buNone/>
            </a:pPr>
            <a:r>
              <a:rPr lang="en-US" sz="1600" dirty="0"/>
              <a:t>}</a:t>
            </a:r>
          </a:p>
        </p:txBody>
      </p:sp>
      <p:grpSp>
        <p:nvGrpSpPr>
          <p:cNvPr id="6" name="Group 5">
            <a:extLst>
              <a:ext uri="{FF2B5EF4-FFF2-40B4-BE49-F238E27FC236}">
                <a16:creationId xmlns:a16="http://schemas.microsoft.com/office/drawing/2014/main" id="{4E4F5877-341C-400B-B81C-BBA116202AD2}"/>
              </a:ext>
            </a:extLst>
          </p:cNvPr>
          <p:cNvGrpSpPr/>
          <p:nvPr/>
        </p:nvGrpSpPr>
        <p:grpSpPr>
          <a:xfrm>
            <a:off x="6973552" y="1708727"/>
            <a:ext cx="1798439" cy="3875771"/>
            <a:chOff x="7439025" y="1924758"/>
            <a:chExt cx="1220585" cy="1923342"/>
          </a:xfrm>
        </p:grpSpPr>
        <p:sp>
          <p:nvSpPr>
            <p:cNvPr id="11" name="Freeform: Shape 10">
              <a:extLst>
                <a:ext uri="{FF2B5EF4-FFF2-40B4-BE49-F238E27FC236}">
                  <a16:creationId xmlns:a16="http://schemas.microsoft.com/office/drawing/2014/main" id="{8F3DF6C1-401E-493E-97D2-0ADA612C0E51}"/>
                </a:ext>
              </a:extLst>
            </p:cNvPr>
            <p:cNvSpPr/>
            <p:nvPr/>
          </p:nvSpPr>
          <p:spPr>
            <a:xfrm>
              <a:off x="7439025" y="1952898"/>
              <a:ext cx="1220585" cy="1895202"/>
            </a:xfrm>
            <a:custGeom>
              <a:avLst/>
              <a:gdLst>
                <a:gd name="connsiteX0" fmla="*/ 0 w 1220585"/>
                <a:gd name="connsiteY0" fmla="*/ 1895202 h 1895202"/>
                <a:gd name="connsiteX1" fmla="*/ 1095375 w 1220585"/>
                <a:gd name="connsiteY1" fmla="*/ 1580877 h 1895202"/>
                <a:gd name="connsiteX2" fmla="*/ 1114425 w 1220585"/>
                <a:gd name="connsiteY2" fmla="*/ 237852 h 1895202"/>
                <a:gd name="connsiteX3" fmla="*/ 361950 w 1220585"/>
                <a:gd name="connsiteY3" fmla="*/ 9252 h 1895202"/>
                <a:gd name="connsiteX4" fmla="*/ 352425 w 1220585"/>
                <a:gd name="connsiteY4" fmla="*/ 66402 h 1895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0585" h="1895202">
                  <a:moveTo>
                    <a:pt x="0" y="1895202"/>
                  </a:moveTo>
                  <a:cubicBezTo>
                    <a:pt x="454819" y="1876152"/>
                    <a:pt x="909638" y="1857102"/>
                    <a:pt x="1095375" y="1580877"/>
                  </a:cubicBezTo>
                  <a:cubicBezTo>
                    <a:pt x="1281112" y="1304652"/>
                    <a:pt x="1236663" y="499789"/>
                    <a:pt x="1114425" y="237852"/>
                  </a:cubicBezTo>
                  <a:cubicBezTo>
                    <a:pt x="992188" y="-24086"/>
                    <a:pt x="488950" y="37827"/>
                    <a:pt x="361950" y="9252"/>
                  </a:cubicBezTo>
                  <a:cubicBezTo>
                    <a:pt x="234950" y="-19323"/>
                    <a:pt x="293687" y="23539"/>
                    <a:pt x="352425" y="66402"/>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A896C1D7-C9E0-45C3-8867-3086F2B33A4F}"/>
                </a:ext>
              </a:extLst>
            </p:cNvPr>
            <p:cNvSpPr/>
            <p:nvPr/>
          </p:nvSpPr>
          <p:spPr>
            <a:xfrm>
              <a:off x="7710021" y="1924758"/>
              <a:ext cx="98520" cy="106111"/>
            </a:xfrm>
            <a:custGeom>
              <a:avLst/>
              <a:gdLst>
                <a:gd name="connsiteX0" fmla="*/ 94376 w 98520"/>
                <a:gd name="connsiteY0" fmla="*/ 2281 h 106111"/>
                <a:gd name="connsiteX1" fmla="*/ 108 w 98520"/>
                <a:gd name="connsiteY1" fmla="*/ 39988 h 106111"/>
                <a:gd name="connsiteX2" fmla="*/ 75522 w 98520"/>
                <a:gd name="connsiteY2" fmla="*/ 105975 h 106111"/>
                <a:gd name="connsiteX3" fmla="*/ 94376 w 98520"/>
                <a:gd name="connsiteY3" fmla="*/ 2281 h 106111"/>
              </a:gdLst>
              <a:ahLst/>
              <a:cxnLst>
                <a:cxn ang="0">
                  <a:pos x="connsiteX0" y="connsiteY0"/>
                </a:cxn>
                <a:cxn ang="0">
                  <a:pos x="connsiteX1" y="connsiteY1"/>
                </a:cxn>
                <a:cxn ang="0">
                  <a:pos x="connsiteX2" y="connsiteY2"/>
                </a:cxn>
                <a:cxn ang="0">
                  <a:pos x="connsiteX3" y="connsiteY3"/>
                </a:cxn>
              </a:cxnLst>
              <a:rect l="l" t="t" r="r" b="b"/>
              <a:pathLst>
                <a:path w="98520" h="106111">
                  <a:moveTo>
                    <a:pt x="94376" y="2281"/>
                  </a:moveTo>
                  <a:cubicBezTo>
                    <a:pt x="81807" y="-8717"/>
                    <a:pt x="3250" y="22706"/>
                    <a:pt x="108" y="39988"/>
                  </a:cubicBezTo>
                  <a:cubicBezTo>
                    <a:pt x="-3034" y="57270"/>
                    <a:pt x="62953" y="109117"/>
                    <a:pt x="75522" y="105975"/>
                  </a:cubicBezTo>
                  <a:cubicBezTo>
                    <a:pt x="88091" y="102833"/>
                    <a:pt x="106945" y="13279"/>
                    <a:pt x="94376" y="2281"/>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4" name="Graphic 13" descr="Dog">
            <a:extLst>
              <a:ext uri="{FF2B5EF4-FFF2-40B4-BE49-F238E27FC236}">
                <a16:creationId xmlns:a16="http://schemas.microsoft.com/office/drawing/2014/main" id="{FB6A42C6-4EED-462E-B0CC-5B8452F4F00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133193" y="1137528"/>
            <a:ext cx="1224150" cy="1224150"/>
          </a:xfrm>
          <a:prstGeom prst="rect">
            <a:avLst/>
          </a:prstGeom>
        </p:spPr>
      </p:pic>
      <p:pic>
        <p:nvPicPr>
          <p:cNvPr id="18" name="Graphic 17" descr="Dog">
            <a:extLst>
              <a:ext uri="{FF2B5EF4-FFF2-40B4-BE49-F238E27FC236}">
                <a16:creationId xmlns:a16="http://schemas.microsoft.com/office/drawing/2014/main" id="{799CA4D3-B1BF-4645-8772-56D2B2DF716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272279" y="2907347"/>
            <a:ext cx="1220584" cy="1220584"/>
          </a:xfrm>
          <a:prstGeom prst="rect">
            <a:avLst/>
          </a:prstGeom>
        </p:spPr>
      </p:pic>
      <p:sp>
        <p:nvSpPr>
          <p:cNvPr id="5" name="TextBox 4">
            <a:extLst>
              <a:ext uri="{FF2B5EF4-FFF2-40B4-BE49-F238E27FC236}">
                <a16:creationId xmlns:a16="http://schemas.microsoft.com/office/drawing/2014/main" id="{C1CD07FE-E696-4A43-98B6-9D80A1DFF4D7}"/>
              </a:ext>
            </a:extLst>
          </p:cNvPr>
          <p:cNvSpPr txBox="1"/>
          <p:nvPr/>
        </p:nvSpPr>
        <p:spPr>
          <a:xfrm>
            <a:off x="5520350" y="3299569"/>
            <a:ext cx="667170" cy="307777"/>
          </a:xfrm>
          <a:prstGeom prst="rect">
            <a:avLst/>
          </a:prstGeom>
          <a:noFill/>
        </p:spPr>
        <p:txBody>
          <a:bodyPr wrap="none" rtlCol="0">
            <a:spAutoFit/>
          </a:bodyPr>
          <a:lstStyle/>
          <a:p>
            <a:r>
              <a:rPr lang="en-US" dirty="0">
                <a:solidFill>
                  <a:schemeClr val="accent1"/>
                </a:solidFill>
                <a:latin typeface="Segoe Print" panose="02000600000000000000" pitchFamily="2" charset="0"/>
              </a:rPr>
              <a:t>Daisy</a:t>
            </a:r>
          </a:p>
        </p:txBody>
      </p:sp>
      <p:sp>
        <p:nvSpPr>
          <p:cNvPr id="19" name="TextBox 18">
            <a:extLst>
              <a:ext uri="{FF2B5EF4-FFF2-40B4-BE49-F238E27FC236}">
                <a16:creationId xmlns:a16="http://schemas.microsoft.com/office/drawing/2014/main" id="{7EC13C51-0F6E-4F4F-9CF5-C15FEA7BC20F}"/>
              </a:ext>
            </a:extLst>
          </p:cNvPr>
          <p:cNvSpPr txBox="1"/>
          <p:nvPr/>
        </p:nvSpPr>
        <p:spPr>
          <a:xfrm>
            <a:off x="6307929" y="1528695"/>
            <a:ext cx="832279" cy="307777"/>
          </a:xfrm>
          <a:prstGeom prst="rect">
            <a:avLst/>
          </a:prstGeom>
          <a:noFill/>
        </p:spPr>
        <p:txBody>
          <a:bodyPr wrap="none" rtlCol="0">
            <a:spAutoFit/>
          </a:bodyPr>
          <a:lstStyle/>
          <a:p>
            <a:r>
              <a:rPr lang="en-US" dirty="0">
                <a:solidFill>
                  <a:schemeClr val="accent1"/>
                </a:solidFill>
                <a:latin typeface="Segoe Print" panose="02000600000000000000" pitchFamily="2" charset="0"/>
              </a:rPr>
              <a:t>Scruffy</a:t>
            </a:r>
          </a:p>
        </p:txBody>
      </p:sp>
      <p:sp>
        <p:nvSpPr>
          <p:cNvPr id="21" name="Speech Bubble: Oval 20">
            <a:extLst>
              <a:ext uri="{FF2B5EF4-FFF2-40B4-BE49-F238E27FC236}">
                <a16:creationId xmlns:a16="http://schemas.microsoft.com/office/drawing/2014/main" id="{7FBE4C1E-F779-4D15-A2C5-371369C80A1B}"/>
              </a:ext>
            </a:extLst>
          </p:cNvPr>
          <p:cNvSpPr/>
          <p:nvPr/>
        </p:nvSpPr>
        <p:spPr>
          <a:xfrm>
            <a:off x="6293267" y="2371665"/>
            <a:ext cx="1066513" cy="760184"/>
          </a:xfrm>
          <a:prstGeom prst="wedgeEllipse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Woof!</a:t>
            </a:r>
          </a:p>
        </p:txBody>
      </p:sp>
      <p:grpSp>
        <p:nvGrpSpPr>
          <p:cNvPr id="15" name="Group 14">
            <a:extLst>
              <a:ext uri="{FF2B5EF4-FFF2-40B4-BE49-F238E27FC236}">
                <a16:creationId xmlns:a16="http://schemas.microsoft.com/office/drawing/2014/main" id="{D5B34064-6020-4E3C-A72C-2AAD051DDD3B}"/>
              </a:ext>
            </a:extLst>
          </p:cNvPr>
          <p:cNvGrpSpPr/>
          <p:nvPr/>
        </p:nvGrpSpPr>
        <p:grpSpPr>
          <a:xfrm>
            <a:off x="3771850" y="2874869"/>
            <a:ext cx="1774851" cy="1798731"/>
            <a:chOff x="3771850" y="2874869"/>
            <a:chExt cx="1774851" cy="1798731"/>
          </a:xfrm>
        </p:grpSpPr>
        <p:sp>
          <p:nvSpPr>
            <p:cNvPr id="13" name="Freeform: Shape 12">
              <a:extLst>
                <a:ext uri="{FF2B5EF4-FFF2-40B4-BE49-F238E27FC236}">
                  <a16:creationId xmlns:a16="http://schemas.microsoft.com/office/drawing/2014/main" id="{CAEE4269-560D-4679-87CE-74979C2DA0DE}"/>
                </a:ext>
              </a:extLst>
            </p:cNvPr>
            <p:cNvSpPr/>
            <p:nvPr/>
          </p:nvSpPr>
          <p:spPr>
            <a:xfrm>
              <a:off x="3771850" y="2874869"/>
              <a:ext cx="1733023" cy="1798731"/>
            </a:xfrm>
            <a:custGeom>
              <a:avLst/>
              <a:gdLst>
                <a:gd name="connsiteX0" fmla="*/ 892514 w 1733023"/>
                <a:gd name="connsiteY0" fmla="*/ 1798731 h 1798731"/>
                <a:gd name="connsiteX1" fmla="*/ 107423 w 1733023"/>
                <a:gd name="connsiteY1" fmla="*/ 1678658 h 1798731"/>
                <a:gd name="connsiteX2" fmla="*/ 61241 w 1733023"/>
                <a:gd name="connsiteY2" fmla="*/ 1106004 h 1798731"/>
                <a:gd name="connsiteX3" fmla="*/ 615423 w 1733023"/>
                <a:gd name="connsiteY3" fmla="*/ 856622 h 1798731"/>
                <a:gd name="connsiteX4" fmla="*/ 901750 w 1733023"/>
                <a:gd name="connsiteY4" fmla="*/ 71531 h 1798731"/>
                <a:gd name="connsiteX5" fmla="*/ 1502114 w 1733023"/>
                <a:gd name="connsiteY5" fmla="*/ 62295 h 1798731"/>
                <a:gd name="connsiteX6" fmla="*/ 1733023 w 1733023"/>
                <a:gd name="connsiteY6" fmla="*/ 302440 h 1798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33023" h="1798731">
                  <a:moveTo>
                    <a:pt x="892514" y="1798731"/>
                  </a:moveTo>
                  <a:cubicBezTo>
                    <a:pt x="569241" y="1796421"/>
                    <a:pt x="245968" y="1794112"/>
                    <a:pt x="107423" y="1678658"/>
                  </a:cubicBezTo>
                  <a:cubicBezTo>
                    <a:pt x="-31122" y="1563204"/>
                    <a:pt x="-23426" y="1243010"/>
                    <a:pt x="61241" y="1106004"/>
                  </a:cubicBezTo>
                  <a:cubicBezTo>
                    <a:pt x="145908" y="968998"/>
                    <a:pt x="475338" y="1029034"/>
                    <a:pt x="615423" y="856622"/>
                  </a:cubicBezTo>
                  <a:cubicBezTo>
                    <a:pt x="755508" y="684210"/>
                    <a:pt x="753968" y="203919"/>
                    <a:pt x="901750" y="71531"/>
                  </a:cubicBezTo>
                  <a:cubicBezTo>
                    <a:pt x="1049532" y="-60857"/>
                    <a:pt x="1363569" y="23810"/>
                    <a:pt x="1502114" y="62295"/>
                  </a:cubicBezTo>
                  <a:cubicBezTo>
                    <a:pt x="1640659" y="100780"/>
                    <a:pt x="1686841" y="201610"/>
                    <a:pt x="1733023" y="30244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209E94F8-DCD1-4E02-B8E9-491CF2E1107A}"/>
                </a:ext>
              </a:extLst>
            </p:cNvPr>
            <p:cNvSpPr/>
            <p:nvPr/>
          </p:nvSpPr>
          <p:spPr>
            <a:xfrm>
              <a:off x="5448181" y="3120427"/>
              <a:ext cx="98520" cy="106111"/>
            </a:xfrm>
            <a:custGeom>
              <a:avLst/>
              <a:gdLst>
                <a:gd name="connsiteX0" fmla="*/ 94376 w 98520"/>
                <a:gd name="connsiteY0" fmla="*/ 2281 h 106111"/>
                <a:gd name="connsiteX1" fmla="*/ 108 w 98520"/>
                <a:gd name="connsiteY1" fmla="*/ 39988 h 106111"/>
                <a:gd name="connsiteX2" fmla="*/ 75522 w 98520"/>
                <a:gd name="connsiteY2" fmla="*/ 105975 h 106111"/>
                <a:gd name="connsiteX3" fmla="*/ 94376 w 98520"/>
                <a:gd name="connsiteY3" fmla="*/ 2281 h 106111"/>
              </a:gdLst>
              <a:ahLst/>
              <a:cxnLst>
                <a:cxn ang="0">
                  <a:pos x="connsiteX0" y="connsiteY0"/>
                </a:cxn>
                <a:cxn ang="0">
                  <a:pos x="connsiteX1" y="connsiteY1"/>
                </a:cxn>
                <a:cxn ang="0">
                  <a:pos x="connsiteX2" y="connsiteY2"/>
                </a:cxn>
                <a:cxn ang="0">
                  <a:pos x="connsiteX3" y="connsiteY3"/>
                </a:cxn>
              </a:cxnLst>
              <a:rect l="l" t="t" r="r" b="b"/>
              <a:pathLst>
                <a:path w="98520" h="106111">
                  <a:moveTo>
                    <a:pt x="94376" y="2281"/>
                  </a:moveTo>
                  <a:cubicBezTo>
                    <a:pt x="81807" y="-8717"/>
                    <a:pt x="3250" y="22706"/>
                    <a:pt x="108" y="39988"/>
                  </a:cubicBezTo>
                  <a:cubicBezTo>
                    <a:pt x="-3034" y="57270"/>
                    <a:pt x="62953" y="109117"/>
                    <a:pt x="75522" y="105975"/>
                  </a:cubicBezTo>
                  <a:cubicBezTo>
                    <a:pt x="88091" y="102833"/>
                    <a:pt x="106945" y="13279"/>
                    <a:pt x="94376" y="2281"/>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613641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9">
                                            <p:bg/>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5"/>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9">
                                            <p:txEl>
                                              <p:pRg st="5" end="5"/>
                                            </p:txEl>
                                          </p:spTgt>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9">
                                            <p:txEl>
                                              <p:pRg st="6" end="6"/>
                                            </p:txEl>
                                          </p:spTgt>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1"/>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9">
                                            <p:txEl>
                                              <p:pRg st="7" end="7"/>
                                            </p:txEl>
                                          </p:spTgt>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4"/>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6"/>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9">
                                            <p:txEl>
                                              <p:pRg st="8" end="8"/>
                                            </p:txEl>
                                          </p:spTgt>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animBg="1"/>
      <p:bldP spid="9" grpId="0" uiExpand="1" build="p" animBg="1"/>
      <p:bldP spid="5" grpId="0"/>
      <p:bldP spid="19" grpId="0"/>
      <p:bldP spid="21"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CD228-B977-4C8C-B8BF-4DDB8DDC2A61}"/>
              </a:ext>
            </a:extLst>
          </p:cNvPr>
          <p:cNvSpPr>
            <a:spLocks noGrp="1"/>
          </p:cNvSpPr>
          <p:nvPr>
            <p:ph type="title"/>
          </p:nvPr>
        </p:nvSpPr>
        <p:spPr/>
        <p:txBody>
          <a:bodyPr/>
          <a:lstStyle/>
          <a:p>
            <a:r>
              <a:rPr lang="en-US" dirty="0"/>
              <a:t>Creating Objects and Invoking Methods</a:t>
            </a:r>
          </a:p>
        </p:txBody>
      </p:sp>
      <p:sp>
        <p:nvSpPr>
          <p:cNvPr id="3" name="Text Placeholder 2">
            <a:extLst>
              <a:ext uri="{FF2B5EF4-FFF2-40B4-BE49-F238E27FC236}">
                <a16:creationId xmlns:a16="http://schemas.microsoft.com/office/drawing/2014/main" id="{88FFDBE8-E049-4ACD-9C40-C15261BA2183}"/>
              </a:ext>
            </a:extLst>
          </p:cNvPr>
          <p:cNvSpPr>
            <a:spLocks noGrp="1"/>
          </p:cNvSpPr>
          <p:nvPr>
            <p:ph type="body" idx="1"/>
          </p:nvPr>
        </p:nvSpPr>
        <p:spPr/>
        <p:txBody>
          <a:bodyPr/>
          <a:lstStyle/>
          <a:p>
            <a:r>
              <a:rPr lang="en-US" sz="2000" dirty="0"/>
              <a:t>Recall that, after creation of a class, we must create an instance of it to reference the field members or methods therein.</a:t>
            </a:r>
          </a:p>
          <a:p>
            <a:pPr lvl="1"/>
            <a:endParaRPr lang="en-US" dirty="0"/>
          </a:p>
        </p:txBody>
      </p:sp>
      <p:sp>
        <p:nvSpPr>
          <p:cNvPr id="4" name="Slide Number Placeholder 3">
            <a:extLst>
              <a:ext uri="{FF2B5EF4-FFF2-40B4-BE49-F238E27FC236}">
                <a16:creationId xmlns:a16="http://schemas.microsoft.com/office/drawing/2014/main" id="{A8ED481E-DB58-4D2F-8D4D-4174EEDC3CE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46</a:t>
            </a:fld>
            <a:endParaRPr lang="en-US"/>
          </a:p>
        </p:txBody>
      </p:sp>
      <p:sp>
        <p:nvSpPr>
          <p:cNvPr id="5" name="Google Shape;219;p16">
            <a:extLst>
              <a:ext uri="{FF2B5EF4-FFF2-40B4-BE49-F238E27FC236}">
                <a16:creationId xmlns:a16="http://schemas.microsoft.com/office/drawing/2014/main" id="{B02FDB98-93AA-4157-AB6A-FDAFAAB1ECE6}"/>
              </a:ext>
            </a:extLst>
          </p:cNvPr>
          <p:cNvSpPr txBox="1">
            <a:spLocks/>
          </p:cNvSpPr>
          <p:nvPr/>
        </p:nvSpPr>
        <p:spPr>
          <a:xfrm>
            <a:off x="2146813" y="2548246"/>
            <a:ext cx="4850374" cy="3212474"/>
          </a:xfrm>
          <a:prstGeom prst="rect">
            <a:avLst/>
          </a:prstGeom>
        </p:spPr>
        <p:style>
          <a:lnRef idx="1">
            <a:schemeClr val="accent2"/>
          </a:lnRef>
          <a:fillRef idx="2">
            <a:schemeClr val="accent2"/>
          </a:fillRef>
          <a:effectRef idx="1">
            <a:schemeClr val="accent2"/>
          </a:effectRef>
          <a:fontRef idx="minor">
            <a:schemeClr val="dk1"/>
          </a:fontRef>
        </p:style>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100000"/>
              </a:lnSpc>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100000"/>
              </a:lnSpc>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9pPr>
          </a:lstStyle>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public class Dog{</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public void bark(){</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System.out.println</a:t>
            </a:r>
            <a:r>
              <a:rPr lang="en-US" sz="1400" dirty="0">
                <a:latin typeface="Courier New" panose="02070309020205020404" pitchFamily="49" charset="0"/>
                <a:cs typeface="Courier New" panose="02070309020205020404" pitchFamily="49" charset="0"/>
              </a:rPr>
              <a:t>(“woof!”);</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a:t>
            </a:r>
          </a:p>
          <a:p>
            <a:pPr marL="182880" lvl="1" indent="0" defTabSz="457200">
              <a:lnSpc>
                <a:spcPct val="90000"/>
              </a:lnSpc>
              <a:buFont typeface="Arial"/>
              <a:buNone/>
            </a:pPr>
            <a:endParaRPr lang="en-US" sz="1400" dirty="0">
              <a:latin typeface="Courier New" panose="02070309020205020404" pitchFamily="49" charset="0"/>
              <a:cs typeface="Courier New" panose="02070309020205020404" pitchFamily="49" charset="0"/>
            </a:endParaRP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public class </a:t>
            </a:r>
            <a:r>
              <a:rPr lang="en-US" sz="1400" dirty="0" err="1">
                <a:latin typeface="Courier New" panose="02070309020205020404" pitchFamily="49" charset="0"/>
                <a:cs typeface="Courier New" panose="02070309020205020404" pitchFamily="49" charset="0"/>
              </a:rPr>
              <a:t>TestDog</a:t>
            </a:r>
            <a:r>
              <a:rPr lang="en-US" sz="1400" dirty="0">
                <a:latin typeface="Courier New" panose="02070309020205020404" pitchFamily="49" charset="0"/>
                <a:cs typeface="Courier New" panose="02070309020205020404" pitchFamily="49" charset="0"/>
              </a:rPr>
              <a:t>{</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public static void main(String[] </a:t>
            </a:r>
            <a:r>
              <a:rPr lang="en-US" sz="1400" dirty="0" err="1">
                <a:latin typeface="Courier New" panose="02070309020205020404" pitchFamily="49" charset="0"/>
                <a:cs typeface="Courier New" panose="02070309020205020404" pitchFamily="49" charset="0"/>
              </a:rPr>
              <a:t>args</a:t>
            </a:r>
            <a:r>
              <a:rPr lang="en-US" sz="1400" dirty="0">
                <a:latin typeface="Courier New" panose="02070309020205020404" pitchFamily="49" charset="0"/>
                <a:cs typeface="Courier New" panose="02070309020205020404" pitchFamily="49" charset="0"/>
              </a:rPr>
              <a:t>){</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a:t>
            </a:r>
            <a:r>
              <a:rPr lang="en-US" sz="1400" b="1" dirty="0">
                <a:latin typeface="Courier New" panose="02070309020205020404" pitchFamily="49" charset="0"/>
                <a:cs typeface="Courier New" panose="02070309020205020404" pitchFamily="49" charset="0"/>
              </a:rPr>
              <a:t>Dog</a:t>
            </a:r>
            <a:r>
              <a:rPr lang="en-US" sz="1400" dirty="0">
                <a:latin typeface="Courier New" panose="02070309020205020404" pitchFamily="49" charset="0"/>
                <a:cs typeface="Courier New" panose="02070309020205020404" pitchFamily="49" charset="0"/>
              </a:rPr>
              <a:t> daisy = new </a:t>
            </a:r>
            <a:r>
              <a:rPr lang="en-US" sz="1400" b="1" dirty="0">
                <a:latin typeface="Courier New" panose="02070309020205020404" pitchFamily="49" charset="0"/>
                <a:cs typeface="Courier New" panose="02070309020205020404" pitchFamily="49" charset="0"/>
              </a:rPr>
              <a:t>Dog</a:t>
            </a:r>
            <a:r>
              <a:rPr lang="en-US" sz="1400" dirty="0">
                <a:latin typeface="Courier New" panose="02070309020205020404" pitchFamily="49" charset="0"/>
                <a:cs typeface="Courier New" panose="02070309020205020404" pitchFamily="49" charset="0"/>
              </a:rPr>
              <a:t>();</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daisy.bark</a:t>
            </a:r>
            <a:r>
              <a:rPr lang="en-US" sz="1400" dirty="0">
                <a:latin typeface="Courier New" panose="02070309020205020404" pitchFamily="49" charset="0"/>
                <a:cs typeface="Courier New" panose="02070309020205020404" pitchFamily="49" charset="0"/>
              </a:rPr>
              <a:t>();</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a:t>
            </a:r>
          </a:p>
        </p:txBody>
      </p:sp>
      <p:grpSp>
        <p:nvGrpSpPr>
          <p:cNvPr id="9" name="Group 8">
            <a:extLst>
              <a:ext uri="{FF2B5EF4-FFF2-40B4-BE49-F238E27FC236}">
                <a16:creationId xmlns:a16="http://schemas.microsoft.com/office/drawing/2014/main" id="{F2080E37-6218-4032-B9D7-C7F5A8FA7097}"/>
              </a:ext>
            </a:extLst>
          </p:cNvPr>
          <p:cNvGrpSpPr/>
          <p:nvPr/>
        </p:nvGrpSpPr>
        <p:grpSpPr>
          <a:xfrm>
            <a:off x="2569885" y="2152320"/>
            <a:ext cx="5861894" cy="1486426"/>
            <a:chOff x="2569885" y="2152320"/>
            <a:chExt cx="5861894" cy="1486426"/>
          </a:xfrm>
        </p:grpSpPr>
        <p:sp>
          <p:nvSpPr>
            <p:cNvPr id="6" name="Rectangle: Rounded Corners 5">
              <a:extLst>
                <a:ext uri="{FF2B5EF4-FFF2-40B4-BE49-F238E27FC236}">
                  <a16:creationId xmlns:a16="http://schemas.microsoft.com/office/drawing/2014/main" id="{2FA2618E-044B-4E97-970C-1A6A71D746AE}"/>
                </a:ext>
              </a:extLst>
            </p:cNvPr>
            <p:cNvSpPr/>
            <p:nvPr/>
          </p:nvSpPr>
          <p:spPr>
            <a:xfrm>
              <a:off x="2569885" y="2849732"/>
              <a:ext cx="3802635" cy="789014"/>
            </a:xfrm>
            <a:prstGeom prst="roundRect">
              <a:avLst/>
            </a:prstGeom>
            <a:solidFill>
              <a:schemeClr val="accent1">
                <a:alpha val="1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Callout: Line with Accent Bar 6">
              <a:extLst>
                <a:ext uri="{FF2B5EF4-FFF2-40B4-BE49-F238E27FC236}">
                  <a16:creationId xmlns:a16="http://schemas.microsoft.com/office/drawing/2014/main" id="{9F8678FB-8B8F-47F3-8794-EF31A0DBA49E}"/>
                </a:ext>
              </a:extLst>
            </p:cNvPr>
            <p:cNvSpPr/>
            <p:nvPr/>
          </p:nvSpPr>
          <p:spPr>
            <a:xfrm>
              <a:off x="6997187" y="2152320"/>
              <a:ext cx="1434592" cy="791851"/>
            </a:xfrm>
            <a:prstGeom prst="accentCallout1">
              <a:avLst>
                <a:gd name="adj1" fmla="val 18750"/>
                <a:gd name="adj2" fmla="val -8333"/>
                <a:gd name="adj3" fmla="val 103262"/>
                <a:gd name="adj4" fmla="val -4357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First we declare/define it.</a:t>
              </a:r>
            </a:p>
          </p:txBody>
        </p:sp>
      </p:grpSp>
      <p:sp>
        <p:nvSpPr>
          <p:cNvPr id="8" name="Callout: Line with Accent Bar 7">
            <a:extLst>
              <a:ext uri="{FF2B5EF4-FFF2-40B4-BE49-F238E27FC236}">
                <a16:creationId xmlns:a16="http://schemas.microsoft.com/office/drawing/2014/main" id="{26185FFE-AF4E-4DB1-BA29-72A8E5B5B829}"/>
              </a:ext>
            </a:extLst>
          </p:cNvPr>
          <p:cNvSpPr/>
          <p:nvPr/>
        </p:nvSpPr>
        <p:spPr>
          <a:xfrm flipH="1">
            <a:off x="633984" y="4285488"/>
            <a:ext cx="1463040" cy="902208"/>
          </a:xfrm>
          <a:prstGeom prst="accentCallout1">
            <a:avLst>
              <a:gd name="adj1" fmla="val 18750"/>
              <a:gd name="adj2" fmla="val -8333"/>
              <a:gd name="adj3" fmla="val 85474"/>
              <a:gd name="adj4" fmla="val -6916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Then we </a:t>
            </a:r>
            <a:r>
              <a:rPr lang="en-US" i="1" dirty="0"/>
              <a:t>call </a:t>
            </a:r>
            <a:r>
              <a:rPr lang="en-US" dirty="0"/>
              <a:t>the instance method on our object. </a:t>
            </a:r>
          </a:p>
        </p:txBody>
      </p:sp>
      <p:grpSp>
        <p:nvGrpSpPr>
          <p:cNvPr id="14" name="Group 13">
            <a:extLst>
              <a:ext uri="{FF2B5EF4-FFF2-40B4-BE49-F238E27FC236}">
                <a16:creationId xmlns:a16="http://schemas.microsoft.com/office/drawing/2014/main" id="{EE410FDC-C196-41D3-B352-EBAC0A1CB9C6}"/>
              </a:ext>
            </a:extLst>
          </p:cNvPr>
          <p:cNvGrpSpPr/>
          <p:nvPr/>
        </p:nvGrpSpPr>
        <p:grpSpPr>
          <a:xfrm>
            <a:off x="6574116" y="3215732"/>
            <a:ext cx="2624147" cy="949127"/>
            <a:chOff x="6574116" y="3215732"/>
            <a:chExt cx="2624147" cy="949127"/>
          </a:xfrm>
        </p:grpSpPr>
        <p:sp>
          <p:nvSpPr>
            <p:cNvPr id="10" name="TextBox 9">
              <a:extLst>
                <a:ext uri="{FF2B5EF4-FFF2-40B4-BE49-F238E27FC236}">
                  <a16:creationId xmlns:a16="http://schemas.microsoft.com/office/drawing/2014/main" id="{7240485F-0920-4E17-9B9C-61A4E032251E}"/>
                </a:ext>
              </a:extLst>
            </p:cNvPr>
            <p:cNvSpPr txBox="1"/>
            <p:nvPr/>
          </p:nvSpPr>
          <p:spPr>
            <a:xfrm>
              <a:off x="6602681" y="3857082"/>
              <a:ext cx="2595582" cy="307777"/>
            </a:xfrm>
            <a:prstGeom prst="rect">
              <a:avLst/>
            </a:prstGeom>
            <a:noFill/>
          </p:spPr>
          <p:txBody>
            <a:bodyPr wrap="none" rtlCol="0">
              <a:spAutoFit/>
            </a:bodyPr>
            <a:lstStyle/>
            <a:p>
              <a:r>
                <a:rPr lang="en-US" dirty="0">
                  <a:latin typeface="Segoe Print" panose="02000600000000000000" pitchFamily="2" charset="0"/>
                </a:rPr>
                <a:t>Running these instructions</a:t>
              </a:r>
            </a:p>
          </p:txBody>
        </p:sp>
        <mc:AlternateContent xmlns:mc="http://schemas.openxmlformats.org/markup-compatibility/2006" xmlns:p14="http://schemas.microsoft.com/office/powerpoint/2010/main">
          <mc:Choice Requires="p14">
            <p:contentPart p14:bwMode="auto" r:id="rId2">
              <p14:nvContentPartPr>
                <p14:cNvPr id="13" name="Ink 12">
                  <a:extLst>
                    <a:ext uri="{FF2B5EF4-FFF2-40B4-BE49-F238E27FC236}">
                      <a16:creationId xmlns:a16="http://schemas.microsoft.com/office/drawing/2014/main" id="{734D64DE-633B-4125-9E89-559792A4669B}"/>
                    </a:ext>
                  </a:extLst>
                </p14:cNvPr>
                <p14:cNvContentPartPr/>
                <p14:nvPr/>
              </p14:nvContentPartPr>
              <p14:xfrm>
                <a:off x="6574116" y="3215732"/>
                <a:ext cx="789840" cy="622800"/>
              </p14:xfrm>
            </p:contentPart>
          </mc:Choice>
          <mc:Fallback xmlns="">
            <p:pic>
              <p:nvPicPr>
                <p:cNvPr id="13" name="Ink 12">
                  <a:extLst>
                    <a:ext uri="{FF2B5EF4-FFF2-40B4-BE49-F238E27FC236}">
                      <a16:creationId xmlns:a16="http://schemas.microsoft.com/office/drawing/2014/main" id="{734D64DE-633B-4125-9E89-559792A4669B}"/>
                    </a:ext>
                  </a:extLst>
                </p:cNvPr>
                <p:cNvPicPr/>
                <p:nvPr/>
              </p:nvPicPr>
              <p:blipFill>
                <a:blip r:embed="rId3"/>
                <a:stretch>
                  <a:fillRect/>
                </a:stretch>
              </p:blipFill>
              <p:spPr>
                <a:xfrm>
                  <a:off x="6565476" y="3206732"/>
                  <a:ext cx="807480" cy="640440"/>
                </a:xfrm>
                <a:prstGeom prst="rect">
                  <a:avLst/>
                </a:prstGeom>
              </p:spPr>
            </p:pic>
          </mc:Fallback>
        </mc:AlternateContent>
      </p:grpSp>
    </p:spTree>
    <p:extLst>
      <p:ext uri="{BB962C8B-B14F-4D97-AF65-F5344CB8AC3E}">
        <p14:creationId xmlns:p14="http://schemas.microsoft.com/office/powerpoint/2010/main" val="2766313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iterate type="lt">
                                    <p:tmAbs val="0"/>
                                  </p:iterate>
                                  <p:childTnLst>
                                    <p:set>
                                      <p:cBhvr>
                                        <p:cTn id="32" dur="1" fill="hold">
                                          <p:stCondLst>
                                            <p:cond delay="0"/>
                                          </p:stCondLst>
                                        </p:cTn>
                                        <p:tgtEl>
                                          <p:spTgt spid="5">
                                            <p:txEl>
                                              <p:pRg st="9" end="9"/>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
                                            <p:txEl>
                                              <p:pRg st="10" end="10"/>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5" presetClass="emph" presetSubtype="0" nodeType="clickEffect">
                                  <p:stCondLst>
                                    <p:cond delay="0"/>
                                  </p:stCondLst>
                                  <p:iterate type="lt">
                                    <p:tmAbs val="25"/>
                                  </p:iterate>
                                  <p:childTnLst>
                                    <p:set>
                                      <p:cBhvr override="childStyle">
                                        <p:cTn id="40" dur="indefinite"/>
                                        <p:tgtEl>
                                          <p:spTgt spid="5">
                                            <p:txEl>
                                              <p:pRg st="9" end="9"/>
                                            </p:txEl>
                                          </p:spTgt>
                                        </p:tgtEl>
                                        <p:attrNameLst>
                                          <p:attrName>style.fontWeight</p:attrName>
                                        </p:attrNameLst>
                                      </p:cBhvr>
                                      <p:to>
                                        <p:strVal val="bold"/>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uiExpand="1" build="p"/>
      <p:bldP spid="8"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CD228-B977-4C8C-B8BF-4DDB8DDC2A61}"/>
              </a:ext>
            </a:extLst>
          </p:cNvPr>
          <p:cNvSpPr>
            <a:spLocks noGrp="1"/>
          </p:cNvSpPr>
          <p:nvPr>
            <p:ph type="title"/>
          </p:nvPr>
        </p:nvSpPr>
        <p:spPr/>
        <p:txBody>
          <a:bodyPr/>
          <a:lstStyle/>
          <a:p>
            <a:r>
              <a:rPr lang="en-US" dirty="0"/>
              <a:t>Passing data into Methods</a:t>
            </a:r>
          </a:p>
        </p:txBody>
      </p:sp>
      <p:sp>
        <p:nvSpPr>
          <p:cNvPr id="3" name="Text Placeholder 2">
            <a:extLst>
              <a:ext uri="{FF2B5EF4-FFF2-40B4-BE49-F238E27FC236}">
                <a16:creationId xmlns:a16="http://schemas.microsoft.com/office/drawing/2014/main" id="{88FFDBE8-E049-4ACD-9C40-C15261BA2183}"/>
              </a:ext>
            </a:extLst>
          </p:cNvPr>
          <p:cNvSpPr>
            <a:spLocks noGrp="1"/>
          </p:cNvSpPr>
          <p:nvPr>
            <p:ph type="body" idx="1"/>
          </p:nvPr>
        </p:nvSpPr>
        <p:spPr/>
        <p:txBody>
          <a:bodyPr/>
          <a:lstStyle/>
          <a:p>
            <a:r>
              <a:rPr lang="en-US" sz="2000" dirty="0"/>
              <a:t>With a parameter list, arguments of the same type must be passed in the same order. Multiple parameters and arguments can be separated with commas.</a:t>
            </a:r>
          </a:p>
        </p:txBody>
      </p:sp>
      <p:sp>
        <p:nvSpPr>
          <p:cNvPr id="4" name="Slide Number Placeholder 3">
            <a:extLst>
              <a:ext uri="{FF2B5EF4-FFF2-40B4-BE49-F238E27FC236}">
                <a16:creationId xmlns:a16="http://schemas.microsoft.com/office/drawing/2014/main" id="{A8ED481E-DB58-4D2F-8D4D-4174EEDC3CE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47</a:t>
            </a:fld>
            <a:endParaRPr lang="en-US"/>
          </a:p>
        </p:txBody>
      </p:sp>
      <p:sp>
        <p:nvSpPr>
          <p:cNvPr id="5" name="Google Shape;219;p16">
            <a:extLst>
              <a:ext uri="{FF2B5EF4-FFF2-40B4-BE49-F238E27FC236}">
                <a16:creationId xmlns:a16="http://schemas.microsoft.com/office/drawing/2014/main" id="{B02FDB98-93AA-4157-AB6A-FDAFAAB1ECE6}"/>
              </a:ext>
            </a:extLst>
          </p:cNvPr>
          <p:cNvSpPr txBox="1">
            <a:spLocks/>
          </p:cNvSpPr>
          <p:nvPr/>
        </p:nvSpPr>
        <p:spPr>
          <a:xfrm>
            <a:off x="1169428" y="2645899"/>
            <a:ext cx="4850374" cy="3459163"/>
          </a:xfrm>
          <a:prstGeom prst="rect">
            <a:avLst/>
          </a:prstGeom>
        </p:spPr>
        <p:style>
          <a:lnRef idx="1">
            <a:schemeClr val="accent2"/>
          </a:lnRef>
          <a:fillRef idx="2">
            <a:schemeClr val="accent2"/>
          </a:fillRef>
          <a:effectRef idx="1">
            <a:schemeClr val="accent2"/>
          </a:effectRef>
          <a:fontRef idx="minor">
            <a:schemeClr val="dk1"/>
          </a:fontRef>
        </p:style>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100000"/>
              </a:lnSpc>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100000"/>
              </a:lnSpc>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9pPr>
          </a:lstStyle>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public class Dog{</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public void feed(String treat){</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System.out.println</a:t>
            </a:r>
            <a:r>
              <a:rPr lang="en-US" sz="1400" dirty="0">
                <a:latin typeface="Courier New" panose="02070309020205020404" pitchFamily="49" charset="0"/>
                <a:cs typeface="Courier New" panose="02070309020205020404" pitchFamily="49" charset="0"/>
              </a:rPr>
              <a:t>(“The dog is enjoying a “ + treat);</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a:t>
            </a:r>
          </a:p>
          <a:p>
            <a:pPr marL="182880" lvl="1" indent="0" defTabSz="457200">
              <a:lnSpc>
                <a:spcPct val="90000"/>
              </a:lnSpc>
              <a:buFont typeface="Arial"/>
              <a:buNone/>
            </a:pPr>
            <a:endParaRPr lang="en-US" sz="1400" dirty="0">
              <a:latin typeface="Courier New" panose="02070309020205020404" pitchFamily="49" charset="0"/>
              <a:cs typeface="Courier New" panose="02070309020205020404" pitchFamily="49" charset="0"/>
            </a:endParaRP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public class </a:t>
            </a:r>
            <a:r>
              <a:rPr lang="en-US" sz="1400" dirty="0" err="1">
                <a:latin typeface="Courier New" panose="02070309020205020404" pitchFamily="49" charset="0"/>
                <a:cs typeface="Courier New" panose="02070309020205020404" pitchFamily="49" charset="0"/>
              </a:rPr>
              <a:t>TestDog</a:t>
            </a:r>
            <a:r>
              <a:rPr lang="en-US" sz="1400" dirty="0">
                <a:latin typeface="Courier New" panose="02070309020205020404" pitchFamily="49" charset="0"/>
                <a:cs typeface="Courier New" panose="02070309020205020404" pitchFamily="49" charset="0"/>
              </a:rPr>
              <a:t>{</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public static void main(String[] </a:t>
            </a:r>
            <a:r>
              <a:rPr lang="en-US" sz="1400" dirty="0" err="1">
                <a:latin typeface="Courier New" panose="02070309020205020404" pitchFamily="49" charset="0"/>
                <a:cs typeface="Courier New" panose="02070309020205020404" pitchFamily="49" charset="0"/>
              </a:rPr>
              <a:t>args</a:t>
            </a:r>
            <a:r>
              <a:rPr lang="en-US" sz="1400" dirty="0">
                <a:latin typeface="Courier New" panose="02070309020205020404" pitchFamily="49" charset="0"/>
                <a:cs typeface="Courier New" panose="02070309020205020404" pitchFamily="49" charset="0"/>
              </a:rPr>
              <a:t>){</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Dog daisy = new Dog();</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daisy.feed</a:t>
            </a:r>
            <a:r>
              <a:rPr lang="en-US" sz="1400" dirty="0">
                <a:latin typeface="Courier New" panose="02070309020205020404" pitchFamily="49" charset="0"/>
                <a:cs typeface="Courier New" panose="02070309020205020404" pitchFamily="49" charset="0"/>
              </a:rPr>
              <a:t>(“Scooby Snack”);</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a:t>
            </a:r>
          </a:p>
        </p:txBody>
      </p:sp>
      <p:grpSp>
        <p:nvGrpSpPr>
          <p:cNvPr id="11" name="Group 10">
            <a:extLst>
              <a:ext uri="{FF2B5EF4-FFF2-40B4-BE49-F238E27FC236}">
                <a16:creationId xmlns:a16="http://schemas.microsoft.com/office/drawing/2014/main" id="{A9B9590B-61E3-42F9-A4AA-0E59F553C3CF}"/>
              </a:ext>
            </a:extLst>
          </p:cNvPr>
          <p:cNvGrpSpPr/>
          <p:nvPr/>
        </p:nvGrpSpPr>
        <p:grpSpPr>
          <a:xfrm>
            <a:off x="2959513" y="2548930"/>
            <a:ext cx="5101753" cy="1101038"/>
            <a:chOff x="2959513" y="2548930"/>
            <a:chExt cx="5101753" cy="1101038"/>
          </a:xfrm>
        </p:grpSpPr>
        <p:grpSp>
          <p:nvGrpSpPr>
            <p:cNvPr id="9" name="Group 8">
              <a:extLst>
                <a:ext uri="{FF2B5EF4-FFF2-40B4-BE49-F238E27FC236}">
                  <a16:creationId xmlns:a16="http://schemas.microsoft.com/office/drawing/2014/main" id="{F2080E37-6218-4032-B9D7-C7F5A8FA7097}"/>
                </a:ext>
              </a:extLst>
            </p:cNvPr>
            <p:cNvGrpSpPr/>
            <p:nvPr/>
          </p:nvGrpSpPr>
          <p:grpSpPr>
            <a:xfrm>
              <a:off x="3489040" y="2548930"/>
              <a:ext cx="4572226" cy="976612"/>
              <a:chOff x="4412201" y="2452388"/>
              <a:chExt cx="4572226" cy="976612"/>
            </a:xfrm>
          </p:grpSpPr>
          <p:sp>
            <p:nvSpPr>
              <p:cNvPr id="6" name="Rectangle: Rounded Corners 5">
                <a:extLst>
                  <a:ext uri="{FF2B5EF4-FFF2-40B4-BE49-F238E27FC236}">
                    <a16:creationId xmlns:a16="http://schemas.microsoft.com/office/drawing/2014/main" id="{2FA2618E-044B-4E97-970C-1A6A71D746AE}"/>
                  </a:ext>
                </a:extLst>
              </p:cNvPr>
              <p:cNvSpPr/>
              <p:nvPr/>
            </p:nvSpPr>
            <p:spPr>
              <a:xfrm>
                <a:off x="4412201" y="2849732"/>
                <a:ext cx="1473693" cy="292963"/>
              </a:xfrm>
              <a:prstGeom prst="roundRect">
                <a:avLst>
                  <a:gd name="adj" fmla="val 39394"/>
                </a:avLst>
              </a:prstGeom>
              <a:solidFill>
                <a:schemeClr val="accent1">
                  <a:alpha val="1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Callout: Line with Accent Bar 6">
                <a:extLst>
                  <a:ext uri="{FF2B5EF4-FFF2-40B4-BE49-F238E27FC236}">
                    <a16:creationId xmlns:a16="http://schemas.microsoft.com/office/drawing/2014/main" id="{9F8678FB-8B8F-47F3-8794-EF31A0DBA49E}"/>
                  </a:ext>
                </a:extLst>
              </p:cNvPr>
              <p:cNvSpPr/>
              <p:nvPr/>
            </p:nvSpPr>
            <p:spPr>
              <a:xfrm>
                <a:off x="7405460" y="2452388"/>
                <a:ext cx="1578967" cy="976612"/>
              </a:xfrm>
              <a:prstGeom prst="accentCallout1">
                <a:avLst>
                  <a:gd name="adj1" fmla="val 18750"/>
                  <a:gd name="adj2" fmla="val -8333"/>
                  <a:gd name="adj3" fmla="val 43297"/>
                  <a:gd name="adj4" fmla="val -9713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We reference this parameter using the name given.</a:t>
                </a:r>
              </a:p>
            </p:txBody>
          </p:sp>
        </p:grpSp>
        <p:sp>
          <p:nvSpPr>
            <p:cNvPr id="18" name="Rectangle: Rounded Corners 17">
              <a:extLst>
                <a:ext uri="{FF2B5EF4-FFF2-40B4-BE49-F238E27FC236}">
                  <a16:creationId xmlns:a16="http://schemas.microsoft.com/office/drawing/2014/main" id="{59850F5D-5ABA-4314-A95D-57F6450CCAEA}"/>
                </a:ext>
              </a:extLst>
            </p:cNvPr>
            <p:cNvSpPr/>
            <p:nvPr/>
          </p:nvSpPr>
          <p:spPr>
            <a:xfrm>
              <a:off x="2959513" y="3434685"/>
              <a:ext cx="656209" cy="215283"/>
            </a:xfrm>
            <a:prstGeom prst="roundRect">
              <a:avLst>
                <a:gd name="adj" fmla="val 39394"/>
              </a:avLst>
            </a:prstGeom>
            <a:solidFill>
              <a:schemeClr val="accent1">
                <a:alpha val="1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9" name="Callout: Line with Accent Bar 18">
            <a:extLst>
              <a:ext uri="{FF2B5EF4-FFF2-40B4-BE49-F238E27FC236}">
                <a16:creationId xmlns:a16="http://schemas.microsoft.com/office/drawing/2014/main" id="{76DE1461-409F-45CF-9D19-9D89111E6627}"/>
              </a:ext>
            </a:extLst>
          </p:cNvPr>
          <p:cNvSpPr/>
          <p:nvPr/>
        </p:nvSpPr>
        <p:spPr>
          <a:xfrm>
            <a:off x="6709212" y="5128450"/>
            <a:ext cx="2161309" cy="976612"/>
          </a:xfrm>
          <a:prstGeom prst="accentCallout1">
            <a:avLst>
              <a:gd name="adj1" fmla="val 79655"/>
              <a:gd name="adj2" fmla="val -7771"/>
              <a:gd name="adj3" fmla="val 34207"/>
              <a:gd name="adj4" fmla="val -10444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When invoking the method, we must match the parameter type</a:t>
            </a:r>
          </a:p>
        </p:txBody>
      </p:sp>
    </p:spTree>
    <p:extLst>
      <p:ext uri="{BB962C8B-B14F-4D97-AF65-F5344CB8AC3E}">
        <p14:creationId xmlns:p14="http://schemas.microsoft.com/office/powerpoint/2010/main" val="3733653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iterate type="lt">
                                    <p:tmAbs val="0"/>
                                  </p:iterate>
                                  <p:childTnLst>
                                    <p:set>
                                      <p:cBhvr>
                                        <p:cTn id="28" dur="1" fill="hold">
                                          <p:stCondLst>
                                            <p:cond delay="0"/>
                                          </p:stCondLst>
                                        </p:cTn>
                                        <p:tgtEl>
                                          <p:spTgt spid="5">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
                                            <p:txEl>
                                              <p:pRg st="10" end="1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5" presetClass="emph" presetSubtype="0" nodeType="clickEffect">
                                  <p:stCondLst>
                                    <p:cond delay="0"/>
                                  </p:stCondLst>
                                  <p:iterate type="lt">
                                    <p:tmAbs val="25"/>
                                  </p:iterate>
                                  <p:childTnLst>
                                    <p:set>
                                      <p:cBhvr override="childStyle">
                                        <p:cTn id="36" dur="indefinite"/>
                                        <p:tgtEl>
                                          <p:spTgt spid="5">
                                            <p:txEl>
                                              <p:pRg st="9" end="9"/>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uiExpand="1"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23"/>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FFFFFF"/>
              </a:buClr>
              <a:buSzPts val="2400"/>
              <a:buFont typeface="Arial"/>
              <a:buNone/>
            </a:pPr>
            <a:r>
              <a:rPr lang="en-US">
                <a:solidFill>
                  <a:srgbClr val="FFFFFF"/>
                </a:solidFill>
                <a:latin typeface="Arial"/>
                <a:ea typeface="Arial"/>
                <a:cs typeface="Arial"/>
                <a:sym typeface="Arial"/>
              </a:rPr>
              <a:t>Objects as Representations</a:t>
            </a:r>
            <a:endParaRPr/>
          </a:p>
        </p:txBody>
      </p:sp>
      <p:sp>
        <p:nvSpPr>
          <p:cNvPr id="268" name="Google Shape;268;p23"/>
          <p:cNvSpPr txBox="1">
            <a:spLocks noGrp="1"/>
          </p:cNvSpPr>
          <p:nvPr>
            <p:ph type="body" idx="1"/>
          </p:nvPr>
        </p:nvSpPr>
        <p:spPr>
          <a:xfrm>
            <a:off x="380010" y="1481446"/>
            <a:ext cx="8383980" cy="4525963"/>
          </a:xfrm>
          <a:prstGeom prst="rect">
            <a:avLst/>
          </a:prstGeom>
          <a:noFill/>
          <a:ln>
            <a:noFill/>
          </a:ln>
        </p:spPr>
        <p:txBody>
          <a:bodyPr spcFirstLastPara="1" wrap="square" lIns="91425" tIns="45700" rIns="91425" bIns="45700" anchor="t" anchorCtr="0">
            <a:noAutofit/>
          </a:bodyPr>
          <a:lstStyle/>
          <a:p>
            <a:pPr marL="343080" lvl="0" indent="-342720" algn="l" rtl="0">
              <a:spcBef>
                <a:spcPts val="0"/>
              </a:spcBef>
              <a:spcAft>
                <a:spcPts val="0"/>
              </a:spcAft>
              <a:buClr>
                <a:srgbClr val="F36A25"/>
              </a:buClr>
              <a:buSzPts val="2800"/>
              <a:buFont typeface="Arial"/>
              <a:buChar char="•"/>
            </a:pPr>
            <a:r>
              <a:rPr lang="en-US" dirty="0">
                <a:solidFill>
                  <a:srgbClr val="474C55"/>
                </a:solidFill>
                <a:latin typeface="Arial"/>
                <a:ea typeface="Arial"/>
                <a:cs typeface="Arial"/>
                <a:sym typeface="Arial"/>
              </a:rPr>
              <a:t>A class is a blueprint for objects</a:t>
            </a:r>
            <a:endParaRPr dirty="0"/>
          </a:p>
          <a:p>
            <a:pPr marL="743040" lvl="1" indent="-285480" algn="l" rtl="0">
              <a:spcBef>
                <a:spcPts val="480"/>
              </a:spcBef>
              <a:spcAft>
                <a:spcPts val="0"/>
              </a:spcAft>
              <a:buClr>
                <a:srgbClr val="F36A25"/>
              </a:buClr>
              <a:buSzPts val="2400"/>
              <a:buFont typeface="Arial"/>
              <a:buChar char="–"/>
            </a:pPr>
            <a:r>
              <a:rPr lang="en-US" dirty="0">
                <a:solidFill>
                  <a:srgbClr val="474C55"/>
                </a:solidFill>
                <a:latin typeface="Arial"/>
                <a:ea typeface="Arial"/>
                <a:cs typeface="Arial"/>
                <a:sym typeface="Arial"/>
              </a:rPr>
              <a:t>Outline shared states and behaviors for instances</a:t>
            </a:r>
            <a:endParaRPr sz="2000" dirty="0">
              <a:solidFill>
                <a:srgbClr val="474C55"/>
              </a:solidFill>
              <a:latin typeface="Arial"/>
              <a:ea typeface="Arial"/>
              <a:cs typeface="Arial"/>
              <a:sym typeface="Arial"/>
            </a:endParaRPr>
          </a:p>
          <a:p>
            <a:pPr marL="743040" lvl="1" indent="-285480" algn="l" rtl="0">
              <a:spcBef>
                <a:spcPts val="480"/>
              </a:spcBef>
              <a:spcAft>
                <a:spcPts val="0"/>
              </a:spcAft>
              <a:buClr>
                <a:srgbClr val="F36A25"/>
              </a:buClr>
              <a:buSzPts val="2400"/>
              <a:buFont typeface="Arial"/>
              <a:buChar char="–"/>
            </a:pPr>
            <a:r>
              <a:rPr lang="en-US" dirty="0">
                <a:solidFill>
                  <a:srgbClr val="474C55"/>
                </a:solidFill>
                <a:latin typeface="Arial"/>
                <a:ea typeface="Arial"/>
                <a:cs typeface="Arial"/>
                <a:sym typeface="Arial"/>
              </a:rPr>
              <a:t>Values of those states may change</a:t>
            </a:r>
            <a:endParaRPr sz="2000" dirty="0">
              <a:solidFill>
                <a:srgbClr val="474C55"/>
              </a:solidFill>
              <a:latin typeface="Arial"/>
              <a:ea typeface="Arial"/>
              <a:cs typeface="Arial"/>
              <a:sym typeface="Arial"/>
            </a:endParaRPr>
          </a:p>
          <a:p>
            <a:pPr marL="343080" lvl="0" indent="-342720" algn="l" rtl="0">
              <a:spcBef>
                <a:spcPts val="560"/>
              </a:spcBef>
              <a:spcAft>
                <a:spcPts val="0"/>
              </a:spcAft>
              <a:buClr>
                <a:srgbClr val="F36A25"/>
              </a:buClr>
              <a:buSzPts val="2800"/>
              <a:buFont typeface="Arial"/>
              <a:buChar char="•"/>
            </a:pPr>
            <a:r>
              <a:rPr lang="en-US" dirty="0">
                <a:solidFill>
                  <a:srgbClr val="474C55"/>
                </a:solidFill>
                <a:latin typeface="Arial"/>
                <a:ea typeface="Arial"/>
                <a:cs typeface="Arial"/>
                <a:sym typeface="Arial"/>
              </a:rPr>
              <a:t>An object’s methods may change the object’s state</a:t>
            </a:r>
            <a:endParaRPr dirty="0"/>
          </a:p>
          <a:p>
            <a:pPr marL="743040" lvl="1" indent="-285480" algn="l" rtl="0">
              <a:spcBef>
                <a:spcPts val="480"/>
              </a:spcBef>
              <a:spcAft>
                <a:spcPts val="0"/>
              </a:spcAft>
              <a:buClr>
                <a:srgbClr val="F36A25"/>
              </a:buClr>
              <a:buSzPts val="2400"/>
              <a:buFont typeface="Arial"/>
              <a:buChar char="–"/>
            </a:pPr>
            <a:r>
              <a:rPr lang="en-US" dirty="0">
                <a:solidFill>
                  <a:srgbClr val="474C55"/>
                </a:solidFill>
                <a:latin typeface="Arial"/>
                <a:ea typeface="Arial"/>
                <a:cs typeface="Arial"/>
                <a:sym typeface="Arial"/>
              </a:rPr>
              <a:t>Ex: We add a variable “</a:t>
            </a:r>
            <a:r>
              <a:rPr lang="en-US" dirty="0" err="1">
                <a:solidFill>
                  <a:srgbClr val="474C55"/>
                </a:solidFill>
                <a:latin typeface="Arial"/>
                <a:ea typeface="Arial"/>
                <a:cs typeface="Arial"/>
                <a:sym typeface="Arial"/>
              </a:rPr>
              <a:t>isFed</a:t>
            </a:r>
            <a:r>
              <a:rPr lang="en-US" dirty="0">
                <a:solidFill>
                  <a:srgbClr val="474C55"/>
                </a:solidFill>
                <a:latin typeface="Arial"/>
                <a:ea typeface="Arial"/>
                <a:cs typeface="Arial"/>
                <a:sym typeface="Arial"/>
              </a:rPr>
              <a:t>” to the Dog class and an ‘eat()’ method changes that variable’s value to “true”</a:t>
            </a:r>
            <a:endParaRPr sz="2000" dirty="0">
              <a:solidFill>
                <a:srgbClr val="474C55"/>
              </a:solidFill>
              <a:latin typeface="Arial"/>
              <a:ea typeface="Arial"/>
              <a:cs typeface="Arial"/>
              <a:sym typeface="Arial"/>
            </a:endParaRPr>
          </a:p>
          <a:p>
            <a:pPr marL="343080" lvl="0" indent="-342720" algn="l" rtl="0">
              <a:spcBef>
                <a:spcPts val="560"/>
              </a:spcBef>
              <a:spcAft>
                <a:spcPts val="0"/>
              </a:spcAft>
              <a:buClr>
                <a:srgbClr val="F36A25"/>
              </a:buClr>
              <a:buSzPts val="2800"/>
              <a:buFont typeface="Arial"/>
              <a:buChar char="•"/>
            </a:pPr>
            <a:r>
              <a:rPr lang="en-US" dirty="0">
                <a:solidFill>
                  <a:srgbClr val="474C55"/>
                </a:solidFill>
                <a:latin typeface="Arial"/>
                <a:ea typeface="Arial"/>
                <a:cs typeface="Arial"/>
                <a:sym typeface="Arial"/>
              </a:rPr>
              <a:t>An object’s state is unique to itself. Each object operates its own behavior independently*.</a:t>
            </a:r>
            <a:endParaRPr dirty="0"/>
          </a:p>
          <a:p>
            <a:pPr marL="743040" lvl="1" indent="-285480" algn="l" rtl="0">
              <a:spcBef>
                <a:spcPts val="480"/>
              </a:spcBef>
              <a:spcAft>
                <a:spcPts val="0"/>
              </a:spcAft>
              <a:buClr>
                <a:srgbClr val="F36A25"/>
              </a:buClr>
              <a:buSzPts val="2400"/>
              <a:buFont typeface="Arial"/>
              <a:buChar char="–"/>
            </a:pPr>
            <a:r>
              <a:rPr lang="en-US" dirty="0">
                <a:solidFill>
                  <a:srgbClr val="474C55"/>
                </a:solidFill>
                <a:latin typeface="Arial"/>
                <a:ea typeface="Arial"/>
                <a:cs typeface="Arial"/>
                <a:sym typeface="Arial"/>
              </a:rPr>
              <a:t>*With some exceptions.</a:t>
            </a:r>
            <a:endParaRPr sz="2000" dirty="0">
              <a:solidFill>
                <a:srgbClr val="474C55"/>
              </a:solidFill>
              <a:latin typeface="Arial"/>
              <a:ea typeface="Arial"/>
              <a:cs typeface="Arial"/>
              <a:sym typeface="Arial"/>
            </a:endParaRPr>
          </a:p>
          <a:p>
            <a:pPr marL="342900" lvl="0" indent="-165100" algn="l" rtl="0">
              <a:spcBef>
                <a:spcPts val="560"/>
              </a:spcBef>
              <a:spcAft>
                <a:spcPts val="0"/>
              </a:spcAft>
              <a:buSzPts val="2800"/>
              <a:buNone/>
            </a:pPr>
            <a:endParaRPr dirty="0"/>
          </a:p>
        </p:txBody>
      </p:sp>
      <p:sp>
        <p:nvSpPr>
          <p:cNvPr id="269" name="Google Shape;269;p23"/>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48</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8">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8">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8">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68">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68">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6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8"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4EB2A-9562-09F2-DE22-A3B4CEFB797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70A293E-9E0B-7159-862F-B5ED6744FE71}"/>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49</a:t>
            </a:fld>
            <a:endParaRPr lang="en-US"/>
          </a:p>
        </p:txBody>
      </p:sp>
      <p:sp>
        <p:nvSpPr>
          <p:cNvPr id="4" name="Google Shape;212;p15">
            <a:extLst>
              <a:ext uri="{FF2B5EF4-FFF2-40B4-BE49-F238E27FC236}">
                <a16:creationId xmlns:a16="http://schemas.microsoft.com/office/drawing/2014/main" id="{2A36304E-61ED-4341-3133-0C7152CA4736}"/>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Reference Variables &amp; Memory</a:t>
            </a:r>
          </a:p>
        </p:txBody>
      </p:sp>
      <p:pic>
        <p:nvPicPr>
          <p:cNvPr id="6" name="Picture 5">
            <a:extLst>
              <a:ext uri="{FF2B5EF4-FFF2-40B4-BE49-F238E27FC236}">
                <a16:creationId xmlns:a16="http://schemas.microsoft.com/office/drawing/2014/main" id="{8E4C6152-08C3-3DEB-99BB-CEF887E467CD}"/>
              </a:ext>
            </a:extLst>
          </p:cNvPr>
          <p:cNvPicPr>
            <a:picLocks noChangeAspect="1"/>
          </p:cNvPicPr>
          <p:nvPr/>
        </p:nvPicPr>
        <p:blipFill>
          <a:blip r:embed="rId2"/>
          <a:stretch>
            <a:fillRect/>
          </a:stretch>
        </p:blipFill>
        <p:spPr>
          <a:xfrm>
            <a:off x="7036646" y="0"/>
            <a:ext cx="2107354" cy="773112"/>
          </a:xfrm>
          <a:prstGeom prst="rect">
            <a:avLst/>
          </a:prstGeom>
        </p:spPr>
      </p:pic>
    </p:spTree>
    <p:extLst>
      <p:ext uri="{BB962C8B-B14F-4D97-AF65-F5344CB8AC3E}">
        <p14:creationId xmlns:p14="http://schemas.microsoft.com/office/powerpoint/2010/main" val="265354807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17"/>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a:t>Memory Structure</a:t>
            </a:r>
            <a:endParaRPr/>
          </a:p>
        </p:txBody>
      </p:sp>
      <p:sp>
        <p:nvSpPr>
          <p:cNvPr id="226" name="Google Shape;226;p17"/>
          <p:cNvSpPr txBox="1">
            <a:spLocks noGrp="1"/>
          </p:cNvSpPr>
          <p:nvPr>
            <p:ph type="body" idx="1"/>
          </p:nvPr>
        </p:nvSpPr>
        <p:spPr>
          <a:xfrm>
            <a:off x="380010" y="1481446"/>
            <a:ext cx="8383980" cy="4525963"/>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SzPts val="2800"/>
              <a:buChar char="•"/>
            </a:pPr>
            <a:r>
              <a:rPr lang="en-US" dirty="0"/>
              <a:t>Variables are stored in memory</a:t>
            </a:r>
            <a:endParaRPr dirty="0"/>
          </a:p>
          <a:p>
            <a:pPr marL="342900" lvl="0" indent="-342900" algn="l" rtl="0">
              <a:lnSpc>
                <a:spcPct val="90000"/>
              </a:lnSpc>
              <a:spcBef>
                <a:spcPts val="560"/>
              </a:spcBef>
              <a:spcAft>
                <a:spcPts val="0"/>
              </a:spcAft>
              <a:buSzPts val="2800"/>
              <a:buChar char="•"/>
            </a:pPr>
            <a:r>
              <a:rPr lang="en-US" dirty="0"/>
              <a:t>A specific location in memory is called an “address”</a:t>
            </a:r>
            <a:endParaRPr dirty="0"/>
          </a:p>
          <a:p>
            <a:pPr marL="742950" lvl="1" indent="-285750" algn="l" rtl="0">
              <a:lnSpc>
                <a:spcPct val="90000"/>
              </a:lnSpc>
              <a:spcBef>
                <a:spcPts val="480"/>
              </a:spcBef>
              <a:spcAft>
                <a:spcPts val="0"/>
              </a:spcAft>
              <a:buSzPts val="2400"/>
              <a:buChar char="–"/>
            </a:pPr>
            <a:r>
              <a:rPr lang="en-US" dirty="0"/>
              <a:t>Each address stores a single byte of data</a:t>
            </a:r>
            <a:endParaRPr dirty="0"/>
          </a:p>
          <a:p>
            <a:pPr marL="742950" lvl="1" indent="-285750" algn="l" rtl="0">
              <a:lnSpc>
                <a:spcPct val="90000"/>
              </a:lnSpc>
              <a:spcBef>
                <a:spcPts val="480"/>
              </a:spcBef>
              <a:spcAft>
                <a:spcPts val="0"/>
              </a:spcAft>
              <a:buSzPts val="2400"/>
              <a:buChar char="–"/>
            </a:pPr>
            <a:r>
              <a:rPr lang="en-US" dirty="0"/>
              <a:t>Most variables then occupy multiple addresses</a:t>
            </a:r>
            <a:endParaRPr dirty="0"/>
          </a:p>
          <a:p>
            <a:pPr marL="342900" lvl="0" indent="-342900" algn="l" rtl="0">
              <a:lnSpc>
                <a:spcPct val="90000"/>
              </a:lnSpc>
              <a:spcBef>
                <a:spcPts val="560"/>
              </a:spcBef>
              <a:spcAft>
                <a:spcPts val="0"/>
              </a:spcAft>
              <a:buSzPts val="2800"/>
              <a:buChar char="•"/>
            </a:pPr>
            <a:r>
              <a:rPr lang="en-US" dirty="0"/>
              <a:t>The number of addresses reserved for a single variable is determined by the variable’s type</a:t>
            </a:r>
            <a:endParaRPr dirty="0"/>
          </a:p>
          <a:p>
            <a:pPr marL="742950" lvl="1" indent="-285750" algn="l" rtl="0">
              <a:lnSpc>
                <a:spcPct val="90000"/>
              </a:lnSpc>
              <a:spcBef>
                <a:spcPts val="480"/>
              </a:spcBef>
              <a:spcAft>
                <a:spcPts val="0"/>
              </a:spcAft>
              <a:buSzPts val="2400"/>
              <a:buChar char="–"/>
            </a:pPr>
            <a:r>
              <a:rPr lang="en-US" dirty="0"/>
              <a:t>An int always reserves 4 bytes</a:t>
            </a:r>
            <a:endParaRPr dirty="0"/>
          </a:p>
          <a:p>
            <a:pPr marL="342900" lvl="0" indent="-342900" algn="l" rtl="0">
              <a:lnSpc>
                <a:spcPct val="90000"/>
              </a:lnSpc>
              <a:spcBef>
                <a:spcPts val="560"/>
              </a:spcBef>
              <a:spcAft>
                <a:spcPts val="0"/>
              </a:spcAft>
              <a:buSzPts val="2800"/>
              <a:buChar char="•"/>
            </a:pPr>
            <a:r>
              <a:rPr lang="en-US" dirty="0"/>
              <a:t>The number of addresses/bytes reserved determines value range (because binary)</a:t>
            </a:r>
            <a:endParaRPr dirty="0"/>
          </a:p>
        </p:txBody>
      </p:sp>
      <p:sp>
        <p:nvSpPr>
          <p:cNvPr id="227" name="Google Shape;227;p17"/>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50</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6">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6">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6">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2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21"/>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dirty="0"/>
              <a:t>Reference Variables…</a:t>
            </a:r>
            <a:endParaRPr dirty="0"/>
          </a:p>
        </p:txBody>
      </p:sp>
      <p:sp>
        <p:nvSpPr>
          <p:cNvPr id="254" name="Google Shape;254;p21"/>
          <p:cNvSpPr txBox="1">
            <a:spLocks noGrp="1"/>
          </p:cNvSpPr>
          <p:nvPr>
            <p:ph type="body" idx="1"/>
          </p:nvPr>
        </p:nvSpPr>
        <p:spPr>
          <a:xfrm>
            <a:off x="380010" y="1470104"/>
            <a:ext cx="838398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518"/>
              </a:spcBef>
              <a:spcAft>
                <a:spcPts val="0"/>
              </a:spcAft>
              <a:buSzPts val="2590"/>
              <a:buChar char="•"/>
            </a:pPr>
            <a:r>
              <a:rPr lang="en-US" sz="2590" dirty="0"/>
              <a:t>Reference variables store the memory address or </a:t>
            </a:r>
            <a:r>
              <a:rPr lang="en-US" sz="2590" i="1" dirty="0"/>
              <a:t>reference</a:t>
            </a:r>
            <a:r>
              <a:rPr lang="en-US" sz="2590" dirty="0"/>
              <a:t> to an object in memory.</a:t>
            </a:r>
            <a:endParaRPr dirty="0"/>
          </a:p>
          <a:p>
            <a:pPr marL="342900" lvl="0" indent="-342900" algn="l" rtl="0">
              <a:spcBef>
                <a:spcPts val="518"/>
              </a:spcBef>
              <a:spcAft>
                <a:spcPts val="0"/>
              </a:spcAft>
              <a:buSzPts val="2590"/>
              <a:buChar char="•"/>
            </a:pPr>
            <a:r>
              <a:rPr lang="en-US" sz="2590" dirty="0"/>
              <a:t>Objects have to reserve enough memory to hold all the variables stored for that single object.</a:t>
            </a:r>
            <a:endParaRPr dirty="0"/>
          </a:p>
          <a:p>
            <a:pPr marL="742950" lvl="1" indent="-285750" algn="l" rtl="0">
              <a:spcBef>
                <a:spcPts val="444"/>
              </a:spcBef>
              <a:spcAft>
                <a:spcPts val="0"/>
              </a:spcAft>
              <a:buSzPts val="2220"/>
              <a:buChar char="–"/>
            </a:pPr>
            <a:r>
              <a:rPr lang="en-US" sz="2220" dirty="0"/>
              <a:t>The memory reserved for an object might contain references to other objects in memory, which contain their own objects…</a:t>
            </a:r>
            <a:endParaRPr dirty="0"/>
          </a:p>
          <a:p>
            <a:pPr marL="342900" lvl="0" indent="-342900" algn="l" rtl="0">
              <a:spcBef>
                <a:spcPts val="518"/>
              </a:spcBef>
              <a:spcAft>
                <a:spcPts val="0"/>
              </a:spcAft>
              <a:buSzPts val="2590"/>
              <a:buChar char="•"/>
            </a:pPr>
            <a:r>
              <a:rPr lang="en-US" sz="2590" dirty="0"/>
              <a:t>This confusion and messiness is why Java lets you ignore memory management.</a:t>
            </a:r>
          </a:p>
          <a:p>
            <a:pPr marL="342900" indent="-342900">
              <a:spcBef>
                <a:spcPts val="518"/>
              </a:spcBef>
              <a:buSzPts val="2590"/>
            </a:pPr>
            <a:r>
              <a:rPr lang="en-US" sz="2400" dirty="0"/>
              <a:t>The reference variable is not the object, it’s the door through which the object is accessed</a:t>
            </a:r>
          </a:p>
          <a:p>
            <a:pPr marL="342900" lvl="0" indent="-342900" algn="l" rtl="0">
              <a:spcBef>
                <a:spcPts val="518"/>
              </a:spcBef>
              <a:spcAft>
                <a:spcPts val="0"/>
              </a:spcAft>
              <a:buSzPts val="2590"/>
              <a:buChar char="•"/>
            </a:pPr>
            <a:endParaRPr lang="en-US" sz="2590" dirty="0"/>
          </a:p>
        </p:txBody>
      </p:sp>
      <p:sp>
        <p:nvSpPr>
          <p:cNvPr id="255" name="Google Shape;255;p21"/>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51</a:t>
            </a:fld>
            <a:endParaRPr/>
          </a:p>
        </p:txBody>
      </p:sp>
    </p:spTree>
    <p:extLst>
      <p:ext uri="{BB962C8B-B14F-4D97-AF65-F5344CB8AC3E}">
        <p14:creationId xmlns:p14="http://schemas.microsoft.com/office/powerpoint/2010/main" val="1047252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4">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4">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54">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5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5" name="Cloud 24">
            <a:extLst>
              <a:ext uri="{FF2B5EF4-FFF2-40B4-BE49-F238E27FC236}">
                <a16:creationId xmlns:a16="http://schemas.microsoft.com/office/drawing/2014/main" id="{A87EC355-369C-4979-8A1B-FC8A6FAE576B}"/>
              </a:ext>
            </a:extLst>
          </p:cNvPr>
          <p:cNvSpPr/>
          <p:nvPr/>
        </p:nvSpPr>
        <p:spPr>
          <a:xfrm>
            <a:off x="5387446" y="3686477"/>
            <a:ext cx="3465720" cy="3042360"/>
          </a:xfrm>
          <a:prstGeom prst="cloud">
            <a:avLst/>
          </a:prstGeom>
          <a:solidFill>
            <a:srgbClr val="F36A25">
              <a:alpha val="5000"/>
            </a:srgbClr>
          </a:solidFill>
          <a:ln w="18000">
            <a:solidFill>
              <a:srgbClr val="F36A2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pPr algn="ctr"/>
            <a:endParaRPr lang="en-US" baseline="-25000" dirty="0">
              <a:solidFill>
                <a:srgbClr val="F36A25"/>
              </a:solidFill>
            </a:endParaRPr>
          </a:p>
        </p:txBody>
      </p:sp>
      <p:sp>
        <p:nvSpPr>
          <p:cNvPr id="218" name="Google Shape;218;p1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dirty="0"/>
              <a:t>Let’s take the following program</a:t>
            </a:r>
            <a:endParaRPr dirty="0"/>
          </a:p>
        </p:txBody>
      </p:sp>
      <p:sp>
        <p:nvSpPr>
          <p:cNvPr id="219" name="Google Shape;219;p16"/>
          <p:cNvSpPr txBox="1">
            <a:spLocks noGrp="1"/>
          </p:cNvSpPr>
          <p:nvPr>
            <p:ph type="body" idx="1"/>
          </p:nvPr>
        </p:nvSpPr>
        <p:spPr>
          <a:xfrm>
            <a:off x="177554" y="1481446"/>
            <a:ext cx="4850374" cy="3920113"/>
          </a:xfrm>
          <a:prstGeom prst="rect">
            <a:avLst/>
          </a:prstGeom>
          <a:ln/>
        </p:spPr>
        <p:style>
          <a:lnRef idx="1">
            <a:schemeClr val="accent2"/>
          </a:lnRef>
          <a:fillRef idx="2">
            <a:schemeClr val="accent2"/>
          </a:fillRef>
          <a:effectRef idx="1">
            <a:schemeClr val="accent2"/>
          </a:effectRef>
          <a:fontRef idx="minor">
            <a:schemeClr val="dk1"/>
          </a:fontRef>
        </p:style>
        <p:txBody>
          <a:bodyPr spcFirstLastPara="1" wrap="square" lIns="91425" tIns="45700" rIns="91425" bIns="45700" anchor="t" anchorCtr="0">
            <a:noAutofit/>
          </a:bodyPr>
          <a:lstStyle/>
          <a:p>
            <a:pPr marL="182880" lvl="1" indent="0" algn="l" defTabSz="457200" rtl="0">
              <a:lnSpc>
                <a:spcPct val="90000"/>
              </a:lnSpc>
              <a:spcBef>
                <a:spcPts val="480"/>
              </a:spcBef>
              <a:spcAft>
                <a:spcPts val="0"/>
              </a:spcAft>
              <a:buSzPts val="2400"/>
              <a:buNone/>
            </a:pPr>
            <a:r>
              <a:rPr lang="en-US" sz="1400" dirty="0">
                <a:latin typeface="Courier New" panose="02070309020205020404" pitchFamily="49" charset="0"/>
                <a:cs typeface="Courier New" panose="02070309020205020404" pitchFamily="49" charset="0"/>
              </a:rPr>
              <a:t>public class Dog {</a:t>
            </a:r>
          </a:p>
          <a:p>
            <a:pPr marL="182880" lvl="1" indent="0" algn="l" defTabSz="457200" rtl="0">
              <a:lnSpc>
                <a:spcPct val="90000"/>
              </a:lnSpc>
              <a:spcBef>
                <a:spcPts val="480"/>
              </a:spcBef>
              <a:spcAft>
                <a:spcPts val="0"/>
              </a:spcAft>
              <a:buSzPts val="2400"/>
              <a:buNone/>
            </a:pPr>
            <a:r>
              <a:rPr lang="en-US" sz="1400" dirty="0">
                <a:latin typeface="Courier New" panose="02070309020205020404" pitchFamily="49" charset="0"/>
                <a:cs typeface="Courier New" panose="02070309020205020404" pitchFamily="49" charset="0"/>
              </a:rPr>
              <a:t>//instance variable- state of a Dog object </a:t>
            </a:r>
          </a:p>
          <a:p>
            <a:pPr marL="182880" lvl="1" indent="0" algn="l" defTabSz="457200" rtl="0">
              <a:lnSpc>
                <a:spcPct val="90000"/>
              </a:lnSpc>
              <a:spcBef>
                <a:spcPts val="480"/>
              </a:spcBef>
              <a:spcAft>
                <a:spcPts val="0"/>
              </a:spcAft>
              <a:buSzPts val="2400"/>
              <a:buNone/>
            </a:pPr>
            <a:r>
              <a:rPr lang="en-US" sz="1400" dirty="0">
                <a:latin typeface="Courier New" panose="02070309020205020404" pitchFamily="49" charset="0"/>
                <a:cs typeface="Courier New" panose="02070309020205020404" pitchFamily="49" charset="0"/>
              </a:rPr>
              <a:t>	public double size = 6.5; </a:t>
            </a:r>
          </a:p>
          <a:p>
            <a:pPr marL="182880" lvl="1" indent="0" algn="l" defTabSz="457200" rtl="0">
              <a:lnSpc>
                <a:spcPct val="90000"/>
              </a:lnSpc>
              <a:spcBef>
                <a:spcPts val="480"/>
              </a:spcBef>
              <a:spcAft>
                <a:spcPts val="0"/>
              </a:spcAft>
              <a:buSzPts val="2400"/>
              <a:buNone/>
            </a:pPr>
            <a:r>
              <a:rPr lang="en-US" sz="1400" dirty="0">
                <a:latin typeface="Courier New" panose="02070309020205020404" pitchFamily="49" charset="0"/>
                <a:cs typeface="Courier New" panose="02070309020205020404" pitchFamily="49" charset="0"/>
              </a:rPr>
              <a:t>}</a:t>
            </a:r>
          </a:p>
          <a:p>
            <a:pPr marL="182880" lvl="1" indent="0" algn="l" defTabSz="457200" rtl="0">
              <a:lnSpc>
                <a:spcPct val="90000"/>
              </a:lnSpc>
              <a:spcBef>
                <a:spcPts val="480"/>
              </a:spcBef>
              <a:spcAft>
                <a:spcPts val="0"/>
              </a:spcAft>
              <a:buSzPts val="2400"/>
              <a:buNone/>
            </a:pPr>
            <a:endParaRPr lang="en-US" sz="1400" dirty="0">
              <a:latin typeface="Courier New" panose="02070309020205020404" pitchFamily="49" charset="0"/>
              <a:cs typeface="Courier New" panose="02070309020205020404" pitchFamily="49" charset="0"/>
            </a:endParaRPr>
          </a:p>
          <a:p>
            <a:pPr marL="182880" lvl="1" indent="0" algn="l" defTabSz="457200" rtl="0">
              <a:lnSpc>
                <a:spcPct val="90000"/>
              </a:lnSpc>
              <a:spcBef>
                <a:spcPts val="480"/>
              </a:spcBef>
              <a:spcAft>
                <a:spcPts val="0"/>
              </a:spcAft>
              <a:buSzPts val="2400"/>
              <a:buNone/>
            </a:pPr>
            <a:r>
              <a:rPr lang="en-US" sz="1400" dirty="0">
                <a:latin typeface="Courier New" panose="02070309020205020404" pitchFamily="49" charset="0"/>
                <a:cs typeface="Courier New" panose="02070309020205020404" pitchFamily="49" charset="0"/>
              </a:rPr>
              <a:t>public class </a:t>
            </a:r>
            <a:r>
              <a:rPr lang="en-US" sz="1400" dirty="0" err="1">
                <a:latin typeface="Courier New" panose="02070309020205020404" pitchFamily="49" charset="0"/>
                <a:cs typeface="Courier New" panose="02070309020205020404" pitchFamily="49" charset="0"/>
              </a:rPr>
              <a:t>TestDog</a:t>
            </a:r>
            <a:r>
              <a:rPr lang="en-US" sz="1400" dirty="0">
                <a:latin typeface="Courier New" panose="02070309020205020404" pitchFamily="49" charset="0"/>
                <a:cs typeface="Courier New" panose="02070309020205020404" pitchFamily="49" charset="0"/>
              </a:rPr>
              <a:t>{</a:t>
            </a:r>
          </a:p>
          <a:p>
            <a:pPr marL="182880" lvl="1" indent="0" algn="l" defTabSz="457200" rtl="0">
              <a:lnSpc>
                <a:spcPct val="90000"/>
              </a:lnSpc>
              <a:spcBef>
                <a:spcPts val="480"/>
              </a:spcBef>
              <a:spcAft>
                <a:spcPts val="0"/>
              </a:spcAft>
              <a:buSzPts val="2400"/>
              <a:buNone/>
            </a:pPr>
            <a:r>
              <a:rPr lang="en-US" sz="1400" dirty="0">
                <a:latin typeface="Courier New" panose="02070309020205020404" pitchFamily="49" charset="0"/>
                <a:cs typeface="Courier New" panose="02070309020205020404" pitchFamily="49" charset="0"/>
              </a:rPr>
              <a:t>	</a:t>
            </a:r>
            <a:r>
              <a:rPr lang="en-US" sz="1400" b="1" dirty="0">
                <a:latin typeface="Courier New" panose="02070309020205020404" pitchFamily="49" charset="0"/>
                <a:cs typeface="Courier New" panose="02070309020205020404" pitchFamily="49" charset="0"/>
              </a:rPr>
              <a:t>public static void main(String[] </a:t>
            </a:r>
            <a:r>
              <a:rPr lang="en-US" sz="1400" b="1" dirty="0" err="1">
                <a:latin typeface="Courier New" panose="02070309020205020404" pitchFamily="49" charset="0"/>
                <a:cs typeface="Courier New" panose="02070309020205020404" pitchFamily="49" charset="0"/>
              </a:rPr>
              <a:t>args</a:t>
            </a:r>
            <a:r>
              <a:rPr lang="en-US" sz="1400" b="1" dirty="0">
                <a:latin typeface="Courier New" panose="02070309020205020404" pitchFamily="49" charset="0"/>
                <a:cs typeface="Courier New" panose="02070309020205020404" pitchFamily="49" charset="0"/>
              </a:rPr>
              <a:t>){</a:t>
            </a:r>
          </a:p>
          <a:p>
            <a:pPr marL="182880" lvl="1" indent="0" algn="l" defTabSz="457200" rtl="0">
              <a:lnSpc>
                <a:spcPct val="90000"/>
              </a:lnSpc>
              <a:spcBef>
                <a:spcPts val="480"/>
              </a:spcBef>
              <a:spcAft>
                <a:spcPts val="0"/>
              </a:spcAft>
              <a:buSzPts val="2400"/>
              <a:buNone/>
            </a:pPr>
            <a:r>
              <a:rPr lang="en-US" sz="1400" b="1" dirty="0">
                <a:latin typeface="Courier New" panose="02070309020205020404" pitchFamily="49" charset="0"/>
                <a:cs typeface="Courier New" panose="02070309020205020404" pitchFamily="49" charset="0"/>
              </a:rPr>
              <a:t>		int number = 9; </a:t>
            </a:r>
          </a:p>
          <a:p>
            <a:pPr marL="182880" lvl="1" indent="0" algn="l" defTabSz="457200" rtl="0">
              <a:lnSpc>
                <a:spcPct val="90000"/>
              </a:lnSpc>
              <a:spcBef>
                <a:spcPts val="480"/>
              </a:spcBef>
              <a:spcAft>
                <a:spcPts val="0"/>
              </a:spcAft>
              <a:buSzPts val="2400"/>
              <a:buNone/>
            </a:pPr>
            <a:r>
              <a:rPr lang="en-US" sz="1400" b="1" dirty="0">
                <a:latin typeface="Courier New" panose="02070309020205020404" pitchFamily="49" charset="0"/>
                <a:cs typeface="Courier New" panose="02070309020205020404" pitchFamily="49" charset="0"/>
              </a:rPr>
              <a:t>		Dog </a:t>
            </a:r>
            <a:r>
              <a:rPr lang="en-US" sz="1400" b="1" dirty="0" err="1">
                <a:latin typeface="Courier New" panose="02070309020205020404" pitchFamily="49" charset="0"/>
                <a:cs typeface="Courier New" panose="02070309020205020404" pitchFamily="49" charset="0"/>
              </a:rPr>
              <a:t>dog</a:t>
            </a:r>
            <a:r>
              <a:rPr lang="en-US" sz="1400" b="1" dirty="0">
                <a:latin typeface="Courier New" panose="02070309020205020404" pitchFamily="49" charset="0"/>
                <a:cs typeface="Courier New" panose="02070309020205020404" pitchFamily="49" charset="0"/>
              </a:rPr>
              <a:t> = new Dog();</a:t>
            </a:r>
          </a:p>
          <a:p>
            <a:pPr marL="182880" lvl="1" indent="0" algn="l" defTabSz="457200" rtl="0">
              <a:lnSpc>
                <a:spcPct val="90000"/>
              </a:lnSpc>
              <a:spcBef>
                <a:spcPts val="480"/>
              </a:spcBef>
              <a:spcAft>
                <a:spcPts val="0"/>
              </a:spcAft>
              <a:buSzPts val="2400"/>
              <a:buNone/>
            </a:pPr>
            <a:r>
              <a:rPr lang="en-US" sz="1400" b="1" dirty="0">
                <a:latin typeface="Courier New" panose="02070309020205020404" pitchFamily="49" charset="0"/>
                <a:cs typeface="Courier New" panose="02070309020205020404" pitchFamily="49" charset="0"/>
              </a:rPr>
              <a:t>		Dog dog2 = new Dog();</a:t>
            </a:r>
          </a:p>
          <a:p>
            <a:pPr marL="182880" lvl="1" indent="0" algn="l" defTabSz="457200" rtl="0">
              <a:lnSpc>
                <a:spcPct val="90000"/>
              </a:lnSpc>
              <a:spcBef>
                <a:spcPts val="480"/>
              </a:spcBef>
              <a:spcAft>
                <a:spcPts val="0"/>
              </a:spcAft>
              <a:buSzPts val="2400"/>
              <a:buNone/>
            </a:pPr>
            <a:r>
              <a:rPr lang="en-US" sz="1400" b="1" dirty="0">
                <a:latin typeface="Courier New" panose="02070309020205020404" pitchFamily="49" charset="0"/>
                <a:cs typeface="Courier New" panose="02070309020205020404" pitchFamily="49" charset="0"/>
              </a:rPr>
              <a:t>		dog2.size = 40.0;</a:t>
            </a:r>
          </a:p>
          <a:p>
            <a:pPr marL="182880" lvl="1" indent="0" algn="l" defTabSz="457200" rtl="0">
              <a:lnSpc>
                <a:spcPct val="90000"/>
              </a:lnSpc>
              <a:spcBef>
                <a:spcPts val="480"/>
              </a:spcBef>
              <a:spcAft>
                <a:spcPts val="0"/>
              </a:spcAft>
              <a:buSzPts val="2400"/>
              <a:buNone/>
            </a:pPr>
            <a:r>
              <a:rPr lang="en-US" sz="1400" b="1" dirty="0">
                <a:latin typeface="Courier New" panose="02070309020205020404" pitchFamily="49" charset="0"/>
                <a:cs typeface="Courier New" panose="02070309020205020404" pitchFamily="49" charset="0"/>
              </a:rPr>
              <a:t>	}</a:t>
            </a:r>
          </a:p>
          <a:p>
            <a:pPr marL="182880" lvl="1" indent="0" algn="l" defTabSz="457200" rtl="0">
              <a:lnSpc>
                <a:spcPct val="90000"/>
              </a:lnSpc>
              <a:spcBef>
                <a:spcPts val="480"/>
              </a:spcBef>
              <a:spcAft>
                <a:spcPts val="0"/>
              </a:spcAft>
              <a:buSzPts val="2400"/>
              <a:buNone/>
            </a:pPr>
            <a:r>
              <a:rPr lang="en-US" sz="1400" dirty="0">
                <a:latin typeface="Courier New" panose="02070309020205020404" pitchFamily="49" charset="0"/>
                <a:cs typeface="Courier New" panose="02070309020205020404" pitchFamily="49" charset="0"/>
              </a:rPr>
              <a:t>}</a:t>
            </a:r>
          </a:p>
        </p:txBody>
      </p:sp>
      <p:sp>
        <p:nvSpPr>
          <p:cNvPr id="220" name="Google Shape;220;p16"/>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52</a:t>
            </a:fld>
            <a:endParaRPr/>
          </a:p>
        </p:txBody>
      </p:sp>
      <p:sp>
        <p:nvSpPr>
          <p:cNvPr id="7" name="Rectangle 6">
            <a:extLst>
              <a:ext uri="{FF2B5EF4-FFF2-40B4-BE49-F238E27FC236}">
                <a16:creationId xmlns:a16="http://schemas.microsoft.com/office/drawing/2014/main" id="{2406FDC6-310C-4ED5-B6A4-B1918E33C934}"/>
              </a:ext>
            </a:extLst>
          </p:cNvPr>
          <p:cNvSpPr/>
          <p:nvPr/>
        </p:nvSpPr>
        <p:spPr>
          <a:xfrm>
            <a:off x="5212298" y="2031734"/>
            <a:ext cx="1272619" cy="1654743"/>
          </a:xfrm>
          <a:prstGeom prst="rect">
            <a:avLst/>
          </a:prstGeom>
          <a:solidFill>
            <a:srgbClr val="FEF7F4"/>
          </a:solidFill>
          <a:ln w="127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en-US" sz="1300" dirty="0">
                <a:ln w="0"/>
                <a:solidFill>
                  <a:schemeClr val="tx1"/>
                </a:solidFill>
                <a:effectLst>
                  <a:outerShdw blurRad="38100" dist="19050" dir="2700000" algn="tl" rotWithShape="0">
                    <a:schemeClr val="dk1">
                      <a:alpha val="40000"/>
                    </a:schemeClr>
                  </a:outerShdw>
                </a:effectLst>
                <a:latin typeface="Segoe Print" panose="02000600000000000000" pitchFamily="2" charset="0"/>
              </a:rPr>
              <a:t>dog2</a:t>
            </a:r>
          </a:p>
          <a:p>
            <a:r>
              <a:rPr lang="en-US" sz="1300" dirty="0">
                <a:ln w="0"/>
                <a:solidFill>
                  <a:schemeClr val="tx1"/>
                </a:solidFill>
                <a:effectLst>
                  <a:outerShdw blurRad="38100" dist="19050" dir="2700000" algn="tl" rotWithShape="0">
                    <a:schemeClr val="dk1">
                      <a:alpha val="40000"/>
                    </a:schemeClr>
                  </a:outerShdw>
                </a:effectLst>
                <a:latin typeface="Segoe Print" panose="02000600000000000000" pitchFamily="2" charset="0"/>
              </a:rPr>
              <a:t>dog</a:t>
            </a:r>
          </a:p>
          <a:p>
            <a:r>
              <a:rPr lang="en-US" sz="1300" dirty="0">
                <a:ln w="0"/>
                <a:solidFill>
                  <a:schemeClr val="tx1"/>
                </a:solidFill>
                <a:effectLst>
                  <a:outerShdw blurRad="38100" dist="19050" dir="2700000" algn="tl" rotWithShape="0">
                    <a:schemeClr val="dk1">
                      <a:alpha val="40000"/>
                    </a:schemeClr>
                  </a:outerShdw>
                </a:effectLst>
                <a:latin typeface="Segoe Print" panose="02000600000000000000" pitchFamily="2" charset="0"/>
              </a:rPr>
              <a:t>number = 9</a:t>
            </a:r>
          </a:p>
          <a:p>
            <a:r>
              <a:rPr lang="en-US" sz="1300" dirty="0">
                <a:ln w="0"/>
                <a:solidFill>
                  <a:schemeClr val="tx1"/>
                </a:solidFill>
                <a:effectLst>
                  <a:outerShdw blurRad="38100" dist="19050" dir="2700000" algn="tl" rotWithShape="0">
                    <a:schemeClr val="dk1">
                      <a:alpha val="40000"/>
                    </a:schemeClr>
                  </a:outerShdw>
                </a:effectLst>
                <a:latin typeface="Segoe Print" panose="02000600000000000000" pitchFamily="2" charset="0"/>
              </a:rPr>
              <a:t>main</a:t>
            </a:r>
          </a:p>
        </p:txBody>
      </p:sp>
      <p:grpSp>
        <p:nvGrpSpPr>
          <p:cNvPr id="206" name="Group 205">
            <a:extLst>
              <a:ext uri="{FF2B5EF4-FFF2-40B4-BE49-F238E27FC236}">
                <a16:creationId xmlns:a16="http://schemas.microsoft.com/office/drawing/2014/main" id="{C5EE3AD0-901B-4C7F-9A73-D669428D0442}"/>
              </a:ext>
            </a:extLst>
          </p:cNvPr>
          <p:cNvGrpSpPr/>
          <p:nvPr/>
        </p:nvGrpSpPr>
        <p:grpSpPr>
          <a:xfrm>
            <a:off x="5800546" y="4427852"/>
            <a:ext cx="1064880" cy="901080"/>
            <a:chOff x="5800546" y="4427852"/>
            <a:chExt cx="1064880" cy="901080"/>
          </a:xfrm>
        </p:grpSpPr>
        <mc:AlternateContent xmlns:mc="http://schemas.openxmlformats.org/markup-compatibility/2006" xmlns:p14="http://schemas.microsoft.com/office/powerpoint/2010/main">
          <mc:Choice Requires="p14">
            <p:contentPart p14:bwMode="auto" r:id="rId3">
              <p14:nvContentPartPr>
                <p14:cNvPr id="32" name="Ink 31">
                  <a:extLst>
                    <a:ext uri="{FF2B5EF4-FFF2-40B4-BE49-F238E27FC236}">
                      <a16:creationId xmlns:a16="http://schemas.microsoft.com/office/drawing/2014/main" id="{219D0911-127C-4B86-B534-D89F5913B4A5}"/>
                    </a:ext>
                  </a:extLst>
                </p14:cNvPr>
                <p14:cNvContentPartPr/>
                <p14:nvPr/>
              </p14:nvContentPartPr>
              <p14:xfrm>
                <a:off x="5800546" y="4427852"/>
                <a:ext cx="1064880" cy="901080"/>
              </p14:xfrm>
            </p:contentPart>
          </mc:Choice>
          <mc:Fallback xmlns="">
            <p:pic>
              <p:nvPicPr>
                <p:cNvPr id="32" name="Ink 31">
                  <a:extLst>
                    <a:ext uri="{FF2B5EF4-FFF2-40B4-BE49-F238E27FC236}">
                      <a16:creationId xmlns:a16="http://schemas.microsoft.com/office/drawing/2014/main" id="{219D0911-127C-4B86-B534-D89F5913B4A5}"/>
                    </a:ext>
                  </a:extLst>
                </p:cNvPr>
                <p:cNvPicPr/>
                <p:nvPr/>
              </p:nvPicPr>
              <p:blipFill>
                <a:blip r:embed="rId4"/>
                <a:stretch>
                  <a:fillRect/>
                </a:stretch>
              </p:blipFill>
              <p:spPr>
                <a:xfrm>
                  <a:off x="5791546" y="4418852"/>
                  <a:ext cx="1082520" cy="918720"/>
                </a:xfrm>
                <a:prstGeom prst="rect">
                  <a:avLst/>
                </a:prstGeom>
              </p:spPr>
            </p:pic>
          </mc:Fallback>
        </mc:AlternateContent>
        <p:sp>
          <p:nvSpPr>
            <p:cNvPr id="33" name="TextBox 32">
              <a:extLst>
                <a:ext uri="{FF2B5EF4-FFF2-40B4-BE49-F238E27FC236}">
                  <a16:creationId xmlns:a16="http://schemas.microsoft.com/office/drawing/2014/main" id="{D21C5086-75F5-46F3-8650-F70E81AD1908}"/>
                </a:ext>
              </a:extLst>
            </p:cNvPr>
            <p:cNvSpPr txBox="1"/>
            <p:nvPr/>
          </p:nvSpPr>
          <p:spPr>
            <a:xfrm>
              <a:off x="5872377" y="4792911"/>
              <a:ext cx="987771" cy="307777"/>
            </a:xfrm>
            <a:prstGeom prst="rect">
              <a:avLst/>
            </a:prstGeom>
            <a:noFill/>
          </p:spPr>
          <p:txBody>
            <a:bodyPr wrap="none" rtlCol="0">
              <a:spAutoFit/>
            </a:bodyPr>
            <a:lstStyle/>
            <a:p>
              <a:r>
                <a:rPr lang="en-US" dirty="0">
                  <a:latin typeface="Segoe Print" panose="02000600000000000000" pitchFamily="2" charset="0"/>
                </a:rPr>
                <a:t>size =6.5</a:t>
              </a:r>
            </a:p>
          </p:txBody>
        </p:sp>
      </p:grpSp>
      <p:grpSp>
        <p:nvGrpSpPr>
          <p:cNvPr id="205" name="Group 204">
            <a:extLst>
              <a:ext uri="{FF2B5EF4-FFF2-40B4-BE49-F238E27FC236}">
                <a16:creationId xmlns:a16="http://schemas.microsoft.com/office/drawing/2014/main" id="{C3D60AEE-B7CA-4C83-A02A-EB71FAF55E6E}"/>
              </a:ext>
            </a:extLst>
          </p:cNvPr>
          <p:cNvGrpSpPr/>
          <p:nvPr/>
        </p:nvGrpSpPr>
        <p:grpSpPr>
          <a:xfrm>
            <a:off x="7120306" y="4017812"/>
            <a:ext cx="1050514" cy="1059840"/>
            <a:chOff x="7120306" y="4017812"/>
            <a:chExt cx="1050514" cy="1059840"/>
          </a:xfrm>
        </p:grpSpPr>
        <mc:AlternateContent xmlns:mc="http://schemas.openxmlformats.org/markup-compatibility/2006" xmlns:p14="http://schemas.microsoft.com/office/powerpoint/2010/main">
          <mc:Choice Requires="p14">
            <p:contentPart p14:bwMode="auto" r:id="rId5">
              <p14:nvContentPartPr>
                <p14:cNvPr id="43" name="Ink 42">
                  <a:extLst>
                    <a:ext uri="{FF2B5EF4-FFF2-40B4-BE49-F238E27FC236}">
                      <a16:creationId xmlns:a16="http://schemas.microsoft.com/office/drawing/2014/main" id="{91688215-0828-4746-8680-C4ECAFCF511E}"/>
                    </a:ext>
                  </a:extLst>
                </p14:cNvPr>
                <p14:cNvContentPartPr/>
                <p14:nvPr/>
              </p14:nvContentPartPr>
              <p14:xfrm>
                <a:off x="7120306" y="4017812"/>
                <a:ext cx="1042920" cy="1059840"/>
              </p14:xfrm>
            </p:contentPart>
          </mc:Choice>
          <mc:Fallback xmlns="">
            <p:pic>
              <p:nvPicPr>
                <p:cNvPr id="43" name="Ink 42">
                  <a:extLst>
                    <a:ext uri="{FF2B5EF4-FFF2-40B4-BE49-F238E27FC236}">
                      <a16:creationId xmlns:a16="http://schemas.microsoft.com/office/drawing/2014/main" id="{91688215-0828-4746-8680-C4ECAFCF511E}"/>
                    </a:ext>
                  </a:extLst>
                </p:cNvPr>
                <p:cNvPicPr/>
                <p:nvPr/>
              </p:nvPicPr>
              <p:blipFill>
                <a:blip r:embed="rId6"/>
                <a:stretch>
                  <a:fillRect/>
                </a:stretch>
              </p:blipFill>
              <p:spPr>
                <a:xfrm>
                  <a:off x="7111666" y="4009172"/>
                  <a:ext cx="1060560" cy="1077480"/>
                </a:xfrm>
                <a:prstGeom prst="rect">
                  <a:avLst/>
                </a:prstGeom>
              </p:spPr>
            </p:pic>
          </mc:Fallback>
        </mc:AlternateContent>
        <p:sp>
          <p:nvSpPr>
            <p:cNvPr id="44" name="TextBox 43">
              <a:extLst>
                <a:ext uri="{FF2B5EF4-FFF2-40B4-BE49-F238E27FC236}">
                  <a16:creationId xmlns:a16="http://schemas.microsoft.com/office/drawing/2014/main" id="{4AE4353D-B8C8-4FF1-AE2F-955BAEB1D6FB}"/>
                </a:ext>
              </a:extLst>
            </p:cNvPr>
            <p:cNvSpPr txBox="1"/>
            <p:nvPr/>
          </p:nvSpPr>
          <p:spPr>
            <a:xfrm>
              <a:off x="7183049" y="4395089"/>
              <a:ext cx="987771" cy="307777"/>
            </a:xfrm>
            <a:prstGeom prst="rect">
              <a:avLst/>
            </a:prstGeom>
            <a:noFill/>
          </p:spPr>
          <p:txBody>
            <a:bodyPr wrap="none" rtlCol="0">
              <a:spAutoFit/>
            </a:bodyPr>
            <a:lstStyle/>
            <a:p>
              <a:r>
                <a:rPr lang="en-US" dirty="0">
                  <a:latin typeface="Segoe Print" panose="02000600000000000000" pitchFamily="2" charset="0"/>
                </a:rPr>
                <a:t>size =6.5</a:t>
              </a:r>
            </a:p>
          </p:txBody>
        </p:sp>
      </p:grpSp>
      <p:grpSp>
        <p:nvGrpSpPr>
          <p:cNvPr id="207" name="Group 206">
            <a:extLst>
              <a:ext uri="{FF2B5EF4-FFF2-40B4-BE49-F238E27FC236}">
                <a16:creationId xmlns:a16="http://schemas.microsoft.com/office/drawing/2014/main" id="{31B4D08D-FABE-4E0C-98F4-94753B68FACB}"/>
              </a:ext>
            </a:extLst>
          </p:cNvPr>
          <p:cNvGrpSpPr/>
          <p:nvPr/>
        </p:nvGrpSpPr>
        <p:grpSpPr>
          <a:xfrm>
            <a:off x="7417095" y="4412012"/>
            <a:ext cx="589171" cy="606643"/>
            <a:chOff x="7417095" y="4412012"/>
            <a:chExt cx="589171" cy="606643"/>
          </a:xfrm>
        </p:grpSpPr>
        <mc:AlternateContent xmlns:mc="http://schemas.openxmlformats.org/markup-compatibility/2006" xmlns:p14="http://schemas.microsoft.com/office/powerpoint/2010/main">
          <mc:Choice Requires="p14">
            <p:contentPart p14:bwMode="auto" r:id="rId7">
              <p14:nvContentPartPr>
                <p14:cNvPr id="52" name="Ink 51">
                  <a:extLst>
                    <a:ext uri="{FF2B5EF4-FFF2-40B4-BE49-F238E27FC236}">
                      <a16:creationId xmlns:a16="http://schemas.microsoft.com/office/drawing/2014/main" id="{D8E648CF-714C-485C-ADD8-B4379F2A2DB9}"/>
                    </a:ext>
                  </a:extLst>
                </p14:cNvPr>
                <p14:cNvContentPartPr/>
                <p14:nvPr/>
              </p14:nvContentPartPr>
              <p14:xfrm>
                <a:off x="7724386" y="4412012"/>
                <a:ext cx="281880" cy="249120"/>
              </p14:xfrm>
            </p:contentPart>
          </mc:Choice>
          <mc:Fallback xmlns="">
            <p:pic>
              <p:nvPicPr>
                <p:cNvPr id="52" name="Ink 51">
                  <a:extLst>
                    <a:ext uri="{FF2B5EF4-FFF2-40B4-BE49-F238E27FC236}">
                      <a16:creationId xmlns:a16="http://schemas.microsoft.com/office/drawing/2014/main" id="{D8E648CF-714C-485C-ADD8-B4379F2A2DB9}"/>
                    </a:ext>
                  </a:extLst>
                </p:cNvPr>
                <p:cNvPicPr/>
                <p:nvPr/>
              </p:nvPicPr>
              <p:blipFill>
                <a:blip r:embed="rId8"/>
                <a:stretch>
                  <a:fillRect/>
                </a:stretch>
              </p:blipFill>
              <p:spPr>
                <a:xfrm>
                  <a:off x="7715386" y="4402999"/>
                  <a:ext cx="299520" cy="266786"/>
                </a:xfrm>
                <a:prstGeom prst="rect">
                  <a:avLst/>
                </a:prstGeom>
              </p:spPr>
            </p:pic>
          </mc:Fallback>
        </mc:AlternateContent>
        <p:sp>
          <p:nvSpPr>
            <p:cNvPr id="37" name="TextBox 36">
              <a:extLst>
                <a:ext uri="{FF2B5EF4-FFF2-40B4-BE49-F238E27FC236}">
                  <a16:creationId xmlns:a16="http://schemas.microsoft.com/office/drawing/2014/main" id="{3FE0A5DD-9C90-4C04-A829-93ED66CECB72}"/>
                </a:ext>
              </a:extLst>
            </p:cNvPr>
            <p:cNvSpPr txBox="1"/>
            <p:nvPr/>
          </p:nvSpPr>
          <p:spPr>
            <a:xfrm>
              <a:off x="7417095" y="4618545"/>
              <a:ext cx="559770" cy="400110"/>
            </a:xfrm>
            <a:prstGeom prst="rect">
              <a:avLst/>
            </a:prstGeom>
            <a:noFill/>
          </p:spPr>
          <p:txBody>
            <a:bodyPr wrap="none" rtlCol="0" anchor="ctr" anchorCtr="1">
              <a:spAutoFit/>
            </a:bodyPr>
            <a:lstStyle/>
            <a:p>
              <a:pPr algn="ctr"/>
              <a:r>
                <a:rPr lang="en-US" sz="2000" dirty="0">
                  <a:solidFill>
                    <a:schemeClr val="accent1"/>
                  </a:solidFill>
                  <a:latin typeface="Segoe Print" panose="02000600000000000000" pitchFamily="2" charset="0"/>
                </a:rPr>
                <a:t>40</a:t>
              </a:r>
            </a:p>
          </p:txBody>
        </p:sp>
      </p:grpSp>
      <p:sp>
        <p:nvSpPr>
          <p:cNvPr id="30" name="TextBox 29">
            <a:extLst>
              <a:ext uri="{FF2B5EF4-FFF2-40B4-BE49-F238E27FC236}">
                <a16:creationId xmlns:a16="http://schemas.microsoft.com/office/drawing/2014/main" id="{5E1C9952-1AB9-4404-B283-62C359136717}"/>
              </a:ext>
            </a:extLst>
          </p:cNvPr>
          <p:cNvSpPr txBox="1"/>
          <p:nvPr/>
        </p:nvSpPr>
        <p:spPr>
          <a:xfrm>
            <a:off x="4957982" y="1429856"/>
            <a:ext cx="1718740" cy="738664"/>
          </a:xfrm>
          <a:prstGeom prst="rect">
            <a:avLst/>
          </a:prstGeom>
          <a:noFill/>
        </p:spPr>
        <p:txBody>
          <a:bodyPr wrap="none" rtlCol="0" anchor="ctr" anchorCtr="1">
            <a:spAutoFit/>
          </a:bodyPr>
          <a:lstStyle/>
          <a:p>
            <a:pPr algn="ctr"/>
            <a:r>
              <a:rPr lang="en-US" sz="4200" dirty="0">
                <a:ln w="0"/>
                <a:solidFill>
                  <a:schemeClr val="accent1"/>
                </a:solidFill>
                <a:latin typeface="Segoe Print" panose="02000600000000000000" pitchFamily="2" charset="0"/>
              </a:rPr>
              <a:t>Stack</a:t>
            </a:r>
          </a:p>
        </p:txBody>
      </p:sp>
      <p:sp>
        <p:nvSpPr>
          <p:cNvPr id="35" name="TextBox 34">
            <a:extLst>
              <a:ext uri="{FF2B5EF4-FFF2-40B4-BE49-F238E27FC236}">
                <a16:creationId xmlns:a16="http://schemas.microsoft.com/office/drawing/2014/main" id="{85577769-DA3E-4CBD-A7A0-2F9E02157F75}"/>
              </a:ext>
            </a:extLst>
          </p:cNvPr>
          <p:cNvSpPr txBox="1"/>
          <p:nvPr/>
        </p:nvSpPr>
        <p:spPr>
          <a:xfrm>
            <a:off x="6676722" y="5282708"/>
            <a:ext cx="1563248" cy="738664"/>
          </a:xfrm>
          <a:prstGeom prst="rect">
            <a:avLst/>
          </a:prstGeom>
          <a:noFill/>
        </p:spPr>
        <p:txBody>
          <a:bodyPr wrap="none" rtlCol="0" anchor="ctr" anchorCtr="1">
            <a:spAutoFit/>
          </a:bodyPr>
          <a:lstStyle/>
          <a:p>
            <a:pPr algn="ctr"/>
            <a:r>
              <a:rPr lang="en-US" sz="4200" dirty="0">
                <a:solidFill>
                  <a:srgbClr val="F36A25"/>
                </a:solidFill>
                <a:latin typeface="Segoe Print" panose="02000600000000000000" pitchFamily="2" charset="0"/>
              </a:rPr>
              <a:t>Heap</a:t>
            </a:r>
          </a:p>
        </p:txBody>
      </p:sp>
      <p:sp>
        <p:nvSpPr>
          <p:cNvPr id="198" name="Freeform: Shape 197">
            <a:extLst>
              <a:ext uri="{FF2B5EF4-FFF2-40B4-BE49-F238E27FC236}">
                <a16:creationId xmlns:a16="http://schemas.microsoft.com/office/drawing/2014/main" id="{3511BE75-C00D-45AB-AD8C-CA9F46156CE9}"/>
              </a:ext>
            </a:extLst>
          </p:cNvPr>
          <p:cNvSpPr/>
          <p:nvPr/>
        </p:nvSpPr>
        <p:spPr>
          <a:xfrm>
            <a:off x="5641124" y="3096472"/>
            <a:ext cx="987771" cy="1722128"/>
          </a:xfrm>
          <a:custGeom>
            <a:avLst/>
            <a:gdLst>
              <a:gd name="connsiteX0" fmla="*/ 0 w 934740"/>
              <a:gd name="connsiteY0" fmla="*/ 43021 h 1645578"/>
              <a:gd name="connsiteX1" fmla="*/ 848412 w 934740"/>
              <a:gd name="connsiteY1" fmla="*/ 80729 h 1645578"/>
              <a:gd name="connsiteX2" fmla="*/ 886120 w 934740"/>
              <a:gd name="connsiteY2" fmla="*/ 778312 h 1645578"/>
              <a:gd name="connsiteX3" fmla="*/ 669303 w 934740"/>
              <a:gd name="connsiteY3" fmla="*/ 1494749 h 1645578"/>
              <a:gd name="connsiteX4" fmla="*/ 631596 w 934740"/>
              <a:gd name="connsiteY4" fmla="*/ 1645578 h 1645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4740" h="1645578">
                <a:moveTo>
                  <a:pt x="0" y="43021"/>
                </a:moveTo>
                <a:cubicBezTo>
                  <a:pt x="350362" y="601"/>
                  <a:pt x="700725" y="-41819"/>
                  <a:pt x="848412" y="80729"/>
                </a:cubicBezTo>
                <a:cubicBezTo>
                  <a:pt x="996099" y="203277"/>
                  <a:pt x="915971" y="542642"/>
                  <a:pt x="886120" y="778312"/>
                </a:cubicBezTo>
                <a:cubicBezTo>
                  <a:pt x="856269" y="1013982"/>
                  <a:pt x="711724" y="1350205"/>
                  <a:pt x="669303" y="1494749"/>
                </a:cubicBezTo>
                <a:cubicBezTo>
                  <a:pt x="626882" y="1639293"/>
                  <a:pt x="629239" y="1642435"/>
                  <a:pt x="631596" y="1645578"/>
                </a:cubicBez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01" name="Freeform: Shape 200">
            <a:extLst>
              <a:ext uri="{FF2B5EF4-FFF2-40B4-BE49-F238E27FC236}">
                <a16:creationId xmlns:a16="http://schemas.microsoft.com/office/drawing/2014/main" id="{5AEEE274-6168-4DBA-AE38-0F2D52F29D48}"/>
              </a:ext>
            </a:extLst>
          </p:cNvPr>
          <p:cNvSpPr/>
          <p:nvPr/>
        </p:nvSpPr>
        <p:spPr>
          <a:xfrm>
            <a:off x="6277929" y="4736770"/>
            <a:ext cx="88333" cy="81830"/>
          </a:xfrm>
          <a:custGeom>
            <a:avLst/>
            <a:gdLst>
              <a:gd name="connsiteX0" fmla="*/ 4431 w 88333"/>
              <a:gd name="connsiteY0" fmla="*/ 1249 h 81830"/>
              <a:gd name="connsiteX1" fmla="*/ 19671 w 88333"/>
              <a:gd name="connsiteY1" fmla="*/ 81259 h 81830"/>
              <a:gd name="connsiteX2" fmla="*/ 88251 w 88333"/>
              <a:gd name="connsiteY2" fmla="*/ 35539 h 81830"/>
              <a:gd name="connsiteX3" fmla="*/ 4431 w 88333"/>
              <a:gd name="connsiteY3" fmla="*/ 1249 h 81830"/>
            </a:gdLst>
            <a:ahLst/>
            <a:cxnLst>
              <a:cxn ang="0">
                <a:pos x="connsiteX0" y="connsiteY0"/>
              </a:cxn>
              <a:cxn ang="0">
                <a:pos x="connsiteX1" y="connsiteY1"/>
              </a:cxn>
              <a:cxn ang="0">
                <a:pos x="connsiteX2" y="connsiteY2"/>
              </a:cxn>
              <a:cxn ang="0">
                <a:pos x="connsiteX3" y="connsiteY3"/>
              </a:cxn>
            </a:cxnLst>
            <a:rect l="l" t="t" r="r" b="b"/>
            <a:pathLst>
              <a:path w="88333" h="81830">
                <a:moveTo>
                  <a:pt x="4431" y="1249"/>
                </a:moveTo>
                <a:cubicBezTo>
                  <a:pt x="-6999" y="8869"/>
                  <a:pt x="5701" y="75544"/>
                  <a:pt x="19671" y="81259"/>
                </a:cubicBezTo>
                <a:cubicBezTo>
                  <a:pt x="33641" y="86974"/>
                  <a:pt x="90791" y="48239"/>
                  <a:pt x="88251" y="35539"/>
                </a:cubicBezTo>
                <a:cubicBezTo>
                  <a:pt x="85711" y="22839"/>
                  <a:pt x="15861" y="-6371"/>
                  <a:pt x="4431" y="1249"/>
                </a:cubicBezTo>
                <a:close/>
              </a:path>
            </a:pathLst>
          </a:cu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nvGrpSpPr>
          <p:cNvPr id="204" name="Group 203">
            <a:extLst>
              <a:ext uri="{FF2B5EF4-FFF2-40B4-BE49-F238E27FC236}">
                <a16:creationId xmlns:a16="http://schemas.microsoft.com/office/drawing/2014/main" id="{2910588B-147F-4D77-A3E4-10400B680FDC}"/>
              </a:ext>
            </a:extLst>
          </p:cNvPr>
          <p:cNvGrpSpPr/>
          <p:nvPr/>
        </p:nvGrpSpPr>
        <p:grpSpPr>
          <a:xfrm>
            <a:off x="5745480" y="2929853"/>
            <a:ext cx="1931454" cy="1323300"/>
            <a:chOff x="5745480" y="2929853"/>
            <a:chExt cx="1931454" cy="1323300"/>
          </a:xfrm>
        </p:grpSpPr>
        <p:sp>
          <p:nvSpPr>
            <p:cNvPr id="77" name="Freeform: Shape 76">
              <a:extLst>
                <a:ext uri="{FF2B5EF4-FFF2-40B4-BE49-F238E27FC236}">
                  <a16:creationId xmlns:a16="http://schemas.microsoft.com/office/drawing/2014/main" id="{88F566E5-9BA9-4DE9-937E-6028E73AF06F}"/>
                </a:ext>
              </a:extLst>
            </p:cNvPr>
            <p:cNvSpPr/>
            <p:nvPr/>
          </p:nvSpPr>
          <p:spPr>
            <a:xfrm rot="19302310">
              <a:off x="7588601" y="4171323"/>
              <a:ext cx="88333" cy="81830"/>
            </a:xfrm>
            <a:custGeom>
              <a:avLst/>
              <a:gdLst>
                <a:gd name="connsiteX0" fmla="*/ 4431 w 88333"/>
                <a:gd name="connsiteY0" fmla="*/ 1249 h 81830"/>
                <a:gd name="connsiteX1" fmla="*/ 19671 w 88333"/>
                <a:gd name="connsiteY1" fmla="*/ 81259 h 81830"/>
                <a:gd name="connsiteX2" fmla="*/ 88251 w 88333"/>
                <a:gd name="connsiteY2" fmla="*/ 35539 h 81830"/>
                <a:gd name="connsiteX3" fmla="*/ 4431 w 88333"/>
                <a:gd name="connsiteY3" fmla="*/ 1249 h 81830"/>
              </a:gdLst>
              <a:ahLst/>
              <a:cxnLst>
                <a:cxn ang="0">
                  <a:pos x="connsiteX0" y="connsiteY0"/>
                </a:cxn>
                <a:cxn ang="0">
                  <a:pos x="connsiteX1" y="connsiteY1"/>
                </a:cxn>
                <a:cxn ang="0">
                  <a:pos x="connsiteX2" y="connsiteY2"/>
                </a:cxn>
                <a:cxn ang="0">
                  <a:pos x="connsiteX3" y="connsiteY3"/>
                </a:cxn>
              </a:cxnLst>
              <a:rect l="l" t="t" r="r" b="b"/>
              <a:pathLst>
                <a:path w="88333" h="81830">
                  <a:moveTo>
                    <a:pt x="4431" y="1249"/>
                  </a:moveTo>
                  <a:cubicBezTo>
                    <a:pt x="-6999" y="8869"/>
                    <a:pt x="5701" y="75544"/>
                    <a:pt x="19671" y="81259"/>
                  </a:cubicBezTo>
                  <a:cubicBezTo>
                    <a:pt x="33641" y="86974"/>
                    <a:pt x="90791" y="48239"/>
                    <a:pt x="88251" y="35539"/>
                  </a:cubicBezTo>
                  <a:cubicBezTo>
                    <a:pt x="85711" y="22839"/>
                    <a:pt x="15861" y="-6371"/>
                    <a:pt x="4431" y="1249"/>
                  </a:cubicBezTo>
                  <a:close/>
                </a:path>
              </a:pathLst>
            </a:cu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03" name="Freeform: Shape 202">
              <a:extLst>
                <a:ext uri="{FF2B5EF4-FFF2-40B4-BE49-F238E27FC236}">
                  <a16:creationId xmlns:a16="http://schemas.microsoft.com/office/drawing/2014/main" id="{A9A6015C-720F-4D48-988E-623382767FA5}"/>
                </a:ext>
              </a:extLst>
            </p:cNvPr>
            <p:cNvSpPr/>
            <p:nvPr/>
          </p:nvSpPr>
          <p:spPr>
            <a:xfrm>
              <a:off x="5745480" y="2929853"/>
              <a:ext cx="1874520" cy="1257337"/>
            </a:xfrm>
            <a:custGeom>
              <a:avLst/>
              <a:gdLst>
                <a:gd name="connsiteX0" fmla="*/ 0 w 1874520"/>
                <a:gd name="connsiteY0" fmla="*/ 41947 h 1257337"/>
                <a:gd name="connsiteX1" fmla="*/ 1051560 w 1874520"/>
                <a:gd name="connsiteY1" fmla="*/ 148627 h 1257337"/>
                <a:gd name="connsiteX2" fmla="*/ 1874520 w 1874520"/>
                <a:gd name="connsiteY2" fmla="*/ 1257337 h 1257337"/>
              </a:gdLst>
              <a:ahLst/>
              <a:cxnLst>
                <a:cxn ang="0">
                  <a:pos x="connsiteX0" y="connsiteY0"/>
                </a:cxn>
                <a:cxn ang="0">
                  <a:pos x="connsiteX1" y="connsiteY1"/>
                </a:cxn>
                <a:cxn ang="0">
                  <a:pos x="connsiteX2" y="connsiteY2"/>
                </a:cxn>
              </a:cxnLst>
              <a:rect l="l" t="t" r="r" b="b"/>
              <a:pathLst>
                <a:path w="1874520" h="1257337">
                  <a:moveTo>
                    <a:pt x="0" y="41947"/>
                  </a:moveTo>
                  <a:cubicBezTo>
                    <a:pt x="369570" y="-5996"/>
                    <a:pt x="739140" y="-53938"/>
                    <a:pt x="1051560" y="148627"/>
                  </a:cubicBezTo>
                  <a:cubicBezTo>
                    <a:pt x="1363980" y="351192"/>
                    <a:pt x="1619250" y="804264"/>
                    <a:pt x="1874520" y="1257337"/>
                  </a:cubicBez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1151404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1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9">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19">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9">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9">
                                            <p:txEl>
                                              <p:pRg st="11" end="11"/>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9">
                                            <p:txEl>
                                              <p:pRg st="12" end="1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9">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9">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19">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19">
                                            <p:txEl>
                                              <p:pRg st="10" end="1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7">
                                            <p:txEl>
                                              <p:pRg st="3" end="3"/>
                                            </p:txEl>
                                          </p:spTgt>
                                        </p:tgtEl>
                                        <p:attrNameLst>
                                          <p:attrName>style.visibility</p:attrName>
                                        </p:attrNameLst>
                                      </p:cBhvr>
                                      <p:to>
                                        <p:strVal val="visible"/>
                                      </p:to>
                                    </p:set>
                                    <p:animEffect transition="in" filter="fade">
                                      <p:cBhvr>
                                        <p:cTn id="47" dur="250"/>
                                        <p:tgtEl>
                                          <p:spTgt spid="7">
                                            <p:txEl>
                                              <p:pRg st="3" end="3"/>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7">
                                            <p:txEl>
                                              <p:pRg st="2" end="2"/>
                                            </p:txEl>
                                          </p:spTgt>
                                        </p:tgtEl>
                                        <p:attrNameLst>
                                          <p:attrName>style.visibility</p:attrName>
                                        </p:attrNameLst>
                                      </p:cBhvr>
                                      <p:to>
                                        <p:strVal val="visible"/>
                                      </p:to>
                                    </p:set>
                                    <p:animEffect transition="in" filter="fade">
                                      <p:cBhvr>
                                        <p:cTn id="52" dur="250"/>
                                        <p:tgtEl>
                                          <p:spTgt spid="7">
                                            <p:txEl>
                                              <p:pRg st="2" end="2"/>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7">
                                            <p:txEl>
                                              <p:pRg st="1" end="1"/>
                                            </p:txEl>
                                          </p:spTgt>
                                        </p:tgtEl>
                                        <p:attrNameLst>
                                          <p:attrName>style.visibility</p:attrName>
                                        </p:attrNameLst>
                                      </p:cBhvr>
                                      <p:to>
                                        <p:strVal val="visible"/>
                                      </p:to>
                                    </p:set>
                                    <p:animEffect transition="in" filter="fade">
                                      <p:cBhvr>
                                        <p:cTn id="57" dur="250"/>
                                        <p:tgtEl>
                                          <p:spTgt spid="7">
                                            <p:txEl>
                                              <p:pRg st="1" end="1"/>
                                            </p:txEl>
                                          </p:spTgt>
                                        </p:tgtEl>
                                      </p:cBhvr>
                                    </p:animEffect>
                                  </p:childTnLst>
                                </p:cTn>
                              </p:par>
                            </p:childTnLst>
                          </p:cTn>
                        </p:par>
                        <p:par>
                          <p:cTn id="58" fill="hold">
                            <p:stCondLst>
                              <p:cond delay="250"/>
                            </p:stCondLst>
                            <p:childTnLst>
                              <p:par>
                                <p:cTn id="59" presetID="10" presetClass="entr" presetSubtype="0" fill="hold" grpId="0" nodeType="afterEffect">
                                  <p:stCondLst>
                                    <p:cond delay="0"/>
                                  </p:stCondLst>
                                  <p:childTnLst>
                                    <p:set>
                                      <p:cBhvr>
                                        <p:cTn id="60" dur="1" fill="hold">
                                          <p:stCondLst>
                                            <p:cond delay="0"/>
                                          </p:stCondLst>
                                        </p:cTn>
                                        <p:tgtEl>
                                          <p:spTgt spid="198"/>
                                        </p:tgtEl>
                                        <p:attrNameLst>
                                          <p:attrName>style.visibility</p:attrName>
                                        </p:attrNameLst>
                                      </p:cBhvr>
                                      <p:to>
                                        <p:strVal val="visible"/>
                                      </p:to>
                                    </p:set>
                                    <p:animEffect transition="in" filter="fade">
                                      <p:cBhvr>
                                        <p:cTn id="61" dur="250"/>
                                        <p:tgtEl>
                                          <p:spTgt spid="198"/>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01"/>
                                        </p:tgtEl>
                                        <p:attrNameLst>
                                          <p:attrName>style.visibility</p:attrName>
                                        </p:attrNameLst>
                                      </p:cBhvr>
                                      <p:to>
                                        <p:strVal val="visible"/>
                                      </p:to>
                                    </p:set>
                                    <p:animEffect transition="in" filter="fade">
                                      <p:cBhvr>
                                        <p:cTn id="64" dur="250"/>
                                        <p:tgtEl>
                                          <p:spTgt spid="201"/>
                                        </p:tgtEl>
                                      </p:cBhvr>
                                    </p:animEffect>
                                  </p:childTnLst>
                                </p:cTn>
                              </p:par>
                            </p:childTnLst>
                          </p:cTn>
                        </p:par>
                        <p:par>
                          <p:cTn id="65" fill="hold">
                            <p:stCondLst>
                              <p:cond delay="500"/>
                            </p:stCondLst>
                            <p:childTnLst>
                              <p:par>
                                <p:cTn id="66" presetID="10" presetClass="entr" presetSubtype="0" fill="hold" nodeType="afterEffect">
                                  <p:stCondLst>
                                    <p:cond delay="0"/>
                                  </p:stCondLst>
                                  <p:childTnLst>
                                    <p:set>
                                      <p:cBhvr>
                                        <p:cTn id="67" dur="1" fill="hold">
                                          <p:stCondLst>
                                            <p:cond delay="0"/>
                                          </p:stCondLst>
                                        </p:cTn>
                                        <p:tgtEl>
                                          <p:spTgt spid="206"/>
                                        </p:tgtEl>
                                        <p:attrNameLst>
                                          <p:attrName>style.visibility</p:attrName>
                                        </p:attrNameLst>
                                      </p:cBhvr>
                                      <p:to>
                                        <p:strVal val="visible"/>
                                      </p:to>
                                    </p:set>
                                    <p:animEffect transition="in" filter="fade">
                                      <p:cBhvr>
                                        <p:cTn id="68" dur="250"/>
                                        <p:tgtEl>
                                          <p:spTgt spid="206"/>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7">
                                            <p:txEl>
                                              <p:pRg st="0" end="0"/>
                                            </p:txEl>
                                          </p:spTgt>
                                        </p:tgtEl>
                                        <p:attrNameLst>
                                          <p:attrName>style.visibility</p:attrName>
                                        </p:attrNameLst>
                                      </p:cBhvr>
                                      <p:to>
                                        <p:strVal val="visible"/>
                                      </p:to>
                                    </p:set>
                                    <p:animEffect transition="in" filter="fade">
                                      <p:cBhvr>
                                        <p:cTn id="73" dur="250"/>
                                        <p:tgtEl>
                                          <p:spTgt spid="7">
                                            <p:txEl>
                                              <p:pRg st="0" end="0"/>
                                            </p:txEl>
                                          </p:spTgt>
                                        </p:tgtEl>
                                      </p:cBhvr>
                                    </p:animEffect>
                                  </p:childTnLst>
                                </p:cTn>
                              </p:par>
                            </p:childTnLst>
                          </p:cTn>
                        </p:par>
                        <p:par>
                          <p:cTn id="74" fill="hold">
                            <p:stCondLst>
                              <p:cond delay="250"/>
                            </p:stCondLst>
                            <p:childTnLst>
                              <p:par>
                                <p:cTn id="75" presetID="10" presetClass="entr" presetSubtype="0" fill="hold" nodeType="afterEffect">
                                  <p:stCondLst>
                                    <p:cond delay="0"/>
                                  </p:stCondLst>
                                  <p:childTnLst>
                                    <p:set>
                                      <p:cBhvr>
                                        <p:cTn id="76" dur="1" fill="hold">
                                          <p:stCondLst>
                                            <p:cond delay="0"/>
                                          </p:stCondLst>
                                        </p:cTn>
                                        <p:tgtEl>
                                          <p:spTgt spid="204"/>
                                        </p:tgtEl>
                                        <p:attrNameLst>
                                          <p:attrName>style.visibility</p:attrName>
                                        </p:attrNameLst>
                                      </p:cBhvr>
                                      <p:to>
                                        <p:strVal val="visible"/>
                                      </p:to>
                                    </p:set>
                                    <p:animEffect transition="in" filter="fade">
                                      <p:cBhvr>
                                        <p:cTn id="77" dur="250"/>
                                        <p:tgtEl>
                                          <p:spTgt spid="204"/>
                                        </p:tgtEl>
                                      </p:cBhvr>
                                    </p:animEffect>
                                  </p:childTnLst>
                                </p:cTn>
                              </p:par>
                            </p:childTnLst>
                          </p:cTn>
                        </p:par>
                        <p:par>
                          <p:cTn id="78" fill="hold">
                            <p:stCondLst>
                              <p:cond delay="500"/>
                            </p:stCondLst>
                            <p:childTnLst>
                              <p:par>
                                <p:cTn id="79" presetID="10" presetClass="entr" presetSubtype="0" fill="hold" nodeType="afterEffect">
                                  <p:stCondLst>
                                    <p:cond delay="0"/>
                                  </p:stCondLst>
                                  <p:childTnLst>
                                    <p:set>
                                      <p:cBhvr>
                                        <p:cTn id="80" dur="1" fill="hold">
                                          <p:stCondLst>
                                            <p:cond delay="0"/>
                                          </p:stCondLst>
                                        </p:cTn>
                                        <p:tgtEl>
                                          <p:spTgt spid="205"/>
                                        </p:tgtEl>
                                        <p:attrNameLst>
                                          <p:attrName>style.visibility</p:attrName>
                                        </p:attrNameLst>
                                      </p:cBhvr>
                                      <p:to>
                                        <p:strVal val="visible"/>
                                      </p:to>
                                    </p:set>
                                    <p:animEffect transition="in" filter="fade">
                                      <p:cBhvr>
                                        <p:cTn id="81" dur="250"/>
                                        <p:tgtEl>
                                          <p:spTgt spid="205"/>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207"/>
                                        </p:tgtEl>
                                        <p:attrNameLst>
                                          <p:attrName>style.visibility</p:attrName>
                                        </p:attrNameLst>
                                      </p:cBhvr>
                                      <p:to>
                                        <p:strVal val="visible"/>
                                      </p:to>
                                    </p:set>
                                    <p:animEffect transition="in" filter="fade">
                                      <p:cBhvr>
                                        <p:cTn id="86" dur="250"/>
                                        <p:tgtEl>
                                          <p:spTgt spid="2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19" grpId="0" uiExpand="1" build="p"/>
      <p:bldP spid="7" grpId="0" animBg="1"/>
      <p:bldP spid="30" grpId="0"/>
      <p:bldP spid="35" grpId="0"/>
      <p:bldP spid="198" grpId="0" animBg="1"/>
      <p:bldP spid="201"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23"/>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a:t>Class vs. Object vs. Reference</a:t>
            </a:r>
            <a:endParaRPr/>
          </a:p>
        </p:txBody>
      </p:sp>
      <p:sp>
        <p:nvSpPr>
          <p:cNvPr id="268" name="Google Shape;268;p23"/>
          <p:cNvSpPr txBox="1">
            <a:spLocks noGrp="1"/>
          </p:cNvSpPr>
          <p:nvPr>
            <p:ph type="body" idx="1"/>
          </p:nvPr>
        </p:nvSpPr>
        <p:spPr>
          <a:xfrm>
            <a:off x="380010" y="1481446"/>
            <a:ext cx="8383980" cy="4525963"/>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SzPts val="2400"/>
              <a:buChar char="•"/>
            </a:pPr>
            <a:r>
              <a:rPr lang="en-US" sz="2400" dirty="0"/>
              <a:t>A </a:t>
            </a:r>
            <a:r>
              <a:rPr lang="en-US" sz="2400" b="1" dirty="0"/>
              <a:t>class </a:t>
            </a:r>
            <a:r>
              <a:rPr lang="en-US" sz="2400" dirty="0"/>
              <a:t>is a template used to instantiate objects. It's also called a </a:t>
            </a:r>
            <a:r>
              <a:rPr lang="en-US" sz="2400" b="1" dirty="0"/>
              <a:t>type </a:t>
            </a:r>
            <a:r>
              <a:rPr lang="en-US" sz="2400" dirty="0"/>
              <a:t>in some circumstances, such as when used with a reference variable.</a:t>
            </a:r>
            <a:endParaRPr dirty="0"/>
          </a:p>
          <a:p>
            <a:pPr marL="342900" lvl="0" indent="-342900" algn="l" rtl="0">
              <a:lnSpc>
                <a:spcPct val="90000"/>
              </a:lnSpc>
              <a:spcBef>
                <a:spcPts val="480"/>
              </a:spcBef>
              <a:spcAft>
                <a:spcPts val="0"/>
              </a:spcAft>
              <a:buSzPts val="2400"/>
              <a:buChar char="•"/>
            </a:pPr>
            <a:r>
              <a:rPr lang="en-US" sz="2400" dirty="0"/>
              <a:t>An </a:t>
            </a:r>
            <a:r>
              <a:rPr lang="en-US" sz="2400" b="1" dirty="0"/>
              <a:t>object</a:t>
            </a:r>
            <a:r>
              <a:rPr lang="en-US" sz="2400" dirty="0"/>
              <a:t> is an instance of a class in memory. Accessed through a </a:t>
            </a:r>
            <a:r>
              <a:rPr lang="en-US" sz="2400" i="1" dirty="0"/>
              <a:t>reference</a:t>
            </a:r>
            <a:r>
              <a:rPr lang="en-US" sz="2400" dirty="0"/>
              <a:t>, not directly.</a:t>
            </a:r>
            <a:endParaRPr dirty="0"/>
          </a:p>
          <a:p>
            <a:pPr marL="342900" lvl="0" indent="-342900" algn="l" rtl="0">
              <a:lnSpc>
                <a:spcPct val="90000"/>
              </a:lnSpc>
              <a:spcBef>
                <a:spcPts val="480"/>
              </a:spcBef>
              <a:spcAft>
                <a:spcPts val="0"/>
              </a:spcAft>
              <a:buSzPts val="2400"/>
              <a:buChar char="•"/>
            </a:pPr>
            <a:r>
              <a:rPr lang="en-US" sz="2400" dirty="0"/>
              <a:t>A </a:t>
            </a:r>
            <a:r>
              <a:rPr lang="en-US" sz="2400" b="1" dirty="0"/>
              <a:t>reference variable</a:t>
            </a:r>
            <a:r>
              <a:rPr lang="en-US" sz="2400" b="1" i="1" dirty="0"/>
              <a:t> </a:t>
            </a:r>
            <a:r>
              <a:rPr lang="en-US" sz="2400" dirty="0"/>
              <a:t>is a variable that stores the </a:t>
            </a:r>
            <a:r>
              <a:rPr lang="en-US" sz="2400" i="1" dirty="0"/>
              <a:t>reference</a:t>
            </a:r>
            <a:r>
              <a:rPr lang="en-US" sz="2400" dirty="0"/>
              <a:t> to an object in memory.</a:t>
            </a:r>
            <a:endParaRPr dirty="0"/>
          </a:p>
          <a:p>
            <a:pPr marL="0" lvl="0" indent="0">
              <a:lnSpc>
                <a:spcPct val="90000"/>
              </a:lnSpc>
              <a:spcBef>
                <a:spcPts val="360"/>
              </a:spcBef>
              <a:buSzPts val="1800"/>
              <a:buNone/>
            </a:pPr>
            <a:r>
              <a:rPr lang="en-US" sz="1800" dirty="0">
                <a:latin typeface="Courier New"/>
                <a:ea typeface="Courier New"/>
                <a:cs typeface="Courier New"/>
                <a:sym typeface="Courier New"/>
              </a:rPr>
              <a:t>        Dog </a:t>
            </a:r>
            <a:r>
              <a:rPr lang="en-US" sz="1800" dirty="0" err="1">
                <a:latin typeface="Courier New"/>
                <a:ea typeface="Courier New"/>
                <a:cs typeface="Courier New"/>
                <a:sym typeface="Courier New"/>
              </a:rPr>
              <a:t>someVar</a:t>
            </a:r>
            <a:r>
              <a:rPr lang="en-US" sz="1800" dirty="0">
                <a:latin typeface="Courier New"/>
                <a:ea typeface="Courier New"/>
                <a:cs typeface="Courier New"/>
                <a:sym typeface="Courier New"/>
              </a:rPr>
              <a:t> = new Dog();</a:t>
            </a:r>
            <a:br>
              <a:rPr lang="en-US" sz="1800" dirty="0">
                <a:latin typeface="Courier New"/>
                <a:ea typeface="Courier New"/>
                <a:cs typeface="Courier New"/>
                <a:sym typeface="Courier New"/>
              </a:rPr>
            </a:br>
            <a:r>
              <a:rPr lang="en-US" sz="1800" dirty="0">
                <a:latin typeface="Courier New"/>
                <a:ea typeface="Courier New"/>
                <a:cs typeface="Courier New"/>
                <a:sym typeface="Courier New"/>
              </a:rPr>
              <a:t>         1    2            3</a:t>
            </a:r>
            <a:endParaRPr dirty="0"/>
          </a:p>
          <a:p>
            <a:pPr marL="342900" lvl="0" indent="-342900" algn="l" rtl="0">
              <a:lnSpc>
                <a:spcPct val="90000"/>
              </a:lnSpc>
              <a:spcBef>
                <a:spcPts val="360"/>
              </a:spcBef>
              <a:spcAft>
                <a:spcPts val="0"/>
              </a:spcAft>
              <a:buSzPts val="1800"/>
              <a:buFont typeface="Arial"/>
              <a:buAutoNum type="arabicPeriod"/>
            </a:pPr>
            <a:r>
              <a:rPr lang="en-US" sz="1800" dirty="0">
                <a:latin typeface="Arial"/>
                <a:ea typeface="Arial"/>
                <a:cs typeface="Arial"/>
                <a:sym typeface="Arial"/>
              </a:rPr>
              <a:t>The class/type of the reference variable</a:t>
            </a:r>
            <a:endParaRPr dirty="0"/>
          </a:p>
          <a:p>
            <a:pPr marL="342900" lvl="0" indent="-342900" algn="l" rtl="0">
              <a:lnSpc>
                <a:spcPct val="90000"/>
              </a:lnSpc>
              <a:spcBef>
                <a:spcPts val="360"/>
              </a:spcBef>
              <a:spcAft>
                <a:spcPts val="0"/>
              </a:spcAft>
              <a:buSzPts val="1800"/>
              <a:buFont typeface="Arial"/>
              <a:buAutoNum type="arabicPeriod"/>
            </a:pPr>
            <a:r>
              <a:rPr lang="en-US" sz="1800" dirty="0">
                <a:latin typeface="Arial"/>
                <a:ea typeface="Arial"/>
                <a:cs typeface="Arial"/>
                <a:sym typeface="Arial"/>
              </a:rPr>
              <a:t>The name of the reference variable</a:t>
            </a:r>
            <a:endParaRPr dirty="0"/>
          </a:p>
          <a:p>
            <a:pPr marL="342900" lvl="0" indent="-342900" algn="l" rtl="0">
              <a:lnSpc>
                <a:spcPct val="90000"/>
              </a:lnSpc>
              <a:spcBef>
                <a:spcPts val="360"/>
              </a:spcBef>
              <a:spcAft>
                <a:spcPts val="0"/>
              </a:spcAft>
              <a:buSzPts val="1800"/>
              <a:buFont typeface="Arial"/>
              <a:buAutoNum type="arabicPeriod"/>
            </a:pPr>
            <a:r>
              <a:rPr lang="en-US" sz="1800" dirty="0">
                <a:latin typeface="Arial"/>
                <a:ea typeface="Arial"/>
                <a:cs typeface="Arial"/>
                <a:sym typeface="Arial"/>
              </a:rPr>
              <a:t>The instantiation of a new object using the "new" keyword to invoke a constructor. A reference to the new object is stored in “</a:t>
            </a:r>
            <a:r>
              <a:rPr lang="en-US" sz="1800" dirty="0" err="1">
                <a:latin typeface="Arial"/>
                <a:ea typeface="Arial"/>
                <a:cs typeface="Arial"/>
                <a:sym typeface="Arial"/>
              </a:rPr>
              <a:t>someVar</a:t>
            </a:r>
            <a:r>
              <a:rPr lang="en-US" sz="1800" dirty="0">
                <a:latin typeface="Arial"/>
                <a:ea typeface="Arial"/>
                <a:cs typeface="Arial"/>
                <a:sym typeface="Arial"/>
              </a:rPr>
              <a:t>”.</a:t>
            </a:r>
            <a:endParaRPr dirty="0"/>
          </a:p>
        </p:txBody>
      </p:sp>
      <p:sp>
        <p:nvSpPr>
          <p:cNvPr id="269" name="Google Shape;269;p23"/>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53</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8">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8">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6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8" grpId="0" uiExpand="1"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5A1AA-779A-4A8C-B06B-8CC0F8235B4B}"/>
              </a:ext>
            </a:extLst>
          </p:cNvPr>
          <p:cNvSpPr>
            <a:spLocks noGrp="1"/>
          </p:cNvSpPr>
          <p:nvPr>
            <p:ph type="title"/>
          </p:nvPr>
        </p:nvSpPr>
        <p:spPr/>
        <p:txBody>
          <a:bodyPr/>
          <a:lstStyle/>
          <a:p>
            <a:r>
              <a:rPr lang="en-US" dirty="0"/>
              <a:t>Pass By Value (Primitives)</a:t>
            </a:r>
          </a:p>
        </p:txBody>
      </p:sp>
      <p:sp>
        <p:nvSpPr>
          <p:cNvPr id="3" name="Content Placeholder 2">
            <a:extLst>
              <a:ext uri="{FF2B5EF4-FFF2-40B4-BE49-F238E27FC236}">
                <a16:creationId xmlns:a16="http://schemas.microsoft.com/office/drawing/2014/main" id="{686ED1CF-DC53-429D-9B75-1BCBC1A1C60E}"/>
              </a:ext>
            </a:extLst>
          </p:cNvPr>
          <p:cNvSpPr>
            <a:spLocks noGrp="1"/>
          </p:cNvSpPr>
          <p:nvPr>
            <p:ph idx="1"/>
          </p:nvPr>
        </p:nvSpPr>
        <p:spPr>
          <a:xfrm>
            <a:off x="380010" y="1481446"/>
            <a:ext cx="8383980" cy="2441133"/>
          </a:xfrm>
        </p:spPr>
        <p:txBody>
          <a:bodyPr>
            <a:normAutofit fontScale="92500" lnSpcReduction="10000"/>
          </a:bodyPr>
          <a:lstStyle/>
          <a:p>
            <a:r>
              <a:rPr lang="en-US" dirty="0"/>
              <a:t>In java, when you pass data into a method, you only ever pass values. </a:t>
            </a:r>
          </a:p>
          <a:p>
            <a:r>
              <a:rPr lang="en-US" dirty="0"/>
              <a:t>If you invoke a method and pass one or more variables to satisfy the parameter(s), java is copying the value of the argument(s) passed, </a:t>
            </a:r>
            <a:r>
              <a:rPr lang="en-US" b="1" u="sng" dirty="0"/>
              <a:t>not</a:t>
            </a:r>
            <a:r>
              <a:rPr lang="en-US" dirty="0"/>
              <a:t> the variables themselves.</a:t>
            </a:r>
          </a:p>
          <a:p>
            <a:pPr marL="0" indent="0">
              <a:buNone/>
            </a:pPr>
            <a:endParaRPr lang="en-US" dirty="0">
              <a:latin typeface="Courier New" panose="02070309020205020404" pitchFamily="49" charset="0"/>
              <a:cs typeface="Courier New" panose="02070309020205020404" pitchFamily="49" charset="0"/>
            </a:endParaRPr>
          </a:p>
        </p:txBody>
      </p:sp>
      <p:sp>
        <p:nvSpPr>
          <p:cNvPr id="4" name="Slide Number Placeholder 3">
            <a:extLst>
              <a:ext uri="{FF2B5EF4-FFF2-40B4-BE49-F238E27FC236}">
                <a16:creationId xmlns:a16="http://schemas.microsoft.com/office/drawing/2014/main" id="{AF3732DF-4F61-4C13-9D57-585508BFC71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28BC2-ACA3-447C-A909-F3F49211C066}" type="slidenum">
              <a:rPr kumimoji="0" lang="en-US" sz="1200" b="0" i="0" u="none" strike="noStrike" kern="1200" cap="none" spc="0" normalizeH="0" baseline="0" noProof="0" smtClean="0">
                <a:ln>
                  <a:noFill/>
                </a:ln>
                <a:solidFill>
                  <a:srgbClr val="A0A1A0"/>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US" sz="1200" b="0" i="0" u="none" strike="noStrike" kern="1200" cap="none" spc="0" normalizeH="0" baseline="0" noProof="0" dirty="0">
              <a:ln>
                <a:noFill/>
              </a:ln>
              <a:solidFill>
                <a:srgbClr val="A0A1A0"/>
              </a:solidFill>
              <a:effectLst/>
              <a:uLnTx/>
              <a:uFillTx/>
              <a:latin typeface="Arial" panose="020B0604020202020204" pitchFamily="34" charset="0"/>
              <a:ea typeface="+mn-ea"/>
              <a:cs typeface="Arial" panose="020B0604020202020204" pitchFamily="34" charset="0"/>
            </a:endParaRPr>
          </a:p>
        </p:txBody>
      </p:sp>
      <p:sp>
        <p:nvSpPr>
          <p:cNvPr id="18" name="Google Shape;219;p16">
            <a:extLst>
              <a:ext uri="{FF2B5EF4-FFF2-40B4-BE49-F238E27FC236}">
                <a16:creationId xmlns:a16="http://schemas.microsoft.com/office/drawing/2014/main" id="{42711206-3F74-4887-81C8-4FBF3FF7D6FB}"/>
              </a:ext>
            </a:extLst>
          </p:cNvPr>
          <p:cNvSpPr txBox="1">
            <a:spLocks/>
          </p:cNvSpPr>
          <p:nvPr/>
        </p:nvSpPr>
        <p:spPr>
          <a:xfrm>
            <a:off x="1879870" y="3922579"/>
            <a:ext cx="5384260" cy="2207873"/>
          </a:xfrm>
          <a:prstGeom prst="rect">
            <a:avLst/>
          </a:prstGeom>
        </p:spPr>
        <p:style>
          <a:lnRef idx="1">
            <a:schemeClr val="accent2"/>
          </a:lnRef>
          <a:fillRef idx="2">
            <a:schemeClr val="accent2"/>
          </a:fillRef>
          <a:effectRef idx="1">
            <a:schemeClr val="accent2"/>
          </a:effectRef>
          <a:fontRef idx="minor">
            <a:schemeClr val="dk1"/>
          </a:fontRef>
        </p:style>
        <p:txBody>
          <a:bodyPr spcFirstLastPara="1" wrap="square" lIns="91425" tIns="45700" rIns="91425" bIns="45700" anchor="t" anchorCtr="0">
            <a:normAutofit fontScale="70000" lnSpcReduction="20000"/>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100000"/>
              </a:lnSpc>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100000"/>
              </a:lnSpc>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9pPr>
          </a:lstStyle>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public Example {</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public static void main(String[] </a:t>
            </a:r>
            <a:r>
              <a:rPr lang="en-US" sz="1400" dirty="0" err="1">
                <a:latin typeface="Courier New" panose="02070309020205020404" pitchFamily="49" charset="0"/>
                <a:cs typeface="Courier New" panose="02070309020205020404" pitchFamily="49" charset="0"/>
              </a:rPr>
              <a:t>args</a:t>
            </a: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int value = 10;</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change(value);</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System.out.println</a:t>
            </a:r>
            <a:r>
              <a:rPr lang="en-US" sz="1400" dirty="0">
                <a:latin typeface="Courier New" panose="02070309020205020404" pitchFamily="49" charset="0"/>
                <a:cs typeface="Courier New" panose="02070309020205020404" pitchFamily="49" charset="0"/>
              </a:rPr>
              <a:t>(value); // prints 10 NOT 25</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buNone/>
            </a:pPr>
            <a:endParaRPr lang="en-US" sz="1400" dirty="0">
              <a:latin typeface="Courier New" panose="02070309020205020404" pitchFamily="49" charset="0"/>
              <a:cs typeface="Courier New" panose="02070309020205020404" pitchFamily="49" charset="0"/>
            </a:endParaRP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 the parameter ‘value’ below is in a different scope!</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public static void change(int value) {</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value = 25;</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88154056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5A1AA-779A-4A8C-B06B-8CC0F8235B4B}"/>
              </a:ext>
            </a:extLst>
          </p:cNvPr>
          <p:cNvSpPr>
            <a:spLocks noGrp="1"/>
          </p:cNvSpPr>
          <p:nvPr>
            <p:ph type="title"/>
          </p:nvPr>
        </p:nvSpPr>
        <p:spPr/>
        <p:txBody>
          <a:bodyPr/>
          <a:lstStyle/>
          <a:p>
            <a:r>
              <a:rPr lang="en-US" dirty="0"/>
              <a:t>Pass By Value (Objects)</a:t>
            </a:r>
          </a:p>
        </p:txBody>
      </p:sp>
      <p:sp>
        <p:nvSpPr>
          <p:cNvPr id="3" name="Content Placeholder 2">
            <a:extLst>
              <a:ext uri="{FF2B5EF4-FFF2-40B4-BE49-F238E27FC236}">
                <a16:creationId xmlns:a16="http://schemas.microsoft.com/office/drawing/2014/main" id="{686ED1CF-DC53-429D-9B75-1BCBC1A1C60E}"/>
              </a:ext>
            </a:extLst>
          </p:cNvPr>
          <p:cNvSpPr>
            <a:spLocks noGrp="1"/>
          </p:cNvSpPr>
          <p:nvPr>
            <p:ph idx="1"/>
          </p:nvPr>
        </p:nvSpPr>
        <p:spPr>
          <a:xfrm>
            <a:off x="380010" y="1481445"/>
            <a:ext cx="8383980" cy="5247391"/>
          </a:xfrm>
        </p:spPr>
        <p:txBody>
          <a:bodyPr>
            <a:normAutofit fontScale="85000" lnSpcReduction="20000"/>
          </a:bodyPr>
          <a:lstStyle/>
          <a:p>
            <a:r>
              <a:rPr lang="en-US" dirty="0"/>
              <a:t>Pass-by-reference, as opposed to pass-by-value, means data passed to a method is directly referenced and manipulated.</a:t>
            </a:r>
          </a:p>
          <a:p>
            <a:r>
              <a:rPr lang="en-US" b="1" u="sng" dirty="0"/>
              <a:t>Java is a pass-by-value language</a:t>
            </a:r>
            <a:r>
              <a:rPr lang="en-US" dirty="0"/>
              <a:t>, which means only the data of a reference variable is passed to methods when used as arguments. </a:t>
            </a:r>
          </a:p>
          <a:p>
            <a:r>
              <a:rPr lang="en-US" dirty="0"/>
              <a:t>When a reference variable is used as an argument to a method, the information passed is a memory address location. </a:t>
            </a:r>
          </a:p>
          <a:p>
            <a:r>
              <a:rPr lang="en-US" dirty="0"/>
              <a:t>This allows methods to directly manipulate objects.</a:t>
            </a:r>
          </a:p>
          <a:p>
            <a:pPr lvl="1"/>
            <a:r>
              <a:rPr lang="en-US" dirty="0"/>
              <a:t>A </a:t>
            </a:r>
            <a:r>
              <a:rPr lang="en-US" b="1" u="sng" dirty="0"/>
              <a:t>new reference variable is created within the method</a:t>
            </a:r>
            <a:r>
              <a:rPr lang="en-US" dirty="0"/>
              <a:t>, both the new reference in the method, and reference variable used as an argument are pointing to the same object in memory. </a:t>
            </a:r>
          </a:p>
          <a:p>
            <a:pPr lvl="1"/>
            <a:r>
              <a:rPr lang="en-US" dirty="0"/>
              <a:t>This behavior more closely mimics that of pass-by-reference in other programming languages; however, it is still not pass-by-reference in java.</a:t>
            </a:r>
            <a:endParaRPr lang="en-US" dirty="0">
              <a:latin typeface="Courier New" panose="02070309020205020404" pitchFamily="49" charset="0"/>
              <a:cs typeface="Courier New" panose="02070309020205020404" pitchFamily="49" charset="0"/>
            </a:endParaRPr>
          </a:p>
        </p:txBody>
      </p:sp>
      <p:sp>
        <p:nvSpPr>
          <p:cNvPr id="4" name="Slide Number Placeholder 3">
            <a:extLst>
              <a:ext uri="{FF2B5EF4-FFF2-40B4-BE49-F238E27FC236}">
                <a16:creationId xmlns:a16="http://schemas.microsoft.com/office/drawing/2014/main" id="{AF3732DF-4F61-4C13-9D57-585508BFC71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28BC2-ACA3-447C-A909-F3F49211C066}" type="slidenum">
              <a:rPr kumimoji="0" lang="en-US" sz="1200" b="0" i="0" u="none" strike="noStrike" kern="1200" cap="none" spc="0" normalizeH="0" baseline="0" noProof="0" smtClean="0">
                <a:ln>
                  <a:noFill/>
                </a:ln>
                <a:solidFill>
                  <a:srgbClr val="A0A1A0"/>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en-US" sz="1200" b="0" i="0" u="none" strike="noStrike" kern="1200" cap="none" spc="0" normalizeH="0" baseline="0" noProof="0" dirty="0">
              <a:ln>
                <a:noFill/>
              </a:ln>
              <a:solidFill>
                <a:srgbClr val="A0A1A0"/>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6288828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5A1AA-779A-4A8C-B06B-8CC0F8235B4B}"/>
              </a:ext>
            </a:extLst>
          </p:cNvPr>
          <p:cNvSpPr>
            <a:spLocks noGrp="1"/>
          </p:cNvSpPr>
          <p:nvPr>
            <p:ph type="title"/>
          </p:nvPr>
        </p:nvSpPr>
        <p:spPr/>
        <p:txBody>
          <a:bodyPr/>
          <a:lstStyle/>
          <a:p>
            <a:r>
              <a:rPr lang="en-US" dirty="0"/>
              <a:t>Pass By Value (Objects)</a:t>
            </a:r>
          </a:p>
        </p:txBody>
      </p:sp>
      <p:sp>
        <p:nvSpPr>
          <p:cNvPr id="4" name="Slide Number Placeholder 3">
            <a:extLst>
              <a:ext uri="{FF2B5EF4-FFF2-40B4-BE49-F238E27FC236}">
                <a16:creationId xmlns:a16="http://schemas.microsoft.com/office/drawing/2014/main" id="{AF3732DF-4F61-4C13-9D57-585508BFC71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28BC2-ACA3-447C-A909-F3F49211C066}" type="slidenum">
              <a:rPr kumimoji="0" lang="en-US" sz="1200" b="0" i="0" u="none" strike="noStrike" kern="1200" cap="none" spc="0" normalizeH="0" baseline="0" noProof="0" smtClean="0">
                <a:ln>
                  <a:noFill/>
                </a:ln>
                <a:solidFill>
                  <a:srgbClr val="A0A1A0"/>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en-US" sz="1200" b="0" i="0" u="none" strike="noStrike" kern="1200" cap="none" spc="0" normalizeH="0" baseline="0" noProof="0" dirty="0">
              <a:ln>
                <a:noFill/>
              </a:ln>
              <a:solidFill>
                <a:srgbClr val="A0A1A0"/>
              </a:solidFill>
              <a:effectLst/>
              <a:uLnTx/>
              <a:uFillTx/>
              <a:latin typeface="Arial" panose="020B0604020202020204" pitchFamily="34" charset="0"/>
              <a:ea typeface="+mn-ea"/>
              <a:cs typeface="Arial" panose="020B0604020202020204" pitchFamily="34" charset="0"/>
            </a:endParaRPr>
          </a:p>
        </p:txBody>
      </p:sp>
      <p:sp>
        <p:nvSpPr>
          <p:cNvPr id="7" name="Google Shape;219;p16">
            <a:extLst>
              <a:ext uri="{FF2B5EF4-FFF2-40B4-BE49-F238E27FC236}">
                <a16:creationId xmlns:a16="http://schemas.microsoft.com/office/drawing/2014/main" id="{CC62859E-2369-4716-9826-1B0A0697A561}"/>
              </a:ext>
            </a:extLst>
          </p:cNvPr>
          <p:cNvSpPr txBox="1">
            <a:spLocks/>
          </p:cNvSpPr>
          <p:nvPr/>
        </p:nvSpPr>
        <p:spPr>
          <a:xfrm>
            <a:off x="910229" y="1449647"/>
            <a:ext cx="7323542" cy="4914065"/>
          </a:xfrm>
          <a:prstGeom prst="rect">
            <a:avLst/>
          </a:prstGeom>
        </p:spPr>
        <p:style>
          <a:lnRef idx="1">
            <a:schemeClr val="accent2"/>
          </a:lnRef>
          <a:fillRef idx="2">
            <a:schemeClr val="accent2"/>
          </a:fillRef>
          <a:effectRef idx="1">
            <a:schemeClr val="accent2"/>
          </a:effectRef>
          <a:fontRef idx="minor">
            <a:schemeClr val="dk1"/>
          </a:fontRef>
        </p:style>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100000"/>
              </a:lnSpc>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100000"/>
              </a:lnSpc>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9pPr>
          </a:lstStyle>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public Example {</a:t>
            </a:r>
          </a:p>
          <a:p>
            <a:pPr marL="182880" lvl="1" indent="0" defTabSz="457200">
              <a:lnSpc>
                <a:spcPct val="90000"/>
              </a:lnSpc>
              <a:buNone/>
            </a:pPr>
            <a:endParaRPr lang="en-US" sz="1400" dirty="0">
              <a:latin typeface="Courier New" panose="02070309020205020404" pitchFamily="49" charset="0"/>
              <a:cs typeface="Courier New" panose="02070309020205020404" pitchFamily="49" charset="0"/>
            </a:endParaRP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public static void main(String[] </a:t>
            </a:r>
            <a:r>
              <a:rPr lang="en-US" sz="1400" dirty="0" err="1">
                <a:latin typeface="Courier New" panose="02070309020205020404" pitchFamily="49" charset="0"/>
                <a:cs typeface="Courier New" panose="02070309020205020404" pitchFamily="49" charset="0"/>
              </a:rPr>
              <a:t>args</a:t>
            </a: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Data d = new Data();</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d.x</a:t>
            </a:r>
            <a:r>
              <a:rPr lang="en-US" sz="1400" dirty="0">
                <a:latin typeface="Courier New" panose="02070309020205020404" pitchFamily="49" charset="0"/>
                <a:cs typeface="Courier New" panose="02070309020205020404" pitchFamily="49" charset="0"/>
              </a:rPr>
              <a:t> = 10;</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change(d);</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System.out.println</a:t>
            </a:r>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d.x</a:t>
            </a:r>
            <a:r>
              <a:rPr lang="en-US" sz="1400" dirty="0">
                <a:latin typeface="Courier New" panose="02070309020205020404" pitchFamily="49" charset="0"/>
                <a:cs typeface="Courier New" panose="02070309020205020404" pitchFamily="49" charset="0"/>
              </a:rPr>
              <a:t>); // prints 25</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buNone/>
            </a:pPr>
            <a:endParaRPr lang="en-US" sz="1400" dirty="0">
              <a:latin typeface="Courier New" panose="02070309020205020404" pitchFamily="49" charset="0"/>
              <a:cs typeface="Courier New" panose="02070309020205020404" pitchFamily="49" charset="0"/>
            </a:endParaRP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public static void change(Data d) {</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d.x</a:t>
            </a:r>
            <a:r>
              <a:rPr lang="en-US" sz="1400" dirty="0">
                <a:latin typeface="Courier New" panose="02070309020205020404" pitchFamily="49" charset="0"/>
                <a:cs typeface="Courier New" panose="02070309020205020404" pitchFamily="49" charset="0"/>
              </a:rPr>
              <a:t> = 25;</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a:t>
            </a:r>
          </a:p>
          <a:p>
            <a:pPr marL="182880" lvl="1" indent="0" defTabSz="457200">
              <a:lnSpc>
                <a:spcPct val="90000"/>
              </a:lnSpc>
              <a:buNone/>
            </a:pPr>
            <a:endParaRPr lang="en-US" sz="1400" dirty="0">
              <a:latin typeface="Courier New" panose="02070309020205020404" pitchFamily="49" charset="0"/>
              <a:cs typeface="Courier New" panose="02070309020205020404" pitchFamily="49" charset="0"/>
            </a:endParaRP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public class Data {</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public int x;</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334237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xEl>
                                              <p:pRg st="7" end="7"/>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xEl>
                                              <p:pRg st="9" end="9"/>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xEl>
                                              <p:pRg st="10" end="1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xEl>
                                              <p:pRg st="11" end="11"/>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xEl>
                                              <p:pRg st="12" end="12"/>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
                                            <p:txEl>
                                              <p:pRg st="14" end="14"/>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
                                            <p:txEl>
                                              <p:pRg st="15" end="15"/>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890B2-F037-5B93-F9D9-D3EAE352A2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6D347D-9251-B042-0D9C-FBC835769455}"/>
              </a:ext>
            </a:extLst>
          </p:cNvPr>
          <p:cNvSpPr>
            <a:spLocks noGrp="1"/>
          </p:cNvSpPr>
          <p:nvPr>
            <p:ph type="title"/>
          </p:nvPr>
        </p:nvSpPr>
        <p:spPr/>
        <p:txBody>
          <a:bodyPr/>
          <a:lstStyle/>
          <a:p>
            <a:r>
              <a:rPr lang="en-US" dirty="0"/>
              <a:t>Pass By Value (Objects)</a:t>
            </a:r>
          </a:p>
        </p:txBody>
      </p:sp>
      <p:sp>
        <p:nvSpPr>
          <p:cNvPr id="4" name="Slide Number Placeholder 3">
            <a:extLst>
              <a:ext uri="{FF2B5EF4-FFF2-40B4-BE49-F238E27FC236}">
                <a16:creationId xmlns:a16="http://schemas.microsoft.com/office/drawing/2014/main" id="{4C35F111-FC6B-41D7-03E9-7A116B9AEFA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28BC2-ACA3-447C-A909-F3F49211C066}" type="slidenum">
              <a:rPr kumimoji="0" lang="en-US" sz="1200" b="0" i="0" u="none" strike="noStrike" kern="1200" cap="none" spc="0" normalizeH="0" baseline="0" noProof="0" smtClean="0">
                <a:ln>
                  <a:noFill/>
                </a:ln>
                <a:solidFill>
                  <a:srgbClr val="A0A1A0"/>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en-US" sz="1200" b="0" i="0" u="none" strike="noStrike" kern="1200" cap="none" spc="0" normalizeH="0" baseline="0" noProof="0" dirty="0">
              <a:ln>
                <a:noFill/>
              </a:ln>
              <a:solidFill>
                <a:srgbClr val="A0A1A0"/>
              </a:solidFill>
              <a:effectLst/>
              <a:uLnTx/>
              <a:uFillTx/>
              <a:latin typeface="Arial" panose="020B0604020202020204" pitchFamily="34" charset="0"/>
              <a:ea typeface="+mn-ea"/>
              <a:cs typeface="Arial" panose="020B0604020202020204" pitchFamily="34" charset="0"/>
            </a:endParaRPr>
          </a:p>
        </p:txBody>
      </p:sp>
      <p:sp>
        <p:nvSpPr>
          <p:cNvPr id="7" name="Google Shape;219;p16">
            <a:extLst>
              <a:ext uri="{FF2B5EF4-FFF2-40B4-BE49-F238E27FC236}">
                <a16:creationId xmlns:a16="http://schemas.microsoft.com/office/drawing/2014/main" id="{4A9084B4-25DE-1E0F-5972-6C23C325B7AC}"/>
              </a:ext>
            </a:extLst>
          </p:cNvPr>
          <p:cNvSpPr txBox="1">
            <a:spLocks/>
          </p:cNvSpPr>
          <p:nvPr/>
        </p:nvSpPr>
        <p:spPr>
          <a:xfrm>
            <a:off x="910229" y="1449647"/>
            <a:ext cx="7323542" cy="4914065"/>
          </a:xfrm>
          <a:prstGeom prst="rect">
            <a:avLst/>
          </a:prstGeom>
        </p:spPr>
        <p:style>
          <a:lnRef idx="1">
            <a:schemeClr val="accent2"/>
          </a:lnRef>
          <a:fillRef idx="2">
            <a:schemeClr val="accent2"/>
          </a:fillRef>
          <a:effectRef idx="1">
            <a:schemeClr val="accent2"/>
          </a:effectRef>
          <a:fontRef idx="minor">
            <a:schemeClr val="dk1"/>
          </a:fontRef>
        </p:style>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100000"/>
              </a:lnSpc>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100000"/>
              </a:lnSpc>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9pPr>
          </a:lstStyle>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public Example {</a:t>
            </a:r>
          </a:p>
          <a:p>
            <a:pPr marL="182880" lvl="1" indent="0" defTabSz="457200">
              <a:lnSpc>
                <a:spcPct val="90000"/>
              </a:lnSpc>
              <a:buNone/>
            </a:pPr>
            <a:endParaRPr lang="en-US" sz="1400" dirty="0">
              <a:latin typeface="Courier New" panose="02070309020205020404" pitchFamily="49" charset="0"/>
              <a:cs typeface="Courier New" panose="02070309020205020404" pitchFamily="49" charset="0"/>
            </a:endParaRP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public static void main(String[] </a:t>
            </a:r>
            <a:r>
              <a:rPr lang="en-US" sz="1400" dirty="0" err="1">
                <a:latin typeface="Courier New" panose="02070309020205020404" pitchFamily="49" charset="0"/>
                <a:cs typeface="Courier New" panose="02070309020205020404" pitchFamily="49" charset="0"/>
              </a:rPr>
              <a:t>args</a:t>
            </a: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Data d = new Data();</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d.x</a:t>
            </a:r>
            <a:r>
              <a:rPr lang="en-US" sz="1400" dirty="0">
                <a:latin typeface="Courier New" panose="02070309020205020404" pitchFamily="49" charset="0"/>
                <a:cs typeface="Courier New" panose="02070309020205020404" pitchFamily="49" charset="0"/>
              </a:rPr>
              <a:t> = 10;</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change(d);</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System.out.println</a:t>
            </a:r>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d.x</a:t>
            </a:r>
            <a:r>
              <a:rPr lang="en-US" sz="1400" dirty="0">
                <a:latin typeface="Courier New" panose="02070309020205020404" pitchFamily="49" charset="0"/>
                <a:cs typeface="Courier New" panose="02070309020205020404" pitchFamily="49" charset="0"/>
              </a:rPr>
              <a:t>); // prints 10 - </a:t>
            </a:r>
            <a:r>
              <a:rPr lang="en-US" sz="1400" b="1" u="sng" dirty="0">
                <a:latin typeface="Courier New" panose="02070309020205020404" pitchFamily="49" charset="0"/>
                <a:cs typeface="Courier New" panose="02070309020205020404" pitchFamily="49" charset="0"/>
              </a:rPr>
              <a:t>java is pass-by-value</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buNone/>
            </a:pPr>
            <a:endParaRPr lang="en-US" sz="1400" dirty="0">
              <a:latin typeface="Courier New" panose="02070309020205020404" pitchFamily="49" charset="0"/>
              <a:cs typeface="Courier New" panose="02070309020205020404" pitchFamily="49" charset="0"/>
            </a:endParaRP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public static void change(Data d) {</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d = new Data(); // only effects the method’s variable ‘d’</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d.x</a:t>
            </a:r>
            <a:r>
              <a:rPr lang="en-US" sz="1400" dirty="0">
                <a:latin typeface="Courier New" panose="02070309020205020404" pitchFamily="49" charset="0"/>
                <a:cs typeface="Courier New" panose="02070309020205020404" pitchFamily="49" charset="0"/>
              </a:rPr>
              <a:t> = 25;</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a:t>
            </a:r>
          </a:p>
          <a:p>
            <a:pPr marL="182880" lvl="1" indent="0" defTabSz="457200">
              <a:lnSpc>
                <a:spcPct val="90000"/>
              </a:lnSpc>
              <a:buNone/>
            </a:pPr>
            <a:endParaRPr lang="en-US" sz="1400" dirty="0">
              <a:latin typeface="Courier New" panose="02070309020205020404" pitchFamily="49" charset="0"/>
              <a:cs typeface="Courier New" panose="02070309020205020404" pitchFamily="49" charset="0"/>
            </a:endParaRP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public class Data {</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public int x;</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627461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xEl>
                                              <p:pRg st="7" end="7"/>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xEl>
                                              <p:pRg st="9" end="9"/>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xEl>
                                              <p:pRg st="10" end="1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xEl>
                                              <p:pRg st="11" end="11"/>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xEl>
                                              <p:pRg st="12" end="12"/>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
                                            <p:txEl>
                                              <p:pRg st="13" end="13"/>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
                                            <p:txEl>
                                              <p:pRg st="15" end="15"/>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
                                            <p:txEl>
                                              <p:pRg st="16" end="16"/>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68303-F5FE-A7BD-703C-3F44CB6446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62FA9D-B606-AD60-FAD7-EC9E31541440}"/>
              </a:ext>
            </a:extLst>
          </p:cNvPr>
          <p:cNvSpPr>
            <a:spLocks noGrp="1"/>
          </p:cNvSpPr>
          <p:nvPr>
            <p:ph type="title"/>
          </p:nvPr>
        </p:nvSpPr>
        <p:spPr/>
        <p:txBody>
          <a:bodyPr/>
          <a:lstStyle/>
          <a:p>
            <a:r>
              <a:rPr lang="en-US" dirty="0"/>
              <a:t>Garbage Collection</a:t>
            </a:r>
          </a:p>
        </p:txBody>
      </p:sp>
      <p:sp>
        <p:nvSpPr>
          <p:cNvPr id="3" name="Text Placeholder 2">
            <a:extLst>
              <a:ext uri="{FF2B5EF4-FFF2-40B4-BE49-F238E27FC236}">
                <a16:creationId xmlns:a16="http://schemas.microsoft.com/office/drawing/2014/main" id="{EE0A373A-1E2E-4469-C6A2-A7B0A8909299}"/>
              </a:ext>
            </a:extLst>
          </p:cNvPr>
          <p:cNvSpPr>
            <a:spLocks noGrp="1"/>
          </p:cNvSpPr>
          <p:nvPr>
            <p:ph type="body" idx="1"/>
          </p:nvPr>
        </p:nvSpPr>
        <p:spPr>
          <a:xfrm>
            <a:off x="380010" y="1481446"/>
            <a:ext cx="8383980" cy="5247391"/>
          </a:xfrm>
        </p:spPr>
        <p:txBody>
          <a:bodyPr anchor="t">
            <a:normAutofit fontScale="85000" lnSpcReduction="20000"/>
          </a:bodyPr>
          <a:lstStyle/>
          <a:p>
            <a:r>
              <a:rPr lang="en-US" dirty="0"/>
              <a:t>Garbage Collection (GC) in Java is an </a:t>
            </a:r>
            <a:r>
              <a:rPr lang="en-US" b="1" i="1" dirty="0"/>
              <a:t>automatic memory management process</a:t>
            </a:r>
            <a:endParaRPr lang="en-US" dirty="0"/>
          </a:p>
          <a:p>
            <a:r>
              <a:rPr lang="en-US" dirty="0"/>
              <a:t>Garbage collection is managed by the JVM, and ensures an efficient use of heap memory by reclaiming memory occupied by objects no longer in use.</a:t>
            </a:r>
          </a:p>
          <a:p>
            <a:r>
              <a:rPr lang="en-US" dirty="0"/>
              <a:t>GC Process (high-level):</a:t>
            </a:r>
          </a:p>
          <a:p>
            <a:pPr lvl="1"/>
            <a:r>
              <a:rPr lang="en-US" dirty="0"/>
              <a:t>Mark Objects: Identify still in use by tracing referenced of objects active in memory (global variables, method params, etc…)</a:t>
            </a:r>
          </a:p>
          <a:p>
            <a:pPr lvl="1"/>
            <a:r>
              <a:rPr lang="en-US" dirty="0"/>
              <a:t>Sweep: reclaim memory occupied by unreachable objects</a:t>
            </a:r>
          </a:p>
          <a:p>
            <a:pPr lvl="1"/>
            <a:r>
              <a:rPr lang="en-US" dirty="0"/>
              <a:t>Compact: Rearrange remaining objects in memory to reduce fragmentation</a:t>
            </a:r>
          </a:p>
          <a:p>
            <a:r>
              <a:rPr lang="en-US" dirty="0"/>
              <a:t>You can request* Garbage collection by calling:</a:t>
            </a:r>
          </a:p>
          <a:p>
            <a:pPr lvl="1"/>
            <a:r>
              <a:rPr lang="en-US" dirty="0" err="1">
                <a:latin typeface="Courier New" panose="02070309020205020404" pitchFamily="49" charset="0"/>
                <a:cs typeface="Courier New" panose="02070309020205020404" pitchFamily="49" charset="0"/>
              </a:rPr>
              <a:t>System.gc</a:t>
            </a:r>
            <a:r>
              <a:rPr lang="en-US" dirty="0">
                <a:latin typeface="Courier New" panose="02070309020205020404" pitchFamily="49" charset="0"/>
                <a:cs typeface="Courier New" panose="02070309020205020404" pitchFamily="49" charset="0"/>
              </a:rPr>
              <a:t>()</a:t>
            </a:r>
          </a:p>
          <a:p>
            <a:pPr lvl="1"/>
            <a:r>
              <a:rPr lang="en-US" dirty="0" err="1">
                <a:latin typeface="Courier New" panose="02070309020205020404" pitchFamily="49" charset="0"/>
                <a:cs typeface="Courier New" panose="02070309020205020404" pitchFamily="49" charset="0"/>
              </a:rPr>
              <a:t>Runtime.getRuntime</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gc</a:t>
            </a:r>
            <a:r>
              <a:rPr lang="en-US" dirty="0">
                <a:latin typeface="Courier New" panose="02070309020205020404" pitchFamily="49" charset="0"/>
                <a:cs typeface="Courier New" panose="02070309020205020404" pitchFamily="49" charset="0"/>
              </a:rPr>
              <a:t>()</a:t>
            </a:r>
          </a:p>
          <a:p>
            <a:pPr lvl="1"/>
            <a:r>
              <a:rPr lang="en-US" dirty="0"/>
              <a:t>*This suggests collection but does not guarantee immediate execution of GC process.</a:t>
            </a:r>
          </a:p>
          <a:p>
            <a:endParaRPr lang="en-US" dirty="0"/>
          </a:p>
        </p:txBody>
      </p:sp>
      <p:sp>
        <p:nvSpPr>
          <p:cNvPr id="4" name="Slide Number Placeholder 3">
            <a:extLst>
              <a:ext uri="{FF2B5EF4-FFF2-40B4-BE49-F238E27FC236}">
                <a16:creationId xmlns:a16="http://schemas.microsoft.com/office/drawing/2014/main" id="{5C592E17-4DF4-A0BF-F3BA-71A2958C0DD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58</a:t>
            </a:fld>
            <a:endParaRPr lang="en-US"/>
          </a:p>
        </p:txBody>
      </p:sp>
    </p:spTree>
    <p:extLst>
      <p:ext uri="{BB962C8B-B14F-4D97-AF65-F5344CB8AC3E}">
        <p14:creationId xmlns:p14="http://schemas.microsoft.com/office/powerpoint/2010/main" val="1682921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5855A-CDB7-B793-2CDA-0D219669B4C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9B9941F-3766-A085-15BA-6D8170CC35D2}"/>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59</a:t>
            </a:fld>
            <a:endParaRPr lang="en-US"/>
          </a:p>
        </p:txBody>
      </p:sp>
      <p:sp>
        <p:nvSpPr>
          <p:cNvPr id="4" name="Google Shape;212;p15">
            <a:extLst>
              <a:ext uri="{FF2B5EF4-FFF2-40B4-BE49-F238E27FC236}">
                <a16:creationId xmlns:a16="http://schemas.microsoft.com/office/drawing/2014/main" id="{6F92339F-388B-AB28-7AE4-8E9F5C3586CB}"/>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‘this’ Keyword</a:t>
            </a:r>
          </a:p>
        </p:txBody>
      </p:sp>
      <p:pic>
        <p:nvPicPr>
          <p:cNvPr id="6" name="Picture 5">
            <a:extLst>
              <a:ext uri="{FF2B5EF4-FFF2-40B4-BE49-F238E27FC236}">
                <a16:creationId xmlns:a16="http://schemas.microsoft.com/office/drawing/2014/main" id="{6C7499DC-6594-0D59-EC7B-FFABE356C787}"/>
              </a:ext>
            </a:extLst>
          </p:cNvPr>
          <p:cNvPicPr>
            <a:picLocks noChangeAspect="1"/>
          </p:cNvPicPr>
          <p:nvPr/>
        </p:nvPicPr>
        <p:blipFill>
          <a:blip r:embed="rId2"/>
          <a:stretch>
            <a:fillRect/>
          </a:stretch>
        </p:blipFill>
        <p:spPr>
          <a:xfrm>
            <a:off x="7036646" y="0"/>
            <a:ext cx="2107354" cy="773112"/>
          </a:xfrm>
          <a:prstGeom prst="rect">
            <a:avLst/>
          </a:prstGeom>
        </p:spPr>
      </p:pic>
    </p:spTree>
    <p:extLst>
      <p:ext uri="{BB962C8B-B14F-4D97-AF65-F5344CB8AC3E}">
        <p14:creationId xmlns:p14="http://schemas.microsoft.com/office/powerpoint/2010/main" val="24155831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12593-0249-4951-BA96-517247FD5651}"/>
              </a:ext>
            </a:extLst>
          </p:cNvPr>
          <p:cNvSpPr>
            <a:spLocks noGrp="1"/>
          </p:cNvSpPr>
          <p:nvPr>
            <p:ph type="title"/>
          </p:nvPr>
        </p:nvSpPr>
        <p:spPr/>
        <p:txBody>
          <a:bodyPr/>
          <a:lstStyle/>
          <a:p>
            <a:r>
              <a:rPr lang="en-US" dirty="0"/>
              <a:t>Now </a:t>
            </a:r>
            <a:r>
              <a:rPr lang="en-US" i="1" dirty="0"/>
              <a:t>this…</a:t>
            </a:r>
            <a:endParaRPr lang="en-US" dirty="0"/>
          </a:p>
        </p:txBody>
      </p:sp>
      <p:sp>
        <p:nvSpPr>
          <p:cNvPr id="3" name="Text Placeholder 2">
            <a:extLst>
              <a:ext uri="{FF2B5EF4-FFF2-40B4-BE49-F238E27FC236}">
                <a16:creationId xmlns:a16="http://schemas.microsoft.com/office/drawing/2014/main" id="{FBCBEA99-DE50-44CC-8C07-8EE649F56859}"/>
              </a:ext>
            </a:extLst>
          </p:cNvPr>
          <p:cNvSpPr>
            <a:spLocks noGrp="1"/>
          </p:cNvSpPr>
          <p:nvPr>
            <p:ph type="body" idx="1"/>
          </p:nvPr>
        </p:nvSpPr>
        <p:spPr/>
        <p:txBody>
          <a:bodyPr anchor="ctr"/>
          <a:lstStyle/>
          <a:p>
            <a:r>
              <a:rPr lang="en-US" dirty="0"/>
              <a:t>So, what if we want the instructions in our method to affect the state of the object that the method is called on… </a:t>
            </a:r>
          </a:p>
          <a:p>
            <a:r>
              <a:rPr lang="en-US" dirty="0"/>
              <a:t>That’s why we have the ‘</a:t>
            </a:r>
            <a:r>
              <a:rPr lang="en-US" i="1" dirty="0"/>
              <a:t>this’ </a:t>
            </a:r>
            <a:r>
              <a:rPr lang="en-US" dirty="0"/>
              <a:t>keyword- a reference to the current object. </a:t>
            </a:r>
          </a:p>
          <a:p>
            <a:r>
              <a:rPr lang="en-US" dirty="0"/>
              <a:t>So, let’s see </a:t>
            </a:r>
            <a:r>
              <a:rPr lang="en-US" i="1" dirty="0"/>
              <a:t>this</a:t>
            </a:r>
            <a:r>
              <a:rPr lang="en-US" dirty="0"/>
              <a:t> in action. </a:t>
            </a:r>
          </a:p>
        </p:txBody>
      </p:sp>
      <p:sp>
        <p:nvSpPr>
          <p:cNvPr id="4" name="Slide Number Placeholder 3">
            <a:extLst>
              <a:ext uri="{FF2B5EF4-FFF2-40B4-BE49-F238E27FC236}">
                <a16:creationId xmlns:a16="http://schemas.microsoft.com/office/drawing/2014/main" id="{D117F43D-19ED-4EEC-8321-E1FA7BD2851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60</a:t>
            </a:fld>
            <a:endParaRPr lang="en-US"/>
          </a:p>
        </p:txBody>
      </p:sp>
    </p:spTree>
    <p:extLst>
      <p:ext uri="{BB962C8B-B14F-4D97-AF65-F5344CB8AC3E}">
        <p14:creationId xmlns:p14="http://schemas.microsoft.com/office/powerpoint/2010/main" val="1277236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CD228-B977-4C8C-B8BF-4DDB8DDC2A61}"/>
              </a:ext>
            </a:extLst>
          </p:cNvPr>
          <p:cNvSpPr>
            <a:spLocks noGrp="1"/>
          </p:cNvSpPr>
          <p:nvPr>
            <p:ph type="title"/>
          </p:nvPr>
        </p:nvSpPr>
        <p:spPr/>
        <p:txBody>
          <a:bodyPr/>
          <a:lstStyle/>
          <a:p>
            <a:r>
              <a:rPr lang="en-US" i="1" dirty="0"/>
              <a:t>This </a:t>
            </a:r>
            <a:r>
              <a:rPr lang="en-US" dirty="0"/>
              <a:t>in action</a:t>
            </a:r>
            <a:endParaRPr lang="en-US" i="1" dirty="0"/>
          </a:p>
        </p:txBody>
      </p:sp>
      <p:sp>
        <p:nvSpPr>
          <p:cNvPr id="3" name="Text Placeholder 2">
            <a:extLst>
              <a:ext uri="{FF2B5EF4-FFF2-40B4-BE49-F238E27FC236}">
                <a16:creationId xmlns:a16="http://schemas.microsoft.com/office/drawing/2014/main" id="{88FFDBE8-E049-4ACD-9C40-C15261BA2183}"/>
              </a:ext>
            </a:extLst>
          </p:cNvPr>
          <p:cNvSpPr>
            <a:spLocks noGrp="1"/>
          </p:cNvSpPr>
          <p:nvPr>
            <p:ph type="body" idx="1"/>
          </p:nvPr>
        </p:nvSpPr>
        <p:spPr/>
        <p:txBody>
          <a:bodyPr/>
          <a:lstStyle/>
          <a:p>
            <a:r>
              <a:rPr lang="en-US" dirty="0"/>
              <a:t>Let’s create a Dog class with an instance variable size. Let’s also create a grow method…</a:t>
            </a:r>
          </a:p>
          <a:p>
            <a:pPr lvl="1"/>
            <a:endParaRPr lang="en-US" dirty="0"/>
          </a:p>
        </p:txBody>
      </p:sp>
      <p:sp>
        <p:nvSpPr>
          <p:cNvPr id="4" name="Slide Number Placeholder 3">
            <a:extLst>
              <a:ext uri="{FF2B5EF4-FFF2-40B4-BE49-F238E27FC236}">
                <a16:creationId xmlns:a16="http://schemas.microsoft.com/office/drawing/2014/main" id="{A8ED481E-DB58-4D2F-8D4D-4174EEDC3CE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61</a:t>
            </a:fld>
            <a:endParaRPr lang="en-US"/>
          </a:p>
        </p:txBody>
      </p:sp>
      <p:sp>
        <p:nvSpPr>
          <p:cNvPr id="5" name="Google Shape;219;p16">
            <a:extLst>
              <a:ext uri="{FF2B5EF4-FFF2-40B4-BE49-F238E27FC236}">
                <a16:creationId xmlns:a16="http://schemas.microsoft.com/office/drawing/2014/main" id="{B02FDB98-93AA-4157-AB6A-FDAFAAB1ECE6}"/>
              </a:ext>
            </a:extLst>
          </p:cNvPr>
          <p:cNvSpPr txBox="1">
            <a:spLocks/>
          </p:cNvSpPr>
          <p:nvPr/>
        </p:nvSpPr>
        <p:spPr>
          <a:xfrm>
            <a:off x="2146813" y="2548245"/>
            <a:ext cx="4850374" cy="3459163"/>
          </a:xfrm>
          <a:prstGeom prst="rect">
            <a:avLst/>
          </a:prstGeom>
        </p:spPr>
        <p:style>
          <a:lnRef idx="1">
            <a:schemeClr val="accent2"/>
          </a:lnRef>
          <a:fillRef idx="2">
            <a:schemeClr val="accent2"/>
          </a:fillRef>
          <a:effectRef idx="1">
            <a:schemeClr val="accent2"/>
          </a:effectRef>
          <a:fontRef idx="minor">
            <a:schemeClr val="dk1"/>
          </a:fontRef>
        </p:style>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100000"/>
              </a:lnSpc>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100000"/>
              </a:lnSpc>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9pPr>
          </a:lstStyle>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public class Dog{</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public double size = 5.5; </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public void grow(){</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this.size</a:t>
            </a:r>
            <a:r>
              <a:rPr lang="en-US" sz="1400" dirty="0">
                <a:latin typeface="Courier New" panose="02070309020205020404" pitchFamily="49" charset="0"/>
                <a:cs typeface="Courier New" panose="02070309020205020404" pitchFamily="49" charset="0"/>
              </a:rPr>
              <a:t> += 1;</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a:t>
            </a:r>
          </a:p>
          <a:p>
            <a:pPr marL="182880" lvl="1" indent="0" defTabSz="457200">
              <a:lnSpc>
                <a:spcPct val="90000"/>
              </a:lnSpc>
              <a:buFont typeface="Arial"/>
              <a:buNone/>
            </a:pPr>
            <a:endParaRPr lang="en-US" sz="1400" dirty="0">
              <a:latin typeface="Courier New" panose="02070309020205020404" pitchFamily="49" charset="0"/>
              <a:cs typeface="Courier New" panose="02070309020205020404" pitchFamily="49" charset="0"/>
            </a:endParaRP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public class </a:t>
            </a:r>
            <a:r>
              <a:rPr lang="en-US" sz="1400" dirty="0" err="1">
                <a:latin typeface="Courier New" panose="02070309020205020404" pitchFamily="49" charset="0"/>
                <a:cs typeface="Courier New" panose="02070309020205020404" pitchFamily="49" charset="0"/>
              </a:rPr>
              <a:t>TestDog</a:t>
            </a:r>
            <a:r>
              <a:rPr lang="en-US" sz="1400" dirty="0">
                <a:latin typeface="Courier New" panose="02070309020205020404" pitchFamily="49" charset="0"/>
                <a:cs typeface="Courier New" panose="02070309020205020404" pitchFamily="49" charset="0"/>
              </a:rPr>
              <a:t>{</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public static void main(String[] </a:t>
            </a:r>
            <a:r>
              <a:rPr lang="en-US" sz="1400" dirty="0" err="1">
                <a:latin typeface="Courier New" panose="02070309020205020404" pitchFamily="49" charset="0"/>
                <a:cs typeface="Courier New" panose="02070309020205020404" pitchFamily="49" charset="0"/>
              </a:rPr>
              <a:t>args</a:t>
            </a:r>
            <a:r>
              <a:rPr lang="en-US" sz="1400" dirty="0">
                <a:latin typeface="Courier New" panose="02070309020205020404" pitchFamily="49" charset="0"/>
                <a:cs typeface="Courier New" panose="02070309020205020404" pitchFamily="49" charset="0"/>
              </a:rPr>
              <a:t>){</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Dog daisy = new Dog();</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daisy.grow</a:t>
            </a:r>
            <a:r>
              <a:rPr lang="en-US" sz="1400" dirty="0">
                <a:latin typeface="Courier New" panose="02070309020205020404" pitchFamily="49" charset="0"/>
                <a:cs typeface="Courier New" panose="02070309020205020404" pitchFamily="49" charset="0"/>
              </a:rPr>
              <a:t>();</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a:t>
            </a:r>
          </a:p>
        </p:txBody>
      </p:sp>
      <p:grpSp>
        <p:nvGrpSpPr>
          <p:cNvPr id="9" name="Group 8">
            <a:extLst>
              <a:ext uri="{FF2B5EF4-FFF2-40B4-BE49-F238E27FC236}">
                <a16:creationId xmlns:a16="http://schemas.microsoft.com/office/drawing/2014/main" id="{F2080E37-6218-4032-B9D7-C7F5A8FA7097}"/>
              </a:ext>
            </a:extLst>
          </p:cNvPr>
          <p:cNvGrpSpPr/>
          <p:nvPr/>
        </p:nvGrpSpPr>
        <p:grpSpPr>
          <a:xfrm>
            <a:off x="2565647" y="2435524"/>
            <a:ext cx="6191963" cy="1644069"/>
            <a:chOff x="2654014" y="2152319"/>
            <a:chExt cx="6191963" cy="1644069"/>
          </a:xfrm>
        </p:grpSpPr>
        <p:sp>
          <p:nvSpPr>
            <p:cNvPr id="6" name="Rectangle: Rounded Corners 5">
              <a:extLst>
                <a:ext uri="{FF2B5EF4-FFF2-40B4-BE49-F238E27FC236}">
                  <a16:creationId xmlns:a16="http://schemas.microsoft.com/office/drawing/2014/main" id="{2FA2618E-044B-4E97-970C-1A6A71D746AE}"/>
                </a:ext>
              </a:extLst>
            </p:cNvPr>
            <p:cNvSpPr/>
            <p:nvPr/>
          </p:nvSpPr>
          <p:spPr>
            <a:xfrm>
              <a:off x="2654014" y="2846895"/>
              <a:ext cx="3718506" cy="791851"/>
            </a:xfrm>
            <a:prstGeom prst="roundRect">
              <a:avLst/>
            </a:prstGeom>
            <a:solidFill>
              <a:schemeClr val="accent1">
                <a:alpha val="1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Callout: Line with Accent Bar 6">
              <a:extLst>
                <a:ext uri="{FF2B5EF4-FFF2-40B4-BE49-F238E27FC236}">
                  <a16:creationId xmlns:a16="http://schemas.microsoft.com/office/drawing/2014/main" id="{9F8678FB-8B8F-47F3-8794-EF31A0DBA49E}"/>
                </a:ext>
              </a:extLst>
            </p:cNvPr>
            <p:cNvSpPr/>
            <p:nvPr/>
          </p:nvSpPr>
          <p:spPr>
            <a:xfrm>
              <a:off x="6997187" y="2152319"/>
              <a:ext cx="1848790" cy="1644069"/>
            </a:xfrm>
            <a:prstGeom prst="accentCallout1">
              <a:avLst>
                <a:gd name="adj1" fmla="val 58070"/>
                <a:gd name="adj2" fmla="val -6293"/>
                <a:gd name="adj3" fmla="val 81219"/>
                <a:gd name="adj4" fmla="val -334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Here we use the this keyword to indicate that we want to modify the size of the Dog object grow() is called on.</a:t>
              </a:r>
            </a:p>
          </p:txBody>
        </p:sp>
      </p:grpSp>
      <p:sp>
        <p:nvSpPr>
          <p:cNvPr id="8" name="Callout: Line with Accent Bar 7">
            <a:extLst>
              <a:ext uri="{FF2B5EF4-FFF2-40B4-BE49-F238E27FC236}">
                <a16:creationId xmlns:a16="http://schemas.microsoft.com/office/drawing/2014/main" id="{26185FFE-AF4E-4DB1-BA29-72A8E5B5B829}"/>
              </a:ext>
            </a:extLst>
          </p:cNvPr>
          <p:cNvSpPr/>
          <p:nvPr/>
        </p:nvSpPr>
        <p:spPr>
          <a:xfrm flipH="1">
            <a:off x="386390" y="4595474"/>
            <a:ext cx="1463040" cy="902208"/>
          </a:xfrm>
          <a:prstGeom prst="accentCallout1">
            <a:avLst>
              <a:gd name="adj1" fmla="val 18750"/>
              <a:gd name="adj2" fmla="val -8333"/>
              <a:gd name="adj3" fmla="val 76618"/>
              <a:gd name="adj4" fmla="val -879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Then we </a:t>
            </a:r>
            <a:r>
              <a:rPr lang="en-US" i="1" dirty="0"/>
              <a:t>call </a:t>
            </a:r>
            <a:r>
              <a:rPr lang="en-US" dirty="0"/>
              <a:t>the instance method on our object. </a:t>
            </a:r>
          </a:p>
        </p:txBody>
      </p:sp>
      <p:grpSp>
        <p:nvGrpSpPr>
          <p:cNvPr id="14" name="Group 13">
            <a:extLst>
              <a:ext uri="{FF2B5EF4-FFF2-40B4-BE49-F238E27FC236}">
                <a16:creationId xmlns:a16="http://schemas.microsoft.com/office/drawing/2014/main" id="{EE410FDC-C196-41D3-B352-EBAC0A1CB9C6}"/>
              </a:ext>
            </a:extLst>
          </p:cNvPr>
          <p:cNvGrpSpPr/>
          <p:nvPr/>
        </p:nvGrpSpPr>
        <p:grpSpPr>
          <a:xfrm>
            <a:off x="4943272" y="3526025"/>
            <a:ext cx="2678582" cy="913240"/>
            <a:chOff x="6519681" y="3251619"/>
            <a:chExt cx="2678582" cy="913240"/>
          </a:xfrm>
        </p:grpSpPr>
        <p:sp>
          <p:nvSpPr>
            <p:cNvPr id="10" name="TextBox 9">
              <a:extLst>
                <a:ext uri="{FF2B5EF4-FFF2-40B4-BE49-F238E27FC236}">
                  <a16:creationId xmlns:a16="http://schemas.microsoft.com/office/drawing/2014/main" id="{7240485F-0920-4E17-9B9C-61A4E032251E}"/>
                </a:ext>
              </a:extLst>
            </p:cNvPr>
            <p:cNvSpPr txBox="1"/>
            <p:nvPr/>
          </p:nvSpPr>
          <p:spPr>
            <a:xfrm>
              <a:off x="6602681" y="3857082"/>
              <a:ext cx="2595582" cy="307777"/>
            </a:xfrm>
            <a:prstGeom prst="rect">
              <a:avLst/>
            </a:prstGeom>
            <a:noFill/>
          </p:spPr>
          <p:txBody>
            <a:bodyPr wrap="none" rtlCol="0">
              <a:spAutoFit/>
            </a:bodyPr>
            <a:lstStyle/>
            <a:p>
              <a:r>
                <a:rPr lang="en-US" dirty="0">
                  <a:latin typeface="Segoe Print" panose="02000600000000000000" pitchFamily="2" charset="0"/>
                </a:rPr>
                <a:t>Running these instructions</a:t>
              </a:r>
            </a:p>
          </p:txBody>
        </p:sp>
        <mc:AlternateContent xmlns:mc="http://schemas.openxmlformats.org/markup-compatibility/2006" xmlns:p14="http://schemas.microsoft.com/office/powerpoint/2010/main">
          <mc:Choice Requires="p14">
            <p:contentPart p14:bwMode="auto" r:id="rId2">
              <p14:nvContentPartPr>
                <p14:cNvPr id="13" name="Ink 12">
                  <a:extLst>
                    <a:ext uri="{FF2B5EF4-FFF2-40B4-BE49-F238E27FC236}">
                      <a16:creationId xmlns:a16="http://schemas.microsoft.com/office/drawing/2014/main" id="{734D64DE-633B-4125-9E89-559792A4669B}"/>
                    </a:ext>
                  </a:extLst>
                </p14:cNvPr>
                <p14:cNvContentPartPr/>
                <p14:nvPr/>
              </p14:nvContentPartPr>
              <p14:xfrm>
                <a:off x="6519681" y="3251619"/>
                <a:ext cx="789840" cy="622800"/>
              </p14:xfrm>
            </p:contentPart>
          </mc:Choice>
          <mc:Fallback xmlns="">
            <p:pic>
              <p:nvPicPr>
                <p:cNvPr id="13" name="Ink 12">
                  <a:extLst>
                    <a:ext uri="{FF2B5EF4-FFF2-40B4-BE49-F238E27FC236}">
                      <a16:creationId xmlns:a16="http://schemas.microsoft.com/office/drawing/2014/main" id="{734D64DE-633B-4125-9E89-559792A4669B}"/>
                    </a:ext>
                  </a:extLst>
                </p:cNvPr>
                <p:cNvPicPr/>
                <p:nvPr/>
              </p:nvPicPr>
              <p:blipFill>
                <a:blip r:embed="rId3"/>
                <a:stretch>
                  <a:fillRect/>
                </a:stretch>
              </p:blipFill>
              <p:spPr>
                <a:xfrm>
                  <a:off x="6511041" y="3242619"/>
                  <a:ext cx="807480" cy="640440"/>
                </a:xfrm>
                <a:prstGeom prst="rect">
                  <a:avLst/>
                </a:prstGeom>
              </p:spPr>
            </p:pic>
          </mc:Fallback>
        </mc:AlternateContent>
      </p:grpSp>
    </p:spTree>
    <p:extLst>
      <p:ext uri="{BB962C8B-B14F-4D97-AF65-F5344CB8AC3E}">
        <p14:creationId xmlns:p14="http://schemas.microsoft.com/office/powerpoint/2010/main" val="3369040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
                                            <p:txEl>
                                              <p:pRg st="9" end="9"/>
                                            </p:txEl>
                                          </p:spTgt>
                                        </p:tgtEl>
                                        <p:attrNameLst>
                                          <p:attrName>style.visibility</p:attrName>
                                        </p:attrNameLst>
                                      </p:cBhvr>
                                      <p:to>
                                        <p:strVal val="visible"/>
                                      </p:to>
                                    </p:set>
                                  </p:childTnLst>
                                </p:cTn>
                              </p:par>
                              <p:par>
                                <p:cTn id="33" presetID="1" presetClass="entr" presetSubtype="0" fill="hold" grpId="0" nodeType="withEffect">
                                  <p:stCondLst>
                                    <p:cond delay="0"/>
                                  </p:stCondLst>
                                  <p:iterate type="lt">
                                    <p:tmAbs val="0"/>
                                  </p:iterate>
                                  <p:childTnLst>
                                    <p:set>
                                      <p:cBhvr>
                                        <p:cTn id="34" dur="1" fill="hold">
                                          <p:stCondLst>
                                            <p:cond delay="0"/>
                                          </p:stCondLst>
                                        </p:cTn>
                                        <p:tgtEl>
                                          <p:spTgt spid="5">
                                            <p:txEl>
                                              <p:pRg st="10" end="10"/>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
                                            <p:txEl>
                                              <p:pRg st="11" end="11"/>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5" presetClass="emph" presetSubtype="0" nodeType="clickEffect">
                                  <p:stCondLst>
                                    <p:cond delay="0"/>
                                  </p:stCondLst>
                                  <p:iterate type="lt">
                                    <p:tmAbs val="25"/>
                                  </p:iterate>
                                  <p:childTnLst>
                                    <p:set>
                                      <p:cBhvr override="childStyle">
                                        <p:cTn id="42" dur="indefinite"/>
                                        <p:tgtEl>
                                          <p:spTgt spid="5">
                                            <p:txEl>
                                              <p:pRg st="10" end="10"/>
                                            </p:txEl>
                                          </p:spTgt>
                                        </p:tgtEl>
                                        <p:attrNameLst>
                                          <p:attrName>style.fontWeight</p:attrName>
                                        </p:attrNameLst>
                                      </p:cBhvr>
                                      <p:to>
                                        <p:strVal val="bold"/>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uiExpand="1" build="p"/>
      <p:bldP spid="8"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2A5A8-9BA7-481E-8EC3-BEB66C60FAAE}"/>
              </a:ext>
            </a:extLst>
          </p:cNvPr>
          <p:cNvSpPr>
            <a:spLocks noGrp="1"/>
          </p:cNvSpPr>
          <p:nvPr>
            <p:ph type="title"/>
          </p:nvPr>
        </p:nvSpPr>
        <p:spPr/>
        <p:txBody>
          <a:bodyPr/>
          <a:lstStyle/>
          <a:p>
            <a:r>
              <a:rPr lang="en-US" dirty="0"/>
              <a:t>Clarifications</a:t>
            </a:r>
          </a:p>
        </p:txBody>
      </p:sp>
      <p:sp>
        <p:nvSpPr>
          <p:cNvPr id="3" name="Text Placeholder 2">
            <a:extLst>
              <a:ext uri="{FF2B5EF4-FFF2-40B4-BE49-F238E27FC236}">
                <a16:creationId xmlns:a16="http://schemas.microsoft.com/office/drawing/2014/main" id="{503D1FF6-ED54-4FC9-90DA-AC0BA4E85036}"/>
              </a:ext>
            </a:extLst>
          </p:cNvPr>
          <p:cNvSpPr>
            <a:spLocks noGrp="1"/>
          </p:cNvSpPr>
          <p:nvPr>
            <p:ph type="body" idx="1"/>
          </p:nvPr>
        </p:nvSpPr>
        <p:spPr>
          <a:xfrm>
            <a:off x="380010" y="1368327"/>
            <a:ext cx="8383980" cy="5177947"/>
          </a:xfrm>
        </p:spPr>
        <p:txBody>
          <a:bodyPr/>
          <a:lstStyle/>
          <a:p>
            <a:r>
              <a:rPr lang="en-US" sz="2000" dirty="0">
                <a:latin typeface="+mn-lt"/>
              </a:rPr>
              <a:t>You may be wondering ‘couldn’t we have just done the following?’:</a:t>
            </a:r>
          </a:p>
          <a:p>
            <a:endParaRPr lang="en-US" sz="2000" dirty="0">
              <a:latin typeface="+mn-lt"/>
            </a:endParaRPr>
          </a:p>
          <a:p>
            <a:endParaRPr lang="en-US" sz="2000" dirty="0">
              <a:latin typeface="+mn-lt"/>
            </a:endParaRPr>
          </a:p>
          <a:p>
            <a:endParaRPr lang="en-US" sz="2000" dirty="0">
              <a:latin typeface="+mn-lt"/>
            </a:endParaRPr>
          </a:p>
          <a:p>
            <a:endParaRPr lang="en-US" sz="2000" dirty="0">
              <a:latin typeface="+mn-lt"/>
            </a:endParaRPr>
          </a:p>
          <a:p>
            <a:endParaRPr lang="en-US" sz="2000" dirty="0">
              <a:latin typeface="+mn-lt"/>
            </a:endParaRPr>
          </a:p>
          <a:p>
            <a:r>
              <a:rPr lang="en-US" sz="2000" dirty="0">
                <a:latin typeface="+mn-lt"/>
              </a:rPr>
              <a:t>You are correct. </a:t>
            </a:r>
          </a:p>
          <a:p>
            <a:r>
              <a:rPr lang="en-US" sz="2000" dirty="0">
                <a:latin typeface="+mn-lt"/>
              </a:rPr>
              <a:t>So then why? </a:t>
            </a:r>
          </a:p>
          <a:p>
            <a:r>
              <a:rPr lang="en-US" sz="2000" dirty="0">
                <a:latin typeface="+mn-lt"/>
              </a:rPr>
              <a:t>Using </a:t>
            </a:r>
            <a:r>
              <a:rPr lang="en-US" sz="2000" i="1" dirty="0">
                <a:latin typeface="+mn-lt"/>
              </a:rPr>
              <a:t>this</a:t>
            </a:r>
            <a:r>
              <a:rPr lang="en-US" sz="2000" dirty="0">
                <a:latin typeface="+mn-lt"/>
              </a:rPr>
              <a:t> makes it even more clear that you are referring to an instance variable. </a:t>
            </a:r>
          </a:p>
          <a:p>
            <a:r>
              <a:rPr lang="en-US" sz="2000" dirty="0">
                <a:latin typeface="+mn-lt"/>
              </a:rPr>
              <a:t>Also, we could have created a </a:t>
            </a:r>
            <a:r>
              <a:rPr lang="en-US" sz="2000" i="1" dirty="0">
                <a:latin typeface="+mn-lt"/>
              </a:rPr>
              <a:t>local size variable</a:t>
            </a:r>
            <a:r>
              <a:rPr lang="en-US" sz="2000" dirty="0">
                <a:latin typeface="+mn-lt"/>
              </a:rPr>
              <a:t>- having two variables of the same name we need a way to differentiate between them. </a:t>
            </a:r>
          </a:p>
        </p:txBody>
      </p:sp>
      <p:sp>
        <p:nvSpPr>
          <p:cNvPr id="4" name="Slide Number Placeholder 3">
            <a:extLst>
              <a:ext uri="{FF2B5EF4-FFF2-40B4-BE49-F238E27FC236}">
                <a16:creationId xmlns:a16="http://schemas.microsoft.com/office/drawing/2014/main" id="{F0C76E94-6ED0-46A2-ABEB-64B22709EE6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62</a:t>
            </a:fld>
            <a:endParaRPr lang="en-US"/>
          </a:p>
        </p:txBody>
      </p:sp>
      <p:sp>
        <p:nvSpPr>
          <p:cNvPr id="5" name="Google Shape;219;p16">
            <a:extLst>
              <a:ext uri="{FF2B5EF4-FFF2-40B4-BE49-F238E27FC236}">
                <a16:creationId xmlns:a16="http://schemas.microsoft.com/office/drawing/2014/main" id="{0FD72F5F-CC8A-4985-A412-6CA1D47935E6}"/>
              </a:ext>
            </a:extLst>
          </p:cNvPr>
          <p:cNvSpPr txBox="1">
            <a:spLocks/>
          </p:cNvSpPr>
          <p:nvPr/>
        </p:nvSpPr>
        <p:spPr>
          <a:xfrm>
            <a:off x="2146813" y="1948181"/>
            <a:ext cx="4850374" cy="1651813"/>
          </a:xfrm>
          <a:prstGeom prst="rect">
            <a:avLst/>
          </a:prstGeom>
        </p:spPr>
        <p:style>
          <a:lnRef idx="1">
            <a:schemeClr val="accent2"/>
          </a:lnRef>
          <a:fillRef idx="2">
            <a:schemeClr val="accent2"/>
          </a:fillRef>
          <a:effectRef idx="1">
            <a:schemeClr val="accent2"/>
          </a:effectRef>
          <a:fontRef idx="minor">
            <a:schemeClr val="dk1"/>
          </a:fontRef>
        </p:style>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100000"/>
              </a:lnSpc>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100000"/>
              </a:lnSpc>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9pPr>
          </a:lstStyle>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public class Dog{</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public double size = 5.5; </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public void grow(){</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size += 1;</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a:t>
            </a:r>
          </a:p>
          <a:p>
            <a:pPr marL="182880" lvl="1" indent="0" defTabSz="457200">
              <a:lnSpc>
                <a:spcPct val="90000"/>
              </a:lnSpc>
              <a:buFont typeface="Arial"/>
              <a:buNone/>
            </a:pPr>
            <a:endParaRPr lang="en-US" sz="14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301644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CD228-B977-4C8C-B8BF-4DDB8DDC2A61}"/>
              </a:ext>
            </a:extLst>
          </p:cNvPr>
          <p:cNvSpPr>
            <a:spLocks noGrp="1"/>
          </p:cNvSpPr>
          <p:nvPr>
            <p:ph type="title"/>
          </p:nvPr>
        </p:nvSpPr>
        <p:spPr/>
        <p:txBody>
          <a:bodyPr/>
          <a:lstStyle/>
          <a:p>
            <a:r>
              <a:rPr lang="en-US" i="1" dirty="0"/>
              <a:t>This </a:t>
            </a:r>
            <a:r>
              <a:rPr lang="en-US" dirty="0"/>
              <a:t>in action</a:t>
            </a:r>
            <a:endParaRPr lang="en-US" i="1" dirty="0"/>
          </a:p>
        </p:txBody>
      </p:sp>
      <p:sp>
        <p:nvSpPr>
          <p:cNvPr id="4" name="Slide Number Placeholder 3">
            <a:extLst>
              <a:ext uri="{FF2B5EF4-FFF2-40B4-BE49-F238E27FC236}">
                <a16:creationId xmlns:a16="http://schemas.microsoft.com/office/drawing/2014/main" id="{A8ED481E-DB58-4D2F-8D4D-4174EEDC3CE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63</a:t>
            </a:fld>
            <a:endParaRPr lang="en-US"/>
          </a:p>
        </p:txBody>
      </p:sp>
      <p:sp>
        <p:nvSpPr>
          <p:cNvPr id="5" name="Google Shape;219;p16">
            <a:extLst>
              <a:ext uri="{FF2B5EF4-FFF2-40B4-BE49-F238E27FC236}">
                <a16:creationId xmlns:a16="http://schemas.microsoft.com/office/drawing/2014/main" id="{B02FDB98-93AA-4157-AB6A-FDAFAAB1ECE6}"/>
              </a:ext>
            </a:extLst>
          </p:cNvPr>
          <p:cNvSpPr txBox="1">
            <a:spLocks/>
          </p:cNvSpPr>
          <p:nvPr/>
        </p:nvSpPr>
        <p:spPr>
          <a:xfrm>
            <a:off x="380010" y="1690683"/>
            <a:ext cx="4850374" cy="3476633"/>
          </a:xfrm>
          <a:prstGeom prst="rect">
            <a:avLst/>
          </a:prstGeom>
        </p:spPr>
        <p:style>
          <a:lnRef idx="1">
            <a:schemeClr val="accent2"/>
          </a:lnRef>
          <a:fillRef idx="2">
            <a:schemeClr val="accent2"/>
          </a:fillRef>
          <a:effectRef idx="1">
            <a:schemeClr val="accent2"/>
          </a:effectRef>
          <a:fontRef idx="minor">
            <a:schemeClr val="dk1"/>
          </a:fontRef>
        </p:style>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100000"/>
              </a:lnSpc>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100000"/>
              </a:lnSpc>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9pPr>
          </a:lstStyle>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public class Dog{</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public double size = 5.5; </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public void </a:t>
            </a:r>
            <a:r>
              <a:rPr lang="en-US" sz="1400" dirty="0" err="1">
                <a:latin typeface="Courier New" panose="02070309020205020404" pitchFamily="49" charset="0"/>
                <a:cs typeface="Courier New" panose="02070309020205020404" pitchFamily="49" charset="0"/>
              </a:rPr>
              <a:t>growToSize</a:t>
            </a:r>
            <a:r>
              <a:rPr lang="en-US" sz="1400" dirty="0">
                <a:latin typeface="Courier New" panose="02070309020205020404" pitchFamily="49" charset="0"/>
                <a:cs typeface="Courier New" panose="02070309020205020404" pitchFamily="49" charset="0"/>
              </a:rPr>
              <a:t>(double size){</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this.size</a:t>
            </a:r>
            <a:r>
              <a:rPr lang="en-US" sz="1400" dirty="0">
                <a:latin typeface="Courier New" panose="02070309020205020404" pitchFamily="49" charset="0"/>
                <a:cs typeface="Courier New" panose="02070309020205020404" pitchFamily="49" charset="0"/>
              </a:rPr>
              <a:t> = size;</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a:t>
            </a:r>
          </a:p>
          <a:p>
            <a:pPr marL="182880" lvl="1" indent="0" defTabSz="457200">
              <a:lnSpc>
                <a:spcPct val="90000"/>
              </a:lnSpc>
              <a:buFont typeface="Arial"/>
              <a:buNone/>
            </a:pPr>
            <a:endParaRPr lang="en-US" sz="1400" dirty="0">
              <a:latin typeface="Courier New" panose="02070309020205020404" pitchFamily="49" charset="0"/>
              <a:cs typeface="Courier New" panose="02070309020205020404" pitchFamily="49" charset="0"/>
            </a:endParaRP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public class </a:t>
            </a:r>
            <a:r>
              <a:rPr lang="en-US" sz="1400" dirty="0" err="1">
                <a:latin typeface="Courier New" panose="02070309020205020404" pitchFamily="49" charset="0"/>
                <a:cs typeface="Courier New" panose="02070309020205020404" pitchFamily="49" charset="0"/>
              </a:rPr>
              <a:t>TestDog</a:t>
            </a:r>
            <a:r>
              <a:rPr lang="en-US" sz="1400" dirty="0">
                <a:latin typeface="Courier New" panose="02070309020205020404" pitchFamily="49" charset="0"/>
                <a:cs typeface="Courier New" panose="02070309020205020404" pitchFamily="49" charset="0"/>
              </a:rPr>
              <a:t>{</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public static void main(String[] </a:t>
            </a:r>
            <a:r>
              <a:rPr lang="en-US" sz="1400" dirty="0" err="1">
                <a:latin typeface="Courier New" panose="02070309020205020404" pitchFamily="49" charset="0"/>
                <a:cs typeface="Courier New" panose="02070309020205020404" pitchFamily="49" charset="0"/>
              </a:rPr>
              <a:t>args</a:t>
            </a:r>
            <a:r>
              <a:rPr lang="en-US" sz="1400" dirty="0">
                <a:latin typeface="Courier New" panose="02070309020205020404" pitchFamily="49" charset="0"/>
                <a:cs typeface="Courier New" panose="02070309020205020404" pitchFamily="49" charset="0"/>
              </a:rPr>
              <a:t>){</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Dog daisy = new Dog();</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daisy.growToSize</a:t>
            </a:r>
            <a:r>
              <a:rPr lang="en-US" sz="1400" dirty="0">
                <a:latin typeface="Courier New" panose="02070309020205020404" pitchFamily="49" charset="0"/>
                <a:cs typeface="Courier New" panose="02070309020205020404" pitchFamily="49" charset="0"/>
              </a:rPr>
              <a:t>(7.7);</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a:t>
            </a:r>
          </a:p>
        </p:txBody>
      </p:sp>
      <p:grpSp>
        <p:nvGrpSpPr>
          <p:cNvPr id="16" name="Group 15">
            <a:extLst>
              <a:ext uri="{FF2B5EF4-FFF2-40B4-BE49-F238E27FC236}">
                <a16:creationId xmlns:a16="http://schemas.microsoft.com/office/drawing/2014/main" id="{71D77892-DCBA-4968-8361-943AD9741E30}"/>
              </a:ext>
            </a:extLst>
          </p:cNvPr>
          <p:cNvGrpSpPr/>
          <p:nvPr/>
        </p:nvGrpSpPr>
        <p:grpSpPr>
          <a:xfrm>
            <a:off x="3271520" y="1056640"/>
            <a:ext cx="3409446" cy="1524000"/>
            <a:chOff x="3271520" y="1056640"/>
            <a:chExt cx="3409446" cy="1524000"/>
          </a:xfrm>
        </p:grpSpPr>
        <p:sp>
          <p:nvSpPr>
            <p:cNvPr id="11" name="Callout: Line with Accent Bar 10">
              <a:extLst>
                <a:ext uri="{FF2B5EF4-FFF2-40B4-BE49-F238E27FC236}">
                  <a16:creationId xmlns:a16="http://schemas.microsoft.com/office/drawing/2014/main" id="{E6D408F0-7C0F-4A20-BDD3-5A12815CA7A0}"/>
                </a:ext>
              </a:extLst>
            </p:cNvPr>
            <p:cNvSpPr/>
            <p:nvPr/>
          </p:nvSpPr>
          <p:spPr>
            <a:xfrm>
              <a:off x="5055366" y="1056640"/>
              <a:ext cx="1625600" cy="1036320"/>
            </a:xfrm>
            <a:prstGeom prst="accentCallout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Now the word  size refers to the parameter, size. </a:t>
              </a:r>
            </a:p>
          </p:txBody>
        </p:sp>
        <p:sp>
          <p:nvSpPr>
            <p:cNvPr id="12" name="Oval 11">
              <a:extLst>
                <a:ext uri="{FF2B5EF4-FFF2-40B4-BE49-F238E27FC236}">
                  <a16:creationId xmlns:a16="http://schemas.microsoft.com/office/drawing/2014/main" id="{654AB379-E625-4B7A-BC5E-041B2B39A2FD}"/>
                </a:ext>
              </a:extLst>
            </p:cNvPr>
            <p:cNvSpPr/>
            <p:nvPr/>
          </p:nvSpPr>
          <p:spPr>
            <a:xfrm>
              <a:off x="3271520" y="2194560"/>
              <a:ext cx="1452880" cy="386080"/>
            </a:xfrm>
            <a:prstGeom prst="ellipse">
              <a:avLst/>
            </a:prstGeom>
            <a:solidFill>
              <a:schemeClr val="accent1">
                <a:alpha val="1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Callout: Line with Accent Bar 14">
            <a:extLst>
              <a:ext uri="{FF2B5EF4-FFF2-40B4-BE49-F238E27FC236}">
                <a16:creationId xmlns:a16="http://schemas.microsoft.com/office/drawing/2014/main" id="{6ACC189F-588F-4728-A6B2-FACB1EABEEFF}"/>
              </a:ext>
            </a:extLst>
          </p:cNvPr>
          <p:cNvSpPr/>
          <p:nvPr/>
        </p:nvSpPr>
        <p:spPr>
          <a:xfrm>
            <a:off x="5717894" y="3428999"/>
            <a:ext cx="2263130" cy="955040"/>
          </a:xfrm>
          <a:prstGeom prst="accentCallout1">
            <a:avLst>
              <a:gd name="adj1" fmla="val 33362"/>
              <a:gd name="adj2" fmla="val -5130"/>
              <a:gd name="adj3" fmla="val -66562"/>
              <a:gd name="adj4" fmla="val -16187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We use the ‘</a:t>
            </a:r>
            <a:r>
              <a:rPr lang="en-US" i="1" dirty="0"/>
              <a:t>this’</a:t>
            </a:r>
            <a:r>
              <a:rPr lang="en-US" dirty="0"/>
              <a:t> keyword to refer to the actual size instance variable.</a:t>
            </a:r>
          </a:p>
        </p:txBody>
      </p:sp>
    </p:spTree>
    <p:extLst>
      <p:ext uri="{BB962C8B-B14F-4D97-AF65-F5344CB8AC3E}">
        <p14:creationId xmlns:p14="http://schemas.microsoft.com/office/powerpoint/2010/main" val="1794733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iterate type="lt">
                                    <p:tmAbs val="0"/>
                                  </p:iterate>
                                  <p:childTnLst>
                                    <p:set>
                                      <p:cBhvr>
                                        <p:cTn id="26" dur="1" fill="hold">
                                          <p:stCondLst>
                                            <p:cond delay="0"/>
                                          </p:stCondLst>
                                        </p:cTn>
                                        <p:tgtEl>
                                          <p:spTgt spid="5">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xEl>
                                              <p:pRg st="11" end="1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5" presetClass="emph" presetSubtype="0" nodeType="clickEffect">
                                  <p:stCondLst>
                                    <p:cond delay="0"/>
                                  </p:stCondLst>
                                  <p:iterate type="lt">
                                    <p:tmAbs val="25"/>
                                  </p:iterate>
                                  <p:childTnLst>
                                    <p:set>
                                      <p:cBhvr override="childStyle">
                                        <p:cTn id="34" dur="indefinite"/>
                                        <p:tgtEl>
                                          <p:spTgt spid="5">
                                            <p:txEl>
                                              <p:pRg st="10" end="10"/>
                                            </p:txEl>
                                          </p:spTgt>
                                        </p:tgtEl>
                                        <p:attrNameLst>
                                          <p:attrName>style.fontWeight</p:attrName>
                                        </p:attrNameLst>
                                      </p:cBhvr>
                                      <p:to>
                                        <p:strVal val="bold"/>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15"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45F48-C9A6-1BFD-CD5E-8BE3D2C07F8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51C2394-E334-77E6-09C3-9A65BD7F7208}"/>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64</a:t>
            </a:fld>
            <a:endParaRPr lang="en-US"/>
          </a:p>
        </p:txBody>
      </p:sp>
      <p:sp>
        <p:nvSpPr>
          <p:cNvPr id="4" name="Google Shape;212;p15">
            <a:extLst>
              <a:ext uri="{FF2B5EF4-FFF2-40B4-BE49-F238E27FC236}">
                <a16:creationId xmlns:a16="http://schemas.microsoft.com/office/drawing/2014/main" id="{CD8CF2A9-2C18-6992-3350-82B4A452B47E}"/>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Constructors</a:t>
            </a:r>
          </a:p>
        </p:txBody>
      </p:sp>
      <p:pic>
        <p:nvPicPr>
          <p:cNvPr id="6" name="Picture 5">
            <a:extLst>
              <a:ext uri="{FF2B5EF4-FFF2-40B4-BE49-F238E27FC236}">
                <a16:creationId xmlns:a16="http://schemas.microsoft.com/office/drawing/2014/main" id="{46C20717-EBB1-F383-49BA-F77225072162}"/>
              </a:ext>
            </a:extLst>
          </p:cNvPr>
          <p:cNvPicPr>
            <a:picLocks noChangeAspect="1"/>
          </p:cNvPicPr>
          <p:nvPr/>
        </p:nvPicPr>
        <p:blipFill>
          <a:blip r:embed="rId2"/>
          <a:stretch>
            <a:fillRect/>
          </a:stretch>
        </p:blipFill>
        <p:spPr>
          <a:xfrm>
            <a:off x="7036646" y="0"/>
            <a:ext cx="2107354" cy="773112"/>
          </a:xfrm>
          <a:prstGeom prst="rect">
            <a:avLst/>
          </a:prstGeom>
        </p:spPr>
      </p:pic>
    </p:spTree>
    <p:extLst>
      <p:ext uri="{BB962C8B-B14F-4D97-AF65-F5344CB8AC3E}">
        <p14:creationId xmlns:p14="http://schemas.microsoft.com/office/powerpoint/2010/main" val="319974207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23"/>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dirty="0"/>
              <a:t>Constructors	</a:t>
            </a:r>
            <a:endParaRPr dirty="0"/>
          </a:p>
        </p:txBody>
      </p:sp>
      <p:sp>
        <p:nvSpPr>
          <p:cNvPr id="267" name="Google Shape;267;p23"/>
          <p:cNvSpPr txBox="1">
            <a:spLocks noGrp="1"/>
          </p:cNvSpPr>
          <p:nvPr>
            <p:ph type="body" idx="1"/>
          </p:nvPr>
        </p:nvSpPr>
        <p:spPr>
          <a:xfrm>
            <a:off x="380010" y="1481446"/>
            <a:ext cx="8383980" cy="5114663"/>
          </a:xfrm>
          <a:prstGeom prst="rect">
            <a:avLst/>
          </a:prstGeom>
          <a:noFill/>
          <a:ln>
            <a:noFill/>
          </a:ln>
        </p:spPr>
        <p:txBody>
          <a:bodyPr spcFirstLastPara="1" wrap="square" lIns="91425" tIns="45700" rIns="91425" bIns="45700" anchor="ctr" anchorCtr="0">
            <a:noAutofit/>
          </a:bodyPr>
          <a:lstStyle/>
          <a:p>
            <a:pPr marL="342900" lvl="0" indent="-342900" algn="l" rtl="0">
              <a:spcBef>
                <a:spcPts val="0"/>
              </a:spcBef>
              <a:spcAft>
                <a:spcPts val="0"/>
              </a:spcAft>
              <a:buSzPts val="2380"/>
              <a:buChar char="•"/>
            </a:pPr>
            <a:r>
              <a:rPr lang="en-US" sz="2380" dirty="0"/>
              <a:t>Constructors are special methods* used to create objects.</a:t>
            </a:r>
          </a:p>
          <a:p>
            <a:pPr marL="800100" lvl="1" indent="-342900">
              <a:spcBef>
                <a:spcPts val="0"/>
              </a:spcBef>
              <a:buSzPts val="2380"/>
              <a:buChar char="•"/>
            </a:pPr>
            <a:r>
              <a:rPr lang="en-US" sz="1980" dirty="0"/>
              <a:t>*Technically they are subroutines</a:t>
            </a:r>
          </a:p>
          <a:p>
            <a:pPr marL="342900" lvl="0" indent="-342900" algn="l" rtl="0">
              <a:spcBef>
                <a:spcPts val="0"/>
              </a:spcBef>
              <a:spcAft>
                <a:spcPts val="0"/>
              </a:spcAft>
              <a:buSzPts val="2380"/>
              <a:buChar char="•"/>
            </a:pPr>
            <a:r>
              <a:rPr lang="en-US" sz="2590" dirty="0"/>
              <a:t>When a new object is created from a class, the class’ constructor is run:</a:t>
            </a:r>
          </a:p>
          <a:p>
            <a:pPr marL="800100" lvl="1" indent="-342900">
              <a:lnSpc>
                <a:spcPct val="80000"/>
              </a:lnSpc>
              <a:spcBef>
                <a:spcPts val="0"/>
              </a:spcBef>
              <a:buSzPts val="2590"/>
            </a:pPr>
            <a:r>
              <a:rPr lang="en-US" sz="1820" dirty="0">
                <a:latin typeface="Courier New"/>
                <a:ea typeface="Courier New"/>
                <a:cs typeface="Courier New"/>
                <a:sym typeface="Courier New"/>
              </a:rPr>
              <a:t>Example </a:t>
            </a:r>
            <a:r>
              <a:rPr lang="en-US" sz="1820" dirty="0" err="1">
                <a:latin typeface="Courier New"/>
                <a:ea typeface="Courier New"/>
                <a:cs typeface="Courier New"/>
                <a:sym typeface="Courier New"/>
              </a:rPr>
              <a:t>myExample</a:t>
            </a:r>
            <a:r>
              <a:rPr lang="en-US" sz="1820" dirty="0">
                <a:latin typeface="Courier New"/>
                <a:ea typeface="Courier New"/>
                <a:cs typeface="Courier New"/>
                <a:sym typeface="Courier New"/>
              </a:rPr>
              <a:t> = new </a:t>
            </a:r>
            <a:r>
              <a:rPr lang="en-US" sz="1820" dirty="0">
                <a:highlight>
                  <a:srgbClr val="00FFFF"/>
                </a:highlight>
                <a:latin typeface="Courier New"/>
                <a:ea typeface="Courier New"/>
                <a:cs typeface="Courier New"/>
                <a:sym typeface="Courier New"/>
              </a:rPr>
              <a:t>Example();</a:t>
            </a:r>
            <a:endParaRPr lang="en-US" sz="2380" dirty="0"/>
          </a:p>
          <a:p>
            <a:pPr marL="342900" indent="-342900">
              <a:spcBef>
                <a:spcPts val="0"/>
              </a:spcBef>
              <a:buSzPts val="2380"/>
            </a:pPr>
            <a:r>
              <a:rPr lang="en-US" sz="2380" dirty="0"/>
              <a:t>Constructors have some special rules:</a:t>
            </a:r>
          </a:p>
          <a:p>
            <a:pPr marL="800100" lvl="1" indent="-342900">
              <a:spcBef>
                <a:spcPts val="0"/>
              </a:spcBef>
              <a:buSzPts val="2380"/>
            </a:pPr>
            <a:r>
              <a:rPr lang="en-US" sz="1980" dirty="0"/>
              <a:t>They have no return type and always</a:t>
            </a:r>
            <a:r>
              <a:rPr lang="en-US" sz="1980" i="1" dirty="0"/>
              <a:t> </a:t>
            </a:r>
            <a:r>
              <a:rPr lang="en-US" sz="1980" dirty="0"/>
              <a:t>are </a:t>
            </a:r>
            <a:r>
              <a:rPr lang="en-US" sz="1980" i="1" dirty="0"/>
              <a:t>named with the same name as the class </a:t>
            </a:r>
            <a:r>
              <a:rPr lang="en-US" sz="1980" dirty="0"/>
              <a:t>in which they are defined.</a:t>
            </a:r>
          </a:p>
          <a:p>
            <a:pPr marL="800100" lvl="1" indent="-342900">
              <a:spcBef>
                <a:spcPts val="0"/>
              </a:spcBef>
              <a:buSzPts val="2380"/>
            </a:pPr>
            <a:r>
              <a:rPr lang="en-US" sz="1980" dirty="0"/>
              <a:t>Every class </a:t>
            </a:r>
            <a:r>
              <a:rPr lang="en-US" sz="1980" i="1" dirty="0"/>
              <a:t>must</a:t>
            </a:r>
            <a:r>
              <a:rPr lang="en-US" sz="1980" dirty="0"/>
              <a:t> have at least one constructor.</a:t>
            </a:r>
            <a:endParaRPr lang="en-US" dirty="0"/>
          </a:p>
          <a:p>
            <a:pPr marL="800100" lvl="1" indent="-342900">
              <a:spcBef>
                <a:spcPts val="0"/>
              </a:spcBef>
              <a:buSzPts val="2380"/>
            </a:pPr>
            <a:r>
              <a:rPr lang="en-US" sz="1980" dirty="0"/>
              <a:t>If you don’t provide one, a default no-argument constructor is implicitly provided.</a:t>
            </a:r>
            <a:endParaRPr dirty="0"/>
          </a:p>
          <a:p>
            <a:pPr marL="1200150" lvl="2" indent="-285750">
              <a:spcBef>
                <a:spcPts val="408"/>
              </a:spcBef>
              <a:buSzPts val="2040"/>
              <a:buChar char="–"/>
            </a:pPr>
            <a:r>
              <a:rPr lang="en-US" sz="1640" dirty="0">
                <a:latin typeface="Courier New"/>
                <a:ea typeface="Courier New"/>
                <a:cs typeface="Courier New"/>
                <a:sym typeface="Courier New"/>
              </a:rPr>
              <a:t>public </a:t>
            </a:r>
            <a:r>
              <a:rPr lang="en-US" sz="1640" dirty="0" err="1">
                <a:latin typeface="Courier New"/>
                <a:ea typeface="Courier New"/>
                <a:cs typeface="Courier New"/>
                <a:sym typeface="Courier New"/>
              </a:rPr>
              <a:t>MyClass</a:t>
            </a:r>
            <a:r>
              <a:rPr lang="en-US" sz="1640" dirty="0">
                <a:latin typeface="Courier New"/>
                <a:ea typeface="Courier New"/>
                <a:cs typeface="Courier New"/>
                <a:sym typeface="Courier New"/>
              </a:rPr>
              <a:t>() {} // it looks like this</a:t>
            </a:r>
            <a:endParaRPr dirty="0"/>
          </a:p>
          <a:p>
            <a:pPr marL="742950" lvl="1" indent="-285750" algn="l" rtl="0">
              <a:spcBef>
                <a:spcPts val="408"/>
              </a:spcBef>
              <a:spcAft>
                <a:spcPts val="0"/>
              </a:spcAft>
              <a:buSzPts val="2040"/>
              <a:buChar char="–"/>
            </a:pPr>
            <a:r>
              <a:rPr lang="en-US" sz="2040" dirty="0">
                <a:latin typeface="Arial"/>
                <a:ea typeface="Arial"/>
                <a:cs typeface="Arial"/>
                <a:sym typeface="Arial"/>
              </a:rPr>
              <a:t>If you </a:t>
            </a:r>
            <a:r>
              <a:rPr lang="en-US" sz="2040" i="1" dirty="0">
                <a:latin typeface="Arial"/>
                <a:ea typeface="Arial"/>
                <a:cs typeface="Arial"/>
                <a:sym typeface="Arial"/>
              </a:rPr>
              <a:t>do</a:t>
            </a:r>
            <a:r>
              <a:rPr lang="en-US" sz="2040" dirty="0">
                <a:latin typeface="Arial"/>
                <a:ea typeface="Arial"/>
                <a:cs typeface="Arial"/>
                <a:sym typeface="Arial"/>
              </a:rPr>
              <a:t> provide a constructor, you lose the default one!</a:t>
            </a:r>
          </a:p>
          <a:p>
            <a:pPr marL="742950" lvl="1" indent="-285750" algn="l" rtl="0">
              <a:spcBef>
                <a:spcPts val="408"/>
              </a:spcBef>
              <a:spcAft>
                <a:spcPts val="0"/>
              </a:spcAft>
              <a:buSzPts val="2040"/>
              <a:buChar char="–"/>
            </a:pPr>
            <a:r>
              <a:rPr lang="en-US" sz="2040" dirty="0"/>
              <a:t>Constructors are generally used to initialize instance variables</a:t>
            </a:r>
            <a:endParaRPr lang="en-US" sz="2040" dirty="0">
              <a:latin typeface="Arial"/>
              <a:ea typeface="Arial"/>
              <a:cs typeface="Arial"/>
              <a:sym typeface="Arial"/>
            </a:endParaRPr>
          </a:p>
          <a:p>
            <a:pPr marL="742950" lvl="1" indent="-285750" algn="l" rtl="0">
              <a:spcBef>
                <a:spcPts val="408"/>
              </a:spcBef>
              <a:spcAft>
                <a:spcPts val="0"/>
              </a:spcAft>
              <a:buSzPts val="2040"/>
              <a:buChar char="–"/>
            </a:pPr>
            <a:r>
              <a:rPr lang="en-US" sz="2040" dirty="0"/>
              <a:t>**We will revisit constructor rules after examining inheritance</a:t>
            </a:r>
            <a:endParaRPr dirty="0"/>
          </a:p>
        </p:txBody>
      </p:sp>
      <p:sp>
        <p:nvSpPr>
          <p:cNvPr id="268" name="Google Shape;268;p23"/>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65</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67">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6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7">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67">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67">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67">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67">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67">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67">
                                            <p:txEl>
                                              <p:pRg st="10" end="1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67">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7"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9D2E3-D002-4DE7-848F-91D2D59C52E2}"/>
              </a:ext>
            </a:extLst>
          </p:cNvPr>
          <p:cNvSpPr>
            <a:spLocks noGrp="1"/>
          </p:cNvSpPr>
          <p:nvPr>
            <p:ph type="title"/>
          </p:nvPr>
        </p:nvSpPr>
        <p:spPr/>
        <p:txBody>
          <a:bodyPr/>
          <a:lstStyle/>
          <a:p>
            <a:r>
              <a:rPr lang="en-US" dirty="0"/>
              <a:t>Default Constructor</a:t>
            </a:r>
          </a:p>
        </p:txBody>
      </p:sp>
      <p:sp>
        <p:nvSpPr>
          <p:cNvPr id="4" name="Slide Number Placeholder 3">
            <a:extLst>
              <a:ext uri="{FF2B5EF4-FFF2-40B4-BE49-F238E27FC236}">
                <a16:creationId xmlns:a16="http://schemas.microsoft.com/office/drawing/2014/main" id="{67DA056D-34B5-4471-B55A-4BFEBBBBE9C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66</a:t>
            </a:fld>
            <a:endParaRPr lang="en-US"/>
          </a:p>
        </p:txBody>
      </p:sp>
      <p:sp>
        <p:nvSpPr>
          <p:cNvPr id="6" name="Google Shape;219;p16">
            <a:extLst>
              <a:ext uri="{FF2B5EF4-FFF2-40B4-BE49-F238E27FC236}">
                <a16:creationId xmlns:a16="http://schemas.microsoft.com/office/drawing/2014/main" id="{B8761A6F-7BC2-42EC-81E0-35386EED18BC}"/>
              </a:ext>
            </a:extLst>
          </p:cNvPr>
          <p:cNvSpPr txBox="1">
            <a:spLocks/>
          </p:cNvSpPr>
          <p:nvPr/>
        </p:nvSpPr>
        <p:spPr>
          <a:xfrm>
            <a:off x="516410" y="1519154"/>
            <a:ext cx="5949869" cy="3203676"/>
          </a:xfrm>
          <a:prstGeom prst="rect">
            <a:avLst/>
          </a:prstGeom>
        </p:spPr>
        <p:style>
          <a:lnRef idx="1">
            <a:schemeClr val="accent2"/>
          </a:lnRef>
          <a:fillRef idx="2">
            <a:schemeClr val="accent2"/>
          </a:fillRef>
          <a:effectRef idx="1">
            <a:schemeClr val="accent2"/>
          </a:effectRef>
          <a:fontRef idx="minor">
            <a:schemeClr val="dk1"/>
          </a:fontRef>
        </p:style>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100000"/>
              </a:lnSpc>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100000"/>
              </a:lnSpc>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9pPr>
          </a:lstStyle>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package one;</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public class Dog {</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private double size = 6.5;</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public Dog(){}</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public double </a:t>
            </a:r>
            <a:r>
              <a:rPr lang="en-US" sz="1400" dirty="0" err="1">
                <a:latin typeface="Courier New" panose="02070309020205020404" pitchFamily="49" charset="0"/>
                <a:cs typeface="Courier New" panose="02070309020205020404" pitchFamily="49" charset="0"/>
              </a:rPr>
              <a:t>getSize</a:t>
            </a:r>
            <a:r>
              <a:rPr lang="en-US" sz="1400" dirty="0">
                <a:latin typeface="Courier New" panose="02070309020205020404" pitchFamily="49" charset="0"/>
                <a:cs typeface="Courier New" panose="02070309020205020404" pitchFamily="49" charset="0"/>
              </a:rPr>
              <a:t>(){</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return </a:t>
            </a:r>
            <a:r>
              <a:rPr lang="en-US" sz="1400" dirty="0" err="1">
                <a:latin typeface="Courier New" panose="02070309020205020404" pitchFamily="49" charset="0"/>
                <a:cs typeface="Courier New" panose="02070309020205020404" pitchFamily="49" charset="0"/>
              </a:rPr>
              <a:t>this.size</a:t>
            </a:r>
            <a:r>
              <a:rPr lang="en-US" sz="1400" dirty="0">
                <a:latin typeface="Courier New" panose="02070309020205020404" pitchFamily="49" charset="0"/>
                <a:cs typeface="Courier New" panose="02070309020205020404" pitchFamily="49" charset="0"/>
              </a:rPr>
              <a:t>;</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 </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public void </a:t>
            </a:r>
            <a:r>
              <a:rPr lang="en-US" sz="1400" dirty="0" err="1">
                <a:latin typeface="Courier New" panose="02070309020205020404" pitchFamily="49" charset="0"/>
                <a:cs typeface="Courier New" panose="02070309020205020404" pitchFamily="49" charset="0"/>
              </a:rPr>
              <a:t>setSize</a:t>
            </a:r>
            <a:r>
              <a:rPr lang="en-US" sz="1400" dirty="0">
                <a:latin typeface="Courier New" panose="02070309020205020404" pitchFamily="49" charset="0"/>
                <a:cs typeface="Courier New" panose="02070309020205020404" pitchFamily="49" charset="0"/>
              </a:rPr>
              <a:t>(double size){</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this.size</a:t>
            </a:r>
            <a:r>
              <a:rPr lang="en-US" sz="1400" dirty="0">
                <a:latin typeface="Courier New" panose="02070309020205020404" pitchFamily="49" charset="0"/>
                <a:cs typeface="Courier New" panose="02070309020205020404" pitchFamily="49" charset="0"/>
              </a:rPr>
              <a:t> = size;</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a:t>
            </a:r>
          </a:p>
          <a:p>
            <a:pPr marL="182880" lvl="1" indent="0" defTabSz="457200">
              <a:lnSpc>
                <a:spcPct val="90000"/>
              </a:lnSpc>
              <a:buFont typeface="Arial"/>
              <a:buNone/>
            </a:pPr>
            <a:endParaRPr lang="en-US" sz="1400" dirty="0">
              <a:latin typeface="Courier New" panose="02070309020205020404" pitchFamily="49" charset="0"/>
              <a:cs typeface="Courier New" panose="02070309020205020404" pitchFamily="49" charset="0"/>
            </a:endParaRPr>
          </a:p>
        </p:txBody>
      </p:sp>
      <p:sp>
        <p:nvSpPr>
          <p:cNvPr id="12" name="TextBox 11">
            <a:extLst>
              <a:ext uri="{FF2B5EF4-FFF2-40B4-BE49-F238E27FC236}">
                <a16:creationId xmlns:a16="http://schemas.microsoft.com/office/drawing/2014/main" id="{B0686B2A-7E7C-4F7E-BC74-F64F845C158D}"/>
              </a:ext>
            </a:extLst>
          </p:cNvPr>
          <p:cNvSpPr txBox="1"/>
          <p:nvPr/>
        </p:nvSpPr>
        <p:spPr>
          <a:xfrm>
            <a:off x="3956601" y="4155589"/>
            <a:ext cx="4834978" cy="2052870"/>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pPr marL="182880" lvl="1" defTabSz="457200">
              <a:lnSpc>
                <a:spcPct val="90000"/>
              </a:lnSpc>
            </a:pPr>
            <a:r>
              <a:rPr lang="en-US" dirty="0">
                <a:latin typeface="Courier New" panose="02070309020205020404" pitchFamily="49" charset="0"/>
                <a:cs typeface="Courier New" panose="02070309020205020404" pitchFamily="49" charset="0"/>
              </a:rPr>
              <a:t>package two;</a:t>
            </a:r>
          </a:p>
          <a:p>
            <a:pPr marL="182880" lvl="1" defTabSz="457200">
              <a:lnSpc>
                <a:spcPct val="90000"/>
              </a:lnSpc>
            </a:pPr>
            <a:endParaRPr lang="en-US" dirty="0">
              <a:latin typeface="Courier New" panose="02070309020205020404" pitchFamily="49" charset="0"/>
              <a:cs typeface="Courier New" panose="02070309020205020404" pitchFamily="49" charset="0"/>
            </a:endParaRPr>
          </a:p>
          <a:p>
            <a:pPr marL="182880" lvl="1" defTabSz="457200">
              <a:lnSpc>
                <a:spcPct val="90000"/>
              </a:lnSpc>
            </a:pPr>
            <a:r>
              <a:rPr lang="en-US" dirty="0">
                <a:latin typeface="Courier New" panose="02070309020205020404" pitchFamily="49" charset="0"/>
                <a:cs typeface="Courier New" panose="02070309020205020404" pitchFamily="49" charset="0"/>
              </a:rPr>
              <a:t>public class </a:t>
            </a:r>
            <a:r>
              <a:rPr lang="en-US" dirty="0" err="1">
                <a:latin typeface="Courier New" panose="02070309020205020404" pitchFamily="49" charset="0"/>
                <a:cs typeface="Courier New" panose="02070309020205020404" pitchFamily="49" charset="0"/>
              </a:rPr>
              <a:t>TestDog</a:t>
            </a:r>
            <a:r>
              <a:rPr lang="en-US" dirty="0">
                <a:latin typeface="Courier New" panose="02070309020205020404" pitchFamily="49" charset="0"/>
                <a:cs typeface="Courier New" panose="02070309020205020404" pitchFamily="49" charset="0"/>
              </a:rPr>
              <a:t>{</a:t>
            </a:r>
          </a:p>
          <a:p>
            <a:pPr marL="182880" lvl="1" defTabSz="457200">
              <a:lnSpc>
                <a:spcPct val="90000"/>
              </a:lnSpc>
            </a:pPr>
            <a:r>
              <a:rPr lang="en-US" dirty="0">
                <a:latin typeface="Courier New" panose="02070309020205020404" pitchFamily="49" charset="0"/>
                <a:cs typeface="Courier New" panose="02070309020205020404" pitchFamily="49" charset="0"/>
              </a:rPr>
              <a:t>	public static void main(String[] </a:t>
            </a:r>
            <a:r>
              <a:rPr lang="en-US" dirty="0" err="1">
                <a:latin typeface="Courier New" panose="02070309020205020404" pitchFamily="49" charset="0"/>
                <a:cs typeface="Courier New" panose="02070309020205020404" pitchFamily="49" charset="0"/>
              </a:rPr>
              <a:t>args</a:t>
            </a:r>
            <a:r>
              <a:rPr lang="en-US" dirty="0">
                <a:latin typeface="Courier New" panose="02070309020205020404" pitchFamily="49" charset="0"/>
                <a:cs typeface="Courier New" panose="02070309020205020404" pitchFamily="49" charset="0"/>
              </a:rPr>
              <a:t>){</a:t>
            </a:r>
          </a:p>
          <a:p>
            <a:pPr marL="182880" lvl="1" defTabSz="457200">
              <a:lnSpc>
                <a:spcPct val="90000"/>
              </a:lnSpc>
            </a:pPr>
            <a:r>
              <a:rPr lang="en-US" dirty="0">
                <a:latin typeface="Courier New" panose="02070309020205020404" pitchFamily="49" charset="0"/>
                <a:cs typeface="Courier New" panose="02070309020205020404" pitchFamily="49" charset="0"/>
              </a:rPr>
              <a:t>		Dog </a:t>
            </a:r>
            <a:r>
              <a:rPr lang="en-US" dirty="0" err="1">
                <a:latin typeface="Courier New" panose="02070309020205020404" pitchFamily="49" charset="0"/>
                <a:cs typeface="Courier New" panose="02070309020205020404" pitchFamily="49" charset="0"/>
              </a:rPr>
              <a:t>dog</a:t>
            </a:r>
            <a:r>
              <a:rPr lang="en-US" dirty="0">
                <a:latin typeface="Courier New" panose="02070309020205020404" pitchFamily="49" charset="0"/>
                <a:cs typeface="Courier New" panose="02070309020205020404" pitchFamily="49" charset="0"/>
              </a:rPr>
              <a:t> = new Dog();</a:t>
            </a:r>
          </a:p>
          <a:p>
            <a:pPr marL="182880" lvl="1" defTabSz="457200">
              <a:lnSpc>
                <a:spcPct val="90000"/>
              </a:lnSpc>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dog.setSize</a:t>
            </a:r>
            <a:r>
              <a:rPr lang="en-US" dirty="0">
                <a:latin typeface="Courier New" panose="02070309020205020404" pitchFamily="49" charset="0"/>
                <a:cs typeface="Courier New" panose="02070309020205020404" pitchFamily="49" charset="0"/>
              </a:rPr>
              <a:t>(9.0);</a:t>
            </a:r>
          </a:p>
          <a:p>
            <a:pPr marL="182880" lvl="1" defTabSz="457200">
              <a:lnSpc>
                <a:spcPct val="90000"/>
              </a:lnSpc>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System.out.println</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dog.getSize</a:t>
            </a:r>
            <a:r>
              <a:rPr lang="en-US" dirty="0">
                <a:latin typeface="Courier New" panose="02070309020205020404" pitchFamily="49" charset="0"/>
                <a:cs typeface="Courier New" panose="02070309020205020404" pitchFamily="49" charset="0"/>
              </a:rPr>
              <a:t>());</a:t>
            </a:r>
          </a:p>
          <a:p>
            <a:pPr marL="182880" lvl="1" defTabSz="457200">
              <a:lnSpc>
                <a:spcPct val="90000"/>
              </a:lnSpc>
            </a:pPr>
            <a:r>
              <a:rPr lang="en-US" dirty="0">
                <a:latin typeface="Courier New" panose="02070309020205020404" pitchFamily="49" charset="0"/>
                <a:cs typeface="Courier New" panose="02070309020205020404" pitchFamily="49" charset="0"/>
              </a:rPr>
              <a:t>	}</a:t>
            </a:r>
          </a:p>
          <a:p>
            <a:pPr marL="182880" lvl="1" defTabSz="457200">
              <a:lnSpc>
                <a:spcPct val="90000"/>
              </a:lnSpc>
            </a:pPr>
            <a:r>
              <a:rPr lang="en-US" dirty="0">
                <a:latin typeface="Courier New" panose="02070309020205020404" pitchFamily="49" charset="0"/>
                <a:cs typeface="Courier New" panose="02070309020205020404" pitchFamily="49" charset="0"/>
              </a:rPr>
              <a:t>}</a:t>
            </a:r>
          </a:p>
          <a:p>
            <a:endParaRPr lang="en-US" dirty="0"/>
          </a:p>
        </p:txBody>
      </p:sp>
      <p:grpSp>
        <p:nvGrpSpPr>
          <p:cNvPr id="11" name="Group 10">
            <a:extLst>
              <a:ext uri="{FF2B5EF4-FFF2-40B4-BE49-F238E27FC236}">
                <a16:creationId xmlns:a16="http://schemas.microsoft.com/office/drawing/2014/main" id="{B5DD3994-BB99-4E77-A3B0-763867ABABAE}"/>
              </a:ext>
            </a:extLst>
          </p:cNvPr>
          <p:cNvGrpSpPr/>
          <p:nvPr/>
        </p:nvGrpSpPr>
        <p:grpSpPr>
          <a:xfrm flipH="1">
            <a:off x="516410" y="4903964"/>
            <a:ext cx="6652486" cy="1636479"/>
            <a:chOff x="584350" y="2136641"/>
            <a:chExt cx="6652486" cy="1636479"/>
          </a:xfrm>
        </p:grpSpPr>
        <p:sp>
          <p:nvSpPr>
            <p:cNvPr id="7" name="Rectangle 6">
              <a:extLst>
                <a:ext uri="{FF2B5EF4-FFF2-40B4-BE49-F238E27FC236}">
                  <a16:creationId xmlns:a16="http://schemas.microsoft.com/office/drawing/2014/main" id="{1247F399-9BB7-46A9-A4F2-640A12C84F4A}"/>
                </a:ext>
              </a:extLst>
            </p:cNvPr>
            <p:cNvSpPr/>
            <p:nvPr/>
          </p:nvSpPr>
          <p:spPr>
            <a:xfrm>
              <a:off x="4138355" y="2136641"/>
              <a:ext cx="3098481" cy="16364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This is how we would invoke that constructor (regardless of whether it was explicitly or implicitly defined). It reserves the memory needed to store all of the variables associated with our Dog object.  </a:t>
              </a:r>
            </a:p>
          </p:txBody>
        </p:sp>
        <p:sp>
          <p:nvSpPr>
            <p:cNvPr id="8" name="Rectangle: Rounded Corners 7">
              <a:extLst>
                <a:ext uri="{FF2B5EF4-FFF2-40B4-BE49-F238E27FC236}">
                  <a16:creationId xmlns:a16="http://schemas.microsoft.com/office/drawing/2014/main" id="{3571A910-8D23-4E92-8472-9DA654E9BBB6}"/>
                </a:ext>
              </a:extLst>
            </p:cNvPr>
            <p:cNvSpPr/>
            <p:nvPr/>
          </p:nvSpPr>
          <p:spPr>
            <a:xfrm>
              <a:off x="584350" y="2202383"/>
              <a:ext cx="2308932" cy="199702"/>
            </a:xfrm>
            <a:prstGeom prst="roundRect">
              <a:avLst/>
            </a:prstGeom>
            <a:solidFill>
              <a:schemeClr val="accent1">
                <a:alpha val="1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685702AA-F8E9-4361-BF25-AE7BCE796091}"/>
                </a:ext>
              </a:extLst>
            </p:cNvPr>
            <p:cNvCxnSpPr>
              <a:cxnSpLocks/>
              <a:stCxn id="8" idx="3"/>
              <a:endCxn id="7" idx="1"/>
            </p:cNvCxnSpPr>
            <p:nvPr/>
          </p:nvCxnSpPr>
          <p:spPr>
            <a:xfrm>
              <a:off x="2893282" y="2302234"/>
              <a:ext cx="1245073" cy="6526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13" name="Group 12">
            <a:extLst>
              <a:ext uri="{FF2B5EF4-FFF2-40B4-BE49-F238E27FC236}">
                <a16:creationId xmlns:a16="http://schemas.microsoft.com/office/drawing/2014/main" id="{AC52B1B8-4701-46C3-8132-0000A8B4400D}"/>
              </a:ext>
            </a:extLst>
          </p:cNvPr>
          <p:cNvGrpSpPr/>
          <p:nvPr/>
        </p:nvGrpSpPr>
        <p:grpSpPr>
          <a:xfrm>
            <a:off x="1500433" y="1629821"/>
            <a:ext cx="4751109" cy="961534"/>
            <a:chOff x="1470581" y="1621410"/>
            <a:chExt cx="4751109" cy="961534"/>
          </a:xfrm>
        </p:grpSpPr>
        <p:sp>
          <p:nvSpPr>
            <p:cNvPr id="14" name="Rectangle 13">
              <a:extLst>
                <a:ext uri="{FF2B5EF4-FFF2-40B4-BE49-F238E27FC236}">
                  <a16:creationId xmlns:a16="http://schemas.microsoft.com/office/drawing/2014/main" id="{77FF70F1-4188-47DF-977E-13F7CECB88AE}"/>
                </a:ext>
              </a:extLst>
            </p:cNvPr>
            <p:cNvSpPr/>
            <p:nvPr/>
          </p:nvSpPr>
          <p:spPr>
            <a:xfrm>
              <a:off x="4572000" y="1621410"/>
              <a:ext cx="1649690" cy="5561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Here implicitly.</a:t>
              </a:r>
            </a:p>
          </p:txBody>
        </p:sp>
        <p:sp>
          <p:nvSpPr>
            <p:cNvPr id="15" name="Rectangle: Rounded Corners 14">
              <a:extLst>
                <a:ext uri="{FF2B5EF4-FFF2-40B4-BE49-F238E27FC236}">
                  <a16:creationId xmlns:a16="http://schemas.microsoft.com/office/drawing/2014/main" id="{4DE2B45E-C2AE-4E23-BFCD-BD2867B8B42A}"/>
                </a:ext>
              </a:extLst>
            </p:cNvPr>
            <p:cNvSpPr/>
            <p:nvPr/>
          </p:nvSpPr>
          <p:spPr>
            <a:xfrm>
              <a:off x="1470581" y="2366128"/>
              <a:ext cx="1545996" cy="216816"/>
            </a:xfrm>
            <a:prstGeom prst="roundRect">
              <a:avLst/>
            </a:prstGeom>
            <a:solidFill>
              <a:schemeClr val="accent1">
                <a:alpha val="1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6" name="Straight Arrow Connector 15">
              <a:extLst>
                <a:ext uri="{FF2B5EF4-FFF2-40B4-BE49-F238E27FC236}">
                  <a16:creationId xmlns:a16="http://schemas.microsoft.com/office/drawing/2014/main" id="{86783EAC-FD00-4EE5-B94A-7B6DA26984EB}"/>
                </a:ext>
              </a:extLst>
            </p:cNvPr>
            <p:cNvCxnSpPr>
              <a:stCxn id="15" idx="3"/>
              <a:endCxn id="14" idx="1"/>
            </p:cNvCxnSpPr>
            <p:nvPr/>
          </p:nvCxnSpPr>
          <p:spPr>
            <a:xfrm flipV="1">
              <a:off x="3016577" y="1899501"/>
              <a:ext cx="1555423" cy="5750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03956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iterate type="lt">
                                    <p:tmAbs val="0"/>
                                  </p:iterate>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7" end="7"/>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xEl>
                                              <p:pRg st="8" end="8"/>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xEl>
                                              <p:pRg st="9" end="9"/>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type="lt">
                                    <p:tmAbs val="0"/>
                                  </p:iterate>
                                  <p:childTnLst>
                                    <p:set>
                                      <p:cBhvr>
                                        <p:cTn id="2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5" presetClass="emph" presetSubtype="0" nodeType="clickEffect">
                                  <p:stCondLst>
                                    <p:cond delay="0"/>
                                  </p:stCondLst>
                                  <p:iterate type="lt">
                                    <p:tmAbs val="25"/>
                                  </p:iterate>
                                  <p:childTnLst>
                                    <p:set>
                                      <p:cBhvr override="childStyle">
                                        <p:cTn id="32" dur="indefinite"/>
                                        <p:tgtEl>
                                          <p:spTgt spid="6">
                                            <p:txEl>
                                              <p:pRg st="3" end="3"/>
                                            </p:txEl>
                                          </p:spTgt>
                                        </p:tgtEl>
                                        <p:attrNameLst>
                                          <p:attrName>style.fontWeight</p:attrName>
                                        </p:attrNameLst>
                                      </p:cBhvr>
                                      <p:to>
                                        <p:strVal val="bold"/>
                                      </p:to>
                                    </p:set>
                                  </p:childTnLst>
                                </p:cTn>
                              </p:par>
                              <p:par>
                                <p:cTn id="33" presetID="1" presetClass="entr" presetSubtype="0" fill="hold" nodeType="with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2">
                                            <p:txEl>
                                              <p:pRg st="0" end="0"/>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2">
                                            <p:txEl>
                                              <p:pRg st="2" end="2"/>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2">
                                            <p:txEl>
                                              <p:pRg st="3" end="3"/>
                                            </p:txEl>
                                          </p:spTgt>
                                        </p:tgtEl>
                                        <p:attrNameLst>
                                          <p:attrName>style.visibility</p:attrName>
                                        </p:attrNameLst>
                                      </p:cBhvr>
                                      <p:to>
                                        <p:strVal val="visible"/>
                                      </p:to>
                                    </p:set>
                                  </p:childTnLst>
                                </p:cTn>
                              </p:par>
                              <p:par>
                                <p:cTn id="45" presetID="1" presetClass="entr" presetSubtype="0" fill="hold" nodeType="withEffect">
                                  <p:stCondLst>
                                    <p:cond delay="0"/>
                                  </p:stCondLst>
                                  <p:iterate type="lt">
                                    <p:tmAbs val="0"/>
                                  </p:iterate>
                                  <p:childTnLst>
                                    <p:set>
                                      <p:cBhvr>
                                        <p:cTn id="46" dur="1" fill="hold">
                                          <p:stCondLst>
                                            <p:cond delay="0"/>
                                          </p:stCondLst>
                                        </p:cTn>
                                        <p:tgtEl>
                                          <p:spTgt spid="12">
                                            <p:txEl>
                                              <p:pRg st="4" end="4"/>
                                            </p:txEl>
                                          </p:spTgt>
                                        </p:tgtEl>
                                        <p:attrNameLst>
                                          <p:attrName>style.visibility</p:attrName>
                                        </p:attrNameLst>
                                      </p:cBhvr>
                                      <p:to>
                                        <p:strVal val="visible"/>
                                      </p:to>
                                    </p:set>
                                  </p:childTnLst>
                                </p:cTn>
                              </p:par>
                              <p:par>
                                <p:cTn id="47" presetID="1" presetClass="entr" presetSubtype="0" fill="hold" nodeType="withEffect">
                                  <p:stCondLst>
                                    <p:cond delay="0"/>
                                  </p:stCondLst>
                                  <p:iterate type="lt">
                                    <p:tmAbs val="0"/>
                                  </p:iterate>
                                  <p:childTnLst>
                                    <p:set>
                                      <p:cBhvr>
                                        <p:cTn id="48" dur="1" fill="hold">
                                          <p:stCondLst>
                                            <p:cond delay="0"/>
                                          </p:stCondLst>
                                        </p:cTn>
                                        <p:tgtEl>
                                          <p:spTgt spid="12">
                                            <p:txEl>
                                              <p:pRg st="5" end="5"/>
                                            </p:txEl>
                                          </p:spTgt>
                                        </p:tgtEl>
                                        <p:attrNameLst>
                                          <p:attrName>style.visibility</p:attrName>
                                        </p:attrNameLst>
                                      </p:cBhvr>
                                      <p:to>
                                        <p:strVal val="visible"/>
                                      </p:to>
                                    </p:set>
                                  </p:childTnLst>
                                </p:cTn>
                              </p:par>
                              <p:par>
                                <p:cTn id="49" presetID="1" presetClass="entr" presetSubtype="0" fill="hold" nodeType="withEffect">
                                  <p:stCondLst>
                                    <p:cond delay="0"/>
                                  </p:stCondLst>
                                  <p:iterate type="lt">
                                    <p:tmAbs val="0"/>
                                  </p:iterate>
                                  <p:childTnLst>
                                    <p:set>
                                      <p:cBhvr>
                                        <p:cTn id="50" dur="1" fill="hold">
                                          <p:stCondLst>
                                            <p:cond delay="0"/>
                                          </p:stCondLst>
                                        </p:cTn>
                                        <p:tgtEl>
                                          <p:spTgt spid="12">
                                            <p:txEl>
                                              <p:pRg st="6" end="6"/>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2">
                                            <p:txEl>
                                              <p:pRg st="7" end="7"/>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2">
                                            <p:txEl>
                                              <p:pRg st="8" end="8"/>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5" presetClass="emph" presetSubtype="0" nodeType="clickEffect">
                                  <p:stCondLst>
                                    <p:cond delay="0"/>
                                  </p:stCondLst>
                                  <p:iterate type="lt">
                                    <p:tmAbs val="25"/>
                                  </p:iterate>
                                  <p:childTnLst>
                                    <p:set>
                                      <p:cBhvr override="childStyle">
                                        <p:cTn id="58" dur="indefinite"/>
                                        <p:tgtEl>
                                          <p:spTgt spid="12">
                                            <p:txEl>
                                              <p:pRg st="4" end="4"/>
                                            </p:txEl>
                                          </p:spTgt>
                                        </p:tgtEl>
                                        <p:attrNameLst>
                                          <p:attrName>style.fontWeight</p:attrName>
                                        </p:attrNameLst>
                                      </p:cBhvr>
                                      <p:to>
                                        <p:strVal val="bold"/>
                                      </p:to>
                                    </p:set>
                                  </p:childTnLst>
                                </p:cTn>
                              </p:par>
                              <p:par>
                                <p:cTn id="59" presetID="1" presetClass="entr" presetSubtype="0" fill="hold" nodeType="withEffect">
                                  <p:stCondLst>
                                    <p:cond delay="0"/>
                                  </p:stCondLst>
                                  <p:childTnLst>
                                    <p:set>
                                      <p:cBhvr>
                                        <p:cTn id="6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12"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22"/>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a:t>Constructors</a:t>
            </a:r>
            <a:endParaRPr/>
          </a:p>
        </p:txBody>
      </p:sp>
      <p:sp>
        <p:nvSpPr>
          <p:cNvPr id="260" name="Google Shape;260;p22"/>
          <p:cNvSpPr txBox="1">
            <a:spLocks noGrp="1"/>
          </p:cNvSpPr>
          <p:nvPr>
            <p:ph type="body" idx="1"/>
          </p:nvPr>
        </p:nvSpPr>
        <p:spPr>
          <a:xfrm>
            <a:off x="380010" y="1481446"/>
            <a:ext cx="8383980" cy="5099828"/>
          </a:xfrm>
          <a:prstGeom prst="rect">
            <a:avLst/>
          </a:prstGeom>
          <a:noFill/>
          <a:ln>
            <a:noFill/>
          </a:ln>
        </p:spPr>
        <p:txBody>
          <a:bodyPr spcFirstLastPara="1" wrap="square" lIns="91425" tIns="45700" rIns="91425" bIns="45700" anchor="ctr" anchorCtr="0">
            <a:noAutofit/>
          </a:bodyPr>
          <a:lstStyle/>
          <a:p>
            <a:pPr marL="342900" lvl="0" indent="-342900" algn="l" rtl="0">
              <a:lnSpc>
                <a:spcPct val="80000"/>
              </a:lnSpc>
              <a:spcBef>
                <a:spcPts val="518"/>
              </a:spcBef>
              <a:spcAft>
                <a:spcPts val="0"/>
              </a:spcAft>
              <a:buSzPts val="2590"/>
              <a:buChar char="•"/>
            </a:pPr>
            <a:r>
              <a:rPr lang="en-US" sz="2590" dirty="0"/>
              <a:t>The first thing every constructor must do… is call another constructor!</a:t>
            </a:r>
            <a:endParaRPr dirty="0"/>
          </a:p>
          <a:p>
            <a:pPr marL="742950" lvl="1" indent="-285750" algn="l" rtl="0">
              <a:lnSpc>
                <a:spcPct val="80000"/>
              </a:lnSpc>
              <a:spcBef>
                <a:spcPts val="444"/>
              </a:spcBef>
              <a:spcAft>
                <a:spcPts val="0"/>
              </a:spcAft>
              <a:buSzPts val="2220"/>
              <a:buChar char="–"/>
            </a:pPr>
            <a:r>
              <a:rPr lang="en-US" sz="2220" dirty="0"/>
              <a:t>This is done </a:t>
            </a:r>
            <a:r>
              <a:rPr lang="en-US" sz="2220" i="1" dirty="0"/>
              <a:t>implicitly</a:t>
            </a:r>
            <a:r>
              <a:rPr lang="en-US" sz="2220" dirty="0"/>
              <a:t>, i.e. without your explicit instruction</a:t>
            </a:r>
            <a:endParaRPr dirty="0"/>
          </a:p>
          <a:p>
            <a:pPr marL="742950" lvl="1" indent="-285750" algn="l" rtl="0">
              <a:lnSpc>
                <a:spcPct val="80000"/>
              </a:lnSpc>
              <a:spcBef>
                <a:spcPts val="444"/>
              </a:spcBef>
              <a:spcAft>
                <a:spcPts val="0"/>
              </a:spcAft>
              <a:buSzPts val="2220"/>
              <a:buChar char="–"/>
            </a:pPr>
            <a:r>
              <a:rPr lang="en-US" sz="2220" dirty="0"/>
              <a:t>Normally the call is to </a:t>
            </a:r>
            <a:r>
              <a:rPr lang="en-US" sz="2220" dirty="0">
                <a:latin typeface="Courier New"/>
                <a:ea typeface="Courier New"/>
                <a:cs typeface="Courier New"/>
                <a:sym typeface="Courier New"/>
              </a:rPr>
              <a:t>super(). super </a:t>
            </a:r>
            <a:r>
              <a:rPr lang="en-US" sz="2220" dirty="0">
                <a:latin typeface="Arial"/>
                <a:ea typeface="Arial"/>
                <a:cs typeface="Arial"/>
                <a:sym typeface="Arial"/>
              </a:rPr>
              <a:t>is a keyword that references the current class’ super or parent class. </a:t>
            </a:r>
            <a:r>
              <a:rPr lang="en-US" sz="2220" dirty="0">
                <a:latin typeface="Courier New"/>
                <a:ea typeface="Courier New"/>
                <a:cs typeface="Courier New"/>
                <a:sym typeface="Courier New"/>
              </a:rPr>
              <a:t>super() </a:t>
            </a:r>
            <a:r>
              <a:rPr lang="en-US" sz="2220" dirty="0">
                <a:latin typeface="Arial"/>
                <a:ea typeface="Arial"/>
                <a:cs typeface="Arial"/>
                <a:sym typeface="Arial"/>
              </a:rPr>
              <a:t>is an invocation of that class’ no-argument constructor (we will examine superclass when we look at inheritance).</a:t>
            </a:r>
          </a:p>
          <a:p>
            <a:pPr marL="342900" lvl="0" indent="-342900">
              <a:spcBef>
                <a:spcPts val="476"/>
              </a:spcBef>
              <a:buSzPts val="2380"/>
            </a:pPr>
            <a:r>
              <a:rPr lang="en-US" sz="2380" dirty="0"/>
              <a:t>=&gt; Default no-</a:t>
            </a:r>
            <a:r>
              <a:rPr lang="en-US" sz="2380" dirty="0" err="1"/>
              <a:t>arg</a:t>
            </a:r>
            <a:r>
              <a:rPr lang="en-US" sz="2380" dirty="0"/>
              <a:t> constructors implicitly call </a:t>
            </a:r>
            <a:r>
              <a:rPr lang="en-US" sz="2380" dirty="0">
                <a:latin typeface="Courier New"/>
                <a:ea typeface="Courier New"/>
                <a:cs typeface="Courier New"/>
                <a:sym typeface="Courier New"/>
              </a:rPr>
              <a:t>super();</a:t>
            </a:r>
            <a:endParaRPr lang="en-US" dirty="0"/>
          </a:p>
          <a:p>
            <a:pPr marL="342900" lvl="0" indent="-342900">
              <a:spcBef>
                <a:spcPts val="476"/>
              </a:spcBef>
              <a:buSzPts val="2380"/>
            </a:pPr>
            <a:r>
              <a:rPr lang="en-US" sz="2380" dirty="0"/>
              <a:t>The superclass-constructor-calling goes all the way up the inheritance tree to the Object class.</a:t>
            </a:r>
            <a:endParaRPr lang="en-US" dirty="0"/>
          </a:p>
          <a:p>
            <a:pPr marL="742950" lvl="1" indent="-285750">
              <a:spcBef>
                <a:spcPts val="408"/>
              </a:spcBef>
              <a:buSzPts val="2040"/>
            </a:pPr>
            <a:r>
              <a:rPr lang="en-US" sz="2040" dirty="0"/>
              <a:t>This is a function of inheritance and preventing code duplication.</a:t>
            </a:r>
            <a:endParaRPr lang="en-US" dirty="0"/>
          </a:p>
          <a:p>
            <a:pPr marL="742950" lvl="1" indent="-285750">
              <a:spcBef>
                <a:spcPts val="408"/>
              </a:spcBef>
              <a:buSzPts val="2040"/>
            </a:pPr>
            <a:r>
              <a:rPr lang="en-US" sz="2040" dirty="0"/>
              <a:t>If a Dog is-an Animal, which is-an Object. </a:t>
            </a:r>
          </a:p>
          <a:p>
            <a:pPr marL="1200150" lvl="2" indent="-285750">
              <a:spcBef>
                <a:spcPts val="408"/>
              </a:spcBef>
              <a:buSzPts val="2040"/>
            </a:pPr>
            <a:r>
              <a:rPr lang="en-US" sz="1640" dirty="0"/>
              <a:t>Creating a Dog object means initializing the object’s Dog nature. </a:t>
            </a:r>
          </a:p>
          <a:p>
            <a:pPr marL="1200150" lvl="2" indent="-285750">
              <a:spcBef>
                <a:spcPts val="408"/>
              </a:spcBef>
              <a:buSzPts val="2040"/>
            </a:pPr>
            <a:r>
              <a:rPr lang="en-US" sz="1640" dirty="0"/>
              <a:t>An instance of a Dog is also an instance of an Animal, so the Animal nature must be initialized too in addition to the Object nature.</a:t>
            </a:r>
            <a:endParaRPr lang="en-US" dirty="0"/>
          </a:p>
          <a:p>
            <a:pPr marL="457200" lvl="1" indent="0" algn="l" rtl="0">
              <a:lnSpc>
                <a:spcPct val="80000"/>
              </a:lnSpc>
              <a:spcBef>
                <a:spcPts val="444"/>
              </a:spcBef>
              <a:spcAft>
                <a:spcPts val="0"/>
              </a:spcAft>
              <a:buSzPts val="2220"/>
              <a:buNone/>
            </a:pPr>
            <a:endParaRPr lang="en-US" sz="2220" dirty="0">
              <a:latin typeface="Arial"/>
              <a:ea typeface="Arial"/>
              <a:cs typeface="Arial"/>
              <a:sym typeface="Arial"/>
            </a:endParaRPr>
          </a:p>
        </p:txBody>
      </p:sp>
      <p:sp>
        <p:nvSpPr>
          <p:cNvPr id="261" name="Google Shape;261;p22"/>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67</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0">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0">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0">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60">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60">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60">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6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0"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12190-A4E2-47EB-B9BC-5934A282800A}"/>
              </a:ext>
            </a:extLst>
          </p:cNvPr>
          <p:cNvSpPr>
            <a:spLocks noGrp="1"/>
          </p:cNvSpPr>
          <p:nvPr>
            <p:ph type="title"/>
          </p:nvPr>
        </p:nvSpPr>
        <p:spPr/>
        <p:txBody>
          <a:bodyPr/>
          <a:lstStyle/>
          <a:p>
            <a:r>
              <a:rPr lang="en-US" dirty="0"/>
              <a:t>More Implicit Behavior </a:t>
            </a:r>
          </a:p>
        </p:txBody>
      </p:sp>
      <p:sp>
        <p:nvSpPr>
          <p:cNvPr id="4" name="Slide Number Placeholder 3">
            <a:extLst>
              <a:ext uri="{FF2B5EF4-FFF2-40B4-BE49-F238E27FC236}">
                <a16:creationId xmlns:a16="http://schemas.microsoft.com/office/drawing/2014/main" id="{21D38674-181C-4F24-B8A0-4E603221304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68</a:t>
            </a:fld>
            <a:endParaRPr lang="en-US"/>
          </a:p>
        </p:txBody>
      </p:sp>
      <p:sp>
        <p:nvSpPr>
          <p:cNvPr id="10" name="Google Shape;219;p16">
            <a:extLst>
              <a:ext uri="{FF2B5EF4-FFF2-40B4-BE49-F238E27FC236}">
                <a16:creationId xmlns:a16="http://schemas.microsoft.com/office/drawing/2014/main" id="{E274E2FA-FFE6-4609-AF34-F35539F40053}"/>
              </a:ext>
            </a:extLst>
          </p:cNvPr>
          <p:cNvSpPr txBox="1">
            <a:spLocks/>
          </p:cNvSpPr>
          <p:nvPr/>
        </p:nvSpPr>
        <p:spPr>
          <a:xfrm>
            <a:off x="210548" y="1301305"/>
            <a:ext cx="5949869" cy="3203676"/>
          </a:xfrm>
          <a:prstGeom prst="rect">
            <a:avLst/>
          </a:prstGeom>
        </p:spPr>
        <p:style>
          <a:lnRef idx="1">
            <a:schemeClr val="accent2"/>
          </a:lnRef>
          <a:fillRef idx="2">
            <a:schemeClr val="accent2"/>
          </a:fillRef>
          <a:effectRef idx="1">
            <a:schemeClr val="accent2"/>
          </a:effectRef>
          <a:fontRef idx="minor">
            <a:schemeClr val="dk1"/>
          </a:fontRef>
        </p:style>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100000"/>
              </a:lnSpc>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100000"/>
              </a:lnSpc>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9pPr>
          </a:lstStyle>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package one;</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public class Dog {</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private double size = 6.5;</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public Dog(){super();}</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public double </a:t>
            </a:r>
            <a:r>
              <a:rPr lang="en-US" sz="1400" dirty="0" err="1">
                <a:latin typeface="Courier New" panose="02070309020205020404" pitchFamily="49" charset="0"/>
                <a:cs typeface="Courier New" panose="02070309020205020404" pitchFamily="49" charset="0"/>
              </a:rPr>
              <a:t>getSize</a:t>
            </a:r>
            <a:r>
              <a:rPr lang="en-US" sz="1400" dirty="0">
                <a:latin typeface="Courier New" panose="02070309020205020404" pitchFamily="49" charset="0"/>
                <a:cs typeface="Courier New" panose="02070309020205020404" pitchFamily="49" charset="0"/>
              </a:rPr>
              <a:t>(){</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return </a:t>
            </a:r>
            <a:r>
              <a:rPr lang="en-US" sz="1400" dirty="0" err="1">
                <a:latin typeface="Courier New" panose="02070309020205020404" pitchFamily="49" charset="0"/>
                <a:cs typeface="Courier New" panose="02070309020205020404" pitchFamily="49" charset="0"/>
              </a:rPr>
              <a:t>this.size</a:t>
            </a:r>
            <a:r>
              <a:rPr lang="en-US" sz="1400" dirty="0">
                <a:latin typeface="Courier New" panose="02070309020205020404" pitchFamily="49" charset="0"/>
                <a:cs typeface="Courier New" panose="02070309020205020404" pitchFamily="49" charset="0"/>
              </a:rPr>
              <a:t>;</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 </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public void </a:t>
            </a:r>
            <a:r>
              <a:rPr lang="en-US" sz="1400" dirty="0" err="1">
                <a:latin typeface="Courier New" panose="02070309020205020404" pitchFamily="49" charset="0"/>
                <a:cs typeface="Courier New" panose="02070309020205020404" pitchFamily="49" charset="0"/>
              </a:rPr>
              <a:t>setSize</a:t>
            </a:r>
            <a:r>
              <a:rPr lang="en-US" sz="1400" dirty="0">
                <a:latin typeface="Courier New" panose="02070309020205020404" pitchFamily="49" charset="0"/>
                <a:cs typeface="Courier New" panose="02070309020205020404" pitchFamily="49" charset="0"/>
              </a:rPr>
              <a:t>(double size){</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this.size</a:t>
            </a:r>
            <a:r>
              <a:rPr lang="en-US" sz="1400" dirty="0">
                <a:latin typeface="Courier New" panose="02070309020205020404" pitchFamily="49" charset="0"/>
                <a:cs typeface="Courier New" panose="02070309020205020404" pitchFamily="49" charset="0"/>
              </a:rPr>
              <a:t> = size;</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a:t>
            </a:r>
          </a:p>
          <a:p>
            <a:pPr marL="182880" lvl="1" indent="0" defTabSz="457200">
              <a:lnSpc>
                <a:spcPct val="90000"/>
              </a:lnSpc>
              <a:buFont typeface="Arial"/>
              <a:buNone/>
            </a:pPr>
            <a:endParaRPr lang="en-US" sz="1400" dirty="0">
              <a:latin typeface="Courier New" panose="02070309020205020404" pitchFamily="49" charset="0"/>
              <a:cs typeface="Courier New" panose="02070309020205020404" pitchFamily="49" charset="0"/>
            </a:endParaRPr>
          </a:p>
        </p:txBody>
      </p:sp>
      <p:grpSp>
        <p:nvGrpSpPr>
          <p:cNvPr id="11" name="Group 10">
            <a:extLst>
              <a:ext uri="{FF2B5EF4-FFF2-40B4-BE49-F238E27FC236}">
                <a16:creationId xmlns:a16="http://schemas.microsoft.com/office/drawing/2014/main" id="{A791D50C-12A3-436D-9677-3412389F47ED}"/>
              </a:ext>
            </a:extLst>
          </p:cNvPr>
          <p:cNvGrpSpPr/>
          <p:nvPr/>
        </p:nvGrpSpPr>
        <p:grpSpPr>
          <a:xfrm>
            <a:off x="1159497" y="1416901"/>
            <a:ext cx="4826524" cy="981298"/>
            <a:chOff x="1470580" y="1621410"/>
            <a:chExt cx="4826524" cy="981298"/>
          </a:xfrm>
        </p:grpSpPr>
        <p:sp>
          <p:nvSpPr>
            <p:cNvPr id="12" name="Rectangle 11">
              <a:extLst>
                <a:ext uri="{FF2B5EF4-FFF2-40B4-BE49-F238E27FC236}">
                  <a16:creationId xmlns:a16="http://schemas.microsoft.com/office/drawing/2014/main" id="{AE234304-1750-4458-B73F-1612ABE44159}"/>
                </a:ext>
              </a:extLst>
            </p:cNvPr>
            <p:cNvSpPr/>
            <p:nvPr/>
          </p:nvSpPr>
          <p:spPr>
            <a:xfrm>
              <a:off x="4572000" y="1621410"/>
              <a:ext cx="1725104" cy="8630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So, really, this whole phrase is here implicitly.</a:t>
              </a:r>
            </a:p>
          </p:txBody>
        </p:sp>
        <p:sp>
          <p:nvSpPr>
            <p:cNvPr id="13" name="Rectangle: Rounded Corners 12">
              <a:extLst>
                <a:ext uri="{FF2B5EF4-FFF2-40B4-BE49-F238E27FC236}">
                  <a16:creationId xmlns:a16="http://schemas.microsoft.com/office/drawing/2014/main" id="{AA50D3AF-56D9-48D9-B049-DF7041CC5F6A}"/>
                </a:ext>
              </a:extLst>
            </p:cNvPr>
            <p:cNvSpPr/>
            <p:nvPr/>
          </p:nvSpPr>
          <p:spPr>
            <a:xfrm>
              <a:off x="1470580" y="2366127"/>
              <a:ext cx="2485283" cy="236581"/>
            </a:xfrm>
            <a:prstGeom prst="roundRect">
              <a:avLst/>
            </a:prstGeom>
            <a:solidFill>
              <a:schemeClr val="accent1">
                <a:alpha val="1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 name="Straight Arrow Connector 13">
              <a:extLst>
                <a:ext uri="{FF2B5EF4-FFF2-40B4-BE49-F238E27FC236}">
                  <a16:creationId xmlns:a16="http://schemas.microsoft.com/office/drawing/2014/main" id="{C50EF76A-21AE-4815-8355-415B6A2EBDC2}"/>
                </a:ext>
              </a:extLst>
            </p:cNvPr>
            <p:cNvCxnSpPr>
              <a:cxnSpLocks/>
              <a:stCxn id="13" idx="3"/>
              <a:endCxn id="12" idx="1"/>
            </p:cNvCxnSpPr>
            <p:nvPr/>
          </p:nvCxnSpPr>
          <p:spPr>
            <a:xfrm flipV="1">
              <a:off x="3955863" y="2052914"/>
              <a:ext cx="616137" cy="4315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29" name="TextBox 28">
            <a:extLst>
              <a:ext uri="{FF2B5EF4-FFF2-40B4-BE49-F238E27FC236}">
                <a16:creationId xmlns:a16="http://schemas.microsoft.com/office/drawing/2014/main" id="{9058A00C-ECF4-40EE-8446-80331391E27E}"/>
              </a:ext>
            </a:extLst>
          </p:cNvPr>
          <p:cNvSpPr txBox="1"/>
          <p:nvPr/>
        </p:nvSpPr>
        <p:spPr>
          <a:xfrm>
            <a:off x="5740399" y="4938712"/>
            <a:ext cx="2103911" cy="707886"/>
          </a:xfrm>
          <a:prstGeom prst="rect">
            <a:avLst/>
          </a:prstGeom>
          <a:noFill/>
        </p:spPr>
        <p:txBody>
          <a:bodyPr wrap="square" rtlCol="0" anchor="ctr" anchorCtr="1">
            <a:spAutoFit/>
          </a:bodyPr>
          <a:lstStyle/>
          <a:p>
            <a:pPr algn="ctr"/>
            <a:r>
              <a:rPr lang="en-US" sz="2000" dirty="0">
                <a:solidFill>
                  <a:srgbClr val="F36A25"/>
                </a:solidFill>
                <a:latin typeface="Segoe Print" panose="02000600000000000000" pitchFamily="2" charset="0"/>
              </a:rPr>
              <a:t>Calls Object() in this case</a:t>
            </a:r>
          </a:p>
        </p:txBody>
      </p:sp>
      <mc:AlternateContent xmlns:mc="http://schemas.openxmlformats.org/markup-compatibility/2006" xmlns:p14="http://schemas.microsoft.com/office/powerpoint/2010/main" xmlns:aink="http://schemas.microsoft.com/office/drawing/2016/ink">
        <mc:Choice Requires="p14 aink">
          <p:contentPart p14:bwMode="auto" r:id="rId2">
            <p14:nvContentPartPr>
              <p14:cNvPr id="60" name="Ink 59">
                <a:extLst>
                  <a:ext uri="{FF2B5EF4-FFF2-40B4-BE49-F238E27FC236}">
                    <a16:creationId xmlns:a16="http://schemas.microsoft.com/office/drawing/2014/main" id="{761D8BE8-60FE-4F5E-9BF2-2FD5FF296812}"/>
                  </a:ext>
                </a:extLst>
              </p14:cNvPr>
              <p14:cNvContentPartPr/>
              <p14:nvPr/>
            </p14:nvContentPartPr>
            <p14:xfrm>
              <a:off x="3190000" y="2590320"/>
              <a:ext cx="360" cy="360"/>
            </p14:xfrm>
          </p:contentPart>
        </mc:Choice>
        <mc:Fallback xmlns="">
          <p:pic>
            <p:nvPicPr>
              <p:cNvPr id="60" name="Ink 59">
                <a:extLst>
                  <a:ext uri="{FF2B5EF4-FFF2-40B4-BE49-F238E27FC236}">
                    <a16:creationId xmlns:a16="http://schemas.microsoft.com/office/drawing/2014/main" id="{761D8BE8-60FE-4F5E-9BF2-2FD5FF296812}"/>
                  </a:ext>
                </a:extLst>
              </p:cNvPr>
              <p:cNvPicPr/>
              <p:nvPr/>
            </p:nvPicPr>
            <p:blipFill>
              <a:blip r:embed="rId3"/>
              <a:stretch>
                <a:fillRect/>
              </a:stretch>
            </p:blipFill>
            <p:spPr>
              <a:xfrm>
                <a:off x="3181000" y="258168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2" name="Ink 61">
                <a:extLst>
                  <a:ext uri="{FF2B5EF4-FFF2-40B4-BE49-F238E27FC236}">
                    <a16:creationId xmlns:a16="http://schemas.microsoft.com/office/drawing/2014/main" id="{2D297142-8851-4AE3-8C81-AEDD3D65E4C7}"/>
                  </a:ext>
                </a:extLst>
              </p14:cNvPr>
              <p14:cNvContentPartPr/>
              <p14:nvPr/>
            </p14:nvContentPartPr>
            <p14:xfrm>
              <a:off x="2562520" y="1997400"/>
              <a:ext cx="1018800" cy="532440"/>
            </p14:xfrm>
          </p:contentPart>
        </mc:Choice>
        <mc:Fallback xmlns="">
          <p:pic>
            <p:nvPicPr>
              <p:cNvPr id="62" name="Ink 61">
                <a:extLst>
                  <a:ext uri="{FF2B5EF4-FFF2-40B4-BE49-F238E27FC236}">
                    <a16:creationId xmlns:a16="http://schemas.microsoft.com/office/drawing/2014/main" id="{2D297142-8851-4AE3-8C81-AEDD3D65E4C7}"/>
                  </a:ext>
                </a:extLst>
              </p:cNvPr>
              <p:cNvPicPr/>
              <p:nvPr/>
            </p:nvPicPr>
            <p:blipFill>
              <a:blip r:embed="rId5"/>
              <a:stretch>
                <a:fillRect/>
              </a:stretch>
            </p:blipFill>
            <p:spPr>
              <a:xfrm>
                <a:off x="2553880" y="1988400"/>
                <a:ext cx="1036440" cy="5500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3" name="Ink 62">
                <a:extLst>
                  <a:ext uri="{FF2B5EF4-FFF2-40B4-BE49-F238E27FC236}">
                    <a16:creationId xmlns:a16="http://schemas.microsoft.com/office/drawing/2014/main" id="{B1C409C2-3173-41AA-8086-D630ACFFF810}"/>
                  </a:ext>
                </a:extLst>
              </p14:cNvPr>
              <p14:cNvContentPartPr/>
              <p14:nvPr/>
            </p14:nvContentPartPr>
            <p14:xfrm>
              <a:off x="3272440" y="2433360"/>
              <a:ext cx="2424600" cy="2801160"/>
            </p14:xfrm>
          </p:contentPart>
        </mc:Choice>
        <mc:Fallback xmlns="">
          <p:pic>
            <p:nvPicPr>
              <p:cNvPr id="63" name="Ink 62">
                <a:extLst>
                  <a:ext uri="{FF2B5EF4-FFF2-40B4-BE49-F238E27FC236}">
                    <a16:creationId xmlns:a16="http://schemas.microsoft.com/office/drawing/2014/main" id="{B1C409C2-3173-41AA-8086-D630ACFFF810}"/>
                  </a:ext>
                </a:extLst>
              </p:cNvPr>
              <p:cNvPicPr/>
              <p:nvPr/>
            </p:nvPicPr>
            <p:blipFill>
              <a:blip r:embed="rId7"/>
              <a:stretch>
                <a:fillRect/>
              </a:stretch>
            </p:blipFill>
            <p:spPr>
              <a:xfrm>
                <a:off x="3263440" y="2424720"/>
                <a:ext cx="2442240" cy="28188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1" name="Ink 70">
                <a:extLst>
                  <a:ext uri="{FF2B5EF4-FFF2-40B4-BE49-F238E27FC236}">
                    <a16:creationId xmlns:a16="http://schemas.microsoft.com/office/drawing/2014/main" id="{E2671270-8DE3-482A-B471-A901D7360579}"/>
                  </a:ext>
                </a:extLst>
              </p14:cNvPr>
              <p14:cNvContentPartPr/>
              <p14:nvPr/>
            </p14:nvContentPartPr>
            <p14:xfrm>
              <a:off x="5648520" y="5070240"/>
              <a:ext cx="268200" cy="331560"/>
            </p14:xfrm>
          </p:contentPart>
        </mc:Choice>
        <mc:Fallback xmlns="">
          <p:pic>
            <p:nvPicPr>
              <p:cNvPr id="71" name="Ink 70">
                <a:extLst>
                  <a:ext uri="{FF2B5EF4-FFF2-40B4-BE49-F238E27FC236}">
                    <a16:creationId xmlns:a16="http://schemas.microsoft.com/office/drawing/2014/main" id="{E2671270-8DE3-482A-B471-A901D7360579}"/>
                  </a:ext>
                </a:extLst>
              </p:cNvPr>
              <p:cNvPicPr/>
              <p:nvPr/>
            </p:nvPicPr>
            <p:blipFill>
              <a:blip r:embed="rId9"/>
              <a:stretch>
                <a:fillRect/>
              </a:stretch>
            </p:blipFill>
            <p:spPr>
              <a:xfrm>
                <a:off x="5639520" y="5061240"/>
                <a:ext cx="285840" cy="3492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2" name="Ink 71">
                <a:extLst>
                  <a:ext uri="{FF2B5EF4-FFF2-40B4-BE49-F238E27FC236}">
                    <a16:creationId xmlns:a16="http://schemas.microsoft.com/office/drawing/2014/main" id="{C40AFEAA-24CC-42B0-8E51-A53BE51BA72A}"/>
                  </a:ext>
                </a:extLst>
              </p14:cNvPr>
              <p14:cNvContentPartPr/>
              <p14:nvPr/>
            </p14:nvContentPartPr>
            <p14:xfrm>
              <a:off x="5676600" y="5115960"/>
              <a:ext cx="183960" cy="201600"/>
            </p14:xfrm>
          </p:contentPart>
        </mc:Choice>
        <mc:Fallback xmlns="">
          <p:pic>
            <p:nvPicPr>
              <p:cNvPr id="72" name="Ink 71">
                <a:extLst>
                  <a:ext uri="{FF2B5EF4-FFF2-40B4-BE49-F238E27FC236}">
                    <a16:creationId xmlns:a16="http://schemas.microsoft.com/office/drawing/2014/main" id="{C40AFEAA-24CC-42B0-8E51-A53BE51BA72A}"/>
                  </a:ext>
                </a:extLst>
              </p:cNvPr>
              <p:cNvPicPr/>
              <p:nvPr/>
            </p:nvPicPr>
            <p:blipFill>
              <a:blip r:embed="rId11"/>
              <a:stretch>
                <a:fillRect/>
              </a:stretch>
            </p:blipFill>
            <p:spPr>
              <a:xfrm>
                <a:off x="5667600" y="5106960"/>
                <a:ext cx="201600"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6" name="Ink 75">
                <a:extLst>
                  <a:ext uri="{FF2B5EF4-FFF2-40B4-BE49-F238E27FC236}">
                    <a16:creationId xmlns:a16="http://schemas.microsoft.com/office/drawing/2014/main" id="{39FF5D6A-A7CC-476F-B5B1-691A91D826C2}"/>
                  </a:ext>
                </a:extLst>
              </p14:cNvPr>
              <p14:cNvContentPartPr/>
              <p14:nvPr/>
            </p14:nvContentPartPr>
            <p14:xfrm>
              <a:off x="4599846" y="1573772"/>
              <a:ext cx="396360" cy="38520"/>
            </p14:xfrm>
          </p:contentPart>
        </mc:Choice>
        <mc:Fallback xmlns="">
          <p:pic>
            <p:nvPicPr>
              <p:cNvPr id="76" name="Ink 75">
                <a:extLst>
                  <a:ext uri="{FF2B5EF4-FFF2-40B4-BE49-F238E27FC236}">
                    <a16:creationId xmlns:a16="http://schemas.microsoft.com/office/drawing/2014/main" id="{39FF5D6A-A7CC-476F-B5B1-691A91D826C2}"/>
                  </a:ext>
                </a:extLst>
              </p:cNvPr>
              <p:cNvPicPr/>
              <p:nvPr/>
            </p:nvPicPr>
            <p:blipFill>
              <a:blip r:embed="rId13"/>
              <a:stretch>
                <a:fillRect/>
              </a:stretch>
            </p:blipFill>
            <p:spPr>
              <a:xfrm>
                <a:off x="4591206" y="1565050"/>
                <a:ext cx="414000" cy="56326"/>
              </a:xfrm>
              <a:prstGeom prst="rect">
                <a:avLst/>
              </a:prstGeom>
            </p:spPr>
          </p:pic>
        </mc:Fallback>
      </mc:AlternateContent>
    </p:spTree>
    <p:extLst>
      <p:ext uri="{BB962C8B-B14F-4D97-AF65-F5344CB8AC3E}">
        <p14:creationId xmlns:p14="http://schemas.microsoft.com/office/powerpoint/2010/main" val="2764387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iterate type="lt">
                                    <p:tmAbs val="0"/>
                                  </p:iterate>
                                  <p:childTnLst>
                                    <p:set>
                                      <p:cBhvr>
                                        <p:cTn id="1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type="lt">
                                    <p:tmAbs val="0"/>
                                  </p:iterate>
                                  <p:childTnLst>
                                    <p:set>
                                      <p:cBhvr>
                                        <p:cTn id="14" dur="1" fill="hold">
                                          <p:stCondLst>
                                            <p:cond delay="0"/>
                                          </p:stCondLst>
                                        </p:cTn>
                                        <p:tgtEl>
                                          <p:spTgt spid="10">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xEl>
                                              <p:pRg st="9" end="9"/>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xEl>
                                              <p:pRg st="10" end="1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5" presetClass="emph" presetSubtype="0" nodeType="clickEffect">
                                  <p:stCondLst>
                                    <p:cond delay="0"/>
                                  </p:stCondLst>
                                  <p:iterate type="lt">
                                    <p:tmAbs val="25"/>
                                  </p:iterate>
                                  <p:childTnLst>
                                    <p:set>
                                      <p:cBhvr override="childStyle">
                                        <p:cTn id="32" dur="indefinite"/>
                                        <p:tgtEl>
                                          <p:spTgt spid="10">
                                            <p:txEl>
                                              <p:pRg st="3" end="3"/>
                                            </p:txEl>
                                          </p:spTgt>
                                        </p:tgtEl>
                                        <p:attrNameLst>
                                          <p:attrName>style.fontWeight</p:attrName>
                                        </p:attrNameLst>
                                      </p:cBhvr>
                                      <p:to>
                                        <p:strVal val="bold"/>
                                      </p:to>
                                    </p:set>
                                  </p:childTnLst>
                                </p:cTn>
                              </p:par>
                              <p:par>
                                <p:cTn id="33" presetID="1" presetClass="entr" presetSubtype="0" fill="hold" nodeType="with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24"/>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dirty="0"/>
              <a:t>Constructor Overloading</a:t>
            </a:r>
            <a:endParaRPr dirty="0"/>
          </a:p>
        </p:txBody>
      </p:sp>
      <p:sp>
        <p:nvSpPr>
          <p:cNvPr id="274" name="Google Shape;274;p24"/>
          <p:cNvSpPr txBox="1">
            <a:spLocks noGrp="1"/>
          </p:cNvSpPr>
          <p:nvPr>
            <p:ph type="body" idx="1"/>
          </p:nvPr>
        </p:nvSpPr>
        <p:spPr>
          <a:xfrm>
            <a:off x="380010" y="1219200"/>
            <a:ext cx="8383980" cy="4525963"/>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SzPts val="2590"/>
              <a:buChar char="•"/>
            </a:pPr>
            <a:r>
              <a:rPr lang="en-US" sz="2590" dirty="0"/>
              <a:t>A class can have multiple constructors, differentiated by their parameters</a:t>
            </a:r>
            <a:endParaRPr dirty="0"/>
          </a:p>
          <a:p>
            <a:pPr marL="742950" lvl="1" indent="-285750" algn="l" rtl="0">
              <a:lnSpc>
                <a:spcPct val="90000"/>
              </a:lnSpc>
              <a:spcBef>
                <a:spcPts val="444"/>
              </a:spcBef>
              <a:spcAft>
                <a:spcPts val="0"/>
              </a:spcAft>
              <a:buSzPts val="2220"/>
              <a:buChar char="–"/>
            </a:pPr>
            <a:r>
              <a:rPr lang="en-US" sz="2220" dirty="0">
                <a:latin typeface="Courier New"/>
                <a:ea typeface="Courier New"/>
                <a:cs typeface="Courier New"/>
                <a:sym typeface="Courier New"/>
              </a:rPr>
              <a:t>public Example() { }</a:t>
            </a:r>
            <a:endParaRPr dirty="0"/>
          </a:p>
          <a:p>
            <a:pPr marL="742950" lvl="1" indent="-285750" algn="l" rtl="0">
              <a:lnSpc>
                <a:spcPct val="90000"/>
              </a:lnSpc>
              <a:spcBef>
                <a:spcPts val="444"/>
              </a:spcBef>
              <a:spcAft>
                <a:spcPts val="0"/>
              </a:spcAft>
              <a:buSzPts val="2220"/>
              <a:buChar char="–"/>
            </a:pPr>
            <a:r>
              <a:rPr lang="en-US" sz="2220" dirty="0">
                <a:latin typeface="Courier New"/>
                <a:ea typeface="Courier New"/>
                <a:cs typeface="Courier New"/>
                <a:sym typeface="Courier New"/>
              </a:rPr>
              <a:t>public Example(int num) { }</a:t>
            </a:r>
            <a:endParaRPr dirty="0"/>
          </a:p>
          <a:p>
            <a:pPr marL="742950" lvl="1" indent="-285750" algn="l" rtl="0">
              <a:lnSpc>
                <a:spcPct val="90000"/>
              </a:lnSpc>
              <a:spcBef>
                <a:spcPts val="444"/>
              </a:spcBef>
              <a:spcAft>
                <a:spcPts val="0"/>
              </a:spcAft>
              <a:buSzPts val="2220"/>
              <a:buChar char="–"/>
            </a:pPr>
            <a:r>
              <a:rPr lang="en-US" sz="2220" dirty="0">
                <a:latin typeface="Courier New"/>
                <a:ea typeface="Courier New"/>
                <a:cs typeface="Courier New"/>
                <a:sym typeface="Courier New"/>
              </a:rPr>
              <a:t>public Example(int num, String name) { }</a:t>
            </a:r>
          </a:p>
          <a:p>
            <a:pPr marL="742950" lvl="1" indent="-285750" algn="l" rtl="0">
              <a:lnSpc>
                <a:spcPct val="90000"/>
              </a:lnSpc>
              <a:spcBef>
                <a:spcPts val="444"/>
              </a:spcBef>
              <a:spcAft>
                <a:spcPts val="0"/>
              </a:spcAft>
              <a:buSzPts val="2220"/>
              <a:buChar char="–"/>
            </a:pPr>
            <a:r>
              <a:rPr lang="en-US" sz="2220" dirty="0">
                <a:latin typeface="Courier New"/>
                <a:cs typeface="Courier New"/>
                <a:sym typeface="Courier New"/>
              </a:rPr>
              <a:t>public Example(String name) {}</a:t>
            </a:r>
          </a:p>
          <a:p>
            <a:pPr marL="342900" lvl="0" indent="-342900" algn="l" rtl="0">
              <a:lnSpc>
                <a:spcPct val="90000"/>
              </a:lnSpc>
              <a:spcBef>
                <a:spcPts val="518"/>
              </a:spcBef>
              <a:spcAft>
                <a:spcPts val="0"/>
              </a:spcAft>
              <a:buSzPts val="2590"/>
              <a:buChar char="•"/>
            </a:pPr>
            <a:r>
              <a:rPr lang="en-US" sz="2590" dirty="0"/>
              <a:t>Calling a specific constructor is a matter of passing in the right types/numbers of parameters.</a:t>
            </a:r>
            <a:endParaRPr dirty="0"/>
          </a:p>
          <a:p>
            <a:pPr marL="742950" lvl="1" indent="-285750" algn="l" rtl="0">
              <a:lnSpc>
                <a:spcPct val="90000"/>
              </a:lnSpc>
              <a:spcBef>
                <a:spcPts val="444"/>
              </a:spcBef>
              <a:spcAft>
                <a:spcPts val="0"/>
              </a:spcAft>
              <a:buSzPts val="2220"/>
              <a:buChar char="–"/>
            </a:pPr>
            <a:r>
              <a:rPr lang="en-US" sz="2220" dirty="0">
                <a:latin typeface="Courier New"/>
                <a:ea typeface="Courier New"/>
                <a:cs typeface="Courier New"/>
                <a:sym typeface="Courier New"/>
              </a:rPr>
              <a:t>Example </a:t>
            </a:r>
            <a:r>
              <a:rPr lang="en-US" sz="2220" dirty="0" err="1">
                <a:latin typeface="Courier New"/>
                <a:ea typeface="Courier New"/>
                <a:cs typeface="Courier New"/>
                <a:sym typeface="Courier New"/>
              </a:rPr>
              <a:t>myEx</a:t>
            </a:r>
            <a:r>
              <a:rPr lang="en-US" sz="2220" dirty="0">
                <a:latin typeface="Courier New"/>
                <a:ea typeface="Courier New"/>
                <a:cs typeface="Courier New"/>
                <a:sym typeface="Courier New"/>
              </a:rPr>
              <a:t> = new Example(3);</a:t>
            </a:r>
            <a:endParaRPr dirty="0"/>
          </a:p>
          <a:p>
            <a:pPr marL="342900" lvl="0" indent="-342900" algn="l" rtl="0">
              <a:lnSpc>
                <a:spcPct val="90000"/>
              </a:lnSpc>
              <a:spcBef>
                <a:spcPts val="518"/>
              </a:spcBef>
              <a:spcAft>
                <a:spcPts val="0"/>
              </a:spcAft>
              <a:buSzPts val="2590"/>
              <a:buChar char="•"/>
            </a:pPr>
            <a:r>
              <a:rPr lang="en-US" sz="2590" dirty="0"/>
              <a:t>Constructor selection through parameters can also happen with </a:t>
            </a:r>
            <a:r>
              <a:rPr lang="en-US" sz="2590" dirty="0">
                <a:latin typeface="Courier New"/>
                <a:ea typeface="Courier New"/>
                <a:cs typeface="Courier New"/>
                <a:sym typeface="Courier New"/>
              </a:rPr>
              <a:t>this</a:t>
            </a:r>
            <a:r>
              <a:rPr lang="en-US" sz="2590" dirty="0"/>
              <a:t> or </a:t>
            </a:r>
            <a:r>
              <a:rPr lang="en-US" sz="2590" dirty="0">
                <a:latin typeface="Courier New"/>
                <a:ea typeface="Courier New"/>
                <a:cs typeface="Courier New"/>
                <a:sym typeface="Courier New"/>
              </a:rPr>
              <a:t>super</a:t>
            </a:r>
            <a:endParaRPr dirty="0"/>
          </a:p>
          <a:p>
            <a:pPr marL="742950" lvl="1" indent="-285750" algn="l" rtl="0">
              <a:lnSpc>
                <a:spcPct val="90000"/>
              </a:lnSpc>
              <a:spcBef>
                <a:spcPts val="444"/>
              </a:spcBef>
              <a:spcAft>
                <a:spcPts val="0"/>
              </a:spcAft>
              <a:buSzPts val="2220"/>
              <a:buChar char="–"/>
            </a:pPr>
            <a:r>
              <a:rPr lang="en-US" sz="2220" dirty="0">
                <a:latin typeface="Courier New"/>
                <a:ea typeface="Courier New"/>
                <a:cs typeface="Courier New"/>
                <a:sym typeface="Courier New"/>
              </a:rPr>
              <a:t>super(2, “Dave”);</a:t>
            </a:r>
          </a:p>
          <a:p>
            <a:pPr marL="742950" lvl="1" indent="-285750" algn="l" rtl="0">
              <a:lnSpc>
                <a:spcPct val="90000"/>
              </a:lnSpc>
              <a:spcBef>
                <a:spcPts val="444"/>
              </a:spcBef>
              <a:spcAft>
                <a:spcPts val="0"/>
              </a:spcAft>
              <a:buSzPts val="2220"/>
              <a:buChar char="–"/>
            </a:pPr>
            <a:endParaRPr lang="en-US" sz="2220" dirty="0">
              <a:latin typeface="Courier New"/>
              <a:ea typeface="Courier New"/>
              <a:cs typeface="Courier New"/>
              <a:sym typeface="Courier New"/>
            </a:endParaRPr>
          </a:p>
          <a:p>
            <a:pPr marL="285750" indent="-285750">
              <a:lnSpc>
                <a:spcPct val="90000"/>
              </a:lnSpc>
              <a:spcBef>
                <a:spcPts val="444"/>
              </a:spcBef>
              <a:buSzPts val="2220"/>
              <a:buChar char="–"/>
            </a:pPr>
            <a:endParaRPr lang="en-US" sz="2620" dirty="0">
              <a:latin typeface="Courier New"/>
              <a:cs typeface="Courier New"/>
              <a:sym typeface="Courier New"/>
            </a:endParaRPr>
          </a:p>
        </p:txBody>
      </p:sp>
      <p:sp>
        <p:nvSpPr>
          <p:cNvPr id="275" name="Google Shape;275;p24"/>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69</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7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7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7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4">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74">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74">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7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4"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31C5B-618D-4DA7-BF58-F8A88700E29B}"/>
              </a:ext>
            </a:extLst>
          </p:cNvPr>
          <p:cNvSpPr>
            <a:spLocks noGrp="1"/>
          </p:cNvSpPr>
          <p:nvPr>
            <p:ph type="title"/>
          </p:nvPr>
        </p:nvSpPr>
        <p:spPr/>
        <p:txBody>
          <a:bodyPr/>
          <a:lstStyle/>
          <a:p>
            <a:r>
              <a:rPr lang="en-US" dirty="0"/>
              <a:t>this()… </a:t>
            </a:r>
          </a:p>
        </p:txBody>
      </p:sp>
      <p:sp>
        <p:nvSpPr>
          <p:cNvPr id="3" name="Text Placeholder 2">
            <a:extLst>
              <a:ext uri="{FF2B5EF4-FFF2-40B4-BE49-F238E27FC236}">
                <a16:creationId xmlns:a16="http://schemas.microsoft.com/office/drawing/2014/main" id="{A99380E9-B142-4258-935C-EA35889C2D05}"/>
              </a:ext>
            </a:extLst>
          </p:cNvPr>
          <p:cNvSpPr>
            <a:spLocks noGrp="1"/>
          </p:cNvSpPr>
          <p:nvPr>
            <p:ph type="body" idx="1"/>
          </p:nvPr>
        </p:nvSpPr>
        <p:spPr>
          <a:xfrm>
            <a:off x="380010" y="1481447"/>
            <a:ext cx="8383980" cy="2458958"/>
          </a:xfrm>
        </p:spPr>
        <p:txBody>
          <a:bodyPr/>
          <a:lstStyle/>
          <a:p>
            <a:pPr marL="342900" lvl="0" indent="-342900">
              <a:lnSpc>
                <a:spcPct val="90000"/>
              </a:lnSpc>
              <a:spcBef>
                <a:spcPts val="518"/>
              </a:spcBef>
              <a:buSzPts val="2590"/>
            </a:pPr>
            <a:r>
              <a:rPr lang="en-US" sz="2590" dirty="0"/>
              <a:t>When you call a constructor only one of the constructors in each class runs unless one of the constructors calls this(…) </a:t>
            </a:r>
          </a:p>
          <a:p>
            <a:pPr marL="342900" indent="-342900">
              <a:lnSpc>
                <a:spcPct val="90000"/>
              </a:lnSpc>
              <a:spcBef>
                <a:spcPts val="518"/>
              </a:spcBef>
              <a:buSzPts val="2590"/>
            </a:pPr>
            <a:r>
              <a:rPr lang="en-US" dirty="0">
                <a:latin typeface="Courier New"/>
                <a:ea typeface="Courier New"/>
                <a:cs typeface="Courier New"/>
                <a:sym typeface="Courier New"/>
              </a:rPr>
              <a:t>this</a:t>
            </a:r>
            <a:r>
              <a:rPr lang="en-US" dirty="0"/>
              <a:t> is a reference to the current class, so </a:t>
            </a:r>
            <a:r>
              <a:rPr lang="en-US" dirty="0">
                <a:latin typeface="Courier New"/>
                <a:ea typeface="Courier New"/>
                <a:cs typeface="Courier New"/>
                <a:sym typeface="Courier New"/>
              </a:rPr>
              <a:t>this() </a:t>
            </a:r>
            <a:r>
              <a:rPr lang="en-US" dirty="0"/>
              <a:t>is an invocation of one of the current class’ constructors.</a:t>
            </a:r>
            <a:endParaRPr lang="en-US" sz="2590" dirty="0"/>
          </a:p>
        </p:txBody>
      </p:sp>
      <p:sp>
        <p:nvSpPr>
          <p:cNvPr id="4" name="Slide Number Placeholder 3">
            <a:extLst>
              <a:ext uri="{FF2B5EF4-FFF2-40B4-BE49-F238E27FC236}">
                <a16:creationId xmlns:a16="http://schemas.microsoft.com/office/drawing/2014/main" id="{E9597E5C-5A80-424E-95D4-FC3B401CC89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70</a:t>
            </a:fld>
            <a:endParaRPr lang="en-US"/>
          </a:p>
        </p:txBody>
      </p:sp>
      <p:sp>
        <p:nvSpPr>
          <p:cNvPr id="5" name="Rectangle 4">
            <a:extLst>
              <a:ext uri="{FF2B5EF4-FFF2-40B4-BE49-F238E27FC236}">
                <a16:creationId xmlns:a16="http://schemas.microsoft.com/office/drawing/2014/main" id="{36ABE9F0-1FE6-48EE-BE0D-7D02744210A0}"/>
              </a:ext>
            </a:extLst>
          </p:cNvPr>
          <p:cNvSpPr/>
          <p:nvPr/>
        </p:nvSpPr>
        <p:spPr>
          <a:xfrm>
            <a:off x="688157" y="3940404"/>
            <a:ext cx="4355183" cy="2067005"/>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marL="182880" lvl="1" defTabSz="457200">
              <a:lnSpc>
                <a:spcPct val="90000"/>
              </a:lnSpc>
            </a:pPr>
            <a:r>
              <a:rPr lang="en-US" dirty="0">
                <a:latin typeface="Courier New" panose="02070309020205020404" pitchFamily="49" charset="0"/>
                <a:cs typeface="Courier New" panose="02070309020205020404" pitchFamily="49" charset="0"/>
              </a:rPr>
              <a:t>package one;</a:t>
            </a:r>
          </a:p>
          <a:p>
            <a:pPr marL="182880" lvl="1" defTabSz="457200">
              <a:lnSpc>
                <a:spcPct val="90000"/>
              </a:lnSpc>
            </a:pPr>
            <a:r>
              <a:rPr lang="en-US" dirty="0">
                <a:latin typeface="Courier New" panose="02070309020205020404" pitchFamily="49" charset="0"/>
                <a:cs typeface="Courier New" panose="02070309020205020404" pitchFamily="49" charset="0"/>
              </a:rPr>
              <a:t>public class Dog {</a:t>
            </a:r>
          </a:p>
          <a:p>
            <a:pPr marL="182880" lvl="1" defTabSz="457200">
              <a:lnSpc>
                <a:spcPct val="90000"/>
              </a:lnSpc>
            </a:pPr>
            <a:r>
              <a:rPr lang="en-US" dirty="0">
                <a:latin typeface="Courier New" panose="02070309020205020404" pitchFamily="49" charset="0"/>
                <a:cs typeface="Courier New" panose="02070309020205020404" pitchFamily="49" charset="0"/>
              </a:rPr>
              <a:t>		private double size = 6.5;</a:t>
            </a:r>
          </a:p>
          <a:p>
            <a:pPr marL="182880" lvl="1" defTabSz="457200">
              <a:lnSpc>
                <a:spcPct val="90000"/>
              </a:lnSpc>
            </a:pPr>
            <a:r>
              <a:rPr lang="en-US" dirty="0">
                <a:latin typeface="Courier New" panose="02070309020205020404" pitchFamily="49" charset="0"/>
                <a:cs typeface="Courier New" panose="02070309020205020404" pitchFamily="49" charset="0"/>
              </a:rPr>
              <a:t>		public Dog(){this(12);}</a:t>
            </a:r>
          </a:p>
          <a:p>
            <a:pPr marL="182880" lvl="1" defTabSz="457200">
              <a:lnSpc>
                <a:spcPct val="90000"/>
              </a:lnSpc>
            </a:pPr>
            <a:r>
              <a:rPr lang="en-US" dirty="0">
                <a:latin typeface="Courier New" panose="02070309020205020404" pitchFamily="49" charset="0"/>
                <a:cs typeface="Courier New" panose="02070309020205020404" pitchFamily="49" charset="0"/>
              </a:rPr>
              <a:t>		public Dog(int size){</a:t>
            </a:r>
          </a:p>
          <a:p>
            <a:pPr marL="182880" lvl="1" defTabSz="457200">
              <a:lnSpc>
                <a:spcPct val="90000"/>
              </a:lnSpc>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this.size</a:t>
            </a:r>
            <a:r>
              <a:rPr lang="en-US" dirty="0">
                <a:latin typeface="Courier New" panose="02070309020205020404" pitchFamily="49" charset="0"/>
                <a:cs typeface="Courier New" panose="02070309020205020404" pitchFamily="49" charset="0"/>
              </a:rPr>
              <a:t> = size;</a:t>
            </a:r>
          </a:p>
          <a:p>
            <a:pPr marL="182880" lvl="1" defTabSz="457200">
              <a:lnSpc>
                <a:spcPct val="90000"/>
              </a:lnSpc>
            </a:pPr>
            <a:r>
              <a:rPr lang="en-US" dirty="0">
                <a:latin typeface="Courier New" panose="02070309020205020404" pitchFamily="49" charset="0"/>
                <a:cs typeface="Courier New" panose="02070309020205020404" pitchFamily="49" charset="0"/>
              </a:rPr>
              <a:t>		}</a:t>
            </a:r>
          </a:p>
          <a:p>
            <a:pPr marL="182880" lvl="1" defTabSz="457200">
              <a:lnSpc>
                <a:spcPct val="90000"/>
              </a:lnSpc>
            </a:pPr>
            <a:endParaRPr lang="en-US" dirty="0">
              <a:latin typeface="Courier New" panose="02070309020205020404" pitchFamily="49" charset="0"/>
              <a:cs typeface="Courier New" panose="02070309020205020404" pitchFamily="49" charset="0"/>
            </a:endParaRPr>
          </a:p>
          <a:p>
            <a:pPr marL="182880" lvl="1" defTabSz="457200">
              <a:lnSpc>
                <a:spcPct val="90000"/>
              </a:lnSpc>
            </a:pPr>
            <a:r>
              <a:rPr lang="en-US" dirty="0">
                <a:latin typeface="Courier New" panose="02070309020205020404" pitchFamily="49" charset="0"/>
                <a:cs typeface="Courier New" panose="02070309020205020404" pitchFamily="49" charset="0"/>
              </a:rPr>
              <a:t>}</a:t>
            </a:r>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7FBF780D-D2FC-420B-A8CD-E04796CDCEEC}"/>
                  </a:ext>
                </a:extLst>
              </p14:cNvPr>
              <p14:cNvContentPartPr/>
              <p14:nvPr/>
            </p14:nvContentPartPr>
            <p14:xfrm>
              <a:off x="3065910" y="4645200"/>
              <a:ext cx="909360" cy="248400"/>
            </p14:xfrm>
          </p:contentPart>
        </mc:Choice>
        <mc:Fallback xmlns="">
          <p:pic>
            <p:nvPicPr>
              <p:cNvPr id="6" name="Ink 5">
                <a:extLst>
                  <a:ext uri="{FF2B5EF4-FFF2-40B4-BE49-F238E27FC236}">
                    <a16:creationId xmlns:a16="http://schemas.microsoft.com/office/drawing/2014/main" id="{7FBF780D-D2FC-420B-A8CD-E04796CDCEEC}"/>
                  </a:ext>
                </a:extLst>
              </p:cNvPr>
              <p:cNvPicPr/>
              <p:nvPr/>
            </p:nvPicPr>
            <p:blipFill>
              <a:blip r:embed="rId3"/>
              <a:stretch>
                <a:fillRect/>
              </a:stretch>
            </p:blipFill>
            <p:spPr>
              <a:xfrm>
                <a:off x="3056910" y="4636200"/>
                <a:ext cx="927000" cy="2660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6" name="Ink 15">
                <a:extLst>
                  <a:ext uri="{FF2B5EF4-FFF2-40B4-BE49-F238E27FC236}">
                    <a16:creationId xmlns:a16="http://schemas.microsoft.com/office/drawing/2014/main" id="{DE51D753-B6EF-4916-A241-56696920EDCA}"/>
                  </a:ext>
                </a:extLst>
              </p14:cNvPr>
              <p14:cNvContentPartPr/>
              <p14:nvPr/>
            </p14:nvContentPartPr>
            <p14:xfrm>
              <a:off x="3939270" y="4429560"/>
              <a:ext cx="1122120" cy="677520"/>
            </p14:xfrm>
          </p:contentPart>
        </mc:Choice>
        <mc:Fallback xmlns="">
          <p:pic>
            <p:nvPicPr>
              <p:cNvPr id="16" name="Ink 15">
                <a:extLst>
                  <a:ext uri="{FF2B5EF4-FFF2-40B4-BE49-F238E27FC236}">
                    <a16:creationId xmlns:a16="http://schemas.microsoft.com/office/drawing/2014/main" id="{DE51D753-B6EF-4916-A241-56696920EDCA}"/>
                  </a:ext>
                </a:extLst>
              </p:cNvPr>
              <p:cNvPicPr/>
              <p:nvPr/>
            </p:nvPicPr>
            <p:blipFill>
              <a:blip r:embed="rId5"/>
              <a:stretch>
                <a:fillRect/>
              </a:stretch>
            </p:blipFill>
            <p:spPr>
              <a:xfrm>
                <a:off x="3930273" y="4420915"/>
                <a:ext cx="1139754" cy="695169"/>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3" name="Ink 22">
                <a:extLst>
                  <a:ext uri="{FF2B5EF4-FFF2-40B4-BE49-F238E27FC236}">
                    <a16:creationId xmlns:a16="http://schemas.microsoft.com/office/drawing/2014/main" id="{52E3540A-B626-4430-A010-45F59B73DEA7}"/>
                  </a:ext>
                </a:extLst>
              </p14:cNvPr>
              <p14:cNvContentPartPr/>
              <p14:nvPr/>
            </p14:nvContentPartPr>
            <p14:xfrm>
              <a:off x="4662870" y="4679760"/>
              <a:ext cx="495360" cy="356400"/>
            </p14:xfrm>
          </p:contentPart>
        </mc:Choice>
        <mc:Fallback xmlns="">
          <p:pic>
            <p:nvPicPr>
              <p:cNvPr id="23" name="Ink 22">
                <a:extLst>
                  <a:ext uri="{FF2B5EF4-FFF2-40B4-BE49-F238E27FC236}">
                    <a16:creationId xmlns:a16="http://schemas.microsoft.com/office/drawing/2014/main" id="{52E3540A-B626-4430-A010-45F59B73DEA7}"/>
                  </a:ext>
                </a:extLst>
              </p:cNvPr>
              <p:cNvPicPr/>
              <p:nvPr/>
            </p:nvPicPr>
            <p:blipFill>
              <a:blip r:embed="rId7"/>
              <a:stretch>
                <a:fillRect/>
              </a:stretch>
            </p:blipFill>
            <p:spPr>
              <a:xfrm>
                <a:off x="4653870" y="4670760"/>
                <a:ext cx="513000" cy="3740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4" name="Ink 23">
                <a:extLst>
                  <a:ext uri="{FF2B5EF4-FFF2-40B4-BE49-F238E27FC236}">
                    <a16:creationId xmlns:a16="http://schemas.microsoft.com/office/drawing/2014/main" id="{4BE7F14D-5A09-4F9E-A371-64C9421C9FD3}"/>
                  </a:ext>
                </a:extLst>
              </p14:cNvPr>
              <p14:cNvContentPartPr/>
              <p14:nvPr/>
            </p14:nvContentPartPr>
            <p14:xfrm>
              <a:off x="5156790" y="4690560"/>
              <a:ext cx="49320" cy="109440"/>
            </p14:xfrm>
          </p:contentPart>
        </mc:Choice>
        <mc:Fallback xmlns="">
          <p:pic>
            <p:nvPicPr>
              <p:cNvPr id="24" name="Ink 23">
                <a:extLst>
                  <a:ext uri="{FF2B5EF4-FFF2-40B4-BE49-F238E27FC236}">
                    <a16:creationId xmlns:a16="http://schemas.microsoft.com/office/drawing/2014/main" id="{4BE7F14D-5A09-4F9E-A371-64C9421C9FD3}"/>
                  </a:ext>
                </a:extLst>
              </p:cNvPr>
              <p:cNvPicPr/>
              <p:nvPr/>
            </p:nvPicPr>
            <p:blipFill>
              <a:blip r:embed="rId9"/>
              <a:stretch>
                <a:fillRect/>
              </a:stretch>
            </p:blipFill>
            <p:spPr>
              <a:xfrm>
                <a:off x="5147790" y="4681560"/>
                <a:ext cx="6696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5" name="Ink 24">
                <a:extLst>
                  <a:ext uri="{FF2B5EF4-FFF2-40B4-BE49-F238E27FC236}">
                    <a16:creationId xmlns:a16="http://schemas.microsoft.com/office/drawing/2014/main" id="{FED069E0-F928-4B12-A815-15636655473E}"/>
                  </a:ext>
                </a:extLst>
              </p14:cNvPr>
              <p14:cNvContentPartPr/>
              <p14:nvPr/>
            </p14:nvContentPartPr>
            <p14:xfrm>
              <a:off x="5233470" y="4619640"/>
              <a:ext cx="116280" cy="135720"/>
            </p14:xfrm>
          </p:contentPart>
        </mc:Choice>
        <mc:Fallback xmlns="">
          <p:pic>
            <p:nvPicPr>
              <p:cNvPr id="25" name="Ink 24">
                <a:extLst>
                  <a:ext uri="{FF2B5EF4-FFF2-40B4-BE49-F238E27FC236}">
                    <a16:creationId xmlns:a16="http://schemas.microsoft.com/office/drawing/2014/main" id="{FED069E0-F928-4B12-A815-15636655473E}"/>
                  </a:ext>
                </a:extLst>
              </p:cNvPr>
              <p:cNvPicPr/>
              <p:nvPr/>
            </p:nvPicPr>
            <p:blipFill>
              <a:blip r:embed="rId11"/>
              <a:stretch>
                <a:fillRect/>
              </a:stretch>
            </p:blipFill>
            <p:spPr>
              <a:xfrm>
                <a:off x="5224830" y="4610640"/>
                <a:ext cx="133920" cy="1533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6" name="Ink 25">
                <a:extLst>
                  <a:ext uri="{FF2B5EF4-FFF2-40B4-BE49-F238E27FC236}">
                    <a16:creationId xmlns:a16="http://schemas.microsoft.com/office/drawing/2014/main" id="{BC5102EE-8C78-44B0-A677-88453039FE75}"/>
                  </a:ext>
                </a:extLst>
              </p14:cNvPr>
              <p14:cNvContentPartPr/>
              <p14:nvPr/>
            </p14:nvContentPartPr>
            <p14:xfrm>
              <a:off x="5385750" y="4544760"/>
              <a:ext cx="75960" cy="179280"/>
            </p14:xfrm>
          </p:contentPart>
        </mc:Choice>
        <mc:Fallback xmlns="">
          <p:pic>
            <p:nvPicPr>
              <p:cNvPr id="26" name="Ink 25">
                <a:extLst>
                  <a:ext uri="{FF2B5EF4-FFF2-40B4-BE49-F238E27FC236}">
                    <a16:creationId xmlns:a16="http://schemas.microsoft.com/office/drawing/2014/main" id="{BC5102EE-8C78-44B0-A677-88453039FE75}"/>
                  </a:ext>
                </a:extLst>
              </p:cNvPr>
              <p:cNvPicPr/>
              <p:nvPr/>
            </p:nvPicPr>
            <p:blipFill>
              <a:blip r:embed="rId13"/>
              <a:stretch>
                <a:fillRect/>
              </a:stretch>
            </p:blipFill>
            <p:spPr>
              <a:xfrm>
                <a:off x="5377110" y="4535760"/>
                <a:ext cx="93600" cy="196920"/>
              </a:xfrm>
              <a:prstGeom prst="rect">
                <a:avLst/>
              </a:prstGeom>
            </p:spPr>
          </p:pic>
        </mc:Fallback>
      </mc:AlternateContent>
      <p:sp>
        <p:nvSpPr>
          <p:cNvPr id="33" name="Text Placeholder 2">
            <a:extLst>
              <a:ext uri="{FF2B5EF4-FFF2-40B4-BE49-F238E27FC236}">
                <a16:creationId xmlns:a16="http://schemas.microsoft.com/office/drawing/2014/main" id="{3EDC9D56-44E2-49B7-915F-D4A9153D8F1A}"/>
              </a:ext>
            </a:extLst>
          </p:cNvPr>
          <p:cNvSpPr txBox="1">
            <a:spLocks/>
          </p:cNvSpPr>
          <p:nvPr/>
        </p:nvSpPr>
        <p:spPr>
          <a:xfrm>
            <a:off x="5385750" y="3744428"/>
            <a:ext cx="3453480" cy="2458958"/>
          </a:xfrm>
          <a:prstGeom prst="rect">
            <a:avLst/>
          </a:prstGeom>
          <a:noFill/>
          <a:ln>
            <a:noFill/>
          </a:ln>
        </p:spPr>
        <p:txBody>
          <a:bodyPr spcFirstLastPara="1" wrap="square" lIns="91425" tIns="45700" rIns="91425" bIns="45700" anchor="t" anchorCtr="0"/>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100000"/>
              </a:lnSpc>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100000"/>
              </a:lnSpc>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9pPr>
          </a:lstStyle>
          <a:p>
            <a:pPr marL="342900" indent="-342900">
              <a:lnSpc>
                <a:spcPct val="90000"/>
              </a:lnSpc>
              <a:spcBef>
                <a:spcPts val="518"/>
              </a:spcBef>
              <a:buSzPts val="2590"/>
            </a:pPr>
            <a:r>
              <a:rPr lang="en-US" dirty="0">
                <a:latin typeface="Courier New"/>
                <a:ea typeface="Courier New"/>
                <a:cs typeface="Courier New"/>
                <a:sym typeface="Courier New"/>
              </a:rPr>
              <a:t>this() </a:t>
            </a:r>
            <a:r>
              <a:rPr lang="en-US" dirty="0">
                <a:latin typeface="+mn-lt"/>
                <a:ea typeface="Courier New"/>
                <a:cs typeface="Courier New"/>
                <a:sym typeface="Courier New"/>
              </a:rPr>
              <a:t>can be used in place of </a:t>
            </a:r>
            <a:r>
              <a:rPr lang="en-US" dirty="0">
                <a:latin typeface="Courier New"/>
                <a:ea typeface="Courier New"/>
                <a:cs typeface="Courier New"/>
                <a:sym typeface="Courier New"/>
              </a:rPr>
              <a:t>super- </a:t>
            </a:r>
            <a:r>
              <a:rPr lang="en-US" dirty="0">
                <a:latin typeface="+mn-lt"/>
                <a:ea typeface="Courier New"/>
                <a:cs typeface="Courier New"/>
                <a:sym typeface="Courier New"/>
              </a:rPr>
              <a:t>it must be the first instruction of the constructor. </a:t>
            </a:r>
            <a:endParaRPr lang="en-US" sz="2590" dirty="0"/>
          </a:p>
        </p:txBody>
      </p:sp>
    </p:spTree>
    <p:extLst>
      <p:ext uri="{BB962C8B-B14F-4D97-AF65-F5344CB8AC3E}">
        <p14:creationId xmlns:p14="http://schemas.microsoft.com/office/powerpoint/2010/main" val="272493916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25"/>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dirty="0"/>
              <a:t>Pitfalls of Constructors:</a:t>
            </a:r>
            <a:endParaRPr dirty="0"/>
          </a:p>
        </p:txBody>
      </p:sp>
      <p:sp>
        <p:nvSpPr>
          <p:cNvPr id="281" name="Google Shape;281;p25"/>
          <p:cNvSpPr txBox="1">
            <a:spLocks noGrp="1"/>
          </p:cNvSpPr>
          <p:nvPr>
            <p:ph type="body" idx="1"/>
          </p:nvPr>
        </p:nvSpPr>
        <p:spPr>
          <a:xfrm>
            <a:off x="380010" y="2811780"/>
            <a:ext cx="8383980" cy="1645920"/>
          </a:xfrm>
          <a:prstGeom prst="rect">
            <a:avLst/>
          </a:prstGeom>
          <a:noFill/>
          <a:ln>
            <a:noFill/>
          </a:ln>
        </p:spPr>
        <p:txBody>
          <a:bodyPr spcFirstLastPara="1" wrap="square" lIns="91425" tIns="45700" rIns="91425" bIns="45700" anchor="t" anchorCtr="0">
            <a:noAutofit/>
          </a:bodyPr>
          <a:lstStyle/>
          <a:p>
            <a:pPr marL="0" lvl="0" indent="0" algn="l" rtl="0">
              <a:lnSpc>
                <a:spcPct val="80000"/>
              </a:lnSpc>
              <a:spcBef>
                <a:spcPts val="350"/>
              </a:spcBef>
              <a:spcAft>
                <a:spcPts val="0"/>
              </a:spcAft>
              <a:buSzPts val="1750"/>
              <a:buNone/>
            </a:pPr>
            <a:endParaRPr sz="1750" dirty="0">
              <a:latin typeface="Courier New"/>
              <a:ea typeface="Courier New"/>
              <a:cs typeface="Courier New"/>
              <a:sym typeface="Courier New"/>
            </a:endParaRPr>
          </a:p>
          <a:p>
            <a:pPr marL="342900" lvl="0" indent="-342900" algn="l" rtl="0">
              <a:lnSpc>
                <a:spcPct val="80000"/>
              </a:lnSpc>
              <a:spcBef>
                <a:spcPts val="350"/>
              </a:spcBef>
              <a:spcAft>
                <a:spcPts val="0"/>
              </a:spcAft>
              <a:buSzPts val="1750"/>
              <a:buChar char="•"/>
            </a:pPr>
            <a:r>
              <a:rPr lang="en-US" sz="1750" dirty="0">
                <a:latin typeface="Arial"/>
                <a:ea typeface="Arial"/>
                <a:cs typeface="Arial"/>
                <a:sym typeface="Arial"/>
              </a:rPr>
              <a:t>Animal has a constructor defined, so it doesn’t get the default no-</a:t>
            </a:r>
            <a:r>
              <a:rPr lang="en-US" sz="1750" dirty="0" err="1">
                <a:latin typeface="Arial"/>
                <a:ea typeface="Arial"/>
                <a:cs typeface="Arial"/>
                <a:sym typeface="Arial"/>
              </a:rPr>
              <a:t>arg</a:t>
            </a:r>
            <a:r>
              <a:rPr lang="en-US" sz="1750" dirty="0">
                <a:latin typeface="Arial"/>
                <a:ea typeface="Arial"/>
                <a:cs typeface="Arial"/>
                <a:sym typeface="Arial"/>
              </a:rPr>
              <a:t> constructor. </a:t>
            </a:r>
            <a:endParaRPr dirty="0"/>
          </a:p>
          <a:p>
            <a:pPr marL="342900" lvl="0" indent="-342900" algn="l" rtl="0">
              <a:lnSpc>
                <a:spcPct val="80000"/>
              </a:lnSpc>
              <a:spcBef>
                <a:spcPts val="350"/>
              </a:spcBef>
              <a:spcAft>
                <a:spcPts val="0"/>
              </a:spcAft>
              <a:buSzPts val="1750"/>
              <a:buChar char="•"/>
            </a:pPr>
            <a:r>
              <a:rPr lang="en-US" sz="1750" dirty="0">
                <a:latin typeface="Arial"/>
                <a:ea typeface="Arial"/>
                <a:cs typeface="Arial"/>
                <a:sym typeface="Arial"/>
              </a:rPr>
              <a:t>Dog is given a default no-</a:t>
            </a:r>
            <a:r>
              <a:rPr lang="en-US" sz="1750" dirty="0" err="1">
                <a:latin typeface="Arial"/>
                <a:ea typeface="Arial"/>
                <a:cs typeface="Arial"/>
                <a:sym typeface="Arial"/>
              </a:rPr>
              <a:t>arg</a:t>
            </a:r>
            <a:r>
              <a:rPr lang="en-US" sz="1750" dirty="0">
                <a:latin typeface="Arial"/>
                <a:ea typeface="Arial"/>
                <a:cs typeface="Arial"/>
                <a:sym typeface="Arial"/>
              </a:rPr>
              <a:t> constructor. The default constructor will call super().</a:t>
            </a:r>
            <a:endParaRPr dirty="0"/>
          </a:p>
          <a:p>
            <a:pPr marL="342900" lvl="0" indent="-342900" algn="l" rtl="0">
              <a:lnSpc>
                <a:spcPct val="80000"/>
              </a:lnSpc>
              <a:spcBef>
                <a:spcPts val="350"/>
              </a:spcBef>
              <a:spcAft>
                <a:spcPts val="0"/>
              </a:spcAft>
              <a:buSzPts val="1750"/>
              <a:buChar char="•"/>
            </a:pPr>
            <a:r>
              <a:rPr lang="en-US" sz="1750" dirty="0">
                <a:latin typeface="Arial"/>
                <a:ea typeface="Arial"/>
                <a:cs typeface="Arial"/>
                <a:sym typeface="Arial"/>
              </a:rPr>
              <a:t>super() is undefined, because no no-</a:t>
            </a:r>
            <a:r>
              <a:rPr lang="en-US" sz="1750" dirty="0" err="1">
                <a:latin typeface="Arial"/>
                <a:ea typeface="Arial"/>
                <a:cs typeface="Arial"/>
                <a:sym typeface="Arial"/>
              </a:rPr>
              <a:t>arg</a:t>
            </a:r>
            <a:r>
              <a:rPr lang="en-US" sz="1750" dirty="0">
                <a:latin typeface="Arial"/>
                <a:ea typeface="Arial"/>
                <a:cs typeface="Arial"/>
                <a:sym typeface="Arial"/>
              </a:rPr>
              <a:t> constructor exists for Animal</a:t>
            </a:r>
            <a:endParaRPr dirty="0"/>
          </a:p>
          <a:p>
            <a:pPr marL="342900" lvl="0" indent="-231775" algn="l" rtl="0">
              <a:lnSpc>
                <a:spcPct val="80000"/>
              </a:lnSpc>
              <a:spcBef>
                <a:spcPts val="350"/>
              </a:spcBef>
              <a:spcAft>
                <a:spcPts val="0"/>
              </a:spcAft>
              <a:buSzPts val="1750"/>
              <a:buNone/>
            </a:pPr>
            <a:endParaRPr sz="1750" dirty="0">
              <a:latin typeface="Arial"/>
              <a:ea typeface="Arial"/>
              <a:cs typeface="Arial"/>
              <a:sym typeface="Arial"/>
            </a:endParaRPr>
          </a:p>
          <a:p>
            <a:pPr marL="0" lvl="0" indent="0" algn="l" rtl="0">
              <a:lnSpc>
                <a:spcPct val="80000"/>
              </a:lnSpc>
              <a:spcBef>
                <a:spcPts val="350"/>
              </a:spcBef>
              <a:spcAft>
                <a:spcPts val="0"/>
              </a:spcAft>
              <a:buSzPts val="1750"/>
              <a:buNone/>
            </a:pPr>
            <a:endParaRPr sz="1750" dirty="0">
              <a:latin typeface="Arial"/>
              <a:ea typeface="Arial"/>
              <a:cs typeface="Arial"/>
              <a:sym typeface="Arial"/>
            </a:endParaRPr>
          </a:p>
        </p:txBody>
      </p:sp>
      <p:sp>
        <p:nvSpPr>
          <p:cNvPr id="282" name="Google Shape;282;p25"/>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71</a:t>
            </a:fld>
            <a:endParaRPr/>
          </a:p>
        </p:txBody>
      </p:sp>
      <p:sp>
        <p:nvSpPr>
          <p:cNvPr id="2" name="Rectangle 1">
            <a:extLst>
              <a:ext uri="{FF2B5EF4-FFF2-40B4-BE49-F238E27FC236}">
                <a16:creationId xmlns:a16="http://schemas.microsoft.com/office/drawing/2014/main" id="{7C916B91-FBFE-44C4-91A1-23342A3EAF84}"/>
              </a:ext>
            </a:extLst>
          </p:cNvPr>
          <p:cNvSpPr/>
          <p:nvPr/>
        </p:nvSpPr>
        <p:spPr>
          <a:xfrm>
            <a:off x="738150" y="1354639"/>
            <a:ext cx="5754090" cy="164592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lvl="0">
              <a:lnSpc>
                <a:spcPct val="80000"/>
              </a:lnSpc>
              <a:buSzPts val="1750"/>
            </a:pPr>
            <a:r>
              <a:rPr lang="en-US" dirty="0">
                <a:latin typeface="Courier New"/>
                <a:ea typeface="Courier New"/>
                <a:cs typeface="Courier New"/>
                <a:sym typeface="Courier New"/>
              </a:rPr>
              <a:t>public class Animal {</a:t>
            </a:r>
            <a:endParaRPr lang="en-US" dirty="0"/>
          </a:p>
          <a:p>
            <a:pPr lvl="0">
              <a:lnSpc>
                <a:spcPct val="80000"/>
              </a:lnSpc>
              <a:spcBef>
                <a:spcPts val="350"/>
              </a:spcBef>
              <a:buSzPts val="1750"/>
            </a:pPr>
            <a:r>
              <a:rPr lang="en-US" dirty="0">
                <a:latin typeface="Courier New"/>
                <a:ea typeface="Courier New"/>
                <a:cs typeface="Courier New"/>
                <a:sym typeface="Courier New"/>
              </a:rPr>
              <a:t>    public Animal(String name) {}</a:t>
            </a:r>
            <a:endParaRPr lang="en-US" dirty="0"/>
          </a:p>
          <a:p>
            <a:pPr lvl="0">
              <a:lnSpc>
                <a:spcPct val="80000"/>
              </a:lnSpc>
              <a:spcBef>
                <a:spcPts val="350"/>
              </a:spcBef>
              <a:buSzPts val="1750"/>
            </a:pPr>
            <a:r>
              <a:rPr lang="en-US" dirty="0">
                <a:latin typeface="Courier New"/>
                <a:ea typeface="Courier New"/>
                <a:cs typeface="Courier New"/>
                <a:sym typeface="Courier New"/>
              </a:rPr>
              <a:t>}</a:t>
            </a:r>
            <a:endParaRPr lang="en-US" dirty="0"/>
          </a:p>
          <a:p>
            <a:pPr lvl="0">
              <a:lnSpc>
                <a:spcPct val="80000"/>
              </a:lnSpc>
              <a:spcBef>
                <a:spcPts val="350"/>
              </a:spcBef>
              <a:buSzPts val="1750"/>
            </a:pPr>
            <a:endParaRPr lang="en-US" dirty="0">
              <a:latin typeface="Courier New"/>
              <a:ea typeface="Courier New"/>
              <a:cs typeface="Courier New"/>
              <a:sym typeface="Courier New"/>
            </a:endParaRPr>
          </a:p>
          <a:p>
            <a:pPr lvl="0">
              <a:lnSpc>
                <a:spcPct val="80000"/>
              </a:lnSpc>
              <a:spcBef>
                <a:spcPts val="350"/>
              </a:spcBef>
              <a:buSzPts val="1750"/>
            </a:pPr>
            <a:r>
              <a:rPr lang="en-US" dirty="0">
                <a:latin typeface="Courier New"/>
                <a:ea typeface="Courier New"/>
                <a:cs typeface="Courier New"/>
                <a:sym typeface="Courier New"/>
              </a:rPr>
              <a:t>public class Dog extends Animal {}</a:t>
            </a:r>
            <a:endParaRPr lang="en-US" dirty="0"/>
          </a:p>
          <a:p>
            <a:pPr algn="ctr"/>
            <a:endParaRPr lang="en-US" dirty="0"/>
          </a:p>
        </p:txBody>
      </p:sp>
      <p:sp>
        <p:nvSpPr>
          <p:cNvPr id="3" name="Rectangle 2">
            <a:extLst>
              <a:ext uri="{FF2B5EF4-FFF2-40B4-BE49-F238E27FC236}">
                <a16:creationId xmlns:a16="http://schemas.microsoft.com/office/drawing/2014/main" id="{1693FFE3-2EBC-4975-A4D8-4AD3DA19414E}"/>
              </a:ext>
            </a:extLst>
          </p:cNvPr>
          <p:cNvSpPr/>
          <p:nvPr/>
        </p:nvSpPr>
        <p:spPr>
          <a:xfrm>
            <a:off x="738150" y="4579620"/>
            <a:ext cx="6737070" cy="185166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lvl="0">
              <a:lnSpc>
                <a:spcPct val="80000"/>
              </a:lnSpc>
              <a:spcBef>
                <a:spcPts val="350"/>
              </a:spcBef>
              <a:buSzPts val="1750"/>
            </a:pPr>
            <a:r>
              <a:rPr lang="en-US" dirty="0">
                <a:latin typeface="Courier New"/>
                <a:ea typeface="Courier New"/>
                <a:cs typeface="Courier New"/>
                <a:sym typeface="Courier New"/>
              </a:rPr>
              <a:t>public class Dog extends Animal {</a:t>
            </a:r>
            <a:br>
              <a:rPr lang="en-US" dirty="0">
                <a:latin typeface="Courier New"/>
                <a:ea typeface="Courier New"/>
                <a:cs typeface="Courier New"/>
                <a:sym typeface="Courier New"/>
              </a:rPr>
            </a:br>
            <a:r>
              <a:rPr lang="en-US" dirty="0">
                <a:latin typeface="Courier New"/>
                <a:ea typeface="Courier New"/>
                <a:cs typeface="Courier New"/>
                <a:sym typeface="Courier New"/>
              </a:rPr>
              <a:t>    </a:t>
            </a:r>
          </a:p>
          <a:p>
            <a:pPr lvl="0">
              <a:lnSpc>
                <a:spcPct val="80000"/>
              </a:lnSpc>
              <a:spcBef>
                <a:spcPts val="350"/>
              </a:spcBef>
              <a:buSzPts val="1750"/>
            </a:pPr>
            <a:r>
              <a:rPr lang="en-US" dirty="0">
                <a:latin typeface="Courier New"/>
                <a:ea typeface="Courier New"/>
                <a:cs typeface="Courier New"/>
                <a:sym typeface="Courier New"/>
              </a:rPr>
              <a:t>    public Dog(String name) {</a:t>
            </a:r>
          </a:p>
          <a:p>
            <a:pPr lvl="0">
              <a:lnSpc>
                <a:spcPct val="80000"/>
              </a:lnSpc>
              <a:spcBef>
                <a:spcPts val="350"/>
              </a:spcBef>
              <a:buSzPts val="1750"/>
            </a:pPr>
            <a:r>
              <a:rPr lang="en-US" dirty="0">
                <a:latin typeface="Courier New"/>
                <a:ea typeface="Courier New"/>
                <a:cs typeface="Courier New"/>
                <a:sym typeface="Courier New"/>
              </a:rPr>
              <a:t>	super(name); // calls Animal(String)</a:t>
            </a:r>
          </a:p>
          <a:p>
            <a:pPr lvl="0">
              <a:lnSpc>
                <a:spcPct val="80000"/>
              </a:lnSpc>
              <a:spcBef>
                <a:spcPts val="350"/>
              </a:spcBef>
              <a:buSzPts val="1750"/>
            </a:pPr>
            <a:r>
              <a:rPr lang="en-US" dirty="0">
                <a:latin typeface="Courier New"/>
                <a:ea typeface="Courier New"/>
                <a:cs typeface="Courier New"/>
                <a:sym typeface="Courier New"/>
              </a:rPr>
              <a:t>    }</a:t>
            </a:r>
            <a:endParaRPr lang="en-US" dirty="0"/>
          </a:p>
          <a:p>
            <a:pPr lvl="0">
              <a:lnSpc>
                <a:spcPct val="80000"/>
              </a:lnSpc>
              <a:spcBef>
                <a:spcPts val="350"/>
              </a:spcBef>
              <a:buSzPts val="1750"/>
            </a:pPr>
            <a:r>
              <a:rPr lang="en-US" dirty="0">
                <a:latin typeface="Courier New"/>
                <a:ea typeface="Courier New"/>
                <a:cs typeface="Courier New"/>
                <a:sym typeface="Courier New"/>
              </a:rPr>
              <a:t>    // You could also call a constructor in the same class:</a:t>
            </a:r>
            <a:endParaRPr lang="en-US" dirty="0"/>
          </a:p>
          <a:p>
            <a:pPr lvl="0">
              <a:lnSpc>
                <a:spcPct val="80000"/>
              </a:lnSpc>
              <a:spcBef>
                <a:spcPts val="350"/>
              </a:spcBef>
              <a:buSzPts val="1750"/>
            </a:pPr>
            <a:r>
              <a:rPr lang="en-US" dirty="0">
                <a:latin typeface="Courier New"/>
                <a:ea typeface="Courier New"/>
                <a:cs typeface="Courier New"/>
                <a:sym typeface="Courier New"/>
              </a:rPr>
              <a:t>    public Dog() { this(“</a:t>
            </a:r>
            <a:r>
              <a:rPr lang="en-US" dirty="0" err="1">
                <a:latin typeface="Courier New"/>
                <a:ea typeface="Courier New"/>
                <a:cs typeface="Courier New"/>
                <a:sym typeface="Courier New"/>
              </a:rPr>
              <a:t>fido</a:t>
            </a:r>
            <a:r>
              <a:rPr lang="en-US" dirty="0">
                <a:latin typeface="Courier New"/>
                <a:ea typeface="Courier New"/>
                <a:cs typeface="Courier New"/>
                <a:sym typeface="Courier New"/>
              </a:rPr>
              <a:t>”); } // gives a default value</a:t>
            </a:r>
            <a:br>
              <a:rPr lang="en-US" dirty="0">
                <a:latin typeface="Courier New"/>
                <a:ea typeface="Courier New"/>
                <a:cs typeface="Courier New"/>
                <a:sym typeface="Courier New"/>
              </a:rPr>
            </a:br>
            <a:r>
              <a:rPr lang="en-US" dirty="0">
                <a:latin typeface="Courier New"/>
                <a:ea typeface="Courier New"/>
                <a:cs typeface="Courier New"/>
                <a:sym typeface="Courier New"/>
              </a:rPr>
              <a:t>}</a:t>
            </a:r>
            <a:endParaRPr lang="en-US" dirty="0"/>
          </a:p>
          <a:p>
            <a:pPr algn="ctr"/>
            <a:endParaRPr lang="en-US" dirty="0"/>
          </a:p>
        </p:txBody>
      </p:sp>
      <mc:AlternateContent xmlns:mc="http://schemas.openxmlformats.org/markup-compatibility/2006" xmlns:p14="http://schemas.microsoft.com/office/powerpoint/2010/main">
        <mc:Choice Requires="p14">
          <p:contentPart p14:bwMode="auto" r:id="rId3">
            <p14:nvContentPartPr>
              <p14:cNvPr id="15" name="Ink 14">
                <a:extLst>
                  <a:ext uri="{FF2B5EF4-FFF2-40B4-BE49-F238E27FC236}">
                    <a16:creationId xmlns:a16="http://schemas.microsoft.com/office/drawing/2014/main" id="{08F9D2BF-B05C-47E8-AC2A-7C829632562D}"/>
                  </a:ext>
                </a:extLst>
              </p14:cNvPr>
              <p14:cNvContentPartPr/>
              <p14:nvPr/>
            </p14:nvContentPartPr>
            <p14:xfrm>
              <a:off x="7878720" y="6255540"/>
              <a:ext cx="360" cy="360"/>
            </p14:xfrm>
          </p:contentPart>
        </mc:Choice>
        <mc:Fallback xmlns="">
          <p:pic>
            <p:nvPicPr>
              <p:cNvPr id="15" name="Ink 14">
                <a:extLst>
                  <a:ext uri="{FF2B5EF4-FFF2-40B4-BE49-F238E27FC236}">
                    <a16:creationId xmlns:a16="http://schemas.microsoft.com/office/drawing/2014/main" id="{08F9D2BF-B05C-47E8-AC2A-7C829632562D}"/>
                  </a:ext>
                </a:extLst>
              </p:cNvPr>
              <p:cNvPicPr/>
              <p:nvPr/>
            </p:nvPicPr>
            <p:blipFill>
              <a:blip r:embed="rId4"/>
              <a:stretch>
                <a:fillRect/>
              </a:stretch>
            </p:blipFill>
            <p:spPr>
              <a:xfrm>
                <a:off x="7869720" y="6246900"/>
                <a:ext cx="18000" cy="18000"/>
              </a:xfrm>
              <a:prstGeom prst="rect">
                <a:avLst/>
              </a:prstGeom>
            </p:spPr>
          </p:pic>
        </mc:Fallback>
      </mc:AlternateContent>
      <p:grpSp>
        <p:nvGrpSpPr>
          <p:cNvPr id="279" name="Group 278">
            <a:extLst>
              <a:ext uri="{FF2B5EF4-FFF2-40B4-BE49-F238E27FC236}">
                <a16:creationId xmlns:a16="http://schemas.microsoft.com/office/drawing/2014/main" id="{8B1DA3C7-4219-43CA-A2AE-4671BDDEF974}"/>
              </a:ext>
            </a:extLst>
          </p:cNvPr>
          <p:cNvGrpSpPr/>
          <p:nvPr/>
        </p:nvGrpSpPr>
        <p:grpSpPr>
          <a:xfrm>
            <a:off x="792480" y="2093220"/>
            <a:ext cx="8117152" cy="4320720"/>
            <a:chOff x="792480" y="2093220"/>
            <a:chExt cx="8117152" cy="4320720"/>
          </a:xfrm>
        </p:grpSpPr>
        <p:sp>
          <p:nvSpPr>
            <p:cNvPr id="4" name="Rectangle: Rounded Corners 3">
              <a:extLst>
                <a:ext uri="{FF2B5EF4-FFF2-40B4-BE49-F238E27FC236}">
                  <a16:creationId xmlns:a16="http://schemas.microsoft.com/office/drawing/2014/main" id="{1AD10735-6E6E-4C74-A7DA-2C85E18652EE}"/>
                </a:ext>
              </a:extLst>
            </p:cNvPr>
            <p:cNvSpPr/>
            <p:nvPr/>
          </p:nvSpPr>
          <p:spPr>
            <a:xfrm>
              <a:off x="792480" y="2362200"/>
              <a:ext cx="3718560" cy="274320"/>
            </a:xfrm>
            <a:prstGeom prst="roundRect">
              <a:avLst/>
            </a:prstGeom>
            <a:solidFill>
              <a:schemeClr val="accent1">
                <a:alpha val="1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0C475597-5BB2-47E3-9438-579BF697A2E7}"/>
                    </a:ext>
                  </a:extLst>
                </p14:cNvPr>
                <p14:cNvContentPartPr/>
                <p14:nvPr/>
              </p14:nvContentPartPr>
              <p14:xfrm>
                <a:off x="4518840" y="2093220"/>
                <a:ext cx="4067640" cy="3287880"/>
              </p14:xfrm>
            </p:contentPart>
          </mc:Choice>
          <mc:Fallback xmlns="">
            <p:pic>
              <p:nvPicPr>
                <p:cNvPr id="5" name="Ink 4">
                  <a:extLst>
                    <a:ext uri="{FF2B5EF4-FFF2-40B4-BE49-F238E27FC236}">
                      <a16:creationId xmlns:a16="http://schemas.microsoft.com/office/drawing/2014/main" id="{0C475597-5BB2-47E3-9438-579BF697A2E7}"/>
                    </a:ext>
                  </a:extLst>
                </p:cNvPr>
                <p:cNvPicPr/>
                <p:nvPr/>
              </p:nvPicPr>
              <p:blipFill>
                <a:blip r:embed="rId6"/>
                <a:stretch>
                  <a:fillRect/>
                </a:stretch>
              </p:blipFill>
              <p:spPr>
                <a:xfrm>
                  <a:off x="4510200" y="2084580"/>
                  <a:ext cx="4085280" cy="33055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9" name="Ink 8">
                  <a:extLst>
                    <a:ext uri="{FF2B5EF4-FFF2-40B4-BE49-F238E27FC236}">
                      <a16:creationId xmlns:a16="http://schemas.microsoft.com/office/drawing/2014/main" id="{257546D1-00C0-4EF2-9E02-38C42E8C4CF1}"/>
                    </a:ext>
                  </a:extLst>
                </p14:cNvPr>
                <p14:cNvContentPartPr/>
                <p14:nvPr/>
              </p14:nvContentPartPr>
              <p14:xfrm>
                <a:off x="6672000" y="4689540"/>
                <a:ext cx="899640" cy="1724400"/>
              </p14:xfrm>
            </p:contentPart>
          </mc:Choice>
          <mc:Fallback xmlns="">
            <p:pic>
              <p:nvPicPr>
                <p:cNvPr id="9" name="Ink 8">
                  <a:extLst>
                    <a:ext uri="{FF2B5EF4-FFF2-40B4-BE49-F238E27FC236}">
                      <a16:creationId xmlns:a16="http://schemas.microsoft.com/office/drawing/2014/main" id="{257546D1-00C0-4EF2-9E02-38C42E8C4CF1}"/>
                    </a:ext>
                  </a:extLst>
                </p:cNvPr>
                <p:cNvPicPr/>
                <p:nvPr/>
              </p:nvPicPr>
              <p:blipFill>
                <a:blip r:embed="rId8"/>
                <a:stretch>
                  <a:fillRect/>
                </a:stretch>
              </p:blipFill>
              <p:spPr>
                <a:xfrm>
                  <a:off x="6663360" y="4680540"/>
                  <a:ext cx="917280" cy="17420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7" name="Ink 56">
                  <a:extLst>
                    <a:ext uri="{FF2B5EF4-FFF2-40B4-BE49-F238E27FC236}">
                      <a16:creationId xmlns:a16="http://schemas.microsoft.com/office/drawing/2014/main" id="{F097CAC7-1B0E-4E58-B7C3-CD8C24870384}"/>
                    </a:ext>
                  </a:extLst>
                </p14:cNvPr>
                <p14:cNvContentPartPr/>
                <p14:nvPr/>
              </p14:nvContentPartPr>
              <p14:xfrm rot="700628">
                <a:off x="7174090" y="4497651"/>
                <a:ext cx="1438514" cy="765990"/>
              </p14:xfrm>
            </p:contentPart>
          </mc:Choice>
          <mc:Fallback xmlns="">
            <p:pic>
              <p:nvPicPr>
                <p:cNvPr id="57" name="Ink 56">
                  <a:extLst>
                    <a:ext uri="{FF2B5EF4-FFF2-40B4-BE49-F238E27FC236}">
                      <a16:creationId xmlns:a16="http://schemas.microsoft.com/office/drawing/2014/main" id="{F097CAC7-1B0E-4E58-B7C3-CD8C24870384}"/>
                    </a:ext>
                  </a:extLst>
                </p:cNvPr>
                <p:cNvPicPr/>
                <p:nvPr/>
              </p:nvPicPr>
              <p:blipFill>
                <a:blip r:embed="rId10"/>
                <a:stretch>
                  <a:fillRect/>
                </a:stretch>
              </p:blipFill>
              <p:spPr>
                <a:xfrm rot="700628">
                  <a:off x="7165093" y="4489012"/>
                  <a:ext cx="1456149" cy="783628"/>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76" name="Ink 275">
                  <a:extLst>
                    <a:ext uri="{FF2B5EF4-FFF2-40B4-BE49-F238E27FC236}">
                      <a16:creationId xmlns:a16="http://schemas.microsoft.com/office/drawing/2014/main" id="{9061A2B3-4972-40C3-9EFF-1F597D0B5BEC}"/>
                    </a:ext>
                  </a:extLst>
                </p14:cNvPr>
                <p14:cNvContentPartPr/>
                <p14:nvPr/>
              </p14:nvContentPartPr>
              <p14:xfrm>
                <a:off x="8197552" y="5324846"/>
                <a:ext cx="712080" cy="672840"/>
              </p14:xfrm>
            </p:contentPart>
          </mc:Choice>
          <mc:Fallback xmlns="">
            <p:pic>
              <p:nvPicPr>
                <p:cNvPr id="276" name="Ink 275">
                  <a:extLst>
                    <a:ext uri="{FF2B5EF4-FFF2-40B4-BE49-F238E27FC236}">
                      <a16:creationId xmlns:a16="http://schemas.microsoft.com/office/drawing/2014/main" id="{9061A2B3-4972-40C3-9EFF-1F597D0B5BEC}"/>
                    </a:ext>
                  </a:extLst>
                </p:cNvPr>
                <p:cNvPicPr/>
                <p:nvPr/>
              </p:nvPicPr>
              <p:blipFill>
                <a:blip r:embed="rId12"/>
                <a:stretch>
                  <a:fillRect/>
                </a:stretch>
              </p:blipFill>
              <p:spPr>
                <a:xfrm>
                  <a:off x="8188908" y="5316201"/>
                  <a:ext cx="729729" cy="690489"/>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
            <p14:nvContentPartPr>
              <p14:cNvPr id="283" name="Ink 282">
                <a:extLst>
                  <a:ext uri="{FF2B5EF4-FFF2-40B4-BE49-F238E27FC236}">
                    <a16:creationId xmlns:a16="http://schemas.microsoft.com/office/drawing/2014/main" id="{3F0C181F-A079-49BB-92CF-3555731D22AE}"/>
                  </a:ext>
                </a:extLst>
              </p14:cNvPr>
              <p14:cNvContentPartPr/>
              <p14:nvPr/>
            </p14:nvContentPartPr>
            <p14:xfrm>
              <a:off x="3029526" y="5460692"/>
              <a:ext cx="1360800" cy="506520"/>
            </p14:xfrm>
          </p:contentPart>
        </mc:Choice>
        <mc:Fallback xmlns="">
          <p:pic>
            <p:nvPicPr>
              <p:cNvPr id="283" name="Ink 282">
                <a:extLst>
                  <a:ext uri="{FF2B5EF4-FFF2-40B4-BE49-F238E27FC236}">
                    <a16:creationId xmlns:a16="http://schemas.microsoft.com/office/drawing/2014/main" id="{3F0C181F-A079-49BB-92CF-3555731D22AE}"/>
                  </a:ext>
                </a:extLst>
              </p:cNvPr>
              <p:cNvPicPr/>
              <p:nvPr/>
            </p:nvPicPr>
            <p:blipFill>
              <a:blip r:embed="rId14"/>
              <a:stretch>
                <a:fillRect/>
              </a:stretch>
            </p:blipFill>
            <p:spPr>
              <a:xfrm>
                <a:off x="3020526" y="5451692"/>
                <a:ext cx="1378440" cy="5241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89" name="Ink 288">
                <a:extLst>
                  <a:ext uri="{FF2B5EF4-FFF2-40B4-BE49-F238E27FC236}">
                    <a16:creationId xmlns:a16="http://schemas.microsoft.com/office/drawing/2014/main" id="{3F4AAFEC-D28C-4D99-A92B-C6AEA970060A}"/>
                  </a:ext>
                </a:extLst>
              </p14:cNvPr>
              <p14:cNvContentPartPr/>
              <p14:nvPr/>
            </p14:nvContentPartPr>
            <p14:xfrm>
              <a:off x="2940150" y="5381850"/>
              <a:ext cx="118440" cy="127440"/>
            </p14:xfrm>
          </p:contentPart>
        </mc:Choice>
        <mc:Fallback xmlns="">
          <p:pic>
            <p:nvPicPr>
              <p:cNvPr id="289" name="Ink 288">
                <a:extLst>
                  <a:ext uri="{FF2B5EF4-FFF2-40B4-BE49-F238E27FC236}">
                    <a16:creationId xmlns:a16="http://schemas.microsoft.com/office/drawing/2014/main" id="{3F4AAFEC-D28C-4D99-A92B-C6AEA970060A}"/>
                  </a:ext>
                </a:extLst>
              </p:cNvPr>
              <p:cNvPicPr/>
              <p:nvPr/>
            </p:nvPicPr>
            <p:blipFill>
              <a:blip r:embed="rId16"/>
              <a:stretch>
                <a:fillRect/>
              </a:stretch>
            </p:blipFill>
            <p:spPr>
              <a:xfrm>
                <a:off x="2931150" y="5372825"/>
                <a:ext cx="136080" cy="14513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iterate type="lt">
                                    <p:tmAbs val="0"/>
                                  </p:iterate>
                                  <p:childTnLst>
                                    <p:set>
                                      <p:cBhvr>
                                        <p:cTn id="3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3" end="3"/>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
                                            <p:txEl>
                                              <p:pRg st="4" end="4"/>
                                            </p:txEl>
                                          </p:spTgt>
                                        </p:tgtEl>
                                        <p:attrNameLst>
                                          <p:attrName>style.visibility</p:attrName>
                                        </p:attrNameLst>
                                      </p:cBhvr>
                                      <p:to>
                                        <p:strVal val="visible"/>
                                      </p:to>
                                    </p:set>
                                  </p:childTnLst>
                                </p:cTn>
                              </p:par>
                              <p:par>
                                <p:cTn id="45" presetID="1" presetClass="entr" presetSubtype="0" fill="hold" nodeType="withEffect">
                                  <p:stCondLst>
                                    <p:cond delay="0"/>
                                  </p:stCondLst>
                                  <p:iterate type="lt">
                                    <p:tmAbs val="0"/>
                                  </p:iterate>
                                  <p:childTnLst>
                                    <p:set>
                                      <p:cBhvr>
                                        <p:cTn id="4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5" presetClass="emph" presetSubtype="0" nodeType="clickEffect">
                                  <p:stCondLst>
                                    <p:cond delay="0"/>
                                  </p:stCondLst>
                                  <p:iterate type="lt">
                                    <p:tmAbs val="25"/>
                                  </p:iterate>
                                  <p:childTnLst>
                                    <p:set>
                                      <p:cBhvr override="childStyle">
                                        <p:cTn id="50" dur="indefinite"/>
                                        <p:tgtEl>
                                          <p:spTgt spid="3">
                                            <p:txEl>
                                              <p:pRg st="5" end="5"/>
                                            </p:txEl>
                                          </p:spTgt>
                                        </p:tgtEl>
                                        <p:attrNameLst>
                                          <p:attrName>style.fontWeight</p:attrName>
                                        </p:attrNameLst>
                                      </p:cBhvr>
                                      <p:to>
                                        <p:strVal val="bold"/>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89"/>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83"/>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5" presetClass="emph" presetSubtype="0" nodeType="clickEffect">
                                  <p:stCondLst>
                                    <p:cond delay="0"/>
                                  </p:stCondLst>
                                  <p:iterate type="lt">
                                    <p:tmAbs val="25"/>
                                  </p:iterate>
                                  <p:childTnLst>
                                    <p:set>
                                      <p:cBhvr override="childStyle">
                                        <p:cTn id="60" dur="indefinite"/>
                                        <p:tgtEl>
                                          <p:spTgt spid="3">
                                            <p:txEl>
                                              <p:pRg st="2" end="2"/>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1" grpId="0" uiExpand="1" build="p"/>
      <p:bldP spid="2" grpId="0" animBg="1"/>
      <p:bldP spid="3"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B159C-F048-19C7-9224-AD994F1B08C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4B36748-E951-D2C5-A8EC-B21269344D41}"/>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72</a:t>
            </a:fld>
            <a:endParaRPr lang="en-US"/>
          </a:p>
        </p:txBody>
      </p:sp>
      <p:sp>
        <p:nvSpPr>
          <p:cNvPr id="4" name="Google Shape;212;p15">
            <a:extLst>
              <a:ext uri="{FF2B5EF4-FFF2-40B4-BE49-F238E27FC236}">
                <a16:creationId xmlns:a16="http://schemas.microsoft.com/office/drawing/2014/main" id="{E66371AE-63D6-6D7E-7FD4-C6AED053F861}"/>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Control Flow</a:t>
            </a:r>
          </a:p>
        </p:txBody>
      </p:sp>
      <p:pic>
        <p:nvPicPr>
          <p:cNvPr id="6" name="Picture 5">
            <a:extLst>
              <a:ext uri="{FF2B5EF4-FFF2-40B4-BE49-F238E27FC236}">
                <a16:creationId xmlns:a16="http://schemas.microsoft.com/office/drawing/2014/main" id="{6CAB4D08-BEFB-F3D4-14BA-C19AA4E3FBB7}"/>
              </a:ext>
            </a:extLst>
          </p:cNvPr>
          <p:cNvPicPr>
            <a:picLocks noChangeAspect="1"/>
          </p:cNvPicPr>
          <p:nvPr/>
        </p:nvPicPr>
        <p:blipFill>
          <a:blip r:embed="rId2"/>
          <a:stretch>
            <a:fillRect/>
          </a:stretch>
        </p:blipFill>
        <p:spPr>
          <a:xfrm>
            <a:off x="7036646" y="0"/>
            <a:ext cx="2107354" cy="773112"/>
          </a:xfrm>
          <a:prstGeom prst="rect">
            <a:avLst/>
          </a:prstGeom>
        </p:spPr>
      </p:pic>
    </p:spTree>
    <p:extLst>
      <p:ext uri="{BB962C8B-B14F-4D97-AF65-F5344CB8AC3E}">
        <p14:creationId xmlns:p14="http://schemas.microsoft.com/office/powerpoint/2010/main" val="176741863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ECB36-4711-44AC-A12F-382726921D61}"/>
              </a:ext>
            </a:extLst>
          </p:cNvPr>
          <p:cNvSpPr>
            <a:spLocks noGrp="1"/>
          </p:cNvSpPr>
          <p:nvPr>
            <p:ph type="title"/>
          </p:nvPr>
        </p:nvSpPr>
        <p:spPr/>
        <p:txBody>
          <a:bodyPr/>
          <a:lstStyle/>
          <a:p>
            <a:r>
              <a:rPr lang="en-US" dirty="0"/>
              <a:t>Conditional Statements</a:t>
            </a:r>
          </a:p>
        </p:txBody>
      </p:sp>
      <p:sp>
        <p:nvSpPr>
          <p:cNvPr id="3" name="Content Placeholder 2">
            <a:extLst>
              <a:ext uri="{FF2B5EF4-FFF2-40B4-BE49-F238E27FC236}">
                <a16:creationId xmlns:a16="http://schemas.microsoft.com/office/drawing/2014/main" id="{C9A57283-0D86-4BFA-B12E-49C146B5E35E}"/>
              </a:ext>
            </a:extLst>
          </p:cNvPr>
          <p:cNvSpPr>
            <a:spLocks noGrp="1"/>
          </p:cNvSpPr>
          <p:nvPr>
            <p:ph idx="1"/>
          </p:nvPr>
        </p:nvSpPr>
        <p:spPr>
          <a:xfrm>
            <a:off x="380010" y="1481446"/>
            <a:ext cx="8383980" cy="4882266"/>
          </a:xfrm>
        </p:spPr>
        <p:txBody>
          <a:bodyPr>
            <a:normAutofit fontScale="70000" lnSpcReduction="20000"/>
          </a:bodyPr>
          <a:lstStyle/>
          <a:p>
            <a:r>
              <a:rPr lang="en-US" dirty="0">
                <a:latin typeface="Courier New" panose="02070309020205020404" pitchFamily="49" charset="0"/>
                <a:cs typeface="Courier New" panose="02070309020205020404" pitchFamily="49" charset="0"/>
              </a:rPr>
              <a:t>if (</a:t>
            </a:r>
            <a:r>
              <a:rPr lang="en-US" i="1" dirty="0">
                <a:latin typeface="Courier New" panose="02070309020205020404" pitchFamily="49" charset="0"/>
                <a:cs typeface="Courier New" panose="02070309020205020404" pitchFamily="49" charset="0"/>
              </a:rPr>
              <a:t>expression</a:t>
            </a:r>
            <a:r>
              <a:rPr lang="en-US" dirty="0">
                <a:latin typeface="Courier New" panose="02070309020205020404" pitchFamily="49" charset="0"/>
                <a:cs typeface="Courier New" panose="02070309020205020404" pitchFamily="49" charset="0"/>
              </a:rPr>
              <a:t>) :</a:t>
            </a:r>
          </a:p>
          <a:p>
            <a:pPr lvl="1"/>
            <a:r>
              <a:rPr lang="en-US" dirty="0"/>
              <a:t>If the </a:t>
            </a:r>
            <a:r>
              <a:rPr lang="en-US" i="1" dirty="0"/>
              <a:t>expression</a:t>
            </a:r>
            <a:r>
              <a:rPr lang="en-US" dirty="0"/>
              <a:t> results in a </a:t>
            </a:r>
            <a:r>
              <a:rPr lang="en-US" dirty="0">
                <a:latin typeface="Courier New" panose="02070309020205020404" pitchFamily="49" charset="0"/>
                <a:cs typeface="Courier New" panose="02070309020205020404" pitchFamily="49" charset="0"/>
              </a:rPr>
              <a:t>true</a:t>
            </a:r>
            <a:r>
              <a:rPr lang="en-US" dirty="0"/>
              <a:t> </a:t>
            </a:r>
            <a:r>
              <a:rPr lang="en-US" dirty="0" err="1"/>
              <a:t>boolean</a:t>
            </a:r>
            <a:r>
              <a:rPr lang="en-US" dirty="0"/>
              <a:t> value, then execute the next statement or block of statements.</a:t>
            </a:r>
          </a:p>
          <a:p>
            <a:pPr marL="457200" lvl="1" indent="0">
              <a:buNone/>
            </a:pPr>
            <a:r>
              <a:rPr lang="en-US" dirty="0"/>
              <a:t>	</a:t>
            </a:r>
            <a:r>
              <a:rPr lang="en-US" dirty="0">
                <a:latin typeface="Courier New" panose="02070309020205020404" pitchFamily="49" charset="0"/>
                <a:cs typeface="Courier New" panose="02070309020205020404" pitchFamily="49" charset="0"/>
              </a:rPr>
              <a:t>if(x &gt; 5 &amp;&amp; x &lt;= 10)</a:t>
            </a:r>
            <a:endParaRPr lang="en-US" b="1" dirty="0">
              <a:latin typeface="Courier New" panose="02070309020205020404" pitchFamily="49" charset="0"/>
              <a:cs typeface="Courier New" panose="02070309020205020404" pitchFamily="49" charset="0"/>
            </a:endParaRPr>
          </a:p>
          <a:p>
            <a:pPr marL="457200" lvl="1" indent="0">
              <a:buNone/>
            </a:pPr>
            <a:r>
              <a:rPr lang="en-US" b="1" dirty="0">
                <a:latin typeface="Courier New" panose="02070309020205020404" pitchFamily="49" charset="0"/>
                <a:cs typeface="Courier New" panose="02070309020205020404" pitchFamily="49" charset="0"/>
              </a:rPr>
              <a:t>       x++;</a:t>
            </a:r>
            <a:br>
              <a:rPr lang="en-US" dirty="0">
                <a:latin typeface="Courier New" panose="02070309020205020404" pitchFamily="49" charset="0"/>
                <a:cs typeface="Courier New" panose="02070309020205020404" pitchFamily="49" charset="0"/>
              </a:rPr>
            </a:b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if(x &gt; 5 &amp;&amp; x &lt;= 10)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 do one thing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 do another thing</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t>
            </a:r>
          </a:p>
          <a:p>
            <a:r>
              <a:rPr lang="en-US" dirty="0">
                <a:latin typeface="Courier New" panose="02070309020205020404" pitchFamily="49" charset="0"/>
                <a:cs typeface="Courier New" panose="02070309020205020404" pitchFamily="49" charset="0"/>
              </a:rPr>
              <a:t>else :</a:t>
            </a:r>
          </a:p>
          <a:p>
            <a:pPr lvl="1"/>
            <a:r>
              <a:rPr lang="en-US" dirty="0"/>
              <a:t>If the </a:t>
            </a:r>
            <a:r>
              <a:rPr lang="en-US" i="1" dirty="0"/>
              <a:t>expression</a:t>
            </a:r>
            <a:r>
              <a:rPr lang="en-US" dirty="0"/>
              <a:t> results in a </a:t>
            </a:r>
            <a:r>
              <a:rPr lang="en-US" dirty="0">
                <a:latin typeface="Courier New" panose="02070309020205020404" pitchFamily="49" charset="0"/>
                <a:cs typeface="Courier New" panose="02070309020205020404" pitchFamily="49" charset="0"/>
              </a:rPr>
              <a:t>true</a:t>
            </a:r>
            <a:r>
              <a:rPr lang="en-US" dirty="0"/>
              <a:t> </a:t>
            </a:r>
            <a:r>
              <a:rPr lang="en-US" dirty="0" err="1"/>
              <a:t>boolean</a:t>
            </a:r>
            <a:r>
              <a:rPr lang="en-US" dirty="0"/>
              <a:t> value, then execute the next statement or block of statements. Otherwise execute the statement/block proceeding the </a:t>
            </a:r>
            <a:r>
              <a:rPr lang="en-US" dirty="0">
                <a:latin typeface="Courier New" panose="02070309020205020404" pitchFamily="49" charset="0"/>
                <a:cs typeface="Courier New" panose="02070309020205020404" pitchFamily="49" charset="0"/>
              </a:rPr>
              <a:t>else</a:t>
            </a:r>
            <a:r>
              <a:rPr lang="en-US" dirty="0"/>
              <a:t>.</a:t>
            </a:r>
          </a:p>
          <a:p>
            <a:pPr marL="457200" lvl="1" indent="0">
              <a:buNone/>
            </a:pPr>
            <a:r>
              <a:rPr lang="en-US" dirty="0">
                <a:latin typeface="+mn-lt"/>
                <a:cs typeface="Courier New" panose="02070309020205020404" pitchFamily="49" charset="0"/>
              </a:rPr>
              <a:t>	</a:t>
            </a:r>
            <a:r>
              <a:rPr lang="en-US" dirty="0">
                <a:latin typeface="Courier New" panose="02070309020205020404" pitchFamily="49" charset="0"/>
                <a:cs typeface="Courier New" panose="02070309020205020404" pitchFamily="49" charset="0"/>
              </a:rPr>
              <a:t>if(x &gt; 5)</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 do something</a:t>
            </a:r>
          </a:p>
          <a:p>
            <a:pPr marL="457200" lvl="1" indent="0">
              <a:buNone/>
            </a:pPr>
            <a:r>
              <a:rPr lang="en-US" dirty="0">
                <a:latin typeface="Courier New" panose="02070309020205020404" pitchFamily="49" charset="0"/>
                <a:cs typeface="Courier New" panose="02070309020205020404" pitchFamily="49" charset="0"/>
              </a:rPr>
              <a:t>	else</a:t>
            </a:r>
          </a:p>
          <a:p>
            <a:pPr marL="457200" lvl="1" indent="0">
              <a:buNone/>
            </a:pPr>
            <a:r>
              <a:rPr lang="en-US" dirty="0">
                <a:latin typeface="Courier New" panose="02070309020205020404" pitchFamily="49" charset="0"/>
                <a:cs typeface="Courier New" panose="02070309020205020404" pitchFamily="49" charset="0"/>
              </a:rPr>
              <a:t>	    // do something else</a:t>
            </a:r>
          </a:p>
        </p:txBody>
      </p:sp>
      <p:sp>
        <p:nvSpPr>
          <p:cNvPr id="4" name="Slide Number Placeholder 3">
            <a:extLst>
              <a:ext uri="{FF2B5EF4-FFF2-40B4-BE49-F238E27FC236}">
                <a16:creationId xmlns:a16="http://schemas.microsoft.com/office/drawing/2014/main" id="{585D2241-391F-496A-AC5F-2DB7A4E5925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28BC2-ACA3-447C-A909-F3F49211C066}" type="slidenum">
              <a:rPr kumimoji="0" lang="en-US" sz="1200" b="0" i="0" u="none" strike="noStrike" kern="1200" cap="none" spc="0" normalizeH="0" baseline="0" noProof="0" smtClean="0">
                <a:ln>
                  <a:noFill/>
                </a:ln>
                <a:solidFill>
                  <a:srgbClr val="A0A1A0"/>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73</a:t>
            </a:fld>
            <a:endParaRPr kumimoji="0" lang="en-US" sz="1200" b="0" i="0" u="none" strike="noStrike" kern="1200" cap="none" spc="0" normalizeH="0" baseline="0" noProof="0" dirty="0">
              <a:ln>
                <a:noFill/>
              </a:ln>
              <a:solidFill>
                <a:srgbClr val="A0A1A0"/>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11028309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52BC9-3087-4CF1-BF19-228AE7DAD4B3}"/>
              </a:ext>
            </a:extLst>
          </p:cNvPr>
          <p:cNvSpPr>
            <a:spLocks noGrp="1"/>
          </p:cNvSpPr>
          <p:nvPr>
            <p:ph type="title"/>
          </p:nvPr>
        </p:nvSpPr>
        <p:spPr>
          <a:xfrm>
            <a:off x="380010" y="-4950"/>
            <a:ext cx="6222671" cy="1224150"/>
          </a:xfrm>
        </p:spPr>
        <p:txBody>
          <a:bodyPr/>
          <a:lstStyle/>
          <a:p>
            <a:r>
              <a:rPr lang="en-US" dirty="0"/>
              <a:t>If-Else-If</a:t>
            </a:r>
          </a:p>
        </p:txBody>
      </p:sp>
      <p:sp>
        <p:nvSpPr>
          <p:cNvPr id="3" name="Content Placeholder 2">
            <a:extLst>
              <a:ext uri="{FF2B5EF4-FFF2-40B4-BE49-F238E27FC236}">
                <a16:creationId xmlns:a16="http://schemas.microsoft.com/office/drawing/2014/main" id="{4B283E48-7C73-4AFA-8960-929C95360150}"/>
              </a:ext>
            </a:extLst>
          </p:cNvPr>
          <p:cNvSpPr>
            <a:spLocks noGrp="1"/>
          </p:cNvSpPr>
          <p:nvPr>
            <p:ph idx="1"/>
          </p:nvPr>
        </p:nvSpPr>
        <p:spPr>
          <a:xfrm>
            <a:off x="380010" y="1481446"/>
            <a:ext cx="8383980" cy="4963742"/>
          </a:xfrm>
        </p:spPr>
        <p:txBody>
          <a:bodyPr>
            <a:normAutofit fontScale="92500"/>
          </a:bodyPr>
          <a:lstStyle/>
          <a:p>
            <a:r>
              <a:rPr lang="en-US" dirty="0"/>
              <a:t>If-statements can be used to string together </a:t>
            </a:r>
            <a:r>
              <a:rPr lang="en-US" i="1" dirty="0"/>
              <a:t>mutually exclusive</a:t>
            </a:r>
            <a:r>
              <a:rPr lang="en-US" dirty="0"/>
              <a:t> conditions (only one can be true).</a:t>
            </a:r>
          </a:p>
          <a:p>
            <a:pPr marL="0" indent="0">
              <a:buNone/>
            </a:pPr>
            <a:r>
              <a:rPr lang="en-US" dirty="0">
                <a:latin typeface="Courier New" panose="02070309020205020404" pitchFamily="49" charset="0"/>
                <a:cs typeface="Courier New" panose="02070309020205020404" pitchFamily="49" charset="0"/>
              </a:rPr>
              <a:t>	if(cond1)</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 execute first option</a:t>
            </a:r>
          </a:p>
          <a:p>
            <a:pPr marL="0" indent="0">
              <a:buNone/>
            </a:pPr>
            <a:r>
              <a:rPr lang="en-US" dirty="0">
                <a:latin typeface="Courier New" panose="02070309020205020404" pitchFamily="49" charset="0"/>
                <a:cs typeface="Courier New" panose="02070309020205020404" pitchFamily="49" charset="0"/>
              </a:rPr>
              <a:t>	else if(</a:t>
            </a:r>
            <a:r>
              <a:rPr lang="en-US" dirty="0" err="1">
                <a:latin typeface="Courier New" panose="02070309020205020404" pitchFamily="49" charset="0"/>
                <a:cs typeface="Courier New" panose="02070309020205020404" pitchFamily="49" charset="0"/>
              </a:rPr>
              <a:t>cond</a:t>
            </a:r>
            <a:r>
              <a:rPr lang="en-US" dirty="0">
                <a:latin typeface="Courier New" panose="02070309020205020404" pitchFamily="49" charset="0"/>
                <a:cs typeface="Courier New" panose="02070309020205020404" pitchFamily="49" charset="0"/>
              </a:rPr>
              <a:t> 2)</a:t>
            </a:r>
          </a:p>
          <a:p>
            <a:pPr marL="0" indent="0">
              <a:buNone/>
            </a:pPr>
            <a:r>
              <a:rPr lang="en-US" dirty="0">
                <a:latin typeface="Courier New" panose="02070309020205020404" pitchFamily="49" charset="0"/>
                <a:cs typeface="Courier New" panose="02070309020205020404" pitchFamily="49" charset="0"/>
              </a:rPr>
              <a:t>	    // execute second option</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else if(</a:t>
            </a:r>
            <a:r>
              <a:rPr lang="en-US" dirty="0" err="1">
                <a:latin typeface="Courier New" panose="02070309020205020404" pitchFamily="49" charset="0"/>
                <a:cs typeface="Courier New" panose="02070309020205020404" pitchFamily="49" charset="0"/>
              </a:rPr>
              <a:t>cond</a:t>
            </a:r>
            <a:r>
              <a:rPr lang="en-US" dirty="0">
                <a:latin typeface="Courier New" panose="02070309020205020404" pitchFamily="49" charset="0"/>
                <a:cs typeface="Courier New" panose="02070309020205020404" pitchFamily="49" charset="0"/>
              </a:rPr>
              <a:t> 3)</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 execute third option</a:t>
            </a:r>
          </a:p>
          <a:p>
            <a:pPr marL="0" indent="0">
              <a:buNone/>
            </a:pPr>
            <a:r>
              <a:rPr lang="en-US" dirty="0">
                <a:latin typeface="Courier New" panose="02070309020205020404" pitchFamily="49" charset="0"/>
                <a:cs typeface="Courier New" panose="02070309020205020404" pitchFamily="49" charset="0"/>
              </a:rPr>
              <a:t>	else</a:t>
            </a:r>
          </a:p>
          <a:p>
            <a:pPr marL="0" indent="0">
              <a:buNone/>
            </a:pPr>
            <a:r>
              <a:rPr lang="en-US" dirty="0">
                <a:latin typeface="Courier New" panose="02070309020205020404" pitchFamily="49" charset="0"/>
                <a:cs typeface="Courier New" panose="02070309020205020404" pitchFamily="49" charset="0"/>
              </a:rPr>
              <a:t>	    /* do whatever when all 3 		     conditions were false */</a:t>
            </a:r>
          </a:p>
        </p:txBody>
      </p:sp>
      <p:sp>
        <p:nvSpPr>
          <p:cNvPr id="4" name="Slide Number Placeholder 3">
            <a:extLst>
              <a:ext uri="{FF2B5EF4-FFF2-40B4-BE49-F238E27FC236}">
                <a16:creationId xmlns:a16="http://schemas.microsoft.com/office/drawing/2014/main" id="{20C2BAA4-DF30-4C05-9552-E12EEB890EA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28BC2-ACA3-447C-A909-F3F49211C066}" type="slidenum">
              <a:rPr kumimoji="0" lang="en-US" sz="1200" b="0" i="0" u="none" strike="noStrike" kern="1200" cap="none" spc="0" normalizeH="0" baseline="0" noProof="0" smtClean="0">
                <a:ln>
                  <a:noFill/>
                </a:ln>
                <a:solidFill>
                  <a:srgbClr val="A0A1A0"/>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74</a:t>
            </a:fld>
            <a:endParaRPr kumimoji="0" lang="en-US" sz="1200" b="0" i="0" u="none" strike="noStrike" kern="1200" cap="none" spc="0" normalizeH="0" baseline="0" noProof="0" dirty="0">
              <a:ln>
                <a:noFill/>
              </a:ln>
              <a:solidFill>
                <a:srgbClr val="A0A1A0"/>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51551259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45DAE-FC1D-4D9F-8DA0-619D59082BB1}"/>
              </a:ext>
            </a:extLst>
          </p:cNvPr>
          <p:cNvSpPr>
            <a:spLocks noGrp="1"/>
          </p:cNvSpPr>
          <p:nvPr>
            <p:ph type="title"/>
          </p:nvPr>
        </p:nvSpPr>
        <p:spPr/>
        <p:txBody>
          <a:bodyPr/>
          <a:lstStyle/>
          <a:p>
            <a:r>
              <a:rPr lang="en-US" dirty="0"/>
              <a:t>Nested If Statements</a:t>
            </a:r>
          </a:p>
        </p:txBody>
      </p:sp>
      <p:sp>
        <p:nvSpPr>
          <p:cNvPr id="3" name="Content Placeholder 2">
            <a:extLst>
              <a:ext uri="{FF2B5EF4-FFF2-40B4-BE49-F238E27FC236}">
                <a16:creationId xmlns:a16="http://schemas.microsoft.com/office/drawing/2014/main" id="{F23CE559-D62F-4D53-8C53-5182A0631570}"/>
              </a:ext>
            </a:extLst>
          </p:cNvPr>
          <p:cNvSpPr>
            <a:spLocks noGrp="1"/>
          </p:cNvSpPr>
          <p:nvPr>
            <p:ph idx="1"/>
          </p:nvPr>
        </p:nvSpPr>
        <p:spPr>
          <a:xfrm>
            <a:off x="380010" y="1402672"/>
            <a:ext cx="8383980" cy="5202314"/>
          </a:xfrm>
        </p:spPr>
        <p:txBody>
          <a:bodyPr>
            <a:normAutofit fontScale="92500" lnSpcReduction="10000"/>
          </a:bodyPr>
          <a:lstStyle/>
          <a:p>
            <a:r>
              <a:rPr lang="en-US" dirty="0"/>
              <a:t>Nest if-conditions when you want to test whether </a:t>
            </a:r>
            <a:r>
              <a:rPr lang="en-US" i="1" dirty="0"/>
              <a:t>successive</a:t>
            </a:r>
            <a:r>
              <a:rPr lang="en-US" dirty="0"/>
              <a:t> conditions are true</a:t>
            </a:r>
          </a:p>
          <a:p>
            <a:pPr marL="0" indent="0">
              <a:buNone/>
            </a:pPr>
            <a:r>
              <a:rPr lang="en-US" sz="2600" dirty="0"/>
              <a:t>	</a:t>
            </a:r>
            <a:r>
              <a:rPr lang="en-US" sz="2600" dirty="0">
                <a:latin typeface="Courier New" panose="02070309020205020404" pitchFamily="49" charset="0"/>
                <a:cs typeface="Courier New" panose="02070309020205020404" pitchFamily="49" charset="0"/>
              </a:rPr>
              <a:t>if(cond1){</a:t>
            </a:r>
            <a:br>
              <a:rPr lang="en-US" sz="2600" dirty="0">
                <a:latin typeface="Courier New" panose="02070309020205020404" pitchFamily="49" charset="0"/>
                <a:cs typeface="Courier New" panose="02070309020205020404" pitchFamily="49" charset="0"/>
              </a:rPr>
            </a:br>
            <a:r>
              <a:rPr lang="en-US" sz="2600" dirty="0">
                <a:latin typeface="Courier New" panose="02070309020205020404" pitchFamily="49" charset="0"/>
                <a:cs typeface="Courier New" panose="02070309020205020404" pitchFamily="49" charset="0"/>
              </a:rPr>
              <a:t>	    if(cond2) {</a:t>
            </a:r>
          </a:p>
          <a:p>
            <a:pPr marL="0" indent="0">
              <a:buNone/>
            </a:pPr>
            <a:r>
              <a:rPr lang="en-US" sz="2600" dirty="0">
                <a:latin typeface="Courier New" panose="02070309020205020404" pitchFamily="49" charset="0"/>
                <a:cs typeface="Courier New" panose="02070309020205020404" pitchFamily="49" charset="0"/>
              </a:rPr>
              <a:t>			/* cond1 and cond2 				    are true */</a:t>
            </a:r>
            <a:br>
              <a:rPr lang="en-US" sz="2600" dirty="0">
                <a:latin typeface="Courier New" panose="02070309020205020404" pitchFamily="49" charset="0"/>
                <a:cs typeface="Courier New" panose="02070309020205020404" pitchFamily="49" charset="0"/>
              </a:rPr>
            </a:br>
            <a:r>
              <a:rPr lang="en-US" sz="2600" dirty="0">
                <a:latin typeface="Courier New" panose="02070309020205020404" pitchFamily="49" charset="0"/>
                <a:cs typeface="Courier New" panose="02070309020205020404" pitchFamily="49" charset="0"/>
              </a:rPr>
              <a:t>    		} else</a:t>
            </a:r>
          </a:p>
          <a:p>
            <a:pPr marL="0" indent="0">
              <a:buNone/>
            </a:pPr>
            <a:r>
              <a:rPr lang="en-US" sz="2600" dirty="0">
                <a:latin typeface="Courier New" panose="02070309020205020404" pitchFamily="49" charset="0"/>
                <a:cs typeface="Courier New" panose="02070309020205020404" pitchFamily="49" charset="0"/>
              </a:rPr>
              <a:t>			/* cond1 is true 					    but cond2 is false */ </a:t>
            </a:r>
          </a:p>
          <a:p>
            <a:pPr marL="0" indent="0">
              <a:buNone/>
            </a:pPr>
            <a:r>
              <a:rPr lang="en-US" sz="2600" dirty="0">
                <a:latin typeface="Courier New" panose="02070309020205020404" pitchFamily="49" charset="0"/>
                <a:cs typeface="Courier New" panose="02070309020205020404" pitchFamily="49" charset="0"/>
              </a:rPr>
              <a:t>		}</a:t>
            </a:r>
          </a:p>
          <a:p>
            <a:pPr marL="0" indent="0">
              <a:buNone/>
            </a:pPr>
            <a:r>
              <a:rPr lang="en-US" sz="2600" dirty="0">
                <a:latin typeface="Courier New" panose="02070309020205020404" pitchFamily="49" charset="0"/>
                <a:cs typeface="Courier New" panose="02070309020205020404" pitchFamily="49" charset="0"/>
              </a:rPr>
              <a:t>	} else {</a:t>
            </a:r>
          </a:p>
          <a:p>
            <a:pPr marL="0" indent="0">
              <a:buNone/>
            </a:pPr>
            <a:r>
              <a:rPr lang="en-US" sz="2600" dirty="0">
                <a:latin typeface="Courier New" panose="02070309020205020404" pitchFamily="49" charset="0"/>
                <a:cs typeface="Courier New" panose="02070309020205020404" pitchFamily="49" charset="0"/>
              </a:rPr>
              <a:t>		// do when cond1 is false </a:t>
            </a:r>
          </a:p>
          <a:p>
            <a:pPr marL="0" indent="0">
              <a:buNone/>
            </a:pPr>
            <a:r>
              <a:rPr lang="en-US" sz="2600" dirty="0">
                <a:latin typeface="Courier New" panose="02070309020205020404" pitchFamily="49" charset="0"/>
                <a:cs typeface="Courier New" panose="02070309020205020404" pitchFamily="49" charset="0"/>
              </a:rPr>
              <a:t>	}</a:t>
            </a:r>
            <a:endParaRPr lang="en-US" sz="2600" dirty="0"/>
          </a:p>
        </p:txBody>
      </p:sp>
      <p:sp>
        <p:nvSpPr>
          <p:cNvPr id="4" name="Slide Number Placeholder 3">
            <a:extLst>
              <a:ext uri="{FF2B5EF4-FFF2-40B4-BE49-F238E27FC236}">
                <a16:creationId xmlns:a16="http://schemas.microsoft.com/office/drawing/2014/main" id="{CB3C87B9-A3AF-44FB-9F07-56164A1366F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28BC2-ACA3-447C-A909-F3F49211C066}" type="slidenum">
              <a:rPr kumimoji="0" lang="en-US" sz="1200" b="0" i="0" u="none" strike="noStrike" kern="1200" cap="none" spc="0" normalizeH="0" baseline="0" noProof="0" smtClean="0">
                <a:ln>
                  <a:noFill/>
                </a:ln>
                <a:solidFill>
                  <a:srgbClr val="A0A1A0"/>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75</a:t>
            </a:fld>
            <a:endParaRPr kumimoji="0" lang="en-US" sz="1200" b="0" i="0" u="none" strike="noStrike" kern="1200" cap="none" spc="0" normalizeH="0" baseline="0" noProof="0" dirty="0">
              <a:ln>
                <a:noFill/>
              </a:ln>
              <a:solidFill>
                <a:srgbClr val="A0A1A0"/>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26026710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45DAE-FC1D-4D9F-8DA0-619D59082BB1}"/>
              </a:ext>
            </a:extLst>
          </p:cNvPr>
          <p:cNvSpPr>
            <a:spLocks noGrp="1"/>
          </p:cNvSpPr>
          <p:nvPr>
            <p:ph type="title"/>
          </p:nvPr>
        </p:nvSpPr>
        <p:spPr/>
        <p:txBody>
          <a:bodyPr/>
          <a:lstStyle/>
          <a:p>
            <a:r>
              <a:rPr lang="en-US" dirty="0"/>
              <a:t>Ternary Operator</a:t>
            </a:r>
          </a:p>
        </p:txBody>
      </p:sp>
      <p:sp>
        <p:nvSpPr>
          <p:cNvPr id="3" name="Content Placeholder 2">
            <a:extLst>
              <a:ext uri="{FF2B5EF4-FFF2-40B4-BE49-F238E27FC236}">
                <a16:creationId xmlns:a16="http://schemas.microsoft.com/office/drawing/2014/main" id="{F23CE559-D62F-4D53-8C53-5182A0631570}"/>
              </a:ext>
            </a:extLst>
          </p:cNvPr>
          <p:cNvSpPr>
            <a:spLocks noGrp="1"/>
          </p:cNvSpPr>
          <p:nvPr>
            <p:ph idx="1"/>
          </p:nvPr>
        </p:nvSpPr>
        <p:spPr>
          <a:xfrm>
            <a:off x="380010" y="1481446"/>
            <a:ext cx="8383980" cy="5012343"/>
          </a:xfrm>
        </p:spPr>
        <p:txBody>
          <a:bodyPr>
            <a:normAutofit lnSpcReduction="10000"/>
          </a:bodyPr>
          <a:lstStyle/>
          <a:p>
            <a:r>
              <a:rPr lang="en-US" sz="2400" dirty="0"/>
              <a:t>The Ternary Operator (?) acts as a shorthand way to write an if…else conditional statement.</a:t>
            </a:r>
          </a:p>
          <a:p>
            <a:r>
              <a:rPr lang="en-US" sz="2400" dirty="0"/>
              <a:t>The syntax is as follows:</a:t>
            </a:r>
          </a:p>
          <a:p>
            <a:endParaRPr lang="en-US" sz="2400" dirty="0"/>
          </a:p>
          <a:p>
            <a:pPr marL="0" indent="0">
              <a:buNone/>
            </a:pPr>
            <a:r>
              <a:rPr lang="en-US" sz="2400" dirty="0">
                <a:latin typeface="Courier New" panose="02070309020205020404" pitchFamily="49" charset="0"/>
                <a:cs typeface="Courier New" panose="02070309020205020404" pitchFamily="49" charset="0"/>
              </a:rPr>
              <a:t>	condition ? </a:t>
            </a:r>
            <a:r>
              <a:rPr lang="en-US" sz="2400" dirty="0" err="1">
                <a:latin typeface="Courier New" panose="02070309020205020404" pitchFamily="49" charset="0"/>
                <a:cs typeface="Courier New" panose="02070309020205020404" pitchFamily="49" charset="0"/>
              </a:rPr>
              <a:t>exprIfTrue</a:t>
            </a:r>
            <a:r>
              <a:rPr lang="en-US" sz="2400" dirty="0">
                <a:latin typeface="Courier New" panose="02070309020205020404" pitchFamily="49" charset="0"/>
                <a:cs typeface="Courier New" panose="02070309020205020404" pitchFamily="49" charset="0"/>
              </a:rPr>
              <a:t> : </a:t>
            </a:r>
            <a:r>
              <a:rPr lang="en-US" sz="2400" dirty="0" err="1">
                <a:latin typeface="Courier New" panose="02070309020205020404" pitchFamily="49" charset="0"/>
                <a:cs typeface="Courier New" panose="02070309020205020404" pitchFamily="49" charset="0"/>
              </a:rPr>
              <a:t>exprIfFalse</a:t>
            </a:r>
            <a:endParaRPr lang="en-US" sz="2400" dirty="0">
              <a:latin typeface="Courier New" panose="02070309020205020404" pitchFamily="49" charset="0"/>
              <a:cs typeface="Courier New" panose="02070309020205020404" pitchFamily="49" charset="0"/>
            </a:endParaRPr>
          </a:p>
          <a:p>
            <a:pPr marL="0" indent="0">
              <a:buNone/>
            </a:pPr>
            <a:endParaRPr lang="en-US" sz="2400" dirty="0">
              <a:latin typeface="Courier New" panose="02070309020205020404" pitchFamily="49" charset="0"/>
              <a:cs typeface="Courier New" panose="02070309020205020404" pitchFamily="49" charset="0"/>
            </a:endParaRPr>
          </a:p>
          <a:p>
            <a:r>
              <a:rPr lang="en-US" sz="2400" b="1" i="1" u="sng" dirty="0">
                <a:latin typeface="+mj-lt"/>
                <a:cs typeface="Courier New" panose="02070309020205020404" pitchFamily="49" charset="0"/>
              </a:rPr>
              <a:t>condition</a:t>
            </a:r>
            <a:r>
              <a:rPr lang="en-US" sz="2400" dirty="0"/>
              <a:t>: An expression whose Boolean value is used to determine the resulting expression.</a:t>
            </a:r>
          </a:p>
          <a:p>
            <a:r>
              <a:rPr lang="en-US" sz="2400" b="1" i="1" u="sng" dirty="0" err="1">
                <a:latin typeface="+mj-lt"/>
                <a:cs typeface="Courier New" panose="02070309020205020404" pitchFamily="49" charset="0"/>
              </a:rPr>
              <a:t>exprIfTrue</a:t>
            </a:r>
            <a:r>
              <a:rPr lang="en-US" sz="2400" dirty="0"/>
              <a:t>: The expression returned if the </a:t>
            </a:r>
            <a:r>
              <a:rPr lang="en-US" sz="2400" dirty="0">
                <a:latin typeface="Courier New" panose="02070309020205020404" pitchFamily="49" charset="0"/>
                <a:cs typeface="Courier New" panose="02070309020205020404" pitchFamily="49" charset="0"/>
              </a:rPr>
              <a:t>condition</a:t>
            </a:r>
            <a:r>
              <a:rPr lang="en-US" sz="2400" dirty="0"/>
              <a:t> evaluates as </a:t>
            </a:r>
            <a:r>
              <a:rPr lang="en-US" sz="2400" dirty="0">
                <a:latin typeface="Courier New" panose="02070309020205020404" pitchFamily="49" charset="0"/>
                <a:cs typeface="Courier New" panose="02070309020205020404" pitchFamily="49" charset="0"/>
              </a:rPr>
              <a:t>true</a:t>
            </a:r>
            <a:r>
              <a:rPr lang="en-US" sz="2400" dirty="0"/>
              <a:t>.</a:t>
            </a:r>
          </a:p>
          <a:p>
            <a:r>
              <a:rPr lang="en-US" sz="2400" b="1" i="1" u="sng" dirty="0" err="1">
                <a:latin typeface="+mj-lt"/>
                <a:cs typeface="Courier New" panose="02070309020205020404" pitchFamily="49" charset="0"/>
              </a:rPr>
              <a:t>exprIfFalse</a:t>
            </a:r>
            <a:r>
              <a:rPr lang="en-US" sz="2400" dirty="0"/>
              <a:t>: An expression returned if the </a:t>
            </a:r>
            <a:r>
              <a:rPr lang="en-US" sz="2400" dirty="0">
                <a:latin typeface="Courier New" panose="02070309020205020404" pitchFamily="49" charset="0"/>
                <a:cs typeface="Courier New" panose="02070309020205020404" pitchFamily="49" charset="0"/>
              </a:rPr>
              <a:t>condition</a:t>
            </a:r>
            <a:r>
              <a:rPr lang="en-US" sz="2400" dirty="0"/>
              <a:t> evaluates as </a:t>
            </a:r>
            <a:r>
              <a:rPr lang="en-US" sz="2400" dirty="0">
                <a:latin typeface="Courier New" panose="02070309020205020404" pitchFamily="49" charset="0"/>
                <a:cs typeface="Courier New" panose="02070309020205020404" pitchFamily="49" charset="0"/>
              </a:rPr>
              <a:t>false</a:t>
            </a:r>
            <a:r>
              <a:rPr lang="en-US" sz="2400" dirty="0"/>
              <a:t>.</a:t>
            </a:r>
            <a:endParaRPr lang="en-US" sz="2000" dirty="0"/>
          </a:p>
          <a:p>
            <a:pPr marL="0" indent="0">
              <a:buNone/>
            </a:pPr>
            <a:endParaRPr lang="en-US" dirty="0">
              <a:latin typeface="Courier New" panose="02070309020205020404" pitchFamily="49" charset="0"/>
              <a:cs typeface="Courier New" panose="02070309020205020404" pitchFamily="49" charset="0"/>
            </a:endParaRPr>
          </a:p>
        </p:txBody>
      </p:sp>
      <p:sp>
        <p:nvSpPr>
          <p:cNvPr id="4" name="Slide Number Placeholder 3">
            <a:extLst>
              <a:ext uri="{FF2B5EF4-FFF2-40B4-BE49-F238E27FC236}">
                <a16:creationId xmlns:a16="http://schemas.microsoft.com/office/drawing/2014/main" id="{CB3C87B9-A3AF-44FB-9F07-56164A1366F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28BC2-ACA3-447C-A909-F3F49211C066}" type="slidenum">
              <a:rPr kumimoji="0" lang="en-US" sz="1200" b="0" i="0" u="none" strike="noStrike" kern="1200" cap="none" spc="0" normalizeH="0" baseline="0" noProof="0" smtClean="0">
                <a:ln>
                  <a:noFill/>
                </a:ln>
                <a:solidFill>
                  <a:srgbClr val="A0A1A0"/>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76</a:t>
            </a:fld>
            <a:endParaRPr kumimoji="0" lang="en-US" sz="1200" b="0" i="0" u="none" strike="noStrike" kern="1200" cap="none" spc="0" normalizeH="0" baseline="0" noProof="0" dirty="0">
              <a:ln>
                <a:noFill/>
              </a:ln>
              <a:solidFill>
                <a:srgbClr val="A0A1A0"/>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82137944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45DAE-FC1D-4D9F-8DA0-619D59082BB1}"/>
              </a:ext>
            </a:extLst>
          </p:cNvPr>
          <p:cNvSpPr>
            <a:spLocks noGrp="1"/>
          </p:cNvSpPr>
          <p:nvPr>
            <p:ph type="title"/>
          </p:nvPr>
        </p:nvSpPr>
        <p:spPr/>
        <p:txBody>
          <a:bodyPr/>
          <a:lstStyle/>
          <a:p>
            <a:r>
              <a:rPr lang="en-US" dirty="0"/>
              <a:t>Switch Statements</a:t>
            </a:r>
          </a:p>
        </p:txBody>
      </p:sp>
      <p:sp>
        <p:nvSpPr>
          <p:cNvPr id="3" name="Content Placeholder 2">
            <a:extLst>
              <a:ext uri="{FF2B5EF4-FFF2-40B4-BE49-F238E27FC236}">
                <a16:creationId xmlns:a16="http://schemas.microsoft.com/office/drawing/2014/main" id="{F23CE559-D62F-4D53-8C53-5182A0631570}"/>
              </a:ext>
            </a:extLst>
          </p:cNvPr>
          <p:cNvSpPr>
            <a:spLocks noGrp="1"/>
          </p:cNvSpPr>
          <p:nvPr>
            <p:ph idx="1"/>
          </p:nvPr>
        </p:nvSpPr>
        <p:spPr>
          <a:xfrm>
            <a:off x="380010" y="1406770"/>
            <a:ext cx="8383980" cy="5322068"/>
          </a:xfrm>
        </p:spPr>
        <p:txBody>
          <a:bodyPr>
            <a:normAutofit fontScale="55000" lnSpcReduction="20000"/>
          </a:bodyPr>
          <a:lstStyle/>
          <a:p>
            <a:r>
              <a:rPr lang="en-US" sz="3800" dirty="0"/>
              <a:t>Switch Statements check some variable against multiple, defined values and executes code if the value of the variable matches.</a:t>
            </a:r>
          </a:p>
          <a:p>
            <a:pPr marL="0" indent="0">
              <a:buNone/>
            </a:pPr>
            <a:r>
              <a:rPr lang="en-US" sz="3200" dirty="0"/>
              <a:t>	</a:t>
            </a:r>
            <a:r>
              <a:rPr lang="en-US" sz="3200" dirty="0">
                <a:latin typeface="Courier New" panose="02070309020205020404" pitchFamily="49" charset="0"/>
                <a:cs typeface="Courier New" panose="02070309020205020404" pitchFamily="49" charset="0"/>
              </a:rPr>
              <a:t>switch(var)</a:t>
            </a:r>
            <a:br>
              <a:rPr lang="en-US" sz="3200" dirty="0">
                <a:latin typeface="Courier New" panose="02070309020205020404" pitchFamily="49" charset="0"/>
                <a:cs typeface="Courier New" panose="02070309020205020404" pitchFamily="49" charset="0"/>
              </a:rPr>
            </a:br>
            <a:r>
              <a:rPr lang="en-US" sz="3200" dirty="0">
                <a:latin typeface="Courier New" panose="02070309020205020404" pitchFamily="49" charset="0"/>
                <a:cs typeface="Courier New" panose="02070309020205020404" pitchFamily="49" charset="0"/>
              </a:rPr>
              <a:t>		case value1:</a:t>
            </a:r>
          </a:p>
          <a:p>
            <a:pPr marL="0" indent="0">
              <a:buNone/>
            </a:pPr>
            <a:r>
              <a:rPr lang="en-US" sz="3200" dirty="0">
                <a:latin typeface="Courier New" panose="02070309020205020404" pitchFamily="49" charset="0"/>
                <a:cs typeface="Courier New" panose="02070309020205020404" pitchFamily="49" charset="0"/>
              </a:rPr>
              <a:t>			// executes if var === value1</a:t>
            </a:r>
          </a:p>
          <a:p>
            <a:pPr marL="0" indent="0">
              <a:buNone/>
            </a:pPr>
            <a:r>
              <a:rPr lang="en-US" sz="3200" dirty="0">
                <a:latin typeface="Courier New" panose="02070309020205020404" pitchFamily="49" charset="0"/>
                <a:cs typeface="Courier New" panose="02070309020205020404" pitchFamily="49" charset="0"/>
              </a:rPr>
              <a:t>			break;</a:t>
            </a:r>
          </a:p>
          <a:p>
            <a:pPr marL="0" indent="0">
              <a:buNone/>
            </a:pPr>
            <a:r>
              <a:rPr lang="en-US" sz="3200" dirty="0">
                <a:latin typeface="Courier New" panose="02070309020205020404" pitchFamily="49" charset="0"/>
                <a:cs typeface="Courier New" panose="02070309020205020404" pitchFamily="49" charset="0"/>
              </a:rPr>
              <a:t>		case value2:</a:t>
            </a:r>
          </a:p>
          <a:p>
            <a:pPr marL="0" indent="0">
              <a:buNone/>
            </a:pPr>
            <a:r>
              <a:rPr lang="en-US" sz="3200" dirty="0">
                <a:latin typeface="Courier New" panose="02070309020205020404" pitchFamily="49" charset="0"/>
                <a:cs typeface="Courier New" panose="02070309020205020404" pitchFamily="49" charset="0"/>
              </a:rPr>
              <a:t>			// executes if var === value2</a:t>
            </a:r>
          </a:p>
          <a:p>
            <a:pPr marL="0" indent="0">
              <a:buNone/>
            </a:pPr>
            <a:r>
              <a:rPr lang="en-US" sz="3200" dirty="0">
                <a:latin typeface="Courier New" panose="02070309020205020404" pitchFamily="49" charset="0"/>
                <a:cs typeface="Courier New" panose="02070309020205020404" pitchFamily="49" charset="0"/>
              </a:rPr>
              <a:t>			break;</a:t>
            </a:r>
          </a:p>
          <a:p>
            <a:pPr marL="0" indent="0">
              <a:buNone/>
            </a:pPr>
            <a:r>
              <a:rPr lang="en-US" sz="3200" dirty="0">
                <a:latin typeface="Courier New" panose="02070309020205020404" pitchFamily="49" charset="0"/>
                <a:cs typeface="Courier New" panose="02070309020205020404" pitchFamily="49" charset="0"/>
              </a:rPr>
              <a:t>		default:</a:t>
            </a:r>
          </a:p>
          <a:p>
            <a:pPr marL="0" indent="0">
              <a:buNone/>
            </a:pPr>
            <a:r>
              <a:rPr lang="en-US" sz="3200" dirty="0">
                <a:latin typeface="Courier New" panose="02070309020205020404" pitchFamily="49" charset="0"/>
                <a:cs typeface="Courier New" panose="02070309020205020404" pitchFamily="49" charset="0"/>
              </a:rPr>
              <a:t>			// executes if var is not equal to any 			   other case</a:t>
            </a:r>
          </a:p>
          <a:p>
            <a:pPr marL="0" indent="0">
              <a:buNone/>
            </a:pPr>
            <a:r>
              <a:rPr lang="en-US" sz="3200" dirty="0">
                <a:latin typeface="Courier New" panose="02070309020205020404" pitchFamily="49" charset="0"/>
                <a:cs typeface="Courier New" panose="02070309020205020404" pitchFamily="49" charset="0"/>
              </a:rPr>
              <a:t>			break;</a:t>
            </a:r>
          </a:p>
          <a:p>
            <a:pPr marL="0" indent="0">
              <a:buNone/>
            </a:pPr>
            <a:endParaRPr lang="en-US" sz="2900" dirty="0"/>
          </a:p>
          <a:p>
            <a:pPr indent="-457200"/>
            <a:r>
              <a:rPr lang="en-US" sz="2900" dirty="0"/>
              <a:t>The “break” is used to stop the execution of code in the current block and exit the switch statement.</a:t>
            </a:r>
          </a:p>
          <a:p>
            <a:pPr indent="-457200"/>
            <a:r>
              <a:rPr lang="en-US" sz="2900" dirty="0"/>
              <a:t>Default statements </a:t>
            </a:r>
            <a:r>
              <a:rPr lang="en-US" sz="2900" i="1" dirty="0"/>
              <a:t>do not</a:t>
            </a:r>
            <a:r>
              <a:rPr lang="en-US" sz="2900" dirty="0"/>
              <a:t> need a value, they will occur if none of the other conditions apply.</a:t>
            </a:r>
          </a:p>
        </p:txBody>
      </p:sp>
      <p:sp>
        <p:nvSpPr>
          <p:cNvPr id="4" name="Slide Number Placeholder 3">
            <a:extLst>
              <a:ext uri="{FF2B5EF4-FFF2-40B4-BE49-F238E27FC236}">
                <a16:creationId xmlns:a16="http://schemas.microsoft.com/office/drawing/2014/main" id="{CB3C87B9-A3AF-44FB-9F07-56164A1366F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28BC2-ACA3-447C-A909-F3F49211C066}" type="slidenum">
              <a:rPr kumimoji="0" lang="en-US" sz="1200" b="0" i="0" u="none" strike="noStrike" kern="1200" cap="none" spc="0" normalizeH="0" baseline="0" noProof="0" smtClean="0">
                <a:ln>
                  <a:noFill/>
                </a:ln>
                <a:solidFill>
                  <a:srgbClr val="A0A1A0"/>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77</a:t>
            </a:fld>
            <a:endParaRPr kumimoji="0" lang="en-US" sz="1200" b="0" i="0" u="none" strike="noStrike" kern="1200" cap="none" spc="0" normalizeH="0" baseline="0" noProof="0" dirty="0">
              <a:ln>
                <a:noFill/>
              </a:ln>
              <a:solidFill>
                <a:srgbClr val="A0A1A0"/>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49827268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45DAE-FC1D-4D9F-8DA0-619D59082BB1}"/>
              </a:ext>
            </a:extLst>
          </p:cNvPr>
          <p:cNvSpPr>
            <a:spLocks noGrp="1"/>
          </p:cNvSpPr>
          <p:nvPr>
            <p:ph type="title"/>
          </p:nvPr>
        </p:nvSpPr>
        <p:spPr/>
        <p:txBody>
          <a:bodyPr/>
          <a:lstStyle/>
          <a:p>
            <a:r>
              <a:rPr lang="en-US" dirty="0"/>
              <a:t>Loops</a:t>
            </a:r>
          </a:p>
        </p:txBody>
      </p:sp>
      <p:sp>
        <p:nvSpPr>
          <p:cNvPr id="3" name="Content Placeholder 2">
            <a:extLst>
              <a:ext uri="{FF2B5EF4-FFF2-40B4-BE49-F238E27FC236}">
                <a16:creationId xmlns:a16="http://schemas.microsoft.com/office/drawing/2014/main" id="{F23CE559-D62F-4D53-8C53-5182A0631570}"/>
              </a:ext>
            </a:extLst>
          </p:cNvPr>
          <p:cNvSpPr>
            <a:spLocks noGrp="1"/>
          </p:cNvSpPr>
          <p:nvPr>
            <p:ph idx="1"/>
          </p:nvPr>
        </p:nvSpPr>
        <p:spPr/>
        <p:txBody>
          <a:bodyPr>
            <a:normAutofit fontScale="92500" lnSpcReduction="20000"/>
          </a:bodyPr>
          <a:lstStyle/>
          <a:p>
            <a:r>
              <a:rPr lang="en-US" dirty="0">
                <a:latin typeface="Courier New" panose="02070309020205020404" pitchFamily="49" charset="0"/>
                <a:cs typeface="Courier New" panose="02070309020205020404" pitchFamily="49" charset="0"/>
              </a:rPr>
              <a:t>while</a:t>
            </a:r>
            <a:r>
              <a:rPr lang="en-US" dirty="0"/>
              <a:t> loops: execute the next statement or block so long as a condition is true (check before each iteration)</a:t>
            </a:r>
          </a:p>
          <a:p>
            <a:pPr marL="0" indent="0">
              <a:buNone/>
            </a:pPr>
            <a:r>
              <a:rPr lang="en-US" dirty="0"/>
              <a:t>	</a:t>
            </a:r>
            <a:r>
              <a:rPr lang="en-US" dirty="0">
                <a:latin typeface="Courier New" panose="02070309020205020404" pitchFamily="49" charset="0"/>
                <a:cs typeface="Courier New" panose="02070309020205020404" pitchFamily="49" charset="0"/>
              </a:rPr>
              <a:t>while(</a:t>
            </a:r>
            <a:r>
              <a:rPr lang="en-US" dirty="0" err="1">
                <a:latin typeface="Courier New" panose="02070309020205020404" pitchFamily="49" charset="0"/>
                <a:cs typeface="Courier New" panose="02070309020205020404" pitchFamily="49" charset="0"/>
              </a:rPr>
              <a:t>cond</a:t>
            </a:r>
            <a:r>
              <a:rPr lang="en-US" dirty="0">
                <a:latin typeface="Courier New" panose="02070309020205020404" pitchFamily="49" charset="0"/>
                <a:cs typeface="Courier New" panose="02070309020205020404" pitchFamily="49" charset="0"/>
              </a:rPr>
              <a:t>) {</a:t>
            </a:r>
          </a:p>
          <a:p>
            <a:pPr marL="0" indent="0">
              <a:buNone/>
            </a:pPr>
            <a:r>
              <a:rPr lang="en-US" dirty="0">
                <a:latin typeface="Courier New" panose="02070309020205020404" pitchFamily="49" charset="0"/>
                <a:cs typeface="Courier New" panose="02070309020205020404" pitchFamily="49" charset="0"/>
              </a:rPr>
              <a:t>		// do things</a:t>
            </a:r>
          </a:p>
          <a:p>
            <a:pPr marL="0" indent="0">
              <a:buNone/>
            </a:pPr>
            <a:r>
              <a:rPr lang="en-US" dirty="0">
                <a:latin typeface="Courier New" panose="02070309020205020404" pitchFamily="49" charset="0"/>
                <a:cs typeface="Courier New" panose="02070309020205020404" pitchFamily="49" charset="0"/>
              </a:rPr>
              <a:t>	}</a:t>
            </a:r>
          </a:p>
          <a:p>
            <a:r>
              <a:rPr lang="en-US" dirty="0">
                <a:latin typeface="Courier New" panose="02070309020205020404" pitchFamily="49" charset="0"/>
                <a:cs typeface="Courier New" panose="02070309020205020404" pitchFamily="49" charset="0"/>
              </a:rPr>
              <a:t>do-while</a:t>
            </a:r>
            <a:r>
              <a:rPr lang="en-US" dirty="0"/>
              <a:t> loops: execute the next statement or block, then repeat so long as a condition is true (check at the end of each iteration)</a:t>
            </a: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	do {</a:t>
            </a:r>
          </a:p>
          <a:p>
            <a:pPr marL="0" indent="0">
              <a:buNone/>
            </a:pPr>
            <a:r>
              <a:rPr lang="en-US" dirty="0">
                <a:latin typeface="Courier New" panose="02070309020205020404" pitchFamily="49" charset="0"/>
                <a:cs typeface="Courier New" panose="02070309020205020404" pitchFamily="49" charset="0"/>
              </a:rPr>
              <a:t>		// do things</a:t>
            </a:r>
          </a:p>
          <a:p>
            <a:pPr marL="0" indent="0">
              <a:buNone/>
            </a:pPr>
            <a:r>
              <a:rPr lang="en-US" dirty="0">
                <a:latin typeface="Courier New" panose="02070309020205020404" pitchFamily="49" charset="0"/>
                <a:cs typeface="Courier New" panose="02070309020205020404" pitchFamily="49" charset="0"/>
              </a:rPr>
              <a:t>	} while (</a:t>
            </a:r>
            <a:r>
              <a:rPr lang="en-US" dirty="0" err="1">
                <a:latin typeface="Courier New" panose="02070309020205020404" pitchFamily="49" charset="0"/>
                <a:cs typeface="Courier New" panose="02070309020205020404" pitchFamily="49" charset="0"/>
              </a:rPr>
              <a:t>cond</a:t>
            </a:r>
            <a:r>
              <a:rPr lang="en-US" dirty="0">
                <a:latin typeface="Courier New" panose="02070309020205020404" pitchFamily="49" charset="0"/>
                <a:cs typeface="Courier New" panose="02070309020205020404" pitchFamily="49" charset="0"/>
              </a:rPr>
              <a:t>)</a:t>
            </a:r>
          </a:p>
          <a:p>
            <a:pPr marL="0" indent="0">
              <a:buNone/>
            </a:pPr>
            <a:endParaRPr lang="en-US" dirty="0"/>
          </a:p>
        </p:txBody>
      </p:sp>
      <p:sp>
        <p:nvSpPr>
          <p:cNvPr id="4" name="Slide Number Placeholder 3">
            <a:extLst>
              <a:ext uri="{FF2B5EF4-FFF2-40B4-BE49-F238E27FC236}">
                <a16:creationId xmlns:a16="http://schemas.microsoft.com/office/drawing/2014/main" id="{CB3C87B9-A3AF-44FB-9F07-56164A1366F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28BC2-ACA3-447C-A909-F3F49211C066}" type="slidenum">
              <a:rPr kumimoji="0" lang="en-US" sz="1200" b="0" i="0" u="none" strike="noStrike" kern="1200" cap="none" spc="0" normalizeH="0" baseline="0" noProof="0" smtClean="0">
                <a:ln>
                  <a:noFill/>
                </a:ln>
                <a:solidFill>
                  <a:srgbClr val="A0A1A0"/>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78</a:t>
            </a:fld>
            <a:endParaRPr kumimoji="0" lang="en-US" sz="1200" b="0" i="0" u="none" strike="noStrike" kern="1200" cap="none" spc="0" normalizeH="0" baseline="0" noProof="0" dirty="0">
              <a:ln>
                <a:noFill/>
              </a:ln>
              <a:solidFill>
                <a:srgbClr val="A0A1A0"/>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6301470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45DAE-FC1D-4D9F-8DA0-619D59082BB1}"/>
              </a:ext>
            </a:extLst>
          </p:cNvPr>
          <p:cNvSpPr>
            <a:spLocks noGrp="1"/>
          </p:cNvSpPr>
          <p:nvPr>
            <p:ph type="title"/>
          </p:nvPr>
        </p:nvSpPr>
        <p:spPr/>
        <p:txBody>
          <a:bodyPr/>
          <a:lstStyle/>
          <a:p>
            <a:r>
              <a:rPr lang="en-US" dirty="0"/>
              <a:t>Loops (</a:t>
            </a:r>
            <a:r>
              <a:rPr lang="en-US" dirty="0" err="1"/>
              <a:t>cont</a:t>
            </a:r>
            <a:r>
              <a:rPr lang="en-US" dirty="0"/>
              <a:t>…)</a:t>
            </a:r>
          </a:p>
        </p:txBody>
      </p:sp>
      <p:sp>
        <p:nvSpPr>
          <p:cNvPr id="3" name="Content Placeholder 2">
            <a:extLst>
              <a:ext uri="{FF2B5EF4-FFF2-40B4-BE49-F238E27FC236}">
                <a16:creationId xmlns:a16="http://schemas.microsoft.com/office/drawing/2014/main" id="{F23CE559-D62F-4D53-8C53-5182A0631570}"/>
              </a:ext>
            </a:extLst>
          </p:cNvPr>
          <p:cNvSpPr>
            <a:spLocks noGrp="1"/>
          </p:cNvSpPr>
          <p:nvPr>
            <p:ph idx="1"/>
          </p:nvPr>
        </p:nvSpPr>
        <p:spPr/>
        <p:txBody>
          <a:bodyPr>
            <a:normAutofit fontScale="85000" lnSpcReduction="10000"/>
          </a:bodyPr>
          <a:lstStyle/>
          <a:p>
            <a:r>
              <a:rPr lang="en-US" dirty="0">
                <a:latin typeface="Courier New" panose="02070309020205020404" pitchFamily="49" charset="0"/>
                <a:cs typeface="Courier New" panose="02070309020205020404" pitchFamily="49" charset="0"/>
              </a:rPr>
              <a:t>for</a:t>
            </a:r>
            <a:r>
              <a:rPr lang="en-US" dirty="0"/>
              <a:t> loops: execute the next statement or block a specified number of times.</a:t>
            </a:r>
          </a:p>
          <a:p>
            <a:r>
              <a:rPr lang="en-US" dirty="0"/>
              <a:t>Standard for loops have 3 components</a:t>
            </a:r>
            <a:endParaRPr lang="en-US" sz="1400" dirty="0">
              <a:latin typeface="Courier New" panose="02070309020205020404" pitchFamily="49" charset="0"/>
              <a:cs typeface="Courier New" panose="02070309020205020404" pitchFamily="49" charset="0"/>
            </a:endParaRPr>
          </a:p>
          <a:p>
            <a:pPr marL="0" indent="0">
              <a:buNone/>
            </a:pPr>
            <a:r>
              <a:rPr lang="en-US" sz="1400" dirty="0">
                <a:latin typeface="Courier New" panose="02070309020205020404" pitchFamily="49" charset="0"/>
                <a:cs typeface="Courier New" panose="02070309020205020404" pitchFamily="49" charset="0"/>
              </a:rPr>
              <a:t>	</a:t>
            </a:r>
            <a:r>
              <a:rPr lang="en-US" sz="2200" dirty="0">
                <a:latin typeface="Courier New" panose="02070309020205020404" pitchFamily="49" charset="0"/>
                <a:cs typeface="Courier New" panose="02070309020205020404" pitchFamily="49" charset="0"/>
              </a:rPr>
              <a:t>for(initialization; condition; adjustment){</a:t>
            </a:r>
          </a:p>
          <a:p>
            <a:pPr marL="400050" lvl="1" indent="0">
              <a:buNone/>
            </a:pPr>
            <a:r>
              <a:rPr lang="en-US" sz="2200" dirty="0">
                <a:latin typeface="Courier New" panose="02070309020205020404" pitchFamily="49" charset="0"/>
                <a:cs typeface="Courier New" panose="02070309020205020404" pitchFamily="49" charset="0"/>
              </a:rPr>
              <a:t>		// do things</a:t>
            </a:r>
          </a:p>
          <a:p>
            <a:pPr marL="400050" lvl="1" indent="0">
              <a:buNone/>
            </a:pPr>
            <a:r>
              <a:rPr lang="en-US" sz="2200" dirty="0">
                <a:latin typeface="Courier New" panose="02070309020205020404" pitchFamily="49" charset="0"/>
                <a:cs typeface="Courier New" panose="02070309020205020404" pitchFamily="49" charset="0"/>
              </a:rPr>
              <a:t>	}</a:t>
            </a:r>
          </a:p>
          <a:p>
            <a:r>
              <a:rPr lang="en-US" u="sng" dirty="0"/>
              <a:t>Initialization</a:t>
            </a:r>
            <a:r>
              <a:rPr lang="en-US" dirty="0"/>
              <a:t>: a statement that is executed once at the start of the loop</a:t>
            </a:r>
          </a:p>
          <a:p>
            <a:r>
              <a:rPr lang="en-US" u="sng" dirty="0"/>
              <a:t>Condition</a:t>
            </a:r>
            <a:r>
              <a:rPr lang="en-US" dirty="0"/>
              <a:t>: A check performed at the start of each iteration to determine if the loop should continue</a:t>
            </a:r>
          </a:p>
          <a:p>
            <a:r>
              <a:rPr lang="en-US" u="sng" dirty="0"/>
              <a:t>Adjustment</a:t>
            </a:r>
            <a:r>
              <a:rPr lang="en-US" dirty="0"/>
              <a:t>: A statement that is execute at the end of each iteration, before the condition is checked again</a:t>
            </a:r>
          </a:p>
        </p:txBody>
      </p:sp>
      <p:sp>
        <p:nvSpPr>
          <p:cNvPr id="4" name="Slide Number Placeholder 3">
            <a:extLst>
              <a:ext uri="{FF2B5EF4-FFF2-40B4-BE49-F238E27FC236}">
                <a16:creationId xmlns:a16="http://schemas.microsoft.com/office/drawing/2014/main" id="{CB3C87B9-A3AF-44FB-9F07-56164A1366F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28BC2-ACA3-447C-A909-F3F49211C066}" type="slidenum">
              <a:rPr kumimoji="0" lang="en-US" sz="1200" b="0" i="0" u="none" strike="noStrike" kern="1200" cap="none" spc="0" normalizeH="0" baseline="0" noProof="0" smtClean="0">
                <a:ln>
                  <a:noFill/>
                </a:ln>
                <a:solidFill>
                  <a:srgbClr val="A0A1A0"/>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79</a:t>
            </a:fld>
            <a:endParaRPr kumimoji="0" lang="en-US" sz="1200" b="0" i="0" u="none" strike="noStrike" kern="1200" cap="none" spc="0" normalizeH="0" baseline="0" noProof="0" dirty="0">
              <a:ln>
                <a:noFill/>
              </a:ln>
              <a:solidFill>
                <a:srgbClr val="A0A1A0"/>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41996790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45DAE-FC1D-4D9F-8DA0-619D59082BB1}"/>
              </a:ext>
            </a:extLst>
          </p:cNvPr>
          <p:cNvSpPr>
            <a:spLocks noGrp="1"/>
          </p:cNvSpPr>
          <p:nvPr>
            <p:ph type="title"/>
          </p:nvPr>
        </p:nvSpPr>
        <p:spPr/>
        <p:txBody>
          <a:bodyPr/>
          <a:lstStyle/>
          <a:p>
            <a:r>
              <a:rPr lang="en-US" dirty="0"/>
              <a:t>Break</a:t>
            </a:r>
          </a:p>
        </p:txBody>
      </p:sp>
      <p:sp>
        <p:nvSpPr>
          <p:cNvPr id="3" name="Content Placeholder 2">
            <a:extLst>
              <a:ext uri="{FF2B5EF4-FFF2-40B4-BE49-F238E27FC236}">
                <a16:creationId xmlns:a16="http://schemas.microsoft.com/office/drawing/2014/main" id="{F23CE559-D62F-4D53-8C53-5182A0631570}"/>
              </a:ext>
            </a:extLst>
          </p:cNvPr>
          <p:cNvSpPr>
            <a:spLocks noGrp="1"/>
          </p:cNvSpPr>
          <p:nvPr>
            <p:ph idx="1"/>
          </p:nvPr>
        </p:nvSpPr>
        <p:spPr>
          <a:xfrm>
            <a:off x="380010" y="1481446"/>
            <a:ext cx="4551466" cy="4525963"/>
          </a:xfrm>
        </p:spPr>
        <p:txBody>
          <a:bodyPr>
            <a:normAutofit/>
          </a:bodyPr>
          <a:lstStyle/>
          <a:p>
            <a:r>
              <a:rPr lang="en-US" dirty="0"/>
              <a:t>The </a:t>
            </a:r>
            <a:r>
              <a:rPr lang="en-US" dirty="0">
                <a:latin typeface="Courier New" panose="02070309020205020404" pitchFamily="49" charset="0"/>
                <a:cs typeface="Courier New" panose="02070309020205020404" pitchFamily="49" charset="0"/>
              </a:rPr>
              <a:t>break</a:t>
            </a:r>
            <a:r>
              <a:rPr lang="en-US" dirty="0"/>
              <a:t> statement is used to transfer control out of the enclosing statement. This statement can be used with </a:t>
            </a:r>
            <a:r>
              <a:rPr lang="en-US" dirty="0">
                <a:latin typeface="Courier New" panose="02070309020205020404" pitchFamily="49" charset="0"/>
                <a:cs typeface="Courier New" panose="02070309020205020404" pitchFamily="49" charset="0"/>
              </a:rPr>
              <a:t>while</a:t>
            </a:r>
            <a:r>
              <a:rPr lang="en-US" dirty="0"/>
              <a:t>, </a:t>
            </a:r>
            <a:r>
              <a:rPr lang="en-US" dirty="0">
                <a:latin typeface="Courier New" panose="02070309020205020404" pitchFamily="49" charset="0"/>
                <a:cs typeface="Courier New" panose="02070309020205020404" pitchFamily="49" charset="0"/>
              </a:rPr>
              <a:t>do/while</a:t>
            </a:r>
            <a:r>
              <a:rPr lang="en-US" dirty="0"/>
              <a:t>, </a:t>
            </a:r>
            <a:r>
              <a:rPr lang="en-US" dirty="0">
                <a:latin typeface="Courier New" panose="02070309020205020404" pitchFamily="49" charset="0"/>
                <a:cs typeface="Courier New" panose="02070309020205020404" pitchFamily="49" charset="0"/>
              </a:rPr>
              <a:t>for</a:t>
            </a:r>
            <a:r>
              <a:rPr lang="en-US" dirty="0"/>
              <a:t> loops and </a:t>
            </a:r>
            <a:r>
              <a:rPr lang="en-US" dirty="0">
                <a:latin typeface="Courier New" panose="02070309020205020404" pitchFamily="49" charset="0"/>
                <a:cs typeface="Courier New" panose="02070309020205020404" pitchFamily="49" charset="0"/>
              </a:rPr>
              <a:t>switch</a:t>
            </a:r>
            <a:r>
              <a:rPr lang="en-US" dirty="0"/>
              <a:t> statements.</a:t>
            </a:r>
          </a:p>
        </p:txBody>
      </p:sp>
      <p:sp>
        <p:nvSpPr>
          <p:cNvPr id="4" name="Slide Number Placeholder 3">
            <a:extLst>
              <a:ext uri="{FF2B5EF4-FFF2-40B4-BE49-F238E27FC236}">
                <a16:creationId xmlns:a16="http://schemas.microsoft.com/office/drawing/2014/main" id="{CB3C87B9-A3AF-44FB-9F07-56164A1366F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28BC2-ACA3-447C-A909-F3F49211C066}" type="slidenum">
              <a:rPr kumimoji="0" lang="en-US" sz="1200" b="0" i="0" u="none" strike="noStrike" kern="1200" cap="none" spc="0" normalizeH="0" baseline="0" noProof="0" smtClean="0">
                <a:ln>
                  <a:noFill/>
                </a:ln>
                <a:solidFill>
                  <a:srgbClr val="A0A1A0"/>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80</a:t>
            </a:fld>
            <a:endParaRPr kumimoji="0" lang="en-US" sz="1200" b="0" i="0" u="none" strike="noStrike" kern="1200" cap="none" spc="0" normalizeH="0" baseline="0" noProof="0" dirty="0">
              <a:ln>
                <a:noFill/>
              </a:ln>
              <a:solidFill>
                <a:srgbClr val="A0A1A0"/>
              </a:solidFill>
              <a:effectLst/>
              <a:uLnTx/>
              <a:uFillTx/>
              <a:latin typeface="Arial" panose="020B0604020202020204" pitchFamily="34" charset="0"/>
              <a:ea typeface="+mn-ea"/>
              <a:cs typeface="Arial" panose="020B0604020202020204" pitchFamily="34" charset="0"/>
            </a:endParaRPr>
          </a:p>
        </p:txBody>
      </p:sp>
      <p:pic>
        <p:nvPicPr>
          <p:cNvPr id="6" name="Picture 5">
            <a:extLst>
              <a:ext uri="{FF2B5EF4-FFF2-40B4-BE49-F238E27FC236}">
                <a16:creationId xmlns:a16="http://schemas.microsoft.com/office/drawing/2014/main" id="{03FF9547-5D61-4BC1-B882-7E9FD905C8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31476" y="1641058"/>
            <a:ext cx="3622116" cy="4206738"/>
          </a:xfrm>
          <a:prstGeom prst="rect">
            <a:avLst/>
          </a:prstGeom>
        </p:spPr>
      </p:pic>
    </p:spTree>
    <p:extLst>
      <p:ext uri="{BB962C8B-B14F-4D97-AF65-F5344CB8AC3E}">
        <p14:creationId xmlns:p14="http://schemas.microsoft.com/office/powerpoint/2010/main" val="274275312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45DAE-FC1D-4D9F-8DA0-619D59082BB1}"/>
              </a:ext>
            </a:extLst>
          </p:cNvPr>
          <p:cNvSpPr>
            <a:spLocks noGrp="1"/>
          </p:cNvSpPr>
          <p:nvPr>
            <p:ph type="title"/>
          </p:nvPr>
        </p:nvSpPr>
        <p:spPr/>
        <p:txBody>
          <a:bodyPr/>
          <a:lstStyle/>
          <a:p>
            <a:r>
              <a:rPr lang="en-US" dirty="0"/>
              <a:t>Continue</a:t>
            </a:r>
          </a:p>
        </p:txBody>
      </p:sp>
      <p:sp>
        <p:nvSpPr>
          <p:cNvPr id="3" name="Content Placeholder 2">
            <a:extLst>
              <a:ext uri="{FF2B5EF4-FFF2-40B4-BE49-F238E27FC236}">
                <a16:creationId xmlns:a16="http://schemas.microsoft.com/office/drawing/2014/main" id="{F23CE559-D62F-4D53-8C53-5182A0631570}"/>
              </a:ext>
            </a:extLst>
          </p:cNvPr>
          <p:cNvSpPr>
            <a:spLocks noGrp="1"/>
          </p:cNvSpPr>
          <p:nvPr>
            <p:ph idx="1"/>
          </p:nvPr>
        </p:nvSpPr>
        <p:spPr>
          <a:xfrm>
            <a:off x="380010" y="1481446"/>
            <a:ext cx="4551466" cy="4525963"/>
          </a:xfrm>
        </p:spPr>
        <p:txBody>
          <a:bodyPr>
            <a:normAutofit/>
          </a:bodyPr>
          <a:lstStyle/>
          <a:p>
            <a:r>
              <a:rPr lang="en-US" dirty="0"/>
              <a:t>The </a:t>
            </a:r>
            <a:r>
              <a:rPr lang="en-US" dirty="0">
                <a:latin typeface="Courier New" panose="02070309020205020404" pitchFamily="49" charset="0"/>
                <a:cs typeface="Courier New" panose="02070309020205020404" pitchFamily="49" charset="0"/>
              </a:rPr>
              <a:t>continue</a:t>
            </a:r>
            <a:r>
              <a:rPr lang="en-US" dirty="0"/>
              <a:t> statement is used to finish execution of the current, enclosing statement. This statement can be used with </a:t>
            </a:r>
            <a:r>
              <a:rPr lang="en-US" dirty="0">
                <a:latin typeface="Courier New" panose="02070309020205020404" pitchFamily="49" charset="0"/>
                <a:cs typeface="Courier New" panose="02070309020205020404" pitchFamily="49" charset="0"/>
              </a:rPr>
              <a:t>while</a:t>
            </a:r>
            <a:r>
              <a:rPr lang="en-US" dirty="0"/>
              <a:t>, </a:t>
            </a:r>
            <a:r>
              <a:rPr lang="en-US" dirty="0">
                <a:latin typeface="Courier New" panose="02070309020205020404" pitchFamily="49" charset="0"/>
                <a:cs typeface="Courier New" panose="02070309020205020404" pitchFamily="49" charset="0"/>
              </a:rPr>
              <a:t>do/while</a:t>
            </a:r>
            <a:r>
              <a:rPr lang="en-US" dirty="0"/>
              <a:t>, </a:t>
            </a:r>
            <a:r>
              <a:rPr lang="en-US" dirty="0">
                <a:latin typeface="Courier New" panose="02070309020205020404" pitchFamily="49" charset="0"/>
                <a:cs typeface="Courier New" panose="02070309020205020404" pitchFamily="49" charset="0"/>
              </a:rPr>
              <a:t>for</a:t>
            </a:r>
            <a:r>
              <a:rPr lang="en-US" dirty="0"/>
              <a:t> loops and </a:t>
            </a:r>
            <a:r>
              <a:rPr lang="en-US" dirty="0">
                <a:latin typeface="Courier New" panose="02070309020205020404" pitchFamily="49" charset="0"/>
                <a:cs typeface="Courier New" panose="02070309020205020404" pitchFamily="49" charset="0"/>
              </a:rPr>
              <a:t>switch</a:t>
            </a:r>
            <a:r>
              <a:rPr lang="en-US" dirty="0"/>
              <a:t> statements.</a:t>
            </a:r>
          </a:p>
        </p:txBody>
      </p:sp>
      <p:sp>
        <p:nvSpPr>
          <p:cNvPr id="4" name="Slide Number Placeholder 3">
            <a:extLst>
              <a:ext uri="{FF2B5EF4-FFF2-40B4-BE49-F238E27FC236}">
                <a16:creationId xmlns:a16="http://schemas.microsoft.com/office/drawing/2014/main" id="{CB3C87B9-A3AF-44FB-9F07-56164A1366F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28BC2-ACA3-447C-A909-F3F49211C066}" type="slidenum">
              <a:rPr kumimoji="0" lang="en-US" sz="1200" b="0" i="0" u="none" strike="noStrike" kern="1200" cap="none" spc="0" normalizeH="0" baseline="0" noProof="0" smtClean="0">
                <a:ln>
                  <a:noFill/>
                </a:ln>
                <a:solidFill>
                  <a:srgbClr val="A0A1A0"/>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81</a:t>
            </a:fld>
            <a:endParaRPr kumimoji="0" lang="en-US" sz="1200" b="0" i="0" u="none" strike="noStrike" kern="1200" cap="none" spc="0" normalizeH="0" baseline="0" noProof="0" dirty="0">
              <a:ln>
                <a:noFill/>
              </a:ln>
              <a:solidFill>
                <a:srgbClr val="A0A1A0"/>
              </a:solidFill>
              <a:effectLst/>
              <a:uLnTx/>
              <a:uFillTx/>
              <a:latin typeface="Arial" panose="020B0604020202020204" pitchFamily="34" charset="0"/>
              <a:ea typeface="+mn-ea"/>
              <a:cs typeface="Arial" panose="020B0604020202020204" pitchFamily="34" charset="0"/>
            </a:endParaRPr>
          </a:p>
        </p:txBody>
      </p:sp>
      <p:pic>
        <p:nvPicPr>
          <p:cNvPr id="7" name="Picture 6">
            <a:extLst>
              <a:ext uri="{FF2B5EF4-FFF2-40B4-BE49-F238E27FC236}">
                <a16:creationId xmlns:a16="http://schemas.microsoft.com/office/drawing/2014/main" id="{818AEEA3-88DF-48D6-A589-E1416F3166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19044" y="1658016"/>
            <a:ext cx="3744946" cy="4349393"/>
          </a:xfrm>
          <a:prstGeom prst="rect">
            <a:avLst/>
          </a:prstGeom>
        </p:spPr>
      </p:pic>
    </p:spTree>
    <p:extLst>
      <p:ext uri="{BB962C8B-B14F-4D97-AF65-F5344CB8AC3E}">
        <p14:creationId xmlns:p14="http://schemas.microsoft.com/office/powerpoint/2010/main" val="361095392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8BADA-F22E-781B-536F-41E1DE6221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276152-EEE4-F900-E4B8-AE6349036A1B}"/>
              </a:ext>
            </a:extLst>
          </p:cNvPr>
          <p:cNvSpPr>
            <a:spLocks noGrp="1"/>
          </p:cNvSpPr>
          <p:nvPr>
            <p:ph type="title"/>
          </p:nvPr>
        </p:nvSpPr>
        <p:spPr/>
        <p:txBody>
          <a:bodyPr/>
          <a:lstStyle/>
          <a:p>
            <a:r>
              <a:rPr lang="en-US" dirty="0"/>
              <a:t>Labels</a:t>
            </a:r>
          </a:p>
        </p:txBody>
      </p:sp>
      <p:sp>
        <p:nvSpPr>
          <p:cNvPr id="3" name="Content Placeholder 2">
            <a:extLst>
              <a:ext uri="{FF2B5EF4-FFF2-40B4-BE49-F238E27FC236}">
                <a16:creationId xmlns:a16="http://schemas.microsoft.com/office/drawing/2014/main" id="{6B09A1E3-CE2E-041E-AB7F-1B52DDD95604}"/>
              </a:ext>
            </a:extLst>
          </p:cNvPr>
          <p:cNvSpPr>
            <a:spLocks noGrp="1"/>
          </p:cNvSpPr>
          <p:nvPr>
            <p:ph idx="1"/>
          </p:nvPr>
        </p:nvSpPr>
        <p:spPr>
          <a:xfrm>
            <a:off x="380010" y="1343892"/>
            <a:ext cx="8383980" cy="2408184"/>
          </a:xfrm>
        </p:spPr>
        <p:txBody>
          <a:bodyPr>
            <a:normAutofit fontScale="70000" lnSpcReduction="20000"/>
          </a:bodyPr>
          <a:lstStyle/>
          <a:p>
            <a:r>
              <a:rPr lang="en-US" dirty="0"/>
              <a:t>Break and continue always apply to the immediately enclosing control statement, unless used with a </a:t>
            </a:r>
            <a:r>
              <a:rPr lang="en-US" b="1" i="1" dirty="0"/>
              <a:t>label</a:t>
            </a:r>
          </a:p>
          <a:p>
            <a:r>
              <a:rPr lang="en-US" b="1" i="1" dirty="0"/>
              <a:t>Labels</a:t>
            </a:r>
            <a:r>
              <a:rPr lang="en-US" dirty="0"/>
              <a:t> are tools which provide greater control in control-flow logic.</a:t>
            </a:r>
          </a:p>
          <a:p>
            <a:r>
              <a:rPr lang="en-US" dirty="0"/>
              <a:t>A label is a name given to a control statement and can then be used with a break or continue statement to reference an outer control statement.</a:t>
            </a:r>
          </a:p>
          <a:p>
            <a:pPr lvl="1"/>
            <a:r>
              <a:rPr lang="en-US" dirty="0"/>
              <a:t>i.e. When nesting loops/control statements, labels allow you to choose which control statement the break/continue logic should be applied.</a:t>
            </a:r>
          </a:p>
        </p:txBody>
      </p:sp>
      <p:sp>
        <p:nvSpPr>
          <p:cNvPr id="4" name="Slide Number Placeholder 3">
            <a:extLst>
              <a:ext uri="{FF2B5EF4-FFF2-40B4-BE49-F238E27FC236}">
                <a16:creationId xmlns:a16="http://schemas.microsoft.com/office/drawing/2014/main" id="{48F7DC64-A9B2-4943-39E9-0935588883B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28BC2-ACA3-447C-A909-F3F49211C066}" type="slidenum">
              <a:rPr kumimoji="0" lang="en-US" sz="1200" b="0" i="0" u="none" strike="noStrike" kern="1200" cap="none" spc="0" normalizeH="0" baseline="0" noProof="0" smtClean="0">
                <a:ln>
                  <a:noFill/>
                </a:ln>
                <a:solidFill>
                  <a:srgbClr val="A0A1A0"/>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82</a:t>
            </a:fld>
            <a:endParaRPr kumimoji="0" lang="en-US" sz="1200" b="0" i="0" u="none" strike="noStrike" kern="1200" cap="none" spc="0" normalizeH="0" baseline="0" noProof="0" dirty="0">
              <a:ln>
                <a:noFill/>
              </a:ln>
              <a:solidFill>
                <a:srgbClr val="A0A1A0"/>
              </a:solidFill>
              <a:effectLst/>
              <a:uLnTx/>
              <a:uFillTx/>
              <a:latin typeface="Arial" panose="020B0604020202020204" pitchFamily="34" charset="0"/>
              <a:ea typeface="+mn-ea"/>
              <a:cs typeface="Arial" panose="020B0604020202020204" pitchFamily="34" charset="0"/>
            </a:endParaRPr>
          </a:p>
        </p:txBody>
      </p:sp>
      <p:pic>
        <p:nvPicPr>
          <p:cNvPr id="5" name="Picture 4">
            <a:extLst>
              <a:ext uri="{FF2B5EF4-FFF2-40B4-BE49-F238E27FC236}">
                <a16:creationId xmlns:a16="http://schemas.microsoft.com/office/drawing/2014/main" id="{E566B051-2C5F-5FEE-AA26-B4724133C28A}"/>
              </a:ext>
            </a:extLst>
          </p:cNvPr>
          <p:cNvPicPr>
            <a:picLocks noChangeAspect="1"/>
          </p:cNvPicPr>
          <p:nvPr/>
        </p:nvPicPr>
        <p:blipFill>
          <a:blip r:embed="rId2"/>
          <a:stretch>
            <a:fillRect/>
          </a:stretch>
        </p:blipFill>
        <p:spPr>
          <a:xfrm>
            <a:off x="1264757" y="3927554"/>
            <a:ext cx="6858000" cy="2898000"/>
          </a:xfrm>
          <a:prstGeom prst="rect">
            <a:avLst/>
          </a:prstGeom>
        </p:spPr>
      </p:pic>
    </p:spTree>
    <p:extLst>
      <p:ext uri="{BB962C8B-B14F-4D97-AF65-F5344CB8AC3E}">
        <p14:creationId xmlns:p14="http://schemas.microsoft.com/office/powerpoint/2010/main" val="295469947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36250-9352-08CE-C57F-3CEBB5BC55F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CE12245-A732-9C5D-AB72-CC224C73E67C}"/>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83</a:t>
            </a:fld>
            <a:endParaRPr lang="en-US"/>
          </a:p>
        </p:txBody>
      </p:sp>
      <p:sp>
        <p:nvSpPr>
          <p:cNvPr id="4" name="Google Shape;212;p15">
            <a:extLst>
              <a:ext uri="{FF2B5EF4-FFF2-40B4-BE49-F238E27FC236}">
                <a16:creationId xmlns:a16="http://schemas.microsoft.com/office/drawing/2014/main" id="{1F9C05A6-8B5C-AA40-1D54-5D2B89FF83FD}"/>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Arrays</a:t>
            </a:r>
          </a:p>
        </p:txBody>
      </p:sp>
      <p:pic>
        <p:nvPicPr>
          <p:cNvPr id="6" name="Picture 5">
            <a:extLst>
              <a:ext uri="{FF2B5EF4-FFF2-40B4-BE49-F238E27FC236}">
                <a16:creationId xmlns:a16="http://schemas.microsoft.com/office/drawing/2014/main" id="{0A969951-0B09-9C8B-22E8-24038FF7F231}"/>
              </a:ext>
            </a:extLst>
          </p:cNvPr>
          <p:cNvPicPr>
            <a:picLocks noChangeAspect="1"/>
          </p:cNvPicPr>
          <p:nvPr/>
        </p:nvPicPr>
        <p:blipFill>
          <a:blip r:embed="rId2"/>
          <a:stretch>
            <a:fillRect/>
          </a:stretch>
        </p:blipFill>
        <p:spPr>
          <a:xfrm>
            <a:off x="7036646" y="0"/>
            <a:ext cx="2107354" cy="773112"/>
          </a:xfrm>
          <a:prstGeom prst="rect">
            <a:avLst/>
          </a:prstGeom>
        </p:spPr>
      </p:pic>
    </p:spTree>
    <p:extLst>
      <p:ext uri="{BB962C8B-B14F-4D97-AF65-F5344CB8AC3E}">
        <p14:creationId xmlns:p14="http://schemas.microsoft.com/office/powerpoint/2010/main" val="329585812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94296-2B15-498A-8F5E-F4A56333572D}"/>
              </a:ext>
            </a:extLst>
          </p:cNvPr>
          <p:cNvSpPr>
            <a:spLocks noGrp="1"/>
          </p:cNvSpPr>
          <p:nvPr>
            <p:ph type="title"/>
          </p:nvPr>
        </p:nvSpPr>
        <p:spPr/>
        <p:txBody>
          <a:bodyPr/>
          <a:lstStyle/>
          <a:p>
            <a:r>
              <a:rPr lang="en-US" dirty="0"/>
              <a:t>Arrays</a:t>
            </a:r>
          </a:p>
        </p:txBody>
      </p:sp>
      <p:sp>
        <p:nvSpPr>
          <p:cNvPr id="3" name="Content Placeholder 2">
            <a:extLst>
              <a:ext uri="{FF2B5EF4-FFF2-40B4-BE49-F238E27FC236}">
                <a16:creationId xmlns:a16="http://schemas.microsoft.com/office/drawing/2014/main" id="{90B6C1EF-58CD-435A-8C5C-FCF1FB124AB6}"/>
              </a:ext>
            </a:extLst>
          </p:cNvPr>
          <p:cNvSpPr>
            <a:spLocks noGrp="1"/>
          </p:cNvSpPr>
          <p:nvPr>
            <p:ph idx="1"/>
          </p:nvPr>
        </p:nvSpPr>
        <p:spPr>
          <a:xfrm>
            <a:off x="380010" y="1481446"/>
            <a:ext cx="8383980" cy="5006903"/>
          </a:xfrm>
        </p:spPr>
        <p:txBody>
          <a:bodyPr>
            <a:normAutofit fontScale="92500" lnSpcReduction="10000"/>
          </a:bodyPr>
          <a:lstStyle/>
          <a:p>
            <a:r>
              <a:rPr lang="en-US" dirty="0"/>
              <a:t>An array is a special type of object that acts as a collection of multiple values.</a:t>
            </a:r>
          </a:p>
          <a:p>
            <a:pPr lvl="1"/>
            <a:r>
              <a:rPr lang="en-US" dirty="0"/>
              <a:t>Pretty useful, since a variable can only hold one value</a:t>
            </a:r>
          </a:p>
          <a:p>
            <a:pPr lvl="1"/>
            <a:r>
              <a:rPr lang="en-US" dirty="0"/>
              <a:t>A variable can hold an array, the array holds multiple values</a:t>
            </a:r>
          </a:p>
          <a:p>
            <a:r>
              <a:rPr lang="en-US" dirty="0"/>
              <a:t>Arrays are distinguished with square brackets [ ].</a:t>
            </a:r>
          </a:p>
          <a:p>
            <a:r>
              <a:rPr lang="en-US" dirty="0"/>
              <a:t>Arrays use special areas of memory on the heap reserved for a designated number of elements. This means that the size of Arrays in java are fixed when the array is created.</a:t>
            </a:r>
          </a:p>
          <a:p>
            <a:r>
              <a:rPr lang="en-US" dirty="0"/>
              <a:t>Note that there are many structures in Java that use Array as a base, such as Strings and various types of collections, like </a:t>
            </a:r>
            <a:r>
              <a:rPr lang="en-US" dirty="0" err="1"/>
              <a:t>ArrayList</a:t>
            </a:r>
            <a:r>
              <a:rPr lang="en-US" dirty="0"/>
              <a:t>. </a:t>
            </a:r>
          </a:p>
          <a:p>
            <a:pPr marL="457200" lvl="1" indent="0">
              <a:buNone/>
            </a:pPr>
            <a:endParaRPr lang="en-US" dirty="0">
              <a:latin typeface="+mj-lt"/>
              <a:cs typeface="Courier New" panose="02070309020205020404" pitchFamily="49" charset="0"/>
            </a:endParaRPr>
          </a:p>
        </p:txBody>
      </p:sp>
      <p:sp>
        <p:nvSpPr>
          <p:cNvPr id="4" name="Slide Number Placeholder 3">
            <a:extLst>
              <a:ext uri="{FF2B5EF4-FFF2-40B4-BE49-F238E27FC236}">
                <a16:creationId xmlns:a16="http://schemas.microsoft.com/office/drawing/2014/main" id="{55F453BC-BA61-4505-8D5B-3842E165F52D}"/>
              </a:ext>
            </a:extLst>
          </p:cNvPr>
          <p:cNvSpPr>
            <a:spLocks noGrp="1"/>
          </p:cNvSpPr>
          <p:nvPr>
            <p:ph type="sldNum" sz="quarter" idx="12"/>
          </p:nvPr>
        </p:nvSpPr>
        <p:spPr/>
        <p:txBody>
          <a:bodyPr/>
          <a:lstStyle/>
          <a:p>
            <a:fld id="{F6728BC2-ACA3-447C-A909-F3F49211C066}" type="slidenum">
              <a:rPr lang="en-US" smtClean="0"/>
              <a:pPr/>
              <a:t>84</a:t>
            </a:fld>
            <a:endParaRPr lang="en-US" dirty="0"/>
          </a:p>
        </p:txBody>
      </p:sp>
    </p:spTree>
    <p:extLst>
      <p:ext uri="{BB962C8B-B14F-4D97-AF65-F5344CB8AC3E}">
        <p14:creationId xmlns:p14="http://schemas.microsoft.com/office/powerpoint/2010/main" val="1796440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378ED-DCD4-4CB3-A743-F70B4CD5CE5A}"/>
              </a:ext>
            </a:extLst>
          </p:cNvPr>
          <p:cNvSpPr>
            <a:spLocks noGrp="1"/>
          </p:cNvSpPr>
          <p:nvPr>
            <p:ph type="title"/>
          </p:nvPr>
        </p:nvSpPr>
        <p:spPr/>
        <p:txBody>
          <a:bodyPr/>
          <a:lstStyle/>
          <a:p>
            <a:r>
              <a:rPr lang="en-US" dirty="0"/>
              <a:t>Creating Arrays</a:t>
            </a:r>
          </a:p>
        </p:txBody>
      </p:sp>
      <p:sp>
        <p:nvSpPr>
          <p:cNvPr id="3" name="Content Placeholder 2">
            <a:extLst>
              <a:ext uri="{FF2B5EF4-FFF2-40B4-BE49-F238E27FC236}">
                <a16:creationId xmlns:a16="http://schemas.microsoft.com/office/drawing/2014/main" id="{98368778-AB34-4592-861F-15E457AF24BB}"/>
              </a:ext>
            </a:extLst>
          </p:cNvPr>
          <p:cNvSpPr>
            <a:spLocks noGrp="1"/>
          </p:cNvSpPr>
          <p:nvPr>
            <p:ph idx="1"/>
          </p:nvPr>
        </p:nvSpPr>
        <p:spPr/>
        <p:txBody>
          <a:bodyPr>
            <a:normAutofit fontScale="92500" lnSpcReduction="10000"/>
          </a:bodyPr>
          <a:lstStyle/>
          <a:p>
            <a:r>
              <a:rPr lang="en-US" dirty="0">
                <a:latin typeface="+mj-lt"/>
                <a:cs typeface="Courier New" panose="02070309020205020404" pitchFamily="49" charset="0"/>
              </a:rPr>
              <a:t>The most common way of creating arrays uses the new keyword to specify the size and datatype of an array, but not the data therein. It looks like this:</a:t>
            </a:r>
          </a:p>
          <a:p>
            <a:pPr lvl="1"/>
            <a:r>
              <a:rPr lang="en-US" dirty="0">
                <a:latin typeface="Courier New" panose="02070309020205020404" pitchFamily="49" charset="0"/>
                <a:cs typeface="Courier New" panose="02070309020205020404" pitchFamily="49" charset="0"/>
              </a:rPr>
              <a:t>int[] numbers = new int[3]; </a:t>
            </a:r>
            <a:r>
              <a:rPr lang="en-US" dirty="0">
                <a:latin typeface="+mj-lt"/>
                <a:cs typeface="Courier New" panose="02070309020205020404" pitchFamily="49" charset="0"/>
              </a:rPr>
              <a:t>// An array of 3 </a:t>
            </a:r>
            <a:r>
              <a:rPr lang="en-US" dirty="0" err="1">
                <a:latin typeface="+mj-lt"/>
                <a:cs typeface="Courier New" panose="02070309020205020404" pitchFamily="49" charset="0"/>
              </a:rPr>
              <a:t>ints</a:t>
            </a:r>
            <a:endParaRPr lang="en-US" dirty="0">
              <a:latin typeface="+mj-lt"/>
              <a:cs typeface="Courier New" panose="02070309020205020404" pitchFamily="49" charset="0"/>
            </a:endParaRPr>
          </a:p>
          <a:p>
            <a:r>
              <a:rPr lang="en-US" dirty="0">
                <a:latin typeface="+mj-lt"/>
                <a:cs typeface="Courier New" panose="02070309020205020404" pitchFamily="49" charset="0"/>
              </a:rPr>
              <a:t>Alternatively, you can assign an array directly using curly braces { }:</a:t>
            </a:r>
          </a:p>
          <a:p>
            <a:pPr lvl="1"/>
            <a:r>
              <a:rPr lang="en-US" dirty="0">
                <a:latin typeface="Courier New" panose="02070309020205020404" pitchFamily="49" charset="0"/>
                <a:cs typeface="Courier New" panose="02070309020205020404" pitchFamily="49" charset="0"/>
              </a:rPr>
              <a:t>int[] numbers = new int[] {2, 4, 6}</a:t>
            </a:r>
            <a:r>
              <a:rPr lang="en-US" dirty="0">
                <a:latin typeface="+mj-lt"/>
                <a:cs typeface="Courier New" panose="02070309020205020404" pitchFamily="49" charset="0"/>
              </a:rPr>
              <a:t>;</a:t>
            </a:r>
          </a:p>
          <a:p>
            <a:r>
              <a:rPr lang="en-US" dirty="0"/>
              <a:t>It is also possible to create and assign an array without specifying the datatype of size explicitly. This is called an Anonymous Array:</a:t>
            </a:r>
          </a:p>
          <a:p>
            <a:pPr lvl="1"/>
            <a:r>
              <a:rPr lang="en-US" dirty="0">
                <a:latin typeface="Courier New" panose="02070309020205020404" pitchFamily="49" charset="0"/>
                <a:cs typeface="Courier New" panose="02070309020205020404" pitchFamily="49" charset="0"/>
              </a:rPr>
              <a:t>int[] numbers = {2, 4, 6}</a:t>
            </a:r>
            <a:r>
              <a:rPr lang="en-US" dirty="0">
                <a:latin typeface="+mj-lt"/>
                <a:cs typeface="Courier New" panose="02070309020205020404" pitchFamily="49" charset="0"/>
              </a:rPr>
              <a:t>;</a:t>
            </a:r>
            <a:br>
              <a:rPr lang="en-US" dirty="0">
                <a:latin typeface="Courier New" panose="02070309020205020404" pitchFamily="49" charset="0"/>
                <a:cs typeface="Courier New" panose="02070309020205020404" pitchFamily="49" charset="0"/>
              </a:rPr>
            </a:br>
            <a:r>
              <a:rPr lang="en-US" sz="1600" dirty="0">
                <a:latin typeface="Courier New" panose="02070309020205020404" pitchFamily="49" charset="0"/>
                <a:cs typeface="Courier New" panose="02070309020205020404" pitchFamily="49" charset="0"/>
              </a:rPr>
              <a:t>	</a:t>
            </a:r>
            <a:endParaRPr lang="en-US" dirty="0"/>
          </a:p>
        </p:txBody>
      </p:sp>
      <p:sp>
        <p:nvSpPr>
          <p:cNvPr id="4" name="Slide Number Placeholder 3">
            <a:extLst>
              <a:ext uri="{FF2B5EF4-FFF2-40B4-BE49-F238E27FC236}">
                <a16:creationId xmlns:a16="http://schemas.microsoft.com/office/drawing/2014/main" id="{7ABD2D29-CB29-4546-97A9-9CC20C136D7C}"/>
              </a:ext>
            </a:extLst>
          </p:cNvPr>
          <p:cNvSpPr>
            <a:spLocks noGrp="1"/>
          </p:cNvSpPr>
          <p:nvPr>
            <p:ph type="sldNum" sz="quarter" idx="12"/>
          </p:nvPr>
        </p:nvSpPr>
        <p:spPr/>
        <p:txBody>
          <a:bodyPr/>
          <a:lstStyle/>
          <a:p>
            <a:fld id="{F6728BC2-ACA3-447C-A909-F3F49211C066}" type="slidenum">
              <a:rPr lang="en-US" smtClean="0"/>
              <a:pPr/>
              <a:t>85</a:t>
            </a:fld>
            <a:endParaRPr lang="en-US" dirty="0"/>
          </a:p>
        </p:txBody>
      </p:sp>
    </p:spTree>
    <p:extLst>
      <p:ext uri="{BB962C8B-B14F-4D97-AF65-F5344CB8AC3E}">
        <p14:creationId xmlns:p14="http://schemas.microsoft.com/office/powerpoint/2010/main" val="1488757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378ED-DCD4-4CB3-A743-F70B4CD5CE5A}"/>
              </a:ext>
            </a:extLst>
          </p:cNvPr>
          <p:cNvSpPr>
            <a:spLocks noGrp="1"/>
          </p:cNvSpPr>
          <p:nvPr>
            <p:ph type="title"/>
          </p:nvPr>
        </p:nvSpPr>
        <p:spPr/>
        <p:txBody>
          <a:bodyPr/>
          <a:lstStyle/>
          <a:p>
            <a:r>
              <a:rPr lang="en-US" dirty="0"/>
              <a:t>Creating Arrays (</a:t>
            </a:r>
            <a:r>
              <a:rPr lang="en-US" dirty="0" err="1"/>
              <a:t>cont</a:t>
            </a:r>
            <a:r>
              <a:rPr lang="en-US" dirty="0"/>
              <a:t>)</a:t>
            </a:r>
          </a:p>
        </p:txBody>
      </p:sp>
      <p:sp>
        <p:nvSpPr>
          <p:cNvPr id="3" name="Content Placeholder 2">
            <a:extLst>
              <a:ext uri="{FF2B5EF4-FFF2-40B4-BE49-F238E27FC236}">
                <a16:creationId xmlns:a16="http://schemas.microsoft.com/office/drawing/2014/main" id="{98368778-AB34-4592-861F-15E457AF24BB}"/>
              </a:ext>
            </a:extLst>
          </p:cNvPr>
          <p:cNvSpPr>
            <a:spLocks noGrp="1"/>
          </p:cNvSpPr>
          <p:nvPr>
            <p:ph idx="1"/>
          </p:nvPr>
        </p:nvSpPr>
        <p:spPr>
          <a:xfrm>
            <a:off x="380010" y="1481446"/>
            <a:ext cx="8383980" cy="4764609"/>
          </a:xfrm>
        </p:spPr>
        <p:txBody>
          <a:bodyPr>
            <a:normAutofit/>
          </a:bodyPr>
          <a:lstStyle/>
          <a:p>
            <a:r>
              <a:rPr lang="en-US" dirty="0">
                <a:latin typeface="+mj-lt"/>
                <a:cs typeface="Courier New" panose="02070309020205020404" pitchFamily="49" charset="0"/>
              </a:rPr>
              <a:t>Although it is most common to see the square brackets immediately after the datatype, you can create an array by placing the square brackets after the datatype, or after the variable name, with or without a space.</a:t>
            </a:r>
          </a:p>
          <a:p>
            <a:r>
              <a:rPr lang="en-US" dirty="0">
                <a:latin typeface="+mj-lt"/>
                <a:cs typeface="Courier New" panose="02070309020205020404" pitchFamily="49" charset="0"/>
              </a:rPr>
              <a:t>All the following are effectively the same:</a:t>
            </a:r>
          </a:p>
          <a:p>
            <a:pPr lvl="1"/>
            <a:r>
              <a:rPr lang="en-US" dirty="0">
                <a:latin typeface="Courier New" panose="02070309020205020404" pitchFamily="49" charset="0"/>
                <a:cs typeface="Courier New" panose="02070309020205020404" pitchFamily="49" charset="0"/>
              </a:rPr>
              <a:t>int[] numbers;</a:t>
            </a:r>
          </a:p>
          <a:p>
            <a:pPr lvl="1"/>
            <a:r>
              <a:rPr lang="en-US" dirty="0">
                <a:latin typeface="Courier New" panose="02070309020205020404" pitchFamily="49" charset="0"/>
                <a:cs typeface="Courier New" panose="02070309020205020404" pitchFamily="49" charset="0"/>
              </a:rPr>
              <a:t>int [] numbers;</a:t>
            </a:r>
            <a:endParaRPr lang="en-US" sz="1600" dirty="0">
              <a:latin typeface="Courier New" panose="02070309020205020404" pitchFamily="49" charset="0"/>
              <a:cs typeface="Courier New" panose="02070309020205020404" pitchFamily="49" charset="0"/>
            </a:endParaRPr>
          </a:p>
          <a:p>
            <a:pPr lvl="1"/>
            <a:r>
              <a:rPr lang="en-US" dirty="0">
                <a:latin typeface="Courier New" panose="02070309020205020404" pitchFamily="49" charset="0"/>
                <a:cs typeface="Courier New" panose="02070309020205020404" pitchFamily="49" charset="0"/>
              </a:rPr>
              <a:t>int numbers[];</a:t>
            </a:r>
            <a:endParaRPr lang="en-US" sz="1600" dirty="0">
              <a:latin typeface="Courier New" panose="02070309020205020404" pitchFamily="49" charset="0"/>
              <a:cs typeface="Courier New" panose="02070309020205020404" pitchFamily="49" charset="0"/>
            </a:endParaRPr>
          </a:p>
          <a:p>
            <a:pPr lvl="1"/>
            <a:r>
              <a:rPr lang="en-US" dirty="0">
                <a:latin typeface="Courier New" panose="02070309020205020404" pitchFamily="49" charset="0"/>
                <a:cs typeface="Courier New" panose="02070309020205020404" pitchFamily="49" charset="0"/>
              </a:rPr>
              <a:t>int numbers [];</a:t>
            </a:r>
          </a:p>
        </p:txBody>
      </p:sp>
      <p:sp>
        <p:nvSpPr>
          <p:cNvPr id="4" name="Slide Number Placeholder 3">
            <a:extLst>
              <a:ext uri="{FF2B5EF4-FFF2-40B4-BE49-F238E27FC236}">
                <a16:creationId xmlns:a16="http://schemas.microsoft.com/office/drawing/2014/main" id="{7ABD2D29-CB29-4546-97A9-9CC20C136D7C}"/>
              </a:ext>
            </a:extLst>
          </p:cNvPr>
          <p:cNvSpPr>
            <a:spLocks noGrp="1"/>
          </p:cNvSpPr>
          <p:nvPr>
            <p:ph type="sldNum" sz="quarter" idx="12"/>
          </p:nvPr>
        </p:nvSpPr>
        <p:spPr/>
        <p:txBody>
          <a:bodyPr/>
          <a:lstStyle/>
          <a:p>
            <a:fld id="{F6728BC2-ACA3-447C-A909-F3F49211C066}" type="slidenum">
              <a:rPr lang="en-US" smtClean="0"/>
              <a:pPr/>
              <a:t>86</a:t>
            </a:fld>
            <a:endParaRPr lang="en-US" dirty="0"/>
          </a:p>
        </p:txBody>
      </p:sp>
    </p:spTree>
    <p:extLst>
      <p:ext uri="{BB962C8B-B14F-4D97-AF65-F5344CB8AC3E}">
        <p14:creationId xmlns:p14="http://schemas.microsoft.com/office/powerpoint/2010/main" val="1518413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378ED-DCD4-4CB3-A743-F70B4CD5CE5A}"/>
              </a:ext>
            </a:extLst>
          </p:cNvPr>
          <p:cNvSpPr>
            <a:spLocks noGrp="1"/>
          </p:cNvSpPr>
          <p:nvPr>
            <p:ph type="title"/>
          </p:nvPr>
        </p:nvSpPr>
        <p:spPr/>
        <p:txBody>
          <a:bodyPr/>
          <a:lstStyle/>
          <a:p>
            <a:r>
              <a:rPr lang="en-US" dirty="0"/>
              <a:t>Array Indexes</a:t>
            </a:r>
          </a:p>
        </p:txBody>
      </p:sp>
      <p:sp>
        <p:nvSpPr>
          <p:cNvPr id="3" name="Content Placeholder 2">
            <a:extLst>
              <a:ext uri="{FF2B5EF4-FFF2-40B4-BE49-F238E27FC236}">
                <a16:creationId xmlns:a16="http://schemas.microsoft.com/office/drawing/2014/main" id="{98368778-AB34-4592-861F-15E457AF24BB}"/>
              </a:ext>
            </a:extLst>
          </p:cNvPr>
          <p:cNvSpPr>
            <a:spLocks noGrp="1"/>
          </p:cNvSpPr>
          <p:nvPr>
            <p:ph idx="1"/>
          </p:nvPr>
        </p:nvSpPr>
        <p:spPr/>
        <p:txBody>
          <a:bodyPr>
            <a:normAutofit/>
          </a:bodyPr>
          <a:lstStyle/>
          <a:p>
            <a:r>
              <a:rPr lang="en-US" dirty="0"/>
              <a:t>The values stored in an array are accessed by their position, called an </a:t>
            </a:r>
            <a:r>
              <a:rPr lang="en-US" i="1" dirty="0"/>
              <a:t>index</a:t>
            </a:r>
            <a:r>
              <a:rPr lang="en-US" dirty="0"/>
              <a:t>. Index numbering starts at 0 in Java.</a:t>
            </a:r>
          </a:p>
          <a:p>
            <a:pPr marL="0" indent="0">
              <a:buNone/>
            </a:pPr>
            <a:r>
              <a:rPr lang="en-US" dirty="0"/>
              <a:t>	</a:t>
            </a:r>
            <a:r>
              <a:rPr lang="en-US" sz="2000" dirty="0">
                <a:latin typeface="Courier New" panose="02070309020205020404" pitchFamily="49" charset="0"/>
                <a:cs typeface="Courier New" panose="02070309020205020404" pitchFamily="49" charset="0"/>
              </a:rPr>
              <a:t>int[] </a:t>
            </a:r>
            <a:r>
              <a:rPr lang="en-US" sz="2000" dirty="0" err="1">
                <a:latin typeface="Courier New" panose="02070309020205020404" pitchFamily="49" charset="0"/>
                <a:cs typeface="Courier New" panose="02070309020205020404" pitchFamily="49" charset="0"/>
              </a:rPr>
              <a:t>arr</a:t>
            </a:r>
            <a:r>
              <a:rPr lang="en-US" sz="2000" dirty="0">
                <a:latin typeface="Courier New" panose="02070309020205020404" pitchFamily="49" charset="0"/>
                <a:cs typeface="Courier New" panose="02070309020205020404" pitchFamily="49" charset="0"/>
              </a:rPr>
              <a:t> = [12, 33, 65, 27, 99];</a:t>
            </a:r>
          </a:p>
          <a:p>
            <a:pPr marL="0" indent="0">
              <a:buNone/>
            </a:pPr>
            <a:endParaRPr lang="en-US" sz="2000" dirty="0">
              <a:latin typeface="Courier New" panose="02070309020205020404" pitchFamily="49" charset="0"/>
              <a:cs typeface="Courier New" panose="02070309020205020404" pitchFamily="49" charset="0"/>
            </a:endParaRPr>
          </a:p>
          <a:p>
            <a:pPr marL="0" indent="0">
              <a:buNone/>
            </a:pPr>
            <a:endParaRPr lang="en-US" sz="2000" dirty="0">
              <a:latin typeface="Courier New" panose="02070309020205020404" pitchFamily="49" charset="0"/>
              <a:cs typeface="Courier New" panose="02070309020205020404" pitchFamily="49" charset="0"/>
            </a:endParaRPr>
          </a:p>
          <a:p>
            <a:pPr marL="0" indent="0">
              <a:buNone/>
            </a:pP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System.out.println</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arr</a:t>
            </a:r>
            <a:r>
              <a:rPr lang="en-US" sz="2000" dirty="0">
                <a:latin typeface="Courier New" panose="02070309020205020404" pitchFamily="49" charset="0"/>
                <a:cs typeface="Courier New" panose="02070309020205020404" pitchFamily="49" charset="0"/>
              </a:rPr>
              <a:t>[1] ); // prints 33</a:t>
            </a:r>
          </a:p>
          <a:p>
            <a:pPr marL="0" indent="0">
              <a:buNone/>
            </a:pPr>
            <a:endParaRPr lang="en-US" dirty="0"/>
          </a:p>
        </p:txBody>
      </p:sp>
      <p:sp>
        <p:nvSpPr>
          <p:cNvPr id="4" name="Slide Number Placeholder 3">
            <a:extLst>
              <a:ext uri="{FF2B5EF4-FFF2-40B4-BE49-F238E27FC236}">
                <a16:creationId xmlns:a16="http://schemas.microsoft.com/office/drawing/2014/main" id="{7ABD2D29-CB29-4546-97A9-9CC20C136D7C}"/>
              </a:ext>
            </a:extLst>
          </p:cNvPr>
          <p:cNvSpPr>
            <a:spLocks noGrp="1"/>
          </p:cNvSpPr>
          <p:nvPr>
            <p:ph type="sldNum" sz="quarter" idx="12"/>
          </p:nvPr>
        </p:nvSpPr>
        <p:spPr/>
        <p:txBody>
          <a:bodyPr/>
          <a:lstStyle/>
          <a:p>
            <a:fld id="{F6728BC2-ACA3-447C-A909-F3F49211C066}" type="slidenum">
              <a:rPr lang="en-US" smtClean="0"/>
              <a:pPr/>
              <a:t>87</a:t>
            </a:fld>
            <a:endParaRPr lang="en-US" dirty="0"/>
          </a:p>
        </p:txBody>
      </p:sp>
      <p:graphicFrame>
        <p:nvGraphicFramePr>
          <p:cNvPr id="5" name="Table 5">
            <a:extLst>
              <a:ext uri="{FF2B5EF4-FFF2-40B4-BE49-F238E27FC236}">
                <a16:creationId xmlns:a16="http://schemas.microsoft.com/office/drawing/2014/main" id="{41BEB535-BBA5-4F01-8516-0E1AE2BAA6C9}"/>
              </a:ext>
            </a:extLst>
          </p:cNvPr>
          <p:cNvGraphicFramePr>
            <a:graphicFrameLocks noGrp="1"/>
          </p:cNvGraphicFramePr>
          <p:nvPr/>
        </p:nvGraphicFramePr>
        <p:xfrm>
          <a:off x="1444101" y="3607540"/>
          <a:ext cx="6096000" cy="741680"/>
        </p:xfrm>
        <a:graphic>
          <a:graphicData uri="http://schemas.openxmlformats.org/drawingml/2006/table">
            <a:tbl>
              <a:tblPr firstRow="1" bandRow="1">
                <a:tableStyleId>{5940675A-B579-460E-94D1-54222C63F5DA}</a:tableStyleId>
              </a:tblPr>
              <a:tblGrid>
                <a:gridCol w="1016000">
                  <a:extLst>
                    <a:ext uri="{9D8B030D-6E8A-4147-A177-3AD203B41FA5}">
                      <a16:colId xmlns:a16="http://schemas.microsoft.com/office/drawing/2014/main" val="1665035806"/>
                    </a:ext>
                  </a:extLst>
                </a:gridCol>
                <a:gridCol w="1016000">
                  <a:extLst>
                    <a:ext uri="{9D8B030D-6E8A-4147-A177-3AD203B41FA5}">
                      <a16:colId xmlns:a16="http://schemas.microsoft.com/office/drawing/2014/main" val="2076353056"/>
                    </a:ext>
                  </a:extLst>
                </a:gridCol>
                <a:gridCol w="1016000">
                  <a:extLst>
                    <a:ext uri="{9D8B030D-6E8A-4147-A177-3AD203B41FA5}">
                      <a16:colId xmlns:a16="http://schemas.microsoft.com/office/drawing/2014/main" val="1001811280"/>
                    </a:ext>
                  </a:extLst>
                </a:gridCol>
                <a:gridCol w="1016000">
                  <a:extLst>
                    <a:ext uri="{9D8B030D-6E8A-4147-A177-3AD203B41FA5}">
                      <a16:colId xmlns:a16="http://schemas.microsoft.com/office/drawing/2014/main" val="1028938085"/>
                    </a:ext>
                  </a:extLst>
                </a:gridCol>
                <a:gridCol w="1016000">
                  <a:extLst>
                    <a:ext uri="{9D8B030D-6E8A-4147-A177-3AD203B41FA5}">
                      <a16:colId xmlns:a16="http://schemas.microsoft.com/office/drawing/2014/main" val="178419337"/>
                    </a:ext>
                  </a:extLst>
                </a:gridCol>
                <a:gridCol w="1016000">
                  <a:extLst>
                    <a:ext uri="{9D8B030D-6E8A-4147-A177-3AD203B41FA5}">
                      <a16:colId xmlns:a16="http://schemas.microsoft.com/office/drawing/2014/main" val="3673442630"/>
                    </a:ext>
                  </a:extLst>
                </a:gridCol>
              </a:tblGrid>
              <a:tr h="370840">
                <a:tc>
                  <a:txBody>
                    <a:bodyPr/>
                    <a:lstStyle/>
                    <a:p>
                      <a:r>
                        <a:rPr lang="en-US" dirty="0"/>
                        <a:t>Index:</a:t>
                      </a:r>
                    </a:p>
                  </a:txBody>
                  <a:tcPr anchor="ctr">
                    <a:solidFill>
                      <a:schemeClr val="accent5">
                        <a:lumMod val="60000"/>
                        <a:lumOff val="40000"/>
                      </a:schemeClr>
                    </a:solidFill>
                  </a:tcPr>
                </a:tc>
                <a:tc>
                  <a:txBody>
                    <a:bodyPr/>
                    <a:lstStyle/>
                    <a:p>
                      <a:pPr algn="ctr"/>
                      <a:r>
                        <a:rPr lang="en-US" dirty="0"/>
                        <a:t>0</a:t>
                      </a:r>
                    </a:p>
                  </a:txBody>
                  <a:tcPr anchor="ctr"/>
                </a:tc>
                <a:tc>
                  <a:txBody>
                    <a:bodyPr/>
                    <a:lstStyle/>
                    <a:p>
                      <a:pPr algn="ctr"/>
                      <a:r>
                        <a:rPr lang="en-US" dirty="0"/>
                        <a:t>1</a:t>
                      </a:r>
                    </a:p>
                  </a:txBody>
                  <a:tcPr anchor="ctr"/>
                </a:tc>
                <a:tc>
                  <a:txBody>
                    <a:bodyPr/>
                    <a:lstStyle/>
                    <a:p>
                      <a:pPr algn="ctr"/>
                      <a:r>
                        <a:rPr lang="en-US" dirty="0"/>
                        <a:t>2</a:t>
                      </a:r>
                    </a:p>
                  </a:txBody>
                  <a:tcPr anchor="ctr"/>
                </a:tc>
                <a:tc>
                  <a:txBody>
                    <a:bodyPr/>
                    <a:lstStyle/>
                    <a:p>
                      <a:pPr algn="ctr"/>
                      <a:r>
                        <a:rPr lang="en-US" dirty="0"/>
                        <a:t>3</a:t>
                      </a:r>
                    </a:p>
                  </a:txBody>
                  <a:tcPr anchor="ctr"/>
                </a:tc>
                <a:tc>
                  <a:txBody>
                    <a:bodyPr/>
                    <a:lstStyle/>
                    <a:p>
                      <a:pPr algn="ctr"/>
                      <a:r>
                        <a:rPr lang="en-US" dirty="0"/>
                        <a:t>4</a:t>
                      </a:r>
                    </a:p>
                  </a:txBody>
                  <a:tcPr anchor="ctr"/>
                </a:tc>
                <a:extLst>
                  <a:ext uri="{0D108BD9-81ED-4DB2-BD59-A6C34878D82A}">
                    <a16:rowId xmlns:a16="http://schemas.microsoft.com/office/drawing/2014/main" val="1806836060"/>
                  </a:ext>
                </a:extLst>
              </a:tr>
              <a:tr h="370840">
                <a:tc>
                  <a:txBody>
                    <a:bodyPr/>
                    <a:lstStyle/>
                    <a:p>
                      <a:r>
                        <a:rPr lang="en-US" dirty="0"/>
                        <a:t>Element:</a:t>
                      </a:r>
                    </a:p>
                  </a:txBody>
                  <a:tcPr anchor="ctr">
                    <a:solidFill>
                      <a:schemeClr val="accent6">
                        <a:lumMod val="60000"/>
                        <a:lumOff val="40000"/>
                      </a:schemeClr>
                    </a:solidFill>
                  </a:tcPr>
                </a:tc>
                <a:tc>
                  <a:txBody>
                    <a:bodyPr/>
                    <a:lstStyle/>
                    <a:p>
                      <a:pPr algn="ctr"/>
                      <a:r>
                        <a:rPr lang="en-US" dirty="0"/>
                        <a:t>12</a:t>
                      </a:r>
                    </a:p>
                  </a:txBody>
                  <a:tcPr anchor="ctr"/>
                </a:tc>
                <a:tc>
                  <a:txBody>
                    <a:bodyPr/>
                    <a:lstStyle/>
                    <a:p>
                      <a:pPr algn="ctr"/>
                      <a:r>
                        <a:rPr lang="en-US" dirty="0"/>
                        <a:t>33</a:t>
                      </a:r>
                    </a:p>
                  </a:txBody>
                  <a:tcPr anchor="ctr"/>
                </a:tc>
                <a:tc>
                  <a:txBody>
                    <a:bodyPr/>
                    <a:lstStyle/>
                    <a:p>
                      <a:pPr algn="ctr"/>
                      <a:r>
                        <a:rPr lang="en-US" dirty="0"/>
                        <a:t>65</a:t>
                      </a:r>
                    </a:p>
                  </a:txBody>
                  <a:tcPr anchor="ctr"/>
                </a:tc>
                <a:tc>
                  <a:txBody>
                    <a:bodyPr/>
                    <a:lstStyle/>
                    <a:p>
                      <a:pPr algn="ctr"/>
                      <a:r>
                        <a:rPr lang="en-US" dirty="0"/>
                        <a:t>27</a:t>
                      </a:r>
                    </a:p>
                  </a:txBody>
                  <a:tcPr anchor="ctr"/>
                </a:tc>
                <a:tc>
                  <a:txBody>
                    <a:bodyPr/>
                    <a:lstStyle/>
                    <a:p>
                      <a:pPr algn="ctr"/>
                      <a:r>
                        <a:rPr lang="en-US" dirty="0"/>
                        <a:t>99</a:t>
                      </a:r>
                    </a:p>
                  </a:txBody>
                  <a:tcPr anchor="ctr"/>
                </a:tc>
                <a:extLst>
                  <a:ext uri="{0D108BD9-81ED-4DB2-BD59-A6C34878D82A}">
                    <a16:rowId xmlns:a16="http://schemas.microsoft.com/office/drawing/2014/main" val="2775482564"/>
                  </a:ext>
                </a:extLst>
              </a:tr>
            </a:tbl>
          </a:graphicData>
        </a:graphic>
      </p:graphicFrame>
    </p:spTree>
    <p:extLst>
      <p:ext uri="{BB962C8B-B14F-4D97-AF65-F5344CB8AC3E}">
        <p14:creationId xmlns:p14="http://schemas.microsoft.com/office/powerpoint/2010/main" val="1281669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45DAE-FC1D-4D9F-8DA0-619D59082BB1}"/>
              </a:ext>
            </a:extLst>
          </p:cNvPr>
          <p:cNvSpPr>
            <a:spLocks noGrp="1"/>
          </p:cNvSpPr>
          <p:nvPr>
            <p:ph type="title"/>
          </p:nvPr>
        </p:nvSpPr>
        <p:spPr/>
        <p:txBody>
          <a:bodyPr/>
          <a:lstStyle/>
          <a:p>
            <a:r>
              <a:rPr lang="en-US" dirty="0"/>
              <a:t>Iterating over an Array</a:t>
            </a:r>
          </a:p>
        </p:txBody>
      </p:sp>
      <p:sp>
        <p:nvSpPr>
          <p:cNvPr id="3" name="Content Placeholder 2">
            <a:extLst>
              <a:ext uri="{FF2B5EF4-FFF2-40B4-BE49-F238E27FC236}">
                <a16:creationId xmlns:a16="http://schemas.microsoft.com/office/drawing/2014/main" id="{F23CE559-D62F-4D53-8C53-5182A0631570}"/>
              </a:ext>
            </a:extLst>
          </p:cNvPr>
          <p:cNvSpPr>
            <a:spLocks noGrp="1"/>
          </p:cNvSpPr>
          <p:nvPr>
            <p:ph idx="1"/>
          </p:nvPr>
        </p:nvSpPr>
        <p:spPr>
          <a:xfrm>
            <a:off x="380010" y="1481446"/>
            <a:ext cx="8383980" cy="4882266"/>
          </a:xfrm>
        </p:spPr>
        <p:txBody>
          <a:bodyPr>
            <a:normAutofit fontScale="92500" lnSpcReduction="10000"/>
          </a:bodyPr>
          <a:lstStyle/>
          <a:p>
            <a:r>
              <a:rPr lang="en-US" dirty="0"/>
              <a:t>Remember array indices start at 0</a:t>
            </a:r>
          </a:p>
          <a:p>
            <a:r>
              <a:rPr lang="en-US" dirty="0"/>
              <a:t>Remember the length of arrays are 1 greater than the last index</a:t>
            </a:r>
            <a:endParaRPr lang="en-US" sz="1400" dirty="0">
              <a:latin typeface="Courier New" panose="02070309020205020404" pitchFamily="49" charset="0"/>
              <a:cs typeface="Courier New" panose="02070309020205020404" pitchFamily="49" charset="0"/>
            </a:endParaRPr>
          </a:p>
          <a:p>
            <a:pPr marL="0" indent="0">
              <a:buNone/>
            </a:pPr>
            <a:r>
              <a:rPr lang="en-US" sz="2200" dirty="0">
                <a:latin typeface="Courier New" panose="02070309020205020404" pitchFamily="49" charset="0"/>
                <a:cs typeface="Courier New" panose="02070309020205020404" pitchFamily="49" charset="0"/>
              </a:rPr>
              <a:t>	int[] numbers = new int[] {3,5,7,9};</a:t>
            </a:r>
          </a:p>
          <a:p>
            <a:pPr marL="0" indent="0">
              <a:buNone/>
            </a:pPr>
            <a:r>
              <a:rPr lang="en-US" sz="2200" dirty="0">
                <a:latin typeface="Courier New" panose="02070309020205020404" pitchFamily="49" charset="0"/>
                <a:cs typeface="Courier New" panose="02070309020205020404" pitchFamily="49" charset="0"/>
              </a:rPr>
              <a:t>	for(int </a:t>
            </a:r>
            <a:r>
              <a:rPr lang="en-US" sz="2200" dirty="0" err="1">
                <a:latin typeface="Courier New" panose="02070309020205020404" pitchFamily="49" charset="0"/>
                <a:cs typeface="Courier New" panose="02070309020205020404" pitchFamily="49" charset="0"/>
              </a:rPr>
              <a:t>i</a:t>
            </a:r>
            <a:r>
              <a:rPr lang="en-US" sz="2200" dirty="0">
                <a:latin typeface="Courier New" panose="02070309020205020404" pitchFamily="49" charset="0"/>
                <a:cs typeface="Courier New" panose="02070309020205020404" pitchFamily="49" charset="0"/>
              </a:rPr>
              <a:t> = 0; </a:t>
            </a:r>
            <a:r>
              <a:rPr lang="en-US" sz="2200" dirty="0" err="1">
                <a:latin typeface="Courier New" panose="02070309020205020404" pitchFamily="49" charset="0"/>
                <a:cs typeface="Courier New" panose="02070309020205020404" pitchFamily="49" charset="0"/>
              </a:rPr>
              <a:t>i</a:t>
            </a:r>
            <a:r>
              <a:rPr lang="en-US" sz="2200" dirty="0">
                <a:latin typeface="Courier New" panose="02070309020205020404" pitchFamily="49" charset="0"/>
                <a:cs typeface="Courier New" panose="02070309020205020404" pitchFamily="49" charset="0"/>
              </a:rPr>
              <a:t> &lt; </a:t>
            </a:r>
            <a:r>
              <a:rPr lang="en-US" sz="2200" dirty="0" err="1">
                <a:latin typeface="Courier New" panose="02070309020205020404" pitchFamily="49" charset="0"/>
                <a:cs typeface="Courier New" panose="02070309020205020404" pitchFamily="49" charset="0"/>
              </a:rPr>
              <a:t>numbers.length</a:t>
            </a:r>
            <a:r>
              <a:rPr lang="en-US" sz="2200" dirty="0">
                <a:latin typeface="Courier New" panose="02070309020205020404" pitchFamily="49" charset="0"/>
                <a:cs typeface="Courier New" panose="02070309020205020404" pitchFamily="49" charset="0"/>
              </a:rPr>
              <a:t>; </a:t>
            </a:r>
            <a:r>
              <a:rPr lang="en-US" sz="2200" dirty="0" err="1">
                <a:latin typeface="Courier New" panose="02070309020205020404" pitchFamily="49" charset="0"/>
                <a:cs typeface="Courier New" panose="02070309020205020404" pitchFamily="49" charset="0"/>
              </a:rPr>
              <a:t>i</a:t>
            </a:r>
            <a:r>
              <a:rPr lang="en-US" sz="2200" dirty="0">
                <a:latin typeface="Courier New" panose="02070309020205020404" pitchFamily="49" charset="0"/>
                <a:cs typeface="Courier New" panose="02070309020205020404" pitchFamily="49" charset="0"/>
              </a:rPr>
              <a:t>++){</a:t>
            </a:r>
          </a:p>
          <a:p>
            <a:pPr marL="400050" lvl="1" indent="0">
              <a:buNone/>
            </a:pPr>
            <a:r>
              <a:rPr lang="en-US" sz="2200" dirty="0">
                <a:latin typeface="Courier New" panose="02070309020205020404" pitchFamily="49" charset="0"/>
                <a:cs typeface="Courier New" panose="02070309020205020404" pitchFamily="49" charset="0"/>
              </a:rPr>
              <a:t>		</a:t>
            </a:r>
            <a:r>
              <a:rPr lang="en-US" sz="2200" dirty="0" err="1">
                <a:latin typeface="Courier New" panose="02070309020205020404" pitchFamily="49" charset="0"/>
                <a:cs typeface="Courier New" panose="02070309020205020404" pitchFamily="49" charset="0"/>
              </a:rPr>
              <a:t>System.out.println</a:t>
            </a:r>
            <a:r>
              <a:rPr lang="en-US" sz="2200" dirty="0">
                <a:latin typeface="Courier New" panose="02070309020205020404" pitchFamily="49" charset="0"/>
                <a:cs typeface="Courier New" panose="02070309020205020404" pitchFamily="49" charset="0"/>
              </a:rPr>
              <a:t>( numbers[</a:t>
            </a:r>
            <a:r>
              <a:rPr lang="en-US" sz="2200" dirty="0" err="1">
                <a:latin typeface="Courier New" panose="02070309020205020404" pitchFamily="49" charset="0"/>
                <a:cs typeface="Courier New" panose="02070309020205020404" pitchFamily="49" charset="0"/>
              </a:rPr>
              <a:t>i</a:t>
            </a:r>
            <a:r>
              <a:rPr lang="en-US" sz="2200" dirty="0">
                <a:latin typeface="Courier New" panose="02070309020205020404" pitchFamily="49" charset="0"/>
                <a:cs typeface="Courier New" panose="02070309020205020404" pitchFamily="49" charset="0"/>
              </a:rPr>
              <a:t>] + “ “ );</a:t>
            </a:r>
          </a:p>
          <a:p>
            <a:pPr marL="400050" lvl="1" indent="0">
              <a:buNone/>
            </a:pPr>
            <a:r>
              <a:rPr lang="en-US" sz="2200" dirty="0">
                <a:latin typeface="Courier New" panose="02070309020205020404" pitchFamily="49" charset="0"/>
                <a:cs typeface="Courier New" panose="02070309020205020404" pitchFamily="49" charset="0"/>
              </a:rPr>
              <a:t>	}</a:t>
            </a:r>
          </a:p>
          <a:p>
            <a:r>
              <a:rPr lang="en-US" dirty="0"/>
              <a:t>Alternatively, you can use an enhanced for loop:</a:t>
            </a:r>
          </a:p>
          <a:p>
            <a:pPr marL="0" indent="0">
              <a:buNone/>
            </a:pPr>
            <a:r>
              <a:rPr lang="en-US" sz="2200" dirty="0">
                <a:latin typeface="Courier New" panose="02070309020205020404" pitchFamily="49" charset="0"/>
                <a:cs typeface="Courier New" panose="02070309020205020404" pitchFamily="49" charset="0"/>
              </a:rPr>
              <a:t>	for(int n : numbers){</a:t>
            </a:r>
          </a:p>
          <a:p>
            <a:pPr marL="400050" lvl="1" indent="0">
              <a:buNone/>
            </a:pPr>
            <a:r>
              <a:rPr lang="en-US" sz="2200" dirty="0">
                <a:latin typeface="Courier New" panose="02070309020205020404" pitchFamily="49" charset="0"/>
                <a:cs typeface="Courier New" panose="02070309020205020404" pitchFamily="49" charset="0"/>
              </a:rPr>
              <a:t>		</a:t>
            </a:r>
            <a:r>
              <a:rPr lang="en-US" sz="2200" dirty="0" err="1">
                <a:latin typeface="Courier New" panose="02070309020205020404" pitchFamily="49" charset="0"/>
                <a:cs typeface="Courier New" panose="02070309020205020404" pitchFamily="49" charset="0"/>
              </a:rPr>
              <a:t>System.out.println</a:t>
            </a:r>
            <a:r>
              <a:rPr lang="en-US" sz="2200" dirty="0">
                <a:latin typeface="Courier New" panose="02070309020205020404" pitchFamily="49" charset="0"/>
                <a:cs typeface="Courier New" panose="02070309020205020404" pitchFamily="49" charset="0"/>
              </a:rPr>
              <a:t>( n );</a:t>
            </a:r>
          </a:p>
          <a:p>
            <a:pPr marL="400050" lvl="1" indent="0">
              <a:buNone/>
            </a:pPr>
            <a:r>
              <a:rPr lang="en-US" sz="2200" dirty="0">
                <a:latin typeface="Courier New" panose="02070309020205020404" pitchFamily="49" charset="0"/>
                <a:cs typeface="Courier New" panose="02070309020205020404" pitchFamily="49" charset="0"/>
              </a:rPr>
              <a:t>	}</a:t>
            </a:r>
            <a:endParaRPr lang="en-US" dirty="0"/>
          </a:p>
          <a:p>
            <a:r>
              <a:rPr lang="en-US" dirty="0"/>
              <a:t>Both are functionally the same</a:t>
            </a:r>
          </a:p>
        </p:txBody>
      </p:sp>
      <p:sp>
        <p:nvSpPr>
          <p:cNvPr id="4" name="Slide Number Placeholder 3">
            <a:extLst>
              <a:ext uri="{FF2B5EF4-FFF2-40B4-BE49-F238E27FC236}">
                <a16:creationId xmlns:a16="http://schemas.microsoft.com/office/drawing/2014/main" id="{CB3C87B9-A3AF-44FB-9F07-56164A1366F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28BC2-ACA3-447C-A909-F3F49211C066}" type="slidenum">
              <a:rPr kumimoji="0" lang="en-US" sz="1200" b="0" i="0" u="none" strike="noStrike" kern="1200" cap="none" spc="0" normalizeH="0" baseline="0" noProof="0" smtClean="0">
                <a:ln>
                  <a:noFill/>
                </a:ln>
                <a:solidFill>
                  <a:srgbClr val="A0A1A0"/>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88</a:t>
            </a:fld>
            <a:endParaRPr kumimoji="0" lang="en-US" sz="1200" b="0" i="0" u="none" strike="noStrike" kern="1200" cap="none" spc="0" normalizeH="0" baseline="0" noProof="0" dirty="0">
              <a:ln>
                <a:noFill/>
              </a:ln>
              <a:solidFill>
                <a:srgbClr val="A0A1A0"/>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988050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C8B33-FAAD-5979-E3EC-BA64804C4A3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1FA2FF3-DF7F-8747-6F91-09334648F6F0}"/>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89</a:t>
            </a:fld>
            <a:endParaRPr lang="en-US"/>
          </a:p>
        </p:txBody>
      </p:sp>
      <p:sp>
        <p:nvSpPr>
          <p:cNvPr id="4" name="Google Shape;212;p15">
            <a:extLst>
              <a:ext uri="{FF2B5EF4-FFF2-40B4-BE49-F238E27FC236}">
                <a16:creationId xmlns:a16="http://schemas.microsoft.com/office/drawing/2014/main" id="{0D847D76-D1E7-ED5F-382E-EEDCFEFF3EC6}"/>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Varargs</a:t>
            </a:r>
          </a:p>
        </p:txBody>
      </p:sp>
      <p:pic>
        <p:nvPicPr>
          <p:cNvPr id="6" name="Picture 5">
            <a:extLst>
              <a:ext uri="{FF2B5EF4-FFF2-40B4-BE49-F238E27FC236}">
                <a16:creationId xmlns:a16="http://schemas.microsoft.com/office/drawing/2014/main" id="{0F73E3FA-D857-752C-2C10-19EB8E658123}"/>
              </a:ext>
            </a:extLst>
          </p:cNvPr>
          <p:cNvPicPr>
            <a:picLocks noChangeAspect="1"/>
          </p:cNvPicPr>
          <p:nvPr/>
        </p:nvPicPr>
        <p:blipFill>
          <a:blip r:embed="rId2"/>
          <a:stretch>
            <a:fillRect/>
          </a:stretch>
        </p:blipFill>
        <p:spPr>
          <a:xfrm>
            <a:off x="7036646" y="0"/>
            <a:ext cx="2107354" cy="773112"/>
          </a:xfrm>
          <a:prstGeom prst="rect">
            <a:avLst/>
          </a:prstGeom>
        </p:spPr>
      </p:pic>
    </p:spTree>
    <p:extLst>
      <p:ext uri="{BB962C8B-B14F-4D97-AF65-F5344CB8AC3E}">
        <p14:creationId xmlns:p14="http://schemas.microsoft.com/office/powerpoint/2010/main" val="397829945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19"/>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FFFFFF"/>
              </a:buClr>
              <a:buSzPts val="2400"/>
              <a:buFont typeface="Arial"/>
              <a:buNone/>
            </a:pPr>
            <a:r>
              <a:rPr lang="en-US" dirty="0" err="1">
                <a:solidFill>
                  <a:srgbClr val="FFFFFF"/>
                </a:solidFill>
              </a:rPr>
              <a:t>v</a:t>
            </a:r>
            <a:r>
              <a:rPr lang="en-US" dirty="0" err="1">
                <a:solidFill>
                  <a:srgbClr val="FFFFFF"/>
                </a:solidFill>
                <a:latin typeface="Arial"/>
                <a:ea typeface="Arial"/>
                <a:cs typeface="Arial"/>
                <a:sym typeface="Arial"/>
              </a:rPr>
              <a:t>arargs</a:t>
            </a:r>
            <a:r>
              <a:rPr lang="en-US" dirty="0">
                <a:solidFill>
                  <a:srgbClr val="FFFFFF"/>
                </a:solidFill>
              </a:rPr>
              <a:t>...</a:t>
            </a:r>
            <a:endParaRPr dirty="0"/>
          </a:p>
        </p:txBody>
      </p:sp>
      <p:sp>
        <p:nvSpPr>
          <p:cNvPr id="240" name="Google Shape;240;p19"/>
          <p:cNvSpPr txBox="1">
            <a:spLocks noGrp="1"/>
          </p:cNvSpPr>
          <p:nvPr>
            <p:ph type="body" idx="1"/>
          </p:nvPr>
        </p:nvSpPr>
        <p:spPr>
          <a:xfrm>
            <a:off x="380010" y="1287262"/>
            <a:ext cx="8383980" cy="5441575"/>
          </a:xfrm>
          <a:prstGeom prst="rect">
            <a:avLst/>
          </a:prstGeom>
          <a:noFill/>
          <a:ln>
            <a:noFill/>
          </a:ln>
        </p:spPr>
        <p:txBody>
          <a:bodyPr spcFirstLastPara="1" wrap="square" lIns="91425" tIns="45700" rIns="91425" bIns="45700" anchor="t" anchorCtr="0">
            <a:normAutofit/>
          </a:bodyPr>
          <a:lstStyle/>
          <a:p>
            <a:pPr marL="343080" lvl="0" indent="-342720" algn="l" rtl="0">
              <a:spcBef>
                <a:spcPts val="0"/>
              </a:spcBef>
              <a:spcAft>
                <a:spcPts val="0"/>
              </a:spcAft>
              <a:buClr>
                <a:srgbClr val="F36A25"/>
              </a:buClr>
              <a:buSzPts val="2800"/>
              <a:buFont typeface="Arial"/>
              <a:buChar char="•"/>
            </a:pPr>
            <a:r>
              <a:rPr lang="en-US" dirty="0">
                <a:solidFill>
                  <a:srgbClr val="474C55"/>
                </a:solidFill>
              </a:rPr>
              <a:t>A Variable Arguments List (</a:t>
            </a:r>
            <a:r>
              <a:rPr lang="en-US" dirty="0" err="1">
                <a:solidFill>
                  <a:srgbClr val="474C55"/>
                </a:solidFill>
              </a:rPr>
              <a:t>varargs</a:t>
            </a:r>
            <a:r>
              <a:rPr lang="en-US" dirty="0">
                <a:solidFill>
                  <a:srgbClr val="474C55"/>
                </a:solidFill>
              </a:rPr>
              <a:t>) is a feature that allows you to pass an arbitrary number of values as the last argument of a method and treat the data as a single array.</a:t>
            </a:r>
          </a:p>
          <a:p>
            <a:pPr marL="343080" lvl="0" indent="-342720" algn="l" rtl="0">
              <a:spcBef>
                <a:spcPts val="0"/>
              </a:spcBef>
              <a:spcAft>
                <a:spcPts val="0"/>
              </a:spcAft>
              <a:buClr>
                <a:srgbClr val="F36A25"/>
              </a:buClr>
              <a:buSzPts val="2800"/>
              <a:buFont typeface="Arial"/>
              <a:buChar char="•"/>
            </a:pPr>
            <a:r>
              <a:rPr lang="en-US" dirty="0" err="1">
                <a:solidFill>
                  <a:srgbClr val="474C55"/>
                </a:solidFill>
              </a:rPr>
              <a:t>varargs</a:t>
            </a:r>
            <a:r>
              <a:rPr lang="en-US" dirty="0">
                <a:solidFill>
                  <a:srgbClr val="474C55"/>
                </a:solidFill>
              </a:rPr>
              <a:t> are symbolized through the use of an ellipses (. . .) following the datatype of the parameter.</a:t>
            </a:r>
          </a:p>
          <a:p>
            <a:pPr marL="343080" lvl="0" indent="-342720" algn="l" rtl="0">
              <a:spcBef>
                <a:spcPts val="0"/>
              </a:spcBef>
              <a:spcAft>
                <a:spcPts val="0"/>
              </a:spcAft>
              <a:buClr>
                <a:srgbClr val="F36A25"/>
              </a:buClr>
              <a:buSzPts val="2800"/>
              <a:buFont typeface="Arial"/>
              <a:buChar char="•"/>
            </a:pPr>
            <a:r>
              <a:rPr lang="en-US" dirty="0">
                <a:solidFill>
                  <a:srgbClr val="474C55"/>
                </a:solidFill>
              </a:rPr>
              <a:t>If used, </a:t>
            </a:r>
            <a:r>
              <a:rPr lang="en-US" dirty="0" err="1">
                <a:solidFill>
                  <a:srgbClr val="474C55"/>
                </a:solidFill>
              </a:rPr>
              <a:t>varargs</a:t>
            </a:r>
            <a:r>
              <a:rPr lang="en-US" dirty="0">
                <a:solidFill>
                  <a:srgbClr val="474C55"/>
                </a:solidFill>
              </a:rPr>
              <a:t> must be the last parameter in a method’s signature, and only one </a:t>
            </a:r>
            <a:r>
              <a:rPr lang="en-US" dirty="0" err="1">
                <a:solidFill>
                  <a:srgbClr val="474C55"/>
                </a:solidFill>
              </a:rPr>
              <a:t>varargs</a:t>
            </a:r>
            <a:r>
              <a:rPr lang="en-US" dirty="0">
                <a:solidFill>
                  <a:srgbClr val="474C55"/>
                </a:solidFill>
              </a:rPr>
              <a:t> parameter can be used.</a:t>
            </a:r>
          </a:p>
        </p:txBody>
      </p:sp>
      <p:sp>
        <p:nvSpPr>
          <p:cNvPr id="241" name="Google Shape;241;p19"/>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90</a:t>
            </a:fld>
            <a:endParaRPr/>
          </a:p>
        </p:txBody>
      </p:sp>
    </p:spTree>
    <p:extLst>
      <p:ext uri="{BB962C8B-B14F-4D97-AF65-F5344CB8AC3E}">
        <p14:creationId xmlns:p14="http://schemas.microsoft.com/office/powerpoint/2010/main" val="3108818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19"/>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FFFFFF"/>
              </a:buClr>
              <a:buSzPts val="2400"/>
              <a:buFont typeface="Arial"/>
              <a:buNone/>
            </a:pPr>
            <a:r>
              <a:rPr lang="en-US" dirty="0" err="1">
                <a:solidFill>
                  <a:srgbClr val="FFFFFF"/>
                </a:solidFill>
              </a:rPr>
              <a:t>v</a:t>
            </a:r>
            <a:r>
              <a:rPr lang="en-US" dirty="0" err="1">
                <a:solidFill>
                  <a:srgbClr val="FFFFFF"/>
                </a:solidFill>
                <a:latin typeface="Arial"/>
                <a:ea typeface="Arial"/>
                <a:cs typeface="Arial"/>
                <a:sym typeface="Arial"/>
              </a:rPr>
              <a:t>arargs</a:t>
            </a:r>
            <a:r>
              <a:rPr lang="en-US" dirty="0">
                <a:solidFill>
                  <a:srgbClr val="FFFFFF"/>
                </a:solidFill>
              </a:rPr>
              <a:t>... (</a:t>
            </a:r>
            <a:r>
              <a:rPr lang="en-US" dirty="0" err="1">
                <a:solidFill>
                  <a:srgbClr val="FFFFFF"/>
                </a:solidFill>
              </a:rPr>
              <a:t>cont</a:t>
            </a:r>
            <a:r>
              <a:rPr lang="en-US" dirty="0">
                <a:solidFill>
                  <a:srgbClr val="FFFFFF"/>
                </a:solidFill>
              </a:rPr>
              <a:t>)</a:t>
            </a:r>
            <a:endParaRPr dirty="0"/>
          </a:p>
        </p:txBody>
      </p:sp>
      <p:sp>
        <p:nvSpPr>
          <p:cNvPr id="241" name="Google Shape;241;p19"/>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91</a:t>
            </a:fld>
            <a:endParaRPr/>
          </a:p>
        </p:txBody>
      </p:sp>
      <p:sp>
        <p:nvSpPr>
          <p:cNvPr id="5" name="Google Shape;219;p16">
            <a:extLst>
              <a:ext uri="{FF2B5EF4-FFF2-40B4-BE49-F238E27FC236}">
                <a16:creationId xmlns:a16="http://schemas.microsoft.com/office/drawing/2014/main" id="{9C7C7B5B-43D6-4825-80CB-D8482BA5E62E}"/>
              </a:ext>
            </a:extLst>
          </p:cNvPr>
          <p:cNvSpPr txBox="1">
            <a:spLocks/>
          </p:cNvSpPr>
          <p:nvPr/>
        </p:nvSpPr>
        <p:spPr>
          <a:xfrm>
            <a:off x="555673" y="1758463"/>
            <a:ext cx="8032653" cy="4605250"/>
          </a:xfrm>
          <a:prstGeom prst="rect">
            <a:avLst/>
          </a:prstGeom>
        </p:spPr>
        <p:style>
          <a:lnRef idx="1">
            <a:schemeClr val="accent2"/>
          </a:lnRef>
          <a:fillRef idx="2">
            <a:schemeClr val="accent2"/>
          </a:fillRef>
          <a:effectRef idx="1">
            <a:schemeClr val="accent2"/>
          </a:effectRef>
          <a:fontRef idx="minor">
            <a:schemeClr val="dk1"/>
          </a:fontRef>
        </p:style>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100000"/>
              </a:lnSpc>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100000"/>
              </a:lnSpc>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9pPr>
          </a:lstStyle>
          <a:p>
            <a:pPr marL="0" lvl="0" indent="0">
              <a:lnSpc>
                <a:spcPct val="90000"/>
              </a:lnSpc>
              <a:spcBef>
                <a:spcPts val="360"/>
              </a:spcBef>
              <a:buSzPts val="1800"/>
              <a:buNone/>
            </a:pPr>
            <a:r>
              <a:rPr lang="en-US" sz="2200" dirty="0">
                <a:solidFill>
                  <a:srgbClr val="474C55"/>
                </a:solidFill>
                <a:latin typeface="Courier New"/>
                <a:ea typeface="Courier New"/>
                <a:cs typeface="Courier New"/>
                <a:sym typeface="Courier New"/>
              </a:rPr>
              <a:t>public class Example {</a:t>
            </a:r>
            <a:br>
              <a:rPr lang="en-US" sz="2200" dirty="0">
                <a:solidFill>
                  <a:srgbClr val="474C55"/>
                </a:solidFill>
                <a:latin typeface="Courier New"/>
                <a:ea typeface="Courier New"/>
                <a:cs typeface="Courier New"/>
                <a:sym typeface="Courier New"/>
              </a:rPr>
            </a:br>
            <a:r>
              <a:rPr lang="en-US" sz="2200" dirty="0">
                <a:solidFill>
                  <a:srgbClr val="474C55"/>
                </a:solidFill>
                <a:latin typeface="Courier New"/>
                <a:ea typeface="Courier New"/>
                <a:cs typeface="Courier New"/>
                <a:sym typeface="Courier New"/>
              </a:rPr>
              <a:t>    public static void main(String[] </a:t>
            </a:r>
            <a:r>
              <a:rPr lang="en-US" sz="2200" dirty="0" err="1">
                <a:solidFill>
                  <a:srgbClr val="474C55"/>
                </a:solidFill>
                <a:latin typeface="Courier New"/>
                <a:ea typeface="Courier New"/>
                <a:cs typeface="Courier New"/>
                <a:sym typeface="Courier New"/>
              </a:rPr>
              <a:t>args</a:t>
            </a:r>
            <a:r>
              <a:rPr lang="en-US" sz="2200" dirty="0">
                <a:solidFill>
                  <a:srgbClr val="474C55"/>
                </a:solidFill>
                <a:latin typeface="Courier New"/>
                <a:ea typeface="Courier New"/>
                <a:cs typeface="Courier New"/>
                <a:sym typeface="Courier New"/>
              </a:rPr>
              <a:t>) {</a:t>
            </a:r>
          </a:p>
          <a:p>
            <a:pPr marL="0" lvl="0" indent="0">
              <a:lnSpc>
                <a:spcPct val="90000"/>
              </a:lnSpc>
              <a:spcBef>
                <a:spcPts val="360"/>
              </a:spcBef>
              <a:buSzPts val="1800"/>
              <a:buNone/>
            </a:pPr>
            <a:r>
              <a:rPr lang="en-US" sz="2200" dirty="0">
                <a:solidFill>
                  <a:srgbClr val="474C55"/>
                </a:solidFill>
                <a:latin typeface="Courier New"/>
                <a:ea typeface="Courier New"/>
                <a:cs typeface="Courier New"/>
                <a:sym typeface="Courier New"/>
              </a:rPr>
              <a:t>	</a:t>
            </a:r>
            <a:r>
              <a:rPr lang="en-US" sz="2200" dirty="0" err="1">
                <a:solidFill>
                  <a:srgbClr val="474C55"/>
                </a:solidFill>
                <a:latin typeface="Courier New"/>
                <a:ea typeface="Courier New"/>
                <a:cs typeface="Courier New"/>
                <a:sym typeface="Courier New"/>
              </a:rPr>
              <a:t>printValues</a:t>
            </a:r>
            <a:r>
              <a:rPr lang="en-US" sz="2200" dirty="0">
                <a:solidFill>
                  <a:srgbClr val="474C55"/>
                </a:solidFill>
                <a:latin typeface="Courier New"/>
                <a:ea typeface="Courier New"/>
                <a:cs typeface="Courier New"/>
                <a:sym typeface="Courier New"/>
              </a:rPr>
              <a:t>(1,3,5,7);</a:t>
            </a:r>
          </a:p>
          <a:p>
            <a:pPr marL="0" lvl="0" indent="0">
              <a:lnSpc>
                <a:spcPct val="90000"/>
              </a:lnSpc>
              <a:spcBef>
                <a:spcPts val="360"/>
              </a:spcBef>
              <a:buSzPts val="1800"/>
              <a:buNone/>
            </a:pPr>
            <a:r>
              <a:rPr lang="en-US" sz="2200" dirty="0">
                <a:solidFill>
                  <a:srgbClr val="474C55"/>
                </a:solidFill>
                <a:latin typeface="Courier New"/>
                <a:ea typeface="Courier New"/>
                <a:cs typeface="Courier New"/>
                <a:sym typeface="Courier New"/>
              </a:rPr>
              <a:t>	</a:t>
            </a:r>
            <a:r>
              <a:rPr lang="en-US" sz="2200" dirty="0" err="1">
                <a:solidFill>
                  <a:srgbClr val="474C55"/>
                </a:solidFill>
                <a:latin typeface="Courier New"/>
                <a:ea typeface="Courier New"/>
                <a:cs typeface="Courier New"/>
                <a:sym typeface="Courier New"/>
              </a:rPr>
              <a:t>printValues</a:t>
            </a:r>
            <a:r>
              <a:rPr lang="en-US" sz="2200" dirty="0">
                <a:solidFill>
                  <a:srgbClr val="474C55"/>
                </a:solidFill>
                <a:latin typeface="Courier New"/>
                <a:ea typeface="Courier New"/>
                <a:cs typeface="Courier New"/>
                <a:sym typeface="Courier New"/>
              </a:rPr>
              <a:t>(1,3,5,7, 9, 11, 13);</a:t>
            </a:r>
            <a:br>
              <a:rPr lang="en-US" sz="2200" dirty="0">
                <a:solidFill>
                  <a:srgbClr val="474C55"/>
                </a:solidFill>
                <a:latin typeface="Courier New"/>
                <a:ea typeface="Courier New"/>
                <a:cs typeface="Courier New"/>
                <a:sym typeface="Courier New"/>
              </a:rPr>
            </a:br>
            <a:r>
              <a:rPr lang="en-US" sz="2200" dirty="0">
                <a:solidFill>
                  <a:srgbClr val="474C55"/>
                </a:solidFill>
                <a:latin typeface="Courier New"/>
                <a:ea typeface="Courier New"/>
                <a:cs typeface="Courier New"/>
                <a:sym typeface="Courier New"/>
              </a:rPr>
              <a:t>    }</a:t>
            </a:r>
            <a:br>
              <a:rPr lang="en-US" sz="2200" dirty="0">
                <a:solidFill>
                  <a:srgbClr val="474C55"/>
                </a:solidFill>
                <a:latin typeface="Courier New"/>
                <a:ea typeface="Courier New"/>
                <a:cs typeface="Courier New"/>
                <a:sym typeface="Courier New"/>
              </a:rPr>
            </a:br>
            <a:r>
              <a:rPr lang="en-US" sz="2200" dirty="0">
                <a:solidFill>
                  <a:srgbClr val="474C55"/>
                </a:solidFill>
                <a:latin typeface="Courier New"/>
                <a:ea typeface="Courier New"/>
                <a:cs typeface="Courier New"/>
                <a:sym typeface="Courier New"/>
              </a:rPr>
              <a:t>}</a:t>
            </a:r>
          </a:p>
          <a:p>
            <a:pPr marL="0" lvl="0" indent="0">
              <a:lnSpc>
                <a:spcPct val="90000"/>
              </a:lnSpc>
              <a:spcBef>
                <a:spcPts val="360"/>
              </a:spcBef>
              <a:buSzPts val="1800"/>
              <a:buNone/>
            </a:pPr>
            <a:endParaRPr lang="en-US" sz="2200" dirty="0">
              <a:solidFill>
                <a:srgbClr val="474C55"/>
              </a:solidFill>
              <a:latin typeface="Courier New"/>
              <a:ea typeface="Courier New"/>
              <a:cs typeface="Courier New"/>
              <a:sym typeface="Courier New"/>
            </a:endParaRPr>
          </a:p>
          <a:p>
            <a:pPr marL="0" lvl="0" indent="0">
              <a:lnSpc>
                <a:spcPct val="90000"/>
              </a:lnSpc>
              <a:spcBef>
                <a:spcPts val="360"/>
              </a:spcBef>
              <a:buSzPts val="1800"/>
              <a:buNone/>
            </a:pPr>
            <a:r>
              <a:rPr lang="en-US" sz="2200" dirty="0">
                <a:solidFill>
                  <a:srgbClr val="474C55"/>
                </a:solidFill>
                <a:latin typeface="Courier New"/>
                <a:ea typeface="Courier New"/>
                <a:cs typeface="Courier New"/>
                <a:sym typeface="Courier New"/>
              </a:rPr>
              <a:t>public static void </a:t>
            </a:r>
            <a:r>
              <a:rPr lang="en-US" sz="2200" dirty="0" err="1">
                <a:solidFill>
                  <a:srgbClr val="474C55"/>
                </a:solidFill>
                <a:latin typeface="Courier New"/>
                <a:ea typeface="Courier New"/>
                <a:cs typeface="Courier New"/>
                <a:sym typeface="Courier New"/>
              </a:rPr>
              <a:t>printValues</a:t>
            </a:r>
            <a:r>
              <a:rPr lang="en-US" sz="2200" dirty="0">
                <a:solidFill>
                  <a:srgbClr val="474C55"/>
                </a:solidFill>
                <a:latin typeface="Courier New"/>
                <a:ea typeface="Courier New"/>
                <a:cs typeface="Courier New"/>
                <a:sym typeface="Courier New"/>
              </a:rPr>
              <a:t>(int... </a:t>
            </a:r>
            <a:r>
              <a:rPr lang="en-US" sz="2200" dirty="0" err="1">
                <a:solidFill>
                  <a:srgbClr val="474C55"/>
                </a:solidFill>
                <a:latin typeface="Courier New"/>
                <a:ea typeface="Courier New"/>
                <a:cs typeface="Courier New"/>
                <a:sym typeface="Courier New"/>
              </a:rPr>
              <a:t>arr</a:t>
            </a:r>
            <a:r>
              <a:rPr lang="en-US" sz="2200" dirty="0">
                <a:solidFill>
                  <a:srgbClr val="474C55"/>
                </a:solidFill>
                <a:latin typeface="Courier New"/>
                <a:ea typeface="Courier New"/>
                <a:cs typeface="Courier New"/>
                <a:sym typeface="Courier New"/>
              </a:rPr>
              <a:t>) {</a:t>
            </a:r>
          </a:p>
          <a:p>
            <a:pPr marL="0" lvl="0" indent="0">
              <a:lnSpc>
                <a:spcPct val="90000"/>
              </a:lnSpc>
              <a:spcBef>
                <a:spcPts val="360"/>
              </a:spcBef>
              <a:buSzPts val="1800"/>
              <a:buNone/>
            </a:pPr>
            <a:r>
              <a:rPr lang="en-US" sz="2200" dirty="0">
                <a:solidFill>
                  <a:srgbClr val="474C55"/>
                </a:solidFill>
                <a:latin typeface="Courier New"/>
                <a:ea typeface="Courier New"/>
                <a:cs typeface="Courier New"/>
                <a:sym typeface="Courier New"/>
              </a:rPr>
              <a:t>	for(int a : </a:t>
            </a:r>
            <a:r>
              <a:rPr lang="en-US" sz="2200" dirty="0" err="1">
                <a:solidFill>
                  <a:srgbClr val="474C55"/>
                </a:solidFill>
                <a:latin typeface="Courier New"/>
                <a:ea typeface="Courier New"/>
                <a:cs typeface="Courier New"/>
                <a:sym typeface="Courier New"/>
              </a:rPr>
              <a:t>arr</a:t>
            </a:r>
            <a:r>
              <a:rPr lang="en-US" sz="2200" dirty="0">
                <a:solidFill>
                  <a:srgbClr val="474C55"/>
                </a:solidFill>
                <a:latin typeface="Courier New"/>
                <a:ea typeface="Courier New"/>
                <a:cs typeface="Courier New"/>
                <a:sym typeface="Courier New"/>
              </a:rPr>
              <a:t>) {</a:t>
            </a:r>
          </a:p>
          <a:p>
            <a:pPr marL="0" lvl="0" indent="0">
              <a:lnSpc>
                <a:spcPct val="90000"/>
              </a:lnSpc>
              <a:spcBef>
                <a:spcPts val="360"/>
              </a:spcBef>
              <a:buSzPts val="1800"/>
              <a:buNone/>
            </a:pPr>
            <a:r>
              <a:rPr lang="en-US" sz="2200" dirty="0">
                <a:solidFill>
                  <a:srgbClr val="474C55"/>
                </a:solidFill>
                <a:latin typeface="Courier New"/>
                <a:ea typeface="Courier New"/>
                <a:cs typeface="Courier New"/>
                <a:sym typeface="Courier New"/>
              </a:rPr>
              <a:t>		</a:t>
            </a:r>
            <a:r>
              <a:rPr lang="en-US" sz="2200" dirty="0" err="1">
                <a:solidFill>
                  <a:srgbClr val="474C55"/>
                </a:solidFill>
                <a:latin typeface="Courier New"/>
                <a:ea typeface="Courier New"/>
                <a:cs typeface="Courier New"/>
                <a:sym typeface="Courier New"/>
              </a:rPr>
              <a:t>System.out.print</a:t>
            </a:r>
            <a:r>
              <a:rPr lang="en-US" sz="2200" dirty="0">
                <a:solidFill>
                  <a:srgbClr val="474C55"/>
                </a:solidFill>
                <a:latin typeface="Courier New"/>
                <a:ea typeface="Courier New"/>
                <a:cs typeface="Courier New"/>
                <a:sym typeface="Courier New"/>
              </a:rPr>
              <a:t>(a + “ “);</a:t>
            </a:r>
          </a:p>
          <a:p>
            <a:pPr marL="0" lvl="0" indent="0">
              <a:lnSpc>
                <a:spcPct val="90000"/>
              </a:lnSpc>
              <a:spcBef>
                <a:spcPts val="360"/>
              </a:spcBef>
              <a:buSzPts val="1800"/>
              <a:buNone/>
            </a:pPr>
            <a:r>
              <a:rPr lang="en-US" sz="2200" dirty="0">
                <a:solidFill>
                  <a:srgbClr val="474C55"/>
                </a:solidFill>
                <a:latin typeface="Courier New"/>
                <a:ea typeface="Courier New"/>
                <a:cs typeface="Courier New"/>
                <a:sym typeface="Courier New"/>
              </a:rPr>
              <a:t>	}</a:t>
            </a:r>
          </a:p>
          <a:p>
            <a:pPr marL="0" lvl="0" indent="0">
              <a:lnSpc>
                <a:spcPct val="90000"/>
              </a:lnSpc>
              <a:spcBef>
                <a:spcPts val="360"/>
              </a:spcBef>
              <a:buSzPts val="1800"/>
              <a:buNone/>
            </a:pPr>
            <a:r>
              <a:rPr lang="en-US" sz="2200" dirty="0">
                <a:solidFill>
                  <a:srgbClr val="474C55"/>
                </a:solidFill>
                <a:latin typeface="Courier New"/>
                <a:ea typeface="Courier New"/>
                <a:cs typeface="Courier New"/>
                <a:sym typeface="Courier New"/>
              </a:rPr>
              <a:t>}</a:t>
            </a:r>
            <a:endParaRPr lang="en-US" sz="2200" dirty="0">
              <a:solidFill>
                <a:srgbClr val="474C55"/>
              </a:solidFill>
              <a:latin typeface="Courier New"/>
              <a:cs typeface="Courier New"/>
              <a:sym typeface="Courier New"/>
            </a:endParaRPr>
          </a:p>
          <a:p>
            <a:pPr marL="0" lvl="0" indent="0">
              <a:lnSpc>
                <a:spcPct val="90000"/>
              </a:lnSpc>
              <a:spcBef>
                <a:spcPts val="360"/>
              </a:spcBef>
              <a:buSzPts val="1800"/>
              <a:buNone/>
            </a:pPr>
            <a:endParaRPr lang="en-US" dirty="0">
              <a:solidFill>
                <a:srgbClr val="474C55"/>
              </a:solidFill>
            </a:endParaRPr>
          </a:p>
        </p:txBody>
      </p:sp>
    </p:spTree>
    <p:extLst>
      <p:ext uri="{BB962C8B-B14F-4D97-AF65-F5344CB8AC3E}">
        <p14:creationId xmlns:p14="http://schemas.microsoft.com/office/powerpoint/2010/main" val="3513808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19"/>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FFFFFF"/>
              </a:buClr>
              <a:buSzPts val="2400"/>
              <a:buFont typeface="Arial"/>
              <a:buNone/>
            </a:pPr>
            <a:r>
              <a:rPr lang="en-US" dirty="0" err="1">
                <a:solidFill>
                  <a:srgbClr val="FFFFFF"/>
                </a:solidFill>
              </a:rPr>
              <a:t>v</a:t>
            </a:r>
            <a:r>
              <a:rPr lang="en-US" dirty="0" err="1">
                <a:solidFill>
                  <a:srgbClr val="FFFFFF"/>
                </a:solidFill>
                <a:latin typeface="Arial"/>
                <a:ea typeface="Arial"/>
                <a:cs typeface="Arial"/>
                <a:sym typeface="Arial"/>
              </a:rPr>
              <a:t>arargs</a:t>
            </a:r>
            <a:r>
              <a:rPr lang="en-US" dirty="0">
                <a:solidFill>
                  <a:srgbClr val="FFFFFF"/>
                </a:solidFill>
                <a:latin typeface="Arial"/>
                <a:ea typeface="Arial"/>
                <a:cs typeface="Arial"/>
                <a:sym typeface="Arial"/>
              </a:rPr>
              <a:t>… (</a:t>
            </a:r>
            <a:r>
              <a:rPr lang="en-US" dirty="0" err="1">
                <a:solidFill>
                  <a:srgbClr val="FFFFFF"/>
                </a:solidFill>
                <a:latin typeface="Arial"/>
                <a:ea typeface="Arial"/>
                <a:cs typeface="Arial"/>
                <a:sym typeface="Arial"/>
              </a:rPr>
              <a:t>cont</a:t>
            </a:r>
            <a:r>
              <a:rPr lang="en-US" dirty="0">
                <a:solidFill>
                  <a:srgbClr val="FFFFFF"/>
                </a:solidFill>
                <a:latin typeface="Arial"/>
                <a:ea typeface="Arial"/>
                <a:cs typeface="Arial"/>
                <a:sym typeface="Arial"/>
              </a:rPr>
              <a:t>)</a:t>
            </a:r>
            <a:endParaRPr dirty="0"/>
          </a:p>
        </p:txBody>
      </p:sp>
      <p:sp>
        <p:nvSpPr>
          <p:cNvPr id="240" name="Google Shape;240;p19"/>
          <p:cNvSpPr txBox="1">
            <a:spLocks noGrp="1"/>
          </p:cNvSpPr>
          <p:nvPr>
            <p:ph type="body" idx="1"/>
          </p:nvPr>
        </p:nvSpPr>
        <p:spPr>
          <a:xfrm>
            <a:off x="380010" y="1287262"/>
            <a:ext cx="8383980" cy="5441575"/>
          </a:xfrm>
          <a:prstGeom prst="rect">
            <a:avLst/>
          </a:prstGeom>
          <a:noFill/>
          <a:ln>
            <a:noFill/>
          </a:ln>
        </p:spPr>
        <p:txBody>
          <a:bodyPr spcFirstLastPara="1" wrap="square" lIns="91425" tIns="45700" rIns="91425" bIns="45700" anchor="t" anchorCtr="0">
            <a:normAutofit/>
          </a:bodyPr>
          <a:lstStyle/>
          <a:p>
            <a:pPr marL="343080" lvl="0" indent="-342720">
              <a:spcBef>
                <a:spcPts val="0"/>
              </a:spcBef>
              <a:buClr>
                <a:srgbClr val="F36A25"/>
              </a:buClr>
            </a:pPr>
            <a:r>
              <a:rPr lang="en-US" sz="2400" dirty="0">
                <a:solidFill>
                  <a:srgbClr val="474C55"/>
                </a:solidFill>
              </a:rPr>
              <a:t>Ultimately, Java creates an array under the hood, and therefor, </a:t>
            </a:r>
            <a:r>
              <a:rPr lang="en-US" sz="2400" dirty="0" err="1">
                <a:solidFill>
                  <a:srgbClr val="474C55"/>
                </a:solidFill>
              </a:rPr>
              <a:t>varags</a:t>
            </a:r>
            <a:r>
              <a:rPr lang="en-US" sz="2400" dirty="0">
                <a:solidFill>
                  <a:srgbClr val="474C55"/>
                </a:solidFill>
              </a:rPr>
              <a:t> can be used in place of an array in certain locations, such as with the main method.</a:t>
            </a:r>
          </a:p>
          <a:p>
            <a:pPr marL="343080" lvl="0" indent="-342720" algn="l" rtl="0">
              <a:spcBef>
                <a:spcPts val="0"/>
              </a:spcBef>
              <a:spcAft>
                <a:spcPts val="0"/>
              </a:spcAft>
              <a:buClr>
                <a:srgbClr val="F36A25"/>
              </a:buClr>
              <a:buSzPts val="2800"/>
              <a:buFont typeface="Arial"/>
              <a:buChar char="•"/>
            </a:pPr>
            <a:endParaRPr lang="en-US" sz="2000" dirty="0">
              <a:solidFill>
                <a:srgbClr val="474C55"/>
              </a:solidFill>
            </a:endParaRPr>
          </a:p>
        </p:txBody>
      </p:sp>
      <p:sp>
        <p:nvSpPr>
          <p:cNvPr id="241" name="Google Shape;241;p19"/>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92</a:t>
            </a:fld>
            <a:endParaRPr/>
          </a:p>
        </p:txBody>
      </p:sp>
      <p:sp>
        <p:nvSpPr>
          <p:cNvPr id="6" name="Google Shape;219;p16">
            <a:extLst>
              <a:ext uri="{FF2B5EF4-FFF2-40B4-BE49-F238E27FC236}">
                <a16:creationId xmlns:a16="http://schemas.microsoft.com/office/drawing/2014/main" id="{583BDC4A-8193-4412-A15A-0998EDF5229C}"/>
              </a:ext>
            </a:extLst>
          </p:cNvPr>
          <p:cNvSpPr txBox="1">
            <a:spLocks/>
          </p:cNvSpPr>
          <p:nvPr/>
        </p:nvSpPr>
        <p:spPr>
          <a:xfrm>
            <a:off x="1301261" y="3152626"/>
            <a:ext cx="6541477" cy="1710846"/>
          </a:xfrm>
          <a:prstGeom prst="rect">
            <a:avLst/>
          </a:prstGeom>
        </p:spPr>
        <p:style>
          <a:lnRef idx="1">
            <a:schemeClr val="accent2"/>
          </a:lnRef>
          <a:fillRef idx="2">
            <a:schemeClr val="accent2"/>
          </a:fillRef>
          <a:effectRef idx="1">
            <a:schemeClr val="accent2"/>
          </a:effectRef>
          <a:fontRef idx="minor">
            <a:schemeClr val="dk1"/>
          </a:fontRef>
        </p:style>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100000"/>
              </a:lnSpc>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100000"/>
              </a:lnSpc>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9pPr>
          </a:lstStyle>
          <a:p>
            <a:pPr marL="0" lvl="0" indent="0">
              <a:lnSpc>
                <a:spcPct val="90000"/>
              </a:lnSpc>
              <a:spcBef>
                <a:spcPts val="360"/>
              </a:spcBef>
              <a:buSzPts val="1800"/>
              <a:buNone/>
            </a:pPr>
            <a:r>
              <a:rPr lang="en-US" sz="1800" b="1" dirty="0">
                <a:solidFill>
                  <a:srgbClr val="474C55"/>
                </a:solidFill>
                <a:latin typeface="Courier New"/>
                <a:ea typeface="Courier New"/>
                <a:cs typeface="Courier New"/>
                <a:sym typeface="Courier New"/>
              </a:rPr>
              <a:t>public static void main(String[] </a:t>
            </a:r>
            <a:r>
              <a:rPr lang="en-US" sz="1800" b="1" dirty="0" err="1">
                <a:solidFill>
                  <a:srgbClr val="474C55"/>
                </a:solidFill>
                <a:latin typeface="Courier New"/>
                <a:ea typeface="Courier New"/>
                <a:cs typeface="Courier New"/>
                <a:sym typeface="Courier New"/>
              </a:rPr>
              <a:t>args</a:t>
            </a:r>
            <a:r>
              <a:rPr lang="en-US" sz="1800" b="1" dirty="0">
                <a:solidFill>
                  <a:srgbClr val="474C55"/>
                </a:solidFill>
                <a:latin typeface="Courier New"/>
                <a:ea typeface="Courier New"/>
                <a:cs typeface="Courier New"/>
                <a:sym typeface="Courier New"/>
              </a:rPr>
              <a:t>) {</a:t>
            </a:r>
          </a:p>
          <a:p>
            <a:pPr marL="0" lvl="0" indent="0">
              <a:lnSpc>
                <a:spcPct val="90000"/>
              </a:lnSpc>
              <a:spcBef>
                <a:spcPts val="360"/>
              </a:spcBef>
              <a:buSzPts val="1800"/>
              <a:buNone/>
            </a:pPr>
            <a:r>
              <a:rPr lang="en-US" sz="1800" dirty="0">
                <a:solidFill>
                  <a:srgbClr val="474C55"/>
                </a:solidFill>
                <a:latin typeface="Courier New"/>
                <a:ea typeface="Courier New"/>
                <a:cs typeface="Courier New"/>
                <a:sym typeface="Courier New"/>
              </a:rPr>
              <a:t>}</a:t>
            </a:r>
          </a:p>
          <a:p>
            <a:pPr marL="0" lvl="0" indent="0">
              <a:lnSpc>
                <a:spcPct val="90000"/>
              </a:lnSpc>
              <a:spcBef>
                <a:spcPts val="360"/>
              </a:spcBef>
              <a:buSzPts val="1800"/>
              <a:buNone/>
            </a:pPr>
            <a:endParaRPr lang="en-US" sz="1800" dirty="0">
              <a:solidFill>
                <a:srgbClr val="474C55"/>
              </a:solidFill>
              <a:latin typeface="Courier New"/>
              <a:ea typeface="Courier New"/>
              <a:cs typeface="Courier New"/>
              <a:sym typeface="Courier New"/>
            </a:endParaRPr>
          </a:p>
          <a:p>
            <a:pPr marL="0" lvl="0" indent="0">
              <a:lnSpc>
                <a:spcPct val="90000"/>
              </a:lnSpc>
              <a:spcBef>
                <a:spcPts val="360"/>
              </a:spcBef>
              <a:buSzPts val="1800"/>
              <a:buNone/>
            </a:pPr>
            <a:r>
              <a:rPr lang="en-US" sz="1800" b="1" dirty="0">
                <a:solidFill>
                  <a:srgbClr val="474C55"/>
                </a:solidFill>
                <a:latin typeface="Courier New"/>
                <a:ea typeface="Courier New"/>
                <a:cs typeface="Courier New"/>
                <a:sym typeface="Courier New"/>
              </a:rPr>
              <a:t>public static void main(String... </a:t>
            </a:r>
            <a:r>
              <a:rPr lang="en-US" sz="1800" b="1" dirty="0" err="1">
                <a:solidFill>
                  <a:srgbClr val="474C55"/>
                </a:solidFill>
                <a:latin typeface="Courier New"/>
                <a:ea typeface="Courier New"/>
                <a:cs typeface="Courier New"/>
                <a:sym typeface="Courier New"/>
              </a:rPr>
              <a:t>args</a:t>
            </a:r>
            <a:r>
              <a:rPr lang="en-US" sz="1800" b="1" dirty="0">
                <a:solidFill>
                  <a:srgbClr val="474C55"/>
                </a:solidFill>
                <a:latin typeface="Courier New"/>
                <a:ea typeface="Courier New"/>
                <a:cs typeface="Courier New"/>
                <a:sym typeface="Courier New"/>
              </a:rPr>
              <a:t>) {</a:t>
            </a:r>
          </a:p>
          <a:p>
            <a:pPr marL="0" lvl="0" indent="0">
              <a:lnSpc>
                <a:spcPct val="90000"/>
              </a:lnSpc>
              <a:spcBef>
                <a:spcPts val="360"/>
              </a:spcBef>
              <a:buSzPts val="1800"/>
              <a:buNone/>
            </a:pPr>
            <a:r>
              <a:rPr lang="en-US" sz="1800" dirty="0">
                <a:solidFill>
                  <a:srgbClr val="474C55"/>
                </a:solidFill>
                <a:latin typeface="Courier New"/>
                <a:ea typeface="Courier New"/>
                <a:cs typeface="Courier New"/>
                <a:sym typeface="Courier New"/>
              </a:rPr>
              <a:t>}</a:t>
            </a:r>
          </a:p>
        </p:txBody>
      </p:sp>
    </p:spTree>
    <p:extLst>
      <p:ext uri="{BB962C8B-B14F-4D97-AF65-F5344CB8AC3E}">
        <p14:creationId xmlns:p14="http://schemas.microsoft.com/office/powerpoint/2010/main" val="3413610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 grpId="0" build="p"/>
      <p:bldP spid="6"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3BA05-F74F-85E0-D6E1-C98A65F31DD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94E802C-E89E-64A2-B39D-24937F55C12E}"/>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93</a:t>
            </a:fld>
            <a:endParaRPr lang="en-US"/>
          </a:p>
        </p:txBody>
      </p:sp>
      <p:sp>
        <p:nvSpPr>
          <p:cNvPr id="4" name="Google Shape;212;p15">
            <a:extLst>
              <a:ext uri="{FF2B5EF4-FFF2-40B4-BE49-F238E27FC236}">
                <a16:creationId xmlns:a16="http://schemas.microsoft.com/office/drawing/2014/main" id="{22109C4C-0A3C-95A9-FA92-84C1B2CF6828}"/>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Scope</a:t>
            </a:r>
          </a:p>
        </p:txBody>
      </p:sp>
      <p:pic>
        <p:nvPicPr>
          <p:cNvPr id="6" name="Picture 5">
            <a:extLst>
              <a:ext uri="{FF2B5EF4-FFF2-40B4-BE49-F238E27FC236}">
                <a16:creationId xmlns:a16="http://schemas.microsoft.com/office/drawing/2014/main" id="{2B161D73-421E-EEAC-FC93-7B3E5E41528B}"/>
              </a:ext>
            </a:extLst>
          </p:cNvPr>
          <p:cNvPicPr>
            <a:picLocks noChangeAspect="1"/>
          </p:cNvPicPr>
          <p:nvPr/>
        </p:nvPicPr>
        <p:blipFill>
          <a:blip r:embed="rId2"/>
          <a:stretch>
            <a:fillRect/>
          </a:stretch>
        </p:blipFill>
        <p:spPr>
          <a:xfrm>
            <a:off x="7036646" y="0"/>
            <a:ext cx="2107354" cy="773112"/>
          </a:xfrm>
          <a:prstGeom prst="rect">
            <a:avLst/>
          </a:prstGeom>
        </p:spPr>
      </p:pic>
    </p:spTree>
    <p:extLst>
      <p:ext uri="{BB962C8B-B14F-4D97-AF65-F5344CB8AC3E}">
        <p14:creationId xmlns:p14="http://schemas.microsoft.com/office/powerpoint/2010/main" val="60942819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828CF-8FF3-473B-AF16-4E4B943DD868}"/>
              </a:ext>
            </a:extLst>
          </p:cNvPr>
          <p:cNvSpPr>
            <a:spLocks noGrp="1"/>
          </p:cNvSpPr>
          <p:nvPr>
            <p:ph type="title"/>
          </p:nvPr>
        </p:nvSpPr>
        <p:spPr/>
        <p:txBody>
          <a:bodyPr/>
          <a:lstStyle/>
          <a:p>
            <a:r>
              <a:rPr lang="en-US" dirty="0"/>
              <a:t>Scopes</a:t>
            </a:r>
          </a:p>
        </p:txBody>
      </p:sp>
      <p:sp>
        <p:nvSpPr>
          <p:cNvPr id="3" name="Content Placeholder 2">
            <a:extLst>
              <a:ext uri="{FF2B5EF4-FFF2-40B4-BE49-F238E27FC236}">
                <a16:creationId xmlns:a16="http://schemas.microsoft.com/office/drawing/2014/main" id="{DBE37A06-9DE6-46DE-A44E-AB37D555FDAA}"/>
              </a:ext>
            </a:extLst>
          </p:cNvPr>
          <p:cNvSpPr>
            <a:spLocks noGrp="1"/>
          </p:cNvSpPr>
          <p:nvPr>
            <p:ph idx="1"/>
          </p:nvPr>
        </p:nvSpPr>
        <p:spPr>
          <a:xfrm>
            <a:off x="388888" y="1472568"/>
            <a:ext cx="8383980" cy="5053578"/>
          </a:xfrm>
        </p:spPr>
        <p:txBody>
          <a:bodyPr>
            <a:normAutofit fontScale="70000" lnSpcReduction="20000"/>
          </a:bodyPr>
          <a:lstStyle/>
          <a:p>
            <a:r>
              <a:rPr lang="en-US" dirty="0"/>
              <a:t>Every time you enclose some code between curly braces (as well as where they might be implied, like flow-control statements), you create a new block.</a:t>
            </a:r>
          </a:p>
          <a:p>
            <a:r>
              <a:rPr lang="en-US" dirty="0"/>
              <a:t>Generally, each block creates a new, “lower” </a:t>
            </a:r>
            <a:r>
              <a:rPr lang="en-US" i="1" dirty="0"/>
              <a:t>scope.</a:t>
            </a:r>
            <a:endParaRPr lang="en-US" dirty="0"/>
          </a:p>
          <a:p>
            <a:pPr lvl="1"/>
            <a:r>
              <a:rPr lang="en-US" dirty="0"/>
              <a:t>Scopes are levels of isolation. Code in a one scope can see something in a “higher” scope; but cannot see into a lower scope or sibling scope.</a:t>
            </a:r>
          </a:p>
          <a:p>
            <a:pPr lvl="1"/>
            <a:r>
              <a:rPr lang="en-US" dirty="0"/>
              <a:t>Nested scopes are “lower” scopes.</a:t>
            </a:r>
          </a:p>
          <a:p>
            <a:pPr lvl="1"/>
            <a:r>
              <a:rPr lang="en-US" dirty="0"/>
              <a:t>Due to the isolated nature of scopes, variables created in “lower” scopes may share the same name as a variable in a “higher” scope.</a:t>
            </a:r>
          </a:p>
          <a:p>
            <a:pPr lvl="1"/>
            <a:endParaRPr lang="en-US" dirty="0"/>
          </a:p>
          <a:p>
            <a:pPr marL="457200" lvl="1" indent="0">
              <a:buNone/>
            </a:pPr>
            <a:r>
              <a:rPr lang="en-US" dirty="0">
                <a:latin typeface="Courier New" panose="02070309020205020404" pitchFamily="49" charset="0"/>
                <a:cs typeface="Courier New" panose="02070309020205020404" pitchFamily="49" charset="0"/>
              </a:rPr>
              <a:t>for (int i = 0; i &lt; 5; i++) {</a:t>
            </a:r>
          </a:p>
          <a:p>
            <a:pPr marL="457200" lvl="1"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System.out.println</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a:t>
            </a:r>
          </a:p>
          <a:p>
            <a:pPr marL="457200" lvl="1" indent="0">
              <a:buNone/>
            </a:pPr>
            <a:r>
              <a:rPr lang="en-US" dirty="0">
                <a:latin typeface="Courier New" panose="02070309020205020404" pitchFamily="49" charset="0"/>
                <a:cs typeface="Courier New" panose="02070309020205020404" pitchFamily="49" charset="0"/>
              </a:rPr>
              <a:t>}</a:t>
            </a:r>
          </a:p>
          <a:p>
            <a:pPr marL="457200" lvl="1" indent="0">
              <a:buNone/>
            </a:pPr>
            <a:endParaRPr lang="en-US" dirty="0">
              <a:latin typeface="Courier New" panose="02070309020205020404" pitchFamily="49" charset="0"/>
              <a:cs typeface="Courier New" panose="02070309020205020404" pitchFamily="49" charset="0"/>
            </a:endParaRPr>
          </a:p>
          <a:p>
            <a:pPr marL="457200" lvl="1" indent="0">
              <a:buNone/>
            </a:pPr>
            <a:r>
              <a:rPr lang="en-US" dirty="0" err="1">
                <a:latin typeface="Courier New" panose="02070309020205020404" pitchFamily="49" charset="0"/>
                <a:cs typeface="Courier New" panose="02070309020205020404" pitchFamily="49" charset="0"/>
              </a:rPr>
              <a:t>System.out.println</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crashes, i is not visible here</a:t>
            </a:r>
          </a:p>
          <a:p>
            <a:endParaRPr lang="en-US" dirty="0">
              <a:latin typeface="+mj-lt"/>
              <a:cs typeface="Courier New" panose="02070309020205020404" pitchFamily="49" charset="0"/>
            </a:endParaRPr>
          </a:p>
          <a:p>
            <a:r>
              <a:rPr lang="en-US" dirty="0">
                <a:latin typeface="+mj-lt"/>
                <a:cs typeface="Courier New" panose="02070309020205020404" pitchFamily="49" charset="0"/>
              </a:rPr>
              <a:t>When the program reaches the end of a scope, the contents are deleted from memory*.</a:t>
            </a:r>
          </a:p>
        </p:txBody>
      </p:sp>
      <p:sp>
        <p:nvSpPr>
          <p:cNvPr id="4" name="Slide Number Placeholder 3">
            <a:extLst>
              <a:ext uri="{FF2B5EF4-FFF2-40B4-BE49-F238E27FC236}">
                <a16:creationId xmlns:a16="http://schemas.microsoft.com/office/drawing/2014/main" id="{630A82B3-21A0-4CFA-8F5B-0E39A90C653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28BC2-ACA3-447C-A909-F3F49211C066}" type="slidenum">
              <a:rPr kumimoji="0" lang="en-US" sz="1200" b="0" i="0" u="none" strike="noStrike" kern="1200" cap="none" spc="0" normalizeH="0" baseline="0" noProof="0" smtClean="0">
                <a:ln>
                  <a:noFill/>
                </a:ln>
                <a:solidFill>
                  <a:srgbClr val="A0A1A0"/>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94</a:t>
            </a:fld>
            <a:endParaRPr kumimoji="0" lang="en-US" sz="1200" b="0" i="0" u="none" strike="noStrike" kern="1200" cap="none" spc="0" normalizeH="0" baseline="0" noProof="0" dirty="0">
              <a:ln>
                <a:noFill/>
              </a:ln>
              <a:solidFill>
                <a:srgbClr val="A0A1A0"/>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2712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A83DB-1BD5-446B-9E3D-18293669DA02}"/>
              </a:ext>
            </a:extLst>
          </p:cNvPr>
          <p:cNvSpPr>
            <a:spLocks noGrp="1"/>
          </p:cNvSpPr>
          <p:nvPr>
            <p:ph type="title"/>
          </p:nvPr>
        </p:nvSpPr>
        <p:spPr/>
        <p:txBody>
          <a:bodyPr/>
          <a:lstStyle/>
          <a:p>
            <a:r>
              <a:rPr lang="en-US" dirty="0"/>
              <a:t>Scopes - Instance</a:t>
            </a:r>
          </a:p>
        </p:txBody>
      </p:sp>
      <p:sp>
        <p:nvSpPr>
          <p:cNvPr id="3" name="Content Placeholder 2">
            <a:extLst>
              <a:ext uri="{FF2B5EF4-FFF2-40B4-BE49-F238E27FC236}">
                <a16:creationId xmlns:a16="http://schemas.microsoft.com/office/drawing/2014/main" id="{8335F053-CC20-4A68-96A6-0707588BC6B6}"/>
              </a:ext>
            </a:extLst>
          </p:cNvPr>
          <p:cNvSpPr>
            <a:spLocks noGrp="1"/>
          </p:cNvSpPr>
          <p:nvPr>
            <p:ph idx="1"/>
          </p:nvPr>
        </p:nvSpPr>
        <p:spPr>
          <a:xfrm>
            <a:off x="380010" y="1481446"/>
            <a:ext cx="8383980" cy="4978077"/>
          </a:xfrm>
        </p:spPr>
        <p:txBody>
          <a:bodyPr>
            <a:normAutofit/>
          </a:bodyPr>
          <a:lstStyle/>
          <a:p>
            <a:pPr algn="l">
              <a:buFont typeface="Arial" panose="020B0604020202020204" pitchFamily="34" charset="0"/>
              <a:buChar char="•"/>
            </a:pPr>
            <a:r>
              <a:rPr lang="en-US" sz="1800" b="0" i="0" dirty="0">
                <a:solidFill>
                  <a:srgbClr val="212529"/>
                </a:solidFill>
                <a:effectLst/>
                <a:latin typeface="+mn-lt"/>
              </a:rPr>
              <a:t>Variables created outside of any method, or flow control statement within a class </a:t>
            </a:r>
            <a:r>
              <a:rPr lang="en-US" sz="1800" dirty="0">
                <a:solidFill>
                  <a:srgbClr val="212529"/>
                </a:solidFill>
                <a:latin typeface="+mn-lt"/>
              </a:rPr>
              <a:t>reside in the </a:t>
            </a:r>
            <a:r>
              <a:rPr lang="en-US" sz="1800" b="0" i="0" dirty="0">
                <a:solidFill>
                  <a:srgbClr val="212529"/>
                </a:solidFill>
                <a:effectLst/>
                <a:latin typeface="Courier New" panose="02070309020205020404" pitchFamily="49" charset="0"/>
                <a:cs typeface="Courier New" panose="02070309020205020404" pitchFamily="49" charset="0"/>
              </a:rPr>
              <a:t>Instance</a:t>
            </a:r>
            <a:r>
              <a:rPr lang="en-US" sz="1800" b="0" i="0" dirty="0">
                <a:solidFill>
                  <a:srgbClr val="212529"/>
                </a:solidFill>
                <a:effectLst/>
                <a:latin typeface="+mn-lt"/>
              </a:rPr>
              <a:t> or </a:t>
            </a:r>
            <a:r>
              <a:rPr lang="en-US" sz="1800" b="0" i="0" dirty="0">
                <a:solidFill>
                  <a:srgbClr val="212529"/>
                </a:solidFill>
                <a:effectLst/>
                <a:latin typeface="Courier New" panose="02070309020205020404" pitchFamily="49" charset="0"/>
                <a:cs typeface="Courier New" panose="02070309020205020404" pitchFamily="49" charset="0"/>
              </a:rPr>
              <a:t>object</a:t>
            </a:r>
            <a:r>
              <a:rPr lang="en-US" sz="1800" b="0" i="0" dirty="0">
                <a:solidFill>
                  <a:srgbClr val="212529"/>
                </a:solidFill>
                <a:effectLst/>
                <a:latin typeface="+mn-lt"/>
              </a:rPr>
              <a:t> scope.</a:t>
            </a:r>
          </a:p>
          <a:p>
            <a:pPr algn="l">
              <a:buFont typeface="Arial" panose="020B0604020202020204" pitchFamily="34" charset="0"/>
              <a:buChar char="•"/>
            </a:pPr>
            <a:r>
              <a:rPr lang="en-US" sz="1800" dirty="0">
                <a:solidFill>
                  <a:srgbClr val="212529"/>
                </a:solidFill>
                <a:latin typeface="+mn-lt"/>
              </a:rPr>
              <a:t>Instance scope variables persist through the lifetime of the object.</a:t>
            </a:r>
          </a:p>
          <a:p>
            <a:pPr algn="l">
              <a:buFont typeface="Arial" panose="020B0604020202020204" pitchFamily="34" charset="0"/>
              <a:buChar char="•"/>
            </a:pPr>
            <a:r>
              <a:rPr lang="en-US" sz="1800" dirty="0">
                <a:solidFill>
                  <a:srgbClr val="212529"/>
                </a:solidFill>
                <a:latin typeface="+mn-lt"/>
              </a:rPr>
              <a:t>Each class instance (object) will have its own, separate values for instance scope variables.</a:t>
            </a:r>
          </a:p>
          <a:p>
            <a:pPr algn="l">
              <a:buFont typeface="Arial" panose="020B0604020202020204" pitchFamily="34" charset="0"/>
              <a:buChar char="•"/>
            </a:pPr>
            <a:endParaRPr lang="en-US" dirty="0">
              <a:solidFill>
                <a:srgbClr val="212529"/>
              </a:solidFill>
              <a:latin typeface="+mn-lt"/>
            </a:endParaRPr>
          </a:p>
          <a:p>
            <a:pPr algn="l">
              <a:buFont typeface="Arial" panose="020B0604020202020204" pitchFamily="34" charset="0"/>
              <a:buChar char="•"/>
            </a:pPr>
            <a:endParaRPr lang="en-US" dirty="0">
              <a:solidFill>
                <a:srgbClr val="212529"/>
              </a:solidFill>
              <a:latin typeface="+mn-lt"/>
            </a:endParaRPr>
          </a:p>
          <a:p>
            <a:pPr algn="l">
              <a:buFont typeface="Arial" panose="020B0604020202020204" pitchFamily="34" charset="0"/>
              <a:buChar char="•"/>
            </a:pPr>
            <a:endParaRPr lang="en-US" b="0" i="0" dirty="0">
              <a:solidFill>
                <a:srgbClr val="212529"/>
              </a:solidFill>
              <a:effectLst/>
              <a:latin typeface="+mj-lt"/>
            </a:endParaRPr>
          </a:p>
          <a:p>
            <a:pPr marL="0" indent="0">
              <a:buNone/>
            </a:pPr>
            <a:r>
              <a:rPr lang="en-US" sz="1800" dirty="0">
                <a:latin typeface="Courier New" panose="02070309020205020404" pitchFamily="49" charset="0"/>
                <a:cs typeface="Courier New" panose="02070309020205020404" pitchFamily="49" charset="0"/>
              </a:rPr>
              <a:t>	</a:t>
            </a:r>
          </a:p>
        </p:txBody>
      </p:sp>
      <p:sp>
        <p:nvSpPr>
          <p:cNvPr id="4" name="Slide Number Placeholder 3">
            <a:extLst>
              <a:ext uri="{FF2B5EF4-FFF2-40B4-BE49-F238E27FC236}">
                <a16:creationId xmlns:a16="http://schemas.microsoft.com/office/drawing/2014/main" id="{1664DBD2-BC13-412C-ABE3-AF3CD361010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28BC2-ACA3-447C-A909-F3F49211C066}" type="slidenum">
              <a:rPr kumimoji="0" lang="en-US" sz="1200" b="0" i="0" u="none" strike="noStrike" kern="1200" cap="none" spc="0" normalizeH="0" baseline="0" noProof="0" smtClean="0">
                <a:ln>
                  <a:noFill/>
                </a:ln>
                <a:solidFill>
                  <a:srgbClr val="A0A1A0"/>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95</a:t>
            </a:fld>
            <a:endParaRPr kumimoji="0" lang="en-US" sz="1200" b="0" i="0" u="none" strike="noStrike" kern="1200" cap="none" spc="0" normalizeH="0" baseline="0" noProof="0" dirty="0">
              <a:ln>
                <a:noFill/>
              </a:ln>
              <a:solidFill>
                <a:srgbClr val="A0A1A0"/>
              </a:solidFill>
              <a:effectLst/>
              <a:uLnTx/>
              <a:uFillTx/>
              <a:latin typeface="Arial" panose="020B0604020202020204" pitchFamily="34" charset="0"/>
              <a:ea typeface="+mn-ea"/>
              <a:cs typeface="Arial" panose="020B0604020202020204" pitchFamily="34" charset="0"/>
            </a:endParaRPr>
          </a:p>
        </p:txBody>
      </p:sp>
      <p:sp>
        <p:nvSpPr>
          <p:cNvPr id="5" name="Google Shape;219;p16">
            <a:extLst>
              <a:ext uri="{FF2B5EF4-FFF2-40B4-BE49-F238E27FC236}">
                <a16:creationId xmlns:a16="http://schemas.microsoft.com/office/drawing/2014/main" id="{74877B0A-FB02-46BF-BEA2-51B2878F78FE}"/>
              </a:ext>
            </a:extLst>
          </p:cNvPr>
          <p:cNvSpPr txBox="1">
            <a:spLocks/>
          </p:cNvSpPr>
          <p:nvPr/>
        </p:nvSpPr>
        <p:spPr>
          <a:xfrm>
            <a:off x="1879870" y="3515556"/>
            <a:ext cx="5384260" cy="3053919"/>
          </a:xfrm>
          <a:prstGeom prst="rect">
            <a:avLst/>
          </a:prstGeom>
        </p:spPr>
        <p:style>
          <a:lnRef idx="1">
            <a:schemeClr val="accent2"/>
          </a:lnRef>
          <a:fillRef idx="2">
            <a:schemeClr val="accent2"/>
          </a:fillRef>
          <a:effectRef idx="1">
            <a:schemeClr val="accent2"/>
          </a:effectRef>
          <a:fontRef idx="minor">
            <a:schemeClr val="dk1"/>
          </a:fontRef>
        </p:style>
        <p:txBody>
          <a:bodyPr spcFirstLastPara="1" wrap="square" lIns="91425" tIns="45700" rIns="91425" bIns="45700" anchor="t" anchorCtr="0">
            <a:normAutofit fontScale="92500" lnSpcReduction="20000"/>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100000"/>
              </a:lnSpc>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100000"/>
              </a:lnSpc>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9pPr>
          </a:lstStyle>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public class Example {</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public int number; // instance scope</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a:t>
            </a:r>
          </a:p>
          <a:p>
            <a:pPr marL="182880" lvl="1" indent="0" defTabSz="457200">
              <a:lnSpc>
                <a:spcPct val="90000"/>
              </a:lnSpc>
              <a:buFont typeface="Arial"/>
              <a:buNone/>
            </a:pPr>
            <a:endParaRPr lang="en-US" sz="1400" dirty="0">
              <a:latin typeface="Courier New" panose="02070309020205020404" pitchFamily="49" charset="0"/>
              <a:cs typeface="Courier New" panose="02070309020205020404" pitchFamily="49" charset="0"/>
            </a:endParaRP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public class Simulator {</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public static void main(String[] </a:t>
            </a:r>
            <a:r>
              <a:rPr lang="en-US" sz="1400" dirty="0" err="1">
                <a:latin typeface="Courier New" panose="02070309020205020404" pitchFamily="49" charset="0"/>
                <a:cs typeface="Courier New" panose="02070309020205020404" pitchFamily="49" charset="0"/>
              </a:rPr>
              <a:t>args</a:t>
            </a: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Example ex1 = new Example();</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ex1.number = 10;</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Example ex2 = new Example();</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ex2.number = 3;</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System.out.println</a:t>
            </a:r>
            <a:r>
              <a:rPr lang="en-US" sz="1400" dirty="0">
                <a:latin typeface="Courier New" panose="02070309020205020404" pitchFamily="49" charset="0"/>
                <a:cs typeface="Courier New" panose="02070309020205020404" pitchFamily="49" charset="0"/>
              </a:rPr>
              <a:t>(ex1.number); // 10</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System.out.println</a:t>
            </a:r>
            <a:r>
              <a:rPr lang="en-US" sz="1400" dirty="0">
                <a:latin typeface="Courier New" panose="02070309020205020404" pitchFamily="49" charset="0"/>
                <a:cs typeface="Courier New" panose="02070309020205020404" pitchFamily="49" charset="0"/>
              </a:rPr>
              <a:t>(ex1.number); // 3</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91549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
                                            <p:txEl>
                                              <p:pRg st="10" end="1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
                                            <p:txEl>
                                              <p:pRg st="11" end="11"/>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
                                            <p:txEl>
                                              <p:pRg st="12" end="12"/>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A83DB-1BD5-446B-9E3D-18293669DA02}"/>
              </a:ext>
            </a:extLst>
          </p:cNvPr>
          <p:cNvSpPr>
            <a:spLocks noGrp="1"/>
          </p:cNvSpPr>
          <p:nvPr>
            <p:ph type="title"/>
          </p:nvPr>
        </p:nvSpPr>
        <p:spPr/>
        <p:txBody>
          <a:bodyPr/>
          <a:lstStyle/>
          <a:p>
            <a:r>
              <a:rPr lang="en-US" dirty="0"/>
              <a:t>Scopes - Method</a:t>
            </a:r>
          </a:p>
        </p:txBody>
      </p:sp>
      <p:sp>
        <p:nvSpPr>
          <p:cNvPr id="3" name="Content Placeholder 2">
            <a:extLst>
              <a:ext uri="{FF2B5EF4-FFF2-40B4-BE49-F238E27FC236}">
                <a16:creationId xmlns:a16="http://schemas.microsoft.com/office/drawing/2014/main" id="{8335F053-CC20-4A68-96A6-0707588BC6B6}"/>
              </a:ext>
            </a:extLst>
          </p:cNvPr>
          <p:cNvSpPr>
            <a:spLocks noGrp="1"/>
          </p:cNvSpPr>
          <p:nvPr>
            <p:ph idx="1"/>
          </p:nvPr>
        </p:nvSpPr>
        <p:spPr>
          <a:xfrm>
            <a:off x="380010" y="1481446"/>
            <a:ext cx="8383980" cy="5096907"/>
          </a:xfrm>
        </p:spPr>
        <p:txBody>
          <a:bodyPr>
            <a:normAutofit/>
          </a:bodyPr>
          <a:lstStyle/>
          <a:p>
            <a:pPr algn="l">
              <a:buFont typeface="Arial" panose="020B0604020202020204" pitchFamily="34" charset="0"/>
              <a:buChar char="•"/>
            </a:pPr>
            <a:r>
              <a:rPr lang="en-US" sz="1800" b="0" i="0" dirty="0">
                <a:solidFill>
                  <a:srgbClr val="212529"/>
                </a:solidFill>
                <a:effectLst/>
                <a:latin typeface="+mn-lt"/>
              </a:rPr>
              <a:t>Variables created within a method </a:t>
            </a:r>
            <a:r>
              <a:rPr lang="en-US" sz="1800" dirty="0">
                <a:solidFill>
                  <a:srgbClr val="212529"/>
                </a:solidFill>
                <a:latin typeface="+mn-lt"/>
              </a:rPr>
              <a:t>as well as method parameters reside in the </a:t>
            </a:r>
            <a:r>
              <a:rPr lang="en-US" sz="1800" dirty="0">
                <a:solidFill>
                  <a:srgbClr val="212529"/>
                </a:solidFill>
                <a:latin typeface="Courier New" panose="02070309020205020404" pitchFamily="49" charset="0"/>
                <a:cs typeface="Courier New" panose="02070309020205020404" pitchFamily="49" charset="0"/>
              </a:rPr>
              <a:t>Method</a:t>
            </a:r>
            <a:r>
              <a:rPr lang="en-US" sz="1800" b="0" i="0" dirty="0">
                <a:solidFill>
                  <a:srgbClr val="212529"/>
                </a:solidFill>
                <a:effectLst/>
                <a:latin typeface="+mn-lt"/>
              </a:rPr>
              <a:t> scope.</a:t>
            </a:r>
          </a:p>
          <a:p>
            <a:pPr algn="l">
              <a:buFont typeface="Arial" panose="020B0604020202020204" pitchFamily="34" charset="0"/>
              <a:buChar char="•"/>
            </a:pPr>
            <a:r>
              <a:rPr lang="en-US" sz="1800" dirty="0">
                <a:solidFill>
                  <a:srgbClr val="212529"/>
                </a:solidFill>
                <a:latin typeface="+mn-lt"/>
              </a:rPr>
              <a:t>These variables can be utilized within a method but cannot be accessed outside of the method in which they are declared.</a:t>
            </a:r>
          </a:p>
          <a:p>
            <a:pPr algn="l">
              <a:buFont typeface="Arial" panose="020B0604020202020204" pitchFamily="34" charset="0"/>
              <a:buChar char="•"/>
            </a:pPr>
            <a:r>
              <a:rPr lang="en-US" sz="1800" dirty="0">
                <a:solidFill>
                  <a:srgbClr val="212529"/>
                </a:solidFill>
                <a:latin typeface="+mn-lt"/>
              </a:rPr>
              <a:t>Method scope variables are also known as </a:t>
            </a:r>
            <a:r>
              <a:rPr lang="en-US" sz="1800" dirty="0">
                <a:solidFill>
                  <a:srgbClr val="212529"/>
                </a:solidFill>
                <a:latin typeface="Courier New" panose="02070309020205020404" pitchFamily="49" charset="0"/>
                <a:cs typeface="Courier New" panose="02070309020205020404" pitchFamily="49" charset="0"/>
              </a:rPr>
              <a:t>local</a:t>
            </a:r>
            <a:r>
              <a:rPr lang="en-US" sz="1800" dirty="0">
                <a:solidFill>
                  <a:srgbClr val="212529"/>
                </a:solidFill>
                <a:latin typeface="+mn-lt"/>
              </a:rPr>
              <a:t> variables.</a:t>
            </a:r>
            <a:endParaRPr lang="en-US" dirty="0">
              <a:solidFill>
                <a:srgbClr val="212529"/>
              </a:solidFill>
              <a:latin typeface="+mn-lt"/>
            </a:endParaRPr>
          </a:p>
          <a:p>
            <a:pPr algn="l">
              <a:buFont typeface="Arial" panose="020B0604020202020204" pitchFamily="34" charset="0"/>
              <a:buChar char="•"/>
            </a:pPr>
            <a:endParaRPr lang="en-US" dirty="0">
              <a:solidFill>
                <a:srgbClr val="212529"/>
              </a:solidFill>
              <a:latin typeface="+mn-lt"/>
            </a:endParaRPr>
          </a:p>
          <a:p>
            <a:pPr algn="l">
              <a:buFont typeface="Arial" panose="020B0604020202020204" pitchFamily="34" charset="0"/>
              <a:buChar char="•"/>
            </a:pPr>
            <a:endParaRPr lang="en-US" b="0" i="0" dirty="0">
              <a:solidFill>
                <a:srgbClr val="212529"/>
              </a:solidFill>
              <a:effectLst/>
              <a:latin typeface="+mj-lt"/>
            </a:endParaRPr>
          </a:p>
          <a:p>
            <a:pPr marL="0" indent="0">
              <a:buNone/>
            </a:pPr>
            <a:r>
              <a:rPr lang="en-US" sz="1800" dirty="0">
                <a:latin typeface="Courier New" panose="02070309020205020404" pitchFamily="49" charset="0"/>
                <a:cs typeface="Courier New" panose="02070309020205020404" pitchFamily="49" charset="0"/>
              </a:rPr>
              <a:t>	</a:t>
            </a:r>
          </a:p>
        </p:txBody>
      </p:sp>
      <p:sp>
        <p:nvSpPr>
          <p:cNvPr id="4" name="Slide Number Placeholder 3">
            <a:extLst>
              <a:ext uri="{FF2B5EF4-FFF2-40B4-BE49-F238E27FC236}">
                <a16:creationId xmlns:a16="http://schemas.microsoft.com/office/drawing/2014/main" id="{1664DBD2-BC13-412C-ABE3-AF3CD361010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28BC2-ACA3-447C-A909-F3F49211C066}" type="slidenum">
              <a:rPr kumimoji="0" lang="en-US" sz="1200" b="0" i="0" u="none" strike="noStrike" kern="1200" cap="none" spc="0" normalizeH="0" baseline="0" noProof="0" smtClean="0">
                <a:ln>
                  <a:noFill/>
                </a:ln>
                <a:solidFill>
                  <a:srgbClr val="A0A1A0"/>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96</a:t>
            </a:fld>
            <a:endParaRPr kumimoji="0" lang="en-US" sz="1200" b="0" i="0" u="none" strike="noStrike" kern="1200" cap="none" spc="0" normalizeH="0" baseline="0" noProof="0" dirty="0">
              <a:ln>
                <a:noFill/>
              </a:ln>
              <a:solidFill>
                <a:srgbClr val="A0A1A0"/>
              </a:solidFill>
              <a:effectLst/>
              <a:uLnTx/>
              <a:uFillTx/>
              <a:latin typeface="Arial" panose="020B0604020202020204" pitchFamily="34" charset="0"/>
              <a:ea typeface="+mn-ea"/>
              <a:cs typeface="Arial" panose="020B0604020202020204" pitchFamily="34" charset="0"/>
            </a:endParaRPr>
          </a:p>
        </p:txBody>
      </p:sp>
      <p:sp>
        <p:nvSpPr>
          <p:cNvPr id="5" name="Google Shape;219;p16">
            <a:extLst>
              <a:ext uri="{FF2B5EF4-FFF2-40B4-BE49-F238E27FC236}">
                <a16:creationId xmlns:a16="http://schemas.microsoft.com/office/drawing/2014/main" id="{74877B0A-FB02-46BF-BEA2-51B2878F78FE}"/>
              </a:ext>
            </a:extLst>
          </p:cNvPr>
          <p:cNvSpPr txBox="1">
            <a:spLocks/>
          </p:cNvSpPr>
          <p:nvPr/>
        </p:nvSpPr>
        <p:spPr>
          <a:xfrm>
            <a:off x="1879870" y="3309793"/>
            <a:ext cx="5384260" cy="3053919"/>
          </a:xfrm>
          <a:prstGeom prst="rect">
            <a:avLst/>
          </a:prstGeom>
        </p:spPr>
        <p:style>
          <a:lnRef idx="1">
            <a:schemeClr val="accent2"/>
          </a:lnRef>
          <a:fillRef idx="2">
            <a:schemeClr val="accent2"/>
          </a:fillRef>
          <a:effectRef idx="1">
            <a:schemeClr val="accent2"/>
          </a:effectRef>
          <a:fontRef idx="minor">
            <a:schemeClr val="dk1"/>
          </a:fontRef>
        </p:style>
        <p:txBody>
          <a:bodyPr spcFirstLastPara="1" wrap="square" lIns="91425" tIns="45700" rIns="91425" bIns="45700" anchor="t" anchorCtr="0">
            <a:normAutofit fontScale="92500"/>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100000"/>
              </a:lnSpc>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100000"/>
              </a:lnSpc>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9pPr>
          </a:lstStyle>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public class Example {</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public static void main(String[] </a:t>
            </a:r>
            <a:r>
              <a:rPr lang="en-US" sz="1400" dirty="0" err="1">
                <a:latin typeface="Courier New" panose="02070309020205020404" pitchFamily="49" charset="0"/>
                <a:cs typeface="Courier New" panose="02070309020205020404" pitchFamily="49" charset="0"/>
              </a:rPr>
              <a:t>args</a:t>
            </a: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Example ex1 = new Example();</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ex1.printString();</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System.out.println</a:t>
            </a:r>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methodString</a:t>
            </a:r>
            <a:r>
              <a:rPr lang="en-US" sz="1400" dirty="0">
                <a:latin typeface="Courier New" panose="02070309020205020404" pitchFamily="49" charset="0"/>
                <a:cs typeface="Courier New" panose="02070309020205020404" pitchFamily="49" charset="0"/>
              </a:rPr>
              <a:t>); // error</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public void </a:t>
            </a:r>
            <a:r>
              <a:rPr lang="en-US" sz="1400" dirty="0" err="1">
                <a:latin typeface="Courier New" panose="02070309020205020404" pitchFamily="49" charset="0"/>
                <a:cs typeface="Courier New" panose="02070309020205020404" pitchFamily="49" charset="0"/>
              </a:rPr>
              <a:t>printString</a:t>
            </a:r>
            <a:r>
              <a:rPr lang="en-US" sz="1400" dirty="0">
                <a:latin typeface="Courier New" panose="02070309020205020404" pitchFamily="49" charset="0"/>
                <a:cs typeface="Courier New" panose="02070309020205020404" pitchFamily="49" charset="0"/>
              </a:rPr>
              <a:t>(String input) {</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String </a:t>
            </a:r>
            <a:r>
              <a:rPr lang="en-US" sz="1400" dirty="0" err="1">
                <a:latin typeface="Courier New" panose="02070309020205020404" pitchFamily="49" charset="0"/>
                <a:cs typeface="Courier New" panose="02070309020205020404" pitchFamily="49" charset="0"/>
              </a:rPr>
              <a:t>methodString</a:t>
            </a:r>
            <a:r>
              <a:rPr lang="en-US" sz="1400" dirty="0">
                <a:latin typeface="Courier New" panose="02070309020205020404" pitchFamily="49" charset="0"/>
                <a:cs typeface="Courier New" panose="02070309020205020404" pitchFamily="49" charset="0"/>
              </a:rPr>
              <a:t> = “Created in method”;</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System.out.println</a:t>
            </a:r>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methodString</a:t>
            </a:r>
            <a:r>
              <a:rPr lang="en-US" sz="1400" dirty="0">
                <a:latin typeface="Courier New" panose="02070309020205020404" pitchFamily="49" charset="0"/>
                <a:cs typeface="Courier New" panose="02070309020205020404" pitchFamily="49" charset="0"/>
              </a:rPr>
              <a:t>);</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System.out.println</a:t>
            </a:r>
            <a:r>
              <a:rPr lang="en-US" sz="1400" dirty="0">
                <a:latin typeface="Courier New" panose="02070309020205020404" pitchFamily="49" charset="0"/>
                <a:cs typeface="Courier New" panose="02070309020205020404" pitchFamily="49" charset="0"/>
              </a:rPr>
              <a:t>(input);</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349624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
                                            <p:txEl>
                                              <p:pRg st="9" end="9"/>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
                                            <p:txEl>
                                              <p:pRg st="10" end="10"/>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A83DB-1BD5-446B-9E3D-18293669DA02}"/>
              </a:ext>
            </a:extLst>
          </p:cNvPr>
          <p:cNvSpPr>
            <a:spLocks noGrp="1"/>
          </p:cNvSpPr>
          <p:nvPr>
            <p:ph type="title"/>
          </p:nvPr>
        </p:nvSpPr>
        <p:spPr/>
        <p:txBody>
          <a:bodyPr/>
          <a:lstStyle/>
          <a:p>
            <a:r>
              <a:rPr lang="en-US" dirty="0"/>
              <a:t>Scopes - Block</a:t>
            </a:r>
          </a:p>
        </p:txBody>
      </p:sp>
      <p:sp>
        <p:nvSpPr>
          <p:cNvPr id="3" name="Content Placeholder 2">
            <a:extLst>
              <a:ext uri="{FF2B5EF4-FFF2-40B4-BE49-F238E27FC236}">
                <a16:creationId xmlns:a16="http://schemas.microsoft.com/office/drawing/2014/main" id="{8335F053-CC20-4A68-96A6-0707588BC6B6}"/>
              </a:ext>
            </a:extLst>
          </p:cNvPr>
          <p:cNvSpPr>
            <a:spLocks noGrp="1"/>
          </p:cNvSpPr>
          <p:nvPr>
            <p:ph idx="1"/>
          </p:nvPr>
        </p:nvSpPr>
        <p:spPr>
          <a:xfrm>
            <a:off x="380010" y="1498301"/>
            <a:ext cx="8383980" cy="5047973"/>
          </a:xfrm>
        </p:spPr>
        <p:txBody>
          <a:bodyPr>
            <a:normAutofit/>
          </a:bodyPr>
          <a:lstStyle/>
          <a:p>
            <a:pPr algn="l">
              <a:buFont typeface="Arial" panose="020B0604020202020204" pitchFamily="34" charset="0"/>
              <a:buChar char="•"/>
            </a:pPr>
            <a:r>
              <a:rPr lang="en-US" sz="1800" b="0" i="0" dirty="0">
                <a:solidFill>
                  <a:srgbClr val="212529"/>
                </a:solidFill>
                <a:effectLst/>
                <a:latin typeface="+mn-lt"/>
              </a:rPr>
              <a:t>Variables created within a flow-control statement or loop </a:t>
            </a:r>
            <a:r>
              <a:rPr lang="en-US" sz="1800" dirty="0">
                <a:solidFill>
                  <a:srgbClr val="212529"/>
                </a:solidFill>
                <a:latin typeface="+mn-lt"/>
              </a:rPr>
              <a:t>reside in the </a:t>
            </a:r>
            <a:r>
              <a:rPr lang="en-US" sz="1800" dirty="0">
                <a:solidFill>
                  <a:srgbClr val="212529"/>
                </a:solidFill>
                <a:latin typeface="Courier New" panose="02070309020205020404" pitchFamily="49" charset="0"/>
                <a:cs typeface="Courier New" panose="02070309020205020404" pitchFamily="49" charset="0"/>
              </a:rPr>
              <a:t>Block</a:t>
            </a:r>
            <a:r>
              <a:rPr lang="en-US" sz="1800" b="0" i="0" dirty="0">
                <a:solidFill>
                  <a:srgbClr val="212529"/>
                </a:solidFill>
                <a:effectLst/>
                <a:latin typeface="+mn-lt"/>
              </a:rPr>
              <a:t> scope.</a:t>
            </a:r>
          </a:p>
          <a:p>
            <a:pPr algn="l">
              <a:buFont typeface="Arial" panose="020B0604020202020204" pitchFamily="34" charset="0"/>
              <a:buChar char="•"/>
            </a:pPr>
            <a:r>
              <a:rPr lang="en-US" sz="1800" dirty="0">
                <a:solidFill>
                  <a:srgbClr val="212529"/>
                </a:solidFill>
                <a:latin typeface="+mn-lt"/>
              </a:rPr>
              <a:t>These variables can be utilized within the block they are declared but cannot be accessed outside it.</a:t>
            </a:r>
          </a:p>
          <a:p>
            <a:pPr algn="l">
              <a:buFont typeface="Arial" panose="020B0604020202020204" pitchFamily="34" charset="0"/>
              <a:buChar char="•"/>
            </a:pPr>
            <a:r>
              <a:rPr lang="en-US" sz="1800" dirty="0">
                <a:solidFill>
                  <a:srgbClr val="212529"/>
                </a:solidFill>
                <a:latin typeface="+mn-lt"/>
              </a:rPr>
              <a:t>Block scope variables are also known as </a:t>
            </a:r>
            <a:r>
              <a:rPr lang="en-US" sz="1800" dirty="0">
                <a:solidFill>
                  <a:srgbClr val="212529"/>
                </a:solidFill>
                <a:latin typeface="Courier New" panose="02070309020205020404" pitchFamily="49" charset="0"/>
                <a:cs typeface="Courier New" panose="02070309020205020404" pitchFamily="49" charset="0"/>
              </a:rPr>
              <a:t>local</a:t>
            </a:r>
            <a:r>
              <a:rPr lang="en-US" sz="1800" dirty="0">
                <a:solidFill>
                  <a:srgbClr val="212529"/>
                </a:solidFill>
                <a:latin typeface="+mn-lt"/>
              </a:rPr>
              <a:t> variables in addition to Method scope variables.</a:t>
            </a:r>
          </a:p>
          <a:p>
            <a:pPr algn="l">
              <a:buFont typeface="Arial" panose="020B0604020202020204" pitchFamily="34" charset="0"/>
              <a:buChar char="•"/>
            </a:pPr>
            <a:endParaRPr lang="en-US" dirty="0">
              <a:solidFill>
                <a:srgbClr val="212529"/>
              </a:solidFill>
              <a:latin typeface="+mn-lt"/>
            </a:endParaRPr>
          </a:p>
          <a:p>
            <a:pPr algn="l">
              <a:buFont typeface="Arial" panose="020B0604020202020204" pitchFamily="34" charset="0"/>
              <a:buChar char="•"/>
            </a:pPr>
            <a:endParaRPr lang="en-US" dirty="0">
              <a:solidFill>
                <a:srgbClr val="212529"/>
              </a:solidFill>
              <a:latin typeface="+mn-lt"/>
            </a:endParaRPr>
          </a:p>
          <a:p>
            <a:pPr algn="l">
              <a:buFont typeface="Arial" panose="020B0604020202020204" pitchFamily="34" charset="0"/>
              <a:buChar char="•"/>
            </a:pPr>
            <a:endParaRPr lang="en-US" b="0" i="0" dirty="0">
              <a:solidFill>
                <a:srgbClr val="212529"/>
              </a:solidFill>
              <a:effectLst/>
              <a:latin typeface="+mj-lt"/>
            </a:endParaRPr>
          </a:p>
          <a:p>
            <a:pPr marL="0" indent="0">
              <a:buNone/>
            </a:pPr>
            <a:r>
              <a:rPr lang="en-US" sz="1800" dirty="0">
                <a:latin typeface="Courier New" panose="02070309020205020404" pitchFamily="49" charset="0"/>
                <a:cs typeface="Courier New" panose="02070309020205020404" pitchFamily="49" charset="0"/>
              </a:rPr>
              <a:t>	</a:t>
            </a:r>
          </a:p>
        </p:txBody>
      </p:sp>
      <p:sp>
        <p:nvSpPr>
          <p:cNvPr id="4" name="Slide Number Placeholder 3">
            <a:extLst>
              <a:ext uri="{FF2B5EF4-FFF2-40B4-BE49-F238E27FC236}">
                <a16:creationId xmlns:a16="http://schemas.microsoft.com/office/drawing/2014/main" id="{1664DBD2-BC13-412C-ABE3-AF3CD361010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28BC2-ACA3-447C-A909-F3F49211C066}" type="slidenum">
              <a:rPr kumimoji="0" lang="en-US" sz="1200" b="0" i="0" u="none" strike="noStrike" kern="1200" cap="none" spc="0" normalizeH="0" baseline="0" noProof="0" smtClean="0">
                <a:ln>
                  <a:noFill/>
                </a:ln>
                <a:solidFill>
                  <a:srgbClr val="A0A1A0"/>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97</a:t>
            </a:fld>
            <a:endParaRPr kumimoji="0" lang="en-US" sz="1200" b="0" i="0" u="none" strike="noStrike" kern="1200" cap="none" spc="0" normalizeH="0" baseline="0" noProof="0" dirty="0">
              <a:ln>
                <a:noFill/>
              </a:ln>
              <a:solidFill>
                <a:srgbClr val="A0A1A0"/>
              </a:solidFill>
              <a:effectLst/>
              <a:uLnTx/>
              <a:uFillTx/>
              <a:latin typeface="Arial" panose="020B0604020202020204" pitchFamily="34" charset="0"/>
              <a:ea typeface="+mn-ea"/>
              <a:cs typeface="Arial" panose="020B0604020202020204" pitchFamily="34" charset="0"/>
            </a:endParaRPr>
          </a:p>
        </p:txBody>
      </p:sp>
      <p:sp>
        <p:nvSpPr>
          <p:cNvPr id="5" name="Google Shape;219;p16">
            <a:extLst>
              <a:ext uri="{FF2B5EF4-FFF2-40B4-BE49-F238E27FC236}">
                <a16:creationId xmlns:a16="http://schemas.microsoft.com/office/drawing/2014/main" id="{74877B0A-FB02-46BF-BEA2-51B2878F78FE}"/>
              </a:ext>
            </a:extLst>
          </p:cNvPr>
          <p:cNvSpPr txBox="1">
            <a:spLocks/>
          </p:cNvSpPr>
          <p:nvPr/>
        </p:nvSpPr>
        <p:spPr>
          <a:xfrm>
            <a:off x="1879870" y="3642067"/>
            <a:ext cx="5384260" cy="2483525"/>
          </a:xfrm>
          <a:prstGeom prst="rect">
            <a:avLst/>
          </a:prstGeom>
        </p:spPr>
        <p:style>
          <a:lnRef idx="1">
            <a:schemeClr val="accent2"/>
          </a:lnRef>
          <a:fillRef idx="2">
            <a:schemeClr val="accent2"/>
          </a:fillRef>
          <a:effectRef idx="1">
            <a:schemeClr val="accent2"/>
          </a:effectRef>
          <a:fontRef idx="minor">
            <a:schemeClr val="dk1"/>
          </a:fontRef>
        </p:style>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100000"/>
              </a:lnSpc>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100000"/>
              </a:lnSpc>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9pPr>
          </a:lstStyle>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public class Simulator {</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public static void main(String[] </a:t>
            </a:r>
            <a:r>
              <a:rPr lang="en-US" sz="1400" dirty="0" err="1">
                <a:latin typeface="Courier New" panose="02070309020205020404" pitchFamily="49" charset="0"/>
                <a:cs typeface="Courier New" panose="02070309020205020404" pitchFamily="49" charset="0"/>
              </a:rPr>
              <a:t>args</a:t>
            </a: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if (true) {</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String word = “</a:t>
            </a:r>
            <a:r>
              <a:rPr lang="en-US" sz="1400" dirty="0" err="1">
                <a:latin typeface="Courier New" panose="02070309020205020404" pitchFamily="49" charset="0"/>
                <a:cs typeface="Courier New" panose="02070309020205020404" pitchFamily="49" charset="0"/>
              </a:rPr>
              <a:t>Revature</a:t>
            </a:r>
            <a:r>
              <a:rPr lang="en-US" sz="1400" dirty="0">
                <a:latin typeface="Courier New" panose="02070309020205020404" pitchFamily="49" charset="0"/>
                <a:cs typeface="Courier New" panose="02070309020205020404" pitchFamily="49" charset="0"/>
              </a:rPr>
              <a:t>”;</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System.out.println</a:t>
            </a:r>
            <a:r>
              <a:rPr lang="en-US" sz="1400" dirty="0">
                <a:latin typeface="Courier New" panose="02070309020205020404" pitchFamily="49" charset="0"/>
                <a:cs typeface="Courier New" panose="02070309020205020404" pitchFamily="49" charset="0"/>
              </a:rPr>
              <a:t>(word);</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System.out.println</a:t>
            </a:r>
            <a:r>
              <a:rPr lang="en-US" sz="1400" dirty="0">
                <a:latin typeface="Courier New" panose="02070309020205020404" pitchFamily="49" charset="0"/>
                <a:cs typeface="Courier New" panose="02070309020205020404" pitchFamily="49" charset="0"/>
              </a:rPr>
              <a:t>(word); // error</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662340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16"/>
          <p:cNvSpPr txBox="1">
            <a:spLocks noGrp="1"/>
          </p:cNvSpPr>
          <p:nvPr>
            <p:ph type="title"/>
          </p:nvPr>
        </p:nvSpPr>
        <p:spPr>
          <a:xfrm>
            <a:off x="380010" y="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dirty="0"/>
              <a:t>Scopes – Class (static)</a:t>
            </a:r>
            <a:endParaRPr dirty="0"/>
          </a:p>
        </p:txBody>
      </p:sp>
      <p:sp>
        <p:nvSpPr>
          <p:cNvPr id="219" name="Google Shape;219;p16"/>
          <p:cNvSpPr txBox="1">
            <a:spLocks noGrp="1"/>
          </p:cNvSpPr>
          <p:nvPr>
            <p:ph type="body" idx="1"/>
          </p:nvPr>
        </p:nvSpPr>
        <p:spPr>
          <a:xfrm>
            <a:off x="380010" y="1549667"/>
            <a:ext cx="8446356" cy="4886643"/>
          </a:xfrm>
          <a:prstGeom prst="rect">
            <a:avLst/>
          </a:prstGeom>
          <a:noFill/>
          <a:ln>
            <a:noFill/>
          </a:ln>
        </p:spPr>
        <p:txBody>
          <a:bodyPr spcFirstLastPara="1" wrap="square" lIns="91425" tIns="45700" rIns="91425" bIns="45700" anchor="t" anchorCtr="0">
            <a:normAutofit lnSpcReduction="10000"/>
          </a:bodyPr>
          <a:lstStyle/>
          <a:p>
            <a:pPr marL="342900" lvl="0" indent="-342900">
              <a:lnSpc>
                <a:spcPct val="80000"/>
              </a:lnSpc>
              <a:spcBef>
                <a:spcPts val="0"/>
              </a:spcBef>
              <a:buSzPts val="2590"/>
            </a:pPr>
            <a:r>
              <a:rPr lang="en-US" sz="2400" dirty="0"/>
              <a:t>Variables (and methods) declared in a class using the keyword </a:t>
            </a:r>
            <a:r>
              <a:rPr lang="en-US" sz="2400" dirty="0">
                <a:latin typeface="Courier New"/>
                <a:ea typeface="Courier New"/>
                <a:cs typeface="Courier New"/>
                <a:sym typeface="Courier New"/>
              </a:rPr>
              <a:t>static </a:t>
            </a:r>
            <a:r>
              <a:rPr lang="en-US" sz="2400" dirty="0"/>
              <a:t>reside in </a:t>
            </a:r>
            <a:r>
              <a:rPr lang="en-US" sz="2400" dirty="0">
                <a:latin typeface="Courier New"/>
                <a:ea typeface="Courier New"/>
                <a:cs typeface="Courier New"/>
                <a:sym typeface="Courier New"/>
              </a:rPr>
              <a:t>class </a:t>
            </a:r>
            <a:r>
              <a:rPr lang="en-US" sz="2400" dirty="0"/>
              <a:t>or </a:t>
            </a:r>
            <a:r>
              <a:rPr lang="en-US" sz="2400" dirty="0">
                <a:latin typeface="Courier New"/>
                <a:ea typeface="Courier New"/>
                <a:cs typeface="Courier New"/>
                <a:sym typeface="Courier New"/>
              </a:rPr>
              <a:t>static </a:t>
            </a:r>
            <a:r>
              <a:rPr lang="en-US" sz="2400" dirty="0"/>
              <a:t>scope.</a:t>
            </a:r>
            <a:endParaRPr lang="en-US" sz="2400" dirty="0">
              <a:latin typeface="Courier New"/>
              <a:ea typeface="Courier New"/>
              <a:cs typeface="Courier New"/>
              <a:sym typeface="Courier New"/>
            </a:endParaRPr>
          </a:p>
          <a:p>
            <a:pPr marL="342900" lvl="0" indent="-342900" algn="l" rtl="0">
              <a:lnSpc>
                <a:spcPct val="80000"/>
              </a:lnSpc>
              <a:spcBef>
                <a:spcPts val="0"/>
              </a:spcBef>
              <a:spcAft>
                <a:spcPts val="0"/>
              </a:spcAft>
              <a:buSzPts val="2590"/>
              <a:buChar char="•"/>
            </a:pPr>
            <a:r>
              <a:rPr lang="en-US" sz="2400" dirty="0">
                <a:latin typeface="Courier New"/>
                <a:ea typeface="Courier New"/>
                <a:cs typeface="Courier New"/>
                <a:sym typeface="Courier New"/>
              </a:rPr>
              <a:t>static</a:t>
            </a:r>
            <a:r>
              <a:rPr lang="en-US" sz="2400" dirty="0"/>
              <a:t> means that the variable or method “belongs to” the class, instead of each object of the class.</a:t>
            </a:r>
          </a:p>
          <a:p>
            <a:pPr marL="342900" lvl="0" indent="-342900">
              <a:lnSpc>
                <a:spcPct val="80000"/>
              </a:lnSpc>
              <a:spcBef>
                <a:spcPts val="0"/>
              </a:spcBef>
              <a:buSzPts val="2590"/>
            </a:pPr>
            <a:r>
              <a:rPr lang="en-US" sz="2400" dirty="0"/>
              <a:t>Variables declared with the </a:t>
            </a:r>
            <a:r>
              <a:rPr lang="en-US" sz="2400" dirty="0">
                <a:latin typeface="Courier New"/>
                <a:ea typeface="Courier New"/>
                <a:cs typeface="Courier New"/>
                <a:sym typeface="Courier New"/>
              </a:rPr>
              <a:t>static</a:t>
            </a:r>
            <a:r>
              <a:rPr lang="en-US" sz="2400" dirty="0"/>
              <a:t> keyword reside in the </a:t>
            </a:r>
            <a:r>
              <a:rPr lang="en-US" sz="2400" dirty="0">
                <a:latin typeface="Courier New"/>
                <a:ea typeface="Courier New"/>
                <a:cs typeface="Courier New"/>
                <a:sym typeface="Courier New"/>
              </a:rPr>
              <a:t>static</a:t>
            </a:r>
            <a:r>
              <a:rPr lang="en-US" sz="2400" dirty="0"/>
              <a:t> or </a:t>
            </a:r>
            <a:r>
              <a:rPr lang="en-US" sz="2400" dirty="0">
                <a:latin typeface="Courier New"/>
                <a:ea typeface="Courier New"/>
                <a:cs typeface="Courier New"/>
                <a:sym typeface="Courier New"/>
              </a:rPr>
              <a:t>class</a:t>
            </a:r>
            <a:r>
              <a:rPr lang="en-US" sz="2400" dirty="0"/>
              <a:t> scope.</a:t>
            </a:r>
          </a:p>
          <a:p>
            <a:pPr marL="342900" lvl="0" indent="-342900" algn="l" rtl="0">
              <a:lnSpc>
                <a:spcPct val="80000"/>
              </a:lnSpc>
              <a:spcBef>
                <a:spcPts val="0"/>
              </a:spcBef>
              <a:spcAft>
                <a:spcPts val="0"/>
              </a:spcAft>
              <a:buSzPts val="2590"/>
              <a:buChar char="•"/>
            </a:pPr>
            <a:r>
              <a:rPr lang="en-US" sz="2400" dirty="0"/>
              <a:t>Static variables persist throughout the lifetime of your entire program.</a:t>
            </a:r>
          </a:p>
          <a:p>
            <a:pPr marL="342900" lvl="0" indent="-342900" algn="l" rtl="0">
              <a:lnSpc>
                <a:spcPct val="80000"/>
              </a:lnSpc>
              <a:spcBef>
                <a:spcPts val="0"/>
              </a:spcBef>
              <a:spcAft>
                <a:spcPts val="0"/>
              </a:spcAft>
              <a:buSzPts val="2590"/>
              <a:buChar char="•"/>
            </a:pPr>
            <a:r>
              <a:rPr lang="en-US" sz="2000" dirty="0">
                <a:latin typeface="Courier New"/>
                <a:ea typeface="Courier New"/>
                <a:cs typeface="Courier New"/>
                <a:sym typeface="Courier New"/>
              </a:rPr>
              <a:t>static</a:t>
            </a:r>
            <a:r>
              <a:rPr lang="en-US" sz="2000" dirty="0"/>
              <a:t> methods can be invoked from the class, instead of an object.</a:t>
            </a:r>
            <a:endParaRPr sz="2400" dirty="0"/>
          </a:p>
          <a:p>
            <a:pPr marL="742950" lvl="1" indent="-144780" algn="l" rtl="0">
              <a:lnSpc>
                <a:spcPct val="80000"/>
              </a:lnSpc>
              <a:spcBef>
                <a:spcPts val="444"/>
              </a:spcBef>
              <a:spcAft>
                <a:spcPts val="0"/>
              </a:spcAft>
              <a:buSzPts val="2220"/>
              <a:buNone/>
            </a:pPr>
            <a:endParaRPr sz="2000" dirty="0"/>
          </a:p>
          <a:p>
            <a:pPr marL="685800" lvl="2" indent="0" algn="l" rtl="0">
              <a:lnSpc>
                <a:spcPct val="80000"/>
              </a:lnSpc>
              <a:spcBef>
                <a:spcPts val="370"/>
              </a:spcBef>
              <a:spcAft>
                <a:spcPts val="0"/>
              </a:spcAft>
              <a:buSzPts val="1850"/>
              <a:buNone/>
            </a:pPr>
            <a:r>
              <a:rPr lang="en-US" sz="1800" dirty="0" err="1">
                <a:latin typeface="Courier New"/>
                <a:ea typeface="Courier New"/>
                <a:cs typeface="Courier New"/>
                <a:sym typeface="Courier New"/>
              </a:rPr>
              <a:t>Example.staticMethod</a:t>
            </a:r>
            <a:r>
              <a:rPr lang="en-US" sz="1800" dirty="0">
                <a:latin typeface="Courier New"/>
                <a:ea typeface="Courier New"/>
                <a:cs typeface="Courier New"/>
                <a:sym typeface="Courier New"/>
              </a:rPr>
              <a:t>();</a:t>
            </a:r>
            <a:endParaRPr sz="1800" dirty="0"/>
          </a:p>
          <a:p>
            <a:pPr marL="685800" lvl="2" indent="0" algn="l" rtl="0">
              <a:lnSpc>
                <a:spcPct val="80000"/>
              </a:lnSpc>
              <a:spcBef>
                <a:spcPts val="370"/>
              </a:spcBef>
              <a:spcAft>
                <a:spcPts val="0"/>
              </a:spcAft>
              <a:buSzPts val="1850"/>
              <a:buNone/>
            </a:pPr>
            <a:br>
              <a:rPr lang="en-US" sz="1800" dirty="0"/>
            </a:br>
            <a:r>
              <a:rPr lang="en-US" sz="1800" dirty="0"/>
              <a:t>instead of…</a:t>
            </a:r>
            <a:endParaRPr sz="1800" dirty="0"/>
          </a:p>
          <a:p>
            <a:pPr marL="685800" lvl="2" indent="0" algn="l" rtl="0">
              <a:lnSpc>
                <a:spcPct val="80000"/>
              </a:lnSpc>
              <a:spcBef>
                <a:spcPts val="370"/>
              </a:spcBef>
              <a:spcAft>
                <a:spcPts val="0"/>
              </a:spcAft>
              <a:buSzPts val="1850"/>
              <a:buNone/>
            </a:pPr>
            <a:br>
              <a:rPr lang="en-US" sz="1800" dirty="0"/>
            </a:br>
            <a:r>
              <a:rPr lang="en-US" sz="1800" dirty="0">
                <a:latin typeface="Courier New"/>
                <a:ea typeface="Courier New"/>
                <a:cs typeface="Courier New"/>
                <a:sym typeface="Courier New"/>
              </a:rPr>
              <a:t>Example </a:t>
            </a:r>
            <a:r>
              <a:rPr lang="en-US" sz="1800" dirty="0" err="1">
                <a:latin typeface="Courier New"/>
                <a:ea typeface="Courier New"/>
                <a:cs typeface="Courier New"/>
                <a:sym typeface="Courier New"/>
              </a:rPr>
              <a:t>myEx</a:t>
            </a:r>
            <a:r>
              <a:rPr lang="en-US" sz="1800" dirty="0">
                <a:latin typeface="Courier New"/>
                <a:ea typeface="Courier New"/>
                <a:cs typeface="Courier New"/>
                <a:sym typeface="Courier New"/>
              </a:rPr>
              <a:t> = new Example();</a:t>
            </a:r>
            <a:br>
              <a:rPr lang="en-US" sz="1800" dirty="0">
                <a:latin typeface="Courier New"/>
                <a:ea typeface="Courier New"/>
                <a:cs typeface="Courier New"/>
                <a:sym typeface="Courier New"/>
              </a:rPr>
            </a:br>
            <a:r>
              <a:rPr lang="en-US" sz="1800" dirty="0" err="1">
                <a:latin typeface="Courier New"/>
                <a:ea typeface="Courier New"/>
                <a:cs typeface="Courier New"/>
                <a:sym typeface="Courier New"/>
              </a:rPr>
              <a:t>myEx.nonStaticMethod</a:t>
            </a:r>
            <a:r>
              <a:rPr lang="en-US" sz="1800" dirty="0">
                <a:latin typeface="Courier New"/>
                <a:ea typeface="Courier New"/>
                <a:cs typeface="Courier New"/>
                <a:sym typeface="Courier New"/>
              </a:rPr>
              <a:t>();</a:t>
            </a:r>
            <a:endParaRPr sz="1800" dirty="0"/>
          </a:p>
          <a:p>
            <a:pPr marL="685800" lvl="2" indent="0" algn="l" rtl="0">
              <a:lnSpc>
                <a:spcPct val="80000"/>
              </a:lnSpc>
              <a:spcBef>
                <a:spcPts val="370"/>
              </a:spcBef>
              <a:spcAft>
                <a:spcPts val="0"/>
              </a:spcAft>
              <a:buSzPts val="1850"/>
              <a:buNone/>
            </a:pPr>
            <a:endParaRPr sz="1800" dirty="0">
              <a:latin typeface="Courier New"/>
              <a:ea typeface="Courier New"/>
              <a:cs typeface="Courier New"/>
              <a:sym typeface="Courier New"/>
            </a:endParaRPr>
          </a:p>
          <a:p>
            <a:pPr marL="742950" lvl="1" indent="-285750" algn="l" rtl="0">
              <a:lnSpc>
                <a:spcPct val="80000"/>
              </a:lnSpc>
              <a:spcBef>
                <a:spcPts val="444"/>
              </a:spcBef>
              <a:spcAft>
                <a:spcPts val="0"/>
              </a:spcAft>
              <a:buSzPts val="2220"/>
              <a:buChar char="–"/>
            </a:pPr>
            <a:r>
              <a:rPr lang="en-US" sz="2000" dirty="0">
                <a:latin typeface="Courier New"/>
                <a:ea typeface="Courier New"/>
                <a:cs typeface="Courier New"/>
                <a:sym typeface="Courier New"/>
              </a:rPr>
              <a:t>static</a:t>
            </a:r>
            <a:r>
              <a:rPr lang="en-US" sz="2000" dirty="0"/>
              <a:t> variables share a value across all object instances of a class. Changes to the variable value in one object will change the value in all objects</a:t>
            </a:r>
            <a:endParaRPr sz="2000" dirty="0"/>
          </a:p>
        </p:txBody>
      </p:sp>
      <p:sp>
        <p:nvSpPr>
          <p:cNvPr id="220" name="Google Shape;220;p16"/>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98</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9">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9">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19">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9">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 grpId="0" uiExpand="1" build="p"/>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331D4-5CAD-4622-BCEE-BACB7F2F9AFB}"/>
              </a:ext>
            </a:extLst>
          </p:cNvPr>
          <p:cNvSpPr>
            <a:spLocks noGrp="1"/>
          </p:cNvSpPr>
          <p:nvPr>
            <p:ph type="title"/>
          </p:nvPr>
        </p:nvSpPr>
        <p:spPr/>
        <p:txBody>
          <a:bodyPr/>
          <a:lstStyle/>
          <a:p>
            <a:r>
              <a:rPr lang="en-US" dirty="0"/>
              <a:t>Static Variables</a:t>
            </a:r>
          </a:p>
        </p:txBody>
      </p:sp>
      <p:sp>
        <p:nvSpPr>
          <p:cNvPr id="3" name="Text Placeholder 2">
            <a:extLst>
              <a:ext uri="{FF2B5EF4-FFF2-40B4-BE49-F238E27FC236}">
                <a16:creationId xmlns:a16="http://schemas.microsoft.com/office/drawing/2014/main" id="{D95A78B4-46F1-4308-B821-763497970C33}"/>
              </a:ext>
            </a:extLst>
          </p:cNvPr>
          <p:cNvSpPr>
            <a:spLocks noGrp="1"/>
          </p:cNvSpPr>
          <p:nvPr>
            <p:ph type="body" idx="1"/>
          </p:nvPr>
        </p:nvSpPr>
        <p:spPr>
          <a:xfrm>
            <a:off x="380010" y="1481446"/>
            <a:ext cx="8383980" cy="4788209"/>
          </a:xfrm>
        </p:spPr>
        <p:txBody>
          <a:bodyPr/>
          <a:lstStyle/>
          <a:p>
            <a:pPr marL="50800" indent="0">
              <a:buNone/>
            </a:pPr>
            <a:endParaRPr lang="en-US" dirty="0"/>
          </a:p>
        </p:txBody>
      </p:sp>
      <p:sp>
        <p:nvSpPr>
          <p:cNvPr id="4" name="Slide Number Placeholder 3">
            <a:extLst>
              <a:ext uri="{FF2B5EF4-FFF2-40B4-BE49-F238E27FC236}">
                <a16:creationId xmlns:a16="http://schemas.microsoft.com/office/drawing/2014/main" id="{3E063D48-8957-4AE1-A471-2AC47BBBED6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99</a:t>
            </a:fld>
            <a:endParaRPr lang="en-US"/>
          </a:p>
        </p:txBody>
      </p:sp>
      <p:sp>
        <p:nvSpPr>
          <p:cNvPr id="5" name="Google Shape;219;p16">
            <a:extLst>
              <a:ext uri="{FF2B5EF4-FFF2-40B4-BE49-F238E27FC236}">
                <a16:creationId xmlns:a16="http://schemas.microsoft.com/office/drawing/2014/main" id="{2C7DA289-E029-4B89-9464-CF893DA961C0}"/>
              </a:ext>
            </a:extLst>
          </p:cNvPr>
          <p:cNvSpPr txBox="1">
            <a:spLocks/>
          </p:cNvSpPr>
          <p:nvPr/>
        </p:nvSpPr>
        <p:spPr>
          <a:xfrm>
            <a:off x="380010" y="1542407"/>
            <a:ext cx="4850374" cy="4727248"/>
          </a:xfrm>
          <a:prstGeom prst="rect">
            <a:avLst/>
          </a:prstGeom>
        </p:spPr>
        <p:style>
          <a:lnRef idx="1">
            <a:schemeClr val="accent2"/>
          </a:lnRef>
          <a:fillRef idx="2">
            <a:schemeClr val="accent2"/>
          </a:fillRef>
          <a:effectRef idx="1">
            <a:schemeClr val="accent2"/>
          </a:effectRef>
          <a:fontRef idx="minor">
            <a:schemeClr val="dk1"/>
          </a:fontRef>
        </p:style>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100000"/>
              </a:lnSpc>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100000"/>
              </a:lnSpc>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9pPr>
          </a:lstStyle>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public class Dog{</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double size;</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String breed;</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static int count = 0;</a:t>
            </a:r>
          </a:p>
          <a:p>
            <a:pPr marL="182880" lvl="1" indent="0" defTabSz="457200">
              <a:lnSpc>
                <a:spcPct val="90000"/>
              </a:lnSpc>
              <a:buFont typeface="Arial"/>
              <a:buNone/>
            </a:pPr>
            <a:endParaRPr lang="en-US" sz="1400" dirty="0">
              <a:latin typeface="Courier New" panose="02070309020205020404" pitchFamily="49" charset="0"/>
              <a:cs typeface="Courier New" panose="02070309020205020404" pitchFamily="49" charset="0"/>
            </a:endParaRP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public Dog(double s, String b){</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size = s;</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breed = b;</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count++;</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a:t>
            </a:r>
          </a:p>
          <a:p>
            <a:pPr marL="182880" lvl="1" indent="0" defTabSz="457200">
              <a:lnSpc>
                <a:spcPct val="90000"/>
              </a:lnSpc>
              <a:buFont typeface="Arial"/>
              <a:buNone/>
            </a:pPr>
            <a:endParaRPr lang="en-US" sz="1400" dirty="0">
              <a:latin typeface="Courier New" panose="02070309020205020404" pitchFamily="49" charset="0"/>
              <a:cs typeface="Courier New" panose="02070309020205020404" pitchFamily="49" charset="0"/>
            </a:endParaRP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public class </a:t>
            </a:r>
            <a:r>
              <a:rPr lang="en-US" sz="1400" dirty="0" err="1">
                <a:latin typeface="Courier New" panose="02070309020205020404" pitchFamily="49" charset="0"/>
                <a:cs typeface="Courier New" panose="02070309020205020404" pitchFamily="49" charset="0"/>
              </a:rPr>
              <a:t>TestDog</a:t>
            </a:r>
            <a:r>
              <a:rPr lang="en-US" sz="1400" dirty="0">
                <a:latin typeface="Courier New" panose="02070309020205020404" pitchFamily="49" charset="0"/>
                <a:cs typeface="Courier New" panose="02070309020205020404" pitchFamily="49" charset="0"/>
              </a:rPr>
              <a:t>{</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public static void main(String[] </a:t>
            </a:r>
            <a:r>
              <a:rPr lang="en-US" sz="1400" dirty="0" err="1">
                <a:latin typeface="Courier New" panose="02070309020205020404" pitchFamily="49" charset="0"/>
                <a:cs typeface="Courier New" panose="02070309020205020404" pitchFamily="49" charset="0"/>
              </a:rPr>
              <a:t>args</a:t>
            </a:r>
            <a:r>
              <a:rPr lang="en-US" sz="1400" dirty="0">
                <a:latin typeface="Courier New" panose="02070309020205020404" pitchFamily="49" charset="0"/>
                <a:cs typeface="Courier New" panose="02070309020205020404" pitchFamily="49" charset="0"/>
              </a:rPr>
              <a:t>){</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Dog daisy = new Dog(5, “Poodle”);</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Dog </a:t>
            </a:r>
            <a:r>
              <a:rPr lang="en-US" sz="1400" dirty="0" err="1">
                <a:latin typeface="Courier New" panose="02070309020205020404" pitchFamily="49" charset="0"/>
                <a:cs typeface="Courier New" panose="02070309020205020404" pitchFamily="49" charset="0"/>
              </a:rPr>
              <a:t>sam</a:t>
            </a:r>
            <a:r>
              <a:rPr lang="en-US" sz="1400" dirty="0">
                <a:latin typeface="Courier New" panose="02070309020205020404" pitchFamily="49" charset="0"/>
                <a:cs typeface="Courier New" panose="02070309020205020404" pitchFamily="49" charset="0"/>
              </a:rPr>
              <a:t> = new Dog(50, “Pitbull”);	}</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a:t>
            </a:r>
          </a:p>
        </p:txBody>
      </p:sp>
      <p:grpSp>
        <p:nvGrpSpPr>
          <p:cNvPr id="18" name="Group 17">
            <a:extLst>
              <a:ext uri="{FF2B5EF4-FFF2-40B4-BE49-F238E27FC236}">
                <a16:creationId xmlns:a16="http://schemas.microsoft.com/office/drawing/2014/main" id="{0BFF7C25-969E-437E-8596-2806CEFDFAE3}"/>
              </a:ext>
            </a:extLst>
          </p:cNvPr>
          <p:cNvGrpSpPr/>
          <p:nvPr/>
        </p:nvGrpSpPr>
        <p:grpSpPr>
          <a:xfrm>
            <a:off x="4868091" y="1875491"/>
            <a:ext cx="3254666" cy="3366427"/>
            <a:chOff x="4868091" y="1875491"/>
            <a:chExt cx="3254666" cy="3366427"/>
          </a:xfrm>
        </p:grpSpPr>
        <p:grpSp>
          <p:nvGrpSpPr>
            <p:cNvPr id="13" name="Group 12">
              <a:extLst>
                <a:ext uri="{FF2B5EF4-FFF2-40B4-BE49-F238E27FC236}">
                  <a16:creationId xmlns:a16="http://schemas.microsoft.com/office/drawing/2014/main" id="{ECED7B54-FF22-4DE4-ADA4-C7CA627CF409}"/>
                </a:ext>
              </a:extLst>
            </p:cNvPr>
            <p:cNvGrpSpPr/>
            <p:nvPr/>
          </p:nvGrpSpPr>
          <p:grpSpPr>
            <a:xfrm>
              <a:off x="4868091" y="1875491"/>
              <a:ext cx="3254666" cy="3366427"/>
              <a:chOff x="4868091" y="1875491"/>
              <a:chExt cx="3254666" cy="3366427"/>
            </a:xfrm>
          </p:grpSpPr>
          <p:cxnSp>
            <p:nvCxnSpPr>
              <p:cNvPr id="7" name="Straight Arrow Connector 6">
                <a:extLst>
                  <a:ext uri="{FF2B5EF4-FFF2-40B4-BE49-F238E27FC236}">
                    <a16:creationId xmlns:a16="http://schemas.microsoft.com/office/drawing/2014/main" id="{87B999C8-350A-4E99-9E68-529A166FDEC9}"/>
                  </a:ext>
                </a:extLst>
              </p:cNvPr>
              <p:cNvCxnSpPr>
                <a:cxnSpLocks/>
              </p:cNvCxnSpPr>
              <p:nvPr/>
            </p:nvCxnSpPr>
            <p:spPr>
              <a:xfrm flipV="1">
                <a:off x="4868091" y="3108961"/>
                <a:ext cx="1611086" cy="21329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9" name="Graphic 8" descr="Dog">
                <a:extLst>
                  <a:ext uri="{FF2B5EF4-FFF2-40B4-BE49-F238E27FC236}">
                    <a16:creationId xmlns:a16="http://schemas.microsoft.com/office/drawing/2014/main" id="{702FC0B9-481D-49B5-AB8F-F5A048829AC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302234" y="1875491"/>
                <a:ext cx="1820523" cy="1820523"/>
              </a:xfrm>
              <a:prstGeom prst="rect">
                <a:avLst/>
              </a:prstGeom>
            </p:spPr>
          </p:pic>
        </p:grpSp>
        <p:sp>
          <p:nvSpPr>
            <p:cNvPr id="15" name="TextBox 14">
              <a:extLst>
                <a:ext uri="{FF2B5EF4-FFF2-40B4-BE49-F238E27FC236}">
                  <a16:creationId xmlns:a16="http://schemas.microsoft.com/office/drawing/2014/main" id="{35402B10-D82D-462E-82D9-E881AAE93B34}"/>
                </a:ext>
              </a:extLst>
            </p:cNvPr>
            <p:cNvSpPr txBox="1"/>
            <p:nvPr/>
          </p:nvSpPr>
          <p:spPr>
            <a:xfrm>
              <a:off x="7026648" y="2451030"/>
              <a:ext cx="776175" cy="523220"/>
            </a:xfrm>
            <a:prstGeom prst="rect">
              <a:avLst/>
            </a:prstGeom>
            <a:noFill/>
          </p:spPr>
          <p:txBody>
            <a:bodyPr wrap="none" rtlCol="0">
              <a:spAutoFit/>
            </a:bodyPr>
            <a:lstStyle/>
            <a:p>
              <a:r>
                <a:rPr lang="en-US" dirty="0">
                  <a:solidFill>
                    <a:schemeClr val="accent6"/>
                  </a:solidFill>
                  <a:latin typeface="Segoe Print" panose="02000600000000000000" pitchFamily="2" charset="0"/>
                </a:rPr>
                <a:t>Poodle</a:t>
              </a:r>
            </a:p>
            <a:p>
              <a:r>
                <a:rPr lang="en-US" dirty="0">
                  <a:solidFill>
                    <a:schemeClr val="accent6"/>
                  </a:solidFill>
                  <a:latin typeface="Segoe Print" panose="02000600000000000000" pitchFamily="2" charset="0"/>
                </a:rPr>
                <a:t>5</a:t>
              </a:r>
            </a:p>
          </p:txBody>
        </p:sp>
      </p:grpSp>
      <p:grpSp>
        <p:nvGrpSpPr>
          <p:cNvPr id="17" name="Group 16">
            <a:extLst>
              <a:ext uri="{FF2B5EF4-FFF2-40B4-BE49-F238E27FC236}">
                <a16:creationId xmlns:a16="http://schemas.microsoft.com/office/drawing/2014/main" id="{F4009B08-7BDA-4E49-AB35-5BA10FDDA54E}"/>
              </a:ext>
            </a:extLst>
          </p:cNvPr>
          <p:cNvGrpSpPr/>
          <p:nvPr/>
        </p:nvGrpSpPr>
        <p:grpSpPr>
          <a:xfrm>
            <a:off x="4868091" y="3574811"/>
            <a:ext cx="3335125" cy="1963840"/>
            <a:chOff x="4868091" y="3574811"/>
            <a:chExt cx="3335125" cy="1963840"/>
          </a:xfrm>
        </p:grpSpPr>
        <p:grpSp>
          <p:nvGrpSpPr>
            <p:cNvPr id="14" name="Group 13">
              <a:extLst>
                <a:ext uri="{FF2B5EF4-FFF2-40B4-BE49-F238E27FC236}">
                  <a16:creationId xmlns:a16="http://schemas.microsoft.com/office/drawing/2014/main" id="{45FAFEFF-672A-4C96-B350-1B01726B0476}"/>
                </a:ext>
              </a:extLst>
            </p:cNvPr>
            <p:cNvGrpSpPr/>
            <p:nvPr/>
          </p:nvGrpSpPr>
          <p:grpSpPr>
            <a:xfrm>
              <a:off x="4868091" y="3574811"/>
              <a:ext cx="3335125" cy="1963840"/>
              <a:chOff x="4868091" y="3574811"/>
              <a:chExt cx="3335125" cy="1963840"/>
            </a:xfrm>
          </p:grpSpPr>
          <p:cxnSp>
            <p:nvCxnSpPr>
              <p:cNvPr id="10" name="Straight Arrow Connector 9">
                <a:extLst>
                  <a:ext uri="{FF2B5EF4-FFF2-40B4-BE49-F238E27FC236}">
                    <a16:creationId xmlns:a16="http://schemas.microsoft.com/office/drawing/2014/main" id="{D2490662-C485-4C4C-A6D4-0EF82D169B71}"/>
                  </a:ext>
                </a:extLst>
              </p:cNvPr>
              <p:cNvCxnSpPr>
                <a:cxnSpLocks/>
              </p:cNvCxnSpPr>
              <p:nvPr/>
            </p:nvCxnSpPr>
            <p:spPr>
              <a:xfrm flipV="1">
                <a:off x="4868091" y="4558186"/>
                <a:ext cx="1596853" cy="9804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2" name="Graphic 11" descr="Dog">
                <a:extLst>
                  <a:ext uri="{FF2B5EF4-FFF2-40B4-BE49-F238E27FC236}">
                    <a16:creationId xmlns:a16="http://schemas.microsoft.com/office/drawing/2014/main" id="{3CDD8A71-E5D3-41FB-8EF5-1EB196B47DC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382693" y="3574811"/>
                <a:ext cx="1820523" cy="1820523"/>
              </a:xfrm>
              <a:prstGeom prst="rect">
                <a:avLst/>
              </a:prstGeom>
            </p:spPr>
          </p:pic>
        </p:grpSp>
        <p:sp>
          <p:nvSpPr>
            <p:cNvPr id="16" name="TextBox 15">
              <a:extLst>
                <a:ext uri="{FF2B5EF4-FFF2-40B4-BE49-F238E27FC236}">
                  <a16:creationId xmlns:a16="http://schemas.microsoft.com/office/drawing/2014/main" id="{01E47C45-926A-408F-B136-A6D1D94F73FB}"/>
                </a:ext>
              </a:extLst>
            </p:cNvPr>
            <p:cNvSpPr txBox="1"/>
            <p:nvPr/>
          </p:nvSpPr>
          <p:spPr>
            <a:xfrm>
              <a:off x="7026648" y="4161865"/>
              <a:ext cx="763351" cy="523220"/>
            </a:xfrm>
            <a:prstGeom prst="rect">
              <a:avLst/>
            </a:prstGeom>
            <a:noFill/>
          </p:spPr>
          <p:txBody>
            <a:bodyPr wrap="none" rtlCol="0">
              <a:spAutoFit/>
            </a:bodyPr>
            <a:lstStyle/>
            <a:p>
              <a:r>
                <a:rPr lang="en-US" dirty="0">
                  <a:solidFill>
                    <a:schemeClr val="accent6"/>
                  </a:solidFill>
                  <a:latin typeface="Segoe Print" panose="02000600000000000000" pitchFamily="2" charset="0"/>
                </a:rPr>
                <a:t>Pitbull</a:t>
              </a:r>
            </a:p>
            <a:p>
              <a:r>
                <a:rPr lang="en-US" dirty="0">
                  <a:solidFill>
                    <a:schemeClr val="accent6"/>
                  </a:solidFill>
                  <a:latin typeface="Segoe Print" panose="02000600000000000000" pitchFamily="2" charset="0"/>
                </a:rPr>
                <a:t>50</a:t>
              </a:r>
            </a:p>
          </p:txBody>
        </p:sp>
      </p:grpSp>
      <p:grpSp>
        <p:nvGrpSpPr>
          <p:cNvPr id="28" name="Group 27">
            <a:extLst>
              <a:ext uri="{FF2B5EF4-FFF2-40B4-BE49-F238E27FC236}">
                <a16:creationId xmlns:a16="http://schemas.microsoft.com/office/drawing/2014/main" id="{A6C2B274-982A-4884-BDCC-FFA21D6BF2AA}"/>
              </a:ext>
            </a:extLst>
          </p:cNvPr>
          <p:cNvGrpSpPr/>
          <p:nvPr/>
        </p:nvGrpSpPr>
        <p:grpSpPr>
          <a:xfrm>
            <a:off x="7636577" y="2785752"/>
            <a:ext cx="1207872" cy="1172508"/>
            <a:chOff x="7636577" y="2785752"/>
            <a:chExt cx="1207872" cy="1172508"/>
          </a:xfrm>
        </p:grpSpPr>
        <p:sp>
          <p:nvSpPr>
            <p:cNvPr id="6" name="Rectangle 5">
              <a:extLst>
                <a:ext uri="{FF2B5EF4-FFF2-40B4-BE49-F238E27FC236}">
                  <a16:creationId xmlns:a16="http://schemas.microsoft.com/office/drawing/2014/main" id="{B704896E-DE95-48A0-A76A-2816CCE5DFAA}"/>
                </a:ext>
              </a:extLst>
            </p:cNvPr>
            <p:cNvSpPr/>
            <p:nvPr/>
          </p:nvSpPr>
          <p:spPr>
            <a:xfrm>
              <a:off x="7683512" y="3295351"/>
              <a:ext cx="1160937" cy="4999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Segoe Print" panose="02000600000000000000" pitchFamily="2" charset="0"/>
                </a:rPr>
                <a:t>count = 2</a:t>
              </a:r>
            </a:p>
          </p:txBody>
        </p:sp>
        <p:cxnSp>
          <p:nvCxnSpPr>
            <p:cNvPr id="11" name="Straight Arrow Connector 10">
              <a:extLst>
                <a:ext uri="{FF2B5EF4-FFF2-40B4-BE49-F238E27FC236}">
                  <a16:creationId xmlns:a16="http://schemas.microsoft.com/office/drawing/2014/main" id="{D51EBFF8-DC3C-4E47-8FD7-32E0E7168C76}"/>
                </a:ext>
              </a:extLst>
            </p:cNvPr>
            <p:cNvCxnSpPr>
              <a:cxnSpLocks/>
            </p:cNvCxnSpPr>
            <p:nvPr/>
          </p:nvCxnSpPr>
          <p:spPr>
            <a:xfrm>
              <a:off x="7636577" y="2785752"/>
              <a:ext cx="442891" cy="4773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F3E38B16-88EA-4C3D-9228-AD050FCB6529}"/>
                </a:ext>
              </a:extLst>
            </p:cNvPr>
            <p:cNvCxnSpPr>
              <a:cxnSpLocks/>
            </p:cNvCxnSpPr>
            <p:nvPr/>
          </p:nvCxnSpPr>
          <p:spPr>
            <a:xfrm flipV="1">
              <a:off x="8003177" y="3813021"/>
              <a:ext cx="200039" cy="1452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33191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7" end="7"/>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8" end="8"/>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xEl>
                                              <p:pRg st="9" end="9"/>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
                                            <p:txEl>
                                              <p:pRg st="12" end="12"/>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
                                            <p:txEl>
                                              <p:pRg st="13" end="13"/>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
                                            <p:txEl>
                                              <p:pRg st="14" end="14"/>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
                                            <p:txEl>
                                              <p:pRg st="15" end="15"/>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
                                            <p:txEl>
                                              <p:pRg st="16" end="16"/>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17"/>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Courier New"/>
              <a:buNone/>
            </a:pPr>
            <a:r>
              <a:rPr lang="en-US">
                <a:latin typeface="Courier New"/>
                <a:ea typeface="Courier New"/>
                <a:cs typeface="Courier New"/>
                <a:sym typeface="Courier New"/>
              </a:rPr>
              <a:t>static</a:t>
            </a:r>
            <a:r>
              <a:rPr lang="en-US"/>
              <a:t> Restrictions</a:t>
            </a:r>
            <a:endParaRPr/>
          </a:p>
        </p:txBody>
      </p:sp>
      <p:sp>
        <p:nvSpPr>
          <p:cNvPr id="226" name="Google Shape;226;p17"/>
          <p:cNvSpPr txBox="1">
            <a:spLocks noGrp="1"/>
          </p:cNvSpPr>
          <p:nvPr>
            <p:ph type="body" idx="1"/>
          </p:nvPr>
        </p:nvSpPr>
        <p:spPr>
          <a:xfrm>
            <a:off x="380010" y="1645919"/>
            <a:ext cx="8398230" cy="4717793"/>
          </a:xfrm>
          <a:prstGeom prst="rect">
            <a:avLst/>
          </a:prstGeom>
          <a:noFill/>
          <a:ln>
            <a:noFill/>
          </a:ln>
        </p:spPr>
        <p:txBody>
          <a:bodyPr spcFirstLastPara="1" wrap="square" lIns="91425" tIns="45700" rIns="91425" bIns="45700" anchor="t" anchorCtr="0">
            <a:noAutofit/>
          </a:bodyPr>
          <a:lstStyle/>
          <a:p>
            <a:pPr marL="342900" lvl="0" indent="-342900" algn="l" rtl="0">
              <a:lnSpc>
                <a:spcPct val="80000"/>
              </a:lnSpc>
              <a:spcBef>
                <a:spcPts val="0"/>
              </a:spcBef>
              <a:spcAft>
                <a:spcPts val="0"/>
              </a:spcAft>
              <a:buSzPts val="1750"/>
              <a:buChar char="•"/>
            </a:pPr>
            <a:r>
              <a:rPr lang="en-US" sz="1750" dirty="0"/>
              <a:t>static methods can only call other static methods.</a:t>
            </a:r>
            <a:endParaRPr dirty="0"/>
          </a:p>
          <a:p>
            <a:pPr marL="342900" lvl="0" indent="-342900" algn="l" rtl="0">
              <a:lnSpc>
                <a:spcPct val="80000"/>
              </a:lnSpc>
              <a:spcBef>
                <a:spcPts val="350"/>
              </a:spcBef>
              <a:spcAft>
                <a:spcPts val="0"/>
              </a:spcAft>
              <a:buSzPts val="1750"/>
              <a:buChar char="•"/>
            </a:pPr>
            <a:r>
              <a:rPr lang="en-US" sz="1750" dirty="0"/>
              <a:t>This is why…</a:t>
            </a:r>
            <a:endParaRPr dirty="0"/>
          </a:p>
          <a:p>
            <a:pPr marL="0" lvl="0" indent="0" algn="l" rtl="0">
              <a:lnSpc>
                <a:spcPct val="80000"/>
              </a:lnSpc>
              <a:spcBef>
                <a:spcPts val="350"/>
              </a:spcBef>
              <a:spcAft>
                <a:spcPts val="0"/>
              </a:spcAft>
              <a:buSzPts val="1750"/>
              <a:buNone/>
            </a:pPr>
            <a:endParaRPr sz="1750" dirty="0"/>
          </a:p>
          <a:p>
            <a:pPr marL="742950" lvl="1" indent="-285750" algn="l" rtl="0">
              <a:lnSpc>
                <a:spcPct val="80000"/>
              </a:lnSpc>
              <a:spcBef>
                <a:spcPts val="325"/>
              </a:spcBef>
              <a:spcAft>
                <a:spcPts val="0"/>
              </a:spcAft>
              <a:buSzPts val="1625"/>
              <a:buChar char="–"/>
            </a:pPr>
            <a:r>
              <a:rPr lang="en-US" sz="1625" dirty="0">
                <a:latin typeface="Courier New"/>
                <a:ea typeface="Courier New"/>
                <a:cs typeface="Courier New"/>
                <a:sym typeface="Courier New"/>
              </a:rPr>
              <a:t>public class Example {</a:t>
            </a:r>
            <a:br>
              <a:rPr lang="en-US" sz="1625" dirty="0">
                <a:latin typeface="Courier New"/>
                <a:ea typeface="Courier New"/>
                <a:cs typeface="Courier New"/>
                <a:sym typeface="Courier New"/>
              </a:rPr>
            </a:br>
            <a:r>
              <a:rPr lang="en-US" sz="1625" dirty="0">
                <a:latin typeface="Courier New"/>
                <a:ea typeface="Courier New"/>
                <a:cs typeface="Courier New"/>
                <a:sym typeface="Courier New"/>
              </a:rPr>
              <a:t>    public static void main(String[] </a:t>
            </a:r>
            <a:r>
              <a:rPr lang="en-US" sz="1625" dirty="0" err="1">
                <a:latin typeface="Courier New"/>
                <a:ea typeface="Courier New"/>
                <a:cs typeface="Courier New"/>
                <a:sym typeface="Courier New"/>
              </a:rPr>
              <a:t>args</a:t>
            </a:r>
            <a:r>
              <a:rPr lang="en-US" sz="1625" dirty="0">
                <a:latin typeface="Courier New"/>
                <a:ea typeface="Courier New"/>
                <a:cs typeface="Courier New"/>
                <a:sym typeface="Courier New"/>
              </a:rPr>
              <a:t>) {</a:t>
            </a:r>
            <a:br>
              <a:rPr lang="en-US" sz="1625" dirty="0">
                <a:latin typeface="Courier New"/>
                <a:ea typeface="Courier New"/>
                <a:cs typeface="Courier New"/>
                <a:sym typeface="Courier New"/>
              </a:rPr>
            </a:br>
            <a:r>
              <a:rPr lang="en-US" sz="1625" dirty="0">
                <a:latin typeface="Courier New"/>
                <a:ea typeface="Courier New"/>
                <a:cs typeface="Courier New"/>
                <a:sym typeface="Courier New"/>
              </a:rPr>
              <a:t>        </a:t>
            </a:r>
            <a:r>
              <a:rPr lang="en-US" sz="1625" dirty="0" err="1">
                <a:latin typeface="Courier New"/>
                <a:ea typeface="Courier New"/>
                <a:cs typeface="Courier New"/>
                <a:sym typeface="Courier New"/>
              </a:rPr>
              <a:t>doAThing</a:t>
            </a:r>
            <a:r>
              <a:rPr lang="en-US" sz="1625" dirty="0">
                <a:latin typeface="Courier New"/>
                <a:ea typeface="Courier New"/>
                <a:cs typeface="Courier New"/>
                <a:sym typeface="Courier New"/>
              </a:rPr>
              <a:t>();</a:t>
            </a:r>
            <a:br>
              <a:rPr lang="en-US" sz="1625" dirty="0">
                <a:latin typeface="Courier New"/>
                <a:ea typeface="Courier New"/>
                <a:cs typeface="Courier New"/>
                <a:sym typeface="Courier New"/>
              </a:rPr>
            </a:br>
            <a:r>
              <a:rPr lang="en-US" sz="1625" dirty="0">
                <a:latin typeface="Courier New"/>
                <a:ea typeface="Courier New"/>
                <a:cs typeface="Courier New"/>
                <a:sym typeface="Courier New"/>
              </a:rPr>
              <a:t>    }</a:t>
            </a:r>
            <a:br>
              <a:rPr lang="en-US" sz="1625" dirty="0">
                <a:latin typeface="Courier New"/>
                <a:ea typeface="Courier New"/>
                <a:cs typeface="Courier New"/>
                <a:sym typeface="Courier New"/>
              </a:rPr>
            </a:br>
            <a:r>
              <a:rPr lang="en-US" sz="1625" dirty="0">
                <a:latin typeface="Courier New"/>
                <a:ea typeface="Courier New"/>
                <a:cs typeface="Courier New"/>
                <a:sym typeface="Courier New"/>
              </a:rPr>
              <a:t>    public void </a:t>
            </a:r>
            <a:r>
              <a:rPr lang="en-US" sz="1625" dirty="0" err="1">
                <a:latin typeface="Courier New"/>
                <a:ea typeface="Courier New"/>
                <a:cs typeface="Courier New"/>
                <a:sym typeface="Courier New"/>
              </a:rPr>
              <a:t>doAThing</a:t>
            </a:r>
            <a:r>
              <a:rPr lang="en-US" sz="1625" dirty="0">
                <a:latin typeface="Courier New"/>
                <a:ea typeface="Courier New"/>
                <a:cs typeface="Courier New"/>
                <a:sym typeface="Courier New"/>
              </a:rPr>
              <a:t>() { }</a:t>
            </a:r>
            <a:br>
              <a:rPr lang="en-US" sz="1625" dirty="0">
                <a:latin typeface="Courier New"/>
                <a:ea typeface="Courier New"/>
                <a:cs typeface="Courier New"/>
                <a:sym typeface="Courier New"/>
              </a:rPr>
            </a:br>
            <a:r>
              <a:rPr lang="en-US" sz="1625" dirty="0">
                <a:latin typeface="Courier New"/>
                <a:ea typeface="Courier New"/>
                <a:cs typeface="Courier New"/>
                <a:sym typeface="Courier New"/>
              </a:rPr>
              <a:t>}</a:t>
            </a:r>
            <a:endParaRPr dirty="0"/>
          </a:p>
          <a:p>
            <a:pPr marL="342900" lvl="1" indent="0" algn="l" rtl="0">
              <a:lnSpc>
                <a:spcPct val="80000"/>
              </a:lnSpc>
              <a:spcBef>
                <a:spcPts val="300"/>
              </a:spcBef>
              <a:spcAft>
                <a:spcPts val="0"/>
              </a:spcAft>
              <a:buSzPts val="1500"/>
              <a:buNone/>
            </a:pPr>
            <a:br>
              <a:rPr lang="en-US" sz="1500" dirty="0"/>
            </a:br>
            <a:r>
              <a:rPr lang="en-US" sz="1500" dirty="0"/>
              <a:t>…always fails. </a:t>
            </a:r>
            <a:r>
              <a:rPr lang="en-US" sz="1500" dirty="0" err="1">
                <a:latin typeface="Courier New"/>
                <a:ea typeface="Courier New"/>
                <a:cs typeface="Courier New"/>
                <a:sym typeface="Courier New"/>
              </a:rPr>
              <a:t>doAThing</a:t>
            </a:r>
            <a:r>
              <a:rPr lang="en-US" sz="1500" dirty="0">
                <a:latin typeface="Courier New"/>
                <a:ea typeface="Courier New"/>
                <a:cs typeface="Courier New"/>
                <a:sym typeface="Courier New"/>
              </a:rPr>
              <a:t>() </a:t>
            </a:r>
            <a:r>
              <a:rPr lang="en-US" sz="1500" dirty="0"/>
              <a:t>isn’t </a:t>
            </a:r>
            <a:r>
              <a:rPr lang="en-US" sz="1500" dirty="0">
                <a:latin typeface="Courier New"/>
                <a:ea typeface="Courier New"/>
                <a:cs typeface="Courier New"/>
                <a:sym typeface="Courier New"/>
              </a:rPr>
              <a:t>static</a:t>
            </a:r>
            <a:r>
              <a:rPr lang="en-US" sz="1500" dirty="0"/>
              <a:t>, so it can’t be called directly from inside a static method.</a:t>
            </a:r>
            <a:endParaRPr dirty="0"/>
          </a:p>
          <a:p>
            <a:pPr marL="342900" lvl="0" indent="-342900" algn="l" rtl="0">
              <a:lnSpc>
                <a:spcPct val="80000"/>
              </a:lnSpc>
              <a:spcBef>
                <a:spcPts val="350"/>
              </a:spcBef>
              <a:spcAft>
                <a:spcPts val="0"/>
              </a:spcAft>
              <a:buSzPts val="1750"/>
              <a:buChar char="•"/>
            </a:pPr>
            <a:r>
              <a:rPr lang="en-US" sz="1750" dirty="0"/>
              <a:t>Instead…</a:t>
            </a:r>
            <a:endParaRPr dirty="0"/>
          </a:p>
          <a:p>
            <a:pPr marL="0" lvl="0" indent="0" algn="l" rtl="0">
              <a:lnSpc>
                <a:spcPct val="80000"/>
              </a:lnSpc>
              <a:spcBef>
                <a:spcPts val="350"/>
              </a:spcBef>
              <a:spcAft>
                <a:spcPts val="0"/>
              </a:spcAft>
              <a:buSzPts val="1750"/>
              <a:buNone/>
            </a:pPr>
            <a:endParaRPr sz="1750" dirty="0"/>
          </a:p>
          <a:p>
            <a:pPr marL="742950" lvl="1" indent="-285750" algn="l" rtl="0">
              <a:lnSpc>
                <a:spcPct val="80000"/>
              </a:lnSpc>
              <a:spcBef>
                <a:spcPts val="362"/>
              </a:spcBef>
              <a:spcAft>
                <a:spcPts val="0"/>
              </a:spcAft>
              <a:buSzPts val="1812"/>
              <a:buChar char="–"/>
            </a:pPr>
            <a:r>
              <a:rPr lang="en-US" sz="1812" dirty="0">
                <a:latin typeface="Courier New"/>
                <a:ea typeface="Courier New"/>
                <a:cs typeface="Courier New"/>
                <a:sym typeface="Courier New"/>
              </a:rPr>
              <a:t>public static void main(String[] </a:t>
            </a:r>
            <a:r>
              <a:rPr lang="en-US" sz="1812" dirty="0" err="1">
                <a:latin typeface="Courier New"/>
                <a:ea typeface="Courier New"/>
                <a:cs typeface="Courier New"/>
                <a:sym typeface="Courier New"/>
              </a:rPr>
              <a:t>args</a:t>
            </a:r>
            <a:r>
              <a:rPr lang="en-US" sz="1812" dirty="0">
                <a:latin typeface="Courier New"/>
                <a:ea typeface="Courier New"/>
                <a:cs typeface="Courier New"/>
                <a:sym typeface="Courier New"/>
              </a:rPr>
              <a:t>) {</a:t>
            </a:r>
            <a:br>
              <a:rPr lang="en-US" sz="1812" dirty="0">
                <a:latin typeface="Courier New"/>
                <a:ea typeface="Courier New"/>
                <a:cs typeface="Courier New"/>
                <a:sym typeface="Courier New"/>
              </a:rPr>
            </a:br>
            <a:r>
              <a:rPr lang="en-US" sz="1812" dirty="0">
                <a:latin typeface="Courier New"/>
                <a:ea typeface="Courier New"/>
                <a:cs typeface="Courier New"/>
                <a:sym typeface="Courier New"/>
              </a:rPr>
              <a:t>    Example </a:t>
            </a:r>
            <a:r>
              <a:rPr lang="en-US" sz="1812" dirty="0" err="1">
                <a:latin typeface="Courier New"/>
                <a:ea typeface="Courier New"/>
                <a:cs typeface="Courier New"/>
                <a:sym typeface="Courier New"/>
              </a:rPr>
              <a:t>myEx</a:t>
            </a:r>
            <a:r>
              <a:rPr lang="en-US" sz="1812" dirty="0">
                <a:latin typeface="Courier New"/>
                <a:ea typeface="Courier New"/>
                <a:cs typeface="Courier New"/>
                <a:sym typeface="Courier New"/>
              </a:rPr>
              <a:t> = new Example();</a:t>
            </a:r>
            <a:br>
              <a:rPr lang="en-US" sz="1812" dirty="0">
                <a:latin typeface="Courier New"/>
                <a:ea typeface="Courier New"/>
                <a:cs typeface="Courier New"/>
                <a:sym typeface="Courier New"/>
              </a:rPr>
            </a:br>
            <a:r>
              <a:rPr lang="en-US" sz="1812" dirty="0">
                <a:latin typeface="Courier New"/>
                <a:ea typeface="Courier New"/>
                <a:cs typeface="Courier New"/>
                <a:sym typeface="Courier New"/>
              </a:rPr>
              <a:t>    </a:t>
            </a:r>
            <a:r>
              <a:rPr lang="en-US" sz="1812" dirty="0" err="1">
                <a:latin typeface="Courier New"/>
                <a:ea typeface="Courier New"/>
                <a:cs typeface="Courier New"/>
                <a:sym typeface="Courier New"/>
              </a:rPr>
              <a:t>myEx.doAThing</a:t>
            </a:r>
            <a:r>
              <a:rPr lang="en-US" sz="1812" dirty="0">
                <a:latin typeface="Courier New"/>
                <a:ea typeface="Courier New"/>
                <a:cs typeface="Courier New"/>
                <a:sym typeface="Courier New"/>
              </a:rPr>
              <a:t>();</a:t>
            </a:r>
            <a:br>
              <a:rPr lang="en-US" sz="1812" dirty="0">
                <a:latin typeface="Courier New"/>
                <a:ea typeface="Courier New"/>
                <a:cs typeface="Courier New"/>
                <a:sym typeface="Courier New"/>
              </a:rPr>
            </a:br>
            <a:r>
              <a:rPr lang="en-US" sz="1812" dirty="0">
                <a:latin typeface="Courier New"/>
                <a:ea typeface="Courier New"/>
                <a:cs typeface="Courier New"/>
                <a:sym typeface="Courier New"/>
              </a:rPr>
              <a:t>}</a:t>
            </a:r>
            <a:endParaRPr sz="1812" dirty="0"/>
          </a:p>
        </p:txBody>
      </p:sp>
      <p:sp>
        <p:nvSpPr>
          <p:cNvPr id="227" name="Google Shape;227;p17"/>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100</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6">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6">
                                            <p:txEl>
                                              <p:pRg st="3" end="3"/>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6">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6">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 grpId="0" uiExpand="1" build="p"/>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A83DB-1BD5-446B-9E3D-18293669DA02}"/>
              </a:ext>
            </a:extLst>
          </p:cNvPr>
          <p:cNvSpPr>
            <a:spLocks noGrp="1"/>
          </p:cNvSpPr>
          <p:nvPr>
            <p:ph type="title"/>
          </p:nvPr>
        </p:nvSpPr>
        <p:spPr/>
        <p:txBody>
          <a:bodyPr/>
          <a:lstStyle/>
          <a:p>
            <a:r>
              <a:rPr lang="en-US" dirty="0"/>
              <a:t>Scope Naming Rules</a:t>
            </a:r>
          </a:p>
        </p:txBody>
      </p:sp>
      <p:sp>
        <p:nvSpPr>
          <p:cNvPr id="3" name="Content Placeholder 2">
            <a:extLst>
              <a:ext uri="{FF2B5EF4-FFF2-40B4-BE49-F238E27FC236}">
                <a16:creationId xmlns:a16="http://schemas.microsoft.com/office/drawing/2014/main" id="{8335F053-CC20-4A68-96A6-0707588BC6B6}"/>
              </a:ext>
            </a:extLst>
          </p:cNvPr>
          <p:cNvSpPr>
            <a:spLocks noGrp="1"/>
          </p:cNvSpPr>
          <p:nvPr>
            <p:ph idx="1"/>
          </p:nvPr>
        </p:nvSpPr>
        <p:spPr>
          <a:xfrm>
            <a:off x="380010" y="1481446"/>
            <a:ext cx="8383980" cy="4978077"/>
          </a:xfrm>
        </p:spPr>
        <p:txBody>
          <a:bodyPr>
            <a:normAutofit/>
          </a:bodyPr>
          <a:lstStyle/>
          <a:p>
            <a:pPr algn="l">
              <a:buFont typeface="Arial" panose="020B0604020202020204" pitchFamily="34" charset="0"/>
              <a:buChar char="•"/>
            </a:pPr>
            <a:r>
              <a:rPr lang="en-US" sz="1800" b="0" i="0" dirty="0">
                <a:solidFill>
                  <a:srgbClr val="212529"/>
                </a:solidFill>
                <a:effectLst/>
                <a:latin typeface="Courier New" panose="02070309020205020404" pitchFamily="49" charset="0"/>
                <a:cs typeface="Courier New" panose="02070309020205020404" pitchFamily="49" charset="0"/>
              </a:rPr>
              <a:t>Instance</a:t>
            </a:r>
            <a:r>
              <a:rPr lang="en-US" sz="1800" b="0" i="0" dirty="0">
                <a:solidFill>
                  <a:srgbClr val="212529"/>
                </a:solidFill>
                <a:effectLst/>
                <a:latin typeface="+mn-lt"/>
              </a:rPr>
              <a:t> and </a:t>
            </a:r>
            <a:r>
              <a:rPr lang="en-US" sz="1800" b="0" i="0" dirty="0">
                <a:solidFill>
                  <a:srgbClr val="212529"/>
                </a:solidFill>
                <a:effectLst/>
                <a:latin typeface="Courier New" panose="02070309020205020404" pitchFamily="49" charset="0"/>
                <a:cs typeface="Courier New" panose="02070309020205020404" pitchFamily="49" charset="0"/>
              </a:rPr>
              <a:t>Class</a:t>
            </a:r>
            <a:r>
              <a:rPr lang="en-US" sz="1800" b="0" i="0" dirty="0">
                <a:solidFill>
                  <a:srgbClr val="212529"/>
                </a:solidFill>
                <a:effectLst/>
                <a:latin typeface="+mn-lt"/>
              </a:rPr>
              <a:t> scope variables cannot share the same name.</a:t>
            </a:r>
          </a:p>
          <a:p>
            <a:pPr algn="l">
              <a:buFont typeface="Arial" panose="020B0604020202020204" pitchFamily="34" charset="0"/>
              <a:buChar char="•"/>
            </a:pPr>
            <a:r>
              <a:rPr lang="en-US" sz="1800" dirty="0">
                <a:solidFill>
                  <a:srgbClr val="212529"/>
                </a:solidFill>
                <a:latin typeface="Courier New" panose="02070309020205020404" pitchFamily="49" charset="0"/>
                <a:cs typeface="Courier New" panose="02070309020205020404" pitchFamily="49" charset="0"/>
              </a:rPr>
              <a:t>Method</a:t>
            </a:r>
            <a:r>
              <a:rPr lang="en-US" sz="1800" dirty="0">
                <a:solidFill>
                  <a:srgbClr val="212529"/>
                </a:solidFill>
                <a:latin typeface="+mn-lt"/>
              </a:rPr>
              <a:t> and </a:t>
            </a:r>
            <a:r>
              <a:rPr lang="en-US" sz="1800" dirty="0">
                <a:solidFill>
                  <a:srgbClr val="212529"/>
                </a:solidFill>
                <a:latin typeface="Courier New" panose="02070309020205020404" pitchFamily="49" charset="0"/>
                <a:cs typeface="Courier New" panose="02070309020205020404" pitchFamily="49" charset="0"/>
              </a:rPr>
              <a:t>Block</a:t>
            </a:r>
            <a:r>
              <a:rPr lang="en-US" sz="1800" dirty="0">
                <a:solidFill>
                  <a:srgbClr val="212529"/>
                </a:solidFill>
                <a:latin typeface="+mn-lt"/>
              </a:rPr>
              <a:t> scope variables cannot share the same name within the method.</a:t>
            </a:r>
          </a:p>
          <a:p>
            <a:pPr algn="l">
              <a:buFont typeface="Arial" panose="020B0604020202020204" pitchFamily="34" charset="0"/>
              <a:buChar char="•"/>
            </a:pPr>
            <a:r>
              <a:rPr lang="en-US" sz="1800" dirty="0">
                <a:solidFill>
                  <a:srgbClr val="212529"/>
                </a:solidFill>
                <a:latin typeface="Courier New" panose="02070309020205020404" pitchFamily="49" charset="0"/>
                <a:cs typeface="Courier New" panose="02070309020205020404" pitchFamily="49" charset="0"/>
              </a:rPr>
              <a:t>Block</a:t>
            </a:r>
            <a:r>
              <a:rPr lang="en-US" sz="1800" dirty="0">
                <a:solidFill>
                  <a:srgbClr val="212529"/>
                </a:solidFill>
                <a:latin typeface="+mn-lt"/>
              </a:rPr>
              <a:t> and </a:t>
            </a:r>
            <a:r>
              <a:rPr lang="en-US" sz="1800" dirty="0">
                <a:solidFill>
                  <a:srgbClr val="212529"/>
                </a:solidFill>
                <a:latin typeface="Courier New" panose="02070309020205020404" pitchFamily="49" charset="0"/>
                <a:cs typeface="Courier New" panose="02070309020205020404" pitchFamily="49" charset="0"/>
              </a:rPr>
              <a:t>Method</a:t>
            </a:r>
            <a:r>
              <a:rPr lang="en-US" sz="1800" dirty="0">
                <a:solidFill>
                  <a:srgbClr val="212529"/>
                </a:solidFill>
                <a:latin typeface="+mn-lt"/>
              </a:rPr>
              <a:t> scope variables CAN share the same name as </a:t>
            </a:r>
            <a:r>
              <a:rPr lang="en-US" sz="1800" dirty="0">
                <a:solidFill>
                  <a:srgbClr val="212529"/>
                </a:solidFill>
                <a:latin typeface="Courier New" panose="02070309020205020404" pitchFamily="49" charset="0"/>
                <a:cs typeface="Courier New" panose="02070309020205020404" pitchFamily="49" charset="0"/>
              </a:rPr>
              <a:t>Instance</a:t>
            </a:r>
            <a:r>
              <a:rPr lang="en-US" sz="1800" dirty="0">
                <a:solidFill>
                  <a:srgbClr val="212529"/>
                </a:solidFill>
                <a:latin typeface="+mn-lt"/>
              </a:rPr>
              <a:t> and </a:t>
            </a:r>
            <a:r>
              <a:rPr lang="en-US" sz="1800" dirty="0">
                <a:solidFill>
                  <a:srgbClr val="212529"/>
                </a:solidFill>
                <a:latin typeface="Courier New" panose="02070309020205020404" pitchFamily="49" charset="0"/>
                <a:cs typeface="Courier New" panose="02070309020205020404" pitchFamily="49" charset="0"/>
              </a:rPr>
              <a:t>Class</a:t>
            </a:r>
            <a:r>
              <a:rPr lang="en-US" sz="1800" dirty="0">
                <a:solidFill>
                  <a:srgbClr val="212529"/>
                </a:solidFill>
                <a:latin typeface="+mn-lt"/>
              </a:rPr>
              <a:t> scope variables. This is called “Variable Shadowing”. You can distinguish </a:t>
            </a:r>
            <a:r>
              <a:rPr lang="en-US" sz="1800" dirty="0">
                <a:solidFill>
                  <a:srgbClr val="212529"/>
                </a:solidFill>
                <a:latin typeface="Courier New" panose="02070309020205020404" pitchFamily="49" charset="0"/>
                <a:cs typeface="Courier New" panose="02070309020205020404" pitchFamily="49" charset="0"/>
              </a:rPr>
              <a:t>instance</a:t>
            </a:r>
            <a:r>
              <a:rPr lang="en-US" sz="1800" dirty="0">
                <a:solidFill>
                  <a:srgbClr val="212529"/>
                </a:solidFill>
                <a:latin typeface="+mn-lt"/>
              </a:rPr>
              <a:t>/</a:t>
            </a:r>
            <a:r>
              <a:rPr lang="en-US" sz="1800" dirty="0">
                <a:solidFill>
                  <a:srgbClr val="212529"/>
                </a:solidFill>
                <a:latin typeface="Courier New" panose="02070309020205020404" pitchFamily="49" charset="0"/>
                <a:cs typeface="Courier New" panose="02070309020205020404" pitchFamily="49" charset="0"/>
              </a:rPr>
              <a:t>class</a:t>
            </a:r>
            <a:r>
              <a:rPr lang="en-US" sz="1800" dirty="0">
                <a:solidFill>
                  <a:srgbClr val="212529"/>
                </a:solidFill>
                <a:latin typeface="+mn-lt"/>
              </a:rPr>
              <a:t> variables from </a:t>
            </a:r>
            <a:r>
              <a:rPr lang="en-US" sz="1800" dirty="0">
                <a:solidFill>
                  <a:srgbClr val="212529"/>
                </a:solidFill>
                <a:latin typeface="Courier New" panose="02070309020205020404" pitchFamily="49" charset="0"/>
                <a:cs typeface="Courier New" panose="02070309020205020404" pitchFamily="49" charset="0"/>
              </a:rPr>
              <a:t>block</a:t>
            </a:r>
            <a:r>
              <a:rPr lang="en-US" sz="1800" dirty="0">
                <a:solidFill>
                  <a:srgbClr val="212529"/>
                </a:solidFill>
                <a:latin typeface="+mn-lt"/>
              </a:rPr>
              <a:t>/</a:t>
            </a:r>
            <a:r>
              <a:rPr lang="en-US" sz="1800" dirty="0">
                <a:solidFill>
                  <a:srgbClr val="212529"/>
                </a:solidFill>
                <a:latin typeface="Courier New" panose="02070309020205020404" pitchFamily="49" charset="0"/>
                <a:cs typeface="Courier New" panose="02070309020205020404" pitchFamily="49" charset="0"/>
              </a:rPr>
              <a:t>method</a:t>
            </a:r>
            <a:r>
              <a:rPr lang="en-US" sz="1800" dirty="0">
                <a:solidFill>
                  <a:srgbClr val="212529"/>
                </a:solidFill>
                <a:latin typeface="+mn-lt"/>
              </a:rPr>
              <a:t> variables with the </a:t>
            </a:r>
            <a:r>
              <a:rPr lang="en-US" sz="1800" dirty="0">
                <a:solidFill>
                  <a:srgbClr val="212529"/>
                </a:solidFill>
                <a:latin typeface="Courier New" panose="02070309020205020404" pitchFamily="49" charset="0"/>
                <a:cs typeface="Courier New" panose="02070309020205020404" pitchFamily="49" charset="0"/>
              </a:rPr>
              <a:t>this</a:t>
            </a:r>
            <a:r>
              <a:rPr lang="en-US" sz="1800" dirty="0">
                <a:solidFill>
                  <a:srgbClr val="212529"/>
                </a:solidFill>
                <a:latin typeface="+mn-lt"/>
              </a:rPr>
              <a:t> keyword.</a:t>
            </a:r>
            <a:endParaRPr lang="en-US" dirty="0">
              <a:solidFill>
                <a:srgbClr val="212529"/>
              </a:solidFill>
              <a:latin typeface="+mn-lt"/>
            </a:endParaRPr>
          </a:p>
          <a:p>
            <a:pPr algn="l">
              <a:buFont typeface="Arial" panose="020B0604020202020204" pitchFamily="34" charset="0"/>
              <a:buChar char="•"/>
            </a:pPr>
            <a:endParaRPr lang="en-US" b="0" i="0" dirty="0">
              <a:solidFill>
                <a:srgbClr val="212529"/>
              </a:solidFill>
              <a:effectLst/>
              <a:latin typeface="+mj-lt"/>
            </a:endParaRPr>
          </a:p>
          <a:p>
            <a:pPr marL="0" indent="0">
              <a:buNone/>
            </a:pPr>
            <a:r>
              <a:rPr lang="en-US" sz="1800" dirty="0">
                <a:latin typeface="Courier New" panose="02070309020205020404" pitchFamily="49" charset="0"/>
                <a:cs typeface="Courier New" panose="02070309020205020404" pitchFamily="49" charset="0"/>
              </a:rPr>
              <a:t>	</a:t>
            </a:r>
          </a:p>
        </p:txBody>
      </p:sp>
      <p:sp>
        <p:nvSpPr>
          <p:cNvPr id="4" name="Slide Number Placeholder 3">
            <a:extLst>
              <a:ext uri="{FF2B5EF4-FFF2-40B4-BE49-F238E27FC236}">
                <a16:creationId xmlns:a16="http://schemas.microsoft.com/office/drawing/2014/main" id="{1664DBD2-BC13-412C-ABE3-AF3CD361010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28BC2-ACA3-447C-A909-F3F49211C066}" type="slidenum">
              <a:rPr kumimoji="0" lang="en-US" sz="1200" b="0" i="0" u="none" strike="noStrike" kern="1200" cap="none" spc="0" normalizeH="0" baseline="0" noProof="0" smtClean="0">
                <a:ln>
                  <a:noFill/>
                </a:ln>
                <a:solidFill>
                  <a:srgbClr val="A0A1A0"/>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101</a:t>
            </a:fld>
            <a:endParaRPr kumimoji="0" lang="en-US" sz="1200" b="0" i="0" u="none" strike="noStrike" kern="1200" cap="none" spc="0" normalizeH="0" baseline="0" noProof="0" dirty="0">
              <a:ln>
                <a:noFill/>
              </a:ln>
              <a:solidFill>
                <a:srgbClr val="A0A1A0"/>
              </a:solidFill>
              <a:effectLst/>
              <a:uLnTx/>
              <a:uFillTx/>
              <a:latin typeface="Arial" panose="020B0604020202020204" pitchFamily="34" charset="0"/>
              <a:ea typeface="+mn-ea"/>
              <a:cs typeface="Arial" panose="020B0604020202020204" pitchFamily="34" charset="0"/>
            </a:endParaRPr>
          </a:p>
        </p:txBody>
      </p:sp>
      <p:sp>
        <p:nvSpPr>
          <p:cNvPr id="5" name="Google Shape;219;p16">
            <a:extLst>
              <a:ext uri="{FF2B5EF4-FFF2-40B4-BE49-F238E27FC236}">
                <a16:creationId xmlns:a16="http://schemas.microsoft.com/office/drawing/2014/main" id="{74877B0A-FB02-46BF-BEA2-51B2878F78FE}"/>
              </a:ext>
            </a:extLst>
          </p:cNvPr>
          <p:cNvSpPr txBox="1">
            <a:spLocks/>
          </p:cNvSpPr>
          <p:nvPr/>
        </p:nvSpPr>
        <p:spPr>
          <a:xfrm>
            <a:off x="1879870" y="4136994"/>
            <a:ext cx="5384260" cy="1718954"/>
          </a:xfrm>
          <a:prstGeom prst="rect">
            <a:avLst/>
          </a:prstGeom>
        </p:spPr>
        <p:style>
          <a:lnRef idx="1">
            <a:schemeClr val="accent2"/>
          </a:lnRef>
          <a:fillRef idx="2">
            <a:schemeClr val="accent2"/>
          </a:fillRef>
          <a:effectRef idx="1">
            <a:schemeClr val="accent2"/>
          </a:effectRef>
          <a:fontRef idx="minor">
            <a:schemeClr val="dk1"/>
          </a:fontRef>
        </p:style>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100000"/>
              </a:lnSpc>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100000"/>
              </a:lnSpc>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9pPr>
          </a:lstStyle>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public class Example {</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int number;</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public void </a:t>
            </a:r>
            <a:r>
              <a:rPr lang="en-US" sz="1400" dirty="0" err="1">
                <a:latin typeface="Courier New" panose="02070309020205020404" pitchFamily="49" charset="0"/>
                <a:cs typeface="Courier New" panose="02070309020205020404" pitchFamily="49" charset="0"/>
              </a:rPr>
              <a:t>setNumber</a:t>
            </a:r>
            <a:r>
              <a:rPr lang="en-US" sz="1400" dirty="0">
                <a:latin typeface="Courier New" panose="02070309020205020404" pitchFamily="49" charset="0"/>
                <a:cs typeface="Courier New" panose="02070309020205020404" pitchFamily="49" charset="0"/>
              </a:rPr>
              <a:t>(int number) {</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this.number</a:t>
            </a:r>
            <a:r>
              <a:rPr lang="en-US" sz="1400" dirty="0">
                <a:latin typeface="Courier New" panose="02070309020205020404" pitchFamily="49" charset="0"/>
                <a:cs typeface="Courier New" panose="02070309020205020404" pitchFamily="49" charset="0"/>
              </a:rPr>
              <a:t> = number;</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a:t>
            </a:r>
          </a:p>
          <a:p>
            <a:pPr marL="182880" lvl="1" indent="0" defTabSz="457200">
              <a:lnSpc>
                <a:spcPct val="90000"/>
              </a:lnSpc>
              <a:buFont typeface="Arial"/>
              <a:buNone/>
            </a:pPr>
            <a:endParaRPr lang="en-US" sz="14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666723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1B6B6-7755-AF08-4F6A-92DB667460C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4DEC5CA-DEDD-2BD0-1522-0592291A7071}"/>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102</a:t>
            </a:fld>
            <a:endParaRPr lang="en-US"/>
          </a:p>
        </p:txBody>
      </p:sp>
      <p:sp>
        <p:nvSpPr>
          <p:cNvPr id="4" name="Google Shape;212;p15">
            <a:extLst>
              <a:ext uri="{FF2B5EF4-FFF2-40B4-BE49-F238E27FC236}">
                <a16:creationId xmlns:a16="http://schemas.microsoft.com/office/drawing/2014/main" id="{61A809CB-0461-3BFE-EECC-51477704C2F1}"/>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Wrapper Classes</a:t>
            </a:r>
          </a:p>
        </p:txBody>
      </p:sp>
      <p:pic>
        <p:nvPicPr>
          <p:cNvPr id="6" name="Picture 5">
            <a:extLst>
              <a:ext uri="{FF2B5EF4-FFF2-40B4-BE49-F238E27FC236}">
                <a16:creationId xmlns:a16="http://schemas.microsoft.com/office/drawing/2014/main" id="{36895DC9-66AF-E0EE-C3CC-04079EEC9AA0}"/>
              </a:ext>
            </a:extLst>
          </p:cNvPr>
          <p:cNvPicPr>
            <a:picLocks noChangeAspect="1"/>
          </p:cNvPicPr>
          <p:nvPr/>
        </p:nvPicPr>
        <p:blipFill>
          <a:blip r:embed="rId2"/>
          <a:stretch>
            <a:fillRect/>
          </a:stretch>
        </p:blipFill>
        <p:spPr>
          <a:xfrm>
            <a:off x="7036646" y="0"/>
            <a:ext cx="2107354" cy="773112"/>
          </a:xfrm>
          <a:prstGeom prst="rect">
            <a:avLst/>
          </a:prstGeom>
        </p:spPr>
      </p:pic>
    </p:spTree>
    <p:extLst>
      <p:ext uri="{BB962C8B-B14F-4D97-AF65-F5344CB8AC3E}">
        <p14:creationId xmlns:p14="http://schemas.microsoft.com/office/powerpoint/2010/main" val="210257317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23"/>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dirty="0"/>
              <a:t>Wrapper Classes</a:t>
            </a:r>
            <a:endParaRPr dirty="0"/>
          </a:p>
        </p:txBody>
      </p:sp>
      <p:sp>
        <p:nvSpPr>
          <p:cNvPr id="268" name="Google Shape;268;p23"/>
          <p:cNvSpPr txBox="1">
            <a:spLocks noGrp="1"/>
          </p:cNvSpPr>
          <p:nvPr>
            <p:ph type="body" idx="1"/>
          </p:nvPr>
        </p:nvSpPr>
        <p:spPr>
          <a:xfrm>
            <a:off x="380010" y="1481447"/>
            <a:ext cx="8383980" cy="1727268"/>
          </a:xfrm>
          <a:prstGeom prst="rect">
            <a:avLst/>
          </a:prstGeom>
          <a:noFill/>
          <a:ln>
            <a:noFill/>
          </a:ln>
        </p:spPr>
        <p:txBody>
          <a:bodyPr spcFirstLastPara="1" wrap="square" lIns="91425" tIns="45700" rIns="91425" bIns="45700" anchor="t" anchorCtr="0">
            <a:normAutofit/>
          </a:bodyPr>
          <a:lstStyle/>
          <a:p>
            <a:pPr marL="342900" lvl="0" indent="-342900" algn="l" rtl="0">
              <a:lnSpc>
                <a:spcPct val="90000"/>
              </a:lnSpc>
              <a:spcBef>
                <a:spcPts val="0"/>
              </a:spcBef>
              <a:spcAft>
                <a:spcPts val="0"/>
              </a:spcAft>
              <a:buSzPts val="2400"/>
              <a:buChar char="•"/>
            </a:pPr>
            <a:r>
              <a:rPr lang="en-US" dirty="0"/>
              <a:t>Allow you to treat primitives like objects</a:t>
            </a:r>
          </a:p>
          <a:p>
            <a:pPr marL="800100" lvl="1" indent="-342900">
              <a:lnSpc>
                <a:spcPct val="90000"/>
              </a:lnSpc>
              <a:spcBef>
                <a:spcPts val="0"/>
              </a:spcBef>
              <a:buChar char="•"/>
            </a:pPr>
            <a:r>
              <a:rPr lang="en-US" dirty="0"/>
              <a:t>Useful with collections</a:t>
            </a:r>
          </a:p>
          <a:p>
            <a:pPr marL="342900" lvl="0" indent="-342900" algn="l" rtl="0">
              <a:lnSpc>
                <a:spcPct val="90000"/>
              </a:lnSpc>
              <a:spcBef>
                <a:spcPts val="0"/>
              </a:spcBef>
              <a:spcAft>
                <a:spcPts val="0"/>
              </a:spcAft>
              <a:buSzPts val="2400"/>
              <a:buChar char="•"/>
            </a:pPr>
            <a:r>
              <a:rPr lang="en-US" dirty="0"/>
              <a:t>Each primitive type has an equivalent wrapper class</a:t>
            </a:r>
          </a:p>
        </p:txBody>
      </p:sp>
      <p:sp>
        <p:nvSpPr>
          <p:cNvPr id="269" name="Google Shape;269;p23"/>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103</a:t>
            </a:fld>
            <a:endParaRPr/>
          </a:p>
        </p:txBody>
      </p:sp>
      <p:graphicFrame>
        <p:nvGraphicFramePr>
          <p:cNvPr id="2" name="Table 1">
            <a:extLst>
              <a:ext uri="{FF2B5EF4-FFF2-40B4-BE49-F238E27FC236}">
                <a16:creationId xmlns:a16="http://schemas.microsoft.com/office/drawing/2014/main" id="{5D362BAA-3EF2-2CF0-09C8-58D93678F6F0}"/>
              </a:ext>
            </a:extLst>
          </p:cNvPr>
          <p:cNvGraphicFramePr>
            <a:graphicFrameLocks noGrp="1"/>
          </p:cNvGraphicFramePr>
          <p:nvPr>
            <p:extLst>
              <p:ext uri="{D42A27DB-BD31-4B8C-83A1-F6EECF244321}">
                <p14:modId xmlns:p14="http://schemas.microsoft.com/office/powerpoint/2010/main" val="1385699009"/>
              </p:ext>
            </p:extLst>
          </p:nvPr>
        </p:nvGraphicFramePr>
        <p:xfrm>
          <a:off x="1524000" y="3208714"/>
          <a:ext cx="6096000" cy="333756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3872361932"/>
                    </a:ext>
                  </a:extLst>
                </a:gridCol>
                <a:gridCol w="3048000">
                  <a:extLst>
                    <a:ext uri="{9D8B030D-6E8A-4147-A177-3AD203B41FA5}">
                      <a16:colId xmlns:a16="http://schemas.microsoft.com/office/drawing/2014/main" val="196293464"/>
                    </a:ext>
                  </a:extLst>
                </a:gridCol>
              </a:tblGrid>
              <a:tr h="370840">
                <a:tc>
                  <a:txBody>
                    <a:bodyPr/>
                    <a:lstStyle/>
                    <a:p>
                      <a:r>
                        <a:rPr lang="en-US" dirty="0"/>
                        <a:t>Primitive Data Type</a:t>
                      </a:r>
                    </a:p>
                  </a:txBody>
                  <a:tcPr/>
                </a:tc>
                <a:tc>
                  <a:txBody>
                    <a:bodyPr/>
                    <a:lstStyle/>
                    <a:p>
                      <a:r>
                        <a:rPr lang="en-US" dirty="0"/>
                        <a:t>Wrapper Class</a:t>
                      </a:r>
                    </a:p>
                  </a:txBody>
                  <a:tcPr/>
                </a:tc>
                <a:extLst>
                  <a:ext uri="{0D108BD9-81ED-4DB2-BD59-A6C34878D82A}">
                    <a16:rowId xmlns:a16="http://schemas.microsoft.com/office/drawing/2014/main" val="3039004907"/>
                  </a:ext>
                </a:extLst>
              </a:tr>
              <a:tr h="370840">
                <a:tc>
                  <a:txBody>
                    <a:bodyPr/>
                    <a:lstStyle/>
                    <a:p>
                      <a:r>
                        <a:rPr lang="en-US" dirty="0" err="1"/>
                        <a:t>boolean</a:t>
                      </a:r>
                      <a:endParaRPr lang="en-US" dirty="0"/>
                    </a:p>
                  </a:txBody>
                  <a:tcPr/>
                </a:tc>
                <a:tc>
                  <a:txBody>
                    <a:bodyPr/>
                    <a:lstStyle/>
                    <a:p>
                      <a:r>
                        <a:rPr lang="en-US" dirty="0"/>
                        <a:t>Boolean</a:t>
                      </a:r>
                    </a:p>
                  </a:txBody>
                  <a:tcPr/>
                </a:tc>
                <a:extLst>
                  <a:ext uri="{0D108BD9-81ED-4DB2-BD59-A6C34878D82A}">
                    <a16:rowId xmlns:a16="http://schemas.microsoft.com/office/drawing/2014/main" val="2545263710"/>
                  </a:ext>
                </a:extLst>
              </a:tr>
              <a:tr h="370840">
                <a:tc>
                  <a:txBody>
                    <a:bodyPr/>
                    <a:lstStyle/>
                    <a:p>
                      <a:r>
                        <a:rPr lang="en-US" dirty="0"/>
                        <a:t>byte</a:t>
                      </a:r>
                    </a:p>
                  </a:txBody>
                  <a:tcPr/>
                </a:tc>
                <a:tc>
                  <a:txBody>
                    <a:bodyPr/>
                    <a:lstStyle/>
                    <a:p>
                      <a:r>
                        <a:rPr lang="en-US" dirty="0"/>
                        <a:t>Byte</a:t>
                      </a:r>
                    </a:p>
                  </a:txBody>
                  <a:tcPr/>
                </a:tc>
                <a:extLst>
                  <a:ext uri="{0D108BD9-81ED-4DB2-BD59-A6C34878D82A}">
                    <a16:rowId xmlns:a16="http://schemas.microsoft.com/office/drawing/2014/main" val="1284981153"/>
                  </a:ext>
                </a:extLst>
              </a:tr>
              <a:tr h="370840">
                <a:tc>
                  <a:txBody>
                    <a:bodyPr/>
                    <a:lstStyle/>
                    <a:p>
                      <a:r>
                        <a:rPr lang="en-US" dirty="0"/>
                        <a:t>char</a:t>
                      </a:r>
                    </a:p>
                  </a:txBody>
                  <a:tcPr/>
                </a:tc>
                <a:tc>
                  <a:txBody>
                    <a:bodyPr/>
                    <a:lstStyle/>
                    <a:p>
                      <a:r>
                        <a:rPr lang="en-US" dirty="0"/>
                        <a:t>Character</a:t>
                      </a:r>
                    </a:p>
                  </a:txBody>
                  <a:tcPr/>
                </a:tc>
                <a:extLst>
                  <a:ext uri="{0D108BD9-81ED-4DB2-BD59-A6C34878D82A}">
                    <a16:rowId xmlns:a16="http://schemas.microsoft.com/office/drawing/2014/main" val="62741281"/>
                  </a:ext>
                </a:extLst>
              </a:tr>
              <a:tr h="370840">
                <a:tc>
                  <a:txBody>
                    <a:bodyPr/>
                    <a:lstStyle/>
                    <a:p>
                      <a:r>
                        <a:rPr lang="en-US" dirty="0"/>
                        <a:t>double</a:t>
                      </a:r>
                    </a:p>
                  </a:txBody>
                  <a:tcPr/>
                </a:tc>
                <a:tc>
                  <a:txBody>
                    <a:bodyPr/>
                    <a:lstStyle/>
                    <a:p>
                      <a:r>
                        <a:rPr lang="en-US" dirty="0"/>
                        <a:t>Double</a:t>
                      </a:r>
                    </a:p>
                  </a:txBody>
                  <a:tcPr/>
                </a:tc>
                <a:extLst>
                  <a:ext uri="{0D108BD9-81ED-4DB2-BD59-A6C34878D82A}">
                    <a16:rowId xmlns:a16="http://schemas.microsoft.com/office/drawing/2014/main" val="2672553150"/>
                  </a:ext>
                </a:extLst>
              </a:tr>
              <a:tr h="370840">
                <a:tc>
                  <a:txBody>
                    <a:bodyPr/>
                    <a:lstStyle/>
                    <a:p>
                      <a:r>
                        <a:rPr lang="en-US" dirty="0"/>
                        <a:t>float</a:t>
                      </a:r>
                    </a:p>
                  </a:txBody>
                  <a:tcPr/>
                </a:tc>
                <a:tc>
                  <a:txBody>
                    <a:bodyPr/>
                    <a:lstStyle/>
                    <a:p>
                      <a:r>
                        <a:rPr lang="en-US" dirty="0"/>
                        <a:t>Float</a:t>
                      </a:r>
                    </a:p>
                  </a:txBody>
                  <a:tcPr/>
                </a:tc>
                <a:extLst>
                  <a:ext uri="{0D108BD9-81ED-4DB2-BD59-A6C34878D82A}">
                    <a16:rowId xmlns:a16="http://schemas.microsoft.com/office/drawing/2014/main" val="3255518292"/>
                  </a:ext>
                </a:extLst>
              </a:tr>
              <a:tr h="370840">
                <a:tc>
                  <a:txBody>
                    <a:bodyPr/>
                    <a:lstStyle/>
                    <a:p>
                      <a:r>
                        <a:rPr lang="en-US" dirty="0"/>
                        <a:t>int</a:t>
                      </a:r>
                    </a:p>
                  </a:txBody>
                  <a:tcPr/>
                </a:tc>
                <a:tc>
                  <a:txBody>
                    <a:bodyPr/>
                    <a:lstStyle/>
                    <a:p>
                      <a:r>
                        <a:rPr lang="en-US" dirty="0"/>
                        <a:t>Integer</a:t>
                      </a:r>
                    </a:p>
                  </a:txBody>
                  <a:tcPr/>
                </a:tc>
                <a:extLst>
                  <a:ext uri="{0D108BD9-81ED-4DB2-BD59-A6C34878D82A}">
                    <a16:rowId xmlns:a16="http://schemas.microsoft.com/office/drawing/2014/main" val="3902480596"/>
                  </a:ext>
                </a:extLst>
              </a:tr>
              <a:tr h="370840">
                <a:tc>
                  <a:txBody>
                    <a:bodyPr/>
                    <a:lstStyle/>
                    <a:p>
                      <a:r>
                        <a:rPr lang="en-US" dirty="0"/>
                        <a:t>long</a:t>
                      </a:r>
                    </a:p>
                  </a:txBody>
                  <a:tcPr/>
                </a:tc>
                <a:tc>
                  <a:txBody>
                    <a:bodyPr/>
                    <a:lstStyle/>
                    <a:p>
                      <a:r>
                        <a:rPr lang="en-US" dirty="0"/>
                        <a:t>Long</a:t>
                      </a:r>
                    </a:p>
                  </a:txBody>
                  <a:tcPr/>
                </a:tc>
                <a:extLst>
                  <a:ext uri="{0D108BD9-81ED-4DB2-BD59-A6C34878D82A}">
                    <a16:rowId xmlns:a16="http://schemas.microsoft.com/office/drawing/2014/main" val="2925280300"/>
                  </a:ext>
                </a:extLst>
              </a:tr>
              <a:tr h="370840">
                <a:tc>
                  <a:txBody>
                    <a:bodyPr/>
                    <a:lstStyle/>
                    <a:p>
                      <a:r>
                        <a:rPr lang="en-US" dirty="0"/>
                        <a:t>short</a:t>
                      </a:r>
                    </a:p>
                  </a:txBody>
                  <a:tcPr/>
                </a:tc>
                <a:tc>
                  <a:txBody>
                    <a:bodyPr/>
                    <a:lstStyle/>
                    <a:p>
                      <a:r>
                        <a:rPr lang="en-US" dirty="0"/>
                        <a:t>Short</a:t>
                      </a:r>
                    </a:p>
                  </a:txBody>
                  <a:tcPr/>
                </a:tc>
                <a:extLst>
                  <a:ext uri="{0D108BD9-81ED-4DB2-BD59-A6C34878D82A}">
                    <a16:rowId xmlns:a16="http://schemas.microsoft.com/office/drawing/2014/main" val="3751892412"/>
                  </a:ext>
                </a:extLst>
              </a:tr>
            </a:tbl>
          </a:graphicData>
        </a:graphic>
      </p:graphicFrame>
    </p:spTree>
    <p:extLst>
      <p:ext uri="{BB962C8B-B14F-4D97-AF65-F5344CB8AC3E}">
        <p14:creationId xmlns:p14="http://schemas.microsoft.com/office/powerpoint/2010/main" val="62257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8">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8">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6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8" grpId="0" uiExpand="1" build="p"/>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033B0-8B2F-4C6D-BF2F-CAAEA7006947}"/>
              </a:ext>
            </a:extLst>
          </p:cNvPr>
          <p:cNvSpPr>
            <a:spLocks noGrp="1"/>
          </p:cNvSpPr>
          <p:nvPr>
            <p:ph type="title"/>
          </p:nvPr>
        </p:nvSpPr>
        <p:spPr/>
        <p:txBody>
          <a:bodyPr/>
          <a:lstStyle/>
          <a:p>
            <a:r>
              <a:rPr lang="en-US" dirty="0"/>
              <a:t>Autoboxing</a:t>
            </a:r>
          </a:p>
        </p:txBody>
      </p:sp>
      <p:sp>
        <p:nvSpPr>
          <p:cNvPr id="4" name="Slide Number Placeholder 3">
            <a:extLst>
              <a:ext uri="{FF2B5EF4-FFF2-40B4-BE49-F238E27FC236}">
                <a16:creationId xmlns:a16="http://schemas.microsoft.com/office/drawing/2014/main" id="{845297BA-1639-446E-BE42-86A0D349C7B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104</a:t>
            </a:fld>
            <a:endParaRPr lang="en-US"/>
          </a:p>
        </p:txBody>
      </p:sp>
      <p:sp>
        <p:nvSpPr>
          <p:cNvPr id="7" name="Google Shape;219;p16">
            <a:extLst>
              <a:ext uri="{FF2B5EF4-FFF2-40B4-BE49-F238E27FC236}">
                <a16:creationId xmlns:a16="http://schemas.microsoft.com/office/drawing/2014/main" id="{12482C9E-ECDB-4D4D-91C7-DABB0566AC48}"/>
              </a:ext>
            </a:extLst>
          </p:cNvPr>
          <p:cNvSpPr txBox="1">
            <a:spLocks/>
          </p:cNvSpPr>
          <p:nvPr/>
        </p:nvSpPr>
        <p:spPr>
          <a:xfrm>
            <a:off x="610679" y="1750354"/>
            <a:ext cx="5384260" cy="3920113"/>
          </a:xfrm>
          <a:prstGeom prst="rect">
            <a:avLst/>
          </a:prstGeom>
        </p:spPr>
        <p:style>
          <a:lnRef idx="1">
            <a:schemeClr val="accent2"/>
          </a:lnRef>
          <a:fillRef idx="2">
            <a:schemeClr val="accent2"/>
          </a:fillRef>
          <a:effectRef idx="1">
            <a:schemeClr val="accent2"/>
          </a:effectRef>
          <a:fontRef idx="minor">
            <a:schemeClr val="dk1"/>
          </a:fontRef>
        </p:style>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100000"/>
              </a:lnSpc>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100000"/>
              </a:lnSpc>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9pPr>
          </a:lstStyle>
          <a:p>
            <a:pPr marL="182880" lvl="1" indent="0" defTabSz="457200">
              <a:lnSpc>
                <a:spcPct val="90000"/>
              </a:lnSpc>
              <a:buFont typeface="Arial"/>
              <a:buNone/>
            </a:pPr>
            <a:endParaRPr lang="en-US" sz="1400" dirty="0">
              <a:latin typeface="Courier New" panose="02070309020205020404" pitchFamily="49" charset="0"/>
              <a:cs typeface="Courier New" panose="02070309020205020404" pitchFamily="49" charset="0"/>
            </a:endParaRP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public class </a:t>
            </a:r>
            <a:r>
              <a:rPr lang="en-US" sz="1400" dirty="0" err="1">
                <a:latin typeface="Courier New" panose="02070309020205020404" pitchFamily="49" charset="0"/>
                <a:cs typeface="Courier New" panose="02070309020205020404" pitchFamily="49" charset="0"/>
              </a:rPr>
              <a:t>TestWrapperClasses</a:t>
            </a:r>
            <a:r>
              <a:rPr lang="en-US" sz="1400" dirty="0">
                <a:latin typeface="Courier New" panose="02070309020205020404" pitchFamily="49" charset="0"/>
                <a:cs typeface="Courier New" panose="02070309020205020404" pitchFamily="49" charset="0"/>
              </a:rPr>
              <a:t>{</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public static void main(String[] </a:t>
            </a:r>
            <a:r>
              <a:rPr lang="en-US" sz="1400" dirty="0" err="1">
                <a:latin typeface="Courier New" panose="02070309020205020404" pitchFamily="49" charset="0"/>
                <a:cs typeface="Courier New" panose="02070309020205020404" pitchFamily="49" charset="0"/>
              </a:rPr>
              <a:t>args</a:t>
            </a:r>
            <a:r>
              <a:rPr lang="en-US" sz="1400" dirty="0">
                <a:latin typeface="Courier New" panose="02070309020205020404" pitchFamily="49" charset="0"/>
                <a:cs typeface="Courier New" panose="02070309020205020404" pitchFamily="49" charset="0"/>
              </a:rPr>
              <a:t>){</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int number = 9; </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//Declare wrapper class variables</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Integer num = number;</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Integer num2 = new Integer(9);</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Integer num3 = 9;</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printMe</a:t>
            </a:r>
            <a:r>
              <a:rPr lang="en-US" sz="1400" dirty="0">
                <a:latin typeface="Courier New" panose="02070309020205020404" pitchFamily="49" charset="0"/>
                <a:cs typeface="Courier New" panose="02070309020205020404" pitchFamily="49" charset="0"/>
              </a:rPr>
              <a:t>(9);</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public static void </a:t>
            </a:r>
            <a:r>
              <a:rPr lang="en-US" sz="1400" dirty="0" err="1">
                <a:latin typeface="Courier New" panose="02070309020205020404" pitchFamily="49" charset="0"/>
                <a:cs typeface="Courier New" panose="02070309020205020404" pitchFamily="49" charset="0"/>
              </a:rPr>
              <a:t>printMe</a:t>
            </a:r>
            <a:r>
              <a:rPr lang="en-US" sz="1400" dirty="0">
                <a:latin typeface="Courier New" panose="02070309020205020404" pitchFamily="49" charset="0"/>
                <a:cs typeface="Courier New" panose="02070309020205020404" pitchFamily="49" charset="0"/>
              </a:rPr>
              <a:t>(Object o){</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System.out.println</a:t>
            </a:r>
            <a:r>
              <a:rPr lang="en-US" sz="1400" dirty="0">
                <a:latin typeface="Courier New" panose="02070309020205020404" pitchFamily="49" charset="0"/>
                <a:cs typeface="Courier New" panose="02070309020205020404" pitchFamily="49" charset="0"/>
              </a:rPr>
              <a:t>(o);</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a:t>
            </a:r>
          </a:p>
        </p:txBody>
      </p:sp>
      <p:grpSp>
        <p:nvGrpSpPr>
          <p:cNvPr id="8" name="Group 7">
            <a:extLst>
              <a:ext uri="{FF2B5EF4-FFF2-40B4-BE49-F238E27FC236}">
                <a16:creationId xmlns:a16="http://schemas.microsoft.com/office/drawing/2014/main" id="{843A2EB6-68FB-405E-BA66-7AE03337E91B}"/>
              </a:ext>
            </a:extLst>
          </p:cNvPr>
          <p:cNvGrpSpPr/>
          <p:nvPr/>
        </p:nvGrpSpPr>
        <p:grpSpPr>
          <a:xfrm>
            <a:off x="4088296" y="4994503"/>
            <a:ext cx="4675694" cy="876692"/>
            <a:chOff x="3877898" y="4351293"/>
            <a:chExt cx="4675694" cy="876692"/>
          </a:xfrm>
        </p:grpSpPr>
        <p:sp>
          <p:nvSpPr>
            <p:cNvPr id="9" name="Rectangle 8">
              <a:extLst>
                <a:ext uri="{FF2B5EF4-FFF2-40B4-BE49-F238E27FC236}">
                  <a16:creationId xmlns:a16="http://schemas.microsoft.com/office/drawing/2014/main" id="{CA4B3138-EE9C-451F-AC10-630EE6EA4F18}"/>
                </a:ext>
              </a:extLst>
            </p:cNvPr>
            <p:cNvSpPr/>
            <p:nvPr/>
          </p:nvSpPr>
          <p:spPr>
            <a:xfrm>
              <a:off x="3877898" y="4351293"/>
              <a:ext cx="4675694" cy="876692"/>
            </a:xfrm>
            <a:prstGeom prst="rect">
              <a:avLst/>
            </a:prstGeom>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600" dirty="0">
                  <a:ln w="0"/>
                  <a:solidFill>
                    <a:schemeClr val="tx1"/>
                  </a:solidFill>
                  <a:effectLst>
                    <a:outerShdw blurRad="38100" dist="19050" dir="2700000" algn="tl" rotWithShape="0">
                      <a:schemeClr val="dk1">
                        <a:alpha val="40000"/>
                      </a:schemeClr>
                    </a:outerShdw>
                  </a:effectLst>
                </a:rPr>
                <a:t>Console Output: </a:t>
              </a:r>
            </a:p>
            <a:p>
              <a:endParaRPr lang="en-US" sz="1600" dirty="0">
                <a:ln w="0"/>
                <a:solidFill>
                  <a:schemeClr val="tx1"/>
                </a:solidFill>
                <a:effectLst>
                  <a:outerShdw blurRad="38100" dist="19050" dir="2700000" algn="tl" rotWithShape="0">
                    <a:schemeClr val="dk1">
                      <a:alpha val="40000"/>
                    </a:schemeClr>
                  </a:outerShdw>
                </a:effectLst>
              </a:endParaRPr>
            </a:p>
            <a:p>
              <a:r>
                <a:rPr lang="en-US" sz="1600" dirty="0">
                  <a:ln w="0"/>
                  <a:solidFill>
                    <a:schemeClr val="tx1"/>
                  </a:solidFill>
                  <a:effectLst>
                    <a:outerShdw blurRad="38100" dist="19050" dir="2700000" algn="tl" rotWithShape="0">
                      <a:schemeClr val="dk1">
                        <a:alpha val="40000"/>
                      </a:schemeClr>
                    </a:outerShdw>
                  </a:effectLst>
                </a:rPr>
                <a:t>9</a:t>
              </a:r>
            </a:p>
          </p:txBody>
        </p:sp>
        <p:cxnSp>
          <p:nvCxnSpPr>
            <p:cNvPr id="10" name="Straight Connector 9">
              <a:extLst>
                <a:ext uri="{FF2B5EF4-FFF2-40B4-BE49-F238E27FC236}">
                  <a16:creationId xmlns:a16="http://schemas.microsoft.com/office/drawing/2014/main" id="{FB425D83-8087-462E-8F34-A19D604B0350}"/>
                </a:ext>
              </a:extLst>
            </p:cNvPr>
            <p:cNvCxnSpPr/>
            <p:nvPr/>
          </p:nvCxnSpPr>
          <p:spPr>
            <a:xfrm>
              <a:off x="3877898" y="4789639"/>
              <a:ext cx="4675694" cy="0"/>
            </a:xfrm>
            <a:prstGeom prst="line">
              <a:avLst/>
            </a:prstGeom>
            <a:ln/>
          </p:spPr>
          <p:style>
            <a:lnRef idx="1">
              <a:schemeClr val="accent6"/>
            </a:lnRef>
            <a:fillRef idx="0">
              <a:schemeClr val="accent6"/>
            </a:fillRef>
            <a:effectRef idx="0">
              <a:schemeClr val="accent6"/>
            </a:effectRef>
            <a:fontRef idx="minor">
              <a:schemeClr val="tx1"/>
            </a:fontRef>
          </p:style>
        </p:cxnSp>
      </p:grpSp>
      <p:sp>
        <p:nvSpPr>
          <p:cNvPr id="14" name="Rectangle 13">
            <a:extLst>
              <a:ext uri="{FF2B5EF4-FFF2-40B4-BE49-F238E27FC236}">
                <a16:creationId xmlns:a16="http://schemas.microsoft.com/office/drawing/2014/main" id="{BA1D6D53-46C6-4B0C-9371-432FC8AB6632}"/>
              </a:ext>
            </a:extLst>
          </p:cNvPr>
          <p:cNvSpPr/>
          <p:nvPr/>
        </p:nvSpPr>
        <p:spPr>
          <a:xfrm>
            <a:off x="5526853" y="1472284"/>
            <a:ext cx="3457575" cy="10310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NOTE: This is autoboxing.</a:t>
            </a:r>
          </a:p>
        </p:txBody>
      </p:sp>
    </p:spTree>
    <p:extLst>
      <p:ext uri="{BB962C8B-B14F-4D97-AF65-F5344CB8AC3E}">
        <p14:creationId xmlns:p14="http://schemas.microsoft.com/office/powerpoint/2010/main" val="2537260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type="lt">
                                    <p:tmAbs val="0"/>
                                  </p:iterate>
                                  <p:childTnLst>
                                    <p:set>
                                      <p:cBhvr>
                                        <p:cTn id="20"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type="lt">
                                    <p:tmAbs val="0"/>
                                  </p:iterate>
                                  <p:childTnLst>
                                    <p:set>
                                      <p:cBhvr>
                                        <p:cTn id="28"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iterate type="lt">
                                    <p:tmAbs val="0"/>
                                  </p:iterate>
                                  <p:childTnLst>
                                    <p:set>
                                      <p:cBhvr>
                                        <p:cTn id="32" dur="1" fill="hold">
                                          <p:stCondLst>
                                            <p:cond delay="0"/>
                                          </p:stCondLst>
                                        </p:cTn>
                                        <p:tgtEl>
                                          <p:spTgt spid="7">
                                            <p:txEl>
                                              <p:pRg st="8" end="8"/>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xEl>
                                              <p:pRg st="10" end="10"/>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
                                            <p:txEl>
                                              <p:pRg st="11" end="11"/>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
                                            <p:txEl>
                                              <p:pRg st="12" end="12"/>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
                                            <p:txEl>
                                              <p:pRg st="13" end="13"/>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5" presetClass="emph" presetSubtype="0" nodeType="clickEffect">
                                  <p:stCondLst>
                                    <p:cond delay="0"/>
                                  </p:stCondLst>
                                  <p:iterate type="lt">
                                    <p:tmAbs val="25"/>
                                  </p:iterate>
                                  <p:childTnLst>
                                    <p:set>
                                      <p:cBhvr override="childStyle">
                                        <p:cTn id="52" dur="indefinite"/>
                                        <p:tgtEl>
                                          <p:spTgt spid="7">
                                            <p:txEl>
                                              <p:pRg st="5" end="5"/>
                                            </p:txEl>
                                          </p:spTgt>
                                        </p:tgtEl>
                                        <p:attrNameLst>
                                          <p:attrName>style.fontWeight</p:attrName>
                                        </p:attrNameLst>
                                      </p:cBhvr>
                                      <p:to>
                                        <p:strVal val="bold"/>
                                      </p:to>
                                    </p:set>
                                  </p:childTnLst>
                                </p:cTn>
                              </p:par>
                            </p:childTnLst>
                          </p:cTn>
                        </p:par>
                      </p:childTnLst>
                    </p:cTn>
                  </p:par>
                  <p:par>
                    <p:cTn id="53" fill="hold">
                      <p:stCondLst>
                        <p:cond delay="indefinite"/>
                      </p:stCondLst>
                      <p:childTnLst>
                        <p:par>
                          <p:cTn id="54" fill="hold">
                            <p:stCondLst>
                              <p:cond delay="0"/>
                            </p:stCondLst>
                            <p:childTnLst>
                              <p:par>
                                <p:cTn id="55" presetID="15" presetClass="emph" presetSubtype="0" nodeType="clickEffect">
                                  <p:stCondLst>
                                    <p:cond delay="0"/>
                                  </p:stCondLst>
                                  <p:iterate type="lt">
                                    <p:tmAbs val="25"/>
                                  </p:iterate>
                                  <p:childTnLst>
                                    <p:set>
                                      <p:cBhvr override="childStyle">
                                        <p:cTn id="56" dur="indefinite"/>
                                        <p:tgtEl>
                                          <p:spTgt spid="7">
                                            <p:txEl>
                                              <p:pRg st="7" end="7"/>
                                            </p:txEl>
                                          </p:spTgt>
                                        </p:tgtEl>
                                        <p:attrNameLst>
                                          <p:attrName>style.fontWeight</p:attrName>
                                        </p:attrNameLst>
                                      </p:cBhvr>
                                      <p:to>
                                        <p:strVal val="bold"/>
                                      </p:to>
                                    </p:set>
                                  </p:childTnLst>
                                </p:cTn>
                              </p:par>
                            </p:childTnLst>
                          </p:cTn>
                        </p:par>
                      </p:childTnLst>
                    </p:cTn>
                  </p:par>
                  <p:par>
                    <p:cTn id="57" fill="hold">
                      <p:stCondLst>
                        <p:cond delay="indefinite"/>
                      </p:stCondLst>
                      <p:childTnLst>
                        <p:par>
                          <p:cTn id="58" fill="hold">
                            <p:stCondLst>
                              <p:cond delay="0"/>
                            </p:stCondLst>
                            <p:childTnLst>
                              <p:par>
                                <p:cTn id="59" presetID="15" presetClass="emph" presetSubtype="0" nodeType="clickEffect">
                                  <p:stCondLst>
                                    <p:cond delay="0"/>
                                  </p:stCondLst>
                                  <p:iterate type="lt">
                                    <p:tmAbs val="25"/>
                                  </p:iterate>
                                  <p:childTnLst>
                                    <p:set>
                                      <p:cBhvr override="childStyle">
                                        <p:cTn id="60" dur="indefinite"/>
                                        <p:tgtEl>
                                          <p:spTgt spid="7">
                                            <p:txEl>
                                              <p:pRg st="8" end="8"/>
                                            </p:txEl>
                                          </p:spTgt>
                                        </p:tgtEl>
                                        <p:attrNameLst>
                                          <p:attrName>style.fontWeight</p:attrName>
                                        </p:attrNameLst>
                                      </p:cBhvr>
                                      <p:to>
                                        <p:strVal val="bold"/>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P spid="14"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033B0-8B2F-4C6D-BF2F-CAAEA7006947}"/>
              </a:ext>
            </a:extLst>
          </p:cNvPr>
          <p:cNvSpPr>
            <a:spLocks noGrp="1"/>
          </p:cNvSpPr>
          <p:nvPr>
            <p:ph type="title"/>
          </p:nvPr>
        </p:nvSpPr>
        <p:spPr/>
        <p:txBody>
          <a:bodyPr/>
          <a:lstStyle/>
          <a:p>
            <a:r>
              <a:rPr lang="en-US" dirty="0"/>
              <a:t>Unboxing</a:t>
            </a:r>
          </a:p>
        </p:txBody>
      </p:sp>
      <p:sp>
        <p:nvSpPr>
          <p:cNvPr id="4" name="Slide Number Placeholder 3">
            <a:extLst>
              <a:ext uri="{FF2B5EF4-FFF2-40B4-BE49-F238E27FC236}">
                <a16:creationId xmlns:a16="http://schemas.microsoft.com/office/drawing/2014/main" id="{845297BA-1639-446E-BE42-86A0D349C7B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105</a:t>
            </a:fld>
            <a:endParaRPr lang="en-US"/>
          </a:p>
        </p:txBody>
      </p:sp>
      <p:sp>
        <p:nvSpPr>
          <p:cNvPr id="7" name="Google Shape;219;p16">
            <a:extLst>
              <a:ext uri="{FF2B5EF4-FFF2-40B4-BE49-F238E27FC236}">
                <a16:creationId xmlns:a16="http://schemas.microsoft.com/office/drawing/2014/main" id="{12482C9E-ECDB-4D4D-91C7-DABB0566AC48}"/>
              </a:ext>
            </a:extLst>
          </p:cNvPr>
          <p:cNvSpPr txBox="1">
            <a:spLocks/>
          </p:cNvSpPr>
          <p:nvPr/>
        </p:nvSpPr>
        <p:spPr>
          <a:xfrm>
            <a:off x="610679" y="1750354"/>
            <a:ext cx="5384260" cy="3920113"/>
          </a:xfrm>
          <a:prstGeom prst="rect">
            <a:avLst/>
          </a:prstGeom>
        </p:spPr>
        <p:style>
          <a:lnRef idx="1">
            <a:schemeClr val="accent2"/>
          </a:lnRef>
          <a:fillRef idx="2">
            <a:schemeClr val="accent2"/>
          </a:fillRef>
          <a:effectRef idx="1">
            <a:schemeClr val="accent2"/>
          </a:effectRef>
          <a:fontRef idx="minor">
            <a:schemeClr val="dk1"/>
          </a:fontRef>
        </p:style>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100000"/>
              </a:lnSpc>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100000"/>
              </a:lnSpc>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9pPr>
          </a:lstStyle>
          <a:p>
            <a:pPr marL="182880" lvl="1" indent="0" defTabSz="457200">
              <a:lnSpc>
                <a:spcPct val="90000"/>
              </a:lnSpc>
              <a:buFont typeface="Arial"/>
              <a:buNone/>
            </a:pPr>
            <a:endParaRPr lang="en-US" sz="1400" dirty="0">
              <a:latin typeface="Courier New" panose="02070309020205020404" pitchFamily="49" charset="0"/>
              <a:cs typeface="Courier New" panose="02070309020205020404" pitchFamily="49" charset="0"/>
            </a:endParaRP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public class </a:t>
            </a:r>
            <a:r>
              <a:rPr lang="en-US" sz="1400" dirty="0" err="1">
                <a:latin typeface="Courier New" panose="02070309020205020404" pitchFamily="49" charset="0"/>
                <a:cs typeface="Courier New" panose="02070309020205020404" pitchFamily="49" charset="0"/>
              </a:rPr>
              <a:t>TestWrapperClasses</a:t>
            </a:r>
            <a:r>
              <a:rPr lang="en-US" sz="1400" dirty="0">
                <a:latin typeface="Courier New" panose="02070309020205020404" pitchFamily="49" charset="0"/>
                <a:cs typeface="Courier New" panose="02070309020205020404" pitchFamily="49" charset="0"/>
              </a:rPr>
              <a:t>{</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public static void main(String[] </a:t>
            </a:r>
            <a:r>
              <a:rPr lang="en-US" sz="1400" dirty="0" err="1">
                <a:latin typeface="Courier New" panose="02070309020205020404" pitchFamily="49" charset="0"/>
                <a:cs typeface="Courier New" panose="02070309020205020404" pitchFamily="49" charset="0"/>
              </a:rPr>
              <a:t>args</a:t>
            </a:r>
            <a:r>
              <a:rPr lang="en-US" sz="1400" dirty="0">
                <a:latin typeface="Courier New" panose="02070309020205020404" pitchFamily="49" charset="0"/>
                <a:cs typeface="Courier New" panose="02070309020205020404" pitchFamily="49" charset="0"/>
              </a:rPr>
              <a:t>){</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Integer number = 9;</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int num = number;</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int num2 = unbox(number);</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System.out.println</a:t>
            </a:r>
            <a:r>
              <a:rPr lang="en-US" sz="1400" dirty="0">
                <a:latin typeface="Courier New" panose="02070309020205020404" pitchFamily="49" charset="0"/>
                <a:cs typeface="Courier New" panose="02070309020205020404" pitchFamily="49" charset="0"/>
              </a:rPr>
              <a:t>(num);</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System.out.println</a:t>
            </a:r>
            <a:r>
              <a:rPr lang="en-US" sz="1400" dirty="0">
                <a:latin typeface="Courier New" panose="02070309020205020404" pitchFamily="49" charset="0"/>
                <a:cs typeface="Courier New" panose="02070309020205020404" pitchFamily="49" charset="0"/>
              </a:rPr>
              <a:t>(num2);</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public static int unbox(int i){</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return </a:t>
            </a:r>
            <a:r>
              <a:rPr lang="en-US" sz="1400" dirty="0" err="1">
                <a:latin typeface="Courier New" panose="02070309020205020404" pitchFamily="49" charset="0"/>
                <a:cs typeface="Courier New" panose="02070309020205020404" pitchFamily="49" charset="0"/>
              </a:rPr>
              <a:t>i</a:t>
            </a:r>
            <a:r>
              <a:rPr lang="en-US" sz="1400" dirty="0">
                <a:latin typeface="Courier New" panose="02070309020205020404" pitchFamily="49" charset="0"/>
                <a:cs typeface="Courier New" panose="02070309020205020404" pitchFamily="49" charset="0"/>
              </a:rPr>
              <a:t>;</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buFont typeface="Arial"/>
              <a:buNone/>
            </a:pPr>
            <a:r>
              <a:rPr lang="en-US" sz="1400" dirty="0">
                <a:latin typeface="Courier New" panose="02070309020205020404" pitchFamily="49" charset="0"/>
                <a:cs typeface="Courier New" panose="02070309020205020404" pitchFamily="49" charset="0"/>
              </a:rPr>
              <a:t>}</a:t>
            </a:r>
          </a:p>
        </p:txBody>
      </p:sp>
      <p:grpSp>
        <p:nvGrpSpPr>
          <p:cNvPr id="8" name="Group 7">
            <a:extLst>
              <a:ext uri="{FF2B5EF4-FFF2-40B4-BE49-F238E27FC236}">
                <a16:creationId xmlns:a16="http://schemas.microsoft.com/office/drawing/2014/main" id="{843A2EB6-68FB-405E-BA66-7AE03337E91B}"/>
              </a:ext>
            </a:extLst>
          </p:cNvPr>
          <p:cNvGrpSpPr/>
          <p:nvPr/>
        </p:nvGrpSpPr>
        <p:grpSpPr>
          <a:xfrm>
            <a:off x="4088296" y="4994503"/>
            <a:ext cx="4675694" cy="1113334"/>
            <a:chOff x="3877898" y="4351293"/>
            <a:chExt cx="4675694" cy="876692"/>
          </a:xfrm>
        </p:grpSpPr>
        <p:sp>
          <p:nvSpPr>
            <p:cNvPr id="9" name="Rectangle 8">
              <a:extLst>
                <a:ext uri="{FF2B5EF4-FFF2-40B4-BE49-F238E27FC236}">
                  <a16:creationId xmlns:a16="http://schemas.microsoft.com/office/drawing/2014/main" id="{CA4B3138-EE9C-451F-AC10-630EE6EA4F18}"/>
                </a:ext>
              </a:extLst>
            </p:cNvPr>
            <p:cNvSpPr/>
            <p:nvPr/>
          </p:nvSpPr>
          <p:spPr>
            <a:xfrm>
              <a:off x="3877898" y="4351293"/>
              <a:ext cx="4675694" cy="876692"/>
            </a:xfrm>
            <a:prstGeom prst="rect">
              <a:avLst/>
            </a:prstGeom>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600" dirty="0">
                  <a:ln w="0"/>
                  <a:solidFill>
                    <a:schemeClr val="tx1"/>
                  </a:solidFill>
                  <a:effectLst>
                    <a:outerShdw blurRad="38100" dist="19050" dir="2700000" algn="tl" rotWithShape="0">
                      <a:schemeClr val="dk1">
                        <a:alpha val="40000"/>
                      </a:schemeClr>
                    </a:outerShdw>
                  </a:effectLst>
                </a:rPr>
                <a:t>Console Output: </a:t>
              </a:r>
            </a:p>
            <a:p>
              <a:endParaRPr lang="en-US" sz="1600" dirty="0">
                <a:ln w="0"/>
                <a:solidFill>
                  <a:schemeClr val="tx1"/>
                </a:solidFill>
                <a:effectLst>
                  <a:outerShdw blurRad="38100" dist="19050" dir="2700000" algn="tl" rotWithShape="0">
                    <a:schemeClr val="dk1">
                      <a:alpha val="40000"/>
                    </a:schemeClr>
                  </a:outerShdw>
                </a:effectLst>
              </a:endParaRPr>
            </a:p>
            <a:p>
              <a:r>
                <a:rPr lang="en-US" sz="1600" dirty="0">
                  <a:ln w="0"/>
                  <a:solidFill>
                    <a:schemeClr val="tx1"/>
                  </a:solidFill>
                  <a:effectLst>
                    <a:outerShdw blurRad="38100" dist="19050" dir="2700000" algn="tl" rotWithShape="0">
                      <a:schemeClr val="dk1">
                        <a:alpha val="40000"/>
                      </a:schemeClr>
                    </a:outerShdw>
                  </a:effectLst>
                </a:rPr>
                <a:t>9</a:t>
              </a:r>
            </a:p>
            <a:p>
              <a:r>
                <a:rPr lang="en-US" sz="1600" dirty="0">
                  <a:ln w="0"/>
                  <a:solidFill>
                    <a:schemeClr val="tx1"/>
                  </a:solidFill>
                  <a:effectLst>
                    <a:outerShdw blurRad="38100" dist="19050" dir="2700000" algn="tl" rotWithShape="0">
                      <a:schemeClr val="dk1">
                        <a:alpha val="40000"/>
                      </a:schemeClr>
                    </a:outerShdw>
                  </a:effectLst>
                </a:rPr>
                <a:t>9</a:t>
              </a:r>
            </a:p>
          </p:txBody>
        </p:sp>
        <p:cxnSp>
          <p:nvCxnSpPr>
            <p:cNvPr id="10" name="Straight Connector 9">
              <a:extLst>
                <a:ext uri="{FF2B5EF4-FFF2-40B4-BE49-F238E27FC236}">
                  <a16:creationId xmlns:a16="http://schemas.microsoft.com/office/drawing/2014/main" id="{FB425D83-8087-462E-8F34-A19D604B0350}"/>
                </a:ext>
              </a:extLst>
            </p:cNvPr>
            <p:cNvCxnSpPr/>
            <p:nvPr/>
          </p:nvCxnSpPr>
          <p:spPr>
            <a:xfrm>
              <a:off x="3877898" y="4698760"/>
              <a:ext cx="4675694" cy="0"/>
            </a:xfrm>
            <a:prstGeom prst="line">
              <a:avLst/>
            </a:prstGeom>
            <a:ln/>
          </p:spPr>
          <p:style>
            <a:lnRef idx="1">
              <a:schemeClr val="accent6"/>
            </a:lnRef>
            <a:fillRef idx="0">
              <a:schemeClr val="accent6"/>
            </a:fillRef>
            <a:effectRef idx="0">
              <a:schemeClr val="accent6"/>
            </a:effectRef>
            <a:fontRef idx="minor">
              <a:schemeClr val="tx1"/>
            </a:fontRef>
          </p:style>
        </p:cxnSp>
      </p:grpSp>
      <p:sp>
        <p:nvSpPr>
          <p:cNvPr id="14" name="Rectangle 13">
            <a:extLst>
              <a:ext uri="{FF2B5EF4-FFF2-40B4-BE49-F238E27FC236}">
                <a16:creationId xmlns:a16="http://schemas.microsoft.com/office/drawing/2014/main" id="{BA1D6D53-46C6-4B0C-9371-432FC8AB6632}"/>
              </a:ext>
            </a:extLst>
          </p:cNvPr>
          <p:cNvSpPr/>
          <p:nvPr/>
        </p:nvSpPr>
        <p:spPr>
          <a:xfrm>
            <a:off x="5526853" y="1472284"/>
            <a:ext cx="3457575" cy="10310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NOTE: This is unboxing.</a:t>
            </a:r>
          </a:p>
        </p:txBody>
      </p:sp>
    </p:spTree>
    <p:extLst>
      <p:ext uri="{BB962C8B-B14F-4D97-AF65-F5344CB8AC3E}">
        <p14:creationId xmlns:p14="http://schemas.microsoft.com/office/powerpoint/2010/main" val="2619193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type="lt">
                                    <p:tmAbs val="0"/>
                                  </p:iterate>
                                  <p:childTnLst>
                                    <p:set>
                                      <p:cBhvr>
                                        <p:cTn id="16" dur="1" fill="hold">
                                          <p:stCondLst>
                                            <p:cond delay="0"/>
                                          </p:stCondLst>
                                        </p:cTn>
                                        <p:tgtEl>
                                          <p:spTgt spid="7">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iterate type="lt">
                                    <p:tmAbs val="0"/>
                                  </p:iterate>
                                  <p:childTnLst>
                                    <p:set>
                                      <p:cBhvr>
                                        <p:cTn id="18" dur="1" fill="hold">
                                          <p:stCondLst>
                                            <p:cond delay="0"/>
                                          </p:stCondLst>
                                        </p:cTn>
                                        <p:tgtEl>
                                          <p:spTgt spid="7">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
                                            <p:txEl>
                                              <p:pRg st="10" end="1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
                                            <p:txEl>
                                              <p:pRg st="11" end="11"/>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
                                            <p:txEl>
                                              <p:pRg st="12" end="1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5" presetClass="emph" presetSubtype="0" nodeType="clickEffect">
                                  <p:stCondLst>
                                    <p:cond delay="0"/>
                                  </p:stCondLst>
                                  <p:iterate type="lt">
                                    <p:tmAbs val="25"/>
                                  </p:iterate>
                                  <p:childTnLst>
                                    <p:set>
                                      <p:cBhvr override="childStyle">
                                        <p:cTn id="42" dur="indefinite"/>
                                        <p:tgtEl>
                                          <p:spTgt spid="7">
                                            <p:txEl>
                                              <p:pRg st="4" end="4"/>
                                            </p:txEl>
                                          </p:spTgt>
                                        </p:tgtEl>
                                        <p:attrNameLst>
                                          <p:attrName>style.fontWeight</p:attrName>
                                        </p:attrNameLst>
                                      </p:cBhvr>
                                      <p:to>
                                        <p:strVal val="bold"/>
                                      </p:to>
                                    </p:set>
                                  </p:childTnLst>
                                </p:cTn>
                              </p:par>
                              <p:par>
                                <p:cTn id="43" presetID="15" presetClass="emph" presetSubtype="0" nodeType="withEffect">
                                  <p:stCondLst>
                                    <p:cond delay="0"/>
                                  </p:stCondLst>
                                  <p:iterate type="lt">
                                    <p:tmAbs val="25"/>
                                  </p:iterate>
                                  <p:childTnLst>
                                    <p:set>
                                      <p:cBhvr override="childStyle">
                                        <p:cTn id="44" dur="indefinite"/>
                                        <p:tgtEl>
                                          <p:spTgt spid="7">
                                            <p:txEl>
                                              <p:pRg st="5" end="5"/>
                                            </p:txEl>
                                          </p:spTgt>
                                        </p:tgtEl>
                                        <p:attrNameLst>
                                          <p:attrName>style.fontWeight</p:attrName>
                                        </p:attrNameLst>
                                      </p:cBhvr>
                                      <p:to>
                                        <p:strVal val="bold"/>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P spid="14"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CB1AB-B8DD-95D9-91B7-7FD9964AC23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CE12895-266B-8BC9-B61F-87545E25A7EA}"/>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106</a:t>
            </a:fld>
            <a:endParaRPr lang="en-US"/>
          </a:p>
        </p:txBody>
      </p:sp>
      <p:sp>
        <p:nvSpPr>
          <p:cNvPr id="4" name="Google Shape;212;p15">
            <a:extLst>
              <a:ext uri="{FF2B5EF4-FFF2-40B4-BE49-F238E27FC236}">
                <a16:creationId xmlns:a16="http://schemas.microsoft.com/office/drawing/2014/main" id="{487829A4-65F9-33D8-DE1A-DF1B2E02B4FC}"/>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Object Class</a:t>
            </a:r>
          </a:p>
        </p:txBody>
      </p:sp>
      <p:pic>
        <p:nvPicPr>
          <p:cNvPr id="6" name="Picture 5">
            <a:extLst>
              <a:ext uri="{FF2B5EF4-FFF2-40B4-BE49-F238E27FC236}">
                <a16:creationId xmlns:a16="http://schemas.microsoft.com/office/drawing/2014/main" id="{37AC04A4-2C89-9D5C-FE4A-EBD81A027296}"/>
              </a:ext>
            </a:extLst>
          </p:cNvPr>
          <p:cNvPicPr>
            <a:picLocks noChangeAspect="1"/>
          </p:cNvPicPr>
          <p:nvPr/>
        </p:nvPicPr>
        <p:blipFill>
          <a:blip r:embed="rId2"/>
          <a:stretch>
            <a:fillRect/>
          </a:stretch>
        </p:blipFill>
        <p:spPr>
          <a:xfrm>
            <a:off x="7036646" y="0"/>
            <a:ext cx="2107354" cy="773112"/>
          </a:xfrm>
          <a:prstGeom prst="rect">
            <a:avLst/>
          </a:prstGeom>
        </p:spPr>
      </p:pic>
    </p:spTree>
    <p:extLst>
      <p:ext uri="{BB962C8B-B14F-4D97-AF65-F5344CB8AC3E}">
        <p14:creationId xmlns:p14="http://schemas.microsoft.com/office/powerpoint/2010/main" val="282259632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28"/>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a:t>The Object Class</a:t>
            </a:r>
            <a:endParaRPr/>
          </a:p>
        </p:txBody>
      </p:sp>
      <p:sp>
        <p:nvSpPr>
          <p:cNvPr id="303" name="Google Shape;303;p28"/>
          <p:cNvSpPr txBox="1">
            <a:spLocks noGrp="1"/>
          </p:cNvSpPr>
          <p:nvPr>
            <p:ph type="body" idx="1"/>
          </p:nvPr>
        </p:nvSpPr>
        <p:spPr>
          <a:xfrm>
            <a:off x="380010" y="1481446"/>
            <a:ext cx="8383980" cy="4882266"/>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2800"/>
              <a:buChar char="•"/>
            </a:pPr>
            <a:r>
              <a:rPr lang="en-US" sz="2400" dirty="0"/>
              <a:t>Provides baseline functionality for all objects and classes.</a:t>
            </a:r>
          </a:p>
          <a:p>
            <a:pPr marL="342900" lvl="0" indent="-342900" algn="l" rtl="0">
              <a:spcBef>
                <a:spcPts val="0"/>
              </a:spcBef>
              <a:spcAft>
                <a:spcPts val="0"/>
              </a:spcAft>
              <a:buSzPts val="2800"/>
              <a:buChar char="•"/>
            </a:pPr>
            <a:r>
              <a:rPr lang="en-US" sz="2400" dirty="0"/>
              <a:t>All classes from Java implicitly inherit from the Object class. (we will cover inheritance in more detail later).</a:t>
            </a:r>
            <a:endParaRPr sz="2400" dirty="0"/>
          </a:p>
          <a:p>
            <a:pPr marL="342900" lvl="0" indent="-342900" algn="l" rtl="0">
              <a:spcBef>
                <a:spcPts val="560"/>
              </a:spcBef>
              <a:spcAft>
                <a:spcPts val="0"/>
              </a:spcAft>
              <a:buSzPts val="2800"/>
              <a:buChar char="•"/>
            </a:pPr>
            <a:r>
              <a:rPr lang="en-US" sz="2400" dirty="0"/>
              <a:t>Through inheritance, every class has access to the Object class’ methods.</a:t>
            </a:r>
            <a:endParaRPr sz="2400" dirty="0"/>
          </a:p>
          <a:p>
            <a:pPr marL="342900" lvl="0" indent="-342900" algn="l" rtl="0">
              <a:spcBef>
                <a:spcPts val="560"/>
              </a:spcBef>
              <a:spcAft>
                <a:spcPts val="0"/>
              </a:spcAft>
              <a:buSzPts val="2800"/>
              <a:buChar char="•"/>
            </a:pPr>
            <a:r>
              <a:rPr lang="en-US" sz="2400" dirty="0"/>
              <a:t>Every class can also override these methods to provide a unique implementation (This is an example of polymorphism, which is another topic will examine in more detail later)</a:t>
            </a:r>
            <a:endParaRPr sz="2400" dirty="0"/>
          </a:p>
          <a:p>
            <a:pPr marL="742950" lvl="1" indent="-285750" algn="l" rtl="0">
              <a:spcBef>
                <a:spcPts val="480"/>
              </a:spcBef>
              <a:spcAft>
                <a:spcPts val="0"/>
              </a:spcAft>
              <a:buSzPts val="2400"/>
              <a:buChar char="–"/>
            </a:pPr>
            <a:r>
              <a:rPr lang="en-US" sz="2000" dirty="0"/>
              <a:t>For some methods, this is expected.</a:t>
            </a:r>
            <a:endParaRPr sz="2000" dirty="0"/>
          </a:p>
        </p:txBody>
      </p:sp>
      <p:sp>
        <p:nvSpPr>
          <p:cNvPr id="304" name="Google Shape;304;p28"/>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107</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0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0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 grpId="0" build="p"/>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29"/>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a:t>Object Class Methods</a:t>
            </a:r>
            <a:endParaRPr/>
          </a:p>
        </p:txBody>
      </p:sp>
      <p:sp>
        <p:nvSpPr>
          <p:cNvPr id="310" name="Google Shape;310;p29"/>
          <p:cNvSpPr txBox="1">
            <a:spLocks noGrp="1"/>
          </p:cNvSpPr>
          <p:nvPr>
            <p:ph type="body" idx="1"/>
          </p:nvPr>
        </p:nvSpPr>
        <p:spPr>
          <a:xfrm>
            <a:off x="380010" y="1481446"/>
            <a:ext cx="8383980" cy="4525963"/>
          </a:xfrm>
          <a:prstGeom prst="rect">
            <a:avLst/>
          </a:prstGeom>
          <a:noFill/>
          <a:ln>
            <a:noFill/>
          </a:ln>
        </p:spPr>
        <p:txBody>
          <a:bodyPr spcFirstLastPara="1" wrap="square" lIns="91425" tIns="45700" rIns="91425" bIns="45700" anchor="t" anchorCtr="0">
            <a:noAutofit/>
          </a:bodyPr>
          <a:lstStyle/>
          <a:p>
            <a:pPr marL="342900" lvl="0" indent="-342900" algn="l" rtl="0">
              <a:lnSpc>
                <a:spcPct val="80000"/>
              </a:lnSpc>
              <a:spcBef>
                <a:spcPts val="0"/>
              </a:spcBef>
              <a:spcAft>
                <a:spcPts val="0"/>
              </a:spcAft>
              <a:buSzPts val="2380"/>
              <a:buChar char="•"/>
            </a:pPr>
            <a:r>
              <a:rPr lang="en-US" sz="2380" dirty="0" err="1">
                <a:latin typeface="Courier New"/>
                <a:ea typeface="Courier New"/>
                <a:cs typeface="Courier New"/>
                <a:sym typeface="Courier New"/>
              </a:rPr>
              <a:t>hashCode</a:t>
            </a:r>
            <a:r>
              <a:rPr lang="en-US" sz="2380" dirty="0">
                <a:latin typeface="Courier New"/>
                <a:ea typeface="Courier New"/>
                <a:cs typeface="Courier New"/>
                <a:sym typeface="Courier New"/>
              </a:rPr>
              <a:t>() </a:t>
            </a:r>
            <a:r>
              <a:rPr lang="en-US" sz="2380" dirty="0"/>
              <a:t>: generates an integer that uniquely identifies an object from all other objects of a class. By default, typically uses the memory address of the object (JVM-specific).</a:t>
            </a:r>
            <a:endParaRPr dirty="0"/>
          </a:p>
          <a:p>
            <a:pPr marL="342900" lvl="0" indent="-342900" algn="l" rtl="0">
              <a:lnSpc>
                <a:spcPct val="80000"/>
              </a:lnSpc>
              <a:spcBef>
                <a:spcPts val="476"/>
              </a:spcBef>
              <a:spcAft>
                <a:spcPts val="0"/>
              </a:spcAft>
              <a:buSzPts val="2380"/>
              <a:buChar char="•"/>
            </a:pPr>
            <a:r>
              <a:rPr lang="en-US" sz="2380" dirty="0">
                <a:latin typeface="Courier New"/>
                <a:ea typeface="Courier New"/>
                <a:cs typeface="Courier New"/>
                <a:sym typeface="Courier New"/>
              </a:rPr>
              <a:t>equals() </a:t>
            </a:r>
            <a:r>
              <a:rPr lang="en-US" sz="2380" dirty="0"/>
              <a:t>: determines if two objects are </a:t>
            </a:r>
            <a:r>
              <a:rPr lang="en-US" sz="2380" i="1" dirty="0"/>
              <a:t>equivalent</a:t>
            </a:r>
            <a:r>
              <a:rPr lang="en-US" sz="2380" dirty="0"/>
              <a:t>, i.e. whether or not they have the same values in every variable. Uses the result of </a:t>
            </a:r>
            <a:r>
              <a:rPr lang="en-US" sz="2380" dirty="0" err="1">
                <a:latin typeface="Courier New"/>
                <a:ea typeface="Courier New"/>
                <a:cs typeface="Courier New"/>
                <a:sym typeface="Courier New"/>
              </a:rPr>
              <a:t>hashCode</a:t>
            </a:r>
            <a:r>
              <a:rPr lang="en-US" sz="2380" dirty="0">
                <a:latin typeface="Courier New"/>
                <a:ea typeface="Courier New"/>
                <a:cs typeface="Courier New"/>
                <a:sym typeface="Courier New"/>
              </a:rPr>
              <a:t>() </a:t>
            </a:r>
            <a:r>
              <a:rPr lang="en-US" sz="2380" dirty="0"/>
              <a:t>by default.</a:t>
            </a:r>
            <a:endParaRPr dirty="0"/>
          </a:p>
          <a:p>
            <a:pPr marL="342900" lvl="0" indent="-342900" algn="l" rtl="0">
              <a:lnSpc>
                <a:spcPct val="80000"/>
              </a:lnSpc>
              <a:spcBef>
                <a:spcPts val="476"/>
              </a:spcBef>
              <a:spcAft>
                <a:spcPts val="0"/>
              </a:spcAft>
              <a:buSzPts val="2380"/>
              <a:buChar char="•"/>
            </a:pPr>
            <a:r>
              <a:rPr lang="en-US" sz="2380" dirty="0" err="1">
                <a:latin typeface="Courier New"/>
                <a:ea typeface="Courier New"/>
                <a:cs typeface="Courier New"/>
                <a:sym typeface="Courier New"/>
              </a:rPr>
              <a:t>toString</a:t>
            </a:r>
            <a:r>
              <a:rPr lang="en-US" sz="2380" dirty="0">
                <a:latin typeface="Courier New"/>
                <a:ea typeface="Courier New"/>
                <a:cs typeface="Courier New"/>
                <a:sym typeface="Courier New"/>
              </a:rPr>
              <a:t>() </a:t>
            </a:r>
            <a:r>
              <a:rPr lang="en-US" sz="2380" dirty="0"/>
              <a:t>: returns a String representation of the object. By default, prints the class name and the memory address of the object.</a:t>
            </a:r>
            <a:endParaRPr dirty="0"/>
          </a:p>
          <a:p>
            <a:pPr marL="342900" lvl="0" indent="-342900" algn="l" rtl="0">
              <a:lnSpc>
                <a:spcPct val="80000"/>
              </a:lnSpc>
              <a:spcBef>
                <a:spcPts val="476"/>
              </a:spcBef>
              <a:spcAft>
                <a:spcPts val="0"/>
              </a:spcAft>
              <a:buSzPts val="2380"/>
              <a:buChar char="•"/>
            </a:pPr>
            <a:r>
              <a:rPr lang="en-US" sz="2380" dirty="0">
                <a:solidFill>
                  <a:srgbClr val="474C55"/>
                </a:solidFill>
                <a:latin typeface="Courier New"/>
                <a:ea typeface="Courier New"/>
                <a:cs typeface="Courier New"/>
                <a:sym typeface="Courier New"/>
              </a:rPr>
              <a:t>finalize() </a:t>
            </a:r>
            <a:r>
              <a:rPr lang="en-US" sz="2380" dirty="0">
                <a:solidFill>
                  <a:srgbClr val="474C55"/>
                </a:solidFill>
                <a:latin typeface="Arial"/>
                <a:ea typeface="Arial"/>
                <a:cs typeface="Arial"/>
                <a:sym typeface="Arial"/>
              </a:rPr>
              <a:t>: called by the garbage collector when there are no more references to the object, just before the instance is destroyed.</a:t>
            </a:r>
            <a:endParaRPr dirty="0"/>
          </a:p>
        </p:txBody>
      </p:sp>
      <p:sp>
        <p:nvSpPr>
          <p:cNvPr id="311" name="Google Shape;311;p29"/>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108</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1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0" grpId="0" build="p"/>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797B6-EE4F-4922-A1B5-6361E58402FB}"/>
              </a:ext>
            </a:extLst>
          </p:cNvPr>
          <p:cNvSpPr>
            <a:spLocks noGrp="1"/>
          </p:cNvSpPr>
          <p:nvPr>
            <p:ph type="title"/>
          </p:nvPr>
        </p:nvSpPr>
        <p:spPr/>
        <p:txBody>
          <a:bodyPr/>
          <a:lstStyle/>
          <a:p>
            <a:r>
              <a:rPr lang="en-US" dirty="0"/>
              <a:t>==</a:t>
            </a:r>
          </a:p>
        </p:txBody>
      </p:sp>
      <p:sp>
        <p:nvSpPr>
          <p:cNvPr id="3" name="Content Placeholder 2">
            <a:extLst>
              <a:ext uri="{FF2B5EF4-FFF2-40B4-BE49-F238E27FC236}">
                <a16:creationId xmlns:a16="http://schemas.microsoft.com/office/drawing/2014/main" id="{FDD90AAC-1BA1-4DC2-BE7C-4A2E657CFC88}"/>
              </a:ext>
            </a:extLst>
          </p:cNvPr>
          <p:cNvSpPr>
            <a:spLocks noGrp="1"/>
          </p:cNvSpPr>
          <p:nvPr>
            <p:ph idx="1"/>
          </p:nvPr>
        </p:nvSpPr>
        <p:spPr/>
        <p:txBody>
          <a:bodyPr anchor="ctr"/>
          <a:lstStyle/>
          <a:p>
            <a:r>
              <a:rPr lang="en-US" dirty="0"/>
              <a:t>Let’s examine the difference between “two objects are the same” and “two objects are equivalent”</a:t>
            </a:r>
          </a:p>
          <a:p>
            <a:endParaRPr lang="en-US" dirty="0"/>
          </a:p>
          <a:p>
            <a:r>
              <a:rPr lang="en-US" dirty="0"/>
              <a:t>The == operator is applied to the references to see if they are the same</a:t>
            </a:r>
          </a:p>
        </p:txBody>
      </p:sp>
      <p:sp>
        <p:nvSpPr>
          <p:cNvPr id="4" name="Slide Number Placeholder 3">
            <a:extLst>
              <a:ext uri="{FF2B5EF4-FFF2-40B4-BE49-F238E27FC236}">
                <a16:creationId xmlns:a16="http://schemas.microsoft.com/office/drawing/2014/main" id="{0E5A2662-84D5-4FA2-8ED9-006DE29987E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28BC2-ACA3-447C-A909-F3F49211C066}" type="slidenum">
              <a:rPr kumimoji="0" lang="en-US" sz="1200" b="0" i="0" u="none" strike="noStrike" kern="1200" cap="none" spc="0" normalizeH="0" baseline="0" noProof="0" smtClean="0">
                <a:ln>
                  <a:noFill/>
                </a:ln>
                <a:solidFill>
                  <a:srgbClr val="A0A1A0"/>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109</a:t>
            </a:fld>
            <a:endParaRPr kumimoji="0" lang="en-US" sz="1200" b="0" i="0" u="none" strike="noStrike" kern="1200" cap="none" spc="0" normalizeH="0" baseline="0" noProof="0" dirty="0">
              <a:ln>
                <a:noFill/>
              </a:ln>
              <a:solidFill>
                <a:srgbClr val="A0A1A0"/>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95502602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8B24C-3273-436B-AFE3-941762618E9D}"/>
              </a:ext>
            </a:extLst>
          </p:cNvPr>
          <p:cNvSpPr>
            <a:spLocks noGrp="1"/>
          </p:cNvSpPr>
          <p:nvPr>
            <p:ph type="title"/>
          </p:nvPr>
        </p:nvSpPr>
        <p:spPr/>
        <p:txBody>
          <a:bodyPr/>
          <a:lstStyle/>
          <a:p>
            <a:r>
              <a:rPr lang="en-US" dirty="0"/>
              <a:t>Example:</a:t>
            </a:r>
          </a:p>
        </p:txBody>
      </p:sp>
      <p:sp>
        <p:nvSpPr>
          <p:cNvPr id="4" name="Slide Number Placeholder 3">
            <a:extLst>
              <a:ext uri="{FF2B5EF4-FFF2-40B4-BE49-F238E27FC236}">
                <a16:creationId xmlns:a16="http://schemas.microsoft.com/office/drawing/2014/main" id="{451DDA18-BD90-429F-9016-54E7D66E6E8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28BC2-ACA3-447C-A909-F3F49211C066}" type="slidenum">
              <a:rPr kumimoji="0" lang="en-US" sz="1200" b="0" i="0" u="none" strike="noStrike" kern="1200" cap="none" spc="0" normalizeH="0" baseline="0" noProof="0" smtClean="0">
                <a:ln>
                  <a:noFill/>
                </a:ln>
                <a:solidFill>
                  <a:srgbClr val="A0A1A0"/>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110</a:t>
            </a:fld>
            <a:endParaRPr kumimoji="0" lang="en-US" sz="1200" b="0" i="0" u="none" strike="noStrike" kern="1200" cap="none" spc="0" normalizeH="0" baseline="0" noProof="0" dirty="0">
              <a:ln>
                <a:noFill/>
              </a:ln>
              <a:solidFill>
                <a:srgbClr val="A0A1A0"/>
              </a:solidFill>
              <a:effectLst/>
              <a:uLnTx/>
              <a:uFillTx/>
              <a:latin typeface="Arial" panose="020B0604020202020204" pitchFamily="34" charset="0"/>
              <a:ea typeface="+mn-ea"/>
              <a:cs typeface="Arial" panose="020B0604020202020204" pitchFamily="34" charset="0"/>
            </a:endParaRPr>
          </a:p>
        </p:txBody>
      </p:sp>
      <p:sp>
        <p:nvSpPr>
          <p:cNvPr id="6" name="Google Shape;219;p16">
            <a:extLst>
              <a:ext uri="{FF2B5EF4-FFF2-40B4-BE49-F238E27FC236}">
                <a16:creationId xmlns:a16="http://schemas.microsoft.com/office/drawing/2014/main" id="{6213E414-C883-402E-BFDF-261DCEE9F399}"/>
              </a:ext>
            </a:extLst>
          </p:cNvPr>
          <p:cNvSpPr txBox="1">
            <a:spLocks noGrp="1"/>
          </p:cNvSpPr>
          <p:nvPr>
            <p:ph idx="1"/>
          </p:nvPr>
        </p:nvSpPr>
        <p:spPr>
          <a:xfrm>
            <a:off x="379412" y="1262305"/>
            <a:ext cx="8385175" cy="5466531"/>
          </a:xfrm>
          <a:prstGeom prst="rect">
            <a:avLst/>
          </a:prstGeom>
          <a:ln/>
        </p:spPr>
        <p:style>
          <a:lnRef idx="1">
            <a:schemeClr val="accent2"/>
          </a:lnRef>
          <a:fillRef idx="2">
            <a:schemeClr val="accent2"/>
          </a:fillRef>
          <a:effectRef idx="1">
            <a:schemeClr val="accent2"/>
          </a:effectRef>
          <a:fontRef idx="minor">
            <a:schemeClr val="dk1"/>
          </a:fontRef>
        </p:style>
        <p:txBody>
          <a:bodyPr spcFirstLastPara="1" wrap="square" lIns="91425" tIns="45700" rIns="91425" bIns="45700" anchor="t" anchorCtr="0">
            <a:noAutofit/>
          </a:bodyPr>
          <a:lstStyle/>
          <a:p>
            <a:pPr marL="228600" lvl="1" indent="0" algn="l" defTabSz="457200" rtl="0">
              <a:lnSpc>
                <a:spcPct val="90000"/>
              </a:lnSpc>
              <a:spcBef>
                <a:spcPts val="480"/>
              </a:spcBef>
              <a:spcAft>
                <a:spcPts val="0"/>
              </a:spcAft>
              <a:buSzPts val="2400"/>
              <a:buNone/>
            </a:pPr>
            <a:r>
              <a:rPr lang="en-US" sz="1600" dirty="0">
                <a:latin typeface="Courier New" panose="02070309020205020404" pitchFamily="49" charset="0"/>
                <a:cs typeface="Courier New" panose="02070309020205020404" pitchFamily="49" charset="0"/>
              </a:rPr>
              <a:t>public class </a:t>
            </a:r>
            <a:r>
              <a:rPr lang="en-US" sz="1600" dirty="0" err="1">
                <a:latin typeface="Courier New" panose="02070309020205020404" pitchFamily="49" charset="0"/>
                <a:cs typeface="Courier New" panose="02070309020205020404" pitchFamily="49" charset="0"/>
              </a:rPr>
              <a:t>EqualsExample</a:t>
            </a:r>
            <a:r>
              <a:rPr lang="en-US" sz="1600" dirty="0">
                <a:latin typeface="Courier New" panose="02070309020205020404" pitchFamily="49" charset="0"/>
                <a:cs typeface="Courier New" panose="02070309020205020404" pitchFamily="49" charset="0"/>
              </a:rPr>
              <a:t> {</a:t>
            </a:r>
          </a:p>
          <a:p>
            <a:pPr marL="228600" lvl="1" indent="0" algn="l" defTabSz="457200" rtl="0">
              <a:lnSpc>
                <a:spcPct val="90000"/>
              </a:lnSpc>
              <a:spcBef>
                <a:spcPts val="480"/>
              </a:spcBef>
              <a:spcAft>
                <a:spcPts val="0"/>
              </a:spcAft>
              <a:buSzPts val="2400"/>
              <a:buNone/>
            </a:pPr>
            <a:r>
              <a:rPr lang="en-US" sz="1600" dirty="0">
                <a:latin typeface="Courier New" panose="02070309020205020404" pitchFamily="49" charset="0"/>
                <a:cs typeface="Courier New" panose="02070309020205020404" pitchFamily="49" charset="0"/>
              </a:rPr>
              <a:t>	public static void main(String[] </a:t>
            </a:r>
            <a:r>
              <a:rPr lang="en-US" sz="1600" dirty="0" err="1">
                <a:latin typeface="Courier New" panose="02070309020205020404" pitchFamily="49" charset="0"/>
                <a:cs typeface="Courier New" panose="02070309020205020404" pitchFamily="49" charset="0"/>
              </a:rPr>
              <a:t>args</a:t>
            </a:r>
            <a:r>
              <a:rPr lang="en-US" sz="1600" dirty="0">
                <a:latin typeface="Courier New" panose="02070309020205020404" pitchFamily="49" charset="0"/>
                <a:cs typeface="Courier New" panose="02070309020205020404" pitchFamily="49" charset="0"/>
              </a:rPr>
              <a:t>) {</a:t>
            </a:r>
          </a:p>
          <a:p>
            <a:pPr marL="228600" lvl="1" indent="0" algn="l" defTabSz="457200" rtl="0">
              <a:lnSpc>
                <a:spcPct val="90000"/>
              </a:lnSpc>
              <a:spcBef>
                <a:spcPts val="480"/>
              </a:spcBef>
              <a:spcAft>
                <a:spcPts val="0"/>
              </a:spcAft>
              <a:buSzPts val="2400"/>
              <a:buNone/>
            </a:pPr>
            <a:r>
              <a:rPr lang="en-US" sz="1600" dirty="0">
                <a:latin typeface="Courier New" panose="02070309020205020404" pitchFamily="49" charset="0"/>
                <a:cs typeface="Courier New" panose="02070309020205020404" pitchFamily="49" charset="0"/>
              </a:rPr>
              <a:t>		Value value1 = new Value();</a:t>
            </a:r>
          </a:p>
          <a:p>
            <a:pPr marL="228600" lvl="1" indent="0" algn="l" defTabSz="457200" rtl="0">
              <a:lnSpc>
                <a:spcPct val="90000"/>
              </a:lnSpc>
              <a:spcBef>
                <a:spcPts val="480"/>
              </a:spcBef>
              <a:spcAft>
                <a:spcPts val="0"/>
              </a:spcAft>
              <a:buSzPts val="2400"/>
              <a:buNone/>
            </a:pPr>
            <a:r>
              <a:rPr lang="en-US" sz="1600" dirty="0">
                <a:latin typeface="Courier New" panose="02070309020205020404" pitchFamily="49" charset="0"/>
                <a:cs typeface="Courier New" panose="02070309020205020404" pitchFamily="49" charset="0"/>
              </a:rPr>
              <a:t>		Value value2 = new Value();</a:t>
            </a:r>
          </a:p>
          <a:p>
            <a:pPr marL="228600" lvl="1" indent="0" algn="l" defTabSz="457200" rtl="0">
              <a:lnSpc>
                <a:spcPct val="90000"/>
              </a:lnSpc>
              <a:spcBef>
                <a:spcPts val="480"/>
              </a:spcBef>
              <a:spcAft>
                <a:spcPts val="0"/>
              </a:spcAft>
              <a:buSzPts val="2400"/>
              <a:buNone/>
            </a:pPr>
            <a:r>
              <a:rPr lang="en-US" sz="1600" dirty="0">
                <a:latin typeface="Courier New" panose="02070309020205020404" pitchFamily="49" charset="0"/>
                <a:cs typeface="Courier New" panose="02070309020205020404" pitchFamily="49" charset="0"/>
              </a:rPr>
              <a:t>		Value value3 = value2;</a:t>
            </a:r>
          </a:p>
          <a:p>
            <a:pPr marL="228600" lvl="1" indent="0" algn="l" defTabSz="457200" rtl="0">
              <a:lnSpc>
                <a:spcPct val="90000"/>
              </a:lnSpc>
              <a:spcBef>
                <a:spcPts val="480"/>
              </a:spcBef>
              <a:spcAft>
                <a:spcPts val="0"/>
              </a:spcAft>
              <a:buSzPts val="2400"/>
              <a:buNone/>
            </a:pPr>
            <a:r>
              <a:rPr lang="en-US" sz="1600" dirty="0">
                <a:latin typeface="Courier New" panose="02070309020205020404" pitchFamily="49" charset="0"/>
                <a:cs typeface="Courier New" panose="02070309020205020404" pitchFamily="49" charset="0"/>
              </a:rPr>
              <a:t>		if(value1 == value2){</a:t>
            </a:r>
          </a:p>
          <a:p>
            <a:pPr marL="228600" lvl="1" indent="0" algn="l" defTabSz="457200" rtl="0">
              <a:lnSpc>
                <a:spcPct val="90000"/>
              </a:lnSpc>
              <a:spcBef>
                <a:spcPts val="480"/>
              </a:spcBef>
              <a:spcAft>
                <a:spcPts val="0"/>
              </a:spcAft>
              <a:buSzPts val="2400"/>
              <a:buNone/>
            </a:pP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System.out.println</a:t>
            </a:r>
            <a:r>
              <a:rPr lang="en-US" sz="1600" dirty="0">
                <a:latin typeface="Courier New" panose="02070309020205020404" pitchFamily="49" charset="0"/>
                <a:cs typeface="Courier New" panose="02070309020205020404" pitchFamily="49" charset="0"/>
              </a:rPr>
              <a:t>(“Value1 and value2 are equal”);</a:t>
            </a:r>
          </a:p>
          <a:p>
            <a:pPr marL="228600" lvl="1" indent="0" algn="l" defTabSz="457200" rtl="0">
              <a:lnSpc>
                <a:spcPct val="90000"/>
              </a:lnSpc>
              <a:spcBef>
                <a:spcPts val="480"/>
              </a:spcBef>
              <a:spcAft>
                <a:spcPts val="0"/>
              </a:spcAft>
              <a:buSzPts val="2400"/>
              <a:buNone/>
            </a:pPr>
            <a:r>
              <a:rPr lang="en-US" sz="1600" dirty="0">
                <a:latin typeface="Courier New" panose="02070309020205020404" pitchFamily="49" charset="0"/>
                <a:cs typeface="Courier New" panose="02070309020205020404" pitchFamily="49" charset="0"/>
              </a:rPr>
              <a:t>		}else{</a:t>
            </a:r>
          </a:p>
          <a:p>
            <a:pPr marL="228600" lvl="1" indent="0" defTabSz="457200">
              <a:lnSpc>
                <a:spcPct val="90000"/>
              </a:lnSpc>
              <a:spcBef>
                <a:spcPts val="480"/>
              </a:spcBef>
              <a:buSzPts val="2400"/>
              <a:buNone/>
            </a:pP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System.out.println</a:t>
            </a:r>
            <a:r>
              <a:rPr lang="en-US" sz="1600" dirty="0">
                <a:latin typeface="Courier New" panose="02070309020205020404" pitchFamily="49" charset="0"/>
                <a:cs typeface="Courier New" panose="02070309020205020404" pitchFamily="49" charset="0"/>
              </a:rPr>
              <a:t>(“Value1 and value2 are not equal”);</a:t>
            </a:r>
          </a:p>
          <a:p>
            <a:pPr marL="228600" lvl="1" indent="0" algn="l" defTabSz="457200" rtl="0">
              <a:lnSpc>
                <a:spcPct val="90000"/>
              </a:lnSpc>
              <a:spcBef>
                <a:spcPts val="480"/>
              </a:spcBef>
              <a:spcAft>
                <a:spcPts val="0"/>
              </a:spcAft>
              <a:buSzPts val="2400"/>
              <a:buNone/>
            </a:pPr>
            <a:r>
              <a:rPr lang="en-US" sz="1600" dirty="0">
                <a:latin typeface="Courier New" panose="02070309020205020404" pitchFamily="49" charset="0"/>
                <a:cs typeface="Courier New" panose="02070309020205020404" pitchFamily="49" charset="0"/>
              </a:rPr>
              <a:t>		}</a:t>
            </a:r>
          </a:p>
          <a:p>
            <a:pPr marL="228600" lvl="1" indent="0" algn="l" defTabSz="457200" rtl="0">
              <a:lnSpc>
                <a:spcPct val="90000"/>
              </a:lnSpc>
              <a:spcBef>
                <a:spcPts val="480"/>
              </a:spcBef>
              <a:spcAft>
                <a:spcPts val="0"/>
              </a:spcAft>
              <a:buSzPts val="2400"/>
              <a:buNone/>
            </a:pPr>
            <a:r>
              <a:rPr lang="en-US" sz="1600" dirty="0">
                <a:latin typeface="Courier New" panose="02070309020205020404" pitchFamily="49" charset="0"/>
                <a:cs typeface="Courier New" panose="02070309020205020404" pitchFamily="49" charset="0"/>
              </a:rPr>
              <a:t>		if(value2 == value3){</a:t>
            </a:r>
          </a:p>
          <a:p>
            <a:pPr marL="228600" lvl="1" indent="0" algn="l" defTabSz="457200" rtl="0">
              <a:lnSpc>
                <a:spcPct val="90000"/>
              </a:lnSpc>
              <a:spcBef>
                <a:spcPts val="480"/>
              </a:spcBef>
              <a:spcAft>
                <a:spcPts val="0"/>
              </a:spcAft>
              <a:buSzPts val="2400"/>
              <a:buNone/>
            </a:pP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System.out.println</a:t>
            </a:r>
            <a:r>
              <a:rPr lang="en-US" sz="1600" dirty="0">
                <a:latin typeface="Courier New" panose="02070309020205020404" pitchFamily="49" charset="0"/>
                <a:cs typeface="Courier New" panose="02070309020205020404" pitchFamily="49" charset="0"/>
              </a:rPr>
              <a:t>(“Value2 and value3 are equal”);</a:t>
            </a:r>
          </a:p>
          <a:p>
            <a:pPr marL="228600" lvl="1" indent="0" algn="l" defTabSz="457200" rtl="0">
              <a:lnSpc>
                <a:spcPct val="90000"/>
              </a:lnSpc>
              <a:spcBef>
                <a:spcPts val="480"/>
              </a:spcBef>
              <a:spcAft>
                <a:spcPts val="0"/>
              </a:spcAft>
              <a:buSzPts val="2400"/>
              <a:buNone/>
            </a:pPr>
            <a:r>
              <a:rPr lang="en-US" sz="1600" dirty="0">
                <a:latin typeface="Courier New" panose="02070309020205020404" pitchFamily="49" charset="0"/>
                <a:cs typeface="Courier New" panose="02070309020205020404" pitchFamily="49" charset="0"/>
              </a:rPr>
              <a:t>		}</a:t>
            </a:r>
          </a:p>
          <a:p>
            <a:pPr marL="228600" lvl="1" indent="0" algn="l" defTabSz="457200" rtl="0">
              <a:lnSpc>
                <a:spcPct val="90000"/>
              </a:lnSpc>
              <a:spcBef>
                <a:spcPts val="480"/>
              </a:spcBef>
              <a:spcAft>
                <a:spcPts val="0"/>
              </a:spcAft>
              <a:buSzPts val="2400"/>
              <a:buNone/>
            </a:pPr>
            <a:r>
              <a:rPr lang="en-US" sz="1600" dirty="0">
                <a:latin typeface="Courier New" panose="02070309020205020404" pitchFamily="49" charset="0"/>
                <a:cs typeface="Courier New" panose="02070309020205020404" pitchFamily="49" charset="0"/>
              </a:rPr>
              <a:t>	}</a:t>
            </a:r>
          </a:p>
          <a:p>
            <a:pPr marL="228600" lvl="1" indent="0" algn="l" defTabSz="457200" rtl="0">
              <a:lnSpc>
                <a:spcPct val="90000"/>
              </a:lnSpc>
              <a:spcBef>
                <a:spcPts val="480"/>
              </a:spcBef>
              <a:spcAft>
                <a:spcPts val="0"/>
              </a:spcAft>
              <a:buSzPts val="2400"/>
              <a:buNone/>
            </a:pPr>
            <a:r>
              <a:rPr lang="en-US" sz="1600" dirty="0">
                <a:latin typeface="Courier New" panose="02070309020205020404" pitchFamily="49" charset="0"/>
                <a:cs typeface="Courier New" panose="02070309020205020404" pitchFamily="49" charset="0"/>
              </a:rPr>
              <a:t>}</a:t>
            </a:r>
          </a:p>
          <a:p>
            <a:pPr marL="228600" lvl="1" indent="0" algn="l" defTabSz="457200" rtl="0">
              <a:lnSpc>
                <a:spcPct val="90000"/>
              </a:lnSpc>
              <a:spcBef>
                <a:spcPts val="480"/>
              </a:spcBef>
              <a:spcAft>
                <a:spcPts val="0"/>
              </a:spcAft>
              <a:buSzPts val="2400"/>
              <a:buNone/>
            </a:pPr>
            <a:r>
              <a:rPr lang="en-US" sz="1600" dirty="0">
                <a:latin typeface="Courier New" panose="02070309020205020404" pitchFamily="49" charset="0"/>
                <a:cs typeface="Courier New" panose="02070309020205020404" pitchFamily="49" charset="0"/>
              </a:rPr>
              <a:t>public class Value{</a:t>
            </a:r>
          </a:p>
          <a:p>
            <a:pPr marL="228600" lvl="1" indent="0" algn="l" defTabSz="457200" rtl="0">
              <a:lnSpc>
                <a:spcPct val="90000"/>
              </a:lnSpc>
              <a:spcBef>
                <a:spcPts val="480"/>
              </a:spcBef>
              <a:spcAft>
                <a:spcPts val="0"/>
              </a:spcAft>
              <a:buSzPts val="2400"/>
              <a:buNone/>
            </a:pPr>
            <a:r>
              <a:rPr lang="en-US" sz="1600" dirty="0">
                <a:latin typeface="Courier New" panose="02070309020205020404" pitchFamily="49" charset="0"/>
                <a:cs typeface="Courier New" panose="02070309020205020404" pitchFamily="49" charset="0"/>
              </a:rPr>
              <a:t>	int value = 10;</a:t>
            </a:r>
          </a:p>
          <a:p>
            <a:pPr marL="228600" lvl="1" indent="0" algn="l" defTabSz="457200" rtl="0">
              <a:lnSpc>
                <a:spcPct val="90000"/>
              </a:lnSpc>
              <a:spcBef>
                <a:spcPts val="480"/>
              </a:spcBef>
              <a:spcAft>
                <a:spcPts val="0"/>
              </a:spcAft>
              <a:buSzPts val="2400"/>
              <a:buNone/>
            </a:pPr>
            <a:r>
              <a:rPr lang="en-US" sz="1600" dirty="0">
                <a:latin typeface="Courier New" panose="02070309020205020404" pitchFamily="49" charset="0"/>
                <a:cs typeface="Courier New" panose="02070309020205020404" pitchFamily="49" charset="0"/>
              </a:rPr>
              <a:t>}</a:t>
            </a:r>
          </a:p>
        </p:txBody>
      </p:sp>
      <p:grpSp>
        <p:nvGrpSpPr>
          <p:cNvPr id="7" name="Group 6">
            <a:extLst>
              <a:ext uri="{FF2B5EF4-FFF2-40B4-BE49-F238E27FC236}">
                <a16:creationId xmlns:a16="http://schemas.microsoft.com/office/drawing/2014/main" id="{EBEEA319-7BF2-43DF-852E-C85AA8774CBF}"/>
              </a:ext>
            </a:extLst>
          </p:cNvPr>
          <p:cNvGrpSpPr/>
          <p:nvPr/>
        </p:nvGrpSpPr>
        <p:grpSpPr>
          <a:xfrm>
            <a:off x="4239491" y="5045474"/>
            <a:ext cx="3366655" cy="1100441"/>
            <a:chOff x="2396106" y="3134380"/>
            <a:chExt cx="4675694" cy="705331"/>
          </a:xfrm>
        </p:grpSpPr>
        <p:sp>
          <p:nvSpPr>
            <p:cNvPr id="8" name="Rectangle 7">
              <a:extLst>
                <a:ext uri="{FF2B5EF4-FFF2-40B4-BE49-F238E27FC236}">
                  <a16:creationId xmlns:a16="http://schemas.microsoft.com/office/drawing/2014/main" id="{8C4A4A53-609F-4CF8-B35A-0E750F8277E9}"/>
                </a:ext>
              </a:extLst>
            </p:cNvPr>
            <p:cNvSpPr/>
            <p:nvPr/>
          </p:nvSpPr>
          <p:spPr>
            <a:xfrm>
              <a:off x="2396106" y="3134380"/>
              <a:ext cx="4675694" cy="705331"/>
            </a:xfrm>
            <a:prstGeom prst="rect">
              <a:avLst/>
            </a:prstGeom>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w="0"/>
                  <a:solidFill>
                    <a:prstClr val="black"/>
                  </a:solidFill>
                  <a:effectLst/>
                  <a:uLnTx/>
                  <a:uFillTx/>
                  <a:latin typeface="Arial" panose="020B0604020202020204"/>
                  <a:ea typeface="+mn-ea"/>
                  <a:cs typeface="+mn-cs"/>
                </a:rPr>
                <a:t>Console Output: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w="0"/>
                <a:solidFill>
                  <a:prstClr val="black"/>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panose="020B0604020202020204"/>
                  <a:ea typeface="+mn-ea"/>
                  <a:cs typeface="Courier New" panose="02070309020205020404" pitchFamily="49" charset="0"/>
                </a:rPr>
                <a:t>Value1 and value2</a:t>
              </a:r>
              <a:r>
                <a:rPr kumimoji="0" lang="en-US" sz="1600" b="0" i="0" u="none" strike="noStrike" kern="1200" cap="none" spc="0" normalizeH="0" baseline="0" noProof="0" dirty="0">
                  <a:ln>
                    <a:noFill/>
                  </a:ln>
                  <a:solidFill>
                    <a:prstClr val="black"/>
                  </a:solidFill>
                  <a:effectLst/>
                  <a:uLnTx/>
                  <a:uFillTx/>
                  <a:latin typeface="Arial" panose="020B0604020202020204"/>
                  <a:ea typeface="+mn-ea"/>
                  <a:cs typeface="+mn-cs"/>
                </a:rPr>
                <a:t> are not equal.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w="0"/>
                  <a:solidFill>
                    <a:prstClr val="black"/>
                  </a:solidFill>
                  <a:effectLst/>
                  <a:uLnTx/>
                  <a:uFillTx/>
                  <a:latin typeface="Arial" panose="020B0604020202020204"/>
                  <a:ea typeface="+mn-ea"/>
                  <a:cs typeface="+mn-cs"/>
                </a:rPr>
                <a:t>Value2 and value3 are equal.</a:t>
              </a:r>
            </a:p>
          </p:txBody>
        </p:sp>
        <p:cxnSp>
          <p:nvCxnSpPr>
            <p:cNvPr id="9" name="Straight Connector 8">
              <a:extLst>
                <a:ext uri="{FF2B5EF4-FFF2-40B4-BE49-F238E27FC236}">
                  <a16:creationId xmlns:a16="http://schemas.microsoft.com/office/drawing/2014/main" id="{552DF449-38B6-4D8A-A283-4991A6D3E4DA}"/>
                </a:ext>
              </a:extLst>
            </p:cNvPr>
            <p:cNvCxnSpPr/>
            <p:nvPr/>
          </p:nvCxnSpPr>
          <p:spPr>
            <a:xfrm>
              <a:off x="2396106" y="3395368"/>
              <a:ext cx="4675694" cy="0"/>
            </a:xfrm>
            <a:prstGeom prst="line">
              <a:avLst/>
            </a:prstGeom>
            <a:ln/>
          </p:spPr>
          <p:style>
            <a:lnRef idx="1">
              <a:schemeClr val="accent6"/>
            </a:lnRef>
            <a:fillRef idx="2">
              <a:schemeClr val="accent6"/>
            </a:fillRef>
            <a:effectRef idx="1">
              <a:schemeClr val="accent6"/>
            </a:effectRef>
            <a:fontRef idx="minor">
              <a:schemeClr val="dk1"/>
            </a:fontRef>
          </p:style>
        </p:cxnSp>
      </p:grpSp>
    </p:spTree>
    <p:extLst>
      <p:ext uri="{BB962C8B-B14F-4D97-AF65-F5344CB8AC3E}">
        <p14:creationId xmlns:p14="http://schemas.microsoft.com/office/powerpoint/2010/main" val="684893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type="lt">
                                    <p:tmAbs val="0"/>
                                  </p:iterate>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iterate type="lt">
                                    <p:tmAbs val="0"/>
                                  </p:iterate>
                                  <p:childTnLst>
                                    <p:set>
                                      <p:cBhvr>
                                        <p:cTn id="14" dur="1" fill="hold">
                                          <p:stCondLst>
                                            <p:cond delay="0"/>
                                          </p:stCondLst>
                                        </p:cTn>
                                        <p:tgtEl>
                                          <p:spTgt spid="6">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iterate type="lt">
                                    <p:tmAbs val="0"/>
                                  </p:iterate>
                                  <p:childTnLst>
                                    <p:set>
                                      <p:cBhvr>
                                        <p:cTn id="1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type="lt">
                                    <p:tmAbs val="0"/>
                                  </p:iterate>
                                  <p:childTnLst>
                                    <p:set>
                                      <p:cBhvr>
                                        <p:cTn id="2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iterate type="lt">
                                    <p:tmAbs val="0"/>
                                  </p:iterate>
                                  <p:childTnLst>
                                    <p:set>
                                      <p:cBhvr>
                                        <p:cTn id="32" dur="1" fill="hold">
                                          <p:stCondLst>
                                            <p:cond delay="0"/>
                                          </p:stCondLst>
                                        </p:cTn>
                                        <p:tgtEl>
                                          <p:spTgt spid="6">
                                            <p:txEl>
                                              <p:pRg st="10" end="1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
                                            <p:txEl>
                                              <p:pRg st="11" end="11"/>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
                                            <p:txEl>
                                              <p:pRg st="12" end="12"/>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
                                            <p:txEl>
                                              <p:pRg st="13" end="13"/>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
                                            <p:txEl>
                                              <p:pRg st="14" end="14"/>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6">
                                            <p:txEl>
                                              <p:pRg st="15" end="15"/>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
                                            <p:txEl>
                                              <p:pRg st="16" end="16"/>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
                                            <p:txEl>
                                              <p:pRg st="17" end="17"/>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5" presetClass="emph" presetSubtype="0" nodeType="clickEffect">
                                  <p:stCondLst>
                                    <p:cond delay="0"/>
                                  </p:stCondLst>
                                  <p:iterate type="lt">
                                    <p:tmAbs val="25"/>
                                  </p:iterate>
                                  <p:childTnLst>
                                    <p:set>
                                      <p:cBhvr override="childStyle">
                                        <p:cTn id="56" dur="indefinite"/>
                                        <p:tgtEl>
                                          <p:spTgt spid="6">
                                            <p:txEl>
                                              <p:pRg st="2" end="2"/>
                                            </p:txEl>
                                          </p:spTgt>
                                        </p:tgtEl>
                                        <p:attrNameLst>
                                          <p:attrName>style.fontWeight</p:attrName>
                                        </p:attrNameLst>
                                      </p:cBhvr>
                                      <p:to>
                                        <p:strVal val="bold"/>
                                      </p:to>
                                    </p:set>
                                  </p:childTnLst>
                                </p:cTn>
                              </p:par>
                              <p:par>
                                <p:cTn id="57" presetID="15" presetClass="emph" presetSubtype="0" nodeType="withEffect">
                                  <p:stCondLst>
                                    <p:cond delay="0"/>
                                  </p:stCondLst>
                                  <p:iterate type="lt">
                                    <p:tmAbs val="25"/>
                                  </p:iterate>
                                  <p:childTnLst>
                                    <p:set>
                                      <p:cBhvr override="childStyle">
                                        <p:cTn id="58" dur="indefinite"/>
                                        <p:tgtEl>
                                          <p:spTgt spid="6">
                                            <p:txEl>
                                              <p:pRg st="3" end="3"/>
                                            </p:txEl>
                                          </p:spTgt>
                                        </p:tgtEl>
                                        <p:attrNameLst>
                                          <p:attrName>style.fontWeight</p:attrName>
                                        </p:attrNameLst>
                                      </p:cBhvr>
                                      <p:to>
                                        <p:strVal val="bold"/>
                                      </p:to>
                                    </p:set>
                                  </p:childTnLst>
                                </p:cTn>
                              </p:par>
                              <p:par>
                                <p:cTn id="59" presetID="15" presetClass="emph" presetSubtype="0" nodeType="withEffect">
                                  <p:stCondLst>
                                    <p:cond delay="0"/>
                                  </p:stCondLst>
                                  <p:iterate type="lt">
                                    <p:tmAbs val="25"/>
                                  </p:iterate>
                                  <p:childTnLst>
                                    <p:set>
                                      <p:cBhvr override="childStyle">
                                        <p:cTn id="60" dur="indefinite"/>
                                        <p:tgtEl>
                                          <p:spTgt spid="6">
                                            <p:txEl>
                                              <p:pRg st="5" end="5"/>
                                            </p:txEl>
                                          </p:spTgt>
                                        </p:tgtEl>
                                        <p:attrNameLst>
                                          <p:attrName>style.fontWeight</p:attrName>
                                        </p:attrNameLst>
                                      </p:cBhvr>
                                      <p:to>
                                        <p:strVal val="bold"/>
                                      </p:to>
                                    </p:set>
                                  </p:childTnLst>
                                </p:cTn>
                              </p:par>
                            </p:childTnLst>
                          </p:cTn>
                        </p:par>
                      </p:childTnLst>
                    </p:cTn>
                  </p:par>
                  <p:par>
                    <p:cTn id="61" fill="hold">
                      <p:stCondLst>
                        <p:cond delay="indefinite"/>
                      </p:stCondLst>
                      <p:childTnLst>
                        <p:par>
                          <p:cTn id="62" fill="hold">
                            <p:stCondLst>
                              <p:cond delay="0"/>
                            </p:stCondLst>
                            <p:childTnLst>
                              <p:par>
                                <p:cTn id="63" presetID="15" presetClass="emph" presetSubtype="0" nodeType="clickEffect">
                                  <p:stCondLst>
                                    <p:cond delay="0"/>
                                  </p:stCondLst>
                                  <p:iterate type="lt">
                                    <p:tmAbs val="25"/>
                                  </p:iterate>
                                  <p:childTnLst>
                                    <p:set>
                                      <p:cBhvr override="childStyle">
                                        <p:cTn id="64" dur="indefinite"/>
                                        <p:tgtEl>
                                          <p:spTgt spid="6">
                                            <p:txEl>
                                              <p:pRg st="4" end="4"/>
                                            </p:txEl>
                                          </p:spTgt>
                                        </p:tgtEl>
                                        <p:attrNameLst>
                                          <p:attrName>style.fontWeight</p:attrName>
                                        </p:attrNameLst>
                                      </p:cBhvr>
                                      <p:to>
                                        <p:strVal val="bold"/>
                                      </p:to>
                                    </p:set>
                                  </p:childTnLst>
                                </p:cTn>
                              </p:par>
                              <p:par>
                                <p:cTn id="65" presetID="15" presetClass="emph" presetSubtype="0" nodeType="withEffect">
                                  <p:stCondLst>
                                    <p:cond delay="0"/>
                                  </p:stCondLst>
                                  <p:iterate type="lt">
                                    <p:tmAbs val="25"/>
                                  </p:iterate>
                                  <p:childTnLst>
                                    <p:set>
                                      <p:cBhvr override="childStyle">
                                        <p:cTn id="66" dur="indefinite"/>
                                        <p:tgtEl>
                                          <p:spTgt spid="6">
                                            <p:txEl>
                                              <p:pRg st="10" end="10"/>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21"/>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dirty="0"/>
              <a:t>equals() vs ==</a:t>
            </a:r>
            <a:endParaRPr dirty="0"/>
          </a:p>
        </p:txBody>
      </p:sp>
      <p:sp>
        <p:nvSpPr>
          <p:cNvPr id="254" name="Google Shape;254;p21"/>
          <p:cNvSpPr txBox="1">
            <a:spLocks noGrp="1"/>
          </p:cNvSpPr>
          <p:nvPr>
            <p:ph type="body" idx="1"/>
          </p:nvPr>
        </p:nvSpPr>
        <p:spPr>
          <a:xfrm>
            <a:off x="380010" y="1481446"/>
            <a:ext cx="8383980" cy="5247391"/>
          </a:xfrm>
          <a:prstGeom prst="rect">
            <a:avLst/>
          </a:prstGeom>
          <a:noFill/>
          <a:ln>
            <a:noFill/>
          </a:ln>
        </p:spPr>
        <p:txBody>
          <a:bodyPr spcFirstLastPara="1" wrap="square" lIns="91425" tIns="45700" rIns="91425" bIns="45700" anchor="t" anchorCtr="0">
            <a:noAutofit/>
          </a:bodyPr>
          <a:lstStyle/>
          <a:p>
            <a:pPr marL="342900" lvl="0" indent="-342900" algn="l" rtl="0">
              <a:lnSpc>
                <a:spcPct val="80000"/>
              </a:lnSpc>
              <a:spcBef>
                <a:spcPts val="0"/>
              </a:spcBef>
              <a:spcAft>
                <a:spcPts val="0"/>
              </a:spcAft>
              <a:buSzPts val="2590"/>
              <a:buChar char="•"/>
            </a:pPr>
            <a:r>
              <a:rPr lang="en-US" sz="2590" dirty="0">
                <a:latin typeface="Courier New" panose="02070309020205020404" pitchFamily="49" charset="0"/>
                <a:cs typeface="Courier New" panose="02070309020205020404" pitchFamily="49" charset="0"/>
              </a:rPr>
              <a:t>.equals()</a:t>
            </a:r>
            <a:r>
              <a:rPr lang="en-US" sz="2590" dirty="0"/>
              <a:t> determines equivalency – whether two objects share the same state.</a:t>
            </a:r>
          </a:p>
          <a:p>
            <a:pPr marL="800100" lvl="1" indent="-342900">
              <a:lnSpc>
                <a:spcPct val="80000"/>
              </a:lnSpc>
              <a:spcBef>
                <a:spcPts val="0"/>
              </a:spcBef>
              <a:buSzPts val="2590"/>
              <a:buChar char="•"/>
            </a:pPr>
            <a:r>
              <a:rPr lang="en-US" dirty="0"/>
              <a:t>NOTE: by default, </a:t>
            </a:r>
            <a:r>
              <a:rPr lang="en-US" dirty="0">
                <a:latin typeface="Courier New" panose="02070309020205020404" pitchFamily="49" charset="0"/>
                <a:cs typeface="Courier New" panose="02070309020205020404" pitchFamily="49" charset="0"/>
              </a:rPr>
              <a:t>.equals() </a:t>
            </a:r>
            <a:r>
              <a:rPr lang="en-US" dirty="0"/>
              <a:t>performs the same comparison as ‘==‘.</a:t>
            </a:r>
            <a:endParaRPr dirty="0"/>
          </a:p>
          <a:p>
            <a:pPr marL="342900" lvl="0" indent="-342900" algn="l" rtl="0">
              <a:lnSpc>
                <a:spcPct val="80000"/>
              </a:lnSpc>
              <a:spcBef>
                <a:spcPts val="518"/>
              </a:spcBef>
              <a:spcAft>
                <a:spcPts val="0"/>
              </a:spcAft>
              <a:buSzPts val="2590"/>
              <a:buChar char="•"/>
            </a:pPr>
            <a:r>
              <a:rPr lang="en-US" sz="2590" dirty="0"/>
              <a:t>== determines equality, whether two variables have the same value (do reference variables point to the same object in memory?)</a:t>
            </a:r>
            <a:endParaRPr dirty="0"/>
          </a:p>
          <a:p>
            <a:pPr marL="742950" lvl="1" indent="-285750" algn="l" rtl="0">
              <a:lnSpc>
                <a:spcPct val="80000"/>
              </a:lnSpc>
              <a:spcBef>
                <a:spcPts val="444"/>
              </a:spcBef>
              <a:spcAft>
                <a:spcPts val="0"/>
              </a:spcAft>
              <a:buSzPts val="2220"/>
              <a:buChar char="–"/>
            </a:pPr>
            <a:r>
              <a:rPr lang="en-US" sz="2220" dirty="0"/>
              <a:t>In other words, == isn’t comparing the objects themselves, it’s comparing the reference variables used in the statement.</a:t>
            </a:r>
            <a:endParaRPr dirty="0"/>
          </a:p>
          <a:p>
            <a:pPr marL="342900" lvl="0" indent="-342900" algn="l" rtl="0">
              <a:lnSpc>
                <a:spcPct val="80000"/>
              </a:lnSpc>
              <a:spcBef>
                <a:spcPts val="518"/>
              </a:spcBef>
              <a:spcAft>
                <a:spcPts val="0"/>
              </a:spcAft>
              <a:buSzPts val="2590"/>
              <a:buChar char="•"/>
            </a:pPr>
            <a:r>
              <a:rPr lang="en-US" sz="2590" dirty="0"/>
              <a:t>Using == on Strings can be confusing. When used to compare String literals, it can return true when comparing two different String reference variables if the values are the same, because the JVM minimizes String object creation. </a:t>
            </a:r>
          </a:p>
        </p:txBody>
      </p:sp>
      <p:sp>
        <p:nvSpPr>
          <p:cNvPr id="255" name="Google Shape;255;p21"/>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111</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54">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 grpId="0" build="p"/>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A1BAE-D56C-4583-8324-396A314263B0}"/>
              </a:ext>
            </a:extLst>
          </p:cNvPr>
          <p:cNvSpPr>
            <a:spLocks noGrp="1"/>
          </p:cNvSpPr>
          <p:nvPr>
            <p:ph type="title"/>
          </p:nvPr>
        </p:nvSpPr>
        <p:spPr/>
        <p:txBody>
          <a:bodyPr/>
          <a:lstStyle/>
          <a:p>
            <a:r>
              <a:rPr lang="en-US" dirty="0" err="1"/>
              <a:t>toString</a:t>
            </a:r>
            <a:r>
              <a:rPr lang="en-US" dirty="0"/>
              <a:t>() method</a:t>
            </a:r>
          </a:p>
        </p:txBody>
      </p:sp>
      <p:sp>
        <p:nvSpPr>
          <p:cNvPr id="3" name="Text Placeholder 2">
            <a:extLst>
              <a:ext uri="{FF2B5EF4-FFF2-40B4-BE49-F238E27FC236}">
                <a16:creationId xmlns:a16="http://schemas.microsoft.com/office/drawing/2014/main" id="{56800A46-1E54-47AE-B06A-883C4F9805CE}"/>
              </a:ext>
            </a:extLst>
          </p:cNvPr>
          <p:cNvSpPr>
            <a:spLocks noGrp="1"/>
          </p:cNvSpPr>
          <p:nvPr>
            <p:ph type="body" idx="1"/>
          </p:nvPr>
        </p:nvSpPr>
        <p:spPr>
          <a:xfrm>
            <a:off x="380010" y="1481447"/>
            <a:ext cx="8383980" cy="2595652"/>
          </a:xfrm>
        </p:spPr>
        <p:txBody>
          <a:bodyPr>
            <a:normAutofit fontScale="77500" lnSpcReduction="20000"/>
          </a:bodyPr>
          <a:lstStyle/>
          <a:p>
            <a:r>
              <a:rPr lang="en-US" dirty="0"/>
              <a:t>Whenever you try to represent an object as a String (such as using String concatenation or when you print an object using </a:t>
            </a:r>
            <a:r>
              <a:rPr lang="en-US" dirty="0" err="1"/>
              <a:t>System.out.println</a:t>
            </a:r>
            <a:r>
              <a:rPr lang="en-US" dirty="0"/>
              <a:t>) The object’s </a:t>
            </a:r>
            <a:r>
              <a:rPr lang="en-US" dirty="0" err="1"/>
              <a:t>toString</a:t>
            </a:r>
            <a:r>
              <a:rPr lang="en-US" dirty="0"/>
              <a:t>() method is implicitly called.</a:t>
            </a:r>
          </a:p>
          <a:p>
            <a:r>
              <a:rPr lang="en-US" dirty="0"/>
              <a:t>By default, the </a:t>
            </a:r>
            <a:r>
              <a:rPr lang="en-US" dirty="0" err="1"/>
              <a:t>toString</a:t>
            </a:r>
            <a:r>
              <a:rPr lang="en-US" dirty="0"/>
              <a:t>() method references the </a:t>
            </a:r>
            <a:r>
              <a:rPr lang="en-US" dirty="0" err="1"/>
              <a:t>hashcode</a:t>
            </a:r>
            <a:r>
              <a:rPr lang="en-US" dirty="0"/>
              <a:t> of an object. By default, the </a:t>
            </a:r>
            <a:r>
              <a:rPr lang="en-US" dirty="0" err="1"/>
              <a:t>hashcode</a:t>
            </a:r>
            <a:r>
              <a:rPr lang="en-US" dirty="0"/>
              <a:t> of an object relates to the memory address of an object. </a:t>
            </a:r>
          </a:p>
          <a:p>
            <a:r>
              <a:rPr lang="en-US" dirty="0"/>
              <a:t>That is why we see things like this:</a:t>
            </a:r>
          </a:p>
        </p:txBody>
      </p:sp>
      <p:sp>
        <p:nvSpPr>
          <p:cNvPr id="4" name="Slide Number Placeholder 3">
            <a:extLst>
              <a:ext uri="{FF2B5EF4-FFF2-40B4-BE49-F238E27FC236}">
                <a16:creationId xmlns:a16="http://schemas.microsoft.com/office/drawing/2014/main" id="{DC70FD88-2212-4E95-9F76-2D12F5763CE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112</a:t>
            </a:fld>
            <a:endParaRPr lang="en-US"/>
          </a:p>
        </p:txBody>
      </p:sp>
      <p:pic>
        <p:nvPicPr>
          <p:cNvPr id="8" name="Picture 7" descr="A screenshot of a cell phone&#10;&#10;Description automatically generated">
            <a:extLst>
              <a:ext uri="{FF2B5EF4-FFF2-40B4-BE49-F238E27FC236}">
                <a16:creationId xmlns:a16="http://schemas.microsoft.com/office/drawing/2014/main" id="{E8F8F0D0-CB71-40BC-A8BE-444A87EDF4FD}"/>
              </a:ext>
            </a:extLst>
          </p:cNvPr>
          <p:cNvPicPr>
            <a:picLocks noChangeAspect="1"/>
          </p:cNvPicPr>
          <p:nvPr/>
        </p:nvPicPr>
        <p:blipFill>
          <a:blip r:embed="rId2"/>
          <a:stretch>
            <a:fillRect/>
          </a:stretch>
        </p:blipFill>
        <p:spPr>
          <a:xfrm>
            <a:off x="1604304" y="4078727"/>
            <a:ext cx="5935391" cy="2595652"/>
          </a:xfrm>
          <a:prstGeom prst="rect">
            <a:avLst/>
          </a:prstGeom>
        </p:spPr>
      </p:pic>
    </p:spTree>
    <p:extLst>
      <p:ext uri="{BB962C8B-B14F-4D97-AF65-F5344CB8AC3E}">
        <p14:creationId xmlns:p14="http://schemas.microsoft.com/office/powerpoint/2010/main" val="193109698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DFB51-900E-DE62-F43C-22F76F0FC31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D1B0020-5C5A-22B6-CCC3-2503D6ADC0DA}"/>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113</a:t>
            </a:fld>
            <a:endParaRPr lang="en-US"/>
          </a:p>
        </p:txBody>
      </p:sp>
      <p:sp>
        <p:nvSpPr>
          <p:cNvPr id="4" name="Google Shape;212;p15">
            <a:extLst>
              <a:ext uri="{FF2B5EF4-FFF2-40B4-BE49-F238E27FC236}">
                <a16:creationId xmlns:a16="http://schemas.microsoft.com/office/drawing/2014/main" id="{A539983B-BE6E-9423-5559-053E9A3E3384}"/>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Strings</a:t>
            </a:r>
          </a:p>
        </p:txBody>
      </p:sp>
      <p:pic>
        <p:nvPicPr>
          <p:cNvPr id="6" name="Picture 5">
            <a:extLst>
              <a:ext uri="{FF2B5EF4-FFF2-40B4-BE49-F238E27FC236}">
                <a16:creationId xmlns:a16="http://schemas.microsoft.com/office/drawing/2014/main" id="{A84B8A46-59CF-DD34-C2EC-793760023C2D}"/>
              </a:ext>
            </a:extLst>
          </p:cNvPr>
          <p:cNvPicPr>
            <a:picLocks noChangeAspect="1"/>
          </p:cNvPicPr>
          <p:nvPr/>
        </p:nvPicPr>
        <p:blipFill>
          <a:blip r:embed="rId2"/>
          <a:stretch>
            <a:fillRect/>
          </a:stretch>
        </p:blipFill>
        <p:spPr>
          <a:xfrm>
            <a:off x="7036646" y="0"/>
            <a:ext cx="2107354" cy="773112"/>
          </a:xfrm>
          <a:prstGeom prst="rect">
            <a:avLst/>
          </a:prstGeom>
        </p:spPr>
      </p:pic>
    </p:spTree>
    <p:extLst>
      <p:ext uri="{BB962C8B-B14F-4D97-AF65-F5344CB8AC3E}">
        <p14:creationId xmlns:p14="http://schemas.microsoft.com/office/powerpoint/2010/main" val="251608129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19"/>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dirty="0"/>
              <a:t>Strings</a:t>
            </a:r>
            <a:endParaRPr dirty="0"/>
          </a:p>
        </p:txBody>
      </p:sp>
      <p:sp>
        <p:nvSpPr>
          <p:cNvPr id="240" name="Google Shape;240;p19"/>
          <p:cNvSpPr txBox="1">
            <a:spLocks noGrp="1"/>
          </p:cNvSpPr>
          <p:nvPr>
            <p:ph type="body" idx="1"/>
          </p:nvPr>
        </p:nvSpPr>
        <p:spPr>
          <a:xfrm>
            <a:off x="380010" y="1481446"/>
            <a:ext cx="838398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2800"/>
              <a:buChar char="•"/>
            </a:pPr>
            <a:r>
              <a:rPr lang="en-US" dirty="0"/>
              <a:t>Most commonly used class</a:t>
            </a:r>
          </a:p>
          <a:p>
            <a:pPr marL="342900" lvl="0" indent="-342900" algn="l" rtl="0">
              <a:spcBef>
                <a:spcPts val="0"/>
              </a:spcBef>
              <a:spcAft>
                <a:spcPts val="0"/>
              </a:spcAft>
              <a:buSzPts val="2800"/>
              <a:buChar char="•"/>
            </a:pPr>
            <a:r>
              <a:rPr lang="en-US" dirty="0"/>
              <a:t>Immutable</a:t>
            </a:r>
          </a:p>
          <a:p>
            <a:pPr marL="342900" lvl="0" indent="-342900" algn="l" rtl="0">
              <a:spcBef>
                <a:spcPts val="0"/>
              </a:spcBef>
              <a:spcAft>
                <a:spcPts val="0"/>
              </a:spcAft>
              <a:buSzPts val="2800"/>
              <a:buChar char="•"/>
            </a:pPr>
            <a:r>
              <a:rPr lang="en-US" dirty="0"/>
              <a:t>Can be created through two notations, both behave differently:</a:t>
            </a:r>
            <a:endParaRPr dirty="0"/>
          </a:p>
          <a:p>
            <a:pPr marL="742950" lvl="1" indent="-285750" algn="l" rtl="0">
              <a:spcBef>
                <a:spcPts val="360"/>
              </a:spcBef>
              <a:spcAft>
                <a:spcPts val="0"/>
              </a:spcAft>
              <a:buSzPts val="1800"/>
              <a:buChar char="–"/>
            </a:pPr>
            <a:r>
              <a:rPr lang="en-US" sz="1800" dirty="0">
                <a:latin typeface="Courier New"/>
                <a:ea typeface="Courier New"/>
                <a:cs typeface="Courier New"/>
                <a:sym typeface="Courier New"/>
              </a:rPr>
              <a:t>String str1 = “hello world”; // string literals</a:t>
            </a:r>
            <a:br>
              <a:rPr lang="en-US" sz="1800" dirty="0">
                <a:latin typeface="Courier New"/>
                <a:ea typeface="Courier New"/>
                <a:cs typeface="Courier New"/>
                <a:sym typeface="Courier New"/>
              </a:rPr>
            </a:br>
            <a:r>
              <a:rPr lang="en-US" sz="1800" dirty="0">
                <a:latin typeface="Courier New"/>
                <a:ea typeface="Courier New"/>
                <a:cs typeface="Courier New"/>
                <a:sym typeface="Courier New"/>
              </a:rPr>
              <a:t>String str2 = new String(“hello world”); // object</a:t>
            </a:r>
            <a:endParaRPr dirty="0"/>
          </a:p>
          <a:p>
            <a:pPr marL="342900" lvl="0" indent="-342900" algn="l" rtl="0">
              <a:spcBef>
                <a:spcPts val="560"/>
              </a:spcBef>
              <a:spcAft>
                <a:spcPts val="0"/>
              </a:spcAft>
              <a:buSzPts val="2800"/>
              <a:buChar char="•"/>
            </a:pPr>
            <a:r>
              <a:rPr lang="en-US" dirty="0">
                <a:latin typeface="Arial"/>
                <a:ea typeface="Arial"/>
                <a:cs typeface="Arial"/>
                <a:sym typeface="Arial"/>
              </a:rPr>
              <a:t>String literals are “pooled”, no two String literals have the same value. References to duplicate literals are shared. Object-notation Strings are not pooled.</a:t>
            </a:r>
            <a:endParaRPr dirty="0"/>
          </a:p>
        </p:txBody>
      </p:sp>
      <p:sp>
        <p:nvSpPr>
          <p:cNvPr id="241" name="Google Shape;241;p19"/>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114</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0">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40">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4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 grpId="0" build="p"/>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5" name="Cloud 24">
            <a:extLst>
              <a:ext uri="{FF2B5EF4-FFF2-40B4-BE49-F238E27FC236}">
                <a16:creationId xmlns:a16="http://schemas.microsoft.com/office/drawing/2014/main" id="{A87EC355-369C-4979-8A1B-FC8A6FAE576B}"/>
              </a:ext>
            </a:extLst>
          </p:cNvPr>
          <p:cNvSpPr/>
          <p:nvPr/>
        </p:nvSpPr>
        <p:spPr>
          <a:xfrm>
            <a:off x="5387446" y="3686477"/>
            <a:ext cx="3465720" cy="3042360"/>
          </a:xfrm>
          <a:prstGeom prst="cloud">
            <a:avLst/>
          </a:prstGeom>
          <a:solidFill>
            <a:srgbClr val="F36A25">
              <a:alpha val="5000"/>
            </a:srgbClr>
          </a:solidFill>
          <a:ln w="180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pPr algn="ctr"/>
            <a:endParaRPr lang="en-US" dirty="0">
              <a:solidFill>
                <a:srgbClr val="F36A25"/>
              </a:solidFill>
            </a:endParaRPr>
          </a:p>
        </p:txBody>
      </p:sp>
      <p:sp>
        <p:nvSpPr>
          <p:cNvPr id="2" name="Rectangle 1">
            <a:extLst>
              <a:ext uri="{FF2B5EF4-FFF2-40B4-BE49-F238E27FC236}">
                <a16:creationId xmlns:a16="http://schemas.microsoft.com/office/drawing/2014/main" id="{3CB8C5B1-D280-4666-B4FD-A1B511514539}"/>
              </a:ext>
            </a:extLst>
          </p:cNvPr>
          <p:cNvSpPr/>
          <p:nvPr/>
        </p:nvSpPr>
        <p:spPr>
          <a:xfrm>
            <a:off x="7131137" y="4286420"/>
            <a:ext cx="1208266" cy="814268"/>
          </a:xfrm>
          <a:prstGeom prst="rect">
            <a:avLst/>
          </a:prstGeom>
          <a:solidFill>
            <a:schemeClr val="accent1">
              <a:alpha val="0"/>
            </a:schemeClr>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8" name="Google Shape;218;p1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dirty="0"/>
              <a:t>Let’s take the following program</a:t>
            </a:r>
            <a:endParaRPr dirty="0"/>
          </a:p>
        </p:txBody>
      </p:sp>
      <p:sp>
        <p:nvSpPr>
          <p:cNvPr id="219" name="Google Shape;219;p16"/>
          <p:cNvSpPr txBox="1">
            <a:spLocks noGrp="1"/>
          </p:cNvSpPr>
          <p:nvPr>
            <p:ph type="body" idx="1"/>
          </p:nvPr>
        </p:nvSpPr>
        <p:spPr>
          <a:xfrm>
            <a:off x="177554" y="1481447"/>
            <a:ext cx="4850374" cy="2671310"/>
          </a:xfrm>
          <a:prstGeom prst="rect">
            <a:avLst/>
          </a:prstGeom>
          <a:ln/>
        </p:spPr>
        <p:style>
          <a:lnRef idx="1">
            <a:schemeClr val="accent2"/>
          </a:lnRef>
          <a:fillRef idx="2">
            <a:schemeClr val="accent2"/>
          </a:fillRef>
          <a:effectRef idx="1">
            <a:schemeClr val="accent2"/>
          </a:effectRef>
          <a:fontRef idx="minor">
            <a:schemeClr val="dk1"/>
          </a:fontRef>
        </p:style>
        <p:txBody>
          <a:bodyPr spcFirstLastPara="1" wrap="square" lIns="91425" tIns="45700" rIns="91425" bIns="45700" anchor="t" anchorCtr="0">
            <a:noAutofit/>
          </a:bodyPr>
          <a:lstStyle/>
          <a:p>
            <a:pPr marL="182880" lvl="1" indent="0" algn="l" defTabSz="457200" rtl="0">
              <a:lnSpc>
                <a:spcPct val="90000"/>
              </a:lnSpc>
              <a:spcBef>
                <a:spcPts val="480"/>
              </a:spcBef>
              <a:spcAft>
                <a:spcPts val="0"/>
              </a:spcAft>
              <a:buSzPts val="2400"/>
              <a:buNone/>
            </a:pPr>
            <a:endParaRPr lang="en-US" sz="1400" dirty="0">
              <a:latin typeface="Courier New" panose="02070309020205020404" pitchFamily="49" charset="0"/>
              <a:cs typeface="Courier New" panose="02070309020205020404" pitchFamily="49" charset="0"/>
            </a:endParaRPr>
          </a:p>
          <a:p>
            <a:pPr marL="182880" lvl="1" indent="0" algn="l" defTabSz="457200" rtl="0">
              <a:lnSpc>
                <a:spcPct val="90000"/>
              </a:lnSpc>
              <a:spcBef>
                <a:spcPts val="480"/>
              </a:spcBef>
              <a:spcAft>
                <a:spcPts val="0"/>
              </a:spcAft>
              <a:buSzPts val="2400"/>
              <a:buNone/>
            </a:pPr>
            <a:r>
              <a:rPr lang="en-US" sz="1400" dirty="0">
                <a:latin typeface="Courier New" panose="02070309020205020404" pitchFamily="49" charset="0"/>
                <a:cs typeface="Courier New" panose="02070309020205020404" pitchFamily="49" charset="0"/>
              </a:rPr>
              <a:t>public class </a:t>
            </a:r>
            <a:r>
              <a:rPr lang="en-US" sz="1400" dirty="0" err="1">
                <a:latin typeface="Courier New" panose="02070309020205020404" pitchFamily="49" charset="0"/>
                <a:cs typeface="Courier New" panose="02070309020205020404" pitchFamily="49" charset="0"/>
              </a:rPr>
              <a:t>TestString</a:t>
            </a:r>
            <a:r>
              <a:rPr lang="en-US" sz="1400" dirty="0">
                <a:latin typeface="Courier New" panose="02070309020205020404" pitchFamily="49" charset="0"/>
                <a:cs typeface="Courier New" panose="02070309020205020404" pitchFamily="49" charset="0"/>
              </a:rPr>
              <a:t>{</a:t>
            </a:r>
          </a:p>
          <a:p>
            <a:pPr marL="182880" lvl="1" indent="0" algn="l" defTabSz="457200" rtl="0">
              <a:lnSpc>
                <a:spcPct val="90000"/>
              </a:lnSpc>
              <a:spcBef>
                <a:spcPts val="480"/>
              </a:spcBef>
              <a:spcAft>
                <a:spcPts val="0"/>
              </a:spcAft>
              <a:buSzPts val="2400"/>
              <a:buNone/>
            </a:pPr>
            <a:r>
              <a:rPr lang="en-US" sz="1400" dirty="0">
                <a:latin typeface="Courier New" panose="02070309020205020404" pitchFamily="49" charset="0"/>
                <a:cs typeface="Courier New" panose="02070309020205020404" pitchFamily="49" charset="0"/>
              </a:rPr>
              <a:t>	public static void main(String[] </a:t>
            </a:r>
            <a:r>
              <a:rPr lang="en-US" sz="1400" dirty="0" err="1">
                <a:latin typeface="Courier New" panose="02070309020205020404" pitchFamily="49" charset="0"/>
                <a:cs typeface="Courier New" panose="02070309020205020404" pitchFamily="49" charset="0"/>
              </a:rPr>
              <a:t>args</a:t>
            </a:r>
            <a:r>
              <a:rPr lang="en-US" sz="1400" dirty="0">
                <a:latin typeface="Courier New" panose="02070309020205020404" pitchFamily="49" charset="0"/>
                <a:cs typeface="Courier New" panose="02070309020205020404" pitchFamily="49" charset="0"/>
              </a:rPr>
              <a:t>){</a:t>
            </a:r>
          </a:p>
          <a:p>
            <a:pPr marL="182880" lvl="1" indent="0" algn="l" defTabSz="457200" rtl="0">
              <a:lnSpc>
                <a:spcPct val="90000"/>
              </a:lnSpc>
              <a:spcBef>
                <a:spcPts val="480"/>
              </a:spcBef>
              <a:spcAft>
                <a:spcPts val="0"/>
              </a:spcAft>
              <a:buSzPts val="2400"/>
              <a:buNone/>
            </a:pPr>
            <a:r>
              <a:rPr lang="en-US" sz="1400" dirty="0">
                <a:latin typeface="Courier New" panose="02070309020205020404" pitchFamily="49" charset="0"/>
                <a:cs typeface="Courier New" panose="02070309020205020404" pitchFamily="49" charset="0"/>
              </a:rPr>
              <a:t>		int number = 9; </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String s1 = new String(“Hello”)</a:t>
            </a:r>
          </a:p>
          <a:p>
            <a:pPr marL="182880" lvl="1" indent="0" algn="l" defTabSz="457200" rtl="0">
              <a:lnSpc>
                <a:spcPct val="90000"/>
              </a:lnSpc>
              <a:spcBef>
                <a:spcPts val="480"/>
              </a:spcBef>
              <a:spcAft>
                <a:spcPts val="0"/>
              </a:spcAft>
              <a:buSzPts val="2400"/>
              <a:buNone/>
            </a:pPr>
            <a:r>
              <a:rPr lang="en-US" sz="1400" dirty="0">
                <a:latin typeface="Courier New" panose="02070309020205020404" pitchFamily="49" charset="0"/>
                <a:cs typeface="Courier New" panose="02070309020205020404" pitchFamily="49" charset="0"/>
              </a:rPr>
              <a:t>		String s2 = “Hello”;</a:t>
            </a:r>
          </a:p>
          <a:p>
            <a:pPr marL="182880" lvl="1" indent="0" algn="l" defTabSz="457200" rtl="0">
              <a:lnSpc>
                <a:spcPct val="90000"/>
              </a:lnSpc>
              <a:spcBef>
                <a:spcPts val="480"/>
              </a:spcBef>
              <a:spcAft>
                <a:spcPts val="0"/>
              </a:spcAft>
              <a:buSzPts val="2400"/>
              <a:buNone/>
            </a:pPr>
            <a:r>
              <a:rPr lang="en-US" sz="1400" dirty="0">
                <a:latin typeface="Courier New" panose="02070309020205020404" pitchFamily="49" charset="0"/>
                <a:cs typeface="Courier New" panose="02070309020205020404" pitchFamily="49" charset="0"/>
              </a:rPr>
              <a:t>		String s3 = “Hellos”;</a:t>
            </a:r>
          </a:p>
          <a:p>
            <a:pPr marL="182880" lvl="1" indent="0" algn="l" defTabSz="457200" rtl="0">
              <a:lnSpc>
                <a:spcPct val="90000"/>
              </a:lnSpc>
              <a:spcBef>
                <a:spcPts val="480"/>
              </a:spcBef>
              <a:spcAft>
                <a:spcPts val="0"/>
              </a:spcAft>
              <a:buSzPts val="2400"/>
              <a:buNone/>
            </a:pPr>
            <a:r>
              <a:rPr lang="en-US" sz="1400" dirty="0">
                <a:latin typeface="Courier New" panose="02070309020205020404" pitchFamily="49" charset="0"/>
                <a:cs typeface="Courier New" panose="02070309020205020404" pitchFamily="49" charset="0"/>
              </a:rPr>
              <a:t>       s1 = s1 + “s”;</a:t>
            </a:r>
          </a:p>
          <a:p>
            <a:pPr marL="182880" lvl="1" indent="0" algn="l" defTabSz="457200" rtl="0">
              <a:lnSpc>
                <a:spcPct val="90000"/>
              </a:lnSpc>
              <a:spcBef>
                <a:spcPts val="480"/>
              </a:spcBef>
              <a:spcAft>
                <a:spcPts val="0"/>
              </a:spcAft>
              <a:buSzPts val="2400"/>
              <a:buNone/>
            </a:pPr>
            <a:r>
              <a:rPr lang="en-US" sz="1400" dirty="0">
                <a:latin typeface="Courier New" panose="02070309020205020404" pitchFamily="49" charset="0"/>
                <a:cs typeface="Courier New" panose="02070309020205020404" pitchFamily="49" charset="0"/>
              </a:rPr>
              <a:t>	}</a:t>
            </a:r>
          </a:p>
          <a:p>
            <a:pPr marL="182880" lvl="1" indent="0" algn="l" defTabSz="457200" rtl="0">
              <a:lnSpc>
                <a:spcPct val="90000"/>
              </a:lnSpc>
              <a:spcBef>
                <a:spcPts val="480"/>
              </a:spcBef>
              <a:spcAft>
                <a:spcPts val="0"/>
              </a:spcAft>
              <a:buSzPts val="2400"/>
              <a:buNone/>
            </a:pPr>
            <a:r>
              <a:rPr lang="en-US" sz="1400" dirty="0">
                <a:latin typeface="Courier New" panose="02070309020205020404" pitchFamily="49" charset="0"/>
                <a:cs typeface="Courier New" panose="02070309020205020404" pitchFamily="49" charset="0"/>
              </a:rPr>
              <a:t>}</a:t>
            </a:r>
          </a:p>
        </p:txBody>
      </p:sp>
      <p:sp>
        <p:nvSpPr>
          <p:cNvPr id="220" name="Google Shape;220;p16"/>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115</a:t>
            </a:fld>
            <a:endParaRPr/>
          </a:p>
        </p:txBody>
      </p:sp>
      <p:sp>
        <p:nvSpPr>
          <p:cNvPr id="7" name="Rectangle 6">
            <a:extLst>
              <a:ext uri="{FF2B5EF4-FFF2-40B4-BE49-F238E27FC236}">
                <a16:creationId xmlns:a16="http://schemas.microsoft.com/office/drawing/2014/main" id="{2406FDC6-310C-4ED5-B6A4-B1918E33C934}"/>
              </a:ext>
            </a:extLst>
          </p:cNvPr>
          <p:cNvSpPr/>
          <p:nvPr/>
        </p:nvSpPr>
        <p:spPr>
          <a:xfrm>
            <a:off x="5212298" y="2031734"/>
            <a:ext cx="1272619" cy="1654743"/>
          </a:xfrm>
          <a:prstGeom prst="rect">
            <a:avLst/>
          </a:prstGeom>
          <a:solidFill>
            <a:srgbClr val="FEF7F4"/>
          </a:solidFill>
          <a:ln w="127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en-US" sz="1300" dirty="0">
                <a:ln w="0"/>
                <a:solidFill>
                  <a:schemeClr val="tx1"/>
                </a:solidFill>
                <a:effectLst>
                  <a:outerShdw blurRad="38100" dist="19050" dir="2700000" algn="tl" rotWithShape="0">
                    <a:schemeClr val="dk1">
                      <a:alpha val="40000"/>
                    </a:schemeClr>
                  </a:outerShdw>
                </a:effectLst>
                <a:latin typeface="Segoe Print" panose="02000600000000000000" pitchFamily="2" charset="0"/>
              </a:rPr>
              <a:t>s3</a:t>
            </a:r>
          </a:p>
          <a:p>
            <a:r>
              <a:rPr lang="en-US" sz="1300" dirty="0">
                <a:ln w="0"/>
                <a:solidFill>
                  <a:schemeClr val="tx1"/>
                </a:solidFill>
                <a:effectLst>
                  <a:outerShdw blurRad="38100" dist="19050" dir="2700000" algn="tl" rotWithShape="0">
                    <a:schemeClr val="dk1">
                      <a:alpha val="40000"/>
                    </a:schemeClr>
                  </a:outerShdw>
                </a:effectLst>
                <a:latin typeface="Segoe Print" panose="02000600000000000000" pitchFamily="2" charset="0"/>
              </a:rPr>
              <a:t>s2</a:t>
            </a:r>
          </a:p>
          <a:p>
            <a:r>
              <a:rPr lang="en-US" sz="1300" dirty="0">
                <a:ln w="0"/>
                <a:solidFill>
                  <a:schemeClr val="tx1"/>
                </a:solidFill>
                <a:effectLst>
                  <a:outerShdw blurRad="38100" dist="19050" dir="2700000" algn="tl" rotWithShape="0">
                    <a:schemeClr val="dk1">
                      <a:alpha val="40000"/>
                    </a:schemeClr>
                  </a:outerShdw>
                </a:effectLst>
                <a:latin typeface="Segoe Print" panose="02000600000000000000" pitchFamily="2" charset="0"/>
              </a:rPr>
              <a:t>s1</a:t>
            </a:r>
          </a:p>
          <a:p>
            <a:r>
              <a:rPr lang="en-US" sz="1300" dirty="0">
                <a:ln w="0"/>
                <a:solidFill>
                  <a:schemeClr val="tx1"/>
                </a:solidFill>
                <a:effectLst>
                  <a:outerShdw blurRad="38100" dist="19050" dir="2700000" algn="tl" rotWithShape="0">
                    <a:schemeClr val="dk1">
                      <a:alpha val="40000"/>
                    </a:schemeClr>
                  </a:outerShdw>
                </a:effectLst>
                <a:latin typeface="Segoe Print" panose="02000600000000000000" pitchFamily="2" charset="0"/>
              </a:rPr>
              <a:t>number = 9</a:t>
            </a:r>
          </a:p>
          <a:p>
            <a:r>
              <a:rPr lang="en-US" sz="1300" dirty="0">
                <a:ln w="0"/>
                <a:solidFill>
                  <a:schemeClr val="tx1"/>
                </a:solidFill>
                <a:effectLst>
                  <a:outerShdw blurRad="38100" dist="19050" dir="2700000" algn="tl" rotWithShape="0">
                    <a:schemeClr val="dk1">
                      <a:alpha val="40000"/>
                    </a:schemeClr>
                  </a:outerShdw>
                </a:effectLst>
                <a:latin typeface="Segoe Print" panose="02000600000000000000" pitchFamily="2" charset="0"/>
              </a:rPr>
              <a:t>main</a:t>
            </a:r>
          </a:p>
        </p:txBody>
      </p:sp>
      <p:grpSp>
        <p:nvGrpSpPr>
          <p:cNvPr id="206" name="Group 205">
            <a:extLst>
              <a:ext uri="{FF2B5EF4-FFF2-40B4-BE49-F238E27FC236}">
                <a16:creationId xmlns:a16="http://schemas.microsoft.com/office/drawing/2014/main" id="{C5EE3AD0-901B-4C7F-9A73-D669428D0442}"/>
              </a:ext>
            </a:extLst>
          </p:cNvPr>
          <p:cNvGrpSpPr/>
          <p:nvPr/>
        </p:nvGrpSpPr>
        <p:grpSpPr>
          <a:xfrm>
            <a:off x="5800546" y="4427852"/>
            <a:ext cx="1064880" cy="901080"/>
            <a:chOff x="5800546" y="4427852"/>
            <a:chExt cx="1064880" cy="901080"/>
          </a:xfrm>
        </p:grpSpPr>
        <mc:AlternateContent xmlns:mc="http://schemas.openxmlformats.org/markup-compatibility/2006" xmlns:p14="http://schemas.microsoft.com/office/powerpoint/2010/main">
          <mc:Choice Requires="p14">
            <p:contentPart p14:bwMode="auto" r:id="rId3">
              <p14:nvContentPartPr>
                <p14:cNvPr id="32" name="Ink 31">
                  <a:extLst>
                    <a:ext uri="{FF2B5EF4-FFF2-40B4-BE49-F238E27FC236}">
                      <a16:creationId xmlns:a16="http://schemas.microsoft.com/office/drawing/2014/main" id="{219D0911-127C-4B86-B534-D89F5913B4A5}"/>
                    </a:ext>
                  </a:extLst>
                </p14:cNvPr>
                <p14:cNvContentPartPr/>
                <p14:nvPr/>
              </p14:nvContentPartPr>
              <p14:xfrm>
                <a:off x="5800546" y="4427852"/>
                <a:ext cx="1064880" cy="901080"/>
              </p14:xfrm>
            </p:contentPart>
          </mc:Choice>
          <mc:Fallback xmlns="">
            <p:pic>
              <p:nvPicPr>
                <p:cNvPr id="32" name="Ink 31">
                  <a:extLst>
                    <a:ext uri="{FF2B5EF4-FFF2-40B4-BE49-F238E27FC236}">
                      <a16:creationId xmlns:a16="http://schemas.microsoft.com/office/drawing/2014/main" id="{219D0911-127C-4B86-B534-D89F5913B4A5}"/>
                    </a:ext>
                  </a:extLst>
                </p:cNvPr>
                <p:cNvPicPr/>
                <p:nvPr/>
              </p:nvPicPr>
              <p:blipFill>
                <a:blip r:embed="rId4"/>
                <a:stretch>
                  <a:fillRect/>
                </a:stretch>
              </p:blipFill>
              <p:spPr>
                <a:xfrm>
                  <a:off x="5791546" y="4418852"/>
                  <a:ext cx="1082520" cy="918720"/>
                </a:xfrm>
                <a:prstGeom prst="rect">
                  <a:avLst/>
                </a:prstGeom>
              </p:spPr>
            </p:pic>
          </mc:Fallback>
        </mc:AlternateContent>
        <p:sp>
          <p:nvSpPr>
            <p:cNvPr id="33" name="TextBox 32">
              <a:extLst>
                <a:ext uri="{FF2B5EF4-FFF2-40B4-BE49-F238E27FC236}">
                  <a16:creationId xmlns:a16="http://schemas.microsoft.com/office/drawing/2014/main" id="{D21C5086-75F5-46F3-8650-F70E81AD1908}"/>
                </a:ext>
              </a:extLst>
            </p:cNvPr>
            <p:cNvSpPr txBox="1"/>
            <p:nvPr/>
          </p:nvSpPr>
          <p:spPr>
            <a:xfrm>
              <a:off x="5927849" y="4853223"/>
              <a:ext cx="625492" cy="307777"/>
            </a:xfrm>
            <a:prstGeom prst="rect">
              <a:avLst/>
            </a:prstGeom>
            <a:noFill/>
          </p:spPr>
          <p:txBody>
            <a:bodyPr wrap="none" rtlCol="0">
              <a:spAutoFit/>
            </a:bodyPr>
            <a:lstStyle/>
            <a:p>
              <a:r>
                <a:rPr lang="en-US" dirty="0">
                  <a:latin typeface="Segoe Print" panose="02000600000000000000" pitchFamily="2" charset="0"/>
                </a:rPr>
                <a:t>Hello</a:t>
              </a:r>
            </a:p>
          </p:txBody>
        </p:sp>
      </p:grpSp>
      <p:sp>
        <p:nvSpPr>
          <p:cNvPr id="30" name="TextBox 29">
            <a:extLst>
              <a:ext uri="{FF2B5EF4-FFF2-40B4-BE49-F238E27FC236}">
                <a16:creationId xmlns:a16="http://schemas.microsoft.com/office/drawing/2014/main" id="{5E1C9952-1AB9-4404-B283-62C359136717}"/>
              </a:ext>
            </a:extLst>
          </p:cNvPr>
          <p:cNvSpPr txBox="1"/>
          <p:nvPr/>
        </p:nvSpPr>
        <p:spPr>
          <a:xfrm>
            <a:off x="4957982" y="1429856"/>
            <a:ext cx="1718740" cy="738664"/>
          </a:xfrm>
          <a:prstGeom prst="rect">
            <a:avLst/>
          </a:prstGeom>
          <a:noFill/>
        </p:spPr>
        <p:txBody>
          <a:bodyPr wrap="none" rtlCol="0" anchor="ctr" anchorCtr="1">
            <a:spAutoFit/>
          </a:bodyPr>
          <a:lstStyle/>
          <a:p>
            <a:pPr algn="ctr"/>
            <a:r>
              <a:rPr lang="en-US" sz="4200" dirty="0">
                <a:ln w="0"/>
                <a:solidFill>
                  <a:schemeClr val="accent1"/>
                </a:solidFill>
                <a:latin typeface="Segoe Print" panose="02000600000000000000" pitchFamily="2" charset="0"/>
              </a:rPr>
              <a:t>Stack</a:t>
            </a:r>
          </a:p>
        </p:txBody>
      </p:sp>
      <p:sp>
        <p:nvSpPr>
          <p:cNvPr id="44" name="TextBox 43">
            <a:extLst>
              <a:ext uri="{FF2B5EF4-FFF2-40B4-BE49-F238E27FC236}">
                <a16:creationId xmlns:a16="http://schemas.microsoft.com/office/drawing/2014/main" id="{4AE4353D-B8C8-4FF1-AE2F-955BAEB1D6FB}"/>
              </a:ext>
            </a:extLst>
          </p:cNvPr>
          <p:cNvSpPr txBox="1"/>
          <p:nvPr/>
        </p:nvSpPr>
        <p:spPr>
          <a:xfrm>
            <a:off x="7063092" y="4371658"/>
            <a:ext cx="1276311" cy="307777"/>
          </a:xfrm>
          <a:prstGeom prst="rect">
            <a:avLst/>
          </a:prstGeom>
          <a:noFill/>
        </p:spPr>
        <p:txBody>
          <a:bodyPr wrap="none" rtlCol="0">
            <a:spAutoFit/>
          </a:bodyPr>
          <a:lstStyle/>
          <a:p>
            <a:r>
              <a:rPr lang="en-US" dirty="0">
                <a:latin typeface="Segoe Print" panose="02000600000000000000" pitchFamily="2" charset="0"/>
              </a:rPr>
              <a:t>Hello, Hellos</a:t>
            </a:r>
          </a:p>
        </p:txBody>
      </p:sp>
      <p:sp>
        <p:nvSpPr>
          <p:cNvPr id="35" name="TextBox 34">
            <a:extLst>
              <a:ext uri="{FF2B5EF4-FFF2-40B4-BE49-F238E27FC236}">
                <a16:creationId xmlns:a16="http://schemas.microsoft.com/office/drawing/2014/main" id="{85577769-DA3E-4CBD-A7A0-2F9E02157F75}"/>
              </a:ext>
            </a:extLst>
          </p:cNvPr>
          <p:cNvSpPr txBox="1"/>
          <p:nvPr/>
        </p:nvSpPr>
        <p:spPr>
          <a:xfrm>
            <a:off x="6161138" y="5705955"/>
            <a:ext cx="1563248" cy="738664"/>
          </a:xfrm>
          <a:prstGeom prst="rect">
            <a:avLst/>
          </a:prstGeom>
          <a:noFill/>
        </p:spPr>
        <p:txBody>
          <a:bodyPr wrap="none" rtlCol="0" anchor="ctr" anchorCtr="1">
            <a:spAutoFit/>
          </a:bodyPr>
          <a:lstStyle/>
          <a:p>
            <a:pPr algn="ctr"/>
            <a:r>
              <a:rPr lang="en-US" sz="4200" dirty="0">
                <a:solidFill>
                  <a:schemeClr val="accent6"/>
                </a:solidFill>
                <a:latin typeface="Segoe Print" panose="02000600000000000000" pitchFamily="2" charset="0"/>
              </a:rPr>
              <a:t>Heap</a:t>
            </a:r>
          </a:p>
        </p:txBody>
      </p:sp>
      <p:sp>
        <p:nvSpPr>
          <p:cNvPr id="198" name="Freeform: Shape 197">
            <a:extLst>
              <a:ext uri="{FF2B5EF4-FFF2-40B4-BE49-F238E27FC236}">
                <a16:creationId xmlns:a16="http://schemas.microsoft.com/office/drawing/2014/main" id="{3511BE75-C00D-45AB-AD8C-CA9F46156CE9}"/>
              </a:ext>
            </a:extLst>
          </p:cNvPr>
          <p:cNvSpPr/>
          <p:nvPr/>
        </p:nvSpPr>
        <p:spPr>
          <a:xfrm>
            <a:off x="5534836" y="3086100"/>
            <a:ext cx="1094060" cy="1732500"/>
          </a:xfrm>
          <a:custGeom>
            <a:avLst/>
            <a:gdLst>
              <a:gd name="connsiteX0" fmla="*/ 0 w 934740"/>
              <a:gd name="connsiteY0" fmla="*/ 43021 h 1645578"/>
              <a:gd name="connsiteX1" fmla="*/ 848412 w 934740"/>
              <a:gd name="connsiteY1" fmla="*/ 80729 h 1645578"/>
              <a:gd name="connsiteX2" fmla="*/ 886120 w 934740"/>
              <a:gd name="connsiteY2" fmla="*/ 778312 h 1645578"/>
              <a:gd name="connsiteX3" fmla="*/ 669303 w 934740"/>
              <a:gd name="connsiteY3" fmla="*/ 1494749 h 1645578"/>
              <a:gd name="connsiteX4" fmla="*/ 631596 w 934740"/>
              <a:gd name="connsiteY4" fmla="*/ 1645578 h 1645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4740" h="1645578">
                <a:moveTo>
                  <a:pt x="0" y="43021"/>
                </a:moveTo>
                <a:cubicBezTo>
                  <a:pt x="350362" y="601"/>
                  <a:pt x="700725" y="-41819"/>
                  <a:pt x="848412" y="80729"/>
                </a:cubicBezTo>
                <a:cubicBezTo>
                  <a:pt x="996099" y="203277"/>
                  <a:pt x="915971" y="542642"/>
                  <a:pt x="886120" y="778312"/>
                </a:cubicBezTo>
                <a:cubicBezTo>
                  <a:pt x="856269" y="1013982"/>
                  <a:pt x="711724" y="1350205"/>
                  <a:pt x="669303" y="1494749"/>
                </a:cubicBezTo>
                <a:cubicBezTo>
                  <a:pt x="626882" y="1639293"/>
                  <a:pt x="629239" y="1642435"/>
                  <a:pt x="631596" y="1645578"/>
                </a:cubicBez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01" name="Freeform: Shape 200">
            <a:extLst>
              <a:ext uri="{FF2B5EF4-FFF2-40B4-BE49-F238E27FC236}">
                <a16:creationId xmlns:a16="http://schemas.microsoft.com/office/drawing/2014/main" id="{5AEEE274-6168-4DBA-AE38-0F2D52F29D48}"/>
              </a:ext>
            </a:extLst>
          </p:cNvPr>
          <p:cNvSpPr/>
          <p:nvPr/>
        </p:nvSpPr>
        <p:spPr>
          <a:xfrm>
            <a:off x="6240595" y="4786572"/>
            <a:ext cx="61911" cy="45719"/>
          </a:xfrm>
          <a:custGeom>
            <a:avLst/>
            <a:gdLst>
              <a:gd name="connsiteX0" fmla="*/ 4431 w 88333"/>
              <a:gd name="connsiteY0" fmla="*/ 1249 h 81830"/>
              <a:gd name="connsiteX1" fmla="*/ 19671 w 88333"/>
              <a:gd name="connsiteY1" fmla="*/ 81259 h 81830"/>
              <a:gd name="connsiteX2" fmla="*/ 88251 w 88333"/>
              <a:gd name="connsiteY2" fmla="*/ 35539 h 81830"/>
              <a:gd name="connsiteX3" fmla="*/ 4431 w 88333"/>
              <a:gd name="connsiteY3" fmla="*/ 1249 h 81830"/>
            </a:gdLst>
            <a:ahLst/>
            <a:cxnLst>
              <a:cxn ang="0">
                <a:pos x="connsiteX0" y="connsiteY0"/>
              </a:cxn>
              <a:cxn ang="0">
                <a:pos x="connsiteX1" y="connsiteY1"/>
              </a:cxn>
              <a:cxn ang="0">
                <a:pos x="connsiteX2" y="connsiteY2"/>
              </a:cxn>
              <a:cxn ang="0">
                <a:pos x="connsiteX3" y="connsiteY3"/>
              </a:cxn>
            </a:cxnLst>
            <a:rect l="l" t="t" r="r" b="b"/>
            <a:pathLst>
              <a:path w="88333" h="81830">
                <a:moveTo>
                  <a:pt x="4431" y="1249"/>
                </a:moveTo>
                <a:cubicBezTo>
                  <a:pt x="-6999" y="8869"/>
                  <a:pt x="5701" y="75544"/>
                  <a:pt x="19671" y="81259"/>
                </a:cubicBezTo>
                <a:cubicBezTo>
                  <a:pt x="33641" y="86974"/>
                  <a:pt x="90791" y="48239"/>
                  <a:pt x="88251" y="35539"/>
                </a:cubicBezTo>
                <a:cubicBezTo>
                  <a:pt x="85711" y="22839"/>
                  <a:pt x="15861" y="-6371"/>
                  <a:pt x="4431" y="1249"/>
                </a:cubicBezTo>
                <a:close/>
              </a:path>
            </a:pathLst>
          </a:cu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nvGrpSpPr>
          <p:cNvPr id="204" name="Group 203">
            <a:extLst>
              <a:ext uri="{FF2B5EF4-FFF2-40B4-BE49-F238E27FC236}">
                <a16:creationId xmlns:a16="http://schemas.microsoft.com/office/drawing/2014/main" id="{2910588B-147F-4D77-A3E4-10400B680FDC}"/>
              </a:ext>
            </a:extLst>
          </p:cNvPr>
          <p:cNvGrpSpPr/>
          <p:nvPr/>
        </p:nvGrpSpPr>
        <p:grpSpPr>
          <a:xfrm>
            <a:off x="5577840" y="2909895"/>
            <a:ext cx="2099094" cy="1343258"/>
            <a:chOff x="5745480" y="2929853"/>
            <a:chExt cx="1931454" cy="1323300"/>
          </a:xfrm>
        </p:grpSpPr>
        <p:sp>
          <p:nvSpPr>
            <p:cNvPr id="77" name="Freeform: Shape 76">
              <a:extLst>
                <a:ext uri="{FF2B5EF4-FFF2-40B4-BE49-F238E27FC236}">
                  <a16:creationId xmlns:a16="http://schemas.microsoft.com/office/drawing/2014/main" id="{88F566E5-9BA9-4DE9-937E-6028E73AF06F}"/>
                </a:ext>
              </a:extLst>
            </p:cNvPr>
            <p:cNvSpPr/>
            <p:nvPr/>
          </p:nvSpPr>
          <p:spPr>
            <a:xfrm rot="19302310">
              <a:off x="7588601" y="4171323"/>
              <a:ext cx="88333" cy="81830"/>
            </a:xfrm>
            <a:custGeom>
              <a:avLst/>
              <a:gdLst>
                <a:gd name="connsiteX0" fmla="*/ 4431 w 88333"/>
                <a:gd name="connsiteY0" fmla="*/ 1249 h 81830"/>
                <a:gd name="connsiteX1" fmla="*/ 19671 w 88333"/>
                <a:gd name="connsiteY1" fmla="*/ 81259 h 81830"/>
                <a:gd name="connsiteX2" fmla="*/ 88251 w 88333"/>
                <a:gd name="connsiteY2" fmla="*/ 35539 h 81830"/>
                <a:gd name="connsiteX3" fmla="*/ 4431 w 88333"/>
                <a:gd name="connsiteY3" fmla="*/ 1249 h 81830"/>
              </a:gdLst>
              <a:ahLst/>
              <a:cxnLst>
                <a:cxn ang="0">
                  <a:pos x="connsiteX0" y="connsiteY0"/>
                </a:cxn>
                <a:cxn ang="0">
                  <a:pos x="connsiteX1" y="connsiteY1"/>
                </a:cxn>
                <a:cxn ang="0">
                  <a:pos x="connsiteX2" y="connsiteY2"/>
                </a:cxn>
                <a:cxn ang="0">
                  <a:pos x="connsiteX3" y="connsiteY3"/>
                </a:cxn>
              </a:cxnLst>
              <a:rect l="l" t="t" r="r" b="b"/>
              <a:pathLst>
                <a:path w="88333" h="81830">
                  <a:moveTo>
                    <a:pt x="4431" y="1249"/>
                  </a:moveTo>
                  <a:cubicBezTo>
                    <a:pt x="-6999" y="8869"/>
                    <a:pt x="5701" y="75544"/>
                    <a:pt x="19671" y="81259"/>
                  </a:cubicBezTo>
                  <a:cubicBezTo>
                    <a:pt x="33641" y="86974"/>
                    <a:pt x="90791" y="48239"/>
                    <a:pt x="88251" y="35539"/>
                  </a:cubicBezTo>
                  <a:cubicBezTo>
                    <a:pt x="85711" y="22839"/>
                    <a:pt x="15861" y="-6371"/>
                    <a:pt x="4431" y="1249"/>
                  </a:cubicBezTo>
                  <a:close/>
                </a:path>
              </a:pathLst>
            </a:cu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03" name="Freeform: Shape 202">
              <a:extLst>
                <a:ext uri="{FF2B5EF4-FFF2-40B4-BE49-F238E27FC236}">
                  <a16:creationId xmlns:a16="http://schemas.microsoft.com/office/drawing/2014/main" id="{A9A6015C-720F-4D48-988E-623382767FA5}"/>
                </a:ext>
              </a:extLst>
            </p:cNvPr>
            <p:cNvSpPr/>
            <p:nvPr/>
          </p:nvSpPr>
          <p:spPr>
            <a:xfrm>
              <a:off x="5745480" y="2929853"/>
              <a:ext cx="1874520" cy="1257337"/>
            </a:xfrm>
            <a:custGeom>
              <a:avLst/>
              <a:gdLst>
                <a:gd name="connsiteX0" fmla="*/ 0 w 1874520"/>
                <a:gd name="connsiteY0" fmla="*/ 41947 h 1257337"/>
                <a:gd name="connsiteX1" fmla="*/ 1051560 w 1874520"/>
                <a:gd name="connsiteY1" fmla="*/ 148627 h 1257337"/>
                <a:gd name="connsiteX2" fmla="*/ 1874520 w 1874520"/>
                <a:gd name="connsiteY2" fmla="*/ 1257337 h 1257337"/>
              </a:gdLst>
              <a:ahLst/>
              <a:cxnLst>
                <a:cxn ang="0">
                  <a:pos x="connsiteX0" y="connsiteY0"/>
                </a:cxn>
                <a:cxn ang="0">
                  <a:pos x="connsiteX1" y="connsiteY1"/>
                </a:cxn>
                <a:cxn ang="0">
                  <a:pos x="connsiteX2" y="connsiteY2"/>
                </a:cxn>
              </a:cxnLst>
              <a:rect l="l" t="t" r="r" b="b"/>
              <a:pathLst>
                <a:path w="1874520" h="1257337">
                  <a:moveTo>
                    <a:pt x="0" y="41947"/>
                  </a:moveTo>
                  <a:cubicBezTo>
                    <a:pt x="369570" y="-5996"/>
                    <a:pt x="739140" y="-53938"/>
                    <a:pt x="1051560" y="148627"/>
                  </a:cubicBezTo>
                  <a:cubicBezTo>
                    <a:pt x="1363980" y="351192"/>
                    <a:pt x="1619250" y="804264"/>
                    <a:pt x="1874520" y="1257337"/>
                  </a:cubicBez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grpSp>
      <p:sp>
        <p:nvSpPr>
          <p:cNvPr id="24" name="TextBox 23">
            <a:extLst>
              <a:ext uri="{FF2B5EF4-FFF2-40B4-BE49-F238E27FC236}">
                <a16:creationId xmlns:a16="http://schemas.microsoft.com/office/drawing/2014/main" id="{14786B7D-FC6D-4577-9C7B-6AB586705BED}"/>
              </a:ext>
            </a:extLst>
          </p:cNvPr>
          <p:cNvSpPr txBox="1"/>
          <p:nvPr/>
        </p:nvSpPr>
        <p:spPr>
          <a:xfrm>
            <a:off x="7063092" y="4787133"/>
            <a:ext cx="1200970" cy="307777"/>
          </a:xfrm>
          <a:prstGeom prst="rect">
            <a:avLst/>
          </a:prstGeom>
          <a:noFill/>
        </p:spPr>
        <p:txBody>
          <a:bodyPr wrap="none" rtlCol="0">
            <a:spAutoFit/>
          </a:bodyPr>
          <a:lstStyle/>
          <a:p>
            <a:r>
              <a:rPr lang="en-US" b="1" dirty="0">
                <a:solidFill>
                  <a:schemeClr val="accent6"/>
                </a:solidFill>
                <a:latin typeface="Segoe Print" panose="02000600000000000000" pitchFamily="2" charset="0"/>
              </a:rPr>
              <a:t>String Pool</a:t>
            </a:r>
          </a:p>
        </p:txBody>
      </p:sp>
      <p:grpSp>
        <p:nvGrpSpPr>
          <p:cNvPr id="26" name="Group 25">
            <a:extLst>
              <a:ext uri="{FF2B5EF4-FFF2-40B4-BE49-F238E27FC236}">
                <a16:creationId xmlns:a16="http://schemas.microsoft.com/office/drawing/2014/main" id="{D3CC387A-188E-4C8B-8E66-461499CF6DBF}"/>
              </a:ext>
            </a:extLst>
          </p:cNvPr>
          <p:cNvGrpSpPr/>
          <p:nvPr/>
        </p:nvGrpSpPr>
        <p:grpSpPr>
          <a:xfrm>
            <a:off x="5573082" y="2698323"/>
            <a:ext cx="2115501" cy="1574406"/>
            <a:chOff x="5745480" y="2929853"/>
            <a:chExt cx="1931454" cy="1323300"/>
          </a:xfrm>
        </p:grpSpPr>
        <p:sp>
          <p:nvSpPr>
            <p:cNvPr id="27" name="Freeform: Shape 26">
              <a:extLst>
                <a:ext uri="{FF2B5EF4-FFF2-40B4-BE49-F238E27FC236}">
                  <a16:creationId xmlns:a16="http://schemas.microsoft.com/office/drawing/2014/main" id="{DB909964-D55F-4989-85B5-2B181F6C0544}"/>
                </a:ext>
              </a:extLst>
            </p:cNvPr>
            <p:cNvSpPr/>
            <p:nvPr/>
          </p:nvSpPr>
          <p:spPr>
            <a:xfrm rot="19302310">
              <a:off x="7588601" y="4171323"/>
              <a:ext cx="88333" cy="81830"/>
            </a:xfrm>
            <a:custGeom>
              <a:avLst/>
              <a:gdLst>
                <a:gd name="connsiteX0" fmla="*/ 4431 w 88333"/>
                <a:gd name="connsiteY0" fmla="*/ 1249 h 81830"/>
                <a:gd name="connsiteX1" fmla="*/ 19671 w 88333"/>
                <a:gd name="connsiteY1" fmla="*/ 81259 h 81830"/>
                <a:gd name="connsiteX2" fmla="*/ 88251 w 88333"/>
                <a:gd name="connsiteY2" fmla="*/ 35539 h 81830"/>
                <a:gd name="connsiteX3" fmla="*/ 4431 w 88333"/>
                <a:gd name="connsiteY3" fmla="*/ 1249 h 81830"/>
              </a:gdLst>
              <a:ahLst/>
              <a:cxnLst>
                <a:cxn ang="0">
                  <a:pos x="connsiteX0" y="connsiteY0"/>
                </a:cxn>
                <a:cxn ang="0">
                  <a:pos x="connsiteX1" y="connsiteY1"/>
                </a:cxn>
                <a:cxn ang="0">
                  <a:pos x="connsiteX2" y="connsiteY2"/>
                </a:cxn>
                <a:cxn ang="0">
                  <a:pos x="connsiteX3" y="connsiteY3"/>
                </a:cxn>
              </a:cxnLst>
              <a:rect l="l" t="t" r="r" b="b"/>
              <a:pathLst>
                <a:path w="88333" h="81830">
                  <a:moveTo>
                    <a:pt x="4431" y="1249"/>
                  </a:moveTo>
                  <a:cubicBezTo>
                    <a:pt x="-6999" y="8869"/>
                    <a:pt x="5701" y="75544"/>
                    <a:pt x="19671" y="81259"/>
                  </a:cubicBezTo>
                  <a:cubicBezTo>
                    <a:pt x="33641" y="86974"/>
                    <a:pt x="90791" y="48239"/>
                    <a:pt x="88251" y="35539"/>
                  </a:cubicBezTo>
                  <a:cubicBezTo>
                    <a:pt x="85711" y="22839"/>
                    <a:pt x="15861" y="-6371"/>
                    <a:pt x="4431" y="1249"/>
                  </a:cubicBezTo>
                  <a:close/>
                </a:path>
              </a:pathLst>
            </a:cu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7E02EC40-D1A4-4BF5-BD14-40F75C5314E3}"/>
                </a:ext>
              </a:extLst>
            </p:cNvPr>
            <p:cNvSpPr/>
            <p:nvPr/>
          </p:nvSpPr>
          <p:spPr>
            <a:xfrm>
              <a:off x="5745480" y="2929853"/>
              <a:ext cx="1874520" cy="1257337"/>
            </a:xfrm>
            <a:custGeom>
              <a:avLst/>
              <a:gdLst>
                <a:gd name="connsiteX0" fmla="*/ 0 w 1874520"/>
                <a:gd name="connsiteY0" fmla="*/ 41947 h 1257337"/>
                <a:gd name="connsiteX1" fmla="*/ 1051560 w 1874520"/>
                <a:gd name="connsiteY1" fmla="*/ 148627 h 1257337"/>
                <a:gd name="connsiteX2" fmla="*/ 1874520 w 1874520"/>
                <a:gd name="connsiteY2" fmla="*/ 1257337 h 1257337"/>
              </a:gdLst>
              <a:ahLst/>
              <a:cxnLst>
                <a:cxn ang="0">
                  <a:pos x="connsiteX0" y="connsiteY0"/>
                </a:cxn>
                <a:cxn ang="0">
                  <a:pos x="connsiteX1" y="connsiteY1"/>
                </a:cxn>
                <a:cxn ang="0">
                  <a:pos x="connsiteX2" y="connsiteY2"/>
                </a:cxn>
              </a:cxnLst>
              <a:rect l="l" t="t" r="r" b="b"/>
              <a:pathLst>
                <a:path w="1874520" h="1257337">
                  <a:moveTo>
                    <a:pt x="0" y="41947"/>
                  </a:moveTo>
                  <a:cubicBezTo>
                    <a:pt x="369570" y="-5996"/>
                    <a:pt x="739140" y="-53938"/>
                    <a:pt x="1051560" y="148627"/>
                  </a:cubicBezTo>
                  <a:cubicBezTo>
                    <a:pt x="1363980" y="351192"/>
                    <a:pt x="1619250" y="804264"/>
                    <a:pt x="1874520" y="1257337"/>
                  </a:cubicBez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1216947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19">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9">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19">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9">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9">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9">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9">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9">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9">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7">
                                            <p:txEl>
                                              <p:pRg st="0" end="0"/>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0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9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01"/>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204"/>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19" grpId="0" uiExpand="1" build="p"/>
      <p:bldP spid="7" grpId="0" animBg="1"/>
      <p:bldP spid="30" grpId="0"/>
      <p:bldP spid="35" grpId="0"/>
      <p:bldP spid="198" grpId="0" animBg="1"/>
      <p:bldP spid="201" grpId="0" animBg="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20"/>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a:t>Common String Methods</a:t>
            </a:r>
            <a:endParaRPr/>
          </a:p>
        </p:txBody>
      </p:sp>
      <p:sp>
        <p:nvSpPr>
          <p:cNvPr id="247" name="Google Shape;247;p20"/>
          <p:cNvSpPr txBox="1">
            <a:spLocks noGrp="1"/>
          </p:cNvSpPr>
          <p:nvPr>
            <p:ph type="body" idx="1"/>
          </p:nvPr>
        </p:nvSpPr>
        <p:spPr>
          <a:xfrm>
            <a:off x="380010" y="1481445"/>
            <a:ext cx="8383980" cy="5247391"/>
          </a:xfrm>
          <a:prstGeom prst="rect">
            <a:avLst/>
          </a:prstGeom>
          <a:noFill/>
          <a:ln>
            <a:noFill/>
          </a:ln>
        </p:spPr>
        <p:txBody>
          <a:bodyPr spcFirstLastPara="1" wrap="square" lIns="91425" tIns="45700" rIns="91425" bIns="45700" anchor="t" anchorCtr="0">
            <a:normAutofit fontScale="92500" lnSpcReduction="20000"/>
          </a:bodyPr>
          <a:lstStyle/>
          <a:p>
            <a:pPr marL="342900" lvl="0" indent="-342900" algn="l" rtl="0">
              <a:lnSpc>
                <a:spcPct val="90000"/>
              </a:lnSpc>
              <a:spcBef>
                <a:spcPts val="0"/>
              </a:spcBef>
              <a:spcAft>
                <a:spcPts val="0"/>
              </a:spcAft>
              <a:buSzPts val="2220"/>
              <a:buChar char="•"/>
            </a:pPr>
            <a:r>
              <a:rPr lang="en-US" sz="2000" dirty="0" err="1">
                <a:latin typeface="Courier New"/>
                <a:ea typeface="Courier New"/>
                <a:cs typeface="Courier New"/>
                <a:sym typeface="Courier New"/>
              </a:rPr>
              <a:t>charAt</a:t>
            </a:r>
            <a:r>
              <a:rPr lang="en-US" sz="2000" dirty="0">
                <a:latin typeface="Courier New"/>
                <a:ea typeface="Courier New"/>
                <a:cs typeface="Courier New"/>
                <a:sym typeface="Courier New"/>
              </a:rPr>
              <a:t>(int index) – Returns a char</a:t>
            </a:r>
            <a:endParaRPr sz="2000" dirty="0"/>
          </a:p>
          <a:p>
            <a:pPr marL="742950" lvl="1" indent="-285750" algn="l" rtl="0">
              <a:lnSpc>
                <a:spcPct val="90000"/>
              </a:lnSpc>
              <a:spcBef>
                <a:spcPts val="444"/>
              </a:spcBef>
              <a:spcAft>
                <a:spcPts val="0"/>
              </a:spcAft>
              <a:buSzPts val="2220"/>
              <a:buChar char="–"/>
            </a:pPr>
            <a:r>
              <a:rPr lang="en-US" sz="2000" dirty="0"/>
              <a:t>Returns the character at the specified position in the String. </a:t>
            </a:r>
            <a:endParaRPr sz="2000" dirty="0"/>
          </a:p>
          <a:p>
            <a:pPr marL="342900" lvl="0" indent="-342900" algn="l" rtl="0">
              <a:lnSpc>
                <a:spcPct val="90000"/>
              </a:lnSpc>
              <a:spcBef>
                <a:spcPts val="444"/>
              </a:spcBef>
              <a:spcAft>
                <a:spcPts val="0"/>
              </a:spcAft>
              <a:buSzPts val="2220"/>
              <a:buChar char="•"/>
            </a:pPr>
            <a:r>
              <a:rPr lang="en-US" sz="2000" dirty="0" err="1">
                <a:latin typeface="Courier New"/>
                <a:ea typeface="Courier New"/>
                <a:cs typeface="Courier New"/>
                <a:sym typeface="Courier New"/>
              </a:rPr>
              <a:t>indexOf</a:t>
            </a:r>
            <a:r>
              <a:rPr lang="en-US" sz="2000" dirty="0">
                <a:latin typeface="Courier New"/>
                <a:ea typeface="Courier New"/>
                <a:cs typeface="Courier New"/>
                <a:sym typeface="Courier New"/>
              </a:rPr>
              <a:t>(String str) – Returns an int</a:t>
            </a:r>
            <a:endParaRPr sz="2000" dirty="0"/>
          </a:p>
          <a:p>
            <a:pPr marL="742950" lvl="1" indent="-285750" algn="l" rtl="0">
              <a:lnSpc>
                <a:spcPct val="90000"/>
              </a:lnSpc>
              <a:spcBef>
                <a:spcPts val="444"/>
              </a:spcBef>
              <a:spcAft>
                <a:spcPts val="0"/>
              </a:spcAft>
              <a:buSzPts val="2220"/>
              <a:buChar char="–"/>
            </a:pPr>
            <a:r>
              <a:rPr lang="en-US" sz="2000" dirty="0"/>
              <a:t>Returns the position of the first occurrence of the specified substring</a:t>
            </a:r>
            <a:endParaRPr sz="2000" dirty="0"/>
          </a:p>
          <a:p>
            <a:pPr marL="342900" lvl="0" indent="-342900" algn="l" rtl="0">
              <a:lnSpc>
                <a:spcPct val="90000"/>
              </a:lnSpc>
              <a:spcBef>
                <a:spcPts val="444"/>
              </a:spcBef>
              <a:spcAft>
                <a:spcPts val="0"/>
              </a:spcAft>
              <a:buSzPts val="2220"/>
              <a:buChar char="•"/>
            </a:pPr>
            <a:r>
              <a:rPr lang="en-US" sz="2000" dirty="0">
                <a:latin typeface="Courier New"/>
                <a:ea typeface="Courier New"/>
                <a:cs typeface="Courier New"/>
                <a:sym typeface="Courier New"/>
              </a:rPr>
              <a:t>length() – Returns an int</a:t>
            </a:r>
            <a:endParaRPr sz="2000" dirty="0"/>
          </a:p>
          <a:p>
            <a:pPr marL="742950" lvl="1" indent="-285750" algn="l" rtl="0">
              <a:lnSpc>
                <a:spcPct val="90000"/>
              </a:lnSpc>
              <a:spcBef>
                <a:spcPts val="444"/>
              </a:spcBef>
              <a:spcAft>
                <a:spcPts val="0"/>
              </a:spcAft>
              <a:buSzPts val="2220"/>
              <a:buChar char="–"/>
            </a:pPr>
            <a:r>
              <a:rPr lang="en-US" sz="2000" dirty="0"/>
              <a:t>Returns the number of characters in the string</a:t>
            </a:r>
            <a:endParaRPr sz="2000" dirty="0"/>
          </a:p>
          <a:p>
            <a:pPr marL="342900" lvl="0" indent="-342900" algn="l" rtl="0">
              <a:lnSpc>
                <a:spcPct val="90000"/>
              </a:lnSpc>
              <a:spcBef>
                <a:spcPts val="444"/>
              </a:spcBef>
              <a:spcAft>
                <a:spcPts val="0"/>
              </a:spcAft>
              <a:buSzPts val="2220"/>
              <a:buChar char="•"/>
            </a:pPr>
            <a:r>
              <a:rPr lang="en-US" sz="2000" dirty="0">
                <a:latin typeface="Courier New"/>
                <a:ea typeface="Courier New"/>
                <a:cs typeface="Courier New"/>
                <a:sym typeface="Courier New"/>
              </a:rPr>
              <a:t>substring(int </a:t>
            </a:r>
            <a:r>
              <a:rPr lang="en-US" sz="2000" dirty="0" err="1">
                <a:latin typeface="Courier New"/>
                <a:ea typeface="Courier New"/>
                <a:cs typeface="Courier New"/>
                <a:sym typeface="Courier New"/>
              </a:rPr>
              <a:t>beginIndex</a:t>
            </a:r>
            <a:r>
              <a:rPr lang="en-US" sz="2000" dirty="0">
                <a:latin typeface="Courier New"/>
                <a:ea typeface="Courier New"/>
                <a:cs typeface="Courier New"/>
                <a:sym typeface="Courier New"/>
              </a:rPr>
              <a:t>) – Returns a String</a:t>
            </a:r>
            <a:endParaRPr sz="2000" dirty="0"/>
          </a:p>
          <a:p>
            <a:pPr marL="742950" lvl="1" indent="-285750" algn="l" rtl="0">
              <a:lnSpc>
                <a:spcPct val="90000"/>
              </a:lnSpc>
              <a:spcBef>
                <a:spcPts val="444"/>
              </a:spcBef>
              <a:spcAft>
                <a:spcPts val="0"/>
              </a:spcAft>
              <a:buSzPts val="2220"/>
              <a:buChar char="–"/>
            </a:pPr>
            <a:r>
              <a:rPr lang="en-US" sz="2000" dirty="0"/>
              <a:t>Returns a substring starting from the given index of the parent String.</a:t>
            </a:r>
            <a:endParaRPr sz="2000" dirty="0"/>
          </a:p>
          <a:p>
            <a:pPr marL="342900" lvl="0" indent="-342900" algn="l" rtl="0">
              <a:lnSpc>
                <a:spcPct val="90000"/>
              </a:lnSpc>
              <a:spcBef>
                <a:spcPts val="444"/>
              </a:spcBef>
              <a:spcAft>
                <a:spcPts val="0"/>
              </a:spcAft>
              <a:buSzPts val="2220"/>
              <a:buChar char="•"/>
            </a:pPr>
            <a:r>
              <a:rPr lang="en-US" sz="2000" dirty="0">
                <a:latin typeface="Courier New"/>
                <a:ea typeface="Courier New"/>
                <a:cs typeface="Courier New"/>
                <a:sym typeface="Courier New"/>
              </a:rPr>
              <a:t>equals(String str) – Returns a </a:t>
            </a:r>
            <a:r>
              <a:rPr lang="en-US" sz="2000" dirty="0" err="1">
                <a:latin typeface="Courier New"/>
                <a:ea typeface="Courier New"/>
                <a:cs typeface="Courier New"/>
                <a:sym typeface="Courier New"/>
              </a:rPr>
              <a:t>boolean</a:t>
            </a:r>
            <a:endParaRPr sz="2000" dirty="0"/>
          </a:p>
          <a:p>
            <a:pPr marL="742950" lvl="1" indent="-285750" algn="l" rtl="0">
              <a:lnSpc>
                <a:spcPct val="90000"/>
              </a:lnSpc>
              <a:spcBef>
                <a:spcPts val="444"/>
              </a:spcBef>
              <a:spcAft>
                <a:spcPts val="0"/>
              </a:spcAft>
              <a:buSzPts val="2220"/>
              <a:buChar char="–"/>
            </a:pPr>
            <a:r>
              <a:rPr lang="en-US" sz="2000" dirty="0"/>
              <a:t>Returns whether the two strings have the same sequence of characters.</a:t>
            </a:r>
          </a:p>
          <a:p>
            <a:pPr marL="342900" lvl="0" indent="-342900">
              <a:lnSpc>
                <a:spcPct val="90000"/>
              </a:lnSpc>
              <a:spcBef>
                <a:spcPts val="444"/>
              </a:spcBef>
              <a:buSzPts val="2220"/>
            </a:pPr>
            <a:r>
              <a:rPr lang="en-US" sz="2000" dirty="0">
                <a:latin typeface="Courier New"/>
                <a:ea typeface="Courier New"/>
                <a:cs typeface="Courier New"/>
                <a:sym typeface="Courier New"/>
              </a:rPr>
              <a:t>intern() – Returns a String</a:t>
            </a:r>
            <a:endParaRPr lang="en-US" sz="2000" dirty="0"/>
          </a:p>
          <a:p>
            <a:pPr marL="742950" lvl="1" indent="-285750">
              <a:lnSpc>
                <a:spcPct val="90000"/>
              </a:lnSpc>
              <a:spcBef>
                <a:spcPts val="444"/>
              </a:spcBef>
              <a:buSzPts val="2220"/>
            </a:pPr>
            <a:r>
              <a:rPr lang="en-US" sz="2000" dirty="0"/>
              <a:t>Converts a String Object into the String literal form and adds it to the String pool.</a:t>
            </a:r>
          </a:p>
          <a:p>
            <a:pPr marL="342900" lvl="0" indent="-342900">
              <a:lnSpc>
                <a:spcPct val="90000"/>
              </a:lnSpc>
              <a:spcBef>
                <a:spcPts val="444"/>
              </a:spcBef>
              <a:buSzPts val="2220"/>
            </a:pPr>
            <a:r>
              <a:rPr lang="en-US" sz="2000" dirty="0" err="1">
                <a:latin typeface="Courier New"/>
                <a:ea typeface="Courier New"/>
                <a:cs typeface="Courier New"/>
                <a:sym typeface="Courier New"/>
              </a:rPr>
              <a:t>toLowerCase</a:t>
            </a:r>
            <a:r>
              <a:rPr lang="en-US" sz="2000" dirty="0">
                <a:latin typeface="Courier New"/>
                <a:ea typeface="Courier New"/>
                <a:cs typeface="Courier New"/>
                <a:sym typeface="Courier New"/>
              </a:rPr>
              <a:t>() – Returns a String</a:t>
            </a:r>
            <a:endParaRPr lang="en-US" sz="2000" dirty="0"/>
          </a:p>
          <a:p>
            <a:pPr marL="742950" lvl="1" indent="-285750">
              <a:lnSpc>
                <a:spcPct val="90000"/>
              </a:lnSpc>
              <a:spcBef>
                <a:spcPts val="444"/>
              </a:spcBef>
              <a:buSzPts val="2220"/>
            </a:pPr>
            <a:r>
              <a:rPr lang="en-US" sz="2000" dirty="0"/>
              <a:t>Returns a representation of the String with all lowercase letters.</a:t>
            </a:r>
          </a:p>
          <a:p>
            <a:pPr marL="342900" lvl="0" indent="-342900">
              <a:lnSpc>
                <a:spcPct val="90000"/>
              </a:lnSpc>
              <a:spcBef>
                <a:spcPts val="444"/>
              </a:spcBef>
              <a:buSzPts val="2220"/>
            </a:pPr>
            <a:r>
              <a:rPr lang="en-US" sz="2000" dirty="0" err="1">
                <a:latin typeface="Courier New"/>
                <a:ea typeface="Courier New"/>
                <a:cs typeface="Courier New"/>
                <a:sym typeface="Courier New"/>
              </a:rPr>
              <a:t>toUpperCase</a:t>
            </a:r>
            <a:r>
              <a:rPr lang="en-US" sz="2000" dirty="0">
                <a:latin typeface="Courier New"/>
                <a:ea typeface="Courier New"/>
                <a:cs typeface="Courier New"/>
                <a:sym typeface="Courier New"/>
              </a:rPr>
              <a:t>() – Returns a String</a:t>
            </a:r>
            <a:endParaRPr lang="en-US" sz="2000" dirty="0"/>
          </a:p>
          <a:p>
            <a:pPr marL="742950" lvl="1" indent="-285750">
              <a:lnSpc>
                <a:spcPct val="90000"/>
              </a:lnSpc>
              <a:spcBef>
                <a:spcPts val="444"/>
              </a:spcBef>
              <a:buSzPts val="2220"/>
            </a:pPr>
            <a:r>
              <a:rPr lang="en-US" sz="2000" dirty="0"/>
              <a:t>Returns a representation of the String with all uppercase letters.</a:t>
            </a:r>
            <a:endParaRPr lang="en-US" sz="2590" dirty="0"/>
          </a:p>
          <a:p>
            <a:pPr marL="342900" lvl="0" indent="-342900">
              <a:lnSpc>
                <a:spcPct val="90000"/>
              </a:lnSpc>
              <a:spcBef>
                <a:spcPts val="444"/>
              </a:spcBef>
              <a:buSzPts val="2220"/>
            </a:pPr>
            <a:r>
              <a:rPr lang="en-US" sz="2000" dirty="0">
                <a:latin typeface="Courier New"/>
                <a:ea typeface="Courier New"/>
                <a:cs typeface="Courier New"/>
                <a:sym typeface="Courier New"/>
              </a:rPr>
              <a:t>split(String regex) – Returns a String[]</a:t>
            </a:r>
            <a:endParaRPr lang="en-US" sz="2000" dirty="0"/>
          </a:p>
          <a:p>
            <a:pPr marL="742950" lvl="1" indent="-285750">
              <a:lnSpc>
                <a:spcPct val="90000"/>
              </a:lnSpc>
              <a:spcBef>
                <a:spcPts val="444"/>
              </a:spcBef>
              <a:buSzPts val="2220"/>
            </a:pPr>
            <a:r>
              <a:rPr lang="en-US" sz="2000" dirty="0"/>
              <a:t>Slices the String using the regular expression (or string) given.</a:t>
            </a:r>
          </a:p>
          <a:p>
            <a:pPr marL="342900" lvl="0" indent="-178435" algn="l" rtl="0">
              <a:lnSpc>
                <a:spcPct val="90000"/>
              </a:lnSpc>
              <a:spcBef>
                <a:spcPts val="518"/>
              </a:spcBef>
              <a:spcAft>
                <a:spcPts val="0"/>
              </a:spcAft>
              <a:buSzPts val="2590"/>
              <a:buNone/>
            </a:pPr>
            <a:endParaRPr sz="2590" dirty="0"/>
          </a:p>
        </p:txBody>
      </p:sp>
      <p:sp>
        <p:nvSpPr>
          <p:cNvPr id="248" name="Google Shape;248;p20"/>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116</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47">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7">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7">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47">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47">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47">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47">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47">
                                            <p:txEl>
                                              <p:pRg st="10" end="10"/>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47">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47">
                                            <p:txEl>
                                              <p:pRg st="12" end="12"/>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47">
                                            <p:txEl>
                                              <p:pRg st="13" end="13"/>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47">
                                            <p:txEl>
                                              <p:pRg st="14" end="14"/>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47">
                                            <p:txEl>
                                              <p:pRg st="15" end="15"/>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47">
                                            <p:txEl>
                                              <p:pRg st="16" end="16"/>
                                            </p:txEl>
                                          </p:spTgt>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47">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 grpId="0" build="p"/>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36E88-22A1-178A-8D31-CE4995883BD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603CB34-EF37-710A-BB1D-9FBA7CC4D5C1}"/>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117</a:t>
            </a:fld>
            <a:endParaRPr lang="en-US"/>
          </a:p>
        </p:txBody>
      </p:sp>
      <p:sp>
        <p:nvSpPr>
          <p:cNvPr id="4" name="Google Shape;212;p15">
            <a:extLst>
              <a:ext uri="{FF2B5EF4-FFF2-40B4-BE49-F238E27FC236}">
                <a16:creationId xmlns:a16="http://schemas.microsoft.com/office/drawing/2014/main" id="{FCD27896-65B5-C0C9-4804-28590BEFD612}"/>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StringBuilder &amp; </a:t>
            </a:r>
            <a:r>
              <a:rPr lang="en-US" sz="4000" b="0" i="0" u="none" strike="noStrike" cap="none" dirty="0" err="1">
                <a:solidFill>
                  <a:schemeClr val="dk2"/>
                </a:solidFill>
                <a:latin typeface="Arial"/>
                <a:ea typeface="Arial"/>
                <a:cs typeface="Arial"/>
                <a:sym typeface="Arial"/>
              </a:rPr>
              <a:t>StringBuffer</a:t>
            </a:r>
            <a:endParaRPr lang="en-US" sz="4000" b="0" i="0" u="none" strike="noStrike" cap="none" dirty="0">
              <a:solidFill>
                <a:schemeClr val="dk2"/>
              </a:solidFill>
              <a:latin typeface="Arial"/>
              <a:ea typeface="Arial"/>
              <a:cs typeface="Arial"/>
              <a:sym typeface="Arial"/>
            </a:endParaRPr>
          </a:p>
        </p:txBody>
      </p:sp>
      <p:pic>
        <p:nvPicPr>
          <p:cNvPr id="6" name="Picture 5">
            <a:extLst>
              <a:ext uri="{FF2B5EF4-FFF2-40B4-BE49-F238E27FC236}">
                <a16:creationId xmlns:a16="http://schemas.microsoft.com/office/drawing/2014/main" id="{71B1AD06-5436-353E-5E49-79DF6F1A0F43}"/>
              </a:ext>
            </a:extLst>
          </p:cNvPr>
          <p:cNvPicPr>
            <a:picLocks noChangeAspect="1"/>
          </p:cNvPicPr>
          <p:nvPr/>
        </p:nvPicPr>
        <p:blipFill>
          <a:blip r:embed="rId2"/>
          <a:stretch>
            <a:fillRect/>
          </a:stretch>
        </p:blipFill>
        <p:spPr>
          <a:xfrm>
            <a:off x="7036646" y="0"/>
            <a:ext cx="2107354" cy="773112"/>
          </a:xfrm>
          <a:prstGeom prst="rect">
            <a:avLst/>
          </a:prstGeom>
        </p:spPr>
      </p:pic>
    </p:spTree>
    <p:extLst>
      <p:ext uri="{BB962C8B-B14F-4D97-AF65-F5344CB8AC3E}">
        <p14:creationId xmlns:p14="http://schemas.microsoft.com/office/powerpoint/2010/main" val="297209205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03D79-07A0-457D-8B7E-8EF39553E276}"/>
              </a:ext>
            </a:extLst>
          </p:cNvPr>
          <p:cNvSpPr>
            <a:spLocks noGrp="1"/>
          </p:cNvSpPr>
          <p:nvPr>
            <p:ph type="title"/>
          </p:nvPr>
        </p:nvSpPr>
        <p:spPr/>
        <p:txBody>
          <a:bodyPr/>
          <a:lstStyle/>
          <a:p>
            <a:r>
              <a:rPr lang="en-US" dirty="0"/>
              <a:t>String Builder &amp; String Buffer</a:t>
            </a:r>
          </a:p>
        </p:txBody>
      </p:sp>
      <p:sp>
        <p:nvSpPr>
          <p:cNvPr id="3" name="Text Placeholder 2">
            <a:extLst>
              <a:ext uri="{FF2B5EF4-FFF2-40B4-BE49-F238E27FC236}">
                <a16:creationId xmlns:a16="http://schemas.microsoft.com/office/drawing/2014/main" id="{3BBC2A58-D8BE-4ACE-BAA3-A38162AF215C}"/>
              </a:ext>
            </a:extLst>
          </p:cNvPr>
          <p:cNvSpPr>
            <a:spLocks noGrp="1"/>
          </p:cNvSpPr>
          <p:nvPr>
            <p:ph type="body" idx="1"/>
          </p:nvPr>
        </p:nvSpPr>
        <p:spPr>
          <a:xfrm>
            <a:off x="380010" y="1481446"/>
            <a:ext cx="8383980" cy="4882266"/>
          </a:xfrm>
        </p:spPr>
        <p:txBody>
          <a:bodyPr>
            <a:normAutofit fontScale="92500" lnSpcReduction="20000"/>
          </a:bodyPr>
          <a:lstStyle/>
          <a:p>
            <a:r>
              <a:rPr lang="en-US" dirty="0"/>
              <a:t>Since Strings are immutable, they can be memory inefficient. </a:t>
            </a:r>
          </a:p>
          <a:p>
            <a:r>
              <a:rPr lang="en-US" dirty="0">
                <a:latin typeface="Courier New" panose="02070309020205020404" pitchFamily="49" charset="0"/>
                <a:cs typeface="Courier New" panose="02070309020205020404" pitchFamily="49" charset="0"/>
              </a:rPr>
              <a:t>StringBuilder</a:t>
            </a:r>
            <a:r>
              <a:rPr lang="en-US" dirty="0"/>
              <a:t> and </a:t>
            </a:r>
            <a:r>
              <a:rPr lang="en-US" dirty="0" err="1">
                <a:latin typeface="Courier New" panose="02070309020205020404" pitchFamily="49" charset="0"/>
                <a:cs typeface="Courier New" panose="02070309020205020404" pitchFamily="49" charset="0"/>
              </a:rPr>
              <a:t>StringBuffer</a:t>
            </a:r>
            <a:r>
              <a:rPr lang="en-US" dirty="0"/>
              <a:t> classes are used to create mutable strings.</a:t>
            </a:r>
          </a:p>
          <a:p>
            <a:r>
              <a:rPr lang="en-US" dirty="0"/>
              <a:t>Each class includes various String manipulation methods:</a:t>
            </a:r>
          </a:p>
          <a:p>
            <a:pPr lvl="1"/>
            <a:r>
              <a:rPr lang="en-US" dirty="0"/>
              <a:t>append</a:t>
            </a:r>
          </a:p>
          <a:p>
            <a:pPr lvl="1"/>
            <a:r>
              <a:rPr lang="en-US" dirty="0"/>
              <a:t>insert</a:t>
            </a:r>
          </a:p>
          <a:p>
            <a:pPr lvl="1"/>
            <a:r>
              <a:rPr lang="en-US" dirty="0" err="1"/>
              <a:t>deleteCharAt</a:t>
            </a:r>
            <a:endParaRPr lang="en-US" dirty="0"/>
          </a:p>
          <a:p>
            <a:pPr lvl="1"/>
            <a:r>
              <a:rPr lang="en-US" dirty="0" err="1"/>
              <a:t>setCharAt</a:t>
            </a:r>
            <a:endParaRPr lang="en-US" dirty="0"/>
          </a:p>
          <a:p>
            <a:pPr lvl="1"/>
            <a:r>
              <a:rPr lang="en-US" dirty="0"/>
              <a:t>substring</a:t>
            </a:r>
          </a:p>
          <a:p>
            <a:r>
              <a:rPr lang="en-US" dirty="0" err="1">
                <a:latin typeface="Courier New" panose="02070309020205020404" pitchFamily="49" charset="0"/>
                <a:cs typeface="Courier New" panose="02070309020205020404" pitchFamily="49" charset="0"/>
              </a:rPr>
              <a:t>StringBuffer</a:t>
            </a:r>
            <a:r>
              <a:rPr lang="en-US" dirty="0"/>
              <a:t> is synchronized (thread-safe), while </a:t>
            </a:r>
            <a:r>
              <a:rPr lang="en-US" dirty="0">
                <a:latin typeface="Courier New" panose="02070309020205020404" pitchFamily="49" charset="0"/>
                <a:cs typeface="Courier New" panose="02070309020205020404" pitchFamily="49" charset="0"/>
              </a:rPr>
              <a:t>StringBuilder</a:t>
            </a:r>
            <a:r>
              <a:rPr lang="en-US" dirty="0"/>
              <a:t> is not.</a:t>
            </a:r>
          </a:p>
        </p:txBody>
      </p:sp>
      <p:sp>
        <p:nvSpPr>
          <p:cNvPr id="4" name="Slide Number Placeholder 3">
            <a:extLst>
              <a:ext uri="{FF2B5EF4-FFF2-40B4-BE49-F238E27FC236}">
                <a16:creationId xmlns:a16="http://schemas.microsoft.com/office/drawing/2014/main" id="{2B0B08D7-7D5A-40B8-8031-28125F51709B}"/>
              </a:ext>
            </a:extLst>
          </p:cNvPr>
          <p:cNvSpPr>
            <a:spLocks noGrp="1"/>
          </p:cNvSpPr>
          <p:nvPr>
            <p:ph type="sldNum" idx="12"/>
          </p:nvPr>
        </p:nvSpPr>
        <p:spPr>
          <a:xfrm>
            <a:off x="8122757" y="6363712"/>
            <a:ext cx="861671" cy="365125"/>
          </a:xfrm>
        </p:spPr>
        <p:txBody>
          <a:bodyPr/>
          <a:lstStyle/>
          <a:p>
            <a:pPr marL="0" lvl="0" indent="0" algn="r" rtl="0">
              <a:spcBef>
                <a:spcPts val="0"/>
              </a:spcBef>
              <a:spcAft>
                <a:spcPts val="0"/>
              </a:spcAft>
              <a:buNone/>
            </a:pPr>
            <a:fld id="{00000000-1234-1234-1234-123412341234}" type="slidenum">
              <a:rPr lang="en-US" smtClean="0"/>
              <a:t>118</a:t>
            </a:fld>
            <a:endParaRPr lang="en-US"/>
          </a:p>
        </p:txBody>
      </p:sp>
    </p:spTree>
    <p:extLst>
      <p:ext uri="{BB962C8B-B14F-4D97-AF65-F5344CB8AC3E}">
        <p14:creationId xmlns:p14="http://schemas.microsoft.com/office/powerpoint/2010/main" val="242834420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2E0B8-B53E-47A4-F152-D22955AE407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0F38592-F4DC-636E-4B17-625F02E00495}"/>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119</a:t>
            </a:fld>
            <a:endParaRPr lang="en-US"/>
          </a:p>
        </p:txBody>
      </p:sp>
      <p:sp>
        <p:nvSpPr>
          <p:cNvPr id="4" name="Google Shape;212;p15">
            <a:extLst>
              <a:ext uri="{FF2B5EF4-FFF2-40B4-BE49-F238E27FC236}">
                <a16:creationId xmlns:a16="http://schemas.microsoft.com/office/drawing/2014/main" id="{F88DB018-BDBD-284F-8CAD-FACACE7589A1}"/>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Non-access Modifiers</a:t>
            </a:r>
          </a:p>
        </p:txBody>
      </p:sp>
      <p:pic>
        <p:nvPicPr>
          <p:cNvPr id="6" name="Picture 5">
            <a:extLst>
              <a:ext uri="{FF2B5EF4-FFF2-40B4-BE49-F238E27FC236}">
                <a16:creationId xmlns:a16="http://schemas.microsoft.com/office/drawing/2014/main" id="{4DEAC6B9-96E1-4F49-5784-3E480CD68941}"/>
              </a:ext>
            </a:extLst>
          </p:cNvPr>
          <p:cNvPicPr>
            <a:picLocks noChangeAspect="1"/>
          </p:cNvPicPr>
          <p:nvPr/>
        </p:nvPicPr>
        <p:blipFill>
          <a:blip r:embed="rId2"/>
          <a:stretch>
            <a:fillRect/>
          </a:stretch>
        </p:blipFill>
        <p:spPr>
          <a:xfrm>
            <a:off x="7036646" y="0"/>
            <a:ext cx="2107354" cy="773112"/>
          </a:xfrm>
          <a:prstGeom prst="rect">
            <a:avLst/>
          </a:prstGeom>
        </p:spPr>
      </p:pic>
    </p:spTree>
    <p:extLst>
      <p:ext uri="{BB962C8B-B14F-4D97-AF65-F5344CB8AC3E}">
        <p14:creationId xmlns:p14="http://schemas.microsoft.com/office/powerpoint/2010/main" val="283760583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03D79-07A0-457D-8B7E-8EF39553E276}"/>
              </a:ext>
            </a:extLst>
          </p:cNvPr>
          <p:cNvSpPr>
            <a:spLocks noGrp="1"/>
          </p:cNvSpPr>
          <p:nvPr>
            <p:ph type="title"/>
          </p:nvPr>
        </p:nvSpPr>
        <p:spPr/>
        <p:txBody>
          <a:bodyPr/>
          <a:lstStyle/>
          <a:p>
            <a:r>
              <a:rPr lang="en-US" dirty="0"/>
              <a:t>Non-Access Modifiers (important ones)</a:t>
            </a:r>
          </a:p>
        </p:txBody>
      </p:sp>
      <p:sp>
        <p:nvSpPr>
          <p:cNvPr id="3" name="Text Placeholder 2">
            <a:extLst>
              <a:ext uri="{FF2B5EF4-FFF2-40B4-BE49-F238E27FC236}">
                <a16:creationId xmlns:a16="http://schemas.microsoft.com/office/drawing/2014/main" id="{3BBC2A58-D8BE-4ACE-BAA3-A38162AF215C}"/>
              </a:ext>
            </a:extLst>
          </p:cNvPr>
          <p:cNvSpPr>
            <a:spLocks noGrp="1"/>
          </p:cNvSpPr>
          <p:nvPr>
            <p:ph type="body" idx="1"/>
          </p:nvPr>
        </p:nvSpPr>
        <p:spPr>
          <a:xfrm>
            <a:off x="380010" y="1481446"/>
            <a:ext cx="8383980" cy="5128904"/>
          </a:xfrm>
        </p:spPr>
        <p:txBody>
          <a:bodyPr>
            <a:normAutofit fontScale="77500" lnSpcReduction="20000"/>
          </a:bodyPr>
          <a:lstStyle/>
          <a:p>
            <a:r>
              <a:rPr lang="en-US" b="1" dirty="0">
                <a:latin typeface="Courier New" panose="02070309020205020404" pitchFamily="49" charset="0"/>
                <a:cs typeface="Courier New" panose="02070309020205020404" pitchFamily="49" charset="0"/>
              </a:rPr>
              <a:t>Static</a:t>
            </a:r>
          </a:p>
          <a:p>
            <a:pPr lvl="1"/>
            <a:r>
              <a:rPr lang="en-US" dirty="0"/>
              <a:t>Sets the resource to be available without needing to create an instance of the class and shares the resource across all members of a class.</a:t>
            </a:r>
          </a:p>
          <a:p>
            <a:r>
              <a:rPr lang="en-US" b="1" dirty="0">
                <a:latin typeface="Courier New" panose="02070309020205020404" pitchFamily="49" charset="0"/>
                <a:cs typeface="Courier New" panose="02070309020205020404" pitchFamily="49" charset="0"/>
              </a:rPr>
              <a:t>Final</a:t>
            </a:r>
          </a:p>
          <a:p>
            <a:pPr lvl="1"/>
            <a:r>
              <a:rPr lang="en-US" dirty="0"/>
              <a:t>Declares a resource (class, method or field) as the last implementation, which cannot be extended, overridden, or changed.</a:t>
            </a:r>
          </a:p>
          <a:p>
            <a:r>
              <a:rPr lang="en-US" b="1" dirty="0">
                <a:latin typeface="Courier New" panose="02070309020205020404" pitchFamily="49" charset="0"/>
                <a:cs typeface="Courier New" panose="02070309020205020404" pitchFamily="49" charset="0"/>
              </a:rPr>
              <a:t>Abstract</a:t>
            </a:r>
          </a:p>
          <a:p>
            <a:pPr lvl="1"/>
            <a:r>
              <a:rPr lang="en-US" dirty="0"/>
              <a:t>Allows for the declaration of a class or method without implementation.</a:t>
            </a:r>
          </a:p>
          <a:p>
            <a:r>
              <a:rPr lang="en-US" dirty="0">
                <a:latin typeface="Courier New" panose="02070309020205020404" pitchFamily="49" charset="0"/>
                <a:cs typeface="Courier New" panose="02070309020205020404" pitchFamily="49" charset="0"/>
              </a:rPr>
              <a:t>Default</a:t>
            </a:r>
            <a:r>
              <a:rPr lang="en-US" dirty="0"/>
              <a:t> (interfaces)</a:t>
            </a:r>
          </a:p>
          <a:p>
            <a:pPr lvl="1"/>
            <a:r>
              <a:rPr lang="en-US" dirty="0"/>
              <a:t>Not to be confused with </a:t>
            </a:r>
            <a:r>
              <a:rPr lang="en-US" dirty="0">
                <a:latin typeface="Courier New" panose="02070309020205020404" pitchFamily="49" charset="0"/>
                <a:cs typeface="Courier New" panose="02070309020205020404" pitchFamily="49" charset="0"/>
              </a:rPr>
              <a:t>default</a:t>
            </a:r>
            <a:r>
              <a:rPr lang="en-US" dirty="0"/>
              <a:t> in a switch statement…</a:t>
            </a:r>
          </a:p>
          <a:p>
            <a:pPr lvl="1"/>
            <a:r>
              <a:rPr lang="en-US" dirty="0"/>
              <a:t>Also, not to be confused with the default access modifier…</a:t>
            </a:r>
          </a:p>
          <a:p>
            <a:pPr lvl="1"/>
            <a:r>
              <a:rPr lang="en-US" dirty="0"/>
              <a:t>Introduced in Java 8</a:t>
            </a:r>
          </a:p>
          <a:p>
            <a:pPr lvl="1"/>
            <a:r>
              <a:rPr lang="en-US" dirty="0"/>
              <a:t>Allows for the implementation of an abstract method, particularly within interfaces.</a:t>
            </a:r>
          </a:p>
        </p:txBody>
      </p:sp>
      <p:sp>
        <p:nvSpPr>
          <p:cNvPr id="4" name="Slide Number Placeholder 3">
            <a:extLst>
              <a:ext uri="{FF2B5EF4-FFF2-40B4-BE49-F238E27FC236}">
                <a16:creationId xmlns:a16="http://schemas.microsoft.com/office/drawing/2014/main" id="{2B0B08D7-7D5A-40B8-8031-28125F51709B}"/>
              </a:ext>
            </a:extLst>
          </p:cNvPr>
          <p:cNvSpPr>
            <a:spLocks noGrp="1"/>
          </p:cNvSpPr>
          <p:nvPr>
            <p:ph type="sldNum" idx="12"/>
          </p:nvPr>
        </p:nvSpPr>
        <p:spPr>
          <a:xfrm>
            <a:off x="8122757" y="6363712"/>
            <a:ext cx="861671" cy="365125"/>
          </a:xfrm>
        </p:spPr>
        <p:txBody>
          <a:bodyPr/>
          <a:lstStyle/>
          <a:p>
            <a:pPr marL="0" lvl="0" indent="0" algn="r" rtl="0">
              <a:spcBef>
                <a:spcPts val="0"/>
              </a:spcBef>
              <a:spcAft>
                <a:spcPts val="0"/>
              </a:spcAft>
              <a:buNone/>
            </a:pPr>
            <a:fld id="{00000000-1234-1234-1234-123412341234}" type="slidenum">
              <a:rPr lang="en-US" smtClean="0"/>
              <a:t>120</a:t>
            </a:fld>
            <a:endParaRPr lang="en-US"/>
          </a:p>
        </p:txBody>
      </p:sp>
    </p:spTree>
    <p:extLst>
      <p:ext uri="{BB962C8B-B14F-4D97-AF65-F5344CB8AC3E}">
        <p14:creationId xmlns:p14="http://schemas.microsoft.com/office/powerpoint/2010/main" val="216903510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20"/>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a:t>The </a:t>
            </a:r>
            <a:r>
              <a:rPr lang="en-US">
                <a:latin typeface="Courier New"/>
                <a:ea typeface="Courier New"/>
                <a:cs typeface="Courier New"/>
                <a:sym typeface="Courier New"/>
              </a:rPr>
              <a:t>final</a:t>
            </a:r>
            <a:r>
              <a:rPr lang="en-US"/>
              <a:t> Keyword</a:t>
            </a:r>
            <a:endParaRPr/>
          </a:p>
        </p:txBody>
      </p:sp>
      <p:sp>
        <p:nvSpPr>
          <p:cNvPr id="247" name="Google Shape;247;p20"/>
          <p:cNvSpPr txBox="1">
            <a:spLocks noGrp="1"/>
          </p:cNvSpPr>
          <p:nvPr>
            <p:ph type="body" idx="1"/>
          </p:nvPr>
        </p:nvSpPr>
        <p:spPr>
          <a:xfrm>
            <a:off x="380010" y="1481446"/>
            <a:ext cx="8383980" cy="4525963"/>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SzPts val="2800"/>
              <a:buChar char="•"/>
            </a:pPr>
            <a:r>
              <a:rPr lang="en-US" dirty="0"/>
              <a:t>The </a:t>
            </a:r>
            <a:r>
              <a:rPr lang="en-US" dirty="0">
                <a:latin typeface="Courier New"/>
                <a:ea typeface="Courier New"/>
                <a:cs typeface="Courier New"/>
                <a:sym typeface="Courier New"/>
              </a:rPr>
              <a:t>final</a:t>
            </a:r>
            <a:r>
              <a:rPr lang="en-US" dirty="0"/>
              <a:t> keyword has three uses:</a:t>
            </a:r>
            <a:endParaRPr dirty="0"/>
          </a:p>
          <a:p>
            <a:pPr marL="742950" lvl="1" indent="-285750" algn="l" rtl="0">
              <a:lnSpc>
                <a:spcPct val="90000"/>
              </a:lnSpc>
              <a:spcBef>
                <a:spcPts val="480"/>
              </a:spcBef>
              <a:spcAft>
                <a:spcPts val="0"/>
              </a:spcAft>
              <a:buSzPts val="2400"/>
              <a:buChar char="–"/>
            </a:pPr>
            <a:r>
              <a:rPr lang="en-US" dirty="0"/>
              <a:t>A </a:t>
            </a:r>
            <a:r>
              <a:rPr lang="en-US" dirty="0">
                <a:latin typeface="Courier New"/>
                <a:ea typeface="Courier New"/>
                <a:cs typeface="Courier New"/>
                <a:sym typeface="Courier New"/>
              </a:rPr>
              <a:t>final</a:t>
            </a:r>
            <a:r>
              <a:rPr lang="en-US" dirty="0"/>
              <a:t> variable cannot be changed once assigned a value. It is the </a:t>
            </a:r>
            <a:r>
              <a:rPr lang="en-US" i="1" dirty="0"/>
              <a:t>final </a:t>
            </a:r>
            <a:r>
              <a:rPr lang="en-US" dirty="0"/>
              <a:t>state of the object.</a:t>
            </a:r>
            <a:endParaRPr dirty="0"/>
          </a:p>
          <a:p>
            <a:pPr marL="742950" lvl="1" indent="-285750" algn="l" rtl="0">
              <a:lnSpc>
                <a:spcPct val="90000"/>
              </a:lnSpc>
              <a:spcBef>
                <a:spcPts val="480"/>
              </a:spcBef>
              <a:spcAft>
                <a:spcPts val="0"/>
              </a:spcAft>
              <a:buSzPts val="2400"/>
              <a:buChar char="–"/>
            </a:pPr>
            <a:r>
              <a:rPr lang="en-US" dirty="0"/>
              <a:t>A </a:t>
            </a:r>
            <a:r>
              <a:rPr lang="en-US" dirty="0">
                <a:latin typeface="Courier New"/>
                <a:ea typeface="Courier New"/>
                <a:cs typeface="Courier New"/>
                <a:sym typeface="Courier New"/>
              </a:rPr>
              <a:t>final</a:t>
            </a:r>
            <a:r>
              <a:rPr lang="en-US" dirty="0"/>
              <a:t> method cannot be overridden. It is the </a:t>
            </a:r>
            <a:r>
              <a:rPr lang="en-US" i="1" dirty="0"/>
              <a:t>final</a:t>
            </a:r>
            <a:r>
              <a:rPr lang="en-US" dirty="0"/>
              <a:t> implementation of that behavior.</a:t>
            </a:r>
            <a:endParaRPr dirty="0"/>
          </a:p>
          <a:p>
            <a:pPr marL="742950" lvl="1" indent="-285750" algn="l" rtl="0">
              <a:lnSpc>
                <a:spcPct val="90000"/>
              </a:lnSpc>
              <a:spcBef>
                <a:spcPts val="480"/>
              </a:spcBef>
              <a:spcAft>
                <a:spcPts val="0"/>
              </a:spcAft>
              <a:buSzPts val="2400"/>
              <a:buChar char="–"/>
            </a:pPr>
            <a:r>
              <a:rPr lang="en-US" dirty="0"/>
              <a:t>A </a:t>
            </a:r>
            <a:r>
              <a:rPr lang="en-US" dirty="0">
                <a:latin typeface="Courier New"/>
                <a:ea typeface="Courier New"/>
                <a:cs typeface="Courier New"/>
                <a:sym typeface="Courier New"/>
              </a:rPr>
              <a:t>final</a:t>
            </a:r>
            <a:r>
              <a:rPr lang="en-US" dirty="0"/>
              <a:t> class cannot be extended. It is the </a:t>
            </a:r>
            <a:r>
              <a:rPr lang="en-US" i="1" dirty="0"/>
              <a:t>final</a:t>
            </a:r>
            <a:r>
              <a:rPr lang="en-US" dirty="0"/>
              <a:t> definition of that class.</a:t>
            </a:r>
            <a:endParaRPr dirty="0"/>
          </a:p>
          <a:p>
            <a:pPr marL="342900" lvl="0" indent="-342900" algn="l" rtl="0">
              <a:lnSpc>
                <a:spcPct val="90000"/>
              </a:lnSpc>
              <a:spcBef>
                <a:spcPts val="560"/>
              </a:spcBef>
              <a:spcAft>
                <a:spcPts val="0"/>
              </a:spcAft>
              <a:buSzPts val="2800"/>
              <a:buChar char="•"/>
            </a:pPr>
            <a:r>
              <a:rPr lang="en-US" dirty="0"/>
              <a:t>final and static are two different things. Do not confuse them.</a:t>
            </a:r>
            <a:endParaRPr dirty="0"/>
          </a:p>
          <a:p>
            <a:pPr marL="342900" lvl="0" indent="-342900" algn="l" rtl="0">
              <a:lnSpc>
                <a:spcPct val="90000"/>
              </a:lnSpc>
              <a:spcBef>
                <a:spcPts val="560"/>
              </a:spcBef>
              <a:spcAft>
                <a:spcPts val="0"/>
              </a:spcAft>
              <a:buSzPts val="2800"/>
              <a:buChar char="•"/>
            </a:pPr>
            <a:r>
              <a:rPr lang="en-US" dirty="0"/>
              <a:t>A </a:t>
            </a:r>
            <a:r>
              <a:rPr lang="en-US" dirty="0">
                <a:latin typeface="Courier New"/>
                <a:ea typeface="Courier New"/>
                <a:cs typeface="Courier New"/>
                <a:sym typeface="Courier New"/>
              </a:rPr>
              <a:t>static final </a:t>
            </a:r>
            <a:r>
              <a:rPr lang="en-US" dirty="0"/>
              <a:t>variable is one that has a universal value </a:t>
            </a:r>
            <a:r>
              <a:rPr lang="en-US" i="1" dirty="0"/>
              <a:t>and</a:t>
            </a:r>
            <a:r>
              <a:rPr lang="en-US" dirty="0"/>
              <a:t> cannot be changed. Think pi.</a:t>
            </a:r>
            <a:endParaRPr dirty="0"/>
          </a:p>
        </p:txBody>
      </p:sp>
      <p:sp>
        <p:nvSpPr>
          <p:cNvPr id="248" name="Google Shape;248;p20"/>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121</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7">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47">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4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 grpId="0" build="p"/>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18"/>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dirty="0"/>
              <a:t>The </a:t>
            </a:r>
            <a:r>
              <a:rPr lang="en-US" dirty="0">
                <a:latin typeface="Courier New" panose="02070309020205020404" pitchFamily="49" charset="0"/>
                <a:cs typeface="Courier New" panose="02070309020205020404" pitchFamily="49" charset="0"/>
              </a:rPr>
              <a:t>Abstract</a:t>
            </a:r>
            <a:r>
              <a:rPr lang="en-US" dirty="0"/>
              <a:t> Keyword - Classes and Methods</a:t>
            </a:r>
            <a:endParaRPr dirty="0"/>
          </a:p>
        </p:txBody>
      </p:sp>
      <p:sp>
        <p:nvSpPr>
          <p:cNvPr id="233" name="Google Shape;233;p18"/>
          <p:cNvSpPr txBox="1">
            <a:spLocks noGrp="1"/>
          </p:cNvSpPr>
          <p:nvPr>
            <p:ph type="body" idx="1"/>
          </p:nvPr>
        </p:nvSpPr>
        <p:spPr>
          <a:xfrm>
            <a:off x="380010" y="1481446"/>
            <a:ext cx="8383980" cy="4525963"/>
          </a:xfrm>
          <a:prstGeom prst="rect">
            <a:avLst/>
          </a:prstGeom>
          <a:noFill/>
          <a:ln>
            <a:noFill/>
          </a:ln>
        </p:spPr>
        <p:txBody>
          <a:bodyPr spcFirstLastPara="1" wrap="square" lIns="91425" tIns="45700" rIns="91425" bIns="45700" anchor="t" anchorCtr="0">
            <a:noAutofit/>
          </a:bodyPr>
          <a:lstStyle/>
          <a:p>
            <a:pPr marL="342900" indent="-342900">
              <a:lnSpc>
                <a:spcPct val="90000"/>
              </a:lnSpc>
              <a:spcBef>
                <a:spcPts val="0"/>
              </a:spcBef>
              <a:buSzPts val="2590"/>
            </a:pPr>
            <a:r>
              <a:rPr lang="en-US" sz="2400" dirty="0"/>
              <a:t>The </a:t>
            </a:r>
            <a:r>
              <a:rPr lang="en-US" sz="2400" dirty="0">
                <a:latin typeface="Courier New" panose="02070309020205020404" pitchFamily="49" charset="0"/>
                <a:cs typeface="Courier New" panose="02070309020205020404" pitchFamily="49" charset="0"/>
              </a:rPr>
              <a:t>abstract</a:t>
            </a:r>
            <a:r>
              <a:rPr lang="en-US" sz="2400" dirty="0"/>
              <a:t> keyword allows you to create partially implemented classes and methods, that can later be concretely defined.</a:t>
            </a:r>
          </a:p>
          <a:p>
            <a:pPr marL="342900" indent="-342900">
              <a:lnSpc>
                <a:spcPct val="90000"/>
              </a:lnSpc>
              <a:spcBef>
                <a:spcPts val="0"/>
              </a:spcBef>
              <a:buSzPts val="2590"/>
            </a:pPr>
            <a:r>
              <a:rPr lang="en-US" sz="2400" dirty="0">
                <a:latin typeface="Courier New" panose="02070309020205020404" pitchFamily="49" charset="0"/>
                <a:cs typeface="Courier New" panose="02070309020205020404" pitchFamily="49" charset="0"/>
              </a:rPr>
              <a:t>abstract</a:t>
            </a:r>
            <a:r>
              <a:rPr lang="en-US" sz="2400" dirty="0"/>
              <a:t> methods have a </a:t>
            </a:r>
            <a:r>
              <a:rPr lang="en-US" sz="2400" i="1" dirty="0"/>
              <a:t>declaration</a:t>
            </a:r>
            <a:r>
              <a:rPr lang="en-US" sz="2400" dirty="0"/>
              <a:t>, but no </a:t>
            </a:r>
            <a:r>
              <a:rPr lang="en-US" sz="2400" i="1" dirty="0"/>
              <a:t>definition (method body)</a:t>
            </a:r>
            <a:r>
              <a:rPr lang="en-US" sz="2400" dirty="0"/>
              <a:t>. whereas </a:t>
            </a:r>
            <a:r>
              <a:rPr lang="en-US" sz="2400" i="1" dirty="0"/>
              <a:t>concrete</a:t>
            </a:r>
            <a:r>
              <a:rPr lang="en-US" sz="2400" dirty="0"/>
              <a:t> methods have both.</a:t>
            </a:r>
          </a:p>
          <a:p>
            <a:pPr marL="342900" indent="-342900">
              <a:lnSpc>
                <a:spcPct val="90000"/>
              </a:lnSpc>
              <a:spcBef>
                <a:spcPts val="518"/>
              </a:spcBef>
              <a:buSzPts val="2590"/>
            </a:pPr>
            <a:r>
              <a:rPr lang="en-US" sz="2400" dirty="0"/>
              <a:t>A class that contains an </a:t>
            </a:r>
            <a:r>
              <a:rPr lang="en-US" sz="2400" dirty="0">
                <a:latin typeface="Courier New" panose="02070309020205020404" pitchFamily="49" charset="0"/>
                <a:cs typeface="Courier New" panose="02070309020205020404" pitchFamily="49" charset="0"/>
              </a:rPr>
              <a:t>abstract</a:t>
            </a:r>
            <a:r>
              <a:rPr lang="en-US" sz="2400" dirty="0"/>
              <a:t> method (directly or through inheritance) </a:t>
            </a:r>
            <a:r>
              <a:rPr lang="en-US" sz="2400" b="1" i="1" u="sng" dirty="0"/>
              <a:t>must</a:t>
            </a:r>
            <a:r>
              <a:rPr lang="en-US" sz="2400" i="1" dirty="0"/>
              <a:t> be</a:t>
            </a:r>
            <a:r>
              <a:rPr lang="en-US" sz="2400" dirty="0"/>
              <a:t> an </a:t>
            </a:r>
            <a:r>
              <a:rPr lang="en-US" sz="2400" dirty="0">
                <a:latin typeface="Courier New" panose="02070309020205020404" pitchFamily="49" charset="0"/>
                <a:cs typeface="Courier New" panose="02070309020205020404" pitchFamily="49" charset="0"/>
              </a:rPr>
              <a:t>abstract</a:t>
            </a:r>
            <a:r>
              <a:rPr lang="en-US" sz="2400" dirty="0"/>
              <a:t> class.</a:t>
            </a:r>
          </a:p>
          <a:p>
            <a:pPr marL="800100" lvl="1" indent="-342900">
              <a:lnSpc>
                <a:spcPct val="90000"/>
              </a:lnSpc>
              <a:spcBef>
                <a:spcPts val="518"/>
              </a:spcBef>
              <a:buSzPts val="2590"/>
            </a:pPr>
            <a:r>
              <a:rPr lang="en-US" sz="2000" dirty="0"/>
              <a:t>*An </a:t>
            </a:r>
            <a:r>
              <a:rPr lang="en-US" sz="2000" dirty="0">
                <a:latin typeface="Courier New" panose="02070309020205020404" pitchFamily="49" charset="0"/>
                <a:cs typeface="Courier New" panose="02070309020205020404" pitchFamily="49" charset="0"/>
              </a:rPr>
              <a:t>abstract</a:t>
            </a:r>
            <a:r>
              <a:rPr lang="en-US" sz="2000" dirty="0"/>
              <a:t> class is not required to contain any </a:t>
            </a:r>
            <a:r>
              <a:rPr lang="en-US" sz="2000" dirty="0">
                <a:latin typeface="Courier New" panose="02070309020205020404" pitchFamily="49" charset="0"/>
                <a:cs typeface="Courier New" panose="02070309020205020404" pitchFamily="49" charset="0"/>
              </a:rPr>
              <a:t>abstract </a:t>
            </a:r>
            <a:r>
              <a:rPr lang="en-US" sz="2000" dirty="0"/>
              <a:t>methods.</a:t>
            </a:r>
          </a:p>
          <a:p>
            <a:pPr marL="800100" lvl="1" indent="-342900">
              <a:lnSpc>
                <a:spcPct val="90000"/>
              </a:lnSpc>
              <a:spcBef>
                <a:spcPts val="518"/>
              </a:spcBef>
              <a:buSzPts val="2590"/>
            </a:pPr>
            <a:r>
              <a:rPr lang="en-US" sz="2000" dirty="0">
                <a:latin typeface="Courier New" panose="02070309020205020404" pitchFamily="49" charset="0"/>
                <a:cs typeface="Courier New" panose="02070309020205020404" pitchFamily="49" charset="0"/>
              </a:rPr>
              <a:t>abstract</a:t>
            </a:r>
            <a:r>
              <a:rPr lang="en-US" sz="2000" dirty="0"/>
              <a:t> classes cannot be instantiated directly</a:t>
            </a:r>
          </a:p>
        </p:txBody>
      </p:sp>
      <p:sp>
        <p:nvSpPr>
          <p:cNvPr id="234" name="Google Shape;234;p18"/>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122</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3" grpId="0" build="p"/>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03D79-07A0-457D-8B7E-8EF39553E276}"/>
              </a:ext>
            </a:extLst>
          </p:cNvPr>
          <p:cNvSpPr>
            <a:spLocks noGrp="1"/>
          </p:cNvSpPr>
          <p:nvPr>
            <p:ph type="title"/>
          </p:nvPr>
        </p:nvSpPr>
        <p:spPr/>
        <p:txBody>
          <a:bodyPr/>
          <a:lstStyle/>
          <a:p>
            <a:r>
              <a:rPr lang="en-US" dirty="0"/>
              <a:t>Non-Access Modifiers (other ones)</a:t>
            </a:r>
          </a:p>
        </p:txBody>
      </p:sp>
      <p:sp>
        <p:nvSpPr>
          <p:cNvPr id="3" name="Text Placeholder 2">
            <a:extLst>
              <a:ext uri="{FF2B5EF4-FFF2-40B4-BE49-F238E27FC236}">
                <a16:creationId xmlns:a16="http://schemas.microsoft.com/office/drawing/2014/main" id="{3BBC2A58-D8BE-4ACE-BAA3-A38162AF215C}"/>
              </a:ext>
            </a:extLst>
          </p:cNvPr>
          <p:cNvSpPr>
            <a:spLocks noGrp="1"/>
          </p:cNvSpPr>
          <p:nvPr>
            <p:ph type="body" idx="1"/>
          </p:nvPr>
        </p:nvSpPr>
        <p:spPr>
          <a:xfrm>
            <a:off x="380010" y="1481446"/>
            <a:ext cx="8383980" cy="5128904"/>
          </a:xfrm>
        </p:spPr>
        <p:txBody>
          <a:bodyPr>
            <a:normAutofit fontScale="92500" lnSpcReduction="20000"/>
          </a:bodyPr>
          <a:lstStyle/>
          <a:p>
            <a:r>
              <a:rPr lang="en-US" dirty="0">
                <a:latin typeface="Courier New" panose="02070309020205020404" pitchFamily="49" charset="0"/>
                <a:cs typeface="Courier New" panose="02070309020205020404" pitchFamily="49" charset="0"/>
              </a:rPr>
              <a:t>Transient</a:t>
            </a:r>
          </a:p>
          <a:p>
            <a:pPr lvl="1"/>
            <a:r>
              <a:rPr lang="en-US" dirty="0"/>
              <a:t>Prevents the resource from being serialized.</a:t>
            </a:r>
          </a:p>
          <a:p>
            <a:r>
              <a:rPr lang="en-US" dirty="0">
                <a:latin typeface="Courier New" panose="02070309020205020404" pitchFamily="49" charset="0"/>
                <a:cs typeface="Courier New" panose="02070309020205020404" pitchFamily="49" charset="0"/>
              </a:rPr>
              <a:t>Synchronized</a:t>
            </a:r>
          </a:p>
          <a:p>
            <a:pPr lvl="1"/>
            <a:r>
              <a:rPr lang="en-US" dirty="0"/>
              <a:t>Limits the number of threads that can access a resource at a given time to 1.</a:t>
            </a:r>
          </a:p>
          <a:p>
            <a:r>
              <a:rPr lang="en-US" dirty="0" err="1">
                <a:latin typeface="Courier New" panose="02070309020205020404" pitchFamily="49" charset="0"/>
                <a:cs typeface="Courier New" panose="02070309020205020404" pitchFamily="49" charset="0"/>
              </a:rPr>
              <a:t>StrictFP</a:t>
            </a:r>
            <a:endParaRPr lang="en-US" dirty="0">
              <a:latin typeface="Courier New" panose="02070309020205020404" pitchFamily="49" charset="0"/>
              <a:cs typeface="Courier New" panose="02070309020205020404" pitchFamily="49" charset="0"/>
            </a:endParaRPr>
          </a:p>
          <a:p>
            <a:pPr lvl="1"/>
            <a:r>
              <a:rPr lang="en-US" dirty="0"/>
              <a:t>Ensures that all floating-point calculations of a class follow IEEE standards for portability.</a:t>
            </a:r>
          </a:p>
          <a:p>
            <a:r>
              <a:rPr lang="en-US" dirty="0">
                <a:latin typeface="Courier New" panose="02070309020205020404" pitchFamily="49" charset="0"/>
                <a:cs typeface="Courier New" panose="02070309020205020404" pitchFamily="49" charset="0"/>
              </a:rPr>
              <a:t>Volatile</a:t>
            </a:r>
          </a:p>
          <a:p>
            <a:pPr lvl="1"/>
            <a:r>
              <a:rPr lang="en-US" dirty="0"/>
              <a:t>Guarantees access to information via main memory for all threads. Used for protection during multithreading.</a:t>
            </a:r>
          </a:p>
          <a:p>
            <a:r>
              <a:rPr lang="en-US" dirty="0">
                <a:latin typeface="Courier New" panose="02070309020205020404" pitchFamily="49" charset="0"/>
                <a:cs typeface="Courier New" panose="02070309020205020404" pitchFamily="49" charset="0"/>
              </a:rPr>
              <a:t>Native</a:t>
            </a:r>
          </a:p>
          <a:p>
            <a:pPr lvl="1"/>
            <a:r>
              <a:rPr lang="en-US" dirty="0"/>
              <a:t>Declares that method implementation will be written in another programming language.</a:t>
            </a:r>
          </a:p>
        </p:txBody>
      </p:sp>
      <p:sp>
        <p:nvSpPr>
          <p:cNvPr id="4" name="Slide Number Placeholder 3">
            <a:extLst>
              <a:ext uri="{FF2B5EF4-FFF2-40B4-BE49-F238E27FC236}">
                <a16:creationId xmlns:a16="http://schemas.microsoft.com/office/drawing/2014/main" id="{2B0B08D7-7D5A-40B8-8031-28125F51709B}"/>
              </a:ext>
            </a:extLst>
          </p:cNvPr>
          <p:cNvSpPr>
            <a:spLocks noGrp="1"/>
          </p:cNvSpPr>
          <p:nvPr>
            <p:ph type="sldNum" idx="12"/>
          </p:nvPr>
        </p:nvSpPr>
        <p:spPr>
          <a:xfrm>
            <a:off x="8122757" y="6363712"/>
            <a:ext cx="861671" cy="365125"/>
          </a:xfrm>
        </p:spPr>
        <p:txBody>
          <a:bodyPr/>
          <a:lstStyle/>
          <a:p>
            <a:pPr marL="0" lvl="0" indent="0" algn="r" rtl="0">
              <a:spcBef>
                <a:spcPts val="0"/>
              </a:spcBef>
              <a:spcAft>
                <a:spcPts val="0"/>
              </a:spcAft>
              <a:buNone/>
            </a:pPr>
            <a:fld id="{00000000-1234-1234-1234-123412341234}" type="slidenum">
              <a:rPr lang="en-US" smtClean="0"/>
              <a:t>123</a:t>
            </a:fld>
            <a:endParaRPr lang="en-US"/>
          </a:p>
        </p:txBody>
      </p:sp>
    </p:spTree>
    <p:extLst>
      <p:ext uri="{BB962C8B-B14F-4D97-AF65-F5344CB8AC3E}">
        <p14:creationId xmlns:p14="http://schemas.microsoft.com/office/powerpoint/2010/main" val="25839557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7FC53-D417-BC63-F24D-9954BC61CE1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8D8F305-6CBF-A746-A6D3-E172078A28F8}"/>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124</a:t>
            </a:fld>
            <a:endParaRPr lang="en-US"/>
          </a:p>
        </p:txBody>
      </p:sp>
      <p:sp>
        <p:nvSpPr>
          <p:cNvPr id="4" name="Google Shape;212;p15">
            <a:extLst>
              <a:ext uri="{FF2B5EF4-FFF2-40B4-BE49-F238E27FC236}">
                <a16:creationId xmlns:a16="http://schemas.microsoft.com/office/drawing/2014/main" id="{23278088-27B0-A47A-AD23-AC9C1A7314D5}"/>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Annotations</a:t>
            </a:r>
          </a:p>
        </p:txBody>
      </p:sp>
      <p:pic>
        <p:nvPicPr>
          <p:cNvPr id="6" name="Picture 5">
            <a:extLst>
              <a:ext uri="{FF2B5EF4-FFF2-40B4-BE49-F238E27FC236}">
                <a16:creationId xmlns:a16="http://schemas.microsoft.com/office/drawing/2014/main" id="{BC25116C-3390-9607-4B88-5C6E719FA4E0}"/>
              </a:ext>
            </a:extLst>
          </p:cNvPr>
          <p:cNvPicPr>
            <a:picLocks noChangeAspect="1"/>
          </p:cNvPicPr>
          <p:nvPr/>
        </p:nvPicPr>
        <p:blipFill>
          <a:blip r:embed="rId2"/>
          <a:stretch>
            <a:fillRect/>
          </a:stretch>
        </p:blipFill>
        <p:spPr>
          <a:xfrm>
            <a:off x="7036646" y="0"/>
            <a:ext cx="2107354" cy="773112"/>
          </a:xfrm>
          <a:prstGeom prst="rect">
            <a:avLst/>
          </a:prstGeom>
        </p:spPr>
      </p:pic>
    </p:spTree>
    <p:extLst>
      <p:ext uri="{BB962C8B-B14F-4D97-AF65-F5344CB8AC3E}">
        <p14:creationId xmlns:p14="http://schemas.microsoft.com/office/powerpoint/2010/main" val="1997423727"/>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17"/>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dirty="0"/>
              <a:t>What are Annotations</a:t>
            </a:r>
            <a:endParaRPr dirty="0"/>
          </a:p>
        </p:txBody>
      </p:sp>
      <p:sp>
        <p:nvSpPr>
          <p:cNvPr id="226" name="Google Shape;226;p17"/>
          <p:cNvSpPr txBox="1">
            <a:spLocks noGrp="1"/>
          </p:cNvSpPr>
          <p:nvPr>
            <p:ph type="body" idx="1"/>
          </p:nvPr>
        </p:nvSpPr>
        <p:spPr>
          <a:xfrm>
            <a:off x="380010" y="1438182"/>
            <a:ext cx="8384100" cy="4879225"/>
          </a:xfrm>
          <a:prstGeom prst="rect">
            <a:avLst/>
          </a:prstGeom>
          <a:noFill/>
          <a:ln>
            <a:noFill/>
          </a:ln>
        </p:spPr>
        <p:txBody>
          <a:bodyPr spcFirstLastPara="1" wrap="square" lIns="91425" tIns="45700" rIns="91425" bIns="45700" anchor="t" anchorCtr="0">
            <a:normAutofit fontScale="77500" lnSpcReduction="20000"/>
          </a:bodyPr>
          <a:lstStyle/>
          <a:p>
            <a:pPr marL="342900" lvl="0" indent="-342900" algn="l" rtl="0">
              <a:lnSpc>
                <a:spcPct val="90000"/>
              </a:lnSpc>
              <a:spcBef>
                <a:spcPts val="0"/>
              </a:spcBef>
              <a:spcAft>
                <a:spcPts val="0"/>
              </a:spcAft>
              <a:buSzPts val="2800"/>
              <a:buChar char="•"/>
            </a:pPr>
            <a:r>
              <a:rPr lang="en-US" dirty="0">
                <a:latin typeface="+mn-lt"/>
                <a:cs typeface="Courier New" panose="02070309020205020404" pitchFamily="49" charset="0"/>
              </a:rPr>
              <a:t>Annotations are special constructs that provide metadata (‘meta’ means data, so information about the data) about a particular resource. </a:t>
            </a:r>
          </a:p>
          <a:p>
            <a:pPr marL="342900" lvl="0" indent="-342900" algn="l" rtl="0">
              <a:lnSpc>
                <a:spcPct val="90000"/>
              </a:lnSpc>
              <a:spcBef>
                <a:spcPts val="0"/>
              </a:spcBef>
              <a:spcAft>
                <a:spcPts val="0"/>
              </a:spcAft>
              <a:buSzPts val="2800"/>
              <a:buChar char="•"/>
            </a:pPr>
            <a:r>
              <a:rPr lang="en-US" dirty="0">
                <a:latin typeface="+mn-lt"/>
                <a:cs typeface="Courier New" panose="02070309020205020404" pitchFamily="49" charset="0"/>
              </a:rPr>
              <a:t>Annotations are denoted by the </a:t>
            </a:r>
            <a:r>
              <a:rPr lang="en-US" i="1" dirty="0">
                <a:latin typeface="+mn-lt"/>
                <a:cs typeface="Courier New" panose="02070309020205020404" pitchFamily="49" charset="0"/>
              </a:rPr>
              <a:t>‘@’</a:t>
            </a:r>
            <a:r>
              <a:rPr lang="en-US" dirty="0">
                <a:latin typeface="+mn-lt"/>
                <a:cs typeface="Courier New" panose="02070309020205020404" pitchFamily="49" charset="0"/>
              </a:rPr>
              <a:t> symbol, followed by the name of the annotation.</a:t>
            </a:r>
          </a:p>
          <a:p>
            <a:pPr marL="342900" lvl="0" indent="-342900" algn="l" rtl="0">
              <a:lnSpc>
                <a:spcPct val="90000"/>
              </a:lnSpc>
              <a:spcBef>
                <a:spcPts val="0"/>
              </a:spcBef>
              <a:spcAft>
                <a:spcPts val="0"/>
              </a:spcAft>
              <a:buSzPts val="2800"/>
              <a:buChar char="•"/>
            </a:pPr>
            <a:r>
              <a:rPr lang="en-US" dirty="0">
                <a:latin typeface="+mn-lt"/>
                <a:cs typeface="Courier New" panose="02070309020205020404" pitchFamily="49" charset="0"/>
              </a:rPr>
              <a:t>Annotations can be used to enforce rules or provide some functionality.</a:t>
            </a:r>
          </a:p>
          <a:p>
            <a:pPr marL="342900" lvl="0" indent="-342900" algn="l" rtl="0">
              <a:lnSpc>
                <a:spcPct val="90000"/>
              </a:lnSpc>
              <a:spcBef>
                <a:spcPts val="0"/>
              </a:spcBef>
              <a:spcAft>
                <a:spcPts val="0"/>
              </a:spcAft>
              <a:buSzPts val="2800"/>
              <a:buChar char="•"/>
            </a:pPr>
            <a:endParaRPr lang="en-US" dirty="0">
              <a:latin typeface="+mn-lt"/>
              <a:cs typeface="Courier New" panose="02070309020205020404" pitchFamily="49" charset="0"/>
            </a:endParaRPr>
          </a:p>
          <a:p>
            <a:pPr marL="342900" lvl="0" indent="-342900" algn="l" rtl="0">
              <a:lnSpc>
                <a:spcPct val="90000"/>
              </a:lnSpc>
              <a:spcBef>
                <a:spcPts val="0"/>
              </a:spcBef>
              <a:spcAft>
                <a:spcPts val="0"/>
              </a:spcAft>
              <a:buSzPts val="2800"/>
              <a:buChar char="•"/>
            </a:pPr>
            <a:r>
              <a:rPr lang="en-US" dirty="0">
                <a:latin typeface="+mn-lt"/>
                <a:cs typeface="Courier New" panose="02070309020205020404" pitchFamily="49" charset="0"/>
              </a:rPr>
              <a:t>Common Annotations:</a:t>
            </a:r>
          </a:p>
          <a:p>
            <a:pPr marL="342900" lvl="0" indent="-342900" algn="l" rtl="0">
              <a:lnSpc>
                <a:spcPct val="90000"/>
              </a:lnSpc>
              <a:spcBef>
                <a:spcPts val="0"/>
              </a:spcBef>
              <a:spcAft>
                <a:spcPts val="0"/>
              </a:spcAft>
              <a:buSzPts val="2800"/>
              <a:buChar char="•"/>
            </a:pPr>
            <a:r>
              <a:rPr lang="en-US" dirty="0">
                <a:latin typeface="Courier New" panose="02070309020205020404" pitchFamily="49" charset="0"/>
                <a:cs typeface="Courier New" panose="02070309020205020404" pitchFamily="49" charset="0"/>
              </a:rPr>
              <a:t>@Override</a:t>
            </a:r>
          </a:p>
          <a:p>
            <a:pPr marL="800100" lvl="1" indent="-342900">
              <a:lnSpc>
                <a:spcPct val="90000"/>
              </a:lnSpc>
              <a:spcBef>
                <a:spcPts val="0"/>
              </a:spcBef>
              <a:buSzPts val="2800"/>
              <a:buChar char="•"/>
            </a:pPr>
            <a:r>
              <a:rPr lang="en-US" dirty="0">
                <a:latin typeface="+mn-lt"/>
                <a:cs typeface="Courier New" panose="02070309020205020404" pitchFamily="49" charset="0"/>
              </a:rPr>
              <a:t>Declares the method must override an inherited method. If it does not, a compilation error will occur.</a:t>
            </a:r>
          </a:p>
          <a:p>
            <a:pPr marL="342900" lvl="0" indent="-342900" algn="l" rtl="0">
              <a:lnSpc>
                <a:spcPct val="90000"/>
              </a:lnSpc>
              <a:spcBef>
                <a:spcPts val="0"/>
              </a:spcBef>
              <a:spcAft>
                <a:spcPts val="0"/>
              </a:spcAft>
              <a:buSzPts val="2800"/>
              <a:buChar char="•"/>
            </a:pPr>
            <a:r>
              <a:rPr lang="en-US" dirty="0">
                <a:latin typeface="Courier New" panose="02070309020205020404" pitchFamily="49" charset="0"/>
                <a:cs typeface="Courier New" panose="02070309020205020404" pitchFamily="49" charset="0"/>
              </a:rPr>
              <a:t>@Deprecated</a:t>
            </a:r>
          </a:p>
          <a:p>
            <a:pPr marL="800100" lvl="1" indent="-342900">
              <a:lnSpc>
                <a:spcPct val="90000"/>
              </a:lnSpc>
              <a:spcBef>
                <a:spcPts val="0"/>
              </a:spcBef>
              <a:buSzPts val="2800"/>
              <a:buFont typeface="Arial"/>
              <a:buChar char="•"/>
            </a:pPr>
            <a:r>
              <a:rPr lang="en-US" dirty="0">
                <a:cs typeface="Courier New" panose="02070309020205020404" pitchFamily="49" charset="0"/>
              </a:rPr>
              <a:t>Marks a method as obsolete, resulting in a compilation warning anywhere it is used.</a:t>
            </a:r>
            <a:endParaRPr lang="en-US" dirty="0">
              <a:latin typeface="Courier New" panose="02070309020205020404" pitchFamily="49" charset="0"/>
              <a:cs typeface="Courier New" panose="02070309020205020404" pitchFamily="49" charset="0"/>
            </a:endParaRPr>
          </a:p>
          <a:p>
            <a:pPr marL="342900" lvl="0" indent="-342900" algn="l" rtl="0">
              <a:lnSpc>
                <a:spcPct val="90000"/>
              </a:lnSpc>
              <a:spcBef>
                <a:spcPts val="0"/>
              </a:spcBef>
              <a:spcAft>
                <a:spcPts val="0"/>
              </a:spcAft>
              <a:buSzPts val="2800"/>
              <a:buChar char="•"/>
            </a:pPr>
            <a:r>
              <a:rPr lang="en-US" dirty="0">
                <a:latin typeface="Courier New" panose="02070309020205020404" pitchFamily="49" charset="0"/>
                <a:cs typeface="Courier New" panose="02070309020205020404" pitchFamily="49" charset="0"/>
              </a:rPr>
              <a:t>@SuppressWarning</a:t>
            </a:r>
          </a:p>
          <a:p>
            <a:pPr marL="800100" lvl="1" indent="-342900">
              <a:lnSpc>
                <a:spcPct val="90000"/>
              </a:lnSpc>
              <a:spcBef>
                <a:spcPts val="0"/>
              </a:spcBef>
              <a:buSzPts val="2800"/>
              <a:buFont typeface="Arial"/>
              <a:buChar char="•"/>
            </a:pPr>
            <a:r>
              <a:rPr lang="en-US" dirty="0">
                <a:cs typeface="Courier New" panose="02070309020205020404" pitchFamily="49" charset="0"/>
              </a:rPr>
              <a:t>Instructs the compiler to suppress compilation warnings.</a:t>
            </a:r>
            <a:endParaRPr lang="en-US" dirty="0">
              <a:latin typeface="Courier New" panose="02070309020205020404" pitchFamily="49" charset="0"/>
              <a:cs typeface="Courier New" panose="02070309020205020404" pitchFamily="49" charset="0"/>
            </a:endParaRPr>
          </a:p>
          <a:p>
            <a:pPr marL="342900" lvl="0" indent="-342900" algn="l" rtl="0">
              <a:lnSpc>
                <a:spcPct val="90000"/>
              </a:lnSpc>
              <a:spcBef>
                <a:spcPts val="0"/>
              </a:spcBef>
              <a:spcAft>
                <a:spcPts val="0"/>
              </a:spcAft>
              <a:buSzPts val="2800"/>
              <a:buChar char="•"/>
            </a:pPr>
            <a:r>
              <a:rPr lang="en-US" dirty="0">
                <a:latin typeface="Courier New" panose="02070309020205020404" pitchFamily="49" charset="0"/>
                <a:cs typeface="Courier New" panose="02070309020205020404" pitchFamily="49" charset="0"/>
              </a:rPr>
              <a:t>@FunctionalInterface</a:t>
            </a:r>
          </a:p>
          <a:p>
            <a:pPr marL="800100" lvl="1" indent="-342900">
              <a:lnSpc>
                <a:spcPct val="90000"/>
              </a:lnSpc>
              <a:spcBef>
                <a:spcPts val="0"/>
              </a:spcBef>
              <a:buSzPts val="2800"/>
              <a:buFont typeface="Arial"/>
              <a:buChar char="•"/>
            </a:pPr>
            <a:r>
              <a:rPr lang="en-US" dirty="0">
                <a:cs typeface="Courier New" panose="02070309020205020404" pitchFamily="49" charset="0"/>
              </a:rPr>
              <a:t>Denotes the interface as a functional interface (an interface with a single method).</a:t>
            </a:r>
            <a:endParaRPr lang="en-US" dirty="0">
              <a:latin typeface="Courier New" panose="02070309020205020404" pitchFamily="49" charset="0"/>
              <a:cs typeface="Courier New" panose="02070309020205020404" pitchFamily="49" charset="0"/>
            </a:endParaRPr>
          </a:p>
        </p:txBody>
      </p:sp>
      <p:sp>
        <p:nvSpPr>
          <p:cNvPr id="227" name="Google Shape;227;p17"/>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125</a:t>
            </a:fld>
            <a:endParaRPr/>
          </a:p>
        </p:txBody>
      </p:sp>
    </p:spTree>
    <p:extLst>
      <p:ext uri="{BB962C8B-B14F-4D97-AF65-F5344CB8AC3E}">
        <p14:creationId xmlns:p14="http://schemas.microsoft.com/office/powerpoint/2010/main" val="286668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6">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6">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26">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26">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26">
                                            <p:txEl>
                                              <p:pRg st="9" end="9"/>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26">
                                            <p:txEl>
                                              <p:pRg st="10" end="1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26">
                                            <p:txEl>
                                              <p:pRg st="11" end="11"/>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26">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 grpId="0" build="p"/>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AAF64-7D2E-4E6E-4A87-0C95A44B2CE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66A5C83-C1FB-E951-308E-C2221321092C}"/>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126</a:t>
            </a:fld>
            <a:endParaRPr lang="en-US"/>
          </a:p>
        </p:txBody>
      </p:sp>
      <p:sp>
        <p:nvSpPr>
          <p:cNvPr id="4" name="Google Shape;212;p15">
            <a:extLst>
              <a:ext uri="{FF2B5EF4-FFF2-40B4-BE49-F238E27FC236}">
                <a16:creationId xmlns:a16="http://schemas.microsoft.com/office/drawing/2014/main" id="{5D6A4B62-1F32-C9BF-CD8C-FD53648BF847}"/>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Enums</a:t>
            </a:r>
          </a:p>
        </p:txBody>
      </p:sp>
      <p:pic>
        <p:nvPicPr>
          <p:cNvPr id="6" name="Picture 5">
            <a:extLst>
              <a:ext uri="{FF2B5EF4-FFF2-40B4-BE49-F238E27FC236}">
                <a16:creationId xmlns:a16="http://schemas.microsoft.com/office/drawing/2014/main" id="{E62FCE68-7434-D7B2-5C3A-517370F15F2F}"/>
              </a:ext>
            </a:extLst>
          </p:cNvPr>
          <p:cNvPicPr>
            <a:picLocks noChangeAspect="1"/>
          </p:cNvPicPr>
          <p:nvPr/>
        </p:nvPicPr>
        <p:blipFill>
          <a:blip r:embed="rId2"/>
          <a:stretch>
            <a:fillRect/>
          </a:stretch>
        </p:blipFill>
        <p:spPr>
          <a:xfrm>
            <a:off x="7036646" y="0"/>
            <a:ext cx="2107354" cy="773112"/>
          </a:xfrm>
          <a:prstGeom prst="rect">
            <a:avLst/>
          </a:prstGeom>
        </p:spPr>
      </p:pic>
    </p:spTree>
    <p:extLst>
      <p:ext uri="{BB962C8B-B14F-4D97-AF65-F5344CB8AC3E}">
        <p14:creationId xmlns:p14="http://schemas.microsoft.com/office/powerpoint/2010/main" val="172578072"/>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Shape 224">
          <a:extLst>
            <a:ext uri="{FF2B5EF4-FFF2-40B4-BE49-F238E27FC236}">
              <a16:creationId xmlns:a16="http://schemas.microsoft.com/office/drawing/2014/main" id="{3D8BA9D5-C274-54FB-3310-62095E9CADC0}"/>
            </a:ext>
          </a:extLst>
        </p:cNvPr>
        <p:cNvGrpSpPr/>
        <p:nvPr/>
      </p:nvGrpSpPr>
      <p:grpSpPr>
        <a:xfrm>
          <a:off x="0" y="0"/>
          <a:ext cx="0" cy="0"/>
          <a:chOff x="0" y="0"/>
          <a:chExt cx="0" cy="0"/>
        </a:xfrm>
      </p:grpSpPr>
      <p:sp>
        <p:nvSpPr>
          <p:cNvPr id="225" name="Google Shape;225;p17">
            <a:extLst>
              <a:ext uri="{FF2B5EF4-FFF2-40B4-BE49-F238E27FC236}">
                <a16:creationId xmlns:a16="http://schemas.microsoft.com/office/drawing/2014/main" id="{1ECE9726-7AFC-9804-CF8E-5E0E9D6873F4}"/>
              </a:ext>
            </a:extLst>
          </p:cNvPr>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dirty="0"/>
              <a:t>Enums</a:t>
            </a:r>
            <a:endParaRPr dirty="0"/>
          </a:p>
        </p:txBody>
      </p:sp>
      <p:sp>
        <p:nvSpPr>
          <p:cNvPr id="226" name="Google Shape;226;p17">
            <a:extLst>
              <a:ext uri="{FF2B5EF4-FFF2-40B4-BE49-F238E27FC236}">
                <a16:creationId xmlns:a16="http://schemas.microsoft.com/office/drawing/2014/main" id="{D46799DE-250D-F69D-495C-1CFA2EC59A1A}"/>
              </a:ext>
            </a:extLst>
          </p:cNvPr>
          <p:cNvSpPr txBox="1">
            <a:spLocks noGrp="1"/>
          </p:cNvSpPr>
          <p:nvPr>
            <p:ph type="body" idx="1"/>
          </p:nvPr>
        </p:nvSpPr>
        <p:spPr>
          <a:xfrm>
            <a:off x="380010" y="1438182"/>
            <a:ext cx="8384100" cy="4879225"/>
          </a:xfrm>
          <a:prstGeom prst="rect">
            <a:avLst/>
          </a:prstGeom>
          <a:noFill/>
          <a:ln>
            <a:noFill/>
          </a:ln>
        </p:spPr>
        <p:txBody>
          <a:bodyPr spcFirstLastPara="1" wrap="square" lIns="91425" tIns="45700" rIns="91425" bIns="45700" anchor="t" anchorCtr="0">
            <a:normAutofit/>
          </a:bodyPr>
          <a:lstStyle/>
          <a:p>
            <a:pPr marL="342900" lvl="0" indent="-342900" algn="l" rtl="0">
              <a:lnSpc>
                <a:spcPct val="90000"/>
              </a:lnSpc>
              <a:spcBef>
                <a:spcPts val="0"/>
              </a:spcBef>
              <a:spcAft>
                <a:spcPts val="0"/>
              </a:spcAft>
              <a:buSzPts val="2800"/>
              <a:buChar char="•"/>
            </a:pPr>
            <a:r>
              <a:rPr lang="en-US" dirty="0">
                <a:latin typeface="+mn-lt"/>
                <a:cs typeface="Courier New" panose="02070309020205020404" pitchFamily="49" charset="0"/>
              </a:rPr>
              <a:t>Oftentimes, you may want to limit the values that can be assigned to a variable (ex: Days of the week, seasons in a year, etc…)</a:t>
            </a:r>
          </a:p>
          <a:p>
            <a:pPr marL="342900" lvl="0" indent="-342900" algn="l" rtl="0">
              <a:lnSpc>
                <a:spcPct val="90000"/>
              </a:lnSpc>
              <a:spcBef>
                <a:spcPts val="0"/>
              </a:spcBef>
              <a:spcAft>
                <a:spcPts val="0"/>
              </a:spcAft>
              <a:buSzPts val="2800"/>
              <a:buChar char="•"/>
            </a:pPr>
            <a:r>
              <a:rPr lang="en-US" dirty="0">
                <a:latin typeface="+mn-lt"/>
                <a:cs typeface="Courier New" panose="02070309020205020404" pitchFamily="49" charset="0"/>
              </a:rPr>
              <a:t>An Enumerated Type (</a:t>
            </a:r>
            <a:r>
              <a:rPr lang="en-US" dirty="0" err="1">
                <a:latin typeface="+mn-lt"/>
                <a:cs typeface="Courier New" panose="02070309020205020404" pitchFamily="49" charset="0"/>
              </a:rPr>
              <a:t>enum</a:t>
            </a:r>
            <a:r>
              <a:rPr lang="en-US" dirty="0">
                <a:latin typeface="+mn-lt"/>
                <a:cs typeface="Courier New" panose="02070309020205020404" pitchFamily="49" charset="0"/>
              </a:rPr>
              <a:t>) is a top-level type (like classes and interfaces) which can be used like a fixed set of constant values.</a:t>
            </a:r>
          </a:p>
          <a:p>
            <a:pPr marL="342900" lvl="0" indent="-342900" algn="l" rtl="0">
              <a:lnSpc>
                <a:spcPct val="90000"/>
              </a:lnSpc>
              <a:spcBef>
                <a:spcPts val="0"/>
              </a:spcBef>
              <a:spcAft>
                <a:spcPts val="0"/>
              </a:spcAft>
              <a:buSzPts val="2800"/>
              <a:buChar char="•"/>
            </a:pPr>
            <a:r>
              <a:rPr lang="en-US" dirty="0">
                <a:latin typeface="+mn-lt"/>
                <a:cs typeface="Courier New" panose="02070309020205020404" pitchFamily="49" charset="0"/>
              </a:rPr>
              <a:t>Enums provide type safety (compile-time errors), instead of using control-flow and business logic to check string or numeric values at runtime.</a:t>
            </a:r>
          </a:p>
          <a:p>
            <a:pPr marL="800100" lvl="1" indent="-342900">
              <a:lnSpc>
                <a:spcPct val="90000"/>
              </a:lnSpc>
              <a:spcBef>
                <a:spcPts val="0"/>
              </a:spcBef>
              <a:buSzPts val="2800"/>
              <a:buChar char="•"/>
            </a:pPr>
            <a:r>
              <a:rPr lang="en-US" dirty="0">
                <a:latin typeface="+mn-lt"/>
                <a:cs typeface="Courier New" panose="02070309020205020404" pitchFamily="49" charset="0"/>
              </a:rPr>
              <a:t>i.e. When assigning a value using an Enum, you can only ever use </a:t>
            </a:r>
            <a:r>
              <a:rPr lang="en-US" dirty="0" err="1">
                <a:latin typeface="+mn-lt"/>
                <a:cs typeface="Courier New" panose="02070309020205020404" pitchFamily="49" charset="0"/>
              </a:rPr>
              <a:t>enum</a:t>
            </a:r>
            <a:r>
              <a:rPr lang="en-US" dirty="0">
                <a:latin typeface="+mn-lt"/>
                <a:cs typeface="Courier New" panose="02070309020205020404" pitchFamily="49" charset="0"/>
              </a:rPr>
              <a:t> values which have been pre-defined by the developer.</a:t>
            </a:r>
          </a:p>
          <a:p>
            <a:pPr marL="457200" lvl="1" indent="0">
              <a:lnSpc>
                <a:spcPct val="90000"/>
              </a:lnSpc>
              <a:spcBef>
                <a:spcPts val="0"/>
              </a:spcBef>
              <a:buSzPts val="2800"/>
              <a:buNone/>
            </a:pPr>
            <a:endParaRPr lang="en-US" dirty="0">
              <a:latin typeface="+mn-lt"/>
              <a:cs typeface="Courier New" panose="02070309020205020404" pitchFamily="49" charset="0"/>
            </a:endParaRPr>
          </a:p>
        </p:txBody>
      </p:sp>
      <p:sp>
        <p:nvSpPr>
          <p:cNvPr id="227" name="Google Shape;227;p17">
            <a:extLst>
              <a:ext uri="{FF2B5EF4-FFF2-40B4-BE49-F238E27FC236}">
                <a16:creationId xmlns:a16="http://schemas.microsoft.com/office/drawing/2014/main" id="{58AAE373-379E-9F05-AAD8-9DB976527285}"/>
              </a:ext>
            </a:extLst>
          </p:cNvPr>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127</a:t>
            </a:fld>
            <a:endParaRPr/>
          </a:p>
        </p:txBody>
      </p:sp>
    </p:spTree>
    <p:extLst>
      <p:ext uri="{BB962C8B-B14F-4D97-AF65-F5344CB8AC3E}">
        <p14:creationId xmlns:p14="http://schemas.microsoft.com/office/powerpoint/2010/main" val="2703522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6">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 grpId="0" build="p"/>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Shape 224">
          <a:extLst>
            <a:ext uri="{FF2B5EF4-FFF2-40B4-BE49-F238E27FC236}">
              <a16:creationId xmlns:a16="http://schemas.microsoft.com/office/drawing/2014/main" id="{F26C5BBC-C168-7620-8B66-B5134877F0CF}"/>
            </a:ext>
          </a:extLst>
        </p:cNvPr>
        <p:cNvGrpSpPr/>
        <p:nvPr/>
      </p:nvGrpSpPr>
      <p:grpSpPr>
        <a:xfrm>
          <a:off x="0" y="0"/>
          <a:ext cx="0" cy="0"/>
          <a:chOff x="0" y="0"/>
          <a:chExt cx="0" cy="0"/>
        </a:xfrm>
      </p:grpSpPr>
      <p:sp>
        <p:nvSpPr>
          <p:cNvPr id="225" name="Google Shape;225;p17">
            <a:extLst>
              <a:ext uri="{FF2B5EF4-FFF2-40B4-BE49-F238E27FC236}">
                <a16:creationId xmlns:a16="http://schemas.microsoft.com/office/drawing/2014/main" id="{A12C7492-8D2C-009B-2409-CC0A63F645C1}"/>
              </a:ext>
            </a:extLst>
          </p:cNvPr>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dirty="0"/>
              <a:t>Enum Syntax</a:t>
            </a:r>
            <a:endParaRPr dirty="0"/>
          </a:p>
        </p:txBody>
      </p:sp>
      <p:sp>
        <p:nvSpPr>
          <p:cNvPr id="226" name="Google Shape;226;p17">
            <a:extLst>
              <a:ext uri="{FF2B5EF4-FFF2-40B4-BE49-F238E27FC236}">
                <a16:creationId xmlns:a16="http://schemas.microsoft.com/office/drawing/2014/main" id="{E8C66FBF-5823-9115-761C-4819EF281B75}"/>
              </a:ext>
            </a:extLst>
          </p:cNvPr>
          <p:cNvSpPr txBox="1">
            <a:spLocks noGrp="1"/>
          </p:cNvSpPr>
          <p:nvPr>
            <p:ph type="body" idx="1"/>
          </p:nvPr>
        </p:nvSpPr>
        <p:spPr>
          <a:xfrm>
            <a:off x="380010" y="1438182"/>
            <a:ext cx="8384100" cy="556873"/>
          </a:xfrm>
          <a:prstGeom prst="rect">
            <a:avLst/>
          </a:prstGeom>
          <a:noFill/>
          <a:ln>
            <a:noFill/>
          </a:ln>
        </p:spPr>
        <p:txBody>
          <a:bodyPr spcFirstLastPara="1" wrap="square" lIns="91425" tIns="45700" rIns="91425" bIns="45700" anchor="t" anchorCtr="0">
            <a:normAutofit/>
          </a:bodyPr>
          <a:lstStyle/>
          <a:p>
            <a:pPr marL="342900" lvl="0" indent="-342900" algn="l" rtl="0">
              <a:lnSpc>
                <a:spcPct val="90000"/>
              </a:lnSpc>
              <a:spcBef>
                <a:spcPts val="0"/>
              </a:spcBef>
              <a:spcAft>
                <a:spcPts val="0"/>
              </a:spcAft>
              <a:buSzPts val="2800"/>
              <a:buChar char="•"/>
            </a:pPr>
            <a:r>
              <a:rPr lang="en-US" dirty="0">
                <a:latin typeface="+mn-lt"/>
                <a:cs typeface="Courier New" panose="02070309020205020404" pitchFamily="49" charset="0"/>
              </a:rPr>
              <a:t>Enums are created using the </a:t>
            </a:r>
            <a:r>
              <a:rPr lang="en-US" dirty="0" err="1">
                <a:latin typeface="Courier New" panose="02070309020205020404" pitchFamily="49" charset="0"/>
                <a:cs typeface="Courier New" panose="02070309020205020404" pitchFamily="49" charset="0"/>
              </a:rPr>
              <a:t>enum</a:t>
            </a:r>
            <a:r>
              <a:rPr lang="en-US" dirty="0">
                <a:latin typeface="+mn-lt"/>
                <a:cs typeface="Courier New" panose="02070309020205020404" pitchFamily="49" charset="0"/>
              </a:rPr>
              <a:t> keyword.</a:t>
            </a:r>
          </a:p>
          <a:p>
            <a:pPr marL="342900" lvl="0" indent="-342900" algn="l" rtl="0">
              <a:lnSpc>
                <a:spcPct val="90000"/>
              </a:lnSpc>
              <a:spcBef>
                <a:spcPts val="0"/>
              </a:spcBef>
              <a:spcAft>
                <a:spcPts val="0"/>
              </a:spcAft>
              <a:buSzPts val="2800"/>
              <a:buChar char="•"/>
            </a:pPr>
            <a:endParaRPr lang="en-US" dirty="0">
              <a:latin typeface="+mn-lt"/>
              <a:cs typeface="Courier New" panose="02070309020205020404" pitchFamily="49" charset="0"/>
            </a:endParaRPr>
          </a:p>
          <a:p>
            <a:pPr marL="457200" lvl="1" indent="0">
              <a:lnSpc>
                <a:spcPct val="90000"/>
              </a:lnSpc>
              <a:spcBef>
                <a:spcPts val="0"/>
              </a:spcBef>
              <a:buSzPts val="2800"/>
              <a:buNone/>
            </a:pPr>
            <a:endParaRPr lang="en-US" dirty="0">
              <a:latin typeface="+mn-lt"/>
              <a:cs typeface="Courier New" panose="02070309020205020404" pitchFamily="49" charset="0"/>
            </a:endParaRPr>
          </a:p>
        </p:txBody>
      </p:sp>
      <p:sp>
        <p:nvSpPr>
          <p:cNvPr id="227" name="Google Shape;227;p17">
            <a:extLst>
              <a:ext uri="{FF2B5EF4-FFF2-40B4-BE49-F238E27FC236}">
                <a16:creationId xmlns:a16="http://schemas.microsoft.com/office/drawing/2014/main" id="{26BAAE21-C8D7-B12C-6066-B31BA202387C}"/>
              </a:ext>
            </a:extLst>
          </p:cNvPr>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128</a:t>
            </a:fld>
            <a:endParaRPr/>
          </a:p>
        </p:txBody>
      </p:sp>
      <p:sp>
        <p:nvSpPr>
          <p:cNvPr id="2" name="Google Shape;219;p16">
            <a:extLst>
              <a:ext uri="{FF2B5EF4-FFF2-40B4-BE49-F238E27FC236}">
                <a16:creationId xmlns:a16="http://schemas.microsoft.com/office/drawing/2014/main" id="{C2BC1160-6208-5F69-B0C2-219E72DDD0E2}"/>
              </a:ext>
            </a:extLst>
          </p:cNvPr>
          <p:cNvSpPr txBox="1">
            <a:spLocks/>
          </p:cNvSpPr>
          <p:nvPr/>
        </p:nvSpPr>
        <p:spPr>
          <a:xfrm>
            <a:off x="2497882" y="1995055"/>
            <a:ext cx="4183812" cy="939496"/>
          </a:xfrm>
          <a:prstGeom prst="rect">
            <a:avLst/>
          </a:prstGeom>
        </p:spPr>
        <p:style>
          <a:lnRef idx="1">
            <a:schemeClr val="accent2"/>
          </a:lnRef>
          <a:fillRef idx="2">
            <a:schemeClr val="accent2"/>
          </a:fillRef>
          <a:effectRef idx="1">
            <a:schemeClr val="accent2"/>
          </a:effectRef>
          <a:fontRef idx="minor">
            <a:schemeClr val="dk1"/>
          </a:fontRef>
        </p:style>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100000"/>
              </a:lnSpc>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100000"/>
              </a:lnSpc>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9pPr>
          </a:lstStyle>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public </a:t>
            </a:r>
            <a:r>
              <a:rPr lang="en-US" sz="1400" dirty="0" err="1">
                <a:latin typeface="Courier New" panose="02070309020205020404" pitchFamily="49" charset="0"/>
                <a:cs typeface="Courier New" panose="02070309020205020404" pitchFamily="49" charset="0"/>
              </a:rPr>
              <a:t>enum</a:t>
            </a:r>
            <a:r>
              <a:rPr lang="en-US" sz="1400" dirty="0">
                <a:latin typeface="Courier New" panose="02070309020205020404" pitchFamily="49" charset="0"/>
                <a:cs typeface="Courier New" panose="02070309020205020404" pitchFamily="49" charset="0"/>
              </a:rPr>
              <a:t> Season {</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SPRING, SUMMER, FALL, WINTER</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a:t>
            </a:r>
          </a:p>
        </p:txBody>
      </p:sp>
      <p:sp>
        <p:nvSpPr>
          <p:cNvPr id="3" name="Google Shape;226;p17">
            <a:extLst>
              <a:ext uri="{FF2B5EF4-FFF2-40B4-BE49-F238E27FC236}">
                <a16:creationId xmlns:a16="http://schemas.microsoft.com/office/drawing/2014/main" id="{CA38E6F0-1EB0-FE9E-E9A8-91A6A86436D0}"/>
              </a:ext>
            </a:extLst>
          </p:cNvPr>
          <p:cNvSpPr txBox="1">
            <a:spLocks/>
          </p:cNvSpPr>
          <p:nvPr/>
        </p:nvSpPr>
        <p:spPr>
          <a:xfrm>
            <a:off x="397738" y="3144982"/>
            <a:ext cx="8384100" cy="2576945"/>
          </a:xfrm>
          <a:prstGeom prst="rect">
            <a:avLst/>
          </a:prstGeom>
          <a:noFill/>
          <a:ln>
            <a:noFill/>
          </a:ln>
        </p:spPr>
        <p:txBody>
          <a:bodyPr spcFirstLastPara="1" wrap="square" lIns="91425" tIns="45700" rIns="91425" bIns="45700" anchor="t" anchorCtr="0">
            <a:normAutofit lnSpcReduction="10000"/>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100000"/>
              </a:lnSpc>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100000"/>
              </a:lnSpc>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9pPr>
          </a:lstStyle>
          <a:p>
            <a:pPr marL="342900" indent="-342900">
              <a:lnSpc>
                <a:spcPct val="90000"/>
              </a:lnSpc>
              <a:spcBef>
                <a:spcPts val="0"/>
              </a:spcBef>
            </a:pPr>
            <a:r>
              <a:rPr lang="en-US" dirty="0">
                <a:latin typeface="+mn-lt"/>
                <a:cs typeface="Courier New" panose="02070309020205020404" pitchFamily="49" charset="0"/>
              </a:rPr>
              <a:t>Behind the scenes, an </a:t>
            </a:r>
            <a:r>
              <a:rPr lang="en-US" dirty="0" err="1">
                <a:latin typeface="Courier New" panose="02070309020205020404" pitchFamily="49" charset="0"/>
                <a:cs typeface="Courier New" panose="02070309020205020404" pitchFamily="49" charset="0"/>
              </a:rPr>
              <a:t>enum</a:t>
            </a:r>
            <a:r>
              <a:rPr lang="en-US" dirty="0">
                <a:latin typeface="+mn-lt"/>
                <a:cs typeface="Courier New" panose="02070309020205020404" pitchFamily="49" charset="0"/>
              </a:rPr>
              <a:t> is a type of class that mainly contains </a:t>
            </a:r>
            <a:r>
              <a:rPr lang="en-US" i="1" dirty="0">
                <a:latin typeface="+mn-lt"/>
                <a:cs typeface="Courier New" panose="02070309020205020404" pitchFamily="49" charset="0"/>
              </a:rPr>
              <a:t>static</a:t>
            </a:r>
            <a:r>
              <a:rPr lang="en-US" dirty="0">
                <a:latin typeface="+mn-lt"/>
                <a:cs typeface="Courier New" panose="02070309020205020404" pitchFamily="49" charset="0"/>
              </a:rPr>
              <a:t> members. It also includes some helper methods like </a:t>
            </a:r>
            <a:r>
              <a:rPr lang="en-US" dirty="0">
                <a:latin typeface="Courier New" panose="02070309020205020404" pitchFamily="49" charset="0"/>
                <a:cs typeface="Courier New" panose="02070309020205020404" pitchFamily="49" charset="0"/>
              </a:rPr>
              <a:t>name()</a:t>
            </a:r>
            <a:r>
              <a:rPr lang="en-US" dirty="0">
                <a:latin typeface="+mn-lt"/>
                <a:cs typeface="Courier New" panose="02070309020205020404" pitchFamily="49" charset="0"/>
              </a:rPr>
              <a:t>.</a:t>
            </a:r>
          </a:p>
          <a:p>
            <a:pPr marL="342900" indent="-342900">
              <a:lnSpc>
                <a:spcPct val="90000"/>
              </a:lnSpc>
              <a:spcBef>
                <a:spcPts val="0"/>
              </a:spcBef>
            </a:pPr>
            <a:r>
              <a:rPr lang="en-US" dirty="0">
                <a:latin typeface="+mn-lt"/>
                <a:cs typeface="Courier New" panose="02070309020205020404" pitchFamily="49" charset="0"/>
              </a:rPr>
              <a:t>To use an </a:t>
            </a:r>
            <a:r>
              <a:rPr lang="en-US" dirty="0" err="1">
                <a:latin typeface="+mn-lt"/>
                <a:cs typeface="Courier New" panose="02070309020205020404" pitchFamily="49" charset="0"/>
              </a:rPr>
              <a:t>enum</a:t>
            </a:r>
            <a:r>
              <a:rPr lang="en-US" dirty="0">
                <a:latin typeface="+mn-lt"/>
                <a:cs typeface="Courier New" panose="02070309020205020404" pitchFamily="49" charset="0"/>
              </a:rPr>
              <a:t>, you use the name of the </a:t>
            </a:r>
            <a:r>
              <a:rPr lang="en-US" dirty="0" err="1">
                <a:latin typeface="+mn-lt"/>
                <a:cs typeface="Courier New" panose="02070309020205020404" pitchFamily="49" charset="0"/>
              </a:rPr>
              <a:t>enum</a:t>
            </a:r>
            <a:r>
              <a:rPr lang="en-US" dirty="0">
                <a:latin typeface="+mn-lt"/>
                <a:cs typeface="Courier New" panose="02070309020205020404" pitchFamily="49" charset="0"/>
              </a:rPr>
              <a:t> as the variable type</a:t>
            </a:r>
          </a:p>
          <a:p>
            <a:pPr marL="342900" indent="-342900">
              <a:lnSpc>
                <a:spcPct val="90000"/>
              </a:lnSpc>
              <a:spcBef>
                <a:spcPts val="0"/>
              </a:spcBef>
            </a:pPr>
            <a:r>
              <a:rPr lang="en-US" dirty="0">
                <a:latin typeface="+mn-lt"/>
                <a:cs typeface="Courier New" panose="02070309020205020404" pitchFamily="49" charset="0"/>
              </a:rPr>
              <a:t>Values are set using the </a:t>
            </a:r>
            <a:r>
              <a:rPr lang="en-US" dirty="0" err="1">
                <a:latin typeface="+mn-lt"/>
                <a:cs typeface="Courier New" panose="02070309020205020404" pitchFamily="49" charset="0"/>
              </a:rPr>
              <a:t>enum</a:t>
            </a:r>
            <a:r>
              <a:rPr lang="en-US" dirty="0">
                <a:latin typeface="+mn-lt"/>
                <a:cs typeface="Courier New" panose="02070309020205020404" pitchFamily="49" charset="0"/>
              </a:rPr>
              <a:t> name followed by the dot operation and the </a:t>
            </a:r>
            <a:r>
              <a:rPr lang="en-US" dirty="0" err="1">
                <a:latin typeface="+mn-lt"/>
                <a:cs typeface="Courier New" panose="02070309020205020404" pitchFamily="49" charset="0"/>
              </a:rPr>
              <a:t>enum</a:t>
            </a:r>
            <a:r>
              <a:rPr lang="en-US" dirty="0">
                <a:latin typeface="+mn-lt"/>
                <a:cs typeface="Courier New" panose="02070309020205020404" pitchFamily="49" charset="0"/>
              </a:rPr>
              <a:t> value.</a:t>
            </a:r>
          </a:p>
          <a:p>
            <a:pPr marL="342900" indent="-342900">
              <a:lnSpc>
                <a:spcPct val="90000"/>
              </a:lnSpc>
              <a:spcBef>
                <a:spcPts val="0"/>
              </a:spcBef>
            </a:pPr>
            <a:endParaRPr lang="en-US" dirty="0">
              <a:latin typeface="+mn-lt"/>
              <a:cs typeface="Courier New" panose="02070309020205020404" pitchFamily="49" charset="0"/>
            </a:endParaRPr>
          </a:p>
          <a:p>
            <a:pPr marL="457200" lvl="1" indent="0">
              <a:lnSpc>
                <a:spcPct val="90000"/>
              </a:lnSpc>
              <a:spcBef>
                <a:spcPts val="0"/>
              </a:spcBef>
              <a:buSzPts val="2800"/>
              <a:buFont typeface="Arial"/>
              <a:buNone/>
            </a:pPr>
            <a:endParaRPr lang="en-US" dirty="0">
              <a:latin typeface="+mn-lt"/>
              <a:cs typeface="Courier New" panose="02070309020205020404" pitchFamily="49" charset="0"/>
            </a:endParaRPr>
          </a:p>
        </p:txBody>
      </p:sp>
      <p:sp>
        <p:nvSpPr>
          <p:cNvPr id="4" name="Google Shape;219;p16">
            <a:extLst>
              <a:ext uri="{FF2B5EF4-FFF2-40B4-BE49-F238E27FC236}">
                <a16:creationId xmlns:a16="http://schemas.microsoft.com/office/drawing/2014/main" id="{28B5D153-830B-0FBE-A68E-17512DBDF6B1}"/>
              </a:ext>
            </a:extLst>
          </p:cNvPr>
          <p:cNvSpPr txBox="1">
            <a:spLocks/>
          </p:cNvSpPr>
          <p:nvPr/>
        </p:nvSpPr>
        <p:spPr>
          <a:xfrm>
            <a:off x="1763461" y="5721927"/>
            <a:ext cx="5652654" cy="939496"/>
          </a:xfrm>
          <a:prstGeom prst="rect">
            <a:avLst/>
          </a:prstGeom>
        </p:spPr>
        <p:style>
          <a:lnRef idx="1">
            <a:schemeClr val="accent2"/>
          </a:lnRef>
          <a:fillRef idx="2">
            <a:schemeClr val="accent2"/>
          </a:fillRef>
          <a:effectRef idx="1">
            <a:schemeClr val="accent2"/>
          </a:effectRef>
          <a:fontRef idx="minor">
            <a:schemeClr val="dk1"/>
          </a:fontRef>
        </p:style>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100000"/>
              </a:lnSpc>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100000"/>
              </a:lnSpc>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9pPr>
          </a:lstStyle>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Season s = </a:t>
            </a:r>
            <a:r>
              <a:rPr lang="en-US" sz="1400" dirty="0" err="1">
                <a:latin typeface="Courier New" panose="02070309020205020404" pitchFamily="49" charset="0"/>
                <a:cs typeface="Courier New" panose="02070309020205020404" pitchFamily="49" charset="0"/>
              </a:rPr>
              <a:t>Season.SUMMER</a:t>
            </a:r>
            <a:r>
              <a:rPr lang="en-US" sz="1400" dirty="0">
                <a:latin typeface="Courier New" panose="02070309020205020404" pitchFamily="49" charset="0"/>
                <a:cs typeface="Courier New" panose="02070309020205020404" pitchFamily="49" charset="0"/>
              </a:rPr>
              <a:t>;</a:t>
            </a:r>
          </a:p>
          <a:p>
            <a:pPr marL="182880" lvl="1" indent="0" defTabSz="457200">
              <a:lnSpc>
                <a:spcPct val="90000"/>
              </a:lnSpc>
              <a:buNone/>
            </a:pPr>
            <a:r>
              <a:rPr lang="en-US" sz="1400" dirty="0" err="1">
                <a:latin typeface="Courier New" panose="02070309020205020404" pitchFamily="49" charset="0"/>
                <a:cs typeface="Courier New" panose="02070309020205020404" pitchFamily="49" charset="0"/>
              </a:rPr>
              <a:t>System.out.println</a:t>
            </a:r>
            <a:r>
              <a:rPr lang="en-US" sz="1400" dirty="0">
                <a:latin typeface="Courier New" panose="02070309020205020404" pitchFamily="49" charset="0"/>
                <a:cs typeface="Courier New" panose="02070309020205020404" pitchFamily="49" charset="0"/>
              </a:rPr>
              <a:t>(s) // SUMMER</a:t>
            </a:r>
          </a:p>
          <a:p>
            <a:pPr marL="182880" lvl="1" indent="0" defTabSz="457200">
              <a:lnSpc>
                <a:spcPct val="90000"/>
              </a:lnSpc>
              <a:buNone/>
            </a:pPr>
            <a:r>
              <a:rPr lang="en-US" sz="1400" dirty="0" err="1">
                <a:latin typeface="Courier New" panose="02070309020205020404" pitchFamily="49" charset="0"/>
                <a:cs typeface="Courier New" panose="02070309020205020404" pitchFamily="49" charset="0"/>
              </a:rPr>
              <a:t>System.out.println</a:t>
            </a:r>
            <a:r>
              <a:rPr lang="en-US" sz="1400" dirty="0">
                <a:latin typeface="Courier New" panose="02070309020205020404" pitchFamily="49" charset="0"/>
                <a:cs typeface="Courier New" panose="02070309020205020404" pitchFamily="49" charset="0"/>
              </a:rPr>
              <a:t>(s == </a:t>
            </a:r>
            <a:r>
              <a:rPr lang="en-US" sz="1400" dirty="0" err="1">
                <a:latin typeface="Courier New" panose="02070309020205020404" pitchFamily="49" charset="0"/>
                <a:cs typeface="Courier New" panose="02070309020205020404" pitchFamily="49" charset="0"/>
              </a:rPr>
              <a:t>Season.SUMMER</a:t>
            </a:r>
            <a:r>
              <a:rPr lang="en-US" sz="1400" dirty="0">
                <a:latin typeface="Courier New" panose="02070309020205020404" pitchFamily="49" charset="0"/>
                <a:cs typeface="Courier New" panose="02070309020205020404" pitchFamily="49" charset="0"/>
              </a:rPr>
              <a:t>; // true</a:t>
            </a:r>
          </a:p>
        </p:txBody>
      </p:sp>
    </p:spTree>
    <p:extLst>
      <p:ext uri="{BB962C8B-B14F-4D97-AF65-F5344CB8AC3E}">
        <p14:creationId xmlns:p14="http://schemas.microsoft.com/office/powerpoint/2010/main" val="480955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 grpId="0" build="p"/>
      <p:bldP spid="2" grpId="0" animBg="1"/>
      <p:bldP spid="3" grpId="0" build="p"/>
      <p:bldP spid="4" grpId="0" animBg="1"/>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Shape 224">
          <a:extLst>
            <a:ext uri="{FF2B5EF4-FFF2-40B4-BE49-F238E27FC236}">
              <a16:creationId xmlns:a16="http://schemas.microsoft.com/office/drawing/2014/main" id="{75443A54-7B0C-7A9B-054D-B853EA5BAF84}"/>
            </a:ext>
          </a:extLst>
        </p:cNvPr>
        <p:cNvGrpSpPr/>
        <p:nvPr/>
      </p:nvGrpSpPr>
      <p:grpSpPr>
        <a:xfrm>
          <a:off x="0" y="0"/>
          <a:ext cx="0" cy="0"/>
          <a:chOff x="0" y="0"/>
          <a:chExt cx="0" cy="0"/>
        </a:xfrm>
      </p:grpSpPr>
      <p:sp>
        <p:nvSpPr>
          <p:cNvPr id="225" name="Google Shape;225;p17">
            <a:extLst>
              <a:ext uri="{FF2B5EF4-FFF2-40B4-BE49-F238E27FC236}">
                <a16:creationId xmlns:a16="http://schemas.microsoft.com/office/drawing/2014/main" id="{E1CB8118-079D-93B0-4650-870DBE670B5D}"/>
              </a:ext>
            </a:extLst>
          </p:cNvPr>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dirty="0"/>
              <a:t>Enums and Switch</a:t>
            </a:r>
            <a:endParaRPr dirty="0"/>
          </a:p>
        </p:txBody>
      </p:sp>
      <p:sp>
        <p:nvSpPr>
          <p:cNvPr id="226" name="Google Shape;226;p17">
            <a:extLst>
              <a:ext uri="{FF2B5EF4-FFF2-40B4-BE49-F238E27FC236}">
                <a16:creationId xmlns:a16="http://schemas.microsoft.com/office/drawing/2014/main" id="{05E573A0-34E4-B363-9F2F-DBFB94FE407D}"/>
              </a:ext>
            </a:extLst>
          </p:cNvPr>
          <p:cNvSpPr txBox="1">
            <a:spLocks noGrp="1"/>
          </p:cNvSpPr>
          <p:nvPr>
            <p:ph type="body" idx="1"/>
          </p:nvPr>
        </p:nvSpPr>
        <p:spPr>
          <a:xfrm>
            <a:off x="380010" y="1438182"/>
            <a:ext cx="8384100" cy="1124909"/>
          </a:xfrm>
          <a:prstGeom prst="rect">
            <a:avLst/>
          </a:prstGeom>
          <a:noFill/>
          <a:ln>
            <a:noFill/>
          </a:ln>
        </p:spPr>
        <p:txBody>
          <a:bodyPr spcFirstLastPara="1" wrap="square" lIns="91425" tIns="45700" rIns="91425" bIns="45700" anchor="t" anchorCtr="0">
            <a:normAutofit lnSpcReduction="10000"/>
          </a:bodyPr>
          <a:lstStyle/>
          <a:p>
            <a:pPr marL="342900" lvl="0" indent="-342900" algn="l" rtl="0">
              <a:lnSpc>
                <a:spcPct val="90000"/>
              </a:lnSpc>
              <a:spcBef>
                <a:spcPts val="0"/>
              </a:spcBef>
              <a:spcAft>
                <a:spcPts val="0"/>
              </a:spcAft>
              <a:buSzPts val="2800"/>
              <a:buChar char="•"/>
            </a:pPr>
            <a:r>
              <a:rPr lang="en-US" dirty="0">
                <a:latin typeface="+mn-lt"/>
                <a:cs typeface="Courier New" panose="02070309020205020404" pitchFamily="49" charset="0"/>
              </a:rPr>
              <a:t>Enums can be used in switch statements referencing only the </a:t>
            </a:r>
            <a:r>
              <a:rPr lang="en-US" dirty="0" err="1">
                <a:latin typeface="+mn-lt"/>
                <a:cs typeface="Courier New" panose="02070309020205020404" pitchFamily="49" charset="0"/>
              </a:rPr>
              <a:t>enum</a:t>
            </a:r>
            <a:r>
              <a:rPr lang="en-US" dirty="0">
                <a:latin typeface="+mn-lt"/>
                <a:cs typeface="Courier New" panose="02070309020205020404" pitchFamily="49" charset="0"/>
              </a:rPr>
              <a:t> values.</a:t>
            </a:r>
          </a:p>
          <a:p>
            <a:pPr marL="342900" lvl="0" indent="-342900" algn="l" rtl="0">
              <a:lnSpc>
                <a:spcPct val="90000"/>
              </a:lnSpc>
              <a:spcBef>
                <a:spcPts val="0"/>
              </a:spcBef>
              <a:spcAft>
                <a:spcPts val="0"/>
              </a:spcAft>
              <a:buSzPts val="2800"/>
              <a:buChar char="•"/>
            </a:pPr>
            <a:r>
              <a:rPr lang="en-US" dirty="0">
                <a:latin typeface="+mn-lt"/>
                <a:cs typeface="Courier New" panose="02070309020205020404" pitchFamily="49" charset="0"/>
              </a:rPr>
              <a:t>The syntax is slightly unintuitive, see below:</a:t>
            </a:r>
          </a:p>
          <a:p>
            <a:pPr marL="457200" lvl="1" indent="0">
              <a:lnSpc>
                <a:spcPct val="90000"/>
              </a:lnSpc>
              <a:spcBef>
                <a:spcPts val="0"/>
              </a:spcBef>
              <a:buSzPts val="2800"/>
              <a:buNone/>
            </a:pPr>
            <a:endParaRPr lang="en-US" dirty="0">
              <a:latin typeface="+mn-lt"/>
              <a:cs typeface="Courier New" panose="02070309020205020404" pitchFamily="49" charset="0"/>
            </a:endParaRPr>
          </a:p>
        </p:txBody>
      </p:sp>
      <p:sp>
        <p:nvSpPr>
          <p:cNvPr id="227" name="Google Shape;227;p17">
            <a:extLst>
              <a:ext uri="{FF2B5EF4-FFF2-40B4-BE49-F238E27FC236}">
                <a16:creationId xmlns:a16="http://schemas.microsoft.com/office/drawing/2014/main" id="{8CE81CE8-E00F-28B7-500D-DBBEF272B486}"/>
              </a:ext>
            </a:extLst>
          </p:cNvPr>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129</a:t>
            </a:fld>
            <a:endParaRPr/>
          </a:p>
        </p:txBody>
      </p:sp>
      <p:sp>
        <p:nvSpPr>
          <p:cNvPr id="2" name="Google Shape;219;p16">
            <a:extLst>
              <a:ext uri="{FF2B5EF4-FFF2-40B4-BE49-F238E27FC236}">
                <a16:creationId xmlns:a16="http://schemas.microsoft.com/office/drawing/2014/main" id="{53FE5DCF-1156-F143-A221-2B274FDD359C}"/>
              </a:ext>
            </a:extLst>
          </p:cNvPr>
          <p:cNvSpPr txBox="1">
            <a:spLocks/>
          </p:cNvSpPr>
          <p:nvPr/>
        </p:nvSpPr>
        <p:spPr>
          <a:xfrm>
            <a:off x="1662545" y="2782073"/>
            <a:ext cx="5818909" cy="3802137"/>
          </a:xfrm>
          <a:prstGeom prst="rect">
            <a:avLst/>
          </a:prstGeom>
        </p:spPr>
        <p:style>
          <a:lnRef idx="1">
            <a:schemeClr val="accent2"/>
          </a:lnRef>
          <a:fillRef idx="2">
            <a:schemeClr val="accent2"/>
          </a:fillRef>
          <a:effectRef idx="1">
            <a:schemeClr val="accent2"/>
          </a:effectRef>
          <a:fontRef idx="minor">
            <a:schemeClr val="dk1"/>
          </a:fontRef>
        </p:style>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100000"/>
              </a:lnSpc>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100000"/>
              </a:lnSpc>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9pPr>
          </a:lstStyle>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Season summer = </a:t>
            </a:r>
            <a:r>
              <a:rPr lang="en-US" sz="1400" dirty="0" err="1">
                <a:latin typeface="Courier New" panose="02070309020205020404" pitchFamily="49" charset="0"/>
                <a:cs typeface="Courier New" panose="02070309020205020404" pitchFamily="49" charset="0"/>
              </a:rPr>
              <a:t>Season.SUMMER</a:t>
            </a:r>
            <a:r>
              <a:rPr lang="en-US" sz="1400" dirty="0">
                <a:latin typeface="Courier New" panose="02070309020205020404" pitchFamily="49" charset="0"/>
                <a:cs typeface="Courier New" panose="02070309020205020404" pitchFamily="49" charset="0"/>
              </a:rPr>
              <a:t>;</a:t>
            </a:r>
          </a:p>
          <a:p>
            <a:pPr marL="182880" lvl="1" indent="0" defTabSz="457200">
              <a:lnSpc>
                <a:spcPct val="90000"/>
              </a:lnSpc>
              <a:buNone/>
            </a:pPr>
            <a:endParaRPr lang="en-US" sz="1400" dirty="0">
              <a:latin typeface="Courier New" panose="02070309020205020404" pitchFamily="49" charset="0"/>
              <a:cs typeface="Courier New" panose="02070309020205020404" pitchFamily="49" charset="0"/>
            </a:endParaRP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Switch (summer):</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case WINTER:</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System.out.println</a:t>
            </a:r>
            <a:r>
              <a:rPr lang="en-US" sz="1400" dirty="0">
                <a:latin typeface="Courier New" panose="02070309020205020404" pitchFamily="49" charset="0"/>
                <a:cs typeface="Courier New" panose="02070309020205020404" pitchFamily="49" charset="0"/>
              </a:rPr>
              <a:t>(“It’s cold outside”);</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break;</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case SUMMER:</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System.out.println</a:t>
            </a:r>
            <a:r>
              <a:rPr lang="en-US" sz="1400" dirty="0">
                <a:latin typeface="Courier New" panose="02070309020205020404" pitchFamily="49" charset="0"/>
                <a:cs typeface="Courier New" panose="02070309020205020404" pitchFamily="49" charset="0"/>
              </a:rPr>
              <a:t>(“Time for the pool”);</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break;</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case </a:t>
            </a:r>
            <a:r>
              <a:rPr lang="en-US" sz="1400" dirty="0" err="1">
                <a:latin typeface="Courier New" panose="02070309020205020404" pitchFamily="49" charset="0"/>
                <a:cs typeface="Courier New" panose="02070309020205020404" pitchFamily="49" charset="0"/>
              </a:rPr>
              <a:t>Season.FALL</a:t>
            </a:r>
            <a:r>
              <a:rPr lang="en-US" sz="1400" dirty="0">
                <a:latin typeface="Courier New" panose="02070309020205020404" pitchFamily="49" charset="0"/>
                <a:cs typeface="Courier New" panose="02070309020205020404" pitchFamily="49" charset="0"/>
              </a:rPr>
              <a:t>:		// DOES NOT COMPILE!</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System.out.println</a:t>
            </a:r>
            <a:r>
              <a:rPr lang="en-US" sz="1400" dirty="0">
                <a:latin typeface="Courier New" panose="02070309020205020404" pitchFamily="49" charset="0"/>
                <a:cs typeface="Courier New" panose="02070309020205020404" pitchFamily="49" charset="0"/>
              </a:rPr>
              <a:t>(“Leaves are changing”);</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break;</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default:</a:t>
            </a:r>
          </a:p>
          <a:p>
            <a:pPr marL="182880" lvl="1" indent="0" defTabSz="457200">
              <a:lnSpc>
                <a:spcPct val="90000"/>
              </a:lnSpc>
              <a:buNone/>
            </a:pP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System.out.println</a:t>
            </a:r>
            <a:r>
              <a:rPr lang="en-US" sz="1400" dirty="0">
                <a:latin typeface="Courier New" panose="02070309020205020404" pitchFamily="49" charset="0"/>
                <a:cs typeface="Courier New" panose="02070309020205020404" pitchFamily="49" charset="0"/>
              </a:rPr>
              <a:t>(“Must be Spring”);</a:t>
            </a:r>
          </a:p>
        </p:txBody>
      </p:sp>
    </p:spTree>
    <p:extLst>
      <p:ext uri="{BB962C8B-B14F-4D97-AF65-F5344CB8AC3E}">
        <p14:creationId xmlns:p14="http://schemas.microsoft.com/office/powerpoint/2010/main" val="2799507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 grpId="0" build="p"/>
      <p:bldP spid="2" grpId="0" animBg="1"/>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5086E-2937-C8ED-9E04-52645986E42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EBB8921-F04F-3E8E-7A10-55810B7A31E4}"/>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130</a:t>
            </a:fld>
            <a:endParaRPr lang="en-US"/>
          </a:p>
        </p:txBody>
      </p:sp>
      <p:sp>
        <p:nvSpPr>
          <p:cNvPr id="4" name="Google Shape;212;p15">
            <a:extLst>
              <a:ext uri="{FF2B5EF4-FFF2-40B4-BE49-F238E27FC236}">
                <a16:creationId xmlns:a16="http://schemas.microsoft.com/office/drawing/2014/main" id="{BBED52BD-A4D2-4BF8-B470-14BBD49B6E81}"/>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Bonus: Casing Rules</a:t>
            </a:r>
          </a:p>
        </p:txBody>
      </p:sp>
      <p:pic>
        <p:nvPicPr>
          <p:cNvPr id="6" name="Picture 5">
            <a:extLst>
              <a:ext uri="{FF2B5EF4-FFF2-40B4-BE49-F238E27FC236}">
                <a16:creationId xmlns:a16="http://schemas.microsoft.com/office/drawing/2014/main" id="{FA3C1298-BBB1-79F0-48CD-B1B421647768}"/>
              </a:ext>
            </a:extLst>
          </p:cNvPr>
          <p:cNvPicPr>
            <a:picLocks noChangeAspect="1"/>
          </p:cNvPicPr>
          <p:nvPr/>
        </p:nvPicPr>
        <p:blipFill>
          <a:blip r:embed="rId2"/>
          <a:stretch>
            <a:fillRect/>
          </a:stretch>
        </p:blipFill>
        <p:spPr>
          <a:xfrm>
            <a:off x="7036646" y="0"/>
            <a:ext cx="2107354" cy="773112"/>
          </a:xfrm>
          <a:prstGeom prst="rect">
            <a:avLst/>
          </a:prstGeom>
        </p:spPr>
      </p:pic>
    </p:spTree>
    <p:extLst>
      <p:ext uri="{BB962C8B-B14F-4D97-AF65-F5344CB8AC3E}">
        <p14:creationId xmlns:p14="http://schemas.microsoft.com/office/powerpoint/2010/main" val="358248441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16"/>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dirty="0"/>
              <a:t>A Quick Word on Capitalization</a:t>
            </a:r>
            <a:endParaRPr dirty="0"/>
          </a:p>
        </p:txBody>
      </p:sp>
      <p:sp>
        <p:nvSpPr>
          <p:cNvPr id="218" name="Google Shape;218;p16"/>
          <p:cNvSpPr txBox="1">
            <a:spLocks noGrp="1"/>
          </p:cNvSpPr>
          <p:nvPr>
            <p:ph type="body" idx="1"/>
          </p:nvPr>
        </p:nvSpPr>
        <p:spPr>
          <a:xfrm>
            <a:off x="380010" y="1481446"/>
            <a:ext cx="8383980" cy="1649943"/>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SzPts val="2590"/>
              <a:buChar char="•"/>
            </a:pPr>
            <a:r>
              <a:rPr lang="en-US" sz="2590" dirty="0"/>
              <a:t>Java has standard ‘rules’ about capitalization.</a:t>
            </a:r>
            <a:endParaRPr dirty="0"/>
          </a:p>
          <a:p>
            <a:pPr marL="342900" lvl="0" indent="-342900" algn="l" rtl="0">
              <a:lnSpc>
                <a:spcPct val="90000"/>
              </a:lnSpc>
              <a:spcBef>
                <a:spcPts val="518"/>
              </a:spcBef>
              <a:spcAft>
                <a:spcPts val="0"/>
              </a:spcAft>
              <a:buSzPts val="2590"/>
              <a:buChar char="•"/>
            </a:pPr>
            <a:r>
              <a:rPr lang="en-US" sz="2590" dirty="0"/>
              <a:t>Another developer should be able to identify structures “at-a-glance”</a:t>
            </a:r>
            <a:endParaRPr dirty="0"/>
          </a:p>
        </p:txBody>
      </p:sp>
      <p:sp>
        <p:nvSpPr>
          <p:cNvPr id="219" name="Google Shape;219;p16"/>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131</a:t>
            </a:fld>
            <a:endParaRPr/>
          </a:p>
        </p:txBody>
      </p:sp>
      <p:graphicFrame>
        <p:nvGraphicFramePr>
          <p:cNvPr id="2" name="Table 1">
            <a:extLst>
              <a:ext uri="{FF2B5EF4-FFF2-40B4-BE49-F238E27FC236}">
                <a16:creationId xmlns:a16="http://schemas.microsoft.com/office/drawing/2014/main" id="{CB656439-E004-2174-830E-F75D6B10778C}"/>
              </a:ext>
            </a:extLst>
          </p:cNvPr>
          <p:cNvGraphicFramePr>
            <a:graphicFrameLocks noGrp="1"/>
          </p:cNvGraphicFramePr>
          <p:nvPr>
            <p:extLst>
              <p:ext uri="{D42A27DB-BD31-4B8C-83A1-F6EECF244321}">
                <p14:modId xmlns:p14="http://schemas.microsoft.com/office/powerpoint/2010/main" val="3579129230"/>
              </p:ext>
            </p:extLst>
          </p:nvPr>
        </p:nvGraphicFramePr>
        <p:xfrm>
          <a:off x="750498" y="3131389"/>
          <a:ext cx="7643004" cy="2565400"/>
        </p:xfrm>
        <a:graphic>
          <a:graphicData uri="http://schemas.openxmlformats.org/drawingml/2006/table">
            <a:tbl>
              <a:tblPr firstRow="1" bandRow="1">
                <a:tableStyleId>{5C22544A-7EE6-4342-B048-85BDC9FD1C3A}</a:tableStyleId>
              </a:tblPr>
              <a:tblGrid>
                <a:gridCol w="1509623">
                  <a:extLst>
                    <a:ext uri="{9D8B030D-6E8A-4147-A177-3AD203B41FA5}">
                      <a16:colId xmlns:a16="http://schemas.microsoft.com/office/drawing/2014/main" val="301222227"/>
                    </a:ext>
                  </a:extLst>
                </a:gridCol>
                <a:gridCol w="3585713">
                  <a:extLst>
                    <a:ext uri="{9D8B030D-6E8A-4147-A177-3AD203B41FA5}">
                      <a16:colId xmlns:a16="http://schemas.microsoft.com/office/drawing/2014/main" val="4041287208"/>
                    </a:ext>
                  </a:extLst>
                </a:gridCol>
                <a:gridCol w="2547668">
                  <a:extLst>
                    <a:ext uri="{9D8B030D-6E8A-4147-A177-3AD203B41FA5}">
                      <a16:colId xmlns:a16="http://schemas.microsoft.com/office/drawing/2014/main" val="1057789800"/>
                    </a:ext>
                  </a:extLst>
                </a:gridCol>
              </a:tblGrid>
              <a:tr h="370840">
                <a:tc>
                  <a:txBody>
                    <a:bodyPr/>
                    <a:lstStyle/>
                    <a:p>
                      <a:r>
                        <a:rPr lang="en-US" dirty="0"/>
                        <a:t>Entity(</a:t>
                      </a:r>
                      <a:r>
                        <a:rPr lang="en-US" dirty="0" err="1"/>
                        <a:t>ies</a:t>
                      </a:r>
                      <a:r>
                        <a:rPr lang="en-US" dirty="0"/>
                        <a:t>)</a:t>
                      </a:r>
                    </a:p>
                  </a:txBody>
                  <a:tcPr/>
                </a:tc>
                <a:tc>
                  <a:txBody>
                    <a:bodyPr/>
                    <a:lstStyle/>
                    <a:p>
                      <a:r>
                        <a:rPr lang="en-US" dirty="0"/>
                        <a:t>Casing rule</a:t>
                      </a:r>
                    </a:p>
                  </a:txBody>
                  <a:tcPr/>
                </a:tc>
                <a:tc>
                  <a:txBody>
                    <a:bodyPr/>
                    <a:lstStyle/>
                    <a:p>
                      <a:r>
                        <a:rPr lang="en-US" dirty="0"/>
                        <a:t>Example</a:t>
                      </a:r>
                    </a:p>
                  </a:txBody>
                  <a:tcPr/>
                </a:tc>
                <a:extLst>
                  <a:ext uri="{0D108BD9-81ED-4DB2-BD59-A6C34878D82A}">
                    <a16:rowId xmlns:a16="http://schemas.microsoft.com/office/drawing/2014/main" val="497748972"/>
                  </a:ext>
                </a:extLst>
              </a:tr>
              <a:tr h="370840">
                <a:tc>
                  <a:txBody>
                    <a:bodyPr/>
                    <a:lstStyle/>
                    <a:p>
                      <a:r>
                        <a:rPr lang="en-US" dirty="0"/>
                        <a:t>Class</a:t>
                      </a:r>
                    </a:p>
                    <a:p>
                      <a:r>
                        <a:rPr lang="en-US" dirty="0"/>
                        <a:t>Constructors</a:t>
                      </a:r>
                    </a:p>
                    <a:p>
                      <a:r>
                        <a:rPr lang="en-US" dirty="0"/>
                        <a:t>Interfaces</a:t>
                      </a:r>
                    </a:p>
                  </a:txBody>
                  <a:tcPr/>
                </a:tc>
                <a:tc>
                  <a:txBody>
                    <a:bodyPr/>
                    <a:lstStyle/>
                    <a:p>
                      <a:r>
                        <a:rPr lang="en-US" dirty="0" err="1"/>
                        <a:t>UpperCamelCase</a:t>
                      </a:r>
                      <a:endParaRPr lang="en-US" dirty="0"/>
                    </a:p>
                    <a:p>
                      <a:r>
                        <a:rPr lang="en-US" dirty="0" err="1"/>
                        <a:t>PascalCase</a:t>
                      </a:r>
                      <a:endParaRPr lang="en-US" dirty="0"/>
                    </a:p>
                  </a:txBody>
                  <a:tcPr/>
                </a:tc>
                <a:tc>
                  <a:txBody>
                    <a:bodyPr/>
                    <a:lstStyle/>
                    <a:p>
                      <a:r>
                        <a:rPr lang="en-US" dirty="0" err="1"/>
                        <a:t>MyClass</a:t>
                      </a:r>
                      <a:endParaRPr lang="en-US" dirty="0"/>
                    </a:p>
                    <a:p>
                      <a:r>
                        <a:rPr lang="en-US" dirty="0" err="1"/>
                        <a:t>MyInterface</a:t>
                      </a:r>
                      <a:endParaRPr lang="en-US" dirty="0"/>
                    </a:p>
                    <a:p>
                      <a:r>
                        <a:rPr lang="en-US" dirty="0"/>
                        <a:t>StringBuilder</a:t>
                      </a:r>
                    </a:p>
                  </a:txBody>
                  <a:tcPr/>
                </a:tc>
                <a:extLst>
                  <a:ext uri="{0D108BD9-81ED-4DB2-BD59-A6C34878D82A}">
                    <a16:rowId xmlns:a16="http://schemas.microsoft.com/office/drawing/2014/main" val="1082672606"/>
                  </a:ext>
                </a:extLst>
              </a:tr>
              <a:tr h="370840">
                <a:tc>
                  <a:txBody>
                    <a:bodyPr/>
                    <a:lstStyle/>
                    <a:p>
                      <a:r>
                        <a:rPr lang="en-US" dirty="0"/>
                        <a:t>Variables</a:t>
                      </a:r>
                    </a:p>
                    <a:p>
                      <a:r>
                        <a:rPr lang="en-US" dirty="0"/>
                        <a:t>Methods</a:t>
                      </a:r>
                    </a:p>
                  </a:txBody>
                  <a:tcPr/>
                </a:tc>
                <a:tc>
                  <a:txBody>
                    <a:bodyPr/>
                    <a:lstStyle/>
                    <a:p>
                      <a:r>
                        <a:rPr lang="en-US" dirty="0"/>
                        <a:t>camelCase</a:t>
                      </a:r>
                    </a:p>
                  </a:txBody>
                  <a:tcPr/>
                </a:tc>
                <a:tc>
                  <a:txBody>
                    <a:bodyPr/>
                    <a:lstStyle/>
                    <a:p>
                      <a:r>
                        <a:rPr lang="en-US" dirty="0"/>
                        <a:t>email</a:t>
                      </a:r>
                    </a:p>
                    <a:p>
                      <a:r>
                        <a:rPr lang="en-US" dirty="0" err="1"/>
                        <a:t>firstName</a:t>
                      </a:r>
                      <a:endParaRPr lang="en-US" dirty="0"/>
                    </a:p>
                    <a:p>
                      <a:r>
                        <a:rPr lang="en-US" dirty="0" err="1"/>
                        <a:t>findAllMatching</a:t>
                      </a:r>
                      <a:r>
                        <a:rPr lang="en-US" dirty="0"/>
                        <a:t>()</a:t>
                      </a:r>
                    </a:p>
                    <a:p>
                      <a:r>
                        <a:rPr lang="en-US" dirty="0" err="1"/>
                        <a:t>getFirstName</a:t>
                      </a:r>
                      <a:r>
                        <a:rPr lang="en-US" dirty="0"/>
                        <a:t>()</a:t>
                      </a:r>
                    </a:p>
                  </a:txBody>
                  <a:tcPr/>
                </a:tc>
                <a:extLst>
                  <a:ext uri="{0D108BD9-81ED-4DB2-BD59-A6C34878D82A}">
                    <a16:rowId xmlns:a16="http://schemas.microsoft.com/office/drawing/2014/main" val="1150549162"/>
                  </a:ext>
                </a:extLst>
              </a:tr>
              <a:tr h="370840">
                <a:tc>
                  <a:txBody>
                    <a:bodyPr/>
                    <a:lstStyle/>
                    <a:p>
                      <a:r>
                        <a:rPr lang="en-US" dirty="0"/>
                        <a:t>packages</a:t>
                      </a:r>
                    </a:p>
                  </a:txBody>
                  <a:tcPr/>
                </a:tc>
                <a:tc>
                  <a:txBody>
                    <a:bodyPr/>
                    <a:lstStyle/>
                    <a:p>
                      <a:r>
                        <a:rPr lang="en-US" dirty="0"/>
                        <a:t>lowercase</a:t>
                      </a:r>
                    </a:p>
                    <a:p>
                      <a:r>
                        <a:rPr lang="en-US" dirty="0"/>
                        <a:t>(sub-packages separated with period)</a:t>
                      </a:r>
                    </a:p>
                  </a:txBody>
                  <a:tcPr/>
                </a:tc>
                <a:tc>
                  <a:txBody>
                    <a:bodyPr/>
                    <a:lstStyle/>
                    <a:p>
                      <a:r>
                        <a:rPr lang="en-US" dirty="0" err="1"/>
                        <a:t>java.util</a:t>
                      </a:r>
                      <a:endParaRPr lang="en-US" dirty="0"/>
                    </a:p>
                    <a:p>
                      <a:r>
                        <a:rPr lang="en-US" dirty="0" err="1"/>
                        <a:t>com.revature</a:t>
                      </a:r>
                      <a:endParaRPr lang="en-US" dirty="0"/>
                    </a:p>
                  </a:txBody>
                  <a:tcPr/>
                </a:tc>
                <a:extLst>
                  <a:ext uri="{0D108BD9-81ED-4DB2-BD59-A6C34878D82A}">
                    <a16:rowId xmlns:a16="http://schemas.microsoft.com/office/drawing/2014/main" val="3154524815"/>
                  </a:ext>
                </a:extLst>
              </a:tr>
            </a:tbl>
          </a:graphicData>
        </a:graphic>
      </p:graphicFrame>
      <p:sp>
        <p:nvSpPr>
          <p:cNvPr id="3" name="TextBox 2">
            <a:extLst>
              <a:ext uri="{FF2B5EF4-FFF2-40B4-BE49-F238E27FC236}">
                <a16:creationId xmlns:a16="http://schemas.microsoft.com/office/drawing/2014/main" id="{3D831596-0B86-EF68-9AC6-424B509B85F7}"/>
              </a:ext>
            </a:extLst>
          </p:cNvPr>
          <p:cNvSpPr txBox="1"/>
          <p:nvPr/>
        </p:nvSpPr>
        <p:spPr>
          <a:xfrm>
            <a:off x="0" y="6546274"/>
            <a:ext cx="5170005" cy="307777"/>
          </a:xfrm>
          <a:prstGeom prst="rect">
            <a:avLst/>
          </a:prstGeom>
          <a:noFill/>
        </p:spPr>
        <p:txBody>
          <a:bodyPr wrap="none" rtlCol="0">
            <a:spAutoFit/>
          </a:bodyPr>
          <a:lstStyle/>
          <a:p>
            <a:r>
              <a:rPr lang="en-US" dirty="0"/>
              <a:t>Reminder: Package + Class name = “fully qualified class name”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250"/>
                                        <p:tgtEl>
                                          <p:spTgt spid="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2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 grpId="0" uiExpand="1" build="p"/>
      <p:bldP spid="3" grpId="0"/>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29"/>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2400"/>
              <a:buFont typeface="Arial"/>
              <a:buNone/>
            </a:pPr>
            <a:endParaRPr/>
          </a:p>
        </p:txBody>
      </p:sp>
      <p:sp>
        <p:nvSpPr>
          <p:cNvPr id="310" name="Google Shape;310;p29"/>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132</a:t>
            </a:fld>
            <a:endParaRPr/>
          </a:p>
        </p:txBody>
      </p:sp>
    </p:spTree>
  </p:cSld>
  <p:clrMapOvr>
    <a:masterClrMapping/>
  </p:clrMapOvr>
</p:sld>
</file>

<file path=ppt/theme/theme1.xml><?xml version="1.0" encoding="utf-8"?>
<a:theme xmlns:a="http://schemas.openxmlformats.org/drawingml/2006/main" name="2_Custom Design">
  <a:themeElements>
    <a:clrScheme name="Revature">
      <a:dk1>
        <a:srgbClr val="000000"/>
      </a:dk1>
      <a:lt1>
        <a:srgbClr val="FFFFFF"/>
      </a:lt1>
      <a:dk2>
        <a:srgbClr val="474C55"/>
      </a:dk2>
      <a:lt2>
        <a:srgbClr val="F2F2F2"/>
      </a:lt2>
      <a:accent1>
        <a:srgbClr val="F36A25"/>
      </a:accent1>
      <a:accent2>
        <a:srgbClr val="A0A1A0"/>
      </a:accent2>
      <a:accent3>
        <a:srgbClr val="474C55"/>
      </a:accent3>
      <a:accent4>
        <a:srgbClr val="F7A528"/>
      </a:accent4>
      <a:accent5>
        <a:srgbClr val="73A5C2"/>
      </a:accent5>
      <a:accent6>
        <a:srgbClr val="F36A25"/>
      </a:accent6>
      <a:hlink>
        <a:srgbClr val="F36A25"/>
      </a:hlink>
      <a:folHlink>
        <a:srgbClr val="F36A2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15202</TotalTime>
  <Words>10406</Words>
  <Application>Microsoft Office PowerPoint</Application>
  <PresentationFormat>On-screen Show (4:3)</PresentationFormat>
  <Paragraphs>1497</Paragraphs>
  <Slides>133</Slides>
  <Notes>50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133</vt:i4>
      </vt:variant>
    </vt:vector>
  </HeadingPairs>
  <TitlesOfParts>
    <vt:vector size="138" baseType="lpstr">
      <vt:lpstr>Arial</vt:lpstr>
      <vt:lpstr>Calibri</vt:lpstr>
      <vt:lpstr>Courier New</vt:lpstr>
      <vt:lpstr>Segoe Print</vt:lpstr>
      <vt:lpstr>2_Custom Design</vt:lpstr>
      <vt:lpstr>Programming Basics with Java</vt:lpstr>
      <vt:lpstr>Topics</vt:lpstr>
      <vt:lpstr>PowerPoint Presentation</vt:lpstr>
      <vt:lpstr>Broad Categories of Languages</vt:lpstr>
      <vt:lpstr>Binary – Examples</vt:lpstr>
      <vt:lpstr>Computer Memory Structure</vt:lpstr>
      <vt:lpstr>What’s Missing?</vt:lpstr>
      <vt:lpstr>PowerPoint Presentation</vt:lpstr>
      <vt:lpstr>JDK, JRE, JVM</vt:lpstr>
      <vt:lpstr>What is Compilation</vt:lpstr>
      <vt:lpstr>Compile Time Errors</vt:lpstr>
      <vt:lpstr>PowerPoint Presentation</vt:lpstr>
      <vt:lpstr>Java on Every Platform?</vt:lpstr>
      <vt:lpstr>Why Use Java?</vt:lpstr>
      <vt:lpstr>PowerPoint Presentation</vt:lpstr>
      <vt:lpstr>Code Comments</vt:lpstr>
      <vt:lpstr>Java Classes</vt:lpstr>
      <vt:lpstr>Executable Classes</vt:lpstr>
      <vt:lpstr>PowerPoint Presentation</vt:lpstr>
      <vt:lpstr>Packages and the JRE</vt:lpstr>
      <vt:lpstr>Package Structure </vt:lpstr>
      <vt:lpstr>PowerPoint Presentation</vt:lpstr>
      <vt:lpstr>Expressions</vt:lpstr>
      <vt:lpstr>Categories of Variables</vt:lpstr>
      <vt:lpstr>Primitive Data Types revisit</vt:lpstr>
      <vt:lpstr>What about converting between other variables?</vt:lpstr>
      <vt:lpstr>Numbers and Underscores</vt:lpstr>
      <vt:lpstr>Numbers and Underscores Examples</vt:lpstr>
      <vt:lpstr>PowerPoint Presentation</vt:lpstr>
      <vt:lpstr>Java Operators</vt:lpstr>
      <vt:lpstr>Common Java Operators (Unary)</vt:lpstr>
      <vt:lpstr>Common Java Operators (Binary)</vt:lpstr>
      <vt:lpstr>Assignment Operations</vt:lpstr>
      <vt:lpstr>PowerPoint Presentation</vt:lpstr>
      <vt:lpstr>Java Classes</vt:lpstr>
      <vt:lpstr>Anatomy of a Class</vt:lpstr>
      <vt:lpstr>PowerPoint Presentation</vt:lpstr>
      <vt:lpstr>Methods</vt:lpstr>
      <vt:lpstr>Method Declaration vs Invocation</vt:lpstr>
      <vt:lpstr>Anatomy of a Method - Java</vt:lpstr>
      <vt:lpstr>Return</vt:lpstr>
      <vt:lpstr>PowerPoint Presentation</vt:lpstr>
      <vt:lpstr>Example</vt:lpstr>
      <vt:lpstr>Dog Class</vt:lpstr>
      <vt:lpstr>Dog</vt:lpstr>
      <vt:lpstr>Using the Dog class…</vt:lpstr>
      <vt:lpstr>Creating Objects and Invoking Methods</vt:lpstr>
      <vt:lpstr>Passing data into Methods</vt:lpstr>
      <vt:lpstr>Objects as Representations</vt:lpstr>
      <vt:lpstr>PowerPoint Presentation</vt:lpstr>
      <vt:lpstr>Memory Structure</vt:lpstr>
      <vt:lpstr>Reference Variables…</vt:lpstr>
      <vt:lpstr>Let’s take the following program</vt:lpstr>
      <vt:lpstr>Class vs. Object vs. Reference</vt:lpstr>
      <vt:lpstr>Pass By Value (Primitives)</vt:lpstr>
      <vt:lpstr>Pass By Value (Objects)</vt:lpstr>
      <vt:lpstr>Pass By Value (Objects)</vt:lpstr>
      <vt:lpstr>Pass By Value (Objects)</vt:lpstr>
      <vt:lpstr>Garbage Collection</vt:lpstr>
      <vt:lpstr>PowerPoint Presentation</vt:lpstr>
      <vt:lpstr>Now this…</vt:lpstr>
      <vt:lpstr>This in action</vt:lpstr>
      <vt:lpstr>Clarifications</vt:lpstr>
      <vt:lpstr>This in action</vt:lpstr>
      <vt:lpstr>PowerPoint Presentation</vt:lpstr>
      <vt:lpstr>Constructors </vt:lpstr>
      <vt:lpstr>Default Constructor</vt:lpstr>
      <vt:lpstr>Constructors</vt:lpstr>
      <vt:lpstr>More Implicit Behavior </vt:lpstr>
      <vt:lpstr>Constructor Overloading</vt:lpstr>
      <vt:lpstr>this()… </vt:lpstr>
      <vt:lpstr>Pitfalls of Constructors:</vt:lpstr>
      <vt:lpstr>PowerPoint Presentation</vt:lpstr>
      <vt:lpstr>Conditional Statements</vt:lpstr>
      <vt:lpstr>If-Else-If</vt:lpstr>
      <vt:lpstr>Nested If Statements</vt:lpstr>
      <vt:lpstr>Ternary Operator</vt:lpstr>
      <vt:lpstr>Switch Statements</vt:lpstr>
      <vt:lpstr>Loops</vt:lpstr>
      <vt:lpstr>Loops (cont…)</vt:lpstr>
      <vt:lpstr>Break</vt:lpstr>
      <vt:lpstr>Continue</vt:lpstr>
      <vt:lpstr>Labels</vt:lpstr>
      <vt:lpstr>PowerPoint Presentation</vt:lpstr>
      <vt:lpstr>Arrays</vt:lpstr>
      <vt:lpstr>Creating Arrays</vt:lpstr>
      <vt:lpstr>Creating Arrays (cont)</vt:lpstr>
      <vt:lpstr>Array Indexes</vt:lpstr>
      <vt:lpstr>Iterating over an Array</vt:lpstr>
      <vt:lpstr>PowerPoint Presentation</vt:lpstr>
      <vt:lpstr>varargs...</vt:lpstr>
      <vt:lpstr>varargs... (cont)</vt:lpstr>
      <vt:lpstr>varargs… (cont)</vt:lpstr>
      <vt:lpstr>PowerPoint Presentation</vt:lpstr>
      <vt:lpstr>Scopes</vt:lpstr>
      <vt:lpstr>Scopes - Instance</vt:lpstr>
      <vt:lpstr>Scopes - Method</vt:lpstr>
      <vt:lpstr>Scopes - Block</vt:lpstr>
      <vt:lpstr>Scopes – Class (static)</vt:lpstr>
      <vt:lpstr>Static Variables</vt:lpstr>
      <vt:lpstr>static Restrictions</vt:lpstr>
      <vt:lpstr>Scope Naming Rules</vt:lpstr>
      <vt:lpstr>PowerPoint Presentation</vt:lpstr>
      <vt:lpstr>Wrapper Classes</vt:lpstr>
      <vt:lpstr>Autoboxing</vt:lpstr>
      <vt:lpstr>Unboxing</vt:lpstr>
      <vt:lpstr>PowerPoint Presentation</vt:lpstr>
      <vt:lpstr>The Object Class</vt:lpstr>
      <vt:lpstr>Object Class Methods</vt:lpstr>
      <vt:lpstr>==</vt:lpstr>
      <vt:lpstr>Example:</vt:lpstr>
      <vt:lpstr>equals() vs ==</vt:lpstr>
      <vt:lpstr>toString() method</vt:lpstr>
      <vt:lpstr>PowerPoint Presentation</vt:lpstr>
      <vt:lpstr>Strings</vt:lpstr>
      <vt:lpstr>Let’s take the following program</vt:lpstr>
      <vt:lpstr>Common String Methods</vt:lpstr>
      <vt:lpstr>PowerPoint Presentation</vt:lpstr>
      <vt:lpstr>String Builder &amp; String Buffer</vt:lpstr>
      <vt:lpstr>PowerPoint Presentation</vt:lpstr>
      <vt:lpstr>Non-Access Modifiers (important ones)</vt:lpstr>
      <vt:lpstr>The final Keyword</vt:lpstr>
      <vt:lpstr>The Abstract Keyword - Classes and Methods</vt:lpstr>
      <vt:lpstr>Non-Access Modifiers (other ones)</vt:lpstr>
      <vt:lpstr>PowerPoint Presentation</vt:lpstr>
      <vt:lpstr>What are Annotations</vt:lpstr>
      <vt:lpstr>PowerPoint Presentation</vt:lpstr>
      <vt:lpstr>Enums</vt:lpstr>
      <vt:lpstr>Enum Syntax</vt:lpstr>
      <vt:lpstr>Enums and Switch</vt:lpstr>
      <vt:lpstr>PowerPoint Presentation</vt:lpstr>
      <vt:lpstr>A Quick Word on Capitalization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and OOP</dc:title>
  <dc:creator>Joseph Highe</dc:creator>
  <cp:lastModifiedBy>Joseph Highe</cp:lastModifiedBy>
  <cp:revision>90</cp:revision>
  <dcterms:modified xsi:type="dcterms:W3CDTF">2026-07-28T21:47:52Z</dcterms:modified>
</cp:coreProperties>
</file>