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34"/>
  </p:notesMasterIdLst>
  <p:sldIdLst>
    <p:sldId id="256" r:id="rId2"/>
    <p:sldId id="352" r:id="rId3"/>
    <p:sldId id="357" r:id="rId4"/>
    <p:sldId id="324" r:id="rId5"/>
    <p:sldId id="348" r:id="rId6"/>
    <p:sldId id="359" r:id="rId7"/>
    <p:sldId id="351" r:id="rId8"/>
    <p:sldId id="334" r:id="rId9"/>
    <p:sldId id="366" r:id="rId10"/>
    <p:sldId id="333" r:id="rId11"/>
    <p:sldId id="332" r:id="rId12"/>
    <p:sldId id="360" r:id="rId13"/>
    <p:sldId id="329" r:id="rId14"/>
    <p:sldId id="361" r:id="rId15"/>
    <p:sldId id="331" r:id="rId16"/>
    <p:sldId id="358" r:id="rId17"/>
    <p:sldId id="362" r:id="rId18"/>
    <p:sldId id="349" r:id="rId19"/>
    <p:sldId id="364" r:id="rId20"/>
    <p:sldId id="365" r:id="rId21"/>
    <p:sldId id="368" r:id="rId22"/>
    <p:sldId id="369" r:id="rId23"/>
    <p:sldId id="363" r:id="rId24"/>
    <p:sldId id="347" r:id="rId25"/>
    <p:sldId id="335" r:id="rId26"/>
    <p:sldId id="336" r:id="rId27"/>
    <p:sldId id="342" r:id="rId28"/>
    <p:sldId id="345" r:id="rId29"/>
    <p:sldId id="346" r:id="rId30"/>
    <p:sldId id="344" r:id="rId31"/>
    <p:sldId id="343" r:id="rId32"/>
    <p:sldId id="270" r:id="rId33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416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168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6" y="320634"/>
            <a:ext cx="7716332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sz="3600" u="sng" dirty="0"/>
              <a:t>J</a:t>
            </a:r>
            <a:r>
              <a:rPr lang="en-US" sz="3600" dirty="0"/>
              <a:t>ava </a:t>
            </a:r>
            <a:r>
              <a:rPr lang="en-US" sz="3600" u="sng" dirty="0" err="1"/>
              <a:t>D</a:t>
            </a:r>
            <a:r>
              <a:rPr lang="en-US" sz="3600" dirty="0" err="1"/>
              <a:t>ata</a:t>
            </a:r>
            <a:r>
              <a:rPr lang="en-US" sz="3600" u="sng" dirty="0" err="1"/>
              <a:t>B</a:t>
            </a:r>
            <a:r>
              <a:rPr lang="en-US" sz="3600" dirty="0" err="1"/>
              <a:t>ase</a:t>
            </a:r>
            <a:r>
              <a:rPr lang="en-US" sz="3600" dirty="0"/>
              <a:t> </a:t>
            </a:r>
            <a:r>
              <a:rPr lang="en-US" sz="3600" u="sng" dirty="0"/>
              <a:t>C</a:t>
            </a:r>
            <a:r>
              <a:rPr lang="en-US" sz="3600" dirty="0"/>
              <a:t>onnectivity API</a:t>
            </a:r>
            <a:endParaRPr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JDBC API</a:t>
            </a:r>
          </a:p>
          <a:p>
            <a:r>
              <a:rPr lang="en-US" dirty="0"/>
              <a:t>Creating &amp; Managing Database Connection</a:t>
            </a:r>
          </a:p>
          <a:p>
            <a:r>
              <a:rPr lang="en-US" dirty="0"/>
              <a:t>Try-with-resources</a:t>
            </a:r>
          </a:p>
          <a:p>
            <a:r>
              <a:rPr lang="en-US" dirty="0"/>
              <a:t>Statements &amp; Result Sets</a:t>
            </a:r>
          </a:p>
          <a:p>
            <a:r>
              <a:rPr lang="en-US" dirty="0"/>
              <a:t>SQL Injection &amp; Prevention</a:t>
            </a:r>
          </a:p>
          <a:p>
            <a:r>
              <a:rPr lang="en-US" dirty="0"/>
              <a:t>JDBC Transactions</a:t>
            </a:r>
          </a:p>
          <a:p>
            <a:r>
              <a:rPr lang="en-US" dirty="0"/>
              <a:t>Database Design Patterns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JDBC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DataBase</a:t>
            </a:r>
            <a:r>
              <a:rPr lang="en-US" dirty="0"/>
              <a:t> Connectivity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JDBC is the standard library that allows Java programs to access database management Systems</a:t>
            </a:r>
          </a:p>
          <a:p>
            <a:endParaRPr lang="en-US" dirty="0"/>
          </a:p>
          <a:p>
            <a:r>
              <a:rPr lang="en-US" dirty="0"/>
              <a:t>The JDBC API consists of a set of interfaces and classes which provide connection, querying, retrieval and error handling functionality.</a:t>
            </a:r>
          </a:p>
          <a:p>
            <a:endParaRPr lang="en-US" dirty="0"/>
          </a:p>
          <a:p>
            <a:r>
              <a:rPr lang="en-US" dirty="0"/>
              <a:t>JDBC creates connects to databases using the appropriate database driver.</a:t>
            </a:r>
          </a:p>
          <a:p>
            <a:pPr lvl="1"/>
            <a:r>
              <a:rPr lang="en-US" dirty="0"/>
              <a:t>(we’ll use Maven to configure this)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3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JDBC Classes and Interfaces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JDBC Includes five (5) important classes and interfaces:</a:t>
            </a:r>
          </a:p>
          <a:p>
            <a:pPr lvl="1"/>
            <a:r>
              <a:rPr lang="en-US" b="1" dirty="0" err="1"/>
              <a:t>DriverManager</a:t>
            </a:r>
            <a:r>
              <a:rPr lang="en-US" dirty="0"/>
              <a:t> [class] – Provides instance of specific drivers (uses a factory design pattern)</a:t>
            </a:r>
          </a:p>
          <a:p>
            <a:pPr lvl="1"/>
            <a:r>
              <a:rPr lang="en-US" b="1" i="1" dirty="0"/>
              <a:t>Connection</a:t>
            </a:r>
            <a:r>
              <a:rPr lang="en-US" dirty="0"/>
              <a:t> &lt;interface&gt; - Connection between the application in java and the database. Creates Statement Objects.</a:t>
            </a:r>
          </a:p>
          <a:p>
            <a:pPr lvl="1"/>
            <a:r>
              <a:rPr lang="en-US" b="1" i="1" dirty="0"/>
              <a:t>Statement</a:t>
            </a:r>
            <a:r>
              <a:rPr lang="en-US" dirty="0"/>
              <a:t> &lt;interface&gt; - Responsible for executing actions on the database. May return a </a:t>
            </a:r>
            <a:r>
              <a:rPr lang="en-US" dirty="0" err="1"/>
              <a:t>ResultSet</a:t>
            </a:r>
            <a:r>
              <a:rPr lang="en-US" dirty="0"/>
              <a:t>.</a:t>
            </a:r>
          </a:p>
          <a:p>
            <a:pPr lvl="1"/>
            <a:r>
              <a:rPr lang="en-US" b="1" i="1" dirty="0" err="1"/>
              <a:t>ResultSet</a:t>
            </a:r>
            <a:r>
              <a:rPr lang="en-US" dirty="0"/>
              <a:t> &lt;interface&gt; - Entity responsible for holding query results from the database.</a:t>
            </a:r>
          </a:p>
          <a:p>
            <a:pPr lvl="1"/>
            <a:r>
              <a:rPr lang="en-US" b="1" dirty="0" err="1"/>
              <a:t>SQLException</a:t>
            </a:r>
            <a:r>
              <a:rPr lang="en-US" dirty="0"/>
              <a:t> [class] – Provides information regarding mistakes accessing the database.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9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AB82B-DD99-7E8B-6F9B-872DD1EF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7C005E-E2BD-3A97-C13F-5756DF97FC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0562F66-B9D9-76C5-B391-1A17EE8D92C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&amp; Managing Database Connection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EA424-CD97-5BA6-1DFA-826753AD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Database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293878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Connection object is created using the static </a:t>
            </a:r>
            <a:r>
              <a:rPr lang="en-US" dirty="0" err="1"/>
              <a:t>getConnection</a:t>
            </a:r>
            <a:r>
              <a:rPr lang="en-US" dirty="0"/>
              <a:t> method from the </a:t>
            </a:r>
            <a:r>
              <a:rPr lang="en-US" dirty="0" err="1"/>
              <a:t>DriverManager</a:t>
            </a:r>
            <a:r>
              <a:rPr lang="en-US" dirty="0"/>
              <a:t> of JDBC.</a:t>
            </a:r>
          </a:p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getConnection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takes three string arguments, the URL of the database, the username and password.</a:t>
            </a:r>
          </a:p>
          <a:p>
            <a:pPr lvl="1"/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getConnection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can result in various </a:t>
            </a:r>
            <a:r>
              <a:rPr lang="en-US" dirty="0" err="1"/>
              <a:t>SQLExceptions</a:t>
            </a:r>
            <a:r>
              <a:rPr lang="en-US" dirty="0"/>
              <a:t>, such as connection request timeouts, unauthorized user, no database found, etc… As such, you should duck the </a:t>
            </a:r>
            <a:r>
              <a:rPr lang="en-US" dirty="0" err="1"/>
              <a:t>SQLException</a:t>
            </a:r>
            <a:r>
              <a:rPr lang="en-US" dirty="0"/>
              <a:t> or wrap the code in a try-catch block.</a:t>
            </a:r>
          </a:p>
          <a:p>
            <a:r>
              <a:rPr lang="en-US" dirty="0"/>
              <a:t>It is common practice to create a utility class which can be used throughout your project to establish a connection. This way you can provide utility methods to connect with different credentials, or leveraging different database drivers.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B0EFFC-3F80-4A7E-A06E-E30BBFA9FBAB}"/>
              </a:ext>
            </a:extLst>
          </p:cNvPr>
          <p:cNvSpPr/>
          <p:nvPr/>
        </p:nvSpPr>
        <p:spPr>
          <a:xfrm>
            <a:off x="767550" y="4570336"/>
            <a:ext cx="7608900" cy="1643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Connection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url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jdbc:postgresql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://localhost:5432/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postgres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user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"user"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"password"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DriverManager.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url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user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pass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6050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Drivers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284861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order to connect to a database, Java requires a </a:t>
            </a:r>
            <a:r>
              <a:rPr lang="en-US" b="1" dirty="0"/>
              <a:t>SQL </a:t>
            </a:r>
            <a:r>
              <a:rPr lang="en-US" b="1" i="1" dirty="0"/>
              <a:t>driver</a:t>
            </a:r>
            <a:r>
              <a:rPr lang="en-US" dirty="0"/>
              <a:t>.</a:t>
            </a:r>
          </a:p>
          <a:p>
            <a:r>
              <a:rPr lang="en-US" dirty="0"/>
              <a:t>A SQL driver is a software component that enables the application to communicate with your RDBMS.</a:t>
            </a:r>
          </a:p>
          <a:p>
            <a:r>
              <a:rPr lang="en-US" dirty="0"/>
              <a:t>It acts as a </a:t>
            </a:r>
            <a:r>
              <a:rPr lang="en-US" b="1" i="1" dirty="0"/>
              <a:t>bridge</a:t>
            </a:r>
            <a:r>
              <a:rPr lang="en-US" dirty="0"/>
              <a:t> between the application and database, translating application requests (such as queries) into a format that the database can understand and process.</a:t>
            </a:r>
          </a:p>
          <a:p>
            <a:r>
              <a:rPr lang="en-US" dirty="0"/>
              <a:t>For our PostgreSQL database, a driver can be found on the maven repository – which should be added to the POM file.</a:t>
            </a:r>
          </a:p>
          <a:p>
            <a:pPr lvl="1"/>
            <a:r>
              <a:rPr lang="en-US" dirty="0"/>
              <a:t>Note: drivers are updated frequently – so using Maven or another package manager is standard practice to keep versions updated.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CDEF14-9AED-CB6D-2C5C-9ED652FD042F}"/>
              </a:ext>
            </a:extLst>
          </p:cNvPr>
          <p:cNvSpPr/>
          <p:nvPr/>
        </p:nvSpPr>
        <p:spPr>
          <a:xfrm>
            <a:off x="380009" y="4525252"/>
            <a:ext cx="8383979" cy="1643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&lt;!-- Source: https://mvnrepository.com/artifact/org.postgresql/postgresql --&gt;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&lt;dependency&gt;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groupId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org.postgresql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groupId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artifactId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postgresql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artifactId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&lt;version&gt;42.7.12&lt;/version&gt;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&lt;scope&gt;compile&lt;/scope&gt;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&lt;/dependency&gt;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10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A3F43-AFE7-7212-85F6-5983E80F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00C2-CFB2-0C6C-00C8-E8E6AF99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Properties and 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D5912-8F9E-E961-1DBB-A9FBFFF80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establishing a connection including values directly in a method can pose some security, and maintainability issues. </a:t>
            </a:r>
          </a:p>
          <a:p>
            <a:r>
              <a:rPr lang="en-US" dirty="0"/>
              <a:t>As such, two methods are typically used to manage the configuration details: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Properties File</a:t>
            </a:r>
          </a:p>
          <a:p>
            <a:pPr marL="1447800" lvl="2" indent="-457200"/>
            <a:r>
              <a:rPr lang="en-US" dirty="0"/>
              <a:t>Greater reusability</a:t>
            </a:r>
          </a:p>
          <a:p>
            <a:pPr marL="1447800" lvl="2" indent="-457200"/>
            <a:r>
              <a:rPr lang="en-US" dirty="0"/>
              <a:t>More widely used with various frameworks</a:t>
            </a:r>
          </a:p>
          <a:p>
            <a:pPr marL="1447800" lvl="2" indent="-457200"/>
            <a:r>
              <a:rPr lang="en-US" dirty="0"/>
              <a:t>Typically scales better in production environments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Environment Variables</a:t>
            </a:r>
          </a:p>
          <a:p>
            <a:pPr marL="1447800" lvl="2" indent="-457200"/>
            <a:r>
              <a:rPr lang="en-US" dirty="0"/>
              <a:t>Better suited when multiple credentials are present or to quickly establish values for testing purposes.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5B17D-6CD6-E8B8-3264-369901CDE1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2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30640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To more securely reference variables, you can utilize a properties file. A properties file is a popular method to store configuration or credentials, as the data is easier to maintain and offers more modularity.</a:t>
            </a:r>
          </a:p>
          <a:p>
            <a:r>
              <a:rPr lang="en-US" dirty="0"/>
              <a:t>The following details how to configure database connection using a properties file: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Create a file somewhere in your project with the ‘.properties’ extension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Add a property for the </a:t>
            </a:r>
            <a:r>
              <a:rPr lang="en-US" dirty="0" err="1"/>
              <a:t>url</a:t>
            </a:r>
            <a:r>
              <a:rPr lang="en-US" dirty="0"/>
              <a:t>, username, and password.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Use a </a:t>
            </a:r>
            <a:r>
              <a:rPr lang="en-US" dirty="0" err="1"/>
              <a:t>filestream</a:t>
            </a:r>
            <a:r>
              <a:rPr lang="en-US" dirty="0"/>
              <a:t> to read data from the properties file.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Create and use a ‘Properties’ object in Java to easily parse the properties file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3D8B37-EA32-4C0A-AC92-48AB07A03DCF}"/>
              </a:ext>
            </a:extLst>
          </p:cNvPr>
          <p:cNvSpPr/>
          <p:nvPr/>
        </p:nvSpPr>
        <p:spPr>
          <a:xfrm>
            <a:off x="1048559" y="4616447"/>
            <a:ext cx="7505033" cy="17472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Connection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fileStream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"folder/</a:t>
            </a:r>
            <a:r>
              <a:rPr lang="en-US" sz="18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db.properties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Properties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props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Properties();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props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.load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fileStream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url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props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.getProperty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"CONNECTION_URL"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user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props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.getProperty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"CONNECTION_USERNAME"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props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.getProperty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"CONNECTION_PASSWORD"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DriverManager.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url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user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pass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032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281428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Alternatively, you can establish environment variables in your IDE which may be accessed on a project-by-project basis.</a:t>
            </a:r>
          </a:p>
          <a:p>
            <a:r>
              <a:rPr lang="en-US" dirty="0"/>
              <a:t>The exact steps to create environment variables will vary depending on your IDE of choice, but typically the steps are as follows: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Right-Click project/project settings and locate “Run Configurations”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Select the appropriate configuration type (e.g. “Connection Utility Class”)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Locate the “Environment” / “Environment Variables” tab or table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Add variables and values for </a:t>
            </a:r>
            <a:r>
              <a:rPr lang="en-US" dirty="0" err="1"/>
              <a:t>url</a:t>
            </a:r>
            <a:r>
              <a:rPr lang="en-US" dirty="0"/>
              <a:t>, username and password.</a:t>
            </a:r>
          </a:p>
          <a:p>
            <a:pPr marL="533400" indent="-457200"/>
            <a:r>
              <a:rPr lang="en-US" dirty="0"/>
              <a:t>The environment variables can be accessed using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System.getenv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variable)</a:t>
            </a:r>
          </a:p>
          <a:p>
            <a:pPr marL="9906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0DF43-19EB-44A1-9A64-D322634D5187}"/>
              </a:ext>
            </a:extLst>
          </p:cNvPr>
          <p:cNvSpPr/>
          <p:nvPr/>
        </p:nvSpPr>
        <p:spPr>
          <a:xfrm>
            <a:off x="1048559" y="4616448"/>
            <a:ext cx="7505033" cy="14265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Connection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url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8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getenv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"CONN_URL"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user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8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getenv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"CONN_NAME"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8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getenv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"CONN_PASS"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DriverManager.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url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user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pass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2394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1DCB-4351-25B3-E08F-469D2D6C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A3D55-947E-2E94-4279-28059158C4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D230B49-663F-EE75-9E2C-F5448E3743D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Try-with Resources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C3D7B-2C91-3E92-D4F4-67E9147DF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7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try-with-resources (recap)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378814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situations where a particular resource is needed or is used with code that can result in an error,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/>
              <a:t>-with-resources statement can be used.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/>
              <a:t>-with-resources allows you to use a standard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try-catch</a:t>
            </a:r>
            <a:r>
              <a:rPr lang="en-US" dirty="0"/>
              <a:t> block but pass certain objects within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/>
              <a:t> statement.</a:t>
            </a:r>
          </a:p>
          <a:p>
            <a:pPr lvl="1"/>
            <a:r>
              <a:rPr lang="en-US" dirty="0"/>
              <a:t>These objects must implement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java.lang.AutoCloseable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java.lang.Closeable</a:t>
            </a:r>
            <a:r>
              <a:rPr lang="en-US" dirty="0"/>
              <a:t> interface.</a:t>
            </a:r>
          </a:p>
          <a:p>
            <a:r>
              <a:rPr lang="en-US" dirty="0"/>
              <a:t>Try-with-resources ensures that each resource will be closed at the end of the statement.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349C8C-AE06-490B-AE3B-6FC5768DA991}"/>
              </a:ext>
            </a:extLst>
          </p:cNvPr>
          <p:cNvSpPr/>
          <p:nvPr/>
        </p:nvSpPr>
        <p:spPr>
          <a:xfrm>
            <a:off x="1827251" y="5049079"/>
            <a:ext cx="5489498" cy="131463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try (resource)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//	statements;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//	statements;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823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528F-B10C-AAB3-0390-684B6B64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2FB9D7-C93A-B7F5-3667-B8C36FE269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28E4590-72B7-3E3A-85B7-2F2626267917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Statements &amp; </a:t>
            </a: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ResultSet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CABBD-78D8-7AC6-6C3E-F34AC53B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29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Simple Statements</a:t>
            </a:r>
            <a:r>
              <a:rPr lang="en-US" dirty="0"/>
              <a:t> – Literal interpretation of SQL strings which are compiled and executed on the database side.</a:t>
            </a:r>
          </a:p>
          <a:p>
            <a:pPr lvl="1"/>
            <a:r>
              <a:rPr lang="en-US" dirty="0"/>
              <a:t>Statements are created using the ‘</a:t>
            </a:r>
            <a:r>
              <a:rPr lang="en-US" dirty="0" err="1"/>
              <a:t>createStatement</a:t>
            </a:r>
            <a:r>
              <a:rPr lang="en-US" dirty="0"/>
              <a:t>()’ method on a Connection Object:</a:t>
            </a:r>
          </a:p>
          <a:p>
            <a:pPr lvl="2"/>
            <a:r>
              <a:rPr lang="en-US" dirty="0"/>
              <a:t>Statement </a:t>
            </a:r>
            <a:r>
              <a:rPr lang="en-US" dirty="0" err="1"/>
              <a:t>stmt</a:t>
            </a:r>
            <a:r>
              <a:rPr lang="en-US" dirty="0"/>
              <a:t> = </a:t>
            </a:r>
            <a:r>
              <a:rPr lang="en-US" dirty="0" err="1"/>
              <a:t>conn.createStatement</a:t>
            </a:r>
            <a:r>
              <a:rPr lang="en-US" dirty="0"/>
              <a:t>();</a:t>
            </a:r>
          </a:p>
          <a:p>
            <a:pPr lvl="1"/>
            <a:r>
              <a:rPr lang="en-US" dirty="0"/>
              <a:t>To perform a query with your Statement object, use the ‘</a:t>
            </a:r>
            <a:r>
              <a:rPr lang="en-US" dirty="0" err="1"/>
              <a:t>executeQuery</a:t>
            </a:r>
            <a:r>
              <a:rPr lang="en-US" dirty="0"/>
              <a:t>()’ method:</a:t>
            </a:r>
          </a:p>
          <a:p>
            <a:pPr lvl="2"/>
            <a:r>
              <a:rPr lang="en-US" dirty="0" err="1"/>
              <a:t>stmt.executeQuery</a:t>
            </a:r>
            <a:r>
              <a:rPr lang="en-US" dirty="0"/>
              <a:t>(“SELECT * FROM EMPLOYEES”);</a:t>
            </a:r>
          </a:p>
          <a:p>
            <a:pPr lvl="1"/>
            <a:r>
              <a:rPr lang="en-US" dirty="0"/>
              <a:t>To Insert or Update, use “</a:t>
            </a:r>
            <a:r>
              <a:rPr lang="en-US" dirty="0" err="1"/>
              <a:t>executeUpdate</a:t>
            </a:r>
            <a:r>
              <a:rPr lang="en-US" dirty="0"/>
              <a:t>()” method instead:</a:t>
            </a:r>
          </a:p>
          <a:p>
            <a:pPr lvl="2"/>
            <a:r>
              <a:rPr lang="en-US" dirty="0" err="1"/>
              <a:t>stmt.executeUpdate</a:t>
            </a:r>
            <a:r>
              <a:rPr lang="en-US" dirty="0"/>
              <a:t>(“UPDATE EMPLOYEES SET ROLE = ‘DEVELOPER’ WHERE EMP_ID = ‘1234’)</a:t>
            </a:r>
          </a:p>
          <a:p>
            <a:pPr lvl="1"/>
            <a:r>
              <a:rPr lang="en-US" dirty="0"/>
              <a:t>NOTE: Simple Statements should be avoided when taking in user input. These can be risky because they are susceptible to </a:t>
            </a:r>
            <a:r>
              <a:rPr lang="en-US" b="1" i="1" dirty="0"/>
              <a:t>SQL injection</a:t>
            </a:r>
          </a:p>
          <a:p>
            <a:pPr lvl="2"/>
            <a:r>
              <a:rPr lang="en-US" dirty="0"/>
              <a:t>Ex: </a:t>
            </a:r>
            <a:r>
              <a:rPr lang="en-US" dirty="0" err="1"/>
              <a:t>user_name</a:t>
            </a:r>
            <a:r>
              <a:rPr lang="en-US" dirty="0"/>
              <a:t> = “DROP table customers”;</a:t>
            </a:r>
          </a:p>
          <a:p>
            <a:pPr lvl="2"/>
            <a:endParaRPr lang="en-US" dirty="0"/>
          </a:p>
          <a:p>
            <a:r>
              <a:rPr lang="en-US" b="1" dirty="0"/>
              <a:t>Callable Statements</a:t>
            </a:r>
            <a:r>
              <a:rPr lang="en-US" dirty="0"/>
              <a:t> – Allow for the execution of stored procedures and functions and execution of PL/SQL</a:t>
            </a:r>
          </a:p>
          <a:p>
            <a:pPr lvl="1"/>
            <a:r>
              <a:rPr lang="en-US" dirty="0"/>
              <a:t>Postgres 11+ supports the creation of stored procedures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0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021A-19EF-D89E-F9D2-A85EEBB9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2853-47AA-3B25-A73D-6499DD43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ResultSet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2ABCE-2839-F3D7-FA42-DE3430AB0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7"/>
            <a:ext cx="8383980" cy="26851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dirty="0" err="1"/>
              <a:t>ResultSet</a:t>
            </a:r>
            <a:r>
              <a:rPr lang="en-US" dirty="0"/>
              <a:t> is an Object that wraps around the rows returned by a query.</a:t>
            </a:r>
          </a:p>
          <a:p>
            <a:pPr lvl="1"/>
            <a:r>
              <a:rPr lang="en-US" dirty="0" err="1"/>
              <a:t>ResultSet</a:t>
            </a:r>
            <a:r>
              <a:rPr lang="en-US" dirty="0"/>
              <a:t> </a:t>
            </a:r>
            <a:r>
              <a:rPr lang="en-US" dirty="0" err="1"/>
              <a:t>rs</a:t>
            </a:r>
            <a:r>
              <a:rPr lang="en-US" dirty="0"/>
              <a:t> = </a:t>
            </a:r>
            <a:r>
              <a:rPr lang="en-US" dirty="0" err="1"/>
              <a:t>stmt.executeQuery</a:t>
            </a:r>
            <a:r>
              <a:rPr lang="en-US" dirty="0"/>
              <a:t>(“Select * from Employees”);</a:t>
            </a:r>
          </a:p>
          <a:p>
            <a:r>
              <a:rPr lang="en-US" dirty="0"/>
              <a:t>You can loop over a </a:t>
            </a:r>
            <a:r>
              <a:rPr lang="en-US" dirty="0" err="1"/>
              <a:t>ResultSet</a:t>
            </a:r>
            <a:r>
              <a:rPr lang="en-US" dirty="0"/>
              <a:t> to inspect each row</a:t>
            </a:r>
          </a:p>
          <a:p>
            <a:r>
              <a:rPr lang="en-US" dirty="0"/>
              <a:t>You can additionally specify columns by name and datatype.</a:t>
            </a:r>
          </a:p>
          <a:p>
            <a:r>
              <a:rPr lang="en-US" dirty="0"/>
              <a:t>A </a:t>
            </a:r>
            <a:r>
              <a:rPr lang="en-US" dirty="0" err="1"/>
              <a:t>ResultSet</a:t>
            </a:r>
            <a:r>
              <a:rPr lang="en-US" dirty="0"/>
              <a:t> is </a:t>
            </a:r>
            <a:r>
              <a:rPr lang="en-US" dirty="0" err="1"/>
              <a:t>iterable</a:t>
            </a:r>
            <a:r>
              <a:rPr lang="en-US" dirty="0"/>
              <a:t>, so you can use the ‘next()’ method to loop through multiple returned rows of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FB83E-CD5B-D0B1-252E-5272D29127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785C5-08EA-E0E2-22E0-3607542EFFD3}"/>
              </a:ext>
            </a:extLst>
          </p:cNvPr>
          <p:cNvSpPr/>
          <p:nvPr/>
        </p:nvSpPr>
        <p:spPr>
          <a:xfrm>
            <a:off x="444484" y="4028536"/>
            <a:ext cx="8255032" cy="21971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defTabSz="228600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stmt.executeQuery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(“SELECT * FROM Employees”);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rs.next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rs.getString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 + “\n”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rs.getInt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 + “\n”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rs.getData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hire_date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68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7FA2-3AF5-5D7E-20FB-3F343D8A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EBB2A4-932C-165E-CC57-B43D6C4069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731E18D-67F4-A61D-D16E-052B05F298D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Injection &amp; Prevention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7CED6C-C1C3-460B-24C9-5EB5828E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7904-71B0-A306-FEFA-831F0ADE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F7B3-D8E7-802E-345B-251DF96C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&amp; Prevention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D08E6-E6A3-19A4-24B5-A1BB370BC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7"/>
            <a:ext cx="8383980" cy="267648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SQL Injection</a:t>
            </a:r>
            <a:r>
              <a:rPr lang="en-US" dirty="0"/>
              <a:t>: The inclusion of unintended, and typically malicious SQL statements sent to a database through input streams</a:t>
            </a:r>
          </a:p>
          <a:p>
            <a:r>
              <a:rPr lang="en-US" dirty="0"/>
              <a:t>SQL injection can be prevented using prepared statements</a:t>
            </a:r>
          </a:p>
          <a:p>
            <a:r>
              <a:rPr lang="en-US" b="1" dirty="0"/>
              <a:t>Prepared Statements:</a:t>
            </a:r>
            <a:r>
              <a:rPr lang="en-US" dirty="0"/>
              <a:t> Pre-compiled SQL statements which can parameterize data that is passed into the SQL command.</a:t>
            </a:r>
          </a:p>
          <a:p>
            <a:pPr lvl="1"/>
            <a:r>
              <a:rPr lang="en-US" dirty="0"/>
              <a:t>Compiled on the Java side, which can prevent SQL injection</a:t>
            </a:r>
          </a:p>
          <a:p>
            <a:pPr lvl="1"/>
            <a:r>
              <a:rPr lang="en-US" dirty="0"/>
              <a:t>Inputs are Parameterized using ‘?’ placeholders</a:t>
            </a:r>
          </a:p>
          <a:p>
            <a:pPr lvl="1"/>
            <a:r>
              <a:rPr lang="en-US" dirty="0"/>
              <a:t>Prepared Statement parameters are set using setter methods of a corresponding datatype, where the first argument corresponds to the placeholder position:</a:t>
            </a:r>
          </a:p>
          <a:p>
            <a:pPr lvl="2"/>
            <a:r>
              <a:rPr lang="en-US" dirty="0" err="1"/>
              <a:t>ps.setterMethodName</a:t>
            </a:r>
            <a:r>
              <a:rPr lang="en-US" dirty="0"/>
              <a:t>( </a:t>
            </a:r>
            <a:r>
              <a:rPr lang="en-US" dirty="0" err="1"/>
              <a:t>placeolder_position</a:t>
            </a:r>
            <a:r>
              <a:rPr lang="en-US" dirty="0"/>
              <a:t>, </a:t>
            </a:r>
            <a:r>
              <a:rPr lang="en-US" dirty="0" err="1"/>
              <a:t>value_to_insert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B29C0-3C34-DBE8-6D1C-CA87A1EF9F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3DA8C-91B7-B55B-29F0-45DFA541344F}"/>
              </a:ext>
            </a:extLst>
          </p:cNvPr>
          <p:cNvSpPr/>
          <p:nvPr/>
        </p:nvSpPr>
        <p:spPr>
          <a:xfrm>
            <a:off x="444484" y="4157932"/>
            <a:ext cx="8255032" cy="24270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.prepareStatement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2A00FF"/>
                </a:solidFill>
                <a:latin typeface="Consolas" panose="020B0609020204030204" pitchFamily="49" charset="0"/>
              </a:rPr>
              <a:t>"INSERT INTO EMPLOYEES VALUES (NULL,?,?,?,?)"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20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nl-NL" sz="2000" dirty="0">
                <a:solidFill>
                  <a:srgbClr val="000000"/>
                </a:solidFill>
                <a:latin typeface="Consolas" panose="020B0609020204030204" pitchFamily="49" charset="0"/>
              </a:rPr>
              <a:t>.setString(1, </a:t>
            </a:r>
            <a:r>
              <a:rPr lang="nl-NL" sz="2000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nl-NL" sz="2000" dirty="0">
                <a:solidFill>
                  <a:srgbClr val="000000"/>
                </a:solidFill>
                <a:latin typeface="Consolas" panose="020B0609020204030204" pitchFamily="49" charset="0"/>
              </a:rPr>
              <a:t>.getEmp_name());</a:t>
            </a:r>
          </a:p>
          <a:p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(2,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.getEmp_title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.setDouble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(3,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.getEmp_salary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(4,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.getLogin_id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endParaRPr lang="en-US" sz="2000" dirty="0">
              <a:solidFill>
                <a:srgbClr val="6A3E3E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.executeUpdate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91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3B06-C7F1-B182-ABCE-A4E164B6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68DE89-F85E-8FD3-62DD-D6F42C2D18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0531AAB-2884-A825-A5BB-55CF0AB20E9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JDBC Transactions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6C4F1-8920-4798-AF2A-384628FDE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86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AA9A-4062-F220-A5C7-52443BE0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9556-455E-428C-73F9-CE409F9F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Auto-Commits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E1C99-1F95-2895-3C67-F4DE84BEB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488226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By default a JDBC Connection operates in </a:t>
            </a:r>
            <a:r>
              <a:rPr lang="en-US" b="1" i="1" dirty="0"/>
              <a:t>auto-commit</a:t>
            </a:r>
            <a:r>
              <a:rPr lang="en-US" dirty="0"/>
              <a:t> mode</a:t>
            </a:r>
          </a:p>
          <a:p>
            <a:pPr lvl="1"/>
            <a:r>
              <a:rPr lang="en-US" dirty="0"/>
              <a:t>Each individual SQL statement is automatically committed to the database immediately after it executes.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Connection.setAutoCommit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(false)</a:t>
            </a:r>
            <a:r>
              <a:rPr lang="en-US" dirty="0"/>
              <a:t> disables this default behavior, allowing multiple statements to be grouped into a single transaction.</a:t>
            </a:r>
          </a:p>
          <a:p>
            <a:r>
              <a:rPr lang="en-US" dirty="0"/>
              <a:t>With auto-commit disables, changes are only made permanent when you explicitly 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connection.commit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If something goes wrong, partway through a group of statements,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connection.rollback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undoes all changes made since the last commit – restoring the database to it’s prior state.</a:t>
            </a:r>
          </a:p>
          <a:p>
            <a:r>
              <a:rPr lang="en-US" dirty="0"/>
              <a:t>This is essential for operations that must succeed or fail as a unit (transferring funds between two accounts – both the debit and credit must happen together, or neither should).</a:t>
            </a:r>
          </a:p>
          <a:p>
            <a:r>
              <a:rPr lang="en-US" dirty="0"/>
              <a:t>As a best practice, you should wrap transactional logic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try/catch</a:t>
            </a:r>
            <a:r>
              <a:rPr lang="en-US" dirty="0"/>
              <a:t> and call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rollback()</a:t>
            </a:r>
            <a:r>
              <a:rPr lang="en-US" dirty="0"/>
              <a:t>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dirty="0"/>
              <a:t> block to ensure a failed operations doesn’t leave the database in a partially updated state.</a:t>
            </a:r>
          </a:p>
          <a:p>
            <a:r>
              <a:rPr lang="en-US" dirty="0"/>
              <a:t>Additionally, its good practice to restore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setAutoCommit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  <a:r>
              <a:rPr lang="en-US" dirty="0"/>
              <a:t> once your transaction logic is complete, especially if the connection is reused elsewhere. You can otherwise close the connection and reopen a new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62400-A3C8-2D63-1C78-AB29418202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6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0E3F-C6C9-BE02-BF66-4ACF7343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1FE7-B753-B689-2020-9AB6DD4C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Transaction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E30D-6DB4-F80E-F7C7-127F4A451C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F81C0-0A77-01D7-4CD8-364448B9A6A8}"/>
              </a:ext>
            </a:extLst>
          </p:cNvPr>
          <p:cNvSpPr/>
          <p:nvPr/>
        </p:nvSpPr>
        <p:spPr>
          <a:xfrm>
            <a:off x="472408" y="1416823"/>
            <a:ext cx="8199184" cy="47571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java.sql.Connection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java.sql.PreparedStatement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java.sql.SQLException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defTabSz="228600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TransferFundsExample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transferFunds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(Connection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fromAccountId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toAccountId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Disable auto-commit so both statements are treated as a single transaction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connection.setAutoCommit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(false);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Debit the sender's account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try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PreparedStatement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debitStatement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connection.prepareStatement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"UPDATE accounts SET balance = balance - ? WHERE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account_id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?"))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debitStatement.setDouble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(1, amount);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debitStatement.setString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fromAccountId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debitStatement.executeUpdate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Credit the recipient's account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try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PreparedStatement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creditStatement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connection.prepareStatement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"UPDATE accounts SET balance = balance + ? WHERE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account_id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?"))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creditStatement.setDouble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(1, amount);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creditStatement.setString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toAccountId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creditStatement.executeUpdate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defTabSz="228600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// continued…</a:t>
            </a:r>
          </a:p>
        </p:txBody>
      </p:sp>
    </p:spTree>
    <p:extLst>
      <p:ext uri="{BB962C8B-B14F-4D97-AF65-F5344CB8AC3E}">
        <p14:creationId xmlns:p14="http://schemas.microsoft.com/office/powerpoint/2010/main" val="1492848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7472-346F-E229-DEA6-4A5D8B86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7CBC-7D9A-F888-1DEC-79990E9E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Transaction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2344D-30C9-7484-5DEF-371518950A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ECF3C-02BF-EA77-AEDA-E1C32D4E564A}"/>
              </a:ext>
            </a:extLst>
          </p:cNvPr>
          <p:cNvSpPr/>
          <p:nvPr/>
        </p:nvSpPr>
        <p:spPr>
          <a:xfrm>
            <a:off x="360144" y="1606604"/>
            <a:ext cx="8423712" cy="47571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// continued…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// Both updates succeeded -- make the changes permanent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connection.commit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("Transfer successful.");</a:t>
            </a:r>
          </a:p>
          <a:p>
            <a:pPr defTabSz="228600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SQLException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			"Transfer failed -- rolling back transaction: " +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try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// Undo any partial changes made during this transaction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connection.rollback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 catch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SQLException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rollbackException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				"Rollback failed: " +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rollbackException.getMessage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defTabSz="228600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finally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try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// Restore default auto-commit behavior for future connection use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connection.setAutoCommit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 catch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SQLException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				"Failed to reset auto-commit: " +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5441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B44EA-1911-3947-B24E-B9CC0508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6FF60E-1AEE-1CD0-3F5F-617EDC0322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A129C47-E21A-D5E2-B28B-27404A933B9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Design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BCBF4-3697-50A2-9BC9-0CF0544D5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13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Design Patterns – Model Classes</a:t>
            </a:r>
            <a:endParaRPr dirty="0"/>
          </a:p>
        </p:txBody>
      </p:sp>
      <p:sp>
        <p:nvSpPr>
          <p:cNvPr id="296" name="Google Shape;296;p27"/>
          <p:cNvSpPr txBox="1">
            <a:spLocks noGrp="1"/>
          </p:cNvSpPr>
          <p:nvPr>
            <p:ph type="body" idx="1"/>
          </p:nvPr>
        </p:nvSpPr>
        <p:spPr>
          <a:xfrm>
            <a:off x="380010" y="1377751"/>
            <a:ext cx="8383980" cy="498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When designing classes to work with databases, we often create “Model” classes.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Used with Relational databases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Represent data in our java application, as it is stored within a database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Communicates information between database and Java Application.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Model classes are used as part of other design patterns (DAO, Repository, Service,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endParaRPr lang="en-US" dirty="0"/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endParaRPr lang="en-US" dirty="0"/>
          </a:p>
        </p:txBody>
      </p:sp>
      <p:sp>
        <p:nvSpPr>
          <p:cNvPr id="297" name="Google Shape;297;p2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36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– DAO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0651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Generally, full stack applications should handle business logic and database logic separately to create a more modular structure.</a:t>
            </a:r>
          </a:p>
          <a:p>
            <a:r>
              <a:rPr lang="en-US" dirty="0"/>
              <a:t>When database interaction is required, a logical separation in code can be created using </a:t>
            </a:r>
            <a:r>
              <a:rPr lang="en-US" b="1" i="1" dirty="0"/>
              <a:t>Data Access Object </a:t>
            </a:r>
            <a:r>
              <a:rPr lang="en-US" dirty="0"/>
              <a:t>or </a:t>
            </a:r>
            <a:r>
              <a:rPr lang="en-US" b="1" i="1" dirty="0"/>
              <a:t>DAO</a:t>
            </a:r>
            <a:r>
              <a:rPr lang="en-US" dirty="0"/>
              <a:t>s</a:t>
            </a:r>
          </a:p>
          <a:p>
            <a:r>
              <a:rPr lang="en-US" dirty="0"/>
              <a:t>A DAO pattern is implemented by performing the following:</a:t>
            </a:r>
          </a:p>
          <a:p>
            <a:pPr lvl="1"/>
            <a:r>
              <a:rPr lang="en-US" dirty="0"/>
              <a:t>Define an interface which declares methods through which the database will be queried.</a:t>
            </a:r>
          </a:p>
          <a:p>
            <a:pPr lvl="1"/>
            <a:r>
              <a:rPr lang="en-US" dirty="0"/>
              <a:t>Create concrete implementation classes which contain the access logic and return required data as retrieved from the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92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DB46-CB77-43BD-8935-38A4C3F6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-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6E6F-12C5-41EC-BF9D-EAF162B65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A11AC-4036-4F2B-957E-7FF331372FA4}"/>
              </a:ext>
            </a:extLst>
          </p:cNvPr>
          <p:cNvSpPr/>
          <p:nvPr/>
        </p:nvSpPr>
        <p:spPr>
          <a:xfrm>
            <a:off x="415292" y="2113032"/>
            <a:ext cx="8313415" cy="37371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com.revature.dao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java.util.List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com.revature.models.Employee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en-US" sz="18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interface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Employee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selectEmployee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(Integer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List&lt;Employee&gt;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selectAllEmployees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insertIntoEmployees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(Employee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updateEmployee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(Employee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deleteEmployee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(Employee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b="1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449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DB46-CB77-43BD-8935-38A4C3F6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Implementation – Add (insert)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6E6F-12C5-41EC-BF9D-EAF162B65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78F680-6395-4351-ADEA-1FBB36C882BE}"/>
              </a:ext>
            </a:extLst>
          </p:cNvPr>
          <p:cNvSpPr/>
          <p:nvPr/>
        </p:nvSpPr>
        <p:spPr>
          <a:xfrm>
            <a:off x="589722" y="1401762"/>
            <a:ext cx="7964555" cy="53270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EmployeeDAOImpl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46464"/>
                </a:solidFill>
                <a:latin typeface="Consolas" panose="020B0609020204030204" pitchFamily="49" charset="0"/>
              </a:rPr>
              <a:t>    @Override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insertIntoEmployees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(Employee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try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(Connection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ConnectionUtil.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"INSERT INTO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bankapp.employees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 VALUES (NULL,?,?,?,?)"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.prepareStatement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nl-NL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ps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.setString(1, </a:t>
            </a:r>
            <a:r>
              <a:rPr lang="nl-NL" sz="1800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.getEmp_name());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.getEmp_salary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(4,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.getLogin_id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.executeUpdate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en-US" sz="1800" b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731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DB46-CB77-43BD-8935-38A4C3F6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Implementation – Find (select)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6E6F-12C5-41EC-BF9D-EAF162B65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A11AC-4036-4F2B-957E-7FF331372FA4}"/>
              </a:ext>
            </a:extLst>
          </p:cNvPr>
          <p:cNvSpPr/>
          <p:nvPr/>
        </p:nvSpPr>
        <p:spPr>
          <a:xfrm>
            <a:off x="589722" y="1401762"/>
            <a:ext cx="7964555" cy="53270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EmployeeDAOImpl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46464"/>
                </a:solidFill>
                <a:latin typeface="Consolas" panose="020B0609020204030204" pitchFamily="49" charset="0"/>
              </a:rPr>
              <a:t>    @Override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Employee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selectEmployee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(Integer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Employee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try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(Connection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ConnectionUtil.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"SELECT * FROM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bankapp.employees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 WHERE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emp_id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=?"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.prepareStatement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(1,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.executeQuery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    while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emp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Employee(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(1),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(2),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(3),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(4),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(5)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algn="l"/>
            <a:endParaRPr lang="en-US" sz="18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algn="l"/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</a:p>
          <a:p>
            <a:pPr algn="l"/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487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DB46-CB77-43BD-8935-38A4C3F6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36" y="-4950"/>
            <a:ext cx="7021585" cy="1224150"/>
          </a:xfrm>
        </p:spPr>
        <p:txBody>
          <a:bodyPr/>
          <a:lstStyle/>
          <a:p>
            <a:r>
              <a:rPr lang="en-US" dirty="0"/>
              <a:t>DAO Implementation – Find Collection (select)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6E6F-12C5-41EC-BF9D-EAF162B65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A11AC-4036-4F2B-957E-7FF331372FA4}"/>
              </a:ext>
            </a:extLst>
          </p:cNvPr>
          <p:cNvSpPr/>
          <p:nvPr/>
        </p:nvSpPr>
        <p:spPr>
          <a:xfrm>
            <a:off x="589722" y="1401762"/>
            <a:ext cx="7964555" cy="53270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EmployeeDAOImpl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46464"/>
                </a:solidFill>
                <a:latin typeface="Consolas" panose="020B0609020204030204" pitchFamily="49" charset="0"/>
              </a:rPr>
              <a:t>    @Override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List&lt;Employee&gt;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selectAllEmployees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Statement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stmt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alternatively, we could have used a </a:t>
            </a:r>
            <a:r>
              <a:rPr lang="en-U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…</a:t>
            </a: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List&lt;Employee&gt;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elist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try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(Connection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ConnectionUtil.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"SELECT * FROM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bankapp.employees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stmt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stmt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.executeQuery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elist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&lt;Employee&gt;()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    while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Employee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Employee();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.setEmp_id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.setEmp_name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.setEmp_title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emp_title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.setEmp_salary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emp_salary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.setLogin_id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login_id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elist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algn="l"/>
            <a:endParaRPr lang="en-US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</a:p>
          <a:p>
            <a:pPr algn="l"/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506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DB46-CB77-43BD-8935-38A4C3F6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Implementation – Alter (update)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6E6F-12C5-41EC-BF9D-EAF162B65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5747BC-CCE6-4286-B838-F05CD0FAB315}"/>
              </a:ext>
            </a:extLst>
          </p:cNvPr>
          <p:cNvSpPr/>
          <p:nvPr/>
        </p:nvSpPr>
        <p:spPr>
          <a:xfrm>
            <a:off x="589722" y="1401762"/>
            <a:ext cx="7964555" cy="53270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EmployeeDAOImpl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46464"/>
                </a:solidFill>
                <a:latin typeface="Consolas" panose="020B0609020204030204" pitchFamily="49" charset="0"/>
              </a:rPr>
              <a:t>    @Override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updateEmployee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(Employee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try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(Connection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ConnectionUtil.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"UPDATE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bankapp.employees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 SET "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+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emp_name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=?, "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+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emp_title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=?, "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+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emp_salary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=?, "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+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login_id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=?"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+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"WHERE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emp_id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=?"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.prepareStatement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nl-NL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ps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.setString(1, </a:t>
            </a:r>
            <a:r>
              <a:rPr lang="nl-NL" sz="1800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.getEmp_name());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(2,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.getEmp_title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.getEmp_salary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(4,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.getLogin_id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(5,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.executeUpdate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</a:p>
          <a:p>
            <a:pPr algn="l"/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36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DB46-CB77-43BD-8935-38A4C3F6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Implementation – Remove (delete)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6E6F-12C5-41EC-BF9D-EAF162B65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5F1D3-12A3-4B81-A8B5-236F6E5D1734}"/>
              </a:ext>
            </a:extLst>
          </p:cNvPr>
          <p:cNvSpPr/>
          <p:nvPr/>
        </p:nvSpPr>
        <p:spPr>
          <a:xfrm>
            <a:off x="589037" y="1568741"/>
            <a:ext cx="7964555" cy="471461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EmployeeDAOImpl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EmployeeDAO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en-US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46464"/>
                </a:solidFill>
                <a:latin typeface="Consolas" panose="020B0609020204030204" pitchFamily="49" charset="0"/>
              </a:rPr>
              <a:t>    @Override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deleteEmployee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(Employee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try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(Connection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ConnectionUtil.</a:t>
            </a:r>
            <a:r>
              <a:rPr lang="en-U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String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"DELETE FROM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bankapp.employees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 WHERE </a:t>
            </a:r>
            <a:r>
              <a:rPr lang="en-US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emp_id</a:t>
            </a:r>
            <a:r>
              <a:rPr lang="en-US" sz="1800" dirty="0">
                <a:solidFill>
                  <a:srgbClr val="2A00FF"/>
                </a:solidFill>
                <a:latin typeface="Consolas" panose="020B0609020204030204" pitchFamily="49" charset="0"/>
              </a:rPr>
              <a:t>=?"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.prepareStatement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.setInt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(1,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.getEmp_id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.executeUpdate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.printStackTrace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 other code...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685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16552</TotalTime>
  <Words>3265</Words>
  <Application>Microsoft Office PowerPoint</Application>
  <PresentationFormat>On-screen Show (4:3)</PresentationFormat>
  <Paragraphs>438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Courier New</vt:lpstr>
      <vt:lpstr>2_Custom Design</vt:lpstr>
      <vt:lpstr>Java DataBase Connectivity API</vt:lpstr>
      <vt:lpstr>Outline</vt:lpstr>
      <vt:lpstr>PowerPoint Presentation</vt:lpstr>
      <vt:lpstr>Java DataBase Connectivity API</vt:lpstr>
      <vt:lpstr>JDBC Classes and Interfaces</vt:lpstr>
      <vt:lpstr>PowerPoint Presentation</vt:lpstr>
      <vt:lpstr>Establishing Database Connections</vt:lpstr>
      <vt:lpstr>SQL Drivers</vt:lpstr>
      <vt:lpstr>Managing Properties and Security</vt:lpstr>
      <vt:lpstr>Properties File</vt:lpstr>
      <vt:lpstr>Environment Variables</vt:lpstr>
      <vt:lpstr>PowerPoint Presentation</vt:lpstr>
      <vt:lpstr>try-with-resources (recap)</vt:lpstr>
      <vt:lpstr>PowerPoint Presentation</vt:lpstr>
      <vt:lpstr>Statement</vt:lpstr>
      <vt:lpstr>ResultSet</vt:lpstr>
      <vt:lpstr>PowerPoint Presentation</vt:lpstr>
      <vt:lpstr>SQL Injection &amp; Prevention</vt:lpstr>
      <vt:lpstr>PowerPoint Presentation</vt:lpstr>
      <vt:lpstr>Auto-Commits</vt:lpstr>
      <vt:lpstr>Bank Transaction Example</vt:lpstr>
      <vt:lpstr>Bank Transaction Example</vt:lpstr>
      <vt:lpstr>PowerPoint Presentation</vt:lpstr>
      <vt:lpstr>Design Patterns – Model Classes</vt:lpstr>
      <vt:lpstr>Design Patterns – DAO</vt:lpstr>
      <vt:lpstr>DAO - Interface</vt:lpstr>
      <vt:lpstr>DAO Implementation – Add (insert)</vt:lpstr>
      <vt:lpstr>DAO Implementation – Find (select)</vt:lpstr>
      <vt:lpstr>DAO Implementation – Find Collection (select)</vt:lpstr>
      <vt:lpstr>DAO Implementation – Alter (update)</vt:lpstr>
      <vt:lpstr>DAO Implementation – Remove (delete)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240</cp:revision>
  <dcterms:modified xsi:type="dcterms:W3CDTF">2026-08-04T17:59:38Z</dcterms:modified>
</cp:coreProperties>
</file>