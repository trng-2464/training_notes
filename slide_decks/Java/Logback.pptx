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61" r:id="rId1"/>
  </p:sldMasterIdLst>
  <p:notesMasterIdLst>
    <p:notesMasterId r:id="rId19"/>
  </p:notesMasterIdLst>
  <p:sldIdLst>
    <p:sldId id="256" r:id="rId2"/>
    <p:sldId id="343" r:id="rId3"/>
    <p:sldId id="357" r:id="rId4"/>
    <p:sldId id="293" r:id="rId5"/>
    <p:sldId id="358" r:id="rId6"/>
    <p:sldId id="318" r:id="rId7"/>
    <p:sldId id="360" r:id="rId8"/>
    <p:sldId id="315" r:id="rId9"/>
    <p:sldId id="359" r:id="rId10"/>
    <p:sldId id="321" r:id="rId11"/>
    <p:sldId id="327" r:id="rId12"/>
    <p:sldId id="324" r:id="rId13"/>
    <p:sldId id="333" r:id="rId14"/>
    <p:sldId id="326" r:id="rId15"/>
    <p:sldId id="325" r:id="rId16"/>
    <p:sldId id="332" r:id="rId17"/>
    <p:sldId id="270" r:id="rId18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846" y="6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"/>
          <p:cNvPicPr preferRelativeResize="0"/>
          <p:nvPr/>
        </p:nvPicPr>
        <p:blipFill rotWithShape="1">
          <a:blip r:embed="rId2">
            <a:alphaModFix/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2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36" name="Google Shape;36;p2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 rot="10800000" flipH="1">
            <a:off x="0" y="1219200"/>
            <a:ext cx="9144000" cy="563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4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66" name="Google Shape;66;p4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5"/>
          <p:cNvPicPr preferRelativeResize="0"/>
          <p:nvPr/>
        </p:nvPicPr>
        <p:blipFill rotWithShape="1">
          <a:blip r:embed="rId2">
            <a:alphaModFix/>
          </a:blip>
          <a:srcRect t="33085" b="1379"/>
          <a:stretch/>
        </p:blipFill>
        <p:spPr>
          <a:xfrm rot="10800000" flipH="1">
            <a:off x="0" y="0"/>
            <a:ext cx="9144000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5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87" name="Google Shape;87;p5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2">
            <a:alphaModFix/>
          </a:blip>
          <a:srcRect t="67499" b="6701"/>
          <a:stretch/>
        </p:blipFill>
        <p:spPr>
          <a:xfrm rot="10800000" flipH="1">
            <a:off x="0" y="1740436"/>
            <a:ext cx="9144000" cy="1502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6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3" name="Google Shape;113;p6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section 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7"/>
          <p:cNvPicPr preferRelativeResize="0"/>
          <p:nvPr/>
        </p:nvPicPr>
        <p:blipFill rotWithShape="1">
          <a:blip r:embed="rId2">
            <a:alphaModFix/>
          </a:blip>
          <a:srcRect l="6614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7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37" name="Google Shape;137;p7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7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white">
  <p:cSld name="title only - white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6" name="Google Shape;176;p11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177" name="Google Shape;177;p11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Only">
  <p:cSld name="3_Title Only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2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12"/>
          <p:cNvSpPr>
            <a:spLocks noGrp="1"/>
          </p:cNvSpPr>
          <p:nvPr>
            <p:ph type="dgm" idx="2"/>
          </p:nvPr>
        </p:nvSpPr>
        <p:spPr>
          <a:xfrm>
            <a:off x="133350" y="125413"/>
            <a:ext cx="8850313" cy="600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Only">
  <p:cSld name="2_Title 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2" name="Google Shape;20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7765" y="6367323"/>
            <a:ext cx="1260213" cy="39476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body" idx="1"/>
          </p:nvPr>
        </p:nvSpPr>
        <p:spPr>
          <a:xfrm>
            <a:off x="380010" y="1097280"/>
            <a:ext cx="8383980" cy="491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808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Google Shape;12;p1"/>
            <p:cNvSpPr/>
            <p:nvPr/>
          </p:nvSpPr>
          <p:spPr>
            <a:xfrm>
              <a:off x="166688" y="-1244600"/>
              <a:ext cx="876300" cy="850900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258888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219326" y="-1244600"/>
              <a:ext cx="906463" cy="850900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3125788" y="-1244600"/>
              <a:ext cx="1017588" cy="850900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4106863" y="-1244600"/>
              <a:ext cx="928688" cy="850900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5214938" y="-1244600"/>
              <a:ext cx="906463" cy="873125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6384926" y="-1244600"/>
              <a:ext cx="873125" cy="850900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477126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33738" y="-1751013"/>
              <a:ext cx="152400" cy="146050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719513" y="-2219325"/>
              <a:ext cx="219075" cy="263525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4289426" y="-2582863"/>
              <a:ext cx="222250" cy="407988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910138" y="-2876550"/>
              <a:ext cx="188913" cy="561975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5541963" y="-3081338"/>
              <a:ext cx="174625" cy="70326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6140451" y="-3203575"/>
              <a:ext cx="271463" cy="83185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6724651" y="-3240088"/>
              <a:ext cx="404813" cy="95091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299326" y="-3173413"/>
              <a:ext cx="558800" cy="1039813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7864476" y="-3006725"/>
              <a:ext cx="720725" cy="1103313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8393113" y="-2740025"/>
              <a:ext cx="909638" cy="1138238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1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logback.qos.ch/manual/layouts.html" TargetMode="Externa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br>
              <a:rPr lang="en-US" dirty="0"/>
            </a:br>
            <a:r>
              <a:rPr lang="en-US" dirty="0"/>
              <a:t>Logging with </a:t>
            </a:r>
            <a:r>
              <a:rPr lang="en-US" dirty="0" err="1"/>
              <a:t>Logback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Logging Basics</a:t>
            </a:r>
          </a:p>
          <a:p>
            <a:r>
              <a:rPr lang="en-US" dirty="0" err="1"/>
              <a:t>Logback</a:t>
            </a:r>
            <a:r>
              <a:rPr lang="en-US" dirty="0"/>
              <a:t> Intro</a:t>
            </a:r>
          </a:p>
          <a:p>
            <a:r>
              <a:rPr lang="en-US" dirty="0"/>
              <a:t>Logging Levels</a:t>
            </a:r>
          </a:p>
          <a:p>
            <a:r>
              <a:rPr lang="en-US" dirty="0" err="1"/>
              <a:t>Logback</a:t>
            </a:r>
            <a:r>
              <a:rPr lang="en-US" dirty="0"/>
              <a:t> Configuration &amp; Usage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Logging Basics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**Logging Basics**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is Logging?</a:t>
            </a:r>
          </a:p>
          <a:p>
            <a:pPr lvl="1"/>
            <a:r>
              <a:rPr lang="en-US" dirty="0"/>
              <a:t>Logging refers to the act of recording granular events within an application, such as transactions with a database, exceptions or debugging events. </a:t>
            </a:r>
          </a:p>
          <a:p>
            <a:pPr lvl="1"/>
            <a:r>
              <a:rPr lang="en-US" dirty="0"/>
              <a:t>Generally logs are maintained by writing them to a file.</a:t>
            </a:r>
          </a:p>
          <a:p>
            <a:r>
              <a:rPr lang="en-US" dirty="0"/>
              <a:t>Logging ensures that developers can access important information about applications to which we do not have direct access.</a:t>
            </a:r>
          </a:p>
          <a:p>
            <a:r>
              <a:rPr lang="en-US" dirty="0"/>
              <a:t>Without logs, it is difficult to impossible to know what went wrong when an application crashes, or monitor the performance of an application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0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C502E-7834-FF67-141D-7D8297177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37427F-7485-3C2C-6778-7B5A759F9D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A628017E-DD47-D37A-DA54-4809A03B084F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Logback</a:t>
            </a: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Intro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DD9977-2C1A-3FDB-399F-B3943990D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831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with </a:t>
            </a:r>
            <a:r>
              <a:rPr lang="en-US" dirty="0" err="1"/>
              <a:t>Logback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Logback</a:t>
            </a:r>
            <a:r>
              <a:rPr lang="en-US" dirty="0"/>
              <a:t> is the successor to Log4J. And provides the following advantages:</a:t>
            </a:r>
          </a:p>
          <a:p>
            <a:pPr lvl="1"/>
            <a:r>
              <a:rPr lang="en-US" dirty="0"/>
              <a:t>Faster Implementation (than log4J 1)</a:t>
            </a:r>
          </a:p>
          <a:p>
            <a:pPr lvl="1"/>
            <a:r>
              <a:rPr lang="en-US" dirty="0"/>
              <a:t>Natively uses SLF4J (Simple Logging Façade for Java)</a:t>
            </a:r>
          </a:p>
          <a:p>
            <a:pPr lvl="2"/>
            <a:r>
              <a:rPr lang="en-US" dirty="0"/>
              <a:t>SLF4J is an API which provides a simple, and standardized way to log messages in Java Applications.</a:t>
            </a:r>
          </a:p>
          <a:p>
            <a:pPr lvl="2"/>
            <a:r>
              <a:rPr lang="en-US" dirty="0"/>
              <a:t>SLF4J acts as a bridge between the Java application and the actual logging implementation</a:t>
            </a:r>
          </a:p>
          <a:p>
            <a:pPr lvl="1"/>
            <a:r>
              <a:rPr lang="en-US" dirty="0"/>
              <a:t>Automatic reloading of configuration files.</a:t>
            </a:r>
          </a:p>
          <a:p>
            <a:pPr lvl="1"/>
            <a:r>
              <a:rPr lang="en-US" dirty="0"/>
              <a:t>Automatic removal of old log archives</a:t>
            </a:r>
          </a:p>
          <a:p>
            <a:endParaRPr lang="en-US" dirty="0"/>
          </a:p>
          <a:p>
            <a:r>
              <a:rPr lang="en-US" dirty="0"/>
              <a:t>***</a:t>
            </a:r>
            <a:r>
              <a:rPr lang="en-US" dirty="0" err="1"/>
              <a:t>Logback</a:t>
            </a:r>
            <a:r>
              <a:rPr lang="en-US" dirty="0"/>
              <a:t> is build upon three (3) main classes:***</a:t>
            </a:r>
          </a:p>
          <a:p>
            <a:pPr lvl="1"/>
            <a:r>
              <a:rPr lang="en-US" b="1" dirty="0"/>
              <a:t>Logger</a:t>
            </a:r>
            <a:r>
              <a:rPr lang="en-US" dirty="0"/>
              <a:t> (</a:t>
            </a:r>
            <a:r>
              <a:rPr lang="en-US" dirty="0" err="1"/>
              <a:t>logback</a:t>
            </a:r>
            <a:r>
              <a:rPr lang="en-US" dirty="0"/>
              <a:t>-classic module) : generates the log messages</a:t>
            </a:r>
          </a:p>
          <a:p>
            <a:pPr lvl="1"/>
            <a:r>
              <a:rPr lang="en-US" b="1" dirty="0"/>
              <a:t>Appender</a:t>
            </a:r>
            <a:r>
              <a:rPr lang="en-US" dirty="0"/>
              <a:t> (</a:t>
            </a:r>
            <a:r>
              <a:rPr lang="en-US" dirty="0" err="1"/>
              <a:t>logback</a:t>
            </a:r>
            <a:r>
              <a:rPr lang="en-US" dirty="0"/>
              <a:t>-core module) : specifies output for logs to destination(s)</a:t>
            </a:r>
          </a:p>
          <a:p>
            <a:pPr lvl="1"/>
            <a:r>
              <a:rPr lang="en-US" b="1" dirty="0"/>
              <a:t>Layout</a:t>
            </a:r>
            <a:r>
              <a:rPr lang="en-US" dirty="0"/>
              <a:t> (</a:t>
            </a:r>
            <a:r>
              <a:rPr lang="en-US" dirty="0" err="1"/>
              <a:t>logback</a:t>
            </a:r>
            <a:r>
              <a:rPr lang="en-US" dirty="0"/>
              <a:t>-core module) : formats logging information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75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131FF-5242-578E-91D5-4132C3C78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7F0D3D-B0BE-7535-2928-78E7DCC93DF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49CB5DBC-FDD4-BC52-3930-4E31A4652A52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Logging Levels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73BDCC-F917-6EF1-A5E9-8CDA6670A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201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***Logging Levels***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4075651"/>
          </a:xfrm>
        </p:spPr>
        <p:txBody>
          <a:bodyPr>
            <a:normAutofit fontScale="55000" lnSpcReduction="20000"/>
          </a:bodyPr>
          <a:lstStyle/>
          <a:p>
            <a:pPr marL="50800" indent="0">
              <a:buNone/>
            </a:pPr>
            <a:r>
              <a:rPr lang="en-US" dirty="0" err="1"/>
              <a:t>Logback</a:t>
            </a:r>
            <a:r>
              <a:rPr lang="en-US" dirty="0"/>
              <a:t> has various ‘levels’ which determine the threshold for what information should be logged. The higher the level below, the ‘less severe’ the events should be tracked.</a:t>
            </a:r>
          </a:p>
          <a:p>
            <a:pPr marL="50800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TRACE</a:t>
            </a:r>
            <a:r>
              <a:rPr lang="en-US" dirty="0"/>
              <a:t> =&gt; fine grained informational event. Intended for easily reproducing and resolving short-lived problems. Typically, this level is not used very often.</a:t>
            </a:r>
          </a:p>
          <a:p>
            <a:pPr lvl="1"/>
            <a:r>
              <a:rPr lang="en-US" dirty="0"/>
              <a:t>i.e. : extremely detailed information and typically high-volume logging. line-by-line of an algorithm.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DEBUG</a:t>
            </a:r>
            <a:r>
              <a:rPr lang="en-US" dirty="0"/>
              <a:t> =&gt; designates informational events that are most useful to debug an application</a:t>
            </a:r>
          </a:p>
          <a:p>
            <a:pPr lvl="1"/>
            <a:r>
              <a:rPr lang="en-US" dirty="0"/>
              <a:t>i.e. : entry &amp; exit of a method, or ‘significant’ actions in an algorithm.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INFO</a:t>
            </a:r>
            <a:r>
              <a:rPr lang="en-US" dirty="0"/>
              <a:t> =&gt; informational messages that highlight the progress of the application at a higher level</a:t>
            </a:r>
          </a:p>
          <a:p>
            <a:pPr lvl="1"/>
            <a:r>
              <a:rPr lang="en-US" dirty="0"/>
              <a:t>i.e. : “session” information (login, logout, etc…)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WARN</a:t>
            </a:r>
            <a:r>
              <a:rPr lang="en-US" dirty="0"/>
              <a:t> =&gt; designates potentially harmful situations</a:t>
            </a:r>
          </a:p>
          <a:p>
            <a:pPr lvl="1"/>
            <a:r>
              <a:rPr lang="en-US" dirty="0"/>
              <a:t>i.e. : Unexpected technical issues.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ERROR</a:t>
            </a:r>
            <a:r>
              <a:rPr lang="en-US" dirty="0"/>
              <a:t> =&gt; designates error events that might still allow the application to continue running</a:t>
            </a:r>
          </a:p>
          <a:p>
            <a:pPr lvl="1"/>
            <a:r>
              <a:rPr lang="en-US" dirty="0"/>
              <a:t>i.e. : critical failures. “2AM rule” – “if you are on call and were to be awoken at 2am to handle this issue, would you be ok with it?”</a:t>
            </a:r>
          </a:p>
          <a:p>
            <a:pPr marL="565150" indent="-514350">
              <a:buFont typeface="+mj-lt"/>
              <a:buAutoNum type="arabicPeriod"/>
            </a:pPr>
            <a:r>
              <a:rPr lang="en-US" b="1" dirty="0"/>
              <a:t>OFF</a:t>
            </a:r>
            <a:r>
              <a:rPr lang="en-US" dirty="0"/>
              <a:t> =&gt; do not track any logging events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280525-8A7E-4947-243E-4CC3F1CA6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295" y="5291655"/>
            <a:ext cx="6755410" cy="156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99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83DF5-597D-DA8A-69CA-93FA25412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FB7FA3-073A-89D4-2D42-393690DD16F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F0875CEB-F7D7-0275-4756-3D845B7B3554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Logging Configuration &amp; Usage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AFDA57-FF2B-EB1D-B540-49CD78033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988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Configurations – Maven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308683"/>
            <a:ext cx="8383980" cy="5285063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Maven Configuration:</a:t>
            </a:r>
          </a:p>
          <a:p>
            <a:pPr lvl="1"/>
            <a:r>
              <a:rPr lang="en-US" sz="2000" dirty="0"/>
              <a:t>Installation of the </a:t>
            </a:r>
            <a:r>
              <a:rPr lang="en-US" sz="2000" dirty="0" err="1"/>
              <a:t>logback</a:t>
            </a:r>
            <a:r>
              <a:rPr lang="en-US" sz="2000" dirty="0"/>
              <a:t>-classic module will also import the </a:t>
            </a:r>
            <a:r>
              <a:rPr lang="en-US" sz="2000" dirty="0" err="1"/>
              <a:t>logback</a:t>
            </a:r>
            <a:r>
              <a:rPr lang="en-US" sz="2000" dirty="0"/>
              <a:t>-core as well as slf4j-api modules as well.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533400" lvl="1" indent="0">
              <a:buNone/>
            </a:pPr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r>
              <a:rPr lang="en-US" sz="2400" dirty="0"/>
              <a:t>Upon running an application, </a:t>
            </a:r>
            <a:r>
              <a:rPr lang="en-US" sz="2400" dirty="0" err="1"/>
              <a:t>logback</a:t>
            </a:r>
            <a:r>
              <a:rPr lang="en-US" sz="2400" dirty="0"/>
              <a:t> will search for configurations in this order:</a:t>
            </a:r>
          </a:p>
          <a:p>
            <a:pPr lvl="1">
              <a:buFont typeface="+mj-lt"/>
              <a:buAutoNum type="arabicPeriod"/>
            </a:pPr>
            <a:r>
              <a:rPr lang="en-US" sz="2000" dirty="0"/>
              <a:t>Search for these files in </a:t>
            </a:r>
            <a:r>
              <a:rPr lang="en-US" sz="2000" dirty="0" err="1"/>
              <a:t>classpath</a:t>
            </a:r>
            <a:r>
              <a:rPr lang="en-US" sz="2000" dirty="0"/>
              <a:t> (in this order):</a:t>
            </a:r>
          </a:p>
          <a:p>
            <a:pPr lvl="2">
              <a:buFont typeface="+mj-lt"/>
              <a:buAutoNum type="arabicPeriod"/>
            </a:pPr>
            <a:r>
              <a:rPr lang="en-US" sz="1600" dirty="0"/>
              <a:t>Logback-test.xml</a:t>
            </a:r>
          </a:p>
          <a:p>
            <a:pPr lvl="2">
              <a:buFont typeface="+mj-lt"/>
              <a:buAutoNum type="arabicPeriod"/>
            </a:pPr>
            <a:r>
              <a:rPr lang="en-US" sz="1600" dirty="0"/>
              <a:t>Logback.xml</a:t>
            </a:r>
          </a:p>
          <a:p>
            <a:pPr lvl="1">
              <a:buFont typeface="+mj-lt"/>
              <a:buAutoNum type="arabicPeriod"/>
            </a:pPr>
            <a:r>
              <a:rPr lang="en-US" sz="2000" dirty="0"/>
              <a:t>Attempt to use Java’s </a:t>
            </a:r>
            <a:r>
              <a:rPr lang="en-US" sz="2000" dirty="0" err="1"/>
              <a:t>ServiceLoader</a:t>
            </a:r>
            <a:r>
              <a:rPr lang="en-US" sz="2000" dirty="0"/>
              <a:t> to locate an implementor of </a:t>
            </a:r>
            <a:r>
              <a:rPr lang="en-US" sz="2000" dirty="0" err="1"/>
              <a:t>com.qos.logback.classic.sp.Configurator</a:t>
            </a:r>
            <a:endParaRPr lang="en-US" sz="2000" dirty="0"/>
          </a:p>
          <a:p>
            <a:pPr lvl="1">
              <a:buFont typeface="+mj-lt"/>
              <a:buAutoNum type="arabicPeriod"/>
            </a:pPr>
            <a:r>
              <a:rPr lang="en-US" sz="2000" dirty="0"/>
              <a:t>Configure itself to output to the console.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E10614-A6ED-4D66-8963-E9D098B4C492}"/>
              </a:ext>
            </a:extLst>
          </p:cNvPr>
          <p:cNvSpPr/>
          <p:nvPr/>
        </p:nvSpPr>
        <p:spPr>
          <a:xfrm>
            <a:off x="380010" y="2355716"/>
            <a:ext cx="8383980" cy="14804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85000" lnSpcReduction="10000"/>
          </a:bodyPr>
          <a:lstStyle/>
          <a:p>
            <a:pPr algn="l"/>
            <a:r>
              <a:rPr lang="en-GB" sz="1800" dirty="0">
                <a:solidFill>
                  <a:srgbClr val="3F5FBF"/>
                </a:solidFill>
                <a:latin typeface="Consolas" panose="020B0609020204030204" pitchFamily="49" charset="0"/>
              </a:rPr>
              <a:t>&lt;!-- https://mvnrepository.com/artifact/ch.qos.logback/logback-classic --&gt;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dependency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3F7F7F"/>
                </a:solidFill>
                <a:latin typeface="Consolas" panose="020B0609020204030204" pitchFamily="49" charset="0"/>
              </a:rPr>
              <a:t>groupId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ch.qos.logback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sz="1800" dirty="0" err="1">
                <a:solidFill>
                  <a:srgbClr val="3F7F7F"/>
                </a:solidFill>
                <a:latin typeface="Consolas" panose="020B0609020204030204" pitchFamily="49" charset="0"/>
              </a:rPr>
              <a:t>groupId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 err="1">
                <a:solidFill>
                  <a:srgbClr val="3F7F7F"/>
                </a:solidFill>
                <a:latin typeface="Consolas" panose="020B0609020204030204" pitchFamily="49" charset="0"/>
              </a:rPr>
              <a:t>artifactId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logback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-classic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 err="1">
                <a:solidFill>
                  <a:srgbClr val="3F7F7F"/>
                </a:solidFill>
                <a:latin typeface="Consolas" panose="020B0609020204030204" pitchFamily="49" charset="0"/>
              </a:rPr>
              <a:t>artifactId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version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1.4.5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version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dependency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sz="200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51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Configurations – logback.xml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DAE5B7-B3A4-4860-8193-0638E3FA919E}"/>
              </a:ext>
            </a:extLst>
          </p:cNvPr>
          <p:cNvSpPr/>
          <p:nvPr/>
        </p:nvSpPr>
        <p:spPr>
          <a:xfrm>
            <a:off x="380010" y="1364973"/>
            <a:ext cx="8383980" cy="53638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GB" sz="1800" u="sng" dirty="0">
                <a:solidFill>
                  <a:srgbClr val="3F7F7F"/>
                </a:solidFill>
                <a:latin typeface="Consolas" panose="020B0609020204030204" pitchFamily="49" charset="0"/>
              </a:rPr>
              <a:t>configuration</a:t>
            </a:r>
            <a:r>
              <a:rPr lang="en-GB" sz="1800" u="sng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GB" sz="1800" u="sn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&lt;</a:t>
            </a:r>
            <a:r>
              <a:rPr lang="en-GB" sz="1800" dirty="0" err="1">
                <a:solidFill>
                  <a:srgbClr val="3F7F7F"/>
                </a:solidFill>
                <a:latin typeface="Consolas" panose="020B0609020204030204" pitchFamily="49" charset="0"/>
              </a:rPr>
              <a:t>appender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GB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"STDOUT" </a:t>
            </a:r>
            <a:r>
              <a:rPr lang="en-GB" sz="1800" i="1" dirty="0">
                <a:solidFill>
                  <a:srgbClr val="7F007F"/>
                </a:solidFill>
                <a:latin typeface="Consolas" panose="020B0609020204030204" pitchFamily="49" charset="0"/>
              </a:rPr>
              <a:t>class</a:t>
            </a:r>
            <a:r>
              <a:rPr lang="en-GB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GB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GB" sz="18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ch.qos.logback.core.ConsoleAppender</a:t>
            </a:r>
            <a:r>
              <a:rPr lang="en-GB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GB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   &lt;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encoder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      &lt;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pattern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%-4relative %d{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HH:mm:ss.SSS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} [%thread] %-5level %logger{5}.%M - %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msg%n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pattern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   &lt;/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encoder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&lt;/</a:t>
            </a:r>
            <a:r>
              <a:rPr lang="en-GB" sz="1800" dirty="0" err="1">
                <a:solidFill>
                  <a:srgbClr val="3F7F7F"/>
                </a:solidFill>
                <a:latin typeface="Consolas" panose="020B0609020204030204" pitchFamily="49" charset="0"/>
              </a:rPr>
              <a:t>appender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endParaRPr lang="en-GB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   &lt;</a:t>
            </a:r>
            <a:r>
              <a:rPr lang="en-US" sz="1800" dirty="0">
                <a:solidFill>
                  <a:srgbClr val="3F7F7F"/>
                </a:solidFill>
                <a:latin typeface="Consolas" panose="020B0609020204030204" pitchFamily="49" charset="0"/>
              </a:rPr>
              <a:t>property </a:t>
            </a:r>
            <a:r>
              <a:rPr lang="en-US" sz="1800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"LOG_FILE" </a:t>
            </a:r>
            <a:r>
              <a:rPr lang="en-US" sz="1800" i="1" dirty="0">
                <a:solidFill>
                  <a:srgbClr val="7F007F"/>
                </a:solidFill>
                <a:latin typeface="Consolas" panose="020B0609020204030204" pitchFamily="49" charset="0"/>
              </a:rPr>
              <a:t>value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8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LogFile</a:t>
            </a:r>
            <a:r>
              <a:rPr lang="en-US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&lt;</a:t>
            </a:r>
            <a:r>
              <a:rPr lang="en-GB" sz="1800" dirty="0" err="1">
                <a:solidFill>
                  <a:srgbClr val="3F7F7F"/>
                </a:solidFill>
                <a:latin typeface="Consolas" panose="020B0609020204030204" pitchFamily="49" charset="0"/>
              </a:rPr>
              <a:t>appender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GB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"ROLLING" </a:t>
            </a:r>
            <a:r>
              <a:rPr lang="en-GB" sz="1800" i="1" dirty="0">
                <a:solidFill>
                  <a:srgbClr val="7F007F"/>
                </a:solidFill>
                <a:latin typeface="Consolas" panose="020B0609020204030204" pitchFamily="49" charset="0"/>
              </a:rPr>
              <a:t>class</a:t>
            </a:r>
            <a:r>
              <a:rPr lang="en-GB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GB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GB" sz="18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ch.qos.logback.core.rolling.RollingFileAppender</a:t>
            </a:r>
            <a:r>
              <a:rPr lang="en-GB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GB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nn-NO" sz="1800" dirty="0">
                <a:solidFill>
                  <a:srgbClr val="008080"/>
                </a:solidFill>
                <a:latin typeface="Consolas" panose="020B0609020204030204" pitchFamily="49" charset="0"/>
              </a:rPr>
              <a:t>      &lt;</a:t>
            </a:r>
            <a:r>
              <a:rPr lang="nn-NO" sz="1800" dirty="0">
                <a:solidFill>
                  <a:srgbClr val="3F7F7F"/>
                </a:solidFill>
                <a:latin typeface="Consolas" panose="020B0609020204030204" pitchFamily="49" charset="0"/>
              </a:rPr>
              <a:t>file</a:t>
            </a:r>
            <a:r>
              <a:rPr lang="nn-NO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${LOG_FILE}.log</a:t>
            </a:r>
            <a:r>
              <a:rPr lang="nn-NO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nn-NO" sz="1800" dirty="0">
                <a:solidFill>
                  <a:srgbClr val="3F7F7F"/>
                </a:solidFill>
                <a:latin typeface="Consolas" panose="020B0609020204030204" pitchFamily="49" charset="0"/>
              </a:rPr>
              <a:t>file</a:t>
            </a:r>
            <a:r>
              <a:rPr lang="nn-NO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   &lt;</a:t>
            </a:r>
            <a:r>
              <a:rPr lang="en-GB" sz="1800" dirty="0" err="1">
                <a:solidFill>
                  <a:srgbClr val="3F7F7F"/>
                </a:solidFill>
                <a:latin typeface="Consolas" panose="020B0609020204030204" pitchFamily="49" charset="0"/>
              </a:rPr>
              <a:t>rollingPolicy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7F007F"/>
                </a:solidFill>
                <a:latin typeface="Consolas" panose="020B0609020204030204" pitchFamily="49" charset="0"/>
              </a:rPr>
              <a:t>class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GB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GB" sz="18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ch.qos.logback.core.rolling.TimeBasedRollingPolicy</a:t>
            </a:r>
            <a:r>
              <a:rPr lang="en-GB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GB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GB" sz="1800" u="sng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      &lt;</a:t>
            </a:r>
            <a:r>
              <a:rPr lang="en-GB" sz="1800" dirty="0" err="1">
                <a:solidFill>
                  <a:srgbClr val="3F7F7F"/>
                </a:solidFill>
                <a:latin typeface="Consolas" panose="020B0609020204030204" pitchFamily="49" charset="0"/>
              </a:rPr>
              <a:t>fileNamePattern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${LOG_FILE}.%d{</a:t>
            </a:r>
            <a:r>
              <a:rPr lang="en-GB" sz="1800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yyyy</a:t>
            </a:r>
            <a:r>
              <a:rPr lang="en-GB" sz="1800" u="sng" dirty="0">
                <a:solidFill>
                  <a:srgbClr val="000000"/>
                </a:solidFill>
                <a:latin typeface="Consolas" panose="020B0609020204030204" pitchFamily="49" charset="0"/>
              </a:rPr>
              <a:t>-MM-dd-HH-mm}.log</a:t>
            </a:r>
            <a:r>
              <a:rPr lang="en-GB" sz="1800" u="sng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GB" sz="1800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fileNamePattern</a:t>
            </a:r>
            <a:r>
              <a:rPr lang="en-GB" sz="1800" u="sng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sz="18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      &lt;</a:t>
            </a:r>
            <a:r>
              <a:rPr lang="en-GB" sz="1800" dirty="0" err="1">
                <a:solidFill>
                  <a:srgbClr val="3F7F7F"/>
                </a:solidFill>
                <a:latin typeface="Consolas" panose="020B0609020204030204" pitchFamily="49" charset="0"/>
              </a:rPr>
              <a:t>maxHistory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30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 err="1">
                <a:solidFill>
                  <a:srgbClr val="3F7F7F"/>
                </a:solidFill>
                <a:latin typeface="Consolas" panose="020B0609020204030204" pitchFamily="49" charset="0"/>
              </a:rPr>
              <a:t>maxHistory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      &lt;</a:t>
            </a:r>
            <a:r>
              <a:rPr lang="en-GB" sz="1800" dirty="0" err="1">
                <a:solidFill>
                  <a:srgbClr val="3F7F7F"/>
                </a:solidFill>
                <a:latin typeface="Consolas" panose="020B0609020204030204" pitchFamily="49" charset="0"/>
              </a:rPr>
              <a:t>totalSizeCap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2GB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 err="1">
                <a:solidFill>
                  <a:srgbClr val="3F7F7F"/>
                </a:solidFill>
                <a:latin typeface="Consolas" panose="020B0609020204030204" pitchFamily="49" charset="0"/>
              </a:rPr>
              <a:t>totalSizeCap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   &lt;/</a:t>
            </a:r>
            <a:r>
              <a:rPr lang="en-GB" sz="1800" dirty="0" err="1">
                <a:solidFill>
                  <a:srgbClr val="3F7F7F"/>
                </a:solidFill>
                <a:latin typeface="Consolas" panose="020B0609020204030204" pitchFamily="49" charset="0"/>
              </a:rPr>
              <a:t>rollingPolicy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endParaRPr lang="en-GB" sz="1800" dirty="0">
              <a:latin typeface="Consolas" panose="020B0609020204030204" pitchFamily="49" charset="0"/>
            </a:endParaRP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   &lt;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encoder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      &lt;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pattern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%d{</a:t>
            </a:r>
            <a:r>
              <a:rPr lang="en-GB" sz="1800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yyyy</a:t>
            </a:r>
            <a:r>
              <a:rPr lang="en-GB" sz="1800" u="sng" dirty="0">
                <a:solidFill>
                  <a:srgbClr val="000000"/>
                </a:solidFill>
                <a:latin typeface="Consolas" panose="020B0609020204030204" pitchFamily="49" charset="0"/>
              </a:rPr>
              <a:t>-MMM-dd | </a:t>
            </a:r>
            <a:r>
              <a:rPr lang="en-GB" sz="1800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HH:mm:ss.SSS</a:t>
            </a:r>
            <a:r>
              <a:rPr lang="en-GB" sz="1800" u="sng" dirty="0">
                <a:solidFill>
                  <a:srgbClr val="000000"/>
                </a:solidFill>
                <a:latin typeface="Consolas" panose="020B0609020204030204" pitchFamily="49" charset="0"/>
              </a:rPr>
              <a:t>} [%thread] %-5level %logger{50}.%M - %</a:t>
            </a:r>
            <a:r>
              <a:rPr lang="en-GB" sz="1800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msg%n</a:t>
            </a:r>
            <a:r>
              <a:rPr lang="en-GB" sz="1800" u="sng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GB" sz="1800" u="sng" dirty="0">
                <a:solidFill>
                  <a:srgbClr val="3F7F7F"/>
                </a:solidFill>
                <a:latin typeface="Consolas" panose="020B0609020204030204" pitchFamily="49" charset="0"/>
              </a:rPr>
              <a:t>pattern</a:t>
            </a:r>
            <a:r>
              <a:rPr lang="en-GB" sz="1800" u="sng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   &lt;/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encoder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&lt;/</a:t>
            </a:r>
            <a:r>
              <a:rPr lang="en-GB" sz="1800" dirty="0" err="1">
                <a:solidFill>
                  <a:srgbClr val="3F7F7F"/>
                </a:solidFill>
                <a:latin typeface="Consolas" panose="020B0609020204030204" pitchFamily="49" charset="0"/>
              </a:rPr>
              <a:t>appender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endParaRPr lang="en-GB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   &lt;</a:t>
            </a:r>
            <a:r>
              <a:rPr lang="en-US" sz="1800" dirty="0">
                <a:solidFill>
                  <a:srgbClr val="3F7F7F"/>
                </a:solidFill>
                <a:latin typeface="Consolas" panose="020B0609020204030204" pitchFamily="49" charset="0"/>
              </a:rPr>
              <a:t>logger </a:t>
            </a:r>
            <a:r>
              <a:rPr lang="en-US" sz="1800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"examples" </a:t>
            </a:r>
            <a:r>
              <a:rPr lang="en-US" sz="1800" i="1" dirty="0">
                <a:solidFill>
                  <a:srgbClr val="7F007F"/>
                </a:solidFill>
                <a:latin typeface="Consolas" panose="020B0609020204030204" pitchFamily="49" charset="0"/>
              </a:rPr>
              <a:t>level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"INFO"</a:t>
            </a:r>
            <a:r>
              <a:rPr lang="en-US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   &lt;</a:t>
            </a:r>
            <a:r>
              <a:rPr lang="en-GB" sz="1800" dirty="0" err="1">
                <a:solidFill>
                  <a:srgbClr val="3F7F7F"/>
                </a:solidFill>
                <a:latin typeface="Consolas" panose="020B0609020204030204" pitchFamily="49" charset="0"/>
              </a:rPr>
              <a:t>appender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-ref </a:t>
            </a:r>
            <a:r>
              <a:rPr lang="en-GB" sz="1800" dirty="0">
                <a:solidFill>
                  <a:srgbClr val="7F007F"/>
                </a:solidFill>
                <a:latin typeface="Consolas" panose="020B0609020204030204" pitchFamily="49" charset="0"/>
              </a:rPr>
              <a:t>ref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GB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"STDOUT" </a:t>
            </a:r>
            <a:r>
              <a:rPr lang="en-GB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&lt;/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logger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   &lt;</a:t>
            </a:r>
            <a:r>
              <a:rPr lang="en-US" sz="1800" dirty="0">
                <a:solidFill>
                  <a:srgbClr val="3F7F7F"/>
                </a:solidFill>
                <a:latin typeface="Consolas" panose="020B0609020204030204" pitchFamily="49" charset="0"/>
              </a:rPr>
              <a:t>logger </a:t>
            </a:r>
            <a:r>
              <a:rPr lang="en-US" sz="1800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8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com.revature.models</a:t>
            </a:r>
            <a:r>
              <a:rPr lang="en-US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sz="1800" i="1" dirty="0">
                <a:solidFill>
                  <a:srgbClr val="7F007F"/>
                </a:solidFill>
                <a:latin typeface="Consolas" panose="020B0609020204030204" pitchFamily="49" charset="0"/>
              </a:rPr>
              <a:t>level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"WARN"</a:t>
            </a:r>
            <a:r>
              <a:rPr lang="en-US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   &lt;</a:t>
            </a:r>
            <a:r>
              <a:rPr lang="en-GB" sz="1800" dirty="0" err="1">
                <a:solidFill>
                  <a:srgbClr val="3F7F7F"/>
                </a:solidFill>
                <a:latin typeface="Consolas" panose="020B0609020204030204" pitchFamily="49" charset="0"/>
              </a:rPr>
              <a:t>appender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-ref </a:t>
            </a:r>
            <a:r>
              <a:rPr lang="en-GB" sz="1800" dirty="0">
                <a:solidFill>
                  <a:srgbClr val="7F007F"/>
                </a:solidFill>
                <a:latin typeface="Consolas" panose="020B0609020204030204" pitchFamily="49" charset="0"/>
              </a:rPr>
              <a:t>ref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GB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"ROLLING" </a:t>
            </a:r>
            <a:r>
              <a:rPr lang="en-GB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&lt;/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logger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endParaRPr lang="en-GB" sz="1800" dirty="0">
              <a:latin typeface="Consolas" panose="020B0609020204030204" pitchFamily="49" charset="0"/>
            </a:endParaRP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&lt;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root </a:t>
            </a:r>
            <a:r>
              <a:rPr lang="en-GB" sz="1800" dirty="0">
                <a:solidFill>
                  <a:srgbClr val="7F007F"/>
                </a:solidFill>
                <a:latin typeface="Consolas" panose="020B0609020204030204" pitchFamily="49" charset="0"/>
              </a:rPr>
              <a:t>level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GB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"debug"</a:t>
            </a:r>
            <a:r>
              <a:rPr lang="en-GB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   &lt;</a:t>
            </a:r>
            <a:r>
              <a:rPr lang="en-GB" sz="1800" dirty="0" err="1">
                <a:solidFill>
                  <a:srgbClr val="3F7F7F"/>
                </a:solidFill>
                <a:latin typeface="Consolas" panose="020B0609020204030204" pitchFamily="49" charset="0"/>
              </a:rPr>
              <a:t>appender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-ref </a:t>
            </a:r>
            <a:r>
              <a:rPr lang="en-GB" sz="1800" dirty="0">
                <a:solidFill>
                  <a:srgbClr val="7F007F"/>
                </a:solidFill>
                <a:latin typeface="Consolas" panose="020B0609020204030204" pitchFamily="49" charset="0"/>
              </a:rPr>
              <a:t>ref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GB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"STDOUT" </a:t>
            </a:r>
            <a:r>
              <a:rPr lang="en-GB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   &lt;/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root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3F7F7F"/>
                </a:solidFill>
                <a:latin typeface="Consolas" panose="020B0609020204030204" pitchFamily="49" charset="0"/>
              </a:rPr>
              <a:t>configuration</a:t>
            </a:r>
            <a:r>
              <a:rPr lang="en-GB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sz="200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323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Configurations – Tags and Attributes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40EED9B-1BED-4BCD-ACE0-C1E0F279A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48683"/>
            <a:ext cx="8383980" cy="51852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append</a:t>
            </a:r>
            <a:r>
              <a:rPr lang="en-US" dirty="0"/>
              <a:t> – Nested within </a:t>
            </a:r>
            <a:r>
              <a:rPr lang="en-US" dirty="0" err="1"/>
              <a:t>Appender</a:t>
            </a:r>
            <a:r>
              <a:rPr lang="en-US" dirty="0"/>
              <a:t>. Used to determine if </a:t>
            </a:r>
            <a:r>
              <a:rPr lang="en-US" dirty="0" err="1"/>
              <a:t>appender</a:t>
            </a:r>
            <a:r>
              <a:rPr lang="en-US" dirty="0"/>
              <a:t> messages should truncate old logs (false) or if new logs should concatenate on previous (true).</a:t>
            </a:r>
          </a:p>
          <a:p>
            <a:pPr lvl="1"/>
            <a:r>
              <a:rPr lang="en-US" dirty="0"/>
              <a:t>Defaults to true (append to old messages).</a:t>
            </a:r>
            <a:endParaRPr lang="en-US" b="1" dirty="0"/>
          </a:p>
          <a:p>
            <a:r>
              <a:rPr lang="en-US" b="1" dirty="0" err="1"/>
              <a:t>appender</a:t>
            </a:r>
            <a:r>
              <a:rPr lang="en-US" dirty="0"/>
              <a:t> – An individual </a:t>
            </a:r>
            <a:r>
              <a:rPr lang="en-US" dirty="0" err="1"/>
              <a:t>appender</a:t>
            </a:r>
            <a:r>
              <a:rPr lang="en-US" dirty="0"/>
              <a:t> to be created</a:t>
            </a:r>
          </a:p>
          <a:p>
            <a:pPr lvl="1"/>
            <a:r>
              <a:rPr lang="en-US" b="1" dirty="0"/>
              <a:t>name</a:t>
            </a:r>
            <a:r>
              <a:rPr lang="en-US" dirty="0"/>
              <a:t> : identifier of </a:t>
            </a:r>
            <a:r>
              <a:rPr lang="en-US" dirty="0" err="1"/>
              <a:t>appender</a:t>
            </a:r>
            <a:endParaRPr lang="en-US" dirty="0"/>
          </a:p>
          <a:p>
            <a:pPr lvl="1"/>
            <a:r>
              <a:rPr lang="en-US" b="1" dirty="0"/>
              <a:t>class</a:t>
            </a:r>
            <a:r>
              <a:rPr lang="en-US" dirty="0"/>
              <a:t> : reference to class in </a:t>
            </a:r>
            <a:r>
              <a:rPr lang="en-US" dirty="0" err="1"/>
              <a:t>logback</a:t>
            </a:r>
            <a:r>
              <a:rPr lang="en-US" dirty="0"/>
              <a:t> module.</a:t>
            </a:r>
          </a:p>
          <a:p>
            <a:r>
              <a:rPr lang="en-US" b="1" dirty="0"/>
              <a:t>appenderRef</a:t>
            </a:r>
            <a:r>
              <a:rPr lang="en-US" dirty="0"/>
              <a:t> – Nested within logger. Reference to a named </a:t>
            </a:r>
            <a:r>
              <a:rPr lang="en-US" dirty="0" err="1"/>
              <a:t>appender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Ref </a:t>
            </a:r>
            <a:r>
              <a:rPr lang="en-US" dirty="0"/>
              <a:t>: Name of the </a:t>
            </a:r>
            <a:r>
              <a:rPr lang="en-US" dirty="0" err="1"/>
              <a:t>appender</a:t>
            </a:r>
            <a:r>
              <a:rPr lang="en-US" dirty="0"/>
              <a:t> you are referencing</a:t>
            </a:r>
          </a:p>
          <a:p>
            <a:r>
              <a:rPr lang="en-US" b="1" dirty="0"/>
              <a:t>configuration</a:t>
            </a:r>
            <a:r>
              <a:rPr lang="en-US" dirty="0"/>
              <a:t> – Root element for xml configuration file. </a:t>
            </a:r>
          </a:p>
          <a:p>
            <a:pPr lvl="1"/>
            <a:r>
              <a:rPr lang="en-US" b="1" dirty="0"/>
              <a:t>scan</a:t>
            </a:r>
            <a:r>
              <a:rPr lang="en-US" dirty="0"/>
              <a:t> : enables automatic re-configuration</a:t>
            </a:r>
          </a:p>
          <a:p>
            <a:pPr lvl="1"/>
            <a:r>
              <a:rPr lang="en-US" b="1" dirty="0"/>
              <a:t>scanPeriod</a:t>
            </a:r>
            <a:r>
              <a:rPr lang="en-US" dirty="0"/>
              <a:t> : optional with ‘scan’ to designate time for scans.</a:t>
            </a:r>
          </a:p>
          <a:p>
            <a:pPr lvl="2"/>
            <a:r>
              <a:rPr lang="en-US" dirty="0"/>
              <a:t>scanPeriod units: milliseconds, seconds, minutes, or hours</a:t>
            </a:r>
          </a:p>
          <a:p>
            <a:r>
              <a:rPr lang="en-US" b="1" dirty="0"/>
              <a:t>encoder</a:t>
            </a:r>
            <a:r>
              <a:rPr lang="en-US" dirty="0"/>
              <a:t> – Nested within Appender. Transforms events to a byte array and writes the byte array to an output stream.</a:t>
            </a:r>
          </a:p>
          <a:p>
            <a:pPr marL="508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88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792577" cy="1224150"/>
          </a:xfrm>
        </p:spPr>
        <p:txBody>
          <a:bodyPr/>
          <a:lstStyle/>
          <a:p>
            <a:r>
              <a:rPr lang="en-US" dirty="0"/>
              <a:t>Configurations – Tags and Attributes (</a:t>
            </a:r>
            <a:r>
              <a:rPr lang="en-US" dirty="0" err="1"/>
              <a:t>cont</a:t>
            </a:r>
            <a:r>
              <a:rPr lang="en-US" dirty="0"/>
              <a:t>)…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3FF65AB-E3B0-4EDE-B41D-B2A3FC874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560353"/>
            <a:ext cx="8383980" cy="480336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file</a:t>
            </a:r>
            <a:r>
              <a:rPr lang="en-US" dirty="0"/>
              <a:t> – Nested within </a:t>
            </a:r>
            <a:r>
              <a:rPr lang="en-US" dirty="0" err="1"/>
              <a:t>Appender</a:t>
            </a:r>
            <a:r>
              <a:rPr lang="en-US" dirty="0"/>
              <a:t>. Name of file in which </a:t>
            </a:r>
            <a:r>
              <a:rPr lang="en-US" dirty="0" err="1"/>
              <a:t>appender</a:t>
            </a:r>
            <a:r>
              <a:rPr lang="en-US" dirty="0"/>
              <a:t> should output. If file doesn’t exist, a new file will be created</a:t>
            </a:r>
          </a:p>
          <a:p>
            <a:r>
              <a:rPr lang="en-US" b="1" dirty="0" err="1"/>
              <a:t>fileNamePattern</a:t>
            </a:r>
            <a:r>
              <a:rPr lang="en-US" dirty="0"/>
              <a:t> – Nested within </a:t>
            </a:r>
            <a:r>
              <a:rPr lang="en-US" dirty="0" err="1"/>
              <a:t>rollingPolicy</a:t>
            </a:r>
            <a:r>
              <a:rPr lang="en-US" dirty="0"/>
              <a:t>. Determines the name of the rolling files, as well as rolling policy time.</a:t>
            </a:r>
          </a:p>
          <a:p>
            <a:r>
              <a:rPr lang="en-US" b="1" dirty="0"/>
              <a:t>logger</a:t>
            </a:r>
            <a:r>
              <a:rPr lang="en-US" dirty="0"/>
              <a:t> – Reference for configured logger. Determines which logs should be recorded, and associated </a:t>
            </a:r>
            <a:r>
              <a:rPr lang="en-US" dirty="0" err="1"/>
              <a:t>appender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name</a:t>
            </a:r>
            <a:r>
              <a:rPr lang="en-US" dirty="0"/>
              <a:t> : package location for named logger</a:t>
            </a:r>
          </a:p>
          <a:p>
            <a:pPr lvl="1"/>
            <a:r>
              <a:rPr lang="en-US" b="1" dirty="0"/>
              <a:t>level</a:t>
            </a:r>
            <a:r>
              <a:rPr lang="en-US" dirty="0"/>
              <a:t> : the logging level.</a:t>
            </a:r>
            <a:endParaRPr lang="en-US" b="1" dirty="0"/>
          </a:p>
          <a:p>
            <a:r>
              <a:rPr lang="en-US" b="1" dirty="0" err="1"/>
              <a:t>maxHistory</a:t>
            </a:r>
            <a:r>
              <a:rPr lang="en-US" dirty="0"/>
              <a:t> – Nested within </a:t>
            </a:r>
            <a:r>
              <a:rPr lang="en-US" dirty="0" err="1"/>
              <a:t>rollingPolicy</a:t>
            </a:r>
            <a:r>
              <a:rPr lang="en-US" dirty="0"/>
              <a:t>. The maximum number of files to keep before removing old log files.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81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B6AABEC-2824-4865-B4FC-749580F52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9413" y="1476463"/>
            <a:ext cx="8385175" cy="507038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pattern</a:t>
            </a:r>
            <a:r>
              <a:rPr lang="en-US" dirty="0"/>
              <a:t> – Nested within encoder. Determines a format for the data output by encoder.</a:t>
            </a:r>
            <a:endParaRPr lang="en-US" b="1" dirty="0"/>
          </a:p>
          <a:p>
            <a:r>
              <a:rPr lang="en-US" b="1" dirty="0"/>
              <a:t>property</a:t>
            </a:r>
            <a:r>
              <a:rPr lang="en-US" dirty="0"/>
              <a:t> – creates a property which can be referenced elsewhere in the configuration. Uses a “key-value pair” structure.</a:t>
            </a:r>
          </a:p>
          <a:p>
            <a:pPr lvl="1"/>
            <a:r>
              <a:rPr lang="en-US" b="1" dirty="0"/>
              <a:t>name</a:t>
            </a:r>
            <a:r>
              <a:rPr lang="en-US" dirty="0"/>
              <a:t> : identifier for the property (key)</a:t>
            </a:r>
          </a:p>
          <a:p>
            <a:pPr lvl="1"/>
            <a:r>
              <a:rPr lang="en-US" b="1" dirty="0"/>
              <a:t>value</a:t>
            </a:r>
            <a:r>
              <a:rPr lang="en-US" dirty="0"/>
              <a:t> : value of the property</a:t>
            </a:r>
          </a:p>
          <a:p>
            <a:pPr lvl="1"/>
            <a:r>
              <a:rPr lang="en-US" dirty="0"/>
              <a:t>The property can be referenced elsewhere with the following format: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Property_name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b="1" dirty="0" err="1"/>
              <a:t>rollingPolicy</a:t>
            </a:r>
            <a:r>
              <a:rPr lang="en-US" dirty="0"/>
              <a:t> – Nested within </a:t>
            </a:r>
            <a:r>
              <a:rPr lang="en-US" dirty="0" err="1"/>
              <a:t>Appenders</a:t>
            </a:r>
            <a:r>
              <a:rPr lang="en-US" dirty="0"/>
              <a:t> derived from </a:t>
            </a:r>
            <a:r>
              <a:rPr lang="en-US" dirty="0" err="1"/>
              <a:t>RollingAppender</a:t>
            </a:r>
            <a:r>
              <a:rPr lang="en-US" dirty="0"/>
              <a:t>. Determines the name of the files for rolling policy as well as the rolling time period</a:t>
            </a:r>
          </a:p>
          <a:p>
            <a:r>
              <a:rPr lang="en-US" b="1" dirty="0" err="1"/>
              <a:t>totalSizeCap</a:t>
            </a:r>
            <a:r>
              <a:rPr lang="en-US" dirty="0"/>
              <a:t> – Nested within </a:t>
            </a:r>
            <a:r>
              <a:rPr lang="en-US" dirty="0" err="1"/>
              <a:t>rollingPolicy</a:t>
            </a:r>
            <a:r>
              <a:rPr lang="en-US" dirty="0"/>
              <a:t>. The maximum amount of memory which can be used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B16E5F0-92A1-4A69-55BE-2AA37E52DDFA}"/>
              </a:ext>
            </a:extLst>
          </p:cNvPr>
          <p:cNvSpPr txBox="1">
            <a:spLocks/>
          </p:cNvSpPr>
          <p:nvPr/>
        </p:nvSpPr>
        <p:spPr>
          <a:xfrm>
            <a:off x="379413" y="0"/>
            <a:ext cx="6792577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Configurations – Tags and Attributes (</a:t>
            </a:r>
            <a:r>
              <a:rPr lang="en-US" dirty="0" err="1"/>
              <a:t>cont</a:t>
            </a:r>
            <a:r>
              <a:rPr lang="en-US" dirty="0"/>
              <a:t>)…</a:t>
            </a:r>
          </a:p>
        </p:txBody>
      </p:sp>
    </p:spTree>
    <p:extLst>
      <p:ext uri="{BB962C8B-B14F-4D97-AF65-F5344CB8AC3E}">
        <p14:creationId xmlns:p14="http://schemas.microsoft.com/office/powerpoint/2010/main" val="3593526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Configurations – patterns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0ED551-1A39-15B5-BB88-13F73A60E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19200"/>
            <a:ext cx="8383980" cy="4525963"/>
          </a:xfrm>
        </p:spPr>
        <p:txBody>
          <a:bodyPr/>
          <a:lstStyle/>
          <a:p>
            <a:r>
              <a:rPr lang="en-US" dirty="0"/>
              <a:t>More info: </a:t>
            </a:r>
            <a:r>
              <a:rPr lang="en-GB" sz="1800" dirty="0">
                <a:solidFill>
                  <a:srgbClr val="3F5FBF"/>
                </a:solidFill>
                <a:latin typeface="Consolas" panose="020B0609020204030204" pitchFamily="49" charset="0"/>
                <a:hlinkClick r:id="rId2"/>
              </a:rPr>
              <a:t>https://logback.qos.ch/manual/layouts.html</a:t>
            </a:r>
            <a:endParaRPr lang="en-GB" sz="18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pPr marL="50800" indent="0">
              <a:buNone/>
            </a:pPr>
            <a:endParaRPr lang="en-GB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E2E7194-DD8D-AA68-DCE2-1F2A03C54B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682619"/>
              </p:ext>
            </p:extLst>
          </p:nvPr>
        </p:nvGraphicFramePr>
        <p:xfrm>
          <a:off x="562062" y="1892677"/>
          <a:ext cx="8201928" cy="474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3476">
                  <a:extLst>
                    <a:ext uri="{9D8B030D-6E8A-4147-A177-3AD203B41FA5}">
                      <a16:colId xmlns:a16="http://schemas.microsoft.com/office/drawing/2014/main" val="4201692293"/>
                    </a:ext>
                  </a:extLst>
                </a:gridCol>
                <a:gridCol w="5668452">
                  <a:extLst>
                    <a:ext uri="{9D8B030D-6E8A-4147-A177-3AD203B41FA5}">
                      <a16:colId xmlns:a16="http://schemas.microsoft.com/office/drawing/2014/main" val="327103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Conversion Keyword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99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c{length} | lo{length} | logger{length}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Outputs the name of the logger at the origin of the logging event</a:t>
                      </a:r>
                    </a:p>
                    <a:p>
                      <a:r>
                        <a:rPr lang="en-US" sz="1100" dirty="0"/>
                        <a:t>The length value will reduce the amount of detail that is provided. </a:t>
                      </a:r>
                    </a:p>
                    <a:p>
                      <a:r>
                        <a:rPr lang="en-US" sz="1100" dirty="0"/>
                        <a:t>At least the first letter of each package will always be displayed, unless a 0 is provided, then only the class name is output.</a:t>
                      </a:r>
                      <a:endParaRPr lang="en-GB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181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d{pattern} | date{pattern}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Outputs the date and time of the logging event</a:t>
                      </a:r>
                    </a:p>
                    <a:p>
                      <a:r>
                        <a:rPr lang="en-US" sz="1100" dirty="0" err="1"/>
                        <a:t>yy</a:t>
                      </a:r>
                      <a:r>
                        <a:rPr lang="en-US" sz="1100" dirty="0"/>
                        <a:t> – year | MM – month | dd – day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HH – hour | mm – minute | ss – seconds</a:t>
                      </a:r>
                      <a:endParaRPr lang="en-GB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15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f | file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Outputs the file name of the Java source file where the logging request was issued</a:t>
                      </a:r>
                      <a:endParaRPr lang="en-GB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92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L | line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Outputs the line number from where the logging request was issued</a:t>
                      </a:r>
                      <a:endParaRPr lang="en-GB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219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m | msg | message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Outputs the application-supplied message</a:t>
                      </a:r>
                      <a:endParaRPr lang="en-GB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556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M | method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Outputs the name of the method where the logging request was issued</a:t>
                      </a:r>
                      <a:endParaRPr lang="en-GB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478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n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Outputs a line separator character</a:t>
                      </a:r>
                      <a:endParaRPr lang="en-GB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536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P | le | level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Outputs the level of the logging event</a:t>
                      </a:r>
                      <a:endParaRPr lang="en-GB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59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r | relative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Outputs the number of milliseconds which elapsed since the start of the application until the creation of the logging event</a:t>
                      </a:r>
                      <a:endParaRPr lang="en-GB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89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t | thread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Outputs the name of the thread where the logging event was generated</a:t>
                      </a:r>
                      <a:endParaRPr lang="en-GB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17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192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Configurations – Usage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1818345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/>
              <a:t>To utilize a logger, you must create a logger object (generally it is made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sz="2400" dirty="0"/>
              <a:t>) using the static ‘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getLogger</a:t>
            </a:r>
            <a:r>
              <a:rPr lang="en-US" sz="2400" dirty="0"/>
              <a:t>’ method in 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LoggerFactory</a:t>
            </a:r>
            <a:r>
              <a:rPr lang="en-US" sz="2400" dirty="0"/>
              <a:t> class of slf4j.</a:t>
            </a:r>
          </a:p>
          <a:p>
            <a:r>
              <a:rPr lang="en-US" sz="2400" dirty="0"/>
              <a:t>The logger object has methods for each level of logs, </a:t>
            </a:r>
          </a:p>
          <a:p>
            <a:r>
              <a:rPr lang="en-US" sz="2400" dirty="0"/>
              <a:t>Afterwards, you simply call the log object with the type of log you want, and include a message: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C6FE0C-EF4C-4383-BEB7-71F6CC2E7173}"/>
              </a:ext>
            </a:extLst>
          </p:cNvPr>
          <p:cNvSpPr/>
          <p:nvPr/>
        </p:nvSpPr>
        <p:spPr>
          <a:xfrm>
            <a:off x="578167" y="3429000"/>
            <a:ext cx="7975425" cy="244838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defTabSz="228600"/>
            <a:r>
              <a:rPr lang="en-US" sz="2000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import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org.slf4j.Logger;</a:t>
            </a:r>
          </a:p>
          <a:p>
            <a:pPr defTabSz="228600"/>
            <a:r>
              <a:rPr lang="en-US" sz="2000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import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org.slf4j.LoggerFactory;</a:t>
            </a:r>
          </a:p>
          <a:p>
            <a:pPr defTabSz="228600"/>
            <a:endParaRPr lang="en-US" sz="2000" dirty="0"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2000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public class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Main {</a:t>
            </a: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final static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Logger </a:t>
            </a:r>
            <a:r>
              <a:rPr lang="en-US" sz="2000" i="1" dirty="0" err="1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logger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LoggerFactory.getLogger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Main.</a:t>
            </a:r>
            <a:r>
              <a:rPr lang="en-US" sz="2000" dirty="0" err="1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class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);</a:t>
            </a: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public static void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main(String... a) {</a:t>
            </a: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		</a:t>
            </a:r>
            <a:r>
              <a:rPr lang="en-US" sz="2000" i="1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logger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.info(</a:t>
            </a:r>
            <a:r>
              <a:rPr lang="en-US" sz="2000" dirty="0">
                <a:solidFill>
                  <a:srgbClr val="00B0F0"/>
                </a:solidFill>
                <a:latin typeface="+mj-lt"/>
                <a:cs typeface="Courier New" panose="02070309020205020404" pitchFamily="49" charset="0"/>
              </a:rPr>
              <a:t>"This is an info logger call"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);</a:t>
            </a: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	}</a:t>
            </a: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3524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rgbClr val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15556</TotalTime>
  <Words>1641</Words>
  <Application>Microsoft Office PowerPoint</Application>
  <PresentationFormat>On-screen Show (4:3)</PresentationFormat>
  <Paragraphs>184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Courier New</vt:lpstr>
      <vt:lpstr>2_Custom Design</vt:lpstr>
      <vt:lpstr> Logging with Logback</vt:lpstr>
      <vt:lpstr>Topics</vt:lpstr>
      <vt:lpstr>PowerPoint Presentation</vt:lpstr>
      <vt:lpstr>**Logging Basics**</vt:lpstr>
      <vt:lpstr>PowerPoint Presentation</vt:lpstr>
      <vt:lpstr>Logging with Logback</vt:lpstr>
      <vt:lpstr>PowerPoint Presentation</vt:lpstr>
      <vt:lpstr>***Logging Levels***</vt:lpstr>
      <vt:lpstr>PowerPoint Presentation</vt:lpstr>
      <vt:lpstr>Configurations – Maven</vt:lpstr>
      <vt:lpstr>Configurations – logback.xml</vt:lpstr>
      <vt:lpstr>Configurations – Tags and Attributes</vt:lpstr>
      <vt:lpstr>Configurations – Tags and Attributes (cont)…</vt:lpstr>
      <vt:lpstr>PowerPoint Presentation</vt:lpstr>
      <vt:lpstr>Configurations – patterns</vt:lpstr>
      <vt:lpstr>Configurations – Usage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and OOP</dc:title>
  <dc:creator>Joseph Highe</dc:creator>
  <cp:lastModifiedBy>Joseph Highe</cp:lastModifiedBy>
  <cp:revision>262</cp:revision>
  <dcterms:modified xsi:type="dcterms:W3CDTF">2026-08-06T18:29:06Z</dcterms:modified>
</cp:coreProperties>
</file>