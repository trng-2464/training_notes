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54"/>
  </p:notesMasterIdLst>
  <p:sldIdLst>
    <p:sldId id="256" r:id="rId2"/>
    <p:sldId id="343" r:id="rId3"/>
    <p:sldId id="358" r:id="rId4"/>
    <p:sldId id="258" r:id="rId5"/>
    <p:sldId id="385" r:id="rId6"/>
    <p:sldId id="272" r:id="rId7"/>
    <p:sldId id="386" r:id="rId8"/>
    <p:sldId id="383" r:id="rId9"/>
    <p:sldId id="269" r:id="rId10"/>
    <p:sldId id="384" r:id="rId11"/>
    <p:sldId id="388" r:id="rId12"/>
    <p:sldId id="291" r:id="rId13"/>
    <p:sldId id="257" r:id="rId14"/>
    <p:sldId id="277" r:id="rId15"/>
    <p:sldId id="278" r:id="rId16"/>
    <p:sldId id="260" r:id="rId17"/>
    <p:sldId id="263" r:id="rId18"/>
    <p:sldId id="264" r:id="rId19"/>
    <p:sldId id="389" r:id="rId20"/>
    <p:sldId id="262" r:id="rId21"/>
    <p:sldId id="390" r:id="rId22"/>
    <p:sldId id="259" r:id="rId23"/>
    <p:sldId id="273" r:id="rId24"/>
    <p:sldId id="276" r:id="rId25"/>
    <p:sldId id="292" r:id="rId26"/>
    <p:sldId id="293" r:id="rId27"/>
    <p:sldId id="391" r:id="rId28"/>
    <p:sldId id="294" r:id="rId29"/>
    <p:sldId id="295" r:id="rId30"/>
    <p:sldId id="296" r:id="rId31"/>
    <p:sldId id="275" r:id="rId32"/>
    <p:sldId id="297" r:id="rId33"/>
    <p:sldId id="298" r:id="rId34"/>
    <p:sldId id="261" r:id="rId35"/>
    <p:sldId id="304" r:id="rId36"/>
    <p:sldId id="392" r:id="rId37"/>
    <p:sldId id="301" r:id="rId38"/>
    <p:sldId id="395" r:id="rId39"/>
    <p:sldId id="266" r:id="rId40"/>
    <p:sldId id="397" r:id="rId41"/>
    <p:sldId id="300" r:id="rId42"/>
    <p:sldId id="394" r:id="rId43"/>
    <p:sldId id="302" r:id="rId44"/>
    <p:sldId id="265" r:id="rId45"/>
    <p:sldId id="396" r:id="rId46"/>
    <p:sldId id="274" r:id="rId47"/>
    <p:sldId id="268" r:id="rId48"/>
    <p:sldId id="393" r:id="rId49"/>
    <p:sldId id="305" r:id="rId50"/>
    <p:sldId id="398" r:id="rId51"/>
    <p:sldId id="306" r:id="rId52"/>
    <p:sldId id="270" r:id="rId53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8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720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444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7913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544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F99BB00C-E9AF-4B99-EA99-D78799DB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>
            <a:extLst>
              <a:ext uri="{FF2B5EF4-FFF2-40B4-BE49-F238E27FC236}">
                <a16:creationId xmlns:a16="http://schemas.microsoft.com/office/drawing/2014/main" id="{FF589DD3-5220-C3DB-8A34-33678497C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D58FB589-5FC0-C828-D275-1E9D63786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905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E0CDD30D-7A8A-E4A4-9515-BB7CBA8B9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5E5F2EA4-BFA6-CD18-D6F3-9A5054B3E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1B27A45C-C888-F8DA-82DE-E2B881403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6686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0FAF54C8-B72F-DC19-6552-C2099407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>
            <a:extLst>
              <a:ext uri="{FF2B5EF4-FFF2-40B4-BE49-F238E27FC236}">
                <a16:creationId xmlns:a16="http://schemas.microsoft.com/office/drawing/2014/main" id="{3ECCDAF8-A61E-6418-AD2D-2F29F8A6E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7914EF27-F7F8-58BE-9AE8-852029CD6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99466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8389689-369A-40B0-89CE-9B5B08AE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7B4FBAA4-41A9-6C8C-5F58-504DB3E91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245FD099-D140-588D-5020-32BF6429B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64453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394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FBBDE7C9-D487-2401-1028-B5F998EA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>
            <a:extLst>
              <a:ext uri="{FF2B5EF4-FFF2-40B4-BE49-F238E27FC236}">
                <a16:creationId xmlns:a16="http://schemas.microsoft.com/office/drawing/2014/main" id="{E84B4D14-D1DD-6A5E-5E71-2586A13FF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>
            <a:extLst>
              <a:ext uri="{FF2B5EF4-FFF2-40B4-BE49-F238E27FC236}">
                <a16:creationId xmlns:a16="http://schemas.microsoft.com/office/drawing/2014/main" id="{7E4DDD1F-8F63-FE0E-46B2-E57F195F6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553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80650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2"/>
          </p:nvPr>
        </p:nvSpPr>
        <p:spPr>
          <a:xfrm>
            <a:off x="4644440" y="1481446"/>
            <a:ext cx="40091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376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2" name="Google Shape;176;p11">
            <a:extLst>
              <a:ext uri="{FF2B5EF4-FFF2-40B4-BE49-F238E27FC236}">
                <a16:creationId xmlns:a16="http://schemas.microsoft.com/office/drawing/2014/main" id="{DDD2F4FA-CFD8-08FC-0F3B-F9949BA21418}"/>
              </a:ext>
            </a:extLst>
          </p:cNvPr>
          <p:cNvGrpSpPr/>
          <p:nvPr userDrawn="1"/>
        </p:nvGrpSpPr>
        <p:grpSpPr>
          <a:xfrm>
            <a:off x="6357873" y="129163"/>
            <a:ext cx="2626555" cy="824705"/>
            <a:chOff x="7264458" y="365740"/>
            <a:chExt cx="1553308" cy="487719"/>
          </a:xfrm>
        </p:grpSpPr>
        <p:sp>
          <p:nvSpPr>
            <p:cNvPr id="23" name="Google Shape;177;p11">
              <a:extLst>
                <a:ext uri="{FF2B5EF4-FFF2-40B4-BE49-F238E27FC236}">
                  <a16:creationId xmlns:a16="http://schemas.microsoft.com/office/drawing/2014/main" id="{D19B23DE-579C-0DB4-DFF6-90FBC453B676}"/>
                </a:ext>
              </a:extLst>
            </p:cNvPr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78;p11">
              <a:extLst>
                <a:ext uri="{FF2B5EF4-FFF2-40B4-BE49-F238E27FC236}">
                  <a16:creationId xmlns:a16="http://schemas.microsoft.com/office/drawing/2014/main" id="{38A5DCDE-4BD7-01CA-FFE6-77F17C7B8EEA}"/>
                </a:ext>
              </a:extLst>
            </p:cNvPr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79;p11">
              <a:extLst>
                <a:ext uri="{FF2B5EF4-FFF2-40B4-BE49-F238E27FC236}">
                  <a16:creationId xmlns:a16="http://schemas.microsoft.com/office/drawing/2014/main" id="{9C2B3828-7B92-071D-0EA9-5468A407C237}"/>
                </a:ext>
              </a:extLst>
            </p:cNvPr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80;p11">
              <a:extLst>
                <a:ext uri="{FF2B5EF4-FFF2-40B4-BE49-F238E27FC236}">
                  <a16:creationId xmlns:a16="http://schemas.microsoft.com/office/drawing/2014/main" id="{47430CB3-CEF4-C386-0445-9AF66A0086AC}"/>
                </a:ext>
              </a:extLst>
            </p:cNvPr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81;p11">
              <a:extLst>
                <a:ext uri="{FF2B5EF4-FFF2-40B4-BE49-F238E27FC236}">
                  <a16:creationId xmlns:a16="http://schemas.microsoft.com/office/drawing/2014/main" id="{92550410-487E-C218-1DE6-10132DB509CA}"/>
                </a:ext>
              </a:extLst>
            </p:cNvPr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82;p11">
              <a:extLst>
                <a:ext uri="{FF2B5EF4-FFF2-40B4-BE49-F238E27FC236}">
                  <a16:creationId xmlns:a16="http://schemas.microsoft.com/office/drawing/2014/main" id="{57E348D5-26B1-EB99-E05F-73D620AAEC0B}"/>
                </a:ext>
              </a:extLst>
            </p:cNvPr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83;p11">
              <a:extLst>
                <a:ext uri="{FF2B5EF4-FFF2-40B4-BE49-F238E27FC236}">
                  <a16:creationId xmlns:a16="http://schemas.microsoft.com/office/drawing/2014/main" id="{F9A72824-9570-9735-14A2-ADC2D9C5B56E}"/>
                </a:ext>
              </a:extLst>
            </p:cNvPr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84;p11">
              <a:extLst>
                <a:ext uri="{FF2B5EF4-FFF2-40B4-BE49-F238E27FC236}">
                  <a16:creationId xmlns:a16="http://schemas.microsoft.com/office/drawing/2014/main" id="{A6132E85-7F17-C1DD-7938-01ADC07717EC}"/>
                </a:ext>
              </a:extLst>
            </p:cNvPr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85;p11">
              <a:extLst>
                <a:ext uri="{FF2B5EF4-FFF2-40B4-BE49-F238E27FC236}">
                  <a16:creationId xmlns:a16="http://schemas.microsoft.com/office/drawing/2014/main" id="{7FD5DCDE-C565-B7BB-2730-DB096695CCC4}"/>
                </a:ext>
              </a:extLst>
            </p:cNvPr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86;p11">
              <a:extLst>
                <a:ext uri="{FF2B5EF4-FFF2-40B4-BE49-F238E27FC236}">
                  <a16:creationId xmlns:a16="http://schemas.microsoft.com/office/drawing/2014/main" id="{DEDC26B6-E6B5-B9C1-C35B-86EF52E46091}"/>
                </a:ext>
              </a:extLst>
            </p:cNvPr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87;p11">
              <a:extLst>
                <a:ext uri="{FF2B5EF4-FFF2-40B4-BE49-F238E27FC236}">
                  <a16:creationId xmlns:a16="http://schemas.microsoft.com/office/drawing/2014/main" id="{47F49BB3-6F6F-FC7D-6EA5-EE6BD142451F}"/>
                </a:ext>
              </a:extLst>
            </p:cNvPr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88;p11">
              <a:extLst>
                <a:ext uri="{FF2B5EF4-FFF2-40B4-BE49-F238E27FC236}">
                  <a16:creationId xmlns:a16="http://schemas.microsoft.com/office/drawing/2014/main" id="{48C4EC1F-3284-54BD-FCD7-203C3416EDD8}"/>
                </a:ext>
              </a:extLst>
            </p:cNvPr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9;p11">
              <a:extLst>
                <a:ext uri="{FF2B5EF4-FFF2-40B4-BE49-F238E27FC236}">
                  <a16:creationId xmlns:a16="http://schemas.microsoft.com/office/drawing/2014/main" id="{10BFB54E-B6BA-7591-8BB4-C33EA2F4676B}"/>
                </a:ext>
              </a:extLst>
            </p:cNvPr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90;p11">
              <a:extLst>
                <a:ext uri="{FF2B5EF4-FFF2-40B4-BE49-F238E27FC236}">
                  <a16:creationId xmlns:a16="http://schemas.microsoft.com/office/drawing/2014/main" id="{0EE20016-882F-8B35-DC61-1BA7E7CCF5DC}"/>
                </a:ext>
              </a:extLst>
            </p:cNvPr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91;p11">
              <a:extLst>
                <a:ext uri="{FF2B5EF4-FFF2-40B4-BE49-F238E27FC236}">
                  <a16:creationId xmlns:a16="http://schemas.microsoft.com/office/drawing/2014/main" id="{67228C62-CA2E-8594-C062-418C35D65C56}"/>
                </a:ext>
              </a:extLst>
            </p:cNvPr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92;p11">
              <a:extLst>
                <a:ext uri="{FF2B5EF4-FFF2-40B4-BE49-F238E27FC236}">
                  <a16:creationId xmlns:a16="http://schemas.microsoft.com/office/drawing/2014/main" id="{A5BD7804-6552-5620-3F18-14CE56045569}"/>
                </a:ext>
              </a:extLst>
            </p:cNvPr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93;p11">
              <a:extLst>
                <a:ext uri="{FF2B5EF4-FFF2-40B4-BE49-F238E27FC236}">
                  <a16:creationId xmlns:a16="http://schemas.microsoft.com/office/drawing/2014/main" id="{4FF134E0-F91E-CAF5-D7B7-9EE6ED19565D}"/>
                </a:ext>
              </a:extLst>
            </p:cNvPr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94;p11">
              <a:extLst>
                <a:ext uri="{FF2B5EF4-FFF2-40B4-BE49-F238E27FC236}">
                  <a16:creationId xmlns:a16="http://schemas.microsoft.com/office/drawing/2014/main" id="{8C31DAD5-1E35-B24F-6905-67B151403252}"/>
                </a:ext>
              </a:extLst>
            </p:cNvPr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78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Pillars of OOP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2659233"/>
          </a:xfrm>
        </p:spPr>
        <p:txBody>
          <a:bodyPr numCol="2">
            <a:normAutofit/>
          </a:bodyPr>
          <a:lstStyle/>
          <a:p>
            <a:r>
              <a:rPr lang="en-US" dirty="0"/>
              <a:t>Pillars of OOP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Object Class</a:t>
            </a:r>
          </a:p>
          <a:p>
            <a:r>
              <a:rPr lang="en-US" dirty="0"/>
              <a:t>Class Relationships</a:t>
            </a:r>
          </a:p>
          <a:p>
            <a:r>
              <a:rPr lang="en-US" dirty="0"/>
              <a:t>Encapsulation</a:t>
            </a:r>
          </a:p>
          <a:p>
            <a:r>
              <a:rPr lang="en-US" dirty="0"/>
              <a:t>Access Modifiers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Abstraction</a:t>
            </a:r>
          </a:p>
          <a:p>
            <a:r>
              <a:rPr lang="en-US" dirty="0"/>
              <a:t>Design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CBFEDB-725E-975E-473B-B9997E6A7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6BF3DC-3357-155C-0F16-BA1AA07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Pillars of OOP</a:t>
            </a:r>
          </a:p>
        </p:txBody>
      </p:sp>
    </p:spTree>
    <p:extLst>
      <p:ext uri="{BB962C8B-B14F-4D97-AF65-F5344CB8AC3E}">
        <p14:creationId xmlns:p14="http://schemas.microsoft.com/office/powerpoint/2010/main" val="202273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4 Pillars of Object-Oriented Programming</a:t>
            </a:r>
            <a:endParaRPr dirty="0"/>
          </a:p>
        </p:txBody>
      </p:sp>
      <p:sp>
        <p:nvSpPr>
          <p:cNvPr id="226" name="Google Shape;226;p17"/>
          <p:cNvSpPr txBox="1">
            <a:spLocks noGrp="1"/>
          </p:cNvSpPr>
          <p:nvPr>
            <p:ph type="body" idx="1"/>
          </p:nvPr>
        </p:nvSpPr>
        <p:spPr>
          <a:xfrm>
            <a:off x="380010" y="1313003"/>
            <a:ext cx="8383980" cy="5335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b="1" i="1" u="sng" dirty="0"/>
              <a:t>A</a:t>
            </a:r>
            <a:r>
              <a:rPr lang="en-US" b="1" i="1" dirty="0"/>
              <a:t>bstraction</a:t>
            </a:r>
            <a:r>
              <a:rPr lang="en-US" dirty="0"/>
              <a:t>: </a:t>
            </a:r>
            <a:r>
              <a:rPr lang="en-US" sz="2400" dirty="0"/>
              <a:t>The process of hiding implementation and processes of an entity to reduce complexity or increase understanding of a system’s properties.</a:t>
            </a:r>
          </a:p>
          <a:p>
            <a:pPr marL="342900" indent="-342900">
              <a:spcBef>
                <a:spcPts val="0"/>
              </a:spcBef>
            </a:pPr>
            <a:r>
              <a:rPr lang="en-US" b="1" i="1" u="sng" dirty="0"/>
              <a:t>P</a:t>
            </a:r>
            <a:r>
              <a:rPr lang="en-US" b="1" i="1" dirty="0"/>
              <a:t>olymorphism</a:t>
            </a:r>
            <a:r>
              <a:rPr lang="en-US" sz="2400" dirty="0"/>
              <a:t>: The ability for objects, classes, variables and/or methods to alter functionality while maintaining structure.</a:t>
            </a:r>
            <a:endParaRPr lang="en-US" sz="2400" b="1" i="1" u="sng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i="1" u="sng" dirty="0"/>
              <a:t>I</a:t>
            </a:r>
            <a:r>
              <a:rPr lang="en-US" b="1" i="1" dirty="0"/>
              <a:t>nheritance</a:t>
            </a:r>
            <a:r>
              <a:rPr lang="en-US" dirty="0"/>
              <a:t>: </a:t>
            </a:r>
            <a:r>
              <a:rPr lang="en-US" sz="2400" dirty="0"/>
              <a:t>The ability for entities to adopt variables (fields) and/or methods (behavior) from a parent (super) class, allowing for instantiation of child objects from said parent class.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i="1" u="sng" dirty="0"/>
              <a:t>E</a:t>
            </a:r>
            <a:r>
              <a:rPr lang="en-US" b="1" i="1" dirty="0"/>
              <a:t>ncapsulation</a:t>
            </a:r>
            <a:r>
              <a:rPr lang="en-US" dirty="0"/>
              <a:t>: </a:t>
            </a:r>
            <a:r>
              <a:rPr lang="en-US" sz="2400" dirty="0"/>
              <a:t>The act of wrapping code into a single unit and then selectively exposing and restricting access to that code based on functionality or use within classes.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800" dirty="0"/>
          </a:p>
        </p:txBody>
      </p:sp>
      <p:sp>
        <p:nvSpPr>
          <p:cNvPr id="227" name="Google Shape;227;p1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4B3F-1D7F-4C7D-61A1-75361E73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BB4602-DF8B-2588-EA26-A6A9F785CF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064062-8FD0-4605-9982-DEAAED68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384879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Inheritance and its Uses</a:t>
            </a:r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Inheritance essentially copies </a:t>
            </a:r>
            <a:r>
              <a:rPr lang="en-US" i="1" dirty="0"/>
              <a:t>visible</a:t>
            </a:r>
            <a:r>
              <a:rPr lang="en-US" dirty="0"/>
              <a:t> variables and methods from a parent class into a child class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Promotes code reuse, reduces duplication and redundancy.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Enables polymorphism and code flexibility (more on this later)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Structures classes into an understandable hierarchy.</a:t>
            </a:r>
            <a:endParaRPr dirty="0"/>
          </a:p>
        </p:txBody>
      </p:sp>
      <p:sp>
        <p:nvSpPr>
          <p:cNvPr id="227" name="Google Shape;227;p1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9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50AA-66D1-106F-0E3B-B4E7653B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52634C-F4ED-4927-BEA5-68FE39C225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8AFA0E-F35F-E998-5F86-608C8BAA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Object Class</a:t>
            </a:r>
          </a:p>
        </p:txBody>
      </p:sp>
    </p:spTree>
    <p:extLst>
      <p:ext uri="{BB962C8B-B14F-4D97-AF65-F5344CB8AC3E}">
        <p14:creationId xmlns:p14="http://schemas.microsoft.com/office/powerpoint/2010/main" val="59477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The Object Class (recap)</a:t>
            </a:r>
            <a:endParaRPr dirty="0"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Provides baseline functionality for all objects and classes.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All classes from Java implicitly inherit from the Object class. (we will cover inheritance in more detail later).</a:t>
            </a:r>
            <a:endParaRPr sz="24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Through inheritance, every class has access to the Object class’ methods.</a:t>
            </a:r>
            <a:endParaRPr sz="24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Every class can also override these methods to provide a unique implementation (This is an example of polymorphism, which is another topic will examine in more detail later)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000" dirty="0"/>
              <a:t>For some methods, this is expected.</a:t>
            </a:r>
            <a:endParaRPr sz="2000"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The Object Class (recap)</a:t>
            </a:r>
            <a:endParaRPr dirty="0"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All classes in Java implicitly inherit from the Object class. I.e., if a class does not explicitly extend another, then it implicitly extends the Object class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Every class can override these methods to provide a unique implementation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Object Class Methods (recap)</a:t>
            </a:r>
            <a:endParaRPr dirty="0"/>
          </a:p>
        </p:txBody>
      </p:sp>
      <p:sp>
        <p:nvSpPr>
          <p:cNvPr id="310" name="Google Shape;310;p29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80"/>
              <a:buChar char="•"/>
            </a:pPr>
            <a:r>
              <a:rPr lang="en-US" sz="2380" dirty="0" err="1"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-US" sz="2380" dirty="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2380" dirty="0"/>
              <a:t>: generates an integer that uniquely identifies an object from all other objects of a class. By default, typically uses the memory address of the object (JVM-specific).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Char char="•"/>
            </a:pPr>
            <a:r>
              <a:rPr lang="en-US" sz="2380" dirty="0">
                <a:latin typeface="Courier New"/>
                <a:ea typeface="Courier New"/>
                <a:cs typeface="Courier New"/>
                <a:sym typeface="Courier New"/>
              </a:rPr>
              <a:t>equals() </a:t>
            </a:r>
            <a:r>
              <a:rPr lang="en-US" sz="2380" dirty="0"/>
              <a:t>: determines if two objects are </a:t>
            </a:r>
            <a:r>
              <a:rPr lang="en-US" sz="2380" i="1" dirty="0"/>
              <a:t>equivalent</a:t>
            </a:r>
            <a:r>
              <a:rPr lang="en-US" sz="2380" dirty="0"/>
              <a:t>, i.e. whether or not they have the same values in every variable. Uses the result of </a:t>
            </a:r>
            <a:r>
              <a:rPr lang="en-US" sz="2380" dirty="0" err="1"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-US" sz="2380" dirty="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2380" dirty="0"/>
              <a:t>by default.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Char char="•"/>
            </a:pPr>
            <a:r>
              <a:rPr lang="en-US" sz="2380" dirty="0" err="1"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en-US" sz="2380" dirty="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2380" dirty="0"/>
              <a:t>: returns a String representation of the object. By default, prints the class name and the memory address of the object.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SzPts val="2380"/>
              <a:buChar char="•"/>
            </a:pPr>
            <a:r>
              <a:rPr lang="en-US" sz="238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finalize() </a:t>
            </a:r>
            <a:r>
              <a:rPr lang="en-US" sz="2380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: called by the garbage collector when there are no more references to the object, just before the instance is destroyed.</a:t>
            </a:r>
            <a:endParaRPr dirty="0"/>
          </a:p>
        </p:txBody>
      </p:sp>
      <p:sp>
        <p:nvSpPr>
          <p:cNvPr id="311" name="Google Shape;311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1654-E145-83DC-BF52-4911A541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66FFE7-B277-2E57-9D94-CC02E4D07C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A86944-23E2-0346-C87B-E3764813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Class Relationships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0805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Relationships</a:t>
            </a:r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505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lvl="0" indent="-342720" algn="l" rtl="0">
              <a:spcBef>
                <a:spcPts val="0"/>
              </a:spcBef>
              <a:spcAft>
                <a:spcPts val="0"/>
              </a:spcAft>
              <a:buClr>
                <a:srgbClr val="F36A25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OOP seeks to, whenever possible, eliminate redundant/repetitive code and promote re-use</a:t>
            </a:r>
            <a:endParaRPr dirty="0"/>
          </a:p>
          <a:p>
            <a:pPr marL="343080" lvl="0" indent="-342720" algn="l" rtl="0">
              <a:spcBef>
                <a:spcPts val="560"/>
              </a:spcBef>
              <a:spcAft>
                <a:spcPts val="0"/>
              </a:spcAft>
              <a:buClr>
                <a:srgbClr val="F36A25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To this end, a class can… </a:t>
            </a:r>
            <a:endParaRPr dirty="0"/>
          </a:p>
          <a:p>
            <a:pPr marL="743040" lvl="1" indent="-285480" algn="l" rtl="0">
              <a:spcBef>
                <a:spcPts val="480"/>
              </a:spcBef>
              <a:spcAft>
                <a:spcPts val="0"/>
              </a:spcAft>
              <a:buClr>
                <a:srgbClr val="F36A25"/>
              </a:buClr>
              <a:buSzPts val="2400"/>
              <a:buFont typeface="Arial"/>
              <a:buChar char="–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“inherit” states and behaviors from another</a:t>
            </a:r>
            <a:endParaRPr sz="2000" dirty="0">
              <a:solidFill>
                <a:srgbClr val="474C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240" algn="l" rtl="0">
              <a:spcBef>
                <a:spcPts val="400"/>
              </a:spcBef>
              <a:spcAft>
                <a:spcPts val="0"/>
              </a:spcAft>
              <a:buClr>
                <a:srgbClr val="F36A25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“Is-A(n)” relationship</a:t>
            </a:r>
            <a:endParaRPr sz="1800" dirty="0">
              <a:solidFill>
                <a:srgbClr val="474C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3040" lvl="1" indent="-285480" algn="l" rtl="0">
              <a:spcBef>
                <a:spcPts val="480"/>
              </a:spcBef>
              <a:spcAft>
                <a:spcPts val="0"/>
              </a:spcAft>
              <a:buClr>
                <a:srgbClr val="F36A25"/>
              </a:buClr>
              <a:buSzPts val="2400"/>
              <a:buFont typeface="Arial"/>
              <a:buChar char="–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create/contain an instance of another</a:t>
            </a:r>
            <a:endParaRPr sz="2000" dirty="0">
              <a:solidFill>
                <a:srgbClr val="474C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240" algn="l" rtl="0">
              <a:spcBef>
                <a:spcPts val="400"/>
              </a:spcBef>
              <a:spcAft>
                <a:spcPts val="0"/>
              </a:spcAft>
              <a:buClr>
                <a:srgbClr val="F36A25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“Has-A(n)” relationship, “Composition”</a:t>
            </a:r>
            <a:endParaRPr sz="1800" dirty="0">
              <a:solidFill>
                <a:srgbClr val="474C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2720" algn="l" rtl="0">
              <a:spcBef>
                <a:spcPts val="560"/>
              </a:spcBef>
              <a:spcAft>
                <a:spcPts val="0"/>
              </a:spcAft>
              <a:buClr>
                <a:srgbClr val="F36A25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Classes inherit, not </a:t>
            </a:r>
            <a:r>
              <a:rPr lang="en-US" dirty="0">
                <a:solidFill>
                  <a:srgbClr val="474C55"/>
                </a:solidFill>
              </a:rPr>
              <a:t>the </a:t>
            </a: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objects themselves</a:t>
            </a:r>
            <a:r>
              <a:rPr lang="en-US" dirty="0">
                <a:solidFill>
                  <a:srgbClr val="474C55"/>
                </a:solidFill>
              </a:rPr>
              <a:t>-</a:t>
            </a: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800280" lvl="1" indent="-342720">
              <a:spcBef>
                <a:spcPts val="560"/>
              </a:spcBef>
              <a:buClr>
                <a:srgbClr val="F36A25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rPr>
              <a:t>states are inherited, not their specific values.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276" name="Google Shape;276;p2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Is-A vs Has-A Relationships</a:t>
            </a:r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Composition is when a class internally creates an instance of another class. 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MyClass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br>
              <a:rPr lang="en-US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Example composition = new Example();</a:t>
            </a:r>
            <a:br>
              <a:rPr lang="en-US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This is a has-a(n) relationship. </a:t>
            </a:r>
            <a:r>
              <a:rPr lang="en-US" dirty="0" err="1"/>
              <a:t>MyClass</a:t>
            </a:r>
            <a:r>
              <a:rPr lang="en-US" dirty="0"/>
              <a:t> is </a:t>
            </a:r>
            <a:r>
              <a:rPr lang="en-US" i="1" dirty="0"/>
              <a:t>composed </a:t>
            </a:r>
            <a:r>
              <a:rPr lang="en-US" dirty="0"/>
              <a:t>of an Example object.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i="1" dirty="0"/>
              <a:t>has-an </a:t>
            </a:r>
            <a:r>
              <a:rPr lang="en-US" dirty="0"/>
              <a:t>Example object.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Inheritance (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-US" dirty="0"/>
              <a:t> or 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-US" dirty="0"/>
              <a:t> keywords) creates an is-a(n) relationship.</a:t>
            </a:r>
            <a:endParaRPr dirty="0"/>
          </a:p>
        </p:txBody>
      </p:sp>
      <p:sp>
        <p:nvSpPr>
          <p:cNvPr id="220" name="Google Shape;220;p16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4336-04E2-4AFC-9897-D83DADB5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HAS-A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8C110-A0A2-4B3F-BAB0-293E9AFF61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D4E31841-2599-477F-83E9-72F767300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010" y="1471901"/>
            <a:ext cx="8385175" cy="4697989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182880" lvl="1" indent="0" defTabSz="457200">
              <a:lnSpc>
                <a:spcPct val="150000"/>
              </a:lnSpc>
              <a:buNone/>
            </a:pPr>
            <a:r>
              <a:rPr lang="en-US" sz="1600" dirty="0"/>
              <a:t>public class Collar {</a:t>
            </a:r>
          </a:p>
          <a:p>
            <a:pPr marL="182880" lvl="1" indent="0" defTabSz="457200">
              <a:lnSpc>
                <a:spcPct val="90000"/>
              </a:lnSpc>
              <a:buNone/>
            </a:pPr>
            <a:r>
              <a:rPr lang="en-US" sz="1600" dirty="0"/>
              <a:t>	String color = “orange”;</a:t>
            </a:r>
          </a:p>
          <a:p>
            <a:pPr marL="182880" lvl="1" indent="0" defTabSz="457200">
              <a:lnSpc>
                <a:spcPct val="150000"/>
              </a:lnSpc>
              <a:buNone/>
            </a:pPr>
            <a:r>
              <a:rPr lang="en-US" sz="1600" dirty="0"/>
              <a:t>}</a:t>
            </a:r>
          </a:p>
          <a:p>
            <a:pPr marL="182880" lvl="1" indent="0" algn="l" defTabSz="4572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public class Dog {</a:t>
            </a:r>
          </a:p>
          <a:p>
            <a:pPr marL="182880" lvl="1" indent="0" algn="l" defTabSz="4572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	//instance variable- state of a Dog object </a:t>
            </a:r>
          </a:p>
          <a:p>
            <a:pPr marL="182880" lvl="1" indent="0" algn="l" defTabSz="4572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	public double size = 6.5; </a:t>
            </a:r>
          </a:p>
          <a:p>
            <a:pPr marL="182880" lvl="1" indent="0" algn="l" defTabSz="4572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	public Collar </a:t>
            </a:r>
            <a:r>
              <a:rPr lang="en-US" sz="1600" dirty="0" err="1"/>
              <a:t>collar</a:t>
            </a:r>
            <a:r>
              <a:rPr lang="en-US" sz="1600" dirty="0"/>
              <a:t> = new Collar();</a:t>
            </a:r>
          </a:p>
          <a:p>
            <a:pPr marL="182880" lvl="1" indent="0" algn="l" defTabSz="457200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600" dirty="0"/>
              <a:t>}</a:t>
            </a:r>
          </a:p>
          <a:p>
            <a:pPr marL="182880" lvl="1" indent="0" defTabSz="457200">
              <a:lnSpc>
                <a:spcPct val="150000"/>
              </a:lnSpc>
              <a:buNone/>
            </a:pPr>
            <a:r>
              <a:rPr lang="en-US" sz="1600" dirty="0"/>
              <a:t>public class </a:t>
            </a:r>
            <a:r>
              <a:rPr lang="en-US" sz="1600" dirty="0" err="1"/>
              <a:t>ProgramExecution</a:t>
            </a:r>
            <a:r>
              <a:rPr lang="en-US" sz="1600" dirty="0"/>
              <a:t> {</a:t>
            </a:r>
          </a:p>
          <a:p>
            <a:pPr marL="182880" lvl="1" indent="0" defTabSz="457200">
              <a:lnSpc>
                <a:spcPct val="90000"/>
              </a:lnSpc>
              <a:buNone/>
            </a:pPr>
            <a:r>
              <a:rPr lang="en-US" sz="1600" dirty="0"/>
              <a:t>	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){</a:t>
            </a:r>
          </a:p>
          <a:p>
            <a:pPr marL="182880" lvl="1" indent="0" defTabSz="457200">
              <a:lnSpc>
                <a:spcPct val="90000"/>
              </a:lnSpc>
              <a:buNone/>
            </a:pPr>
            <a:r>
              <a:rPr lang="en-US" sz="1600" dirty="0"/>
              <a:t>		Dog </a:t>
            </a:r>
            <a:r>
              <a:rPr lang="en-US" sz="1600" dirty="0" err="1"/>
              <a:t>dog</a:t>
            </a:r>
            <a:r>
              <a:rPr lang="en-US" sz="1600" dirty="0"/>
              <a:t> = new Dog();</a:t>
            </a:r>
          </a:p>
          <a:p>
            <a:pPr marL="182880" lvl="1" indent="0" defTabSz="457200">
              <a:lnSpc>
                <a:spcPct val="90000"/>
              </a:lnSpc>
              <a:buNone/>
            </a:pPr>
            <a:r>
              <a:rPr lang="en-US" sz="1600" dirty="0"/>
              <a:t>	}</a:t>
            </a:r>
          </a:p>
          <a:p>
            <a:pPr marL="182880" lvl="1" indent="0" defTabSz="457200">
              <a:lnSpc>
                <a:spcPct val="90000"/>
              </a:lnSpc>
              <a:buNone/>
            </a:pPr>
            <a:r>
              <a:rPr lang="en-US" sz="1600" dirty="0"/>
              <a:t>}</a:t>
            </a:r>
          </a:p>
          <a:p>
            <a:pPr marL="182880" lvl="1" indent="0" algn="l" defTabSz="457200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lang="en-US"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F3C109-A128-4C03-90F0-6594C4F4C466}"/>
              </a:ext>
            </a:extLst>
          </p:cNvPr>
          <p:cNvGrpSpPr/>
          <p:nvPr/>
        </p:nvGrpSpPr>
        <p:grpSpPr>
          <a:xfrm>
            <a:off x="3500582" y="3109908"/>
            <a:ext cx="2555782" cy="2113290"/>
            <a:chOff x="3500582" y="3109908"/>
            <a:chExt cx="2555782" cy="211329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B9B8BE-3DCA-48C5-9039-513E1669BB2A}"/>
                </a:ext>
              </a:extLst>
            </p:cNvPr>
            <p:cNvSpPr/>
            <p:nvPr/>
          </p:nvSpPr>
          <p:spPr>
            <a:xfrm>
              <a:off x="3500582" y="3109908"/>
              <a:ext cx="2507964" cy="2113290"/>
            </a:xfrm>
            <a:custGeom>
              <a:avLst/>
              <a:gdLst>
                <a:gd name="connsiteX0" fmla="*/ 0 w 2507964"/>
                <a:gd name="connsiteY0" fmla="*/ 2016274 h 2113290"/>
                <a:gd name="connsiteX1" fmla="*/ 1182254 w 2507964"/>
                <a:gd name="connsiteY1" fmla="*/ 1905437 h 2113290"/>
                <a:gd name="connsiteX2" fmla="*/ 1570182 w 2507964"/>
                <a:gd name="connsiteY2" fmla="*/ 169001 h 2113290"/>
                <a:gd name="connsiteX3" fmla="*/ 2419927 w 2507964"/>
                <a:gd name="connsiteY3" fmla="*/ 58165 h 2113290"/>
                <a:gd name="connsiteX4" fmla="*/ 2438400 w 2507964"/>
                <a:gd name="connsiteY4" fmla="*/ 95110 h 211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7964" h="2113290">
                  <a:moveTo>
                    <a:pt x="0" y="2016274"/>
                  </a:moveTo>
                  <a:cubicBezTo>
                    <a:pt x="460278" y="2114795"/>
                    <a:pt x="920557" y="2213316"/>
                    <a:pt x="1182254" y="1905437"/>
                  </a:cubicBezTo>
                  <a:cubicBezTo>
                    <a:pt x="1443951" y="1597558"/>
                    <a:pt x="1363903" y="476880"/>
                    <a:pt x="1570182" y="169001"/>
                  </a:cubicBezTo>
                  <a:cubicBezTo>
                    <a:pt x="1776461" y="-138878"/>
                    <a:pt x="2275224" y="70480"/>
                    <a:pt x="2419927" y="58165"/>
                  </a:cubicBezTo>
                  <a:cubicBezTo>
                    <a:pt x="2564630" y="45850"/>
                    <a:pt x="2501515" y="70480"/>
                    <a:pt x="2438400" y="9511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0DC4C1-08FB-4D95-8CF2-0BF7945AD470}"/>
                </a:ext>
              </a:extLst>
            </p:cNvPr>
            <p:cNvSpPr/>
            <p:nvPr/>
          </p:nvSpPr>
          <p:spPr>
            <a:xfrm rot="12941897">
              <a:off x="5960727" y="3124752"/>
              <a:ext cx="95637" cy="139002"/>
            </a:xfrm>
            <a:custGeom>
              <a:avLst/>
              <a:gdLst>
                <a:gd name="connsiteX0" fmla="*/ 94376 w 98520"/>
                <a:gd name="connsiteY0" fmla="*/ 2281 h 106111"/>
                <a:gd name="connsiteX1" fmla="*/ 108 w 98520"/>
                <a:gd name="connsiteY1" fmla="*/ 39988 h 106111"/>
                <a:gd name="connsiteX2" fmla="*/ 75522 w 98520"/>
                <a:gd name="connsiteY2" fmla="*/ 105975 h 106111"/>
                <a:gd name="connsiteX3" fmla="*/ 94376 w 98520"/>
                <a:gd name="connsiteY3" fmla="*/ 2281 h 10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520" h="106111">
                  <a:moveTo>
                    <a:pt x="94376" y="2281"/>
                  </a:moveTo>
                  <a:cubicBezTo>
                    <a:pt x="81807" y="-8717"/>
                    <a:pt x="3250" y="22706"/>
                    <a:pt x="108" y="39988"/>
                  </a:cubicBezTo>
                  <a:cubicBezTo>
                    <a:pt x="-3034" y="57270"/>
                    <a:pt x="62953" y="109117"/>
                    <a:pt x="75522" y="105975"/>
                  </a:cubicBezTo>
                  <a:cubicBezTo>
                    <a:pt x="88091" y="102833"/>
                    <a:pt x="106945" y="13279"/>
                    <a:pt x="94376" y="2281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Graphic 12" descr="Dog">
            <a:extLst>
              <a:ext uri="{FF2B5EF4-FFF2-40B4-BE49-F238E27FC236}">
                <a16:creationId xmlns:a16="http://schemas.microsoft.com/office/drawing/2014/main" id="{98B53EDA-ACE9-4A8D-AFF3-FCD0BC005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7934" y="2764632"/>
            <a:ext cx="1898369" cy="189836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306A9FB-FF7A-4E7D-84CE-3D549583119F}"/>
              </a:ext>
            </a:extLst>
          </p:cNvPr>
          <p:cNvSpPr/>
          <p:nvPr/>
        </p:nvSpPr>
        <p:spPr>
          <a:xfrm>
            <a:off x="7303439" y="3359727"/>
            <a:ext cx="316561" cy="168564"/>
          </a:xfrm>
          <a:custGeom>
            <a:avLst/>
            <a:gdLst>
              <a:gd name="connsiteX0" fmla="*/ 0 w 277091"/>
              <a:gd name="connsiteY0" fmla="*/ 0 h 138546"/>
              <a:gd name="connsiteX1" fmla="*/ 277091 w 277091"/>
              <a:gd name="connsiteY1" fmla="*/ 138546 h 13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7091" h="138546">
                <a:moveTo>
                  <a:pt x="0" y="0"/>
                </a:moveTo>
                <a:lnTo>
                  <a:pt x="277091" y="138546"/>
                </a:lnTo>
              </a:path>
            </a:pathLst>
          </a:cu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6C66DC-C5C3-41AE-8945-0B4B304CFADA}"/>
              </a:ext>
            </a:extLst>
          </p:cNvPr>
          <p:cNvSpPr/>
          <p:nvPr/>
        </p:nvSpPr>
        <p:spPr>
          <a:xfrm>
            <a:off x="840509" y="3528291"/>
            <a:ext cx="3214255" cy="277091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9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A749-6AAD-4AA2-A705-C59E4692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IS-A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BC598-91D3-474B-9E14-950225DC2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A184B-03CF-4E8C-A33F-EB7CD79E7D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Google Shape;219;p16">
            <a:extLst>
              <a:ext uri="{FF2B5EF4-FFF2-40B4-BE49-F238E27FC236}">
                <a16:creationId xmlns:a16="http://schemas.microsoft.com/office/drawing/2014/main" id="{D8C1425F-AC4E-4AE9-BA0B-320DBDEF6B57}"/>
              </a:ext>
            </a:extLst>
          </p:cNvPr>
          <p:cNvSpPr txBox="1">
            <a:spLocks/>
          </p:cNvSpPr>
          <p:nvPr/>
        </p:nvSpPr>
        <p:spPr>
          <a:xfrm>
            <a:off x="380010" y="1481446"/>
            <a:ext cx="8385175" cy="4697989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txBody>
          <a:bodyPr spcFirstLastPara="1" wrap="square" lIns="91425" tIns="45700" rIns="91425" bIns="45700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150000"/>
              </a:lnSpc>
              <a:buFont typeface="Arial"/>
              <a:buNone/>
            </a:pPr>
            <a:r>
              <a:rPr lang="en-US" sz="1600" dirty="0"/>
              <a:t>public class Animal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String name = “Spot”;</a:t>
            </a:r>
          </a:p>
          <a:p>
            <a:pPr marL="182880" lvl="1" indent="0" defTabSz="457200">
              <a:lnSpc>
                <a:spcPct val="150000"/>
              </a:lnSpc>
              <a:buFont typeface="Arial"/>
              <a:buNone/>
            </a:pPr>
            <a:r>
              <a:rPr lang="en-US" sz="1600" dirty="0"/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public class Dog </a:t>
            </a:r>
            <a:r>
              <a:rPr lang="en-US" sz="1600" dirty="0">
                <a:solidFill>
                  <a:schemeClr val="accent1"/>
                </a:solidFill>
              </a:rPr>
              <a:t>extends Animal </a:t>
            </a:r>
            <a:r>
              <a:rPr lang="en-US" sz="1600" dirty="0"/>
              <a:t>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//instance variable- state of a Dog object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public double size = 6.5;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public Collar </a:t>
            </a:r>
            <a:r>
              <a:rPr lang="en-US" sz="1600" dirty="0" err="1"/>
              <a:t>collar</a:t>
            </a:r>
            <a:r>
              <a:rPr lang="en-US" sz="1600" dirty="0"/>
              <a:t> = new Collar();</a:t>
            </a:r>
          </a:p>
          <a:p>
            <a:pPr marL="182880" lvl="1" indent="0" defTabSz="457200">
              <a:lnSpc>
                <a:spcPct val="150000"/>
              </a:lnSpc>
              <a:buFont typeface="Arial"/>
              <a:buNone/>
            </a:pPr>
            <a:r>
              <a:rPr lang="en-US" sz="1600" dirty="0"/>
              <a:t>}</a:t>
            </a:r>
          </a:p>
          <a:p>
            <a:pPr marL="182880" lvl="1" indent="0" defTabSz="457200">
              <a:lnSpc>
                <a:spcPct val="150000"/>
              </a:lnSpc>
              <a:buFont typeface="Arial"/>
              <a:buNone/>
            </a:pPr>
            <a:r>
              <a:rPr lang="en-US" sz="1600" dirty="0"/>
              <a:t>public class </a:t>
            </a:r>
            <a:r>
              <a:rPr lang="en-US" sz="1600" dirty="0" err="1"/>
              <a:t>ProgramExecution</a:t>
            </a:r>
            <a:r>
              <a:rPr lang="en-US" sz="1600" dirty="0"/>
              <a:t>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	Animal dog = new Dog();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	Dog dog2 = new Dog();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	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600" dirty="0"/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20376E9-BC2C-4C67-B7E3-695A38E5D2DD}"/>
              </a:ext>
            </a:extLst>
          </p:cNvPr>
          <p:cNvGrpSpPr/>
          <p:nvPr/>
        </p:nvGrpSpPr>
        <p:grpSpPr>
          <a:xfrm>
            <a:off x="3731489" y="1950721"/>
            <a:ext cx="2455444" cy="3244768"/>
            <a:chOff x="3500582" y="3109908"/>
            <a:chExt cx="2564653" cy="211329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85D4C-42AA-4CDD-82B1-D2D506D36E69}"/>
                </a:ext>
              </a:extLst>
            </p:cNvPr>
            <p:cNvSpPr/>
            <p:nvPr/>
          </p:nvSpPr>
          <p:spPr>
            <a:xfrm>
              <a:off x="3500582" y="3109908"/>
              <a:ext cx="2507964" cy="2113290"/>
            </a:xfrm>
            <a:custGeom>
              <a:avLst/>
              <a:gdLst>
                <a:gd name="connsiteX0" fmla="*/ 0 w 2507964"/>
                <a:gd name="connsiteY0" fmla="*/ 2016274 h 2113290"/>
                <a:gd name="connsiteX1" fmla="*/ 1182254 w 2507964"/>
                <a:gd name="connsiteY1" fmla="*/ 1905437 h 2113290"/>
                <a:gd name="connsiteX2" fmla="*/ 1570182 w 2507964"/>
                <a:gd name="connsiteY2" fmla="*/ 169001 h 2113290"/>
                <a:gd name="connsiteX3" fmla="*/ 2419927 w 2507964"/>
                <a:gd name="connsiteY3" fmla="*/ 58165 h 2113290"/>
                <a:gd name="connsiteX4" fmla="*/ 2438400 w 2507964"/>
                <a:gd name="connsiteY4" fmla="*/ 95110 h 211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7964" h="2113290">
                  <a:moveTo>
                    <a:pt x="0" y="2016274"/>
                  </a:moveTo>
                  <a:cubicBezTo>
                    <a:pt x="460278" y="2114795"/>
                    <a:pt x="920557" y="2213316"/>
                    <a:pt x="1182254" y="1905437"/>
                  </a:cubicBezTo>
                  <a:cubicBezTo>
                    <a:pt x="1443951" y="1597558"/>
                    <a:pt x="1363903" y="476880"/>
                    <a:pt x="1570182" y="169001"/>
                  </a:cubicBezTo>
                  <a:cubicBezTo>
                    <a:pt x="1776461" y="-138878"/>
                    <a:pt x="2275224" y="70480"/>
                    <a:pt x="2419927" y="58165"/>
                  </a:cubicBezTo>
                  <a:cubicBezTo>
                    <a:pt x="2564630" y="45850"/>
                    <a:pt x="2501515" y="70480"/>
                    <a:pt x="2438400" y="9511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C67E1FF-702D-4770-AC72-81210FB21310}"/>
                </a:ext>
              </a:extLst>
            </p:cNvPr>
            <p:cNvSpPr/>
            <p:nvPr/>
          </p:nvSpPr>
          <p:spPr>
            <a:xfrm rot="12941897">
              <a:off x="5948194" y="3149016"/>
              <a:ext cx="117041" cy="97658"/>
            </a:xfrm>
            <a:custGeom>
              <a:avLst/>
              <a:gdLst>
                <a:gd name="connsiteX0" fmla="*/ 94376 w 98520"/>
                <a:gd name="connsiteY0" fmla="*/ 2281 h 106111"/>
                <a:gd name="connsiteX1" fmla="*/ 108 w 98520"/>
                <a:gd name="connsiteY1" fmla="*/ 39988 h 106111"/>
                <a:gd name="connsiteX2" fmla="*/ 75522 w 98520"/>
                <a:gd name="connsiteY2" fmla="*/ 105975 h 106111"/>
                <a:gd name="connsiteX3" fmla="*/ 94376 w 98520"/>
                <a:gd name="connsiteY3" fmla="*/ 2281 h 10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520" h="106111">
                  <a:moveTo>
                    <a:pt x="94376" y="2281"/>
                  </a:moveTo>
                  <a:cubicBezTo>
                    <a:pt x="81807" y="-8717"/>
                    <a:pt x="3250" y="22706"/>
                    <a:pt x="108" y="39988"/>
                  </a:cubicBezTo>
                  <a:cubicBezTo>
                    <a:pt x="-3034" y="57270"/>
                    <a:pt x="62953" y="109117"/>
                    <a:pt x="75522" y="105975"/>
                  </a:cubicBezTo>
                  <a:cubicBezTo>
                    <a:pt x="88091" y="102833"/>
                    <a:pt x="106945" y="13279"/>
                    <a:pt x="94376" y="2281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Graphic 10" descr="Dog">
            <a:extLst>
              <a:ext uri="{FF2B5EF4-FFF2-40B4-BE49-F238E27FC236}">
                <a16:creationId xmlns:a16="http://schemas.microsoft.com/office/drawing/2014/main" id="{E60A679F-9A2A-4186-85B9-1D6F877AF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7142" y="1636335"/>
            <a:ext cx="1898369" cy="189836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FC575C-4F70-4B79-9EBA-1A734F72B1EB}"/>
              </a:ext>
            </a:extLst>
          </p:cNvPr>
          <p:cNvSpPr/>
          <p:nvPr/>
        </p:nvSpPr>
        <p:spPr>
          <a:xfrm>
            <a:off x="7736610" y="2179320"/>
            <a:ext cx="325350" cy="228599"/>
          </a:xfrm>
          <a:custGeom>
            <a:avLst/>
            <a:gdLst>
              <a:gd name="connsiteX0" fmla="*/ 0 w 277091"/>
              <a:gd name="connsiteY0" fmla="*/ 0 h 138546"/>
              <a:gd name="connsiteX1" fmla="*/ 277091 w 277091"/>
              <a:gd name="connsiteY1" fmla="*/ 138546 h 13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7091" h="138546">
                <a:moveTo>
                  <a:pt x="0" y="0"/>
                </a:moveTo>
                <a:lnTo>
                  <a:pt x="277091" y="138546"/>
                </a:lnTo>
              </a:path>
            </a:pathLst>
          </a:cu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Graphic 18" descr="Dog">
            <a:extLst>
              <a:ext uri="{FF2B5EF4-FFF2-40B4-BE49-F238E27FC236}">
                <a16:creationId xmlns:a16="http://schemas.microsoft.com/office/drawing/2014/main" id="{55CF0F41-B3FE-4C01-B97D-249AF5BD6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8993" y="3960741"/>
            <a:ext cx="1898369" cy="1898369"/>
          </a:xfrm>
          <a:prstGeom prst="rect">
            <a:avLst/>
          </a:prstGeom>
        </p:spPr>
      </p:pic>
      <p:sp>
        <p:nvSpPr>
          <p:cNvPr id="18" name="Cloud 17">
            <a:extLst>
              <a:ext uri="{FF2B5EF4-FFF2-40B4-BE49-F238E27FC236}">
                <a16:creationId xmlns:a16="http://schemas.microsoft.com/office/drawing/2014/main" id="{63230A2C-44CC-4E2B-A411-A57A2FE8184B}"/>
              </a:ext>
            </a:extLst>
          </p:cNvPr>
          <p:cNvSpPr/>
          <p:nvPr/>
        </p:nvSpPr>
        <p:spPr>
          <a:xfrm>
            <a:off x="6250348" y="4075511"/>
            <a:ext cx="2245952" cy="1963557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size =6.5</a:t>
            </a: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name =“Spot”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F59D507-91D5-4805-8A55-498BEE753C34}"/>
              </a:ext>
            </a:extLst>
          </p:cNvPr>
          <p:cNvSpPr/>
          <p:nvPr/>
        </p:nvSpPr>
        <p:spPr>
          <a:xfrm>
            <a:off x="7616878" y="4555836"/>
            <a:ext cx="316561" cy="168564"/>
          </a:xfrm>
          <a:custGeom>
            <a:avLst/>
            <a:gdLst>
              <a:gd name="connsiteX0" fmla="*/ 0 w 277091"/>
              <a:gd name="connsiteY0" fmla="*/ 0 h 138546"/>
              <a:gd name="connsiteX1" fmla="*/ 277091 w 277091"/>
              <a:gd name="connsiteY1" fmla="*/ 138546 h 13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7091" h="138546">
                <a:moveTo>
                  <a:pt x="0" y="0"/>
                </a:moveTo>
                <a:lnTo>
                  <a:pt x="277091" y="138546"/>
                </a:lnTo>
              </a:path>
            </a:pathLst>
          </a:cu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F67BD0-00A9-44F2-A092-DF4397A721D2}"/>
              </a:ext>
            </a:extLst>
          </p:cNvPr>
          <p:cNvCxnSpPr>
            <a:cxnSpLocks/>
          </p:cNvCxnSpPr>
          <p:nvPr/>
        </p:nvCxnSpPr>
        <p:spPr>
          <a:xfrm flipV="1">
            <a:off x="3558540" y="5059680"/>
            <a:ext cx="2661515" cy="38100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loud 24">
            <a:extLst>
              <a:ext uri="{FF2B5EF4-FFF2-40B4-BE49-F238E27FC236}">
                <a16:creationId xmlns:a16="http://schemas.microsoft.com/office/drawing/2014/main" id="{BAB245A7-6C07-4681-95D1-0C3390D8E7F8}"/>
              </a:ext>
            </a:extLst>
          </p:cNvPr>
          <p:cNvSpPr/>
          <p:nvPr/>
        </p:nvSpPr>
        <p:spPr>
          <a:xfrm>
            <a:off x="6220054" y="1455849"/>
            <a:ext cx="2543935" cy="2504892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2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  <a:latin typeface="Segoe Print" panose="02000600000000000000" pitchFamily="2" charset="0"/>
              </a:rPr>
              <a:t>size =6.5</a:t>
            </a: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name =“Spot”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AAA87D6-BE41-4BFA-BE9C-205F91562862}"/>
              </a:ext>
            </a:extLst>
          </p:cNvPr>
          <p:cNvGrpSpPr/>
          <p:nvPr/>
        </p:nvGrpSpPr>
        <p:grpSpPr>
          <a:xfrm>
            <a:off x="3261824" y="1537099"/>
            <a:ext cx="1701727" cy="1097282"/>
            <a:chOff x="3261824" y="1537099"/>
            <a:chExt cx="1701727" cy="1097282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3239B21C-D3BC-4C08-BA21-0EE8CD4184C3}"/>
                </a:ext>
              </a:extLst>
            </p:cNvPr>
            <p:cNvSpPr/>
            <p:nvPr/>
          </p:nvSpPr>
          <p:spPr>
            <a:xfrm>
              <a:off x="3768280" y="1537099"/>
              <a:ext cx="1195271" cy="1097282"/>
            </a:xfrm>
            <a:prstGeom prst="cloud">
              <a:avLst/>
            </a:prstGeom>
            <a:solidFill>
              <a:schemeClr val="accent1">
                <a:alpha val="5000"/>
              </a:schemeClr>
            </a:solidFill>
            <a:ln w="180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Segoe Print" panose="02000600000000000000" pitchFamily="2" charset="0"/>
                </a:rPr>
                <a:t>Animal </a:t>
              </a:r>
            </a:p>
            <a:p>
              <a:pPr algn="ctr"/>
              <a:r>
                <a:rPr lang="en-US" dirty="0">
                  <a:solidFill>
                    <a:schemeClr val="accent1"/>
                  </a:solidFill>
                  <a:latin typeface="Segoe Print" panose="02000600000000000000" pitchFamily="2" charset="0"/>
                </a:rPr>
                <a:t>objects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6EF019-1232-4F58-9098-262B28FE3A03}"/>
                </a:ext>
              </a:extLst>
            </p:cNvPr>
            <p:cNvSpPr txBox="1"/>
            <p:nvPr/>
          </p:nvSpPr>
          <p:spPr>
            <a:xfrm>
              <a:off x="3261824" y="1597578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Segoe Print" panose="02000600000000000000" pitchFamily="2" charset="0"/>
                </a:rPr>
                <a:t>Key: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216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16" grpId="0" animBg="1"/>
      <p:bldP spid="18" grpId="0" animBg="1"/>
      <p:bldP spid="20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Relationships Define Structure</a:t>
            </a: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When organizing your code into classes, consider the relationship between the different parts. Those relationships will inform the structure of the classes themselves.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If you’re simulating a car…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Should the engine extend car, or should the car class contain an engine instance?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Do the different car parts have common functions or properties that can be abstracted out? I.e. can those commonalities be moved into an abstract superclass or interface that they each inherit?</a:t>
            </a:r>
            <a:endParaRPr dirty="0"/>
          </a:p>
        </p:txBody>
      </p:sp>
      <p:sp>
        <p:nvSpPr>
          <p:cNvPr id="241" name="Google Shape;241;p1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EC38-7ACF-42D7-900C-29D3ED36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6CD03-02F1-42B1-9BF5-8E4B12DF1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A superclass essentially guarantees that all subclasses will have certain behaviors – those that are defined in the super class</a:t>
            </a:r>
          </a:p>
          <a:p>
            <a:pPr marL="50800" indent="0">
              <a:buNone/>
            </a:pPr>
            <a:endParaRPr lang="en-US" dirty="0"/>
          </a:p>
          <a:p>
            <a:r>
              <a:rPr lang="en-US" dirty="0"/>
              <a:t>Therefore, it defines a contract between extending classes and all other classes.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28ED9-3E51-4BE2-9A88-DC6D395D9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8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926C-B2BA-4882-AE85-59E219A5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B43B0-C07B-4C4A-B7A9-33E1DDC2B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9B2FA589-335A-477D-AA6C-F5C7C28BEAA5}"/>
              </a:ext>
            </a:extLst>
          </p:cNvPr>
          <p:cNvSpPr/>
          <p:nvPr/>
        </p:nvSpPr>
        <p:spPr>
          <a:xfrm>
            <a:off x="2403026" y="1257301"/>
            <a:ext cx="4016628" cy="2157952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Animal </a:t>
            </a:r>
          </a:p>
          <a:p>
            <a:pPr algn="ctr"/>
            <a:endParaRPr lang="en-US" dirty="0">
              <a:solidFill>
                <a:schemeClr val="accent1"/>
              </a:solidFill>
              <a:latin typeface="Segoe Print" panose="02000600000000000000" pitchFamily="2" charset="0"/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name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type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eat()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D1C99CE5-C1CE-4F07-A480-FAB5D4168336}"/>
              </a:ext>
            </a:extLst>
          </p:cNvPr>
          <p:cNvSpPr/>
          <p:nvPr/>
        </p:nvSpPr>
        <p:spPr>
          <a:xfrm>
            <a:off x="415540" y="3483128"/>
            <a:ext cx="2008314" cy="1462726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Rabbit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5DF1DF1E-FF81-4FDA-817E-E02FBEE3240F}"/>
              </a:ext>
            </a:extLst>
          </p:cNvPr>
          <p:cNvSpPr/>
          <p:nvPr/>
        </p:nvSpPr>
        <p:spPr>
          <a:xfrm>
            <a:off x="2398842" y="4193675"/>
            <a:ext cx="2008314" cy="1462726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Shark</a:t>
            </a: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A1BBA840-1F22-4C8C-9326-746E0F2795C7}"/>
              </a:ext>
            </a:extLst>
          </p:cNvPr>
          <p:cNvSpPr/>
          <p:nvPr/>
        </p:nvSpPr>
        <p:spPr>
          <a:xfrm>
            <a:off x="6398826" y="3175472"/>
            <a:ext cx="2008314" cy="1462726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Platypus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E4640E-A230-465D-B5F5-134ACAFE4847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402999" y="3175472"/>
            <a:ext cx="499986" cy="1101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103F4C-9147-4B7A-84E2-6BA2D711D174}"/>
              </a:ext>
            </a:extLst>
          </p:cNvPr>
          <p:cNvCxnSpPr>
            <a:stCxn id="14" idx="3"/>
            <a:endCxn id="12" idx="2"/>
          </p:cNvCxnSpPr>
          <p:nvPr/>
        </p:nvCxnSpPr>
        <p:spPr>
          <a:xfrm flipV="1">
            <a:off x="1419697" y="2336277"/>
            <a:ext cx="995788" cy="1230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5A8836-BA45-4829-9302-BA3B4B0AF1A3}"/>
              </a:ext>
            </a:extLst>
          </p:cNvPr>
          <p:cNvCxnSpPr>
            <a:stCxn id="16" idx="3"/>
            <a:endCxn id="12" idx="0"/>
          </p:cNvCxnSpPr>
          <p:nvPr/>
        </p:nvCxnSpPr>
        <p:spPr>
          <a:xfrm flipH="1" flipV="1">
            <a:off x="6416307" y="2336277"/>
            <a:ext cx="986676" cy="92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loud 28">
            <a:extLst>
              <a:ext uri="{FF2B5EF4-FFF2-40B4-BE49-F238E27FC236}">
                <a16:creationId xmlns:a16="http://schemas.microsoft.com/office/drawing/2014/main" id="{51152A35-9612-4259-A90F-C1D1DFCBD5A9}"/>
              </a:ext>
            </a:extLst>
          </p:cNvPr>
          <p:cNvSpPr/>
          <p:nvPr/>
        </p:nvSpPr>
        <p:spPr>
          <a:xfrm>
            <a:off x="4597309" y="4277308"/>
            <a:ext cx="2008314" cy="1462726"/>
          </a:xfrm>
          <a:prstGeom prst="cloud">
            <a:avLst/>
          </a:prstGeom>
          <a:solidFill>
            <a:schemeClr val="accent1">
              <a:alpha val="5000"/>
            </a:schemeClr>
          </a:solidFill>
          <a:ln w="180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Segoe Print" panose="02000600000000000000" pitchFamily="2" charset="0"/>
              </a:rPr>
              <a:t>Dog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1DE784-1A09-4D3D-86DB-B59EBD311E32}"/>
              </a:ext>
            </a:extLst>
          </p:cNvPr>
          <p:cNvCxnSpPr>
            <a:cxnSpLocks/>
            <a:stCxn id="29" idx="3"/>
          </p:cNvCxnSpPr>
          <p:nvPr/>
        </p:nvCxnSpPr>
        <p:spPr>
          <a:xfrm flipH="1" flipV="1">
            <a:off x="5060013" y="3082565"/>
            <a:ext cx="541453" cy="1278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4A1C9D6-2D01-46CA-805A-98669CC9BDEB}"/>
              </a:ext>
            </a:extLst>
          </p:cNvPr>
          <p:cNvSpPr txBox="1"/>
          <p:nvPr/>
        </p:nvSpPr>
        <p:spPr>
          <a:xfrm>
            <a:off x="1225983" y="2702325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Segoe Print" panose="02000600000000000000" pitchFamily="2" charset="0"/>
              </a:rPr>
              <a:t>extends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C75154-9E66-446B-8E2F-6E1C0B674007}"/>
              </a:ext>
            </a:extLst>
          </p:cNvPr>
          <p:cNvSpPr txBox="1"/>
          <p:nvPr/>
        </p:nvSpPr>
        <p:spPr>
          <a:xfrm>
            <a:off x="2898828" y="3567864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Segoe Print" panose="02000600000000000000" pitchFamily="2" charset="0"/>
              </a:rPr>
              <a:t>extends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DF10AD-4DB9-4B7B-A575-DB986C6BB3C9}"/>
              </a:ext>
            </a:extLst>
          </p:cNvPr>
          <p:cNvSpPr txBox="1"/>
          <p:nvPr/>
        </p:nvSpPr>
        <p:spPr>
          <a:xfrm>
            <a:off x="4808045" y="3595357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Segoe Print" panose="02000600000000000000" pitchFamily="2" charset="0"/>
              </a:rPr>
              <a:t>extends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9CCAA7-7E95-4020-AD24-0EB4BC6D1CBE}"/>
              </a:ext>
            </a:extLst>
          </p:cNvPr>
          <p:cNvSpPr txBox="1"/>
          <p:nvPr/>
        </p:nvSpPr>
        <p:spPr>
          <a:xfrm>
            <a:off x="6730754" y="2489914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Segoe Print" panose="02000600000000000000" pitchFamily="2" charset="0"/>
              </a:rPr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3388659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56D1-BCED-EFED-CC09-C7A2414C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56562-2F8B-E364-E9D6-71CECC759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732873-C32C-6F5F-0E57-9D893E81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3354720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Encapsulation</a:t>
            </a:r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Encapsulation: an OOP design principle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Classes should allow minimum necessary access to their members.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Access to class variables should be done through methods that can perform validation</a:t>
            </a:r>
            <a:endParaRPr dirty="0"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Getters and Setters / Accessors and Mutators</a:t>
            </a:r>
            <a:endParaRPr dirty="0"/>
          </a:p>
          <a:p>
            <a:pPr marL="914400" lvl="2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private int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 marL="914400" lvl="2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public int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getSomeVar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() { return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dirty="0"/>
          </a:p>
          <a:p>
            <a:pPr marL="914400" lvl="2" indent="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setSomeVar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(int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this.someVar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dirty="0" err="1">
                <a:latin typeface="Courier New"/>
                <a:ea typeface="Courier New"/>
                <a:cs typeface="Courier New"/>
                <a:sym typeface="Courier New"/>
              </a:rPr>
              <a:t>someVar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dirty="0"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Capitalization and naming of getters/setters is important.</a:t>
            </a:r>
            <a:endParaRPr dirty="0"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getVariableName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() and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setVariableName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(). Some libraries expect this pattern to be followed.</a:t>
            </a:r>
            <a:endParaRPr dirty="0"/>
          </a:p>
        </p:txBody>
      </p:sp>
      <p:sp>
        <p:nvSpPr>
          <p:cNvPr id="254" name="Google Shape;254;p2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D98F-D251-4E06-D4EB-905FABC2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BA615-7A55-78F0-A2D6-AA2E9AA591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F1AEF-DD24-06FC-2111-0F13AF2D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2840197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Access Modifiers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Public:</a:t>
            </a:r>
            <a:r>
              <a:rPr lang="en-US" dirty="0"/>
              <a:t> visible to all classes, everywhere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Protected:</a:t>
            </a:r>
            <a:r>
              <a:rPr lang="en-US" dirty="0"/>
              <a:t> visible to all classes in the same package, and within subclasses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Default (Package-Private):</a:t>
            </a:r>
            <a:r>
              <a:rPr lang="en-US" dirty="0"/>
              <a:t> visible to all classes in the same package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b="1" dirty="0"/>
              <a:t>Private:</a:t>
            </a:r>
            <a:r>
              <a:rPr lang="en-US" dirty="0"/>
              <a:t> visible only within the current class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Access modifiers on variables can be bypassed by more-visible methods that return or set their values</a:t>
            </a:r>
            <a:endParaRPr dirty="0"/>
          </a:p>
        </p:txBody>
      </p:sp>
      <p:sp>
        <p:nvSpPr>
          <p:cNvPr id="233" name="Google Shape;233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EA8-D2E3-4126-941D-A48EE43A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Class Members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653F-C61C-4729-9354-7B3E3E3F8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E829E9BF-9413-42A0-8C47-015914656C03}"/>
              </a:ext>
            </a:extLst>
          </p:cNvPr>
          <p:cNvSpPr txBox="1">
            <a:spLocks/>
          </p:cNvSpPr>
          <p:nvPr/>
        </p:nvSpPr>
        <p:spPr>
          <a:xfrm>
            <a:off x="177554" y="1481446"/>
            <a:ext cx="5949869" cy="20724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one;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Dog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     double size = 6.5;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     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(“Running my method.”);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12C36-F4D7-411E-A75D-DD61557F8CC4}"/>
              </a:ext>
            </a:extLst>
          </p:cNvPr>
          <p:cNvSpPr txBox="1"/>
          <p:nvPr/>
        </p:nvSpPr>
        <p:spPr>
          <a:xfrm>
            <a:off x="3015022" y="3934047"/>
            <a:ext cx="4834978" cy="24406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 two;</a:t>
            </a:r>
          </a:p>
          <a:p>
            <a:pPr marL="182880" lvl="1" defTabSz="457200">
              <a:lnSpc>
                <a:spcPct val="9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Dog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Dog();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size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10.5;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dog.myMethod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4DAE7-7EA0-4DC7-9002-051CE41A8C81}"/>
              </a:ext>
            </a:extLst>
          </p:cNvPr>
          <p:cNvSpPr txBox="1"/>
          <p:nvPr/>
        </p:nvSpPr>
        <p:spPr>
          <a:xfrm>
            <a:off x="904974" y="2064471"/>
            <a:ext cx="101373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70C8F-1F0E-4690-8A66-DF8ECF126896}"/>
              </a:ext>
            </a:extLst>
          </p:cNvPr>
          <p:cNvSpPr txBox="1"/>
          <p:nvPr/>
        </p:nvSpPr>
        <p:spPr>
          <a:xfrm>
            <a:off x="904973" y="2285774"/>
            <a:ext cx="1013739" cy="2908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EA8-D2E3-4126-941D-A48EE43A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Class Members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653F-C61C-4729-9354-7B3E3E3F8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E829E9BF-9413-42A0-8C47-015914656C03}"/>
              </a:ext>
            </a:extLst>
          </p:cNvPr>
          <p:cNvSpPr txBox="1">
            <a:spLocks/>
          </p:cNvSpPr>
          <p:nvPr/>
        </p:nvSpPr>
        <p:spPr>
          <a:xfrm>
            <a:off x="177554" y="1481446"/>
            <a:ext cx="5949869" cy="20724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one;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Dog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double size = 6.5;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(“Running my method.”);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12C36-F4D7-411E-A75D-DD61557F8CC4}"/>
              </a:ext>
            </a:extLst>
          </p:cNvPr>
          <p:cNvSpPr txBox="1"/>
          <p:nvPr/>
        </p:nvSpPr>
        <p:spPr>
          <a:xfrm>
            <a:off x="3015022" y="3934047"/>
            <a:ext cx="4834978" cy="24406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 two;</a:t>
            </a:r>
          </a:p>
          <a:p>
            <a:pPr marL="182880" lvl="1" defTabSz="457200">
              <a:lnSpc>
                <a:spcPct val="9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Dog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Dog();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size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10.5;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dog.myMethod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558B9-C086-4B96-9324-027B34FA11E7}"/>
              </a:ext>
            </a:extLst>
          </p:cNvPr>
          <p:cNvGrpSpPr/>
          <p:nvPr/>
        </p:nvGrpSpPr>
        <p:grpSpPr>
          <a:xfrm>
            <a:off x="867266" y="1101304"/>
            <a:ext cx="6721311" cy="1509921"/>
            <a:chOff x="867266" y="1101304"/>
            <a:chExt cx="6721311" cy="150992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8DE5AB3-96B0-48E6-9579-0205CA58B74B}"/>
                </a:ext>
              </a:extLst>
            </p:cNvPr>
            <p:cNvSpPr/>
            <p:nvPr/>
          </p:nvSpPr>
          <p:spPr>
            <a:xfrm>
              <a:off x="867266" y="1960775"/>
              <a:ext cx="452487" cy="650450"/>
            </a:xfrm>
            <a:prstGeom prst="ellipse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0E918D6-4735-44EE-9714-9B4F9BAC3E50}"/>
                </a:ext>
              </a:extLst>
            </p:cNvPr>
            <p:cNvCxnSpPr>
              <a:stCxn id="3" idx="7"/>
            </p:cNvCxnSpPr>
            <p:nvPr/>
          </p:nvCxnSpPr>
          <p:spPr>
            <a:xfrm flipV="1">
              <a:off x="1253488" y="1696825"/>
              <a:ext cx="3318512" cy="359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A1C179-3C61-4D6F-916A-886F10B88884}"/>
                </a:ext>
              </a:extLst>
            </p:cNvPr>
            <p:cNvSpPr/>
            <p:nvPr/>
          </p:nvSpPr>
          <p:spPr>
            <a:xfrm>
              <a:off x="4637988" y="1101304"/>
              <a:ext cx="2950589" cy="10668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PACKAGE-PRIVATE</a:t>
              </a:r>
            </a:p>
            <a:p>
              <a:pPr algn="ctr"/>
              <a:r>
                <a:rPr lang="en-US" dirty="0"/>
                <a:t>!!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CE7D65-1CF4-4668-9B9D-57E720FBC490}"/>
              </a:ext>
            </a:extLst>
          </p:cNvPr>
          <p:cNvGrpSpPr/>
          <p:nvPr/>
        </p:nvGrpSpPr>
        <p:grpSpPr>
          <a:xfrm>
            <a:off x="3152488" y="2779008"/>
            <a:ext cx="4630120" cy="1615418"/>
            <a:chOff x="3152488" y="2779008"/>
            <a:chExt cx="4630120" cy="161541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55F8D46-9D39-4635-AB6E-8B6CBD43BAB8}"/>
                </a:ext>
              </a:extLst>
            </p:cNvPr>
            <p:cNvGrpSpPr/>
            <p:nvPr/>
          </p:nvGrpSpPr>
          <p:grpSpPr>
            <a:xfrm>
              <a:off x="3152488" y="2779008"/>
              <a:ext cx="4630120" cy="1615418"/>
              <a:chOff x="3000088" y="2626608"/>
              <a:chExt cx="4630120" cy="161541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5269390-4D6F-4534-BFF1-FD97FDAC40B7}"/>
                  </a:ext>
                </a:extLst>
              </p:cNvPr>
              <p:cNvSpPr/>
              <p:nvPr/>
            </p:nvSpPr>
            <p:spPr>
              <a:xfrm>
                <a:off x="3000088" y="3591576"/>
                <a:ext cx="2022827" cy="650450"/>
              </a:xfrm>
              <a:prstGeom prst="ellipse">
                <a:avLst/>
              </a:prstGeom>
              <a:solidFill>
                <a:schemeClr val="accent1">
                  <a:alpha val="2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2EEC7F8-0DCD-46F2-AB87-069F07E40E50}"/>
                  </a:ext>
                </a:extLst>
              </p:cNvPr>
              <p:cNvCxnSpPr>
                <a:cxnSpLocks/>
                <a:stCxn id="14" idx="7"/>
              </p:cNvCxnSpPr>
              <p:nvPr/>
            </p:nvCxnSpPr>
            <p:spPr>
              <a:xfrm flipV="1">
                <a:off x="4726679" y="2961626"/>
                <a:ext cx="964247" cy="7252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7D4DDF8-BF8D-4A9D-A286-FA1DD6DB3B50}"/>
                  </a:ext>
                </a:extLst>
              </p:cNvPr>
              <p:cNvSpPr/>
              <p:nvPr/>
            </p:nvSpPr>
            <p:spPr>
              <a:xfrm>
                <a:off x="5690926" y="2626608"/>
                <a:ext cx="1939282" cy="106686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package one;</a:t>
                </a: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958DD9-6D0C-4BB3-BD4D-E54DCE43F5E5}"/>
                </a:ext>
              </a:extLst>
            </p:cNvPr>
            <p:cNvCxnSpPr>
              <a:cxnSpLocks/>
            </p:cNvCxnSpPr>
            <p:nvPr/>
          </p:nvCxnSpPr>
          <p:spPr>
            <a:xfrm>
              <a:off x="3300676" y="4069201"/>
              <a:ext cx="1271324" cy="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63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95A4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95A4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EA8-D2E3-4126-941D-A48EE43A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Class Members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653F-C61C-4729-9354-7B3E3E3F8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E829E9BF-9413-42A0-8C47-015914656C03}"/>
              </a:ext>
            </a:extLst>
          </p:cNvPr>
          <p:cNvSpPr txBox="1">
            <a:spLocks/>
          </p:cNvSpPr>
          <p:nvPr/>
        </p:nvSpPr>
        <p:spPr>
          <a:xfrm>
            <a:off x="177554" y="1481446"/>
            <a:ext cx="5949869" cy="20724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one;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Dog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private double size = 6.5;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private 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(“Running my method.”);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12C36-F4D7-411E-A75D-DD61557F8CC4}"/>
              </a:ext>
            </a:extLst>
          </p:cNvPr>
          <p:cNvSpPr txBox="1"/>
          <p:nvPr/>
        </p:nvSpPr>
        <p:spPr>
          <a:xfrm>
            <a:off x="3015022" y="3934047"/>
            <a:ext cx="4834978" cy="24406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 one;</a:t>
            </a:r>
          </a:p>
          <a:p>
            <a:pPr marL="182880" lvl="1" defTabSz="457200">
              <a:lnSpc>
                <a:spcPct val="9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Dog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Dog();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size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10.5;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//Access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dog.myMethod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558B9-C086-4B96-9324-027B34FA11E7}"/>
              </a:ext>
            </a:extLst>
          </p:cNvPr>
          <p:cNvGrpSpPr/>
          <p:nvPr/>
        </p:nvGrpSpPr>
        <p:grpSpPr>
          <a:xfrm>
            <a:off x="867266" y="1101304"/>
            <a:ext cx="6721311" cy="1509921"/>
            <a:chOff x="867266" y="1101304"/>
            <a:chExt cx="6721311" cy="150992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8DE5AB3-96B0-48E6-9579-0205CA58B74B}"/>
                </a:ext>
              </a:extLst>
            </p:cNvPr>
            <p:cNvSpPr/>
            <p:nvPr/>
          </p:nvSpPr>
          <p:spPr>
            <a:xfrm>
              <a:off x="867266" y="1960775"/>
              <a:ext cx="1272619" cy="650450"/>
            </a:xfrm>
            <a:prstGeom prst="ellipse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0E918D6-4735-44EE-9714-9B4F9BAC3E50}"/>
                </a:ext>
              </a:extLst>
            </p:cNvPr>
            <p:cNvCxnSpPr>
              <a:cxnSpLocks/>
              <a:stCxn id="3" idx="7"/>
            </p:cNvCxnSpPr>
            <p:nvPr/>
          </p:nvCxnSpPr>
          <p:spPr>
            <a:xfrm flipV="1">
              <a:off x="1953514" y="1696825"/>
              <a:ext cx="2618486" cy="359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A1C179-3C61-4D6F-916A-886F10B88884}"/>
                </a:ext>
              </a:extLst>
            </p:cNvPr>
            <p:cNvSpPr/>
            <p:nvPr/>
          </p:nvSpPr>
          <p:spPr>
            <a:xfrm>
              <a:off x="4637988" y="1101304"/>
              <a:ext cx="2950589" cy="10668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Private</a:t>
              </a:r>
            </a:p>
            <a:p>
              <a:pPr algn="ctr"/>
              <a:r>
                <a:rPr lang="en-US" dirty="0"/>
                <a:t>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67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95A4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95A4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EA8-D2E3-4126-941D-A48EE43A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Class Members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653F-C61C-4729-9354-7B3E3E3F8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E829E9BF-9413-42A0-8C47-015914656C03}"/>
              </a:ext>
            </a:extLst>
          </p:cNvPr>
          <p:cNvSpPr txBox="1">
            <a:spLocks/>
          </p:cNvSpPr>
          <p:nvPr/>
        </p:nvSpPr>
        <p:spPr>
          <a:xfrm>
            <a:off x="177554" y="1481446"/>
            <a:ext cx="5949869" cy="26178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one;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Dog 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private double size = 6.5;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double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size){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size;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12C36-F4D7-411E-A75D-DD61557F8CC4}"/>
              </a:ext>
            </a:extLst>
          </p:cNvPr>
          <p:cNvSpPr txBox="1"/>
          <p:nvPr/>
        </p:nvSpPr>
        <p:spPr>
          <a:xfrm>
            <a:off x="3709934" y="4286758"/>
            <a:ext cx="4834978" cy="20528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 two;</a:t>
            </a:r>
          </a:p>
          <a:p>
            <a:pPr marL="182880" lvl="1" defTabSz="457200">
              <a:lnSpc>
                <a:spcPct val="9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Dog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new Dog();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dog.setSize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(9.0);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dog.getSize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82880" lvl="1" defTabSz="457200">
              <a:lnSpc>
                <a:spcPct val="9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F951B8-5763-45FF-A24A-FF346E8771E8}"/>
              </a:ext>
            </a:extLst>
          </p:cNvPr>
          <p:cNvGrpSpPr/>
          <p:nvPr/>
        </p:nvGrpSpPr>
        <p:grpSpPr>
          <a:xfrm>
            <a:off x="904973" y="1539445"/>
            <a:ext cx="7648619" cy="2363251"/>
            <a:chOff x="904973" y="1539445"/>
            <a:chExt cx="7648619" cy="236325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AFAA73-884C-4187-A1D3-BE3E93AEC9D8}"/>
                </a:ext>
              </a:extLst>
            </p:cNvPr>
            <p:cNvSpPr/>
            <p:nvPr/>
          </p:nvSpPr>
          <p:spPr>
            <a:xfrm>
              <a:off x="5603003" y="1539445"/>
              <a:ext cx="2950589" cy="10668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This allows us to access the </a:t>
              </a:r>
              <a:r>
                <a:rPr lang="en-US" i="1" dirty="0"/>
                <a:t>private </a:t>
              </a:r>
              <a:r>
                <a:rPr lang="en-US" dirty="0"/>
                <a:t>field indirectly </a:t>
              </a:r>
            </a:p>
            <a:p>
              <a:pPr algn="ctr"/>
              <a:r>
                <a:rPr lang="en-US" dirty="0"/>
                <a:t>!!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80A164A-F6C1-414D-A59A-72B2B130408D}"/>
                </a:ext>
              </a:extLst>
            </p:cNvPr>
            <p:cNvSpPr/>
            <p:nvPr/>
          </p:nvSpPr>
          <p:spPr>
            <a:xfrm>
              <a:off x="904973" y="2360797"/>
              <a:ext cx="3930978" cy="1541899"/>
            </a:xfrm>
            <a:prstGeom prst="roundRect">
              <a:avLst>
                <a:gd name="adj" fmla="val 26792"/>
              </a:avLst>
            </a:prstGeom>
            <a:solidFill>
              <a:schemeClr val="accent1">
                <a:alpha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1EE1F59-7DE1-41D2-8759-59DD472CC376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4788816" y="2072876"/>
              <a:ext cx="814187" cy="481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11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CB992-D63C-EB1E-DF53-62094DEB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55F11-D5D1-A7FB-9B2A-92489E6F7C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EA4C9-ADBE-D7EF-38BA-DA4383C6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708351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What is Polymorphism?</a:t>
            </a:r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i="1" dirty="0"/>
              <a:t>Poly</a:t>
            </a:r>
            <a:r>
              <a:rPr lang="en-US" dirty="0"/>
              <a:t>: many, </a:t>
            </a:r>
            <a:r>
              <a:rPr lang="en-US" i="1" dirty="0"/>
              <a:t>morph</a:t>
            </a:r>
            <a:r>
              <a:rPr lang="en-US" dirty="0"/>
              <a:t>: form</a:t>
            </a:r>
            <a:endParaRPr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 ability for Java to take advantage of the difference between a </a:t>
            </a:r>
            <a:r>
              <a:rPr lang="en-US" i="1" dirty="0"/>
              <a:t>reference variable</a:t>
            </a:r>
            <a:r>
              <a:rPr lang="en-US" dirty="0"/>
              <a:t> and an </a:t>
            </a:r>
            <a:r>
              <a:rPr lang="en-US" i="1" dirty="0"/>
              <a:t>object in memory</a:t>
            </a:r>
            <a:r>
              <a:rPr lang="en-US" dirty="0"/>
              <a:t>, when the two are related by inheritance.</a:t>
            </a:r>
            <a:endParaRPr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An object’s type determines the behaviors it has, the reference variable type determines which behaviors can be accessed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endParaRPr lang="en-US" dirty="0"/>
          </a:p>
        </p:txBody>
      </p:sp>
      <p:sp>
        <p:nvSpPr>
          <p:cNvPr id="220" name="Google Shape;220;p16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>
            <a:spLocks noGrp="1"/>
          </p:cNvSpPr>
          <p:nvPr>
            <p:ph type="body" idx="1"/>
          </p:nvPr>
        </p:nvSpPr>
        <p:spPr>
          <a:xfrm>
            <a:off x="827774" y="1626669"/>
            <a:ext cx="7584706" cy="418699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class Dog {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public void bark() {}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endParaRPr sz="175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class Dalmatian extends Dog {</a:t>
            </a:r>
          </a:p>
          <a:p>
            <a:pPr marL="0" indent="0">
              <a:lnSpc>
                <a:spcPct val="80000"/>
              </a:lnSpc>
              <a:spcBef>
                <a:spcPts val="350"/>
              </a:spcBef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public void play() {}</a:t>
            </a:r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endParaRPr sz="175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public class Test {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public static void main(String[] </a:t>
            </a:r>
            <a:r>
              <a:rPr lang="en-US" sz="1750" dirty="0" err="1"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	Dog </a:t>
            </a:r>
            <a:r>
              <a:rPr lang="en-US" sz="1750" dirty="0" err="1">
                <a:latin typeface="Courier New"/>
                <a:ea typeface="Courier New"/>
                <a:cs typeface="Courier New"/>
                <a:sym typeface="Courier New"/>
              </a:rPr>
              <a:t>myDog</a:t>
            </a: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 = new Dalmatian();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endParaRPr sz="175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750" dirty="0" err="1">
                <a:latin typeface="Courier New"/>
                <a:ea typeface="Courier New"/>
                <a:cs typeface="Courier New"/>
                <a:sym typeface="Courier New"/>
              </a:rPr>
              <a:t>myDog.bark</a:t>
            </a: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	((Dalmatian) </a:t>
            </a:r>
            <a:r>
              <a:rPr lang="en-US" sz="1750" dirty="0" err="1">
                <a:latin typeface="Courier New"/>
                <a:ea typeface="Courier New"/>
                <a:cs typeface="Courier New"/>
                <a:sym typeface="Courier New"/>
              </a:rPr>
              <a:t>myDog</a:t>
            </a: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).play();</a:t>
            </a:r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350"/>
              </a:spcBef>
              <a:spcAft>
                <a:spcPts val="0"/>
              </a:spcAft>
              <a:buSzPts val="1750"/>
              <a:buNone/>
            </a:pPr>
            <a:r>
              <a:rPr lang="en-US" sz="175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</p:txBody>
      </p:sp>
      <p:sp>
        <p:nvSpPr>
          <p:cNvPr id="227" name="Google Shape;227;p1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What is Polymorphism Used For?</a:t>
            </a:r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When similar behaviors between two types of objects are properly abstracted into super classes/interfaces, polymorphism can be used to invoke shared behaviors across multiple types of objects at the same time.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Method Overriding </a:t>
            </a:r>
            <a:r>
              <a:rPr lang="en-US" sz="2400" dirty="0"/>
              <a:t>– Changing the implementation of an inherited behavior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Method Overloading </a:t>
            </a:r>
            <a:r>
              <a:rPr lang="en-US" sz="2400" dirty="0"/>
              <a:t>– Multiple implementations of a behavior, number or type of parameters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b="1" dirty="0"/>
              <a:t>Covariance (Covariant Typing) </a:t>
            </a:r>
            <a:r>
              <a:rPr lang="en-US" sz="2400" dirty="0"/>
              <a:t>– Referencing an instance of a superclass using its subclass, or vice versa.</a:t>
            </a:r>
            <a:endParaRPr sz="2400" dirty="0"/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Examples</a:t>
            </a:r>
            <a:endParaRPr dirty="0"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Method Overriding: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public class Dog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void eat() { </a:t>
            </a:r>
            <a:r>
              <a:rPr lang="en-US" sz="1600" dirty="0" err="1"/>
              <a:t>System.out.println</a:t>
            </a:r>
            <a:r>
              <a:rPr lang="en-US" sz="1600" dirty="0"/>
              <a:t>(“I am eating”);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public class </a:t>
            </a:r>
            <a:r>
              <a:rPr lang="en-US" sz="1600" dirty="0" err="1"/>
              <a:t>BlueHeeler</a:t>
            </a:r>
            <a:r>
              <a:rPr lang="en-US" sz="1600" dirty="0"/>
              <a:t> extends Dog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void eat() { </a:t>
            </a:r>
            <a:r>
              <a:rPr lang="en-US" sz="1600" dirty="0" err="1"/>
              <a:t>System.out.println</a:t>
            </a:r>
            <a:r>
              <a:rPr lang="en-US" sz="1600" dirty="0"/>
              <a:t>(“I am eating fast!”);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public class Chihuahua extends Dog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void eat() { </a:t>
            </a:r>
            <a:r>
              <a:rPr lang="en-US" sz="1600" dirty="0" err="1"/>
              <a:t>System.out.println</a:t>
            </a:r>
            <a:r>
              <a:rPr lang="en-US" sz="1600" dirty="0"/>
              <a:t>(“I only eat a little bit!”)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public class </a:t>
            </a:r>
            <a:r>
              <a:rPr lang="en-US" sz="1600" dirty="0" err="1"/>
              <a:t>GoldRetriever</a:t>
            </a:r>
            <a:r>
              <a:rPr lang="en-US" sz="1600" dirty="0"/>
              <a:t> extends Dog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}</a:t>
            </a:r>
            <a:endParaRPr sz="1600" dirty="0"/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709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Examples</a:t>
            </a:r>
            <a:endParaRPr dirty="0"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Method Overloading: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public class Creature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String name;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int health;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Creature () {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Creature (String name) { this.name = name;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Creature (int health) { </a:t>
            </a:r>
            <a:r>
              <a:rPr lang="en-US" sz="1600" dirty="0" err="1"/>
              <a:t>this.health</a:t>
            </a:r>
            <a:r>
              <a:rPr lang="en-US" sz="1600" dirty="0"/>
              <a:t> = health;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     public Creature (String name, int health) { this.name = name, </a:t>
            </a:r>
            <a:r>
              <a:rPr lang="en-US" sz="1600" dirty="0" err="1"/>
              <a:t>this.health</a:t>
            </a:r>
            <a:r>
              <a:rPr lang="en-US" sz="1600" dirty="0"/>
              <a:t> = health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 dirty="0"/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1600" dirty="0"/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4177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462013" y="1549667"/>
            <a:ext cx="8200723" cy="4437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70"/>
              <a:buChar char="•"/>
            </a:pPr>
            <a:r>
              <a:rPr lang="en-US" sz="2170" dirty="0"/>
              <a:t>Consider a video game…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SzPts val="1860"/>
              <a:buChar char="–"/>
            </a:pPr>
            <a:r>
              <a:rPr lang="en-US" sz="1860" dirty="0"/>
              <a:t>Non-Player Character object, Monster object, Player object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372"/>
              </a:spcBef>
              <a:spcAft>
                <a:spcPts val="0"/>
              </a:spcAft>
              <a:buSzPts val="1860"/>
              <a:buChar char="–"/>
            </a:pPr>
            <a:r>
              <a:rPr lang="en-US" sz="1860" dirty="0"/>
              <a:t>All of these extend the abstract “Creature” class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SzPts val="2170"/>
              <a:buChar char="•"/>
            </a:pPr>
            <a:r>
              <a:rPr lang="en-US" sz="2170" dirty="0"/>
              <a:t>All of these objects might have a different behavior upon dying, but they all have a die() behavior. Shared behaviors go in the Creature class, which is inherited (and overridden) in the subclasses</a:t>
            </a:r>
            <a:endParaRPr dirty="0"/>
          </a:p>
          <a:p>
            <a:pPr marL="342900" lvl="0" indent="-34290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SzPts val="2170"/>
              <a:buChar char="•"/>
            </a:pPr>
            <a:r>
              <a:rPr lang="en-US" sz="2170" dirty="0"/>
              <a:t>A </a:t>
            </a:r>
            <a:r>
              <a:rPr lang="en-US" sz="2170" dirty="0" err="1"/>
              <a:t>dealDamage</a:t>
            </a:r>
            <a:r>
              <a:rPr lang="en-US" sz="2170" dirty="0"/>
              <a:t>() method can now be written like this: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SzPts val="2170"/>
              <a:buNone/>
            </a:pPr>
            <a:endParaRPr sz="2170" dirty="0"/>
          </a:p>
        </p:txBody>
      </p:sp>
      <p:sp>
        <p:nvSpPr>
          <p:cNvPr id="241" name="Google Shape;241;p1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7E6BA3-20D5-44E9-B3B6-BC41C3943F33}"/>
              </a:ext>
            </a:extLst>
          </p:cNvPr>
          <p:cNvSpPr/>
          <p:nvPr/>
        </p:nvSpPr>
        <p:spPr>
          <a:xfrm>
            <a:off x="923827" y="4025245"/>
            <a:ext cx="7277493" cy="1819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dealDamage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(Creature target, int damage)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target.setHealth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target.getHealth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() - damage);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if (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target.getHealth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() &lt;= 0)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target.die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302"/>
              </a:spcBef>
              <a:buSzPts val="1511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Without Polymorphism…</a:t>
            </a:r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You would need to duplicate code for every possible case.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Can’t have a broad </a:t>
            </a:r>
            <a:r>
              <a:rPr lang="en-US" dirty="0" err="1"/>
              <a:t>dealDamage</a:t>
            </a:r>
            <a:r>
              <a:rPr lang="en-US" dirty="0"/>
              <a:t>() method, you need…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 err="1"/>
              <a:t>dealDamageToPlayer</a:t>
            </a:r>
            <a:r>
              <a:rPr lang="en-US" dirty="0"/>
              <a:t>(Player target, int damage)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 err="1"/>
              <a:t>dealDamageToNPC</a:t>
            </a:r>
            <a:r>
              <a:rPr lang="en-US" dirty="0"/>
              <a:t>(NPC target , int damage)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 err="1"/>
              <a:t>dealDamageToMonster</a:t>
            </a:r>
            <a:r>
              <a:rPr lang="en-US" dirty="0"/>
              <a:t>(Monster target , int damage)</a:t>
            </a:r>
            <a:endParaRPr dirty="0"/>
          </a:p>
        </p:txBody>
      </p:sp>
      <p:sp>
        <p:nvSpPr>
          <p:cNvPr id="248" name="Google Shape;248;p2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Method Overloading Preference</a:t>
            </a:r>
            <a:endParaRPr dirty="0"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/>
              <a:t>When overloading a method, there is a certain order of precedence for which method version is invoked: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400" dirty="0"/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en-US" sz="2400" dirty="0"/>
              <a:t>Exact datatype match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en-US" sz="2400" dirty="0"/>
              <a:t>Implicit Casting (type conversion)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en-US" sz="2400" dirty="0"/>
              <a:t>Boxing (auto-boxing or unboxing)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en-US" sz="2400" dirty="0"/>
              <a:t>varargs…</a:t>
            </a:r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1134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B2EF8-2EBE-8C01-762D-FE17A76F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3252B-F0FD-35D4-C850-3511531BA4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07777E-9F40-7F07-FE8B-FE9FBE49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4282697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Abstraction</a:t>
            </a:r>
            <a:endParaRPr dirty="0"/>
          </a:p>
        </p:txBody>
      </p:sp>
      <p:sp>
        <p:nvSpPr>
          <p:cNvPr id="254" name="Google Shape;254;p2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90000"/>
              </a:lnSpc>
            </a:pPr>
            <a:r>
              <a:rPr lang="en-US" dirty="0"/>
              <a:t>Creation of classes and/or interfaces which define structure and/or functionality without defining implementation details</a:t>
            </a:r>
          </a:p>
          <a:p>
            <a:pPr marL="342900" indent="-342900">
              <a:lnSpc>
                <a:spcPct val="90000"/>
              </a:lnSpc>
            </a:pPr>
            <a:r>
              <a:rPr lang="en-US" dirty="0"/>
              <a:t>Allows for: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Centralization of common characteristics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Reduced complexity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Increased efficiency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Elimination of code duplication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Generalization of behavior into conceptual classes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Provides templates for other classes</a:t>
            </a:r>
          </a:p>
          <a:p>
            <a:pPr marL="342900" indent="-342900">
              <a:lnSpc>
                <a:spcPct val="90000"/>
              </a:lnSpc>
            </a:pPr>
            <a:endParaRPr lang="en-US" dirty="0"/>
          </a:p>
        </p:txBody>
      </p:sp>
      <p:sp>
        <p:nvSpPr>
          <p:cNvPr id="255" name="Google Shape;255;p2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C591112-6DDD-AE2E-E6D0-4FDD1BE2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>
            <a:extLst>
              <a:ext uri="{FF2B5EF4-FFF2-40B4-BE49-F238E27FC236}">
                <a16:creationId xmlns:a16="http://schemas.microsoft.com/office/drawing/2014/main" id="{BFC1CBA5-7D09-3F3C-F3D4-49B9E93D2D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Abstract Keyword</a:t>
            </a:r>
            <a:endParaRPr dirty="0"/>
          </a:p>
        </p:txBody>
      </p:sp>
      <p:sp>
        <p:nvSpPr>
          <p:cNvPr id="254" name="Google Shape;254;p21">
            <a:extLst>
              <a:ext uri="{FF2B5EF4-FFF2-40B4-BE49-F238E27FC236}">
                <a16:creationId xmlns:a16="http://schemas.microsoft.com/office/drawing/2014/main" id="{FDDD6223-49F2-12D9-EC6E-525653059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90000"/>
              </a:lnSpc>
            </a:pPr>
            <a:r>
              <a:rPr lang="en-US" dirty="0"/>
              <a:t>The keyword </a:t>
            </a:r>
            <a:r>
              <a:rPr lang="en-US" b="1" i="1" dirty="0">
                <a:solidFill>
                  <a:srgbClr val="7030A0"/>
                </a:solidFill>
              </a:rPr>
              <a:t>abstract</a:t>
            </a:r>
            <a:r>
              <a:rPr lang="en-US" dirty="0"/>
              <a:t> can be used as a modifier to declare a class or method as such</a:t>
            </a:r>
          </a:p>
          <a:p>
            <a:pPr marL="342900" indent="-342900">
              <a:lnSpc>
                <a:spcPct val="90000"/>
              </a:lnSpc>
            </a:pPr>
            <a:r>
              <a:rPr lang="en-US" dirty="0"/>
              <a:t>Abstract Classes: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Cannot be instantiated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May contain abstract methods or concrete (defined) methods</a:t>
            </a:r>
          </a:p>
          <a:p>
            <a:pPr marL="342900" indent="-342900">
              <a:lnSpc>
                <a:spcPct val="90000"/>
              </a:lnSpc>
            </a:pPr>
            <a:r>
              <a:rPr lang="en-US" dirty="0"/>
              <a:t>Abstract Methods: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No braces/method body or implementation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dirty="0"/>
              <a:t>Terminated with semi-colon</a:t>
            </a:r>
          </a:p>
          <a:p>
            <a:pPr marL="342900" indent="-342900">
              <a:lnSpc>
                <a:spcPct val="90000"/>
              </a:lnSpc>
            </a:pPr>
            <a:endParaRPr lang="en-US" dirty="0"/>
          </a:p>
        </p:txBody>
      </p:sp>
      <p:sp>
        <p:nvSpPr>
          <p:cNvPr id="255" name="Google Shape;255;p21">
            <a:extLst>
              <a:ext uri="{FF2B5EF4-FFF2-40B4-BE49-F238E27FC236}">
                <a16:creationId xmlns:a16="http://schemas.microsoft.com/office/drawing/2014/main" id="{DEAE5A0B-48E9-78CB-8F9B-5637D9C3A0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7623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Abstract Keyword (Example)</a:t>
            </a:r>
            <a:endParaRPr dirty="0"/>
          </a:p>
        </p:txBody>
      </p:sp>
      <p:sp>
        <p:nvSpPr>
          <p:cNvPr id="283" name="Google Shape;283;p25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91859A-9A4C-4DDF-89BD-47134E6C4842}"/>
              </a:ext>
            </a:extLst>
          </p:cNvPr>
          <p:cNvSpPr/>
          <p:nvPr/>
        </p:nvSpPr>
        <p:spPr>
          <a:xfrm>
            <a:off x="1065228" y="1940943"/>
            <a:ext cx="7013544" cy="40026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Character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latin typeface="Courier New"/>
                <a:cs typeface="Courier New"/>
                <a:sym typeface="Courier New"/>
              </a:rPr>
              <a:t> health;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abstract </a:t>
            </a:r>
            <a:r>
              <a:rPr lang="en-US" i="1" dirty="0" err="1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boolean</a:t>
            </a:r>
            <a:r>
              <a:rPr lang="en-US" dirty="0"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takeDamage</a:t>
            </a:r>
            <a:r>
              <a:rPr lang="en-US" dirty="0">
                <a:latin typeface="Courier New"/>
                <a:cs typeface="Courier New"/>
                <a:sym typeface="Courier New"/>
              </a:rPr>
              <a:t>(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latin typeface="Courier New"/>
                <a:cs typeface="Courier New"/>
                <a:sym typeface="Courier New"/>
              </a:rPr>
              <a:t> amount);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lvl="0">
              <a:spcBef>
                <a:spcPts val="280"/>
              </a:spcBef>
              <a:buSzPts val="1400"/>
            </a:pPr>
            <a:endParaRPr lang="en-US" dirty="0">
              <a:latin typeface="Courier New"/>
              <a:cs typeface="Courier New"/>
              <a:sym typeface="Courier New"/>
            </a:endParaRP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class</a:t>
            </a:r>
            <a:r>
              <a:rPr lang="en-US" dirty="0">
                <a:latin typeface="Courier New"/>
                <a:cs typeface="Courier New"/>
                <a:sym typeface="Courier New"/>
              </a:rPr>
              <a:t> Player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extends</a:t>
            </a:r>
            <a:r>
              <a:rPr lang="en-US" dirty="0">
                <a:latin typeface="Courier New"/>
                <a:cs typeface="Courier New"/>
                <a:sym typeface="Courier New"/>
              </a:rPr>
              <a:t> Character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public</a:t>
            </a:r>
            <a:r>
              <a:rPr lang="en-US" dirty="0">
                <a:latin typeface="Courier New"/>
                <a:cs typeface="Courier New"/>
                <a:sym typeface="Courier New"/>
              </a:rPr>
              <a:t> Player() { health = 100 }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 err="1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boolean</a:t>
            </a:r>
            <a:r>
              <a:rPr lang="en-US" dirty="0"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takeDamage</a:t>
            </a:r>
            <a:r>
              <a:rPr lang="en-US" dirty="0">
                <a:latin typeface="Courier New"/>
                <a:cs typeface="Courier New"/>
                <a:sym typeface="Courier New"/>
              </a:rPr>
              <a:t>(int amount)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en-US" dirty="0">
                <a:latin typeface="Courier New"/>
                <a:cs typeface="Courier New"/>
                <a:sym typeface="Courier New"/>
              </a:rPr>
              <a:t> (amount &lt; 0) 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            return false</a:t>
            </a:r>
            <a:r>
              <a:rPr lang="en-US" dirty="0">
                <a:latin typeface="Courier New"/>
                <a:cs typeface="Courier New"/>
                <a:sym typeface="Courier New"/>
              </a:rPr>
              <a:t>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else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health -= amount;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en-US" dirty="0">
                <a:latin typeface="Courier New"/>
                <a:cs typeface="Courier New"/>
                <a:sym typeface="Courier New"/>
              </a:rPr>
              <a:t> (health &lt;= 0)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GameManager.gameOver</a:t>
            </a:r>
            <a:r>
              <a:rPr lang="en-US" dirty="0">
                <a:latin typeface="Courier New"/>
                <a:cs typeface="Courier New"/>
                <a:sym typeface="Courier New"/>
              </a:rPr>
              <a:t>();</a:t>
            </a:r>
          </a:p>
          <a:p>
            <a:pPr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return true</a:t>
            </a:r>
            <a:r>
              <a:rPr lang="en-US" dirty="0">
                <a:latin typeface="Courier New"/>
                <a:cs typeface="Courier New"/>
                <a:sym typeface="Courier New"/>
              </a:rPr>
              <a:t>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}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82520CAF-D82D-7F20-D34B-D80D905E1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>
            <a:extLst>
              <a:ext uri="{FF2B5EF4-FFF2-40B4-BE49-F238E27FC236}">
                <a16:creationId xmlns:a16="http://schemas.microsoft.com/office/drawing/2014/main" id="{DE8CAE47-7C0B-5AF7-BFEC-8CDD7A53A2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Abstract Keyword (Example)</a:t>
            </a:r>
            <a:endParaRPr dirty="0"/>
          </a:p>
        </p:txBody>
      </p:sp>
      <p:sp>
        <p:nvSpPr>
          <p:cNvPr id="283" name="Google Shape;283;p25">
            <a:extLst>
              <a:ext uri="{FF2B5EF4-FFF2-40B4-BE49-F238E27FC236}">
                <a16:creationId xmlns:a16="http://schemas.microsoft.com/office/drawing/2014/main" id="{15703AF5-FB8E-BEE4-A901-F6DE2E6770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057CB-CF27-9F79-AAA6-D5C93F2D6019}"/>
              </a:ext>
            </a:extLst>
          </p:cNvPr>
          <p:cNvSpPr/>
          <p:nvPr/>
        </p:nvSpPr>
        <p:spPr>
          <a:xfrm>
            <a:off x="754144" y="1397479"/>
            <a:ext cx="7013544" cy="52534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Character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latin typeface="Courier New"/>
                <a:cs typeface="Courier New"/>
                <a:sym typeface="Courier New"/>
              </a:rPr>
              <a:t> health;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abstract </a:t>
            </a:r>
            <a:r>
              <a:rPr lang="en-US" i="1" dirty="0" err="1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boolean</a:t>
            </a:r>
            <a:r>
              <a:rPr lang="en-US" dirty="0"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takeDamage</a:t>
            </a:r>
            <a:r>
              <a:rPr lang="en-US" dirty="0">
                <a:latin typeface="Courier New"/>
                <a:cs typeface="Courier New"/>
                <a:sym typeface="Courier New"/>
              </a:rPr>
              <a:t>(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latin typeface="Courier New"/>
                <a:cs typeface="Courier New"/>
                <a:sym typeface="Courier New"/>
              </a:rPr>
              <a:t> amount);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lvl="0">
              <a:spcBef>
                <a:spcPts val="280"/>
              </a:spcBef>
              <a:buSzPts val="1400"/>
            </a:pPr>
            <a:endParaRPr lang="en-US" dirty="0">
              <a:latin typeface="Courier New"/>
              <a:cs typeface="Courier New"/>
              <a:sym typeface="Courier New"/>
            </a:endParaRP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abstract class</a:t>
            </a:r>
            <a:r>
              <a:rPr lang="en-US" dirty="0">
                <a:latin typeface="Courier New"/>
                <a:cs typeface="Courier New"/>
                <a:sym typeface="Courier New"/>
              </a:rPr>
              <a:t> Enemy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extends</a:t>
            </a:r>
            <a:r>
              <a:rPr lang="en-US" dirty="0">
                <a:latin typeface="Courier New"/>
                <a:cs typeface="Courier New"/>
                <a:sym typeface="Courier New"/>
              </a:rPr>
              <a:t> Character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    // Note: when extending an abstract class you </a:t>
            </a:r>
            <a:r>
              <a:rPr lang="en-US" i="1" u="sng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aren’t</a:t>
            </a:r>
            <a:r>
              <a:rPr lang="en-US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reqiured</a:t>
            </a:r>
            <a:r>
              <a:rPr lang="en-US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 to implement the inherited abstract methods</a:t>
            </a:r>
            <a:endParaRPr lang="en-US" u="sng" dirty="0">
              <a:solidFill>
                <a:srgbClr val="007A37"/>
              </a:solidFill>
              <a:latin typeface="Courier New"/>
              <a:cs typeface="Courier New"/>
              <a:sym typeface="Courier New"/>
            </a:endParaRP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attackDamage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expReward</a:t>
            </a:r>
            <a:r>
              <a:rPr lang="en-US" dirty="0">
                <a:solidFill>
                  <a:schemeClr val="tx1"/>
                </a:solidFill>
                <a:latin typeface="Courier New"/>
                <a:cs typeface="Courier New"/>
                <a:sym typeface="Courier New"/>
              </a:rPr>
              <a:t>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}</a:t>
            </a:r>
          </a:p>
          <a:p>
            <a:pPr lvl="0">
              <a:spcBef>
                <a:spcPts val="280"/>
              </a:spcBef>
              <a:buSzPts val="1400"/>
            </a:pPr>
            <a:endParaRPr lang="en-US" dirty="0">
              <a:latin typeface="Courier New"/>
              <a:cs typeface="Courier New"/>
              <a:sym typeface="Courier New"/>
            </a:endParaRP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class</a:t>
            </a:r>
            <a:r>
              <a:rPr lang="en-US" dirty="0">
                <a:latin typeface="Courier New"/>
                <a:cs typeface="Courier New"/>
                <a:sym typeface="Courier New"/>
              </a:rPr>
              <a:t> Goblin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extends</a:t>
            </a:r>
            <a:r>
              <a:rPr lang="en-US" dirty="0">
                <a:latin typeface="Courier New"/>
                <a:cs typeface="Courier New"/>
                <a:sym typeface="Courier New"/>
              </a:rPr>
              <a:t> Enemy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solidFill>
                  <a:srgbClr val="007A37"/>
                </a:solidFill>
                <a:latin typeface="Courier New"/>
                <a:cs typeface="Courier New"/>
                <a:sym typeface="Courier New"/>
              </a:rPr>
              <a:t>    // The first concrete class of the hierarchy must implement any inherited abstract methods that have no definition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    abstract </a:t>
            </a:r>
            <a:r>
              <a:rPr lang="en-US" i="1" dirty="0" err="1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boolean</a:t>
            </a:r>
            <a:r>
              <a:rPr lang="en-US" dirty="0">
                <a:latin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takeDamage</a:t>
            </a:r>
            <a:r>
              <a:rPr lang="en-US" dirty="0">
                <a:latin typeface="Courier New"/>
                <a:cs typeface="Courier New"/>
                <a:sym typeface="Courier New"/>
              </a:rPr>
              <a:t>(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int</a:t>
            </a:r>
            <a:r>
              <a:rPr lang="en-US" dirty="0">
                <a:latin typeface="Courier New"/>
                <a:cs typeface="Courier New"/>
                <a:sym typeface="Courier New"/>
              </a:rPr>
              <a:t> amount) {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en-US" dirty="0">
                <a:latin typeface="Courier New"/>
                <a:cs typeface="Courier New"/>
                <a:sym typeface="Courier New"/>
              </a:rPr>
              <a:t> (amount &lt; 0) 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            return false</a:t>
            </a:r>
            <a:r>
              <a:rPr lang="en-US" dirty="0">
                <a:latin typeface="Courier New"/>
                <a:cs typeface="Courier New"/>
                <a:sym typeface="Courier New"/>
              </a:rPr>
              <a:t>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else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health -= amount;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en-US" dirty="0">
                <a:latin typeface="Courier New"/>
                <a:cs typeface="Courier New"/>
                <a:sym typeface="Courier New"/>
              </a:rPr>
              <a:t> (health &lt;= 0)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    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GameManager.givePlayerExperience</a:t>
            </a:r>
            <a:r>
              <a:rPr lang="en-US" dirty="0">
                <a:latin typeface="Courier New"/>
                <a:cs typeface="Courier New"/>
                <a:sym typeface="Courier New"/>
              </a:rPr>
              <a:t>(</a:t>
            </a:r>
            <a:r>
              <a:rPr lang="en-US" dirty="0" err="1">
                <a:latin typeface="Courier New"/>
                <a:cs typeface="Courier New"/>
                <a:sym typeface="Courier New"/>
              </a:rPr>
              <a:t>expReward</a:t>
            </a:r>
            <a:r>
              <a:rPr lang="en-US" dirty="0">
                <a:latin typeface="Courier New"/>
                <a:cs typeface="Courier New"/>
                <a:sym typeface="Courier New"/>
              </a:rPr>
              <a:t>);</a:t>
            </a:r>
          </a:p>
          <a:p>
            <a:pPr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        </a:t>
            </a:r>
            <a:r>
              <a:rPr lang="en-US" i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return true</a:t>
            </a:r>
            <a:r>
              <a:rPr lang="en-US" dirty="0">
                <a:latin typeface="Courier New"/>
                <a:cs typeface="Courier New"/>
                <a:sym typeface="Courier New"/>
              </a:rPr>
              <a:t>;    </a:t>
            </a:r>
          </a:p>
          <a:p>
            <a:pPr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    }</a:t>
            </a: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80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Abstract Classes and Methods</a:t>
            </a:r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indent="-342900">
              <a:lnSpc>
                <a:spcPct val="90000"/>
              </a:lnSpc>
              <a:spcBef>
                <a:spcPts val="0"/>
              </a:spcBef>
              <a:buSzPts val="2590"/>
            </a:pPr>
            <a:r>
              <a:rPr lang="en-US" sz="2400" b="1" u="sng" dirty="0"/>
              <a:t>Abstract</a:t>
            </a:r>
            <a:r>
              <a:rPr lang="en-US" sz="2400" dirty="0"/>
              <a:t> </a:t>
            </a:r>
            <a:r>
              <a:rPr lang="en-US" sz="2400" i="1" dirty="0"/>
              <a:t>adjective</a:t>
            </a:r>
            <a:r>
              <a:rPr lang="en-US" sz="2400" dirty="0"/>
              <a:t> /</a:t>
            </a:r>
            <a:r>
              <a:rPr lang="en-US" sz="2400" dirty="0" err="1"/>
              <a:t>abˈstrakt</a:t>
            </a:r>
            <a:r>
              <a:rPr lang="en-US" sz="2400" dirty="0"/>
              <a:t>,ˈ</a:t>
            </a:r>
            <a:r>
              <a:rPr lang="en-US" sz="2400" dirty="0" err="1"/>
              <a:t>abˌstrakt</a:t>
            </a:r>
            <a:r>
              <a:rPr lang="en-US" sz="2400" dirty="0"/>
              <a:t>/: existing in thought or as an idea but not having a physical or concrete existence.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SzPts val="2590"/>
            </a:pPr>
            <a:endParaRPr lang="en-US" sz="24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buSzPts val="2590"/>
              <a:buNone/>
            </a:pPr>
            <a:r>
              <a:rPr lang="en-US" sz="2400" dirty="0"/>
              <a:t>To recap: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SzPts val="2590"/>
            </a:pPr>
            <a:r>
              <a:rPr lang="en-US" sz="2400" dirty="0"/>
              <a:t>Abstract methods have a </a:t>
            </a:r>
            <a:r>
              <a:rPr lang="en-US" sz="2400" i="1" dirty="0"/>
              <a:t>declaration</a:t>
            </a:r>
            <a:r>
              <a:rPr lang="en-US" sz="2400" dirty="0"/>
              <a:t>, but no </a:t>
            </a:r>
            <a:r>
              <a:rPr lang="en-US" sz="2400" i="1" dirty="0"/>
              <a:t>definition</a:t>
            </a:r>
            <a:r>
              <a:rPr lang="en-US" sz="2400" dirty="0"/>
              <a:t>. They are not </a:t>
            </a:r>
            <a:r>
              <a:rPr lang="en-US" sz="2400" i="1" dirty="0"/>
              <a:t>concrete</a:t>
            </a:r>
            <a:r>
              <a:rPr lang="en-US" sz="2400" dirty="0"/>
              <a:t> methods which have both.</a:t>
            </a:r>
          </a:p>
          <a:p>
            <a:pPr marL="342900" indent="-342900">
              <a:lnSpc>
                <a:spcPct val="90000"/>
              </a:lnSpc>
              <a:spcBef>
                <a:spcPts val="518"/>
              </a:spcBef>
              <a:buSzPts val="2590"/>
            </a:pPr>
            <a:r>
              <a:rPr lang="en-US" sz="2400" dirty="0"/>
              <a:t>A class that contains an abstract method (directly or through inheritance) </a:t>
            </a:r>
            <a:r>
              <a:rPr lang="en-US" sz="2400" i="1" dirty="0"/>
              <a:t>must be</a:t>
            </a:r>
            <a:r>
              <a:rPr lang="en-US" sz="2400" dirty="0"/>
              <a:t> an abstract class.</a:t>
            </a:r>
          </a:p>
          <a:p>
            <a:pPr marL="342900" indent="-342900">
              <a:lnSpc>
                <a:spcPct val="90000"/>
              </a:lnSpc>
              <a:spcBef>
                <a:spcPts val="518"/>
              </a:spcBef>
              <a:buSzPts val="2590"/>
            </a:pPr>
            <a:r>
              <a:rPr lang="en-US" sz="2400" dirty="0"/>
              <a:t>An abstract class does not need to contain any abstract methods.</a:t>
            </a:r>
          </a:p>
          <a:p>
            <a:pPr marL="342900" indent="-342900">
              <a:lnSpc>
                <a:spcPct val="90000"/>
              </a:lnSpc>
              <a:spcBef>
                <a:spcPts val="518"/>
              </a:spcBef>
              <a:buSzPts val="2590"/>
            </a:pPr>
            <a:r>
              <a:rPr lang="en-US" sz="2400" dirty="0"/>
              <a:t>Abstract classes cannot be instantiated. </a:t>
            </a:r>
          </a:p>
          <a:p>
            <a:pPr marL="342900" indent="-342900">
              <a:lnSpc>
                <a:spcPct val="90000"/>
              </a:lnSpc>
              <a:spcBef>
                <a:spcPts val="518"/>
              </a:spcBef>
              <a:buSzPts val="2590"/>
            </a:pPr>
            <a:r>
              <a:rPr lang="en-US" sz="2400" dirty="0"/>
              <a:t>Abstract classes store properties and behaviors that describe a type of thing but should not be instantiated.</a:t>
            </a:r>
          </a:p>
          <a:p>
            <a:pPr marL="342900" indent="-342900">
              <a:lnSpc>
                <a:spcPct val="90000"/>
              </a:lnSpc>
              <a:spcBef>
                <a:spcPts val="518"/>
              </a:spcBef>
              <a:buSzPts val="2590"/>
            </a:pPr>
            <a:r>
              <a:rPr lang="en-US" sz="2400" dirty="0"/>
              <a:t>Interfaces are also abstract entities…</a:t>
            </a:r>
          </a:p>
        </p:txBody>
      </p:sp>
      <p:sp>
        <p:nvSpPr>
          <p:cNvPr id="234" name="Google Shape;234;p18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A0818974-FFC1-162E-9E3C-282A5ED1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>
            <a:extLst>
              <a:ext uri="{FF2B5EF4-FFF2-40B4-BE49-F238E27FC236}">
                <a16:creationId xmlns:a16="http://schemas.microsoft.com/office/drawing/2014/main" id="{024E532E-802C-0903-4F61-31F9BCA989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Interfaces vs Abstract Classes	</a:t>
            </a:r>
            <a:endParaRPr dirty="0"/>
          </a:p>
        </p:txBody>
      </p:sp>
      <p:sp>
        <p:nvSpPr>
          <p:cNvPr id="254" name="Google Shape;254;p21">
            <a:extLst>
              <a:ext uri="{FF2B5EF4-FFF2-40B4-BE49-F238E27FC236}">
                <a16:creationId xmlns:a16="http://schemas.microsoft.com/office/drawing/2014/main" id="{6DF1F0E9-99E6-5516-3615-161F3E1D2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All methods of an interface are implicitly public and abstract</a:t>
            </a:r>
          </a:p>
          <a:p>
            <a:pPr marL="800100" lvl="1" indent="-342900">
              <a:lnSpc>
                <a:spcPct val="90000"/>
              </a:lnSpc>
              <a:spcBef>
                <a:spcPts val="0"/>
              </a:spcBef>
              <a:buSzPts val="2800"/>
              <a:buChar char="•"/>
            </a:pPr>
            <a:r>
              <a:rPr lang="en-US" dirty="0"/>
              <a:t>You can define them as 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dirty="0"/>
              <a:t>, or 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dirty="0"/>
              <a:t> as of Java 8.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Interface variables are implicitly 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public static final</a:t>
            </a:r>
            <a:endParaRPr lang="en-US" dirty="0"/>
          </a:p>
          <a:p>
            <a:pPr marL="342900" indent="-342900">
              <a:lnSpc>
                <a:spcPct val="90000"/>
              </a:lnSpc>
            </a:pPr>
            <a:r>
              <a:rPr lang="en-US" dirty="0"/>
              <a:t>Neither abstract classes or interfaces can be instantiated directly (you must create objects from derived classes)</a:t>
            </a:r>
          </a:p>
          <a:p>
            <a:pPr marL="342900" indent="-342900">
              <a:lnSpc>
                <a:spcPct val="90000"/>
              </a:lnSpc>
            </a:pPr>
            <a:r>
              <a:rPr lang="en-US" dirty="0"/>
              <a:t>Child classes the implement interfaces or abstract classes must provide a definition for abstract any methods.</a:t>
            </a:r>
          </a:p>
          <a:p>
            <a:pPr marL="342900" indent="-342900">
              <a:lnSpc>
                <a:spcPct val="90000"/>
              </a:lnSpc>
            </a:pPr>
            <a:r>
              <a:rPr lang="en-US" dirty="0"/>
              <a:t>A class can only extend one class; however, it can implement many interfaces.</a:t>
            </a:r>
          </a:p>
          <a:p>
            <a:pPr marL="342900" indent="-342900">
              <a:lnSpc>
                <a:spcPct val="90000"/>
              </a:lnSpc>
            </a:pPr>
            <a:endParaRPr lang="en-US" dirty="0"/>
          </a:p>
          <a:p>
            <a:pPr marL="342900" indent="-342900">
              <a:lnSpc>
                <a:spcPct val="90000"/>
              </a:lnSpc>
            </a:pPr>
            <a:endParaRPr lang="en-US" dirty="0"/>
          </a:p>
        </p:txBody>
      </p:sp>
      <p:sp>
        <p:nvSpPr>
          <p:cNvPr id="255" name="Google Shape;255;p21">
            <a:extLst>
              <a:ext uri="{FF2B5EF4-FFF2-40B4-BE49-F238E27FC236}">
                <a16:creationId xmlns:a16="http://schemas.microsoft.com/office/drawing/2014/main" id="{12E9793A-FE48-A713-354E-50A259DB4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50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Why Use Either?</a:t>
            </a:r>
            <a:endParaRPr dirty="0"/>
          </a:p>
        </p:txBody>
      </p:sp>
      <p:sp>
        <p:nvSpPr>
          <p:cNvPr id="262" name="Google Shape;262;p2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EAAEA7-B631-496C-8200-00784364A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69206"/>
              </p:ext>
            </p:extLst>
          </p:nvPr>
        </p:nvGraphicFramePr>
        <p:xfrm>
          <a:off x="380010" y="1605373"/>
          <a:ext cx="8383980" cy="46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990">
                  <a:extLst>
                    <a:ext uri="{9D8B030D-6E8A-4147-A177-3AD203B41FA5}">
                      <a16:colId xmlns:a16="http://schemas.microsoft.com/office/drawing/2014/main" val="1459911735"/>
                    </a:ext>
                  </a:extLst>
                </a:gridCol>
                <a:gridCol w="4191990">
                  <a:extLst>
                    <a:ext uri="{9D8B030D-6E8A-4147-A177-3AD203B41FA5}">
                      <a16:colId xmlns:a16="http://schemas.microsoft.com/office/drawing/2014/main" val="877915010"/>
                    </a:ext>
                  </a:extLst>
                </a:gridCol>
              </a:tblGrid>
              <a:tr h="221260">
                <a:tc>
                  <a:txBody>
                    <a:bodyPr/>
                    <a:lstStyle/>
                    <a:p>
                      <a:r>
                        <a:rPr lang="en-US" dirty="0"/>
                        <a:t>Abstract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21253"/>
                  </a:ext>
                </a:extLst>
              </a:tr>
              <a:tr h="517105">
                <a:tc>
                  <a:txBody>
                    <a:bodyPr/>
                    <a:lstStyle/>
                    <a:p>
                      <a:r>
                        <a:rPr lang="en-US" dirty="0"/>
                        <a:t>May contain variables with varying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Variables are implicitly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public</a:t>
                      </a:r>
                      <a:r>
                        <a:rPr lang="en-US" dirty="0"/>
                        <a:t> and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static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955488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May contain abstract and concrete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methods are abstract by default (although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default</a:t>
                      </a:r>
                      <a:r>
                        <a:rPr lang="en-US" i="0" dirty="0"/>
                        <a:t> and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static</a:t>
                      </a:r>
                      <a:r>
                        <a:rPr lang="en-US" i="0" dirty="0"/>
                        <a:t> keyword support exists)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29148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May have constructors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constructors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94767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Uses the keyword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extends</a:t>
                      </a:r>
                      <a:r>
                        <a:rPr lang="en-US" i="0" dirty="0"/>
                        <a:t> to support inheritance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the keyword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implements</a:t>
                      </a:r>
                      <a:r>
                        <a:rPr lang="en-US" i="0" dirty="0"/>
                        <a:t> to support inheritance for classes</a:t>
                      </a:r>
                    </a:p>
                    <a:p>
                      <a:r>
                        <a:rPr lang="en-US" i="0" dirty="0"/>
                        <a:t>(Note: interfaces still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extend</a:t>
                      </a:r>
                      <a:r>
                        <a:rPr lang="en-US" i="0" dirty="0"/>
                        <a:t> other interfaces)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35356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A class may extend only one abstract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class may implement multiple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718027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An abstract class may only extend another abstract class, or implement multiple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interface may extend multiple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538808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dirty="0"/>
                        <a:t>Methods may be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private, protected,</a:t>
                      </a:r>
                      <a:r>
                        <a:rPr lang="en-US" dirty="0"/>
                        <a:t> default or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 are implicitly </a:t>
                      </a:r>
                      <a:r>
                        <a:rPr lang="en-US" i="1" dirty="0">
                          <a:solidFill>
                            <a:srgbClr val="7030A0"/>
                          </a:solidFill>
                        </a:rPr>
                        <a:t>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872281"/>
                  </a:ext>
                </a:extLst>
              </a:tr>
              <a:tr h="506965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tx1"/>
                          </a:solidFill>
                        </a:rPr>
                        <a:t>Used to define </a:t>
                      </a:r>
                      <a:r>
                        <a:rPr lang="en-US" b="1" i="0" u="sng" dirty="0">
                          <a:solidFill>
                            <a:schemeClr val="tx1"/>
                          </a:solidFill>
                        </a:rPr>
                        <a:t>behavior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b="1" i="0" u="sng" dirty="0">
                          <a:solidFill>
                            <a:schemeClr val="tx1"/>
                          </a:solidFill>
                        </a:rPr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tx1"/>
                          </a:solidFill>
                        </a:rPr>
                        <a:t>Used to define </a:t>
                      </a:r>
                      <a:r>
                        <a:rPr lang="en-US" b="1" i="0" u="sng" dirty="0">
                          <a:solidFill>
                            <a:schemeClr val="tx1"/>
                          </a:solidFill>
                        </a:rPr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3181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Advanced Usage</a:t>
            </a:r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Abstract classes and Interfaces are often used in Libraries and Frameworks to give you access to their code (the states and behaviors defined in the library) for extension.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Example: The Java Servlets API defines how web applications handle and interpret HTTP requests to run code.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The library is designed to work polymorphically with subclasses of library-defined abstract classes.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dirty="0"/>
              <a:t>You </a:t>
            </a:r>
            <a:r>
              <a:rPr lang="en-US" i="1" dirty="0"/>
              <a:t>extend</a:t>
            </a:r>
            <a:r>
              <a:rPr lang="en-US" dirty="0"/>
              <a:t> the library’s abstract classes to create custom functionality, and register them with the library</a:t>
            </a:r>
            <a:endParaRPr dirty="0"/>
          </a:p>
        </p:txBody>
      </p:sp>
      <p:sp>
        <p:nvSpPr>
          <p:cNvPr id="276" name="Google Shape;276;p2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87A89429-7F17-A451-6F5C-CB5EF3DC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>
            <a:extLst>
              <a:ext uri="{FF2B5EF4-FFF2-40B4-BE49-F238E27FC236}">
                <a16:creationId xmlns:a16="http://schemas.microsoft.com/office/drawing/2014/main" id="{FDB1C5E6-6ED4-42D9-4211-E25C7F0EA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“Coding to the Interface”</a:t>
            </a:r>
            <a:endParaRPr dirty="0"/>
          </a:p>
        </p:txBody>
      </p:sp>
      <p:sp>
        <p:nvSpPr>
          <p:cNvPr id="282" name="Google Shape;282;p25">
            <a:extLst>
              <a:ext uri="{FF2B5EF4-FFF2-40B4-BE49-F238E27FC236}">
                <a16:creationId xmlns:a16="http://schemas.microsoft.com/office/drawing/2014/main" id="{A0699245-619C-F64D-E0CE-A457DB791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010" y="1540041"/>
            <a:ext cx="8176849" cy="442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Wherever possible, code should be “loosely coupled”</a:t>
            </a:r>
            <a:endParaRPr dirty="0"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“Tightly coupled” code is highly dependent on a specific implementation (concrete class).</a:t>
            </a: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lang="en-US"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endParaRPr lang="en-US" sz="1400" dirty="0"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What if the product later changes to require PostgreSQL database instead?</a:t>
            </a:r>
            <a:endParaRPr dirty="0"/>
          </a:p>
        </p:txBody>
      </p:sp>
      <p:sp>
        <p:nvSpPr>
          <p:cNvPr id="283" name="Google Shape;283;p25">
            <a:extLst>
              <a:ext uri="{FF2B5EF4-FFF2-40B4-BE49-F238E27FC236}">
                <a16:creationId xmlns:a16="http://schemas.microsoft.com/office/drawing/2014/main" id="{E557DAB3-FC6E-1970-52C0-F33B14C1AE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22005-1A3E-ACAA-EA8D-5670A6AA7A7D}"/>
              </a:ext>
            </a:extLst>
          </p:cNvPr>
          <p:cNvSpPr/>
          <p:nvPr/>
        </p:nvSpPr>
        <p:spPr>
          <a:xfrm>
            <a:off x="754144" y="2203348"/>
            <a:ext cx="7013544" cy="9992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MySQLDatabase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void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(string Table, string Value) {}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DE7B0F-C78D-A83D-8106-BC986CC3638D}"/>
              </a:ext>
            </a:extLst>
          </p:cNvPr>
          <p:cNvSpPr/>
          <p:nvPr/>
        </p:nvSpPr>
        <p:spPr>
          <a:xfrm>
            <a:off x="754144" y="3449959"/>
            <a:ext cx="7013544" cy="25177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CustomerRepository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private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MySQLDatabase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database;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CustomerRepository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MySQLDatabase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database) {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this.database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= database;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void add(string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CustomerName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database.addRow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("Customer",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CustomerName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lang="en-US" dirty="0"/>
          </a:p>
          <a:p>
            <a:pPr lvl="0"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43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DB6F-3DEE-4841-A9EC-E2E8A9E8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Loosely Coupled Example…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A170-99F9-4CE8-BEB3-8D9DC9809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C62A6-F1A0-4218-8CF5-814B6F6C224B}"/>
              </a:ext>
            </a:extLst>
          </p:cNvPr>
          <p:cNvSpPr/>
          <p:nvPr/>
        </p:nvSpPr>
        <p:spPr>
          <a:xfrm>
            <a:off x="380007" y="1328233"/>
            <a:ext cx="7868444" cy="716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void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(string Table, string Value);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8F6FC-93EC-4C55-856B-39752E8384EE}"/>
              </a:ext>
            </a:extLst>
          </p:cNvPr>
          <p:cNvSpPr/>
          <p:nvPr/>
        </p:nvSpPr>
        <p:spPr>
          <a:xfrm>
            <a:off x="380008" y="2228171"/>
            <a:ext cx="7868443" cy="6419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MySQLDatabase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implements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void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(string Table, string Value) { /* whatever*/ }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E8E1C-A145-43A5-8404-CFEC446D5A9E}"/>
              </a:ext>
            </a:extLst>
          </p:cNvPr>
          <p:cNvSpPr/>
          <p:nvPr/>
        </p:nvSpPr>
        <p:spPr>
          <a:xfrm>
            <a:off x="380008" y="3100314"/>
            <a:ext cx="7868443" cy="6419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PostgreSQLDatabase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implements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void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(string Table, string Value) { /*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postgre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code */}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C4198-E08D-4604-B165-0E6553F9902B}"/>
              </a:ext>
            </a:extLst>
          </p:cNvPr>
          <p:cNvSpPr/>
          <p:nvPr/>
        </p:nvSpPr>
        <p:spPr>
          <a:xfrm>
            <a:off x="380009" y="3925784"/>
            <a:ext cx="7868443" cy="26352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CustomerRepository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private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database;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CustomerRepository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database)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this.database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= database;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public void add(string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CustomerName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database.addRow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("Customer",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CustomerName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lang="en-US" dirty="0"/>
          </a:p>
          <a:p>
            <a:pPr lvl="0">
              <a:lnSpc>
                <a:spcPct val="80000"/>
              </a:lnSpc>
              <a:spcBef>
                <a:spcPts val="280"/>
              </a:spcBef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56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“Coding to the Interface”</a:t>
            </a:r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1"/>
          </p:nvPr>
        </p:nvSpPr>
        <p:spPr>
          <a:xfrm>
            <a:off x="380010" y="1377751"/>
            <a:ext cx="8383980" cy="49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Use interfaces to track common behavior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Use interface reference variables to polymorphically control concrete classes.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This way, the exact implementation doesn’t matter.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“Coding to the Interface” results in code that is easier to test, easier to fix, and easier to extend</a:t>
            </a:r>
            <a:endParaRPr dirty="0"/>
          </a:p>
        </p:txBody>
      </p:sp>
      <p:sp>
        <p:nvSpPr>
          <p:cNvPr id="297" name="Google Shape;297;p2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4F71-C4FB-5B58-BCB2-9E412CA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63E0C-2573-2498-CD07-B55B71A87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E8030F-89E2-441E-BAD6-FA3A7FEA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1336784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Design Patterns | Intro</a:t>
            </a:r>
            <a:endParaRPr dirty="0"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1"/>
          </p:nvPr>
        </p:nvSpPr>
        <p:spPr>
          <a:xfrm>
            <a:off x="380010" y="1219200"/>
            <a:ext cx="8383980" cy="55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 Design pattern is a typical solution to common problems in software design.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Each pattern acts like a blueprint that can be customized to solve a particular design problem in your code.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 design pattern provides a structure for </a:t>
            </a:r>
            <a:r>
              <a:rPr lang="en-US" b="1" i="1" dirty="0"/>
              <a:t>how you should structure your code, but not the exact implementation details</a:t>
            </a:r>
            <a:endParaRPr lang="en-US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Design Patterns are typically described formally, so that people can reproduce them in many contexts.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A good design pattern should answer the following questions: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What problem does the pattern seek to solve?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How does the pattern provide a solution to this problem?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What does the pattern look like / how is the pattern expressed?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It’s important to note, that although some design patterns may be specific to a particular problem, or type of problem, design patterns can be applied to many languages, and scenarios.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You don’t have to follow a design pattern ‘to the T’ to make use of the pattern’s benefits.</a:t>
            </a:r>
          </a:p>
        </p:txBody>
      </p:sp>
      <p:sp>
        <p:nvSpPr>
          <p:cNvPr id="297" name="Google Shape;297;p2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7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B1EC2723-833D-939E-2D76-F2BF0123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>
            <a:extLst>
              <a:ext uri="{FF2B5EF4-FFF2-40B4-BE49-F238E27FC236}">
                <a16:creationId xmlns:a16="http://schemas.microsoft.com/office/drawing/2014/main" id="{F5097113-8E8E-702A-C8D2-C1F7CB545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Design Patterns | POJO</a:t>
            </a:r>
            <a:endParaRPr dirty="0"/>
          </a:p>
        </p:txBody>
      </p:sp>
      <p:sp>
        <p:nvSpPr>
          <p:cNvPr id="296" name="Google Shape;296;p27">
            <a:extLst>
              <a:ext uri="{FF2B5EF4-FFF2-40B4-BE49-F238E27FC236}">
                <a16:creationId xmlns:a16="http://schemas.microsoft.com/office/drawing/2014/main" id="{2B62848D-ED89-BAF5-11F3-4755763D0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010" y="1377751"/>
            <a:ext cx="8383980" cy="49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POJO stands for ‘Plain Old Java Object’.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POJOs are an incredibly simple, and otherwise ordinary java object.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They are not bound by any special restrictions other than those enforced naturally by the java language.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POJOs are used due to readability and re-usability of a program.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POJOs are simply a way to retain state.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A POJO should NOT:</a:t>
            </a:r>
          </a:p>
          <a:p>
            <a:pPr marL="1257300" lvl="2" indent="-342900">
              <a:spcBef>
                <a:spcPts val="0"/>
              </a:spcBef>
              <a:buSzPts val="2800"/>
            </a:pPr>
            <a:r>
              <a:rPr lang="en-US" dirty="0"/>
              <a:t>Extend pre-defined classes</a:t>
            </a:r>
          </a:p>
          <a:p>
            <a:pPr marL="1257300" lvl="2" indent="-342900">
              <a:spcBef>
                <a:spcPts val="0"/>
              </a:spcBef>
              <a:buSzPts val="2800"/>
            </a:pPr>
            <a:r>
              <a:rPr lang="en-US" dirty="0"/>
              <a:t>Implement pre-defined interfaces</a:t>
            </a:r>
          </a:p>
          <a:p>
            <a:pPr marL="1257300" lvl="2" indent="-342900">
              <a:spcBef>
                <a:spcPts val="0"/>
              </a:spcBef>
              <a:buSzPts val="2800"/>
            </a:pPr>
            <a:r>
              <a:rPr lang="en-US" dirty="0"/>
              <a:t>Contain pre-defined annotations</a:t>
            </a:r>
          </a:p>
        </p:txBody>
      </p:sp>
      <p:sp>
        <p:nvSpPr>
          <p:cNvPr id="297" name="Google Shape;297;p27">
            <a:extLst>
              <a:ext uri="{FF2B5EF4-FFF2-40B4-BE49-F238E27FC236}">
                <a16:creationId xmlns:a16="http://schemas.microsoft.com/office/drawing/2014/main" id="{4D7D9816-F084-1EEB-E80A-EEE2673CC6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16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dirty="0"/>
              <a:t>Design Patterns - Bean</a:t>
            </a:r>
            <a:endParaRPr dirty="0"/>
          </a:p>
        </p:txBody>
      </p:sp>
      <p:sp>
        <p:nvSpPr>
          <p:cNvPr id="296" name="Google Shape;296;p27"/>
          <p:cNvSpPr txBox="1">
            <a:spLocks noGrp="1"/>
          </p:cNvSpPr>
          <p:nvPr>
            <p:ph type="body" idx="1"/>
          </p:nvPr>
        </p:nvSpPr>
        <p:spPr>
          <a:xfrm>
            <a:off x="380010" y="1377751"/>
            <a:ext cx="8383980" cy="49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Beans are special types of POJOs that apply certain restrictions to their creation.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They are used to represent data and state: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Qualities of a Bean: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All JavaBeans are POJOs, but not all POJOs are JavaBeans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All JavaBeans should implement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  <a:r>
              <a:rPr lang="en-US" dirty="0"/>
              <a:t> Interface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All Fields should be private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All accessor and mutator methods (getters and setters) must be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&gt;/set&lt;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 matches the name of the corresponding field</a:t>
            </a:r>
          </a:p>
          <a:p>
            <a:pPr marL="1257300" lvl="2" indent="-342900">
              <a:spcBef>
                <a:spcPts val="0"/>
              </a:spcBef>
              <a:buSzPts val="2800"/>
            </a:pPr>
            <a:r>
              <a:rPr lang="en-US" dirty="0"/>
              <a:t>Note: Not all fields require an access &amp; mutator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All fields are only accessed using the accessor method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Must have a no-</a:t>
            </a:r>
            <a:r>
              <a:rPr lang="en-US" dirty="0" err="1"/>
              <a:t>args</a:t>
            </a:r>
            <a:r>
              <a:rPr lang="en-US" dirty="0"/>
              <a:t> constructor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r>
              <a:rPr lang="en-US" dirty="0"/>
              <a:t>Provide an overridden version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equals(),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methods</a:t>
            </a:r>
          </a:p>
          <a:p>
            <a:pPr marL="800100" lvl="1" indent="-342900">
              <a:spcBef>
                <a:spcPts val="0"/>
              </a:spcBef>
              <a:buSzPts val="2800"/>
              <a:buChar char="•"/>
            </a:pPr>
            <a:endParaRPr lang="en-US" dirty="0"/>
          </a:p>
        </p:txBody>
      </p:sp>
      <p:sp>
        <p:nvSpPr>
          <p:cNvPr id="297" name="Google Shape;297;p27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583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9697</TotalTime>
  <Words>3428</Words>
  <Application>Microsoft Office PowerPoint</Application>
  <PresentationFormat>On-screen Show (4:3)</PresentationFormat>
  <Paragraphs>562</Paragraphs>
  <Slides>52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Courier New</vt:lpstr>
      <vt:lpstr>Segoe Print</vt:lpstr>
      <vt:lpstr>2_Custom Design</vt:lpstr>
      <vt:lpstr>Pillars of OOP</vt:lpstr>
      <vt:lpstr>Outline</vt:lpstr>
      <vt:lpstr>Pillars of OOP</vt:lpstr>
      <vt:lpstr>4 Pillars of Object-Oriented Programming</vt:lpstr>
      <vt:lpstr>Inheritance</vt:lpstr>
      <vt:lpstr>Inheritance and its Uses</vt:lpstr>
      <vt:lpstr>Object Class</vt:lpstr>
      <vt:lpstr>The Object Class (recap)</vt:lpstr>
      <vt:lpstr>The Object Class (recap)</vt:lpstr>
      <vt:lpstr>Object Class Methods (recap)</vt:lpstr>
      <vt:lpstr>Class Relationships</vt:lpstr>
      <vt:lpstr>Class Relationships</vt:lpstr>
      <vt:lpstr>Is-A vs Has-A Relationships</vt:lpstr>
      <vt:lpstr>HAS-A</vt:lpstr>
      <vt:lpstr>IS-A</vt:lpstr>
      <vt:lpstr>Relationships Define Structure</vt:lpstr>
      <vt:lpstr>Contract</vt:lpstr>
      <vt:lpstr>Example</vt:lpstr>
      <vt:lpstr>Encapsulation</vt:lpstr>
      <vt:lpstr>Encapsulation</vt:lpstr>
      <vt:lpstr>Access Modifiers</vt:lpstr>
      <vt:lpstr>Access Modifiers</vt:lpstr>
      <vt:lpstr>Accessing Class Members </vt:lpstr>
      <vt:lpstr>Accessing Class Members </vt:lpstr>
      <vt:lpstr>Accessing Class Members </vt:lpstr>
      <vt:lpstr>Accessing Class Members </vt:lpstr>
      <vt:lpstr>Polymorphism</vt:lpstr>
      <vt:lpstr>What is Polymorphism?</vt:lpstr>
      <vt:lpstr>PowerPoint Presentation</vt:lpstr>
      <vt:lpstr>What is Polymorphism Used For?</vt:lpstr>
      <vt:lpstr>Examples</vt:lpstr>
      <vt:lpstr>Examples</vt:lpstr>
      <vt:lpstr>Example</vt:lpstr>
      <vt:lpstr>Without Polymorphism…</vt:lpstr>
      <vt:lpstr>Method Overloading Preference</vt:lpstr>
      <vt:lpstr>Abstraction</vt:lpstr>
      <vt:lpstr>Abstraction</vt:lpstr>
      <vt:lpstr>Abstract Keyword</vt:lpstr>
      <vt:lpstr>Abstract Keyword (Example)</vt:lpstr>
      <vt:lpstr>Abstract Keyword (Example)</vt:lpstr>
      <vt:lpstr>Abstract Classes and Methods</vt:lpstr>
      <vt:lpstr>Interfaces vs Abstract Classes </vt:lpstr>
      <vt:lpstr>Why Use Either?</vt:lpstr>
      <vt:lpstr>Advanced Usage</vt:lpstr>
      <vt:lpstr>“Coding to the Interface”</vt:lpstr>
      <vt:lpstr>Loosely Coupled Example…</vt:lpstr>
      <vt:lpstr>“Coding to the Interface”</vt:lpstr>
      <vt:lpstr>Design Patterns</vt:lpstr>
      <vt:lpstr>Design Patterns | Intro</vt:lpstr>
      <vt:lpstr>Design Patterns | POJO</vt:lpstr>
      <vt:lpstr>Design Patterns - Bean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137</cp:revision>
  <dcterms:modified xsi:type="dcterms:W3CDTF">2026-07-29T14:39:39Z</dcterms:modified>
</cp:coreProperties>
</file>