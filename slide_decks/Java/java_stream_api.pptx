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14"/>
  </p:notesMasterIdLst>
  <p:sldIdLst>
    <p:sldId id="256" r:id="rId2"/>
    <p:sldId id="343" r:id="rId3"/>
    <p:sldId id="359" r:id="rId4"/>
    <p:sldId id="333" r:id="rId5"/>
    <p:sldId id="337" r:id="rId6"/>
    <p:sldId id="336" r:id="rId7"/>
    <p:sldId id="360" r:id="rId8"/>
    <p:sldId id="335" r:id="rId9"/>
    <p:sldId id="338" r:id="rId10"/>
    <p:sldId id="334" r:id="rId11"/>
    <p:sldId id="339" r:id="rId12"/>
    <p:sldId id="270" r:id="rId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8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4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D034C-CF51-4B22-9742-2A4F1E78825C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1847B-4054-49FB-B927-CC22EB7E8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94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userDrawn="1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2" name="Google Shape;176;p11">
            <a:extLst>
              <a:ext uri="{FF2B5EF4-FFF2-40B4-BE49-F238E27FC236}">
                <a16:creationId xmlns:a16="http://schemas.microsoft.com/office/drawing/2014/main" id="{DDD2F4FA-CFD8-08FC-0F3B-F9949BA21418}"/>
              </a:ext>
            </a:extLst>
          </p:cNvPr>
          <p:cNvGrpSpPr/>
          <p:nvPr userDrawn="1"/>
        </p:nvGrpSpPr>
        <p:grpSpPr>
          <a:xfrm>
            <a:off x="6357873" y="129163"/>
            <a:ext cx="2626555" cy="824705"/>
            <a:chOff x="7264458" y="365740"/>
            <a:chExt cx="1553308" cy="487719"/>
          </a:xfrm>
        </p:grpSpPr>
        <p:sp>
          <p:nvSpPr>
            <p:cNvPr id="23" name="Google Shape;177;p11">
              <a:extLst>
                <a:ext uri="{FF2B5EF4-FFF2-40B4-BE49-F238E27FC236}">
                  <a16:creationId xmlns:a16="http://schemas.microsoft.com/office/drawing/2014/main" id="{D19B23DE-579C-0DB4-DFF6-90FBC453B676}"/>
                </a:ext>
              </a:extLst>
            </p:cNvPr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78;p11">
              <a:extLst>
                <a:ext uri="{FF2B5EF4-FFF2-40B4-BE49-F238E27FC236}">
                  <a16:creationId xmlns:a16="http://schemas.microsoft.com/office/drawing/2014/main" id="{38A5DCDE-4BD7-01CA-FFE6-77F17C7B8EEA}"/>
                </a:ext>
              </a:extLst>
            </p:cNvPr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79;p11">
              <a:extLst>
                <a:ext uri="{FF2B5EF4-FFF2-40B4-BE49-F238E27FC236}">
                  <a16:creationId xmlns:a16="http://schemas.microsoft.com/office/drawing/2014/main" id="{9C2B3828-7B92-071D-0EA9-5468A407C237}"/>
                </a:ext>
              </a:extLst>
            </p:cNvPr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80;p11">
              <a:extLst>
                <a:ext uri="{FF2B5EF4-FFF2-40B4-BE49-F238E27FC236}">
                  <a16:creationId xmlns:a16="http://schemas.microsoft.com/office/drawing/2014/main" id="{47430CB3-CEF4-C386-0445-9AF66A0086AC}"/>
                </a:ext>
              </a:extLst>
            </p:cNvPr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81;p11">
              <a:extLst>
                <a:ext uri="{FF2B5EF4-FFF2-40B4-BE49-F238E27FC236}">
                  <a16:creationId xmlns:a16="http://schemas.microsoft.com/office/drawing/2014/main" id="{92550410-487E-C218-1DE6-10132DB509CA}"/>
                </a:ext>
              </a:extLst>
            </p:cNvPr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82;p11">
              <a:extLst>
                <a:ext uri="{FF2B5EF4-FFF2-40B4-BE49-F238E27FC236}">
                  <a16:creationId xmlns:a16="http://schemas.microsoft.com/office/drawing/2014/main" id="{57E348D5-26B1-EB99-E05F-73D620AAEC0B}"/>
                </a:ext>
              </a:extLst>
            </p:cNvPr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83;p11">
              <a:extLst>
                <a:ext uri="{FF2B5EF4-FFF2-40B4-BE49-F238E27FC236}">
                  <a16:creationId xmlns:a16="http://schemas.microsoft.com/office/drawing/2014/main" id="{F9A72824-9570-9735-14A2-ADC2D9C5B56E}"/>
                </a:ext>
              </a:extLst>
            </p:cNvPr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84;p11">
              <a:extLst>
                <a:ext uri="{FF2B5EF4-FFF2-40B4-BE49-F238E27FC236}">
                  <a16:creationId xmlns:a16="http://schemas.microsoft.com/office/drawing/2014/main" id="{A6132E85-7F17-C1DD-7938-01ADC07717EC}"/>
                </a:ext>
              </a:extLst>
            </p:cNvPr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85;p11">
              <a:extLst>
                <a:ext uri="{FF2B5EF4-FFF2-40B4-BE49-F238E27FC236}">
                  <a16:creationId xmlns:a16="http://schemas.microsoft.com/office/drawing/2014/main" id="{7FD5DCDE-C565-B7BB-2730-DB096695CCC4}"/>
                </a:ext>
              </a:extLst>
            </p:cNvPr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186;p11">
              <a:extLst>
                <a:ext uri="{FF2B5EF4-FFF2-40B4-BE49-F238E27FC236}">
                  <a16:creationId xmlns:a16="http://schemas.microsoft.com/office/drawing/2014/main" id="{DEDC26B6-E6B5-B9C1-C35B-86EF52E46091}"/>
                </a:ext>
              </a:extLst>
            </p:cNvPr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187;p11">
              <a:extLst>
                <a:ext uri="{FF2B5EF4-FFF2-40B4-BE49-F238E27FC236}">
                  <a16:creationId xmlns:a16="http://schemas.microsoft.com/office/drawing/2014/main" id="{47F49BB3-6F6F-FC7D-6EA5-EE6BD142451F}"/>
                </a:ext>
              </a:extLst>
            </p:cNvPr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88;p11">
              <a:extLst>
                <a:ext uri="{FF2B5EF4-FFF2-40B4-BE49-F238E27FC236}">
                  <a16:creationId xmlns:a16="http://schemas.microsoft.com/office/drawing/2014/main" id="{48C4EC1F-3284-54BD-FCD7-203C3416EDD8}"/>
                </a:ext>
              </a:extLst>
            </p:cNvPr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89;p11">
              <a:extLst>
                <a:ext uri="{FF2B5EF4-FFF2-40B4-BE49-F238E27FC236}">
                  <a16:creationId xmlns:a16="http://schemas.microsoft.com/office/drawing/2014/main" id="{10BFB54E-B6BA-7591-8BB4-C33EA2F4676B}"/>
                </a:ext>
              </a:extLst>
            </p:cNvPr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90;p11">
              <a:extLst>
                <a:ext uri="{FF2B5EF4-FFF2-40B4-BE49-F238E27FC236}">
                  <a16:creationId xmlns:a16="http://schemas.microsoft.com/office/drawing/2014/main" id="{0EE20016-882F-8B35-DC61-1BA7E7CCF5DC}"/>
                </a:ext>
              </a:extLst>
            </p:cNvPr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91;p11">
              <a:extLst>
                <a:ext uri="{FF2B5EF4-FFF2-40B4-BE49-F238E27FC236}">
                  <a16:creationId xmlns:a16="http://schemas.microsoft.com/office/drawing/2014/main" id="{67228C62-CA2E-8594-C062-418C35D65C56}"/>
                </a:ext>
              </a:extLst>
            </p:cNvPr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92;p11">
              <a:extLst>
                <a:ext uri="{FF2B5EF4-FFF2-40B4-BE49-F238E27FC236}">
                  <a16:creationId xmlns:a16="http://schemas.microsoft.com/office/drawing/2014/main" id="{A5BD7804-6552-5620-3F18-14CE56045569}"/>
                </a:ext>
              </a:extLst>
            </p:cNvPr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93;p11">
              <a:extLst>
                <a:ext uri="{FF2B5EF4-FFF2-40B4-BE49-F238E27FC236}">
                  <a16:creationId xmlns:a16="http://schemas.microsoft.com/office/drawing/2014/main" id="{4FF134E0-F91E-CAF5-D7B7-9EE6ED19565D}"/>
                </a:ext>
              </a:extLst>
            </p:cNvPr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94;p11">
              <a:extLst>
                <a:ext uri="{FF2B5EF4-FFF2-40B4-BE49-F238E27FC236}">
                  <a16:creationId xmlns:a16="http://schemas.microsoft.com/office/drawing/2014/main" id="{8C31DAD5-1E35-B24F-6905-67B151403252}"/>
                </a:ext>
              </a:extLst>
            </p:cNvPr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339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8924-9A92-4C04-B505-EA1D30C59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388DC-622E-44CF-8E31-113F9A9DE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Optional Class, Stream API</a:t>
            </a:r>
          </a:p>
        </p:txBody>
      </p:sp>
    </p:spTree>
    <p:extLst>
      <p:ext uri="{BB962C8B-B14F-4D97-AF65-F5344CB8AC3E}">
        <p14:creationId xmlns:p14="http://schemas.microsoft.com/office/powerpoint/2010/main" val="1377294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979739"/>
          </a:xfrm>
        </p:spPr>
        <p:txBody>
          <a:bodyPr numCol="1">
            <a:normAutofit/>
          </a:bodyPr>
          <a:lstStyle/>
          <a:p>
            <a:r>
              <a:rPr lang="en-US" dirty="0"/>
              <a:t>Optional Class</a:t>
            </a:r>
          </a:p>
          <a:p>
            <a:r>
              <a:rPr lang="en-US" dirty="0"/>
              <a:t>Java Stream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AE95-153C-EF68-1B74-C97C73EF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368BEB-68A9-CEC8-DD9E-7F1A9DA240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834D63-0F64-E08F-72D8-E6E15F9B4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Optional Class</a:t>
            </a:r>
          </a:p>
        </p:txBody>
      </p:sp>
    </p:spTree>
    <p:extLst>
      <p:ext uri="{BB962C8B-B14F-4D97-AF65-F5344CB8AC3E}">
        <p14:creationId xmlns:p14="http://schemas.microsoft.com/office/powerpoint/2010/main" val="3222401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A948-346B-454B-ABEA-5F518BEB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Optional Class acts as a container object which can be used to better represent ‘null’ values.</a:t>
            </a:r>
          </a:p>
          <a:p>
            <a:r>
              <a:rPr lang="en-US" dirty="0"/>
              <a:t>null will result in ‘</a:t>
            </a:r>
            <a:r>
              <a:rPr lang="en-US" dirty="0" err="1"/>
              <a:t>NullPointerException</a:t>
            </a:r>
            <a:r>
              <a:rPr lang="en-US" dirty="0"/>
              <a:t>’ whereas Optional Objects provide methods which can be used to return more specific information. </a:t>
            </a:r>
          </a:p>
          <a:p>
            <a:pPr lvl="1"/>
            <a:r>
              <a:rPr lang="en-US" dirty="0"/>
              <a:t>Introduced in Java 8</a:t>
            </a:r>
          </a:p>
          <a:p>
            <a:pPr lvl="1"/>
            <a:r>
              <a:rPr lang="en-US" dirty="0"/>
              <a:t>Within </a:t>
            </a:r>
            <a:r>
              <a:rPr lang="en-US" dirty="0" err="1"/>
              <a:t>java.util</a:t>
            </a:r>
            <a:r>
              <a:rPr lang="en-US" dirty="0"/>
              <a:t> package</a:t>
            </a:r>
          </a:p>
          <a:p>
            <a:pPr lvl="1"/>
            <a:r>
              <a:rPr lang="en-US" dirty="0"/>
              <a:t>Used heavily in conjunction with Stream API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08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E5FB2-132D-A45C-A349-006E69FB52AE}"/>
              </a:ext>
            </a:extLst>
          </p:cNvPr>
          <p:cNvSpPr/>
          <p:nvPr/>
        </p:nvSpPr>
        <p:spPr>
          <a:xfrm>
            <a:off x="380010" y="1316053"/>
            <a:ext cx="8604418" cy="5047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java.util.Optional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ExamGrader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Optional&lt;Double&gt;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calculateAverage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(Double[] scores) {</a:t>
            </a:r>
          </a:p>
          <a:p>
            <a:pPr defTabSz="228600"/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if the student has not taken any tests…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scores.length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0) 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Optional.empty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total = 0;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(Double s : scores) total += s;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Optional.of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 total/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scores.length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9884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A948-346B-454B-ABEA-5F518BEB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9881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Static Methods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empty()</a:t>
            </a:r>
            <a:r>
              <a:rPr lang="en-US" dirty="0"/>
              <a:t> – Used to return an ‘empty’ Optional object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of()</a:t>
            </a:r>
            <a:r>
              <a:rPr lang="en-US" dirty="0"/>
              <a:t> – Used to return an Optional with a Non-nullable value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ofNullable</a:t>
            </a:r>
            <a:r>
              <a:rPr lang="en-US" dirty="0"/>
              <a:t> – Used to return an Optional with a potentially null value. </a:t>
            </a:r>
          </a:p>
          <a:p>
            <a:pPr lvl="2"/>
            <a:r>
              <a:rPr lang="en-US" dirty="0"/>
              <a:t>The Optional will be empty if the argument supplied is null.</a:t>
            </a:r>
          </a:p>
          <a:p>
            <a:r>
              <a:rPr lang="en-US" dirty="0" err="1"/>
              <a:t>InstanceMethods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get()</a:t>
            </a:r>
            <a:r>
              <a:rPr lang="en-US" dirty="0"/>
              <a:t> – retrieve the Optional value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orElseGet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– retrieve the value if present, or provide another default value.</a:t>
            </a:r>
          </a:p>
          <a:p>
            <a:pPr lvl="2"/>
            <a:r>
              <a:rPr lang="en-US" dirty="0"/>
              <a:t>The default value is supplied using the ‘Supplier’ functional Interface.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orElseThrow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– retrieve the value if present, or throw some exception.</a:t>
            </a:r>
          </a:p>
          <a:p>
            <a:pPr lvl="2"/>
            <a:r>
              <a:rPr lang="en-US" dirty="0"/>
              <a:t>The Exception is supplied using the ‘Supplier’ functional Interface.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08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7A75-76A4-497C-1FDA-21D518D3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3F93F-3E65-720F-FE43-94D6A9C08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18C627-6188-4F58-858F-70044110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2"/>
                </a:solidFill>
              </a:rPr>
              <a:t>Java Stream API</a:t>
            </a:r>
          </a:p>
        </p:txBody>
      </p:sp>
    </p:spTree>
    <p:extLst>
      <p:ext uri="{BB962C8B-B14F-4D97-AF65-F5344CB8AC3E}">
        <p14:creationId xmlns:p14="http://schemas.microsoft.com/office/powerpoint/2010/main" val="97346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A948-346B-454B-ABEA-5F518BEB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/>
              <a:t>Stream</a:t>
            </a:r>
            <a:r>
              <a:rPr lang="en-US" dirty="0"/>
              <a:t> is a sequence of data in Java.</a:t>
            </a:r>
          </a:p>
          <a:p>
            <a:r>
              <a:rPr lang="en-US" i="1" dirty="0"/>
              <a:t>Streams</a:t>
            </a:r>
            <a:r>
              <a:rPr lang="en-US" dirty="0"/>
              <a:t> allow a developer to perform operations on some data (generally a collection) to produce a new set without effecting the original.</a:t>
            </a:r>
          </a:p>
          <a:p>
            <a:r>
              <a:rPr lang="en-US" dirty="0"/>
              <a:t>Streams can be ‘finite’ (they have an ‘end’ to their data) or ‘infinite’ (they can potentially go on forever)</a:t>
            </a:r>
          </a:p>
          <a:p>
            <a:pPr lvl="1"/>
            <a:r>
              <a:rPr lang="en-US" dirty="0"/>
              <a:t>Finite streams are generated using the static methods: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Stream.empty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’,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Stream.of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or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stream()</a:t>
            </a:r>
            <a:r>
              <a:rPr lang="en-US" dirty="0"/>
              <a:t>’ method found on Collection Objects.</a:t>
            </a:r>
          </a:p>
          <a:p>
            <a:pPr lvl="1"/>
            <a:r>
              <a:rPr lang="en-US" dirty="0"/>
              <a:t>Infinite streams are generated using the static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Stream.generate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or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Stream.iterate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’ methods.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2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A948-346B-454B-ABEA-5F518BEB9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Stream API allows you to easily convert collections of objects to streams to allow the contents to be processed as such. </a:t>
            </a:r>
          </a:p>
          <a:p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referenceToCollection.stream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methodsToProcessCollection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methodsToPrepareResult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map(), filter(), sorted()</a:t>
            </a:r>
          </a:p>
          <a:p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reduce(), collect(),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5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20FD-36E9-44A9-BACD-302BB851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19308-B89C-471B-BFE6-CA57ABFAF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78CE-C97A-4456-83C9-42C0A3A5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3BD423-9ADE-421C-A612-105B76C5A426}"/>
              </a:ext>
            </a:extLst>
          </p:cNvPr>
          <p:cNvSpPr/>
          <p:nvPr/>
        </p:nvSpPr>
        <p:spPr>
          <a:xfrm>
            <a:off x="380010" y="1481447"/>
            <a:ext cx="8604418" cy="48822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java.util.List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java.util.ArrayList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java.util.Arrays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java.util.stream.Collectors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Simulator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defTabSz="228600"/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List&lt;String&gt; list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Arrays.asList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(“a”, “b”); 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List&lt;String&gt; uppercase =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.stream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defTabSz="22860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.map(</a:t>
            </a:r>
            <a:r>
              <a:rPr lang="en-US" sz="18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.toUpperCase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defTabSz="228600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.collect(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Collectors.</a:t>
            </a:r>
            <a:r>
              <a:rPr lang="en-US" sz="18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18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defTabSz="228600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21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ECBC7-9B34-4C16-9C41-05516CACA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DA948-346B-454B-ABEA-5F518BEB9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Streams utilize many built-in Functional Interfaces. To better understand Streams, look into the following functional interfaces:</a:t>
            </a:r>
          </a:p>
          <a:p>
            <a:pPr lvl="1"/>
            <a:r>
              <a:rPr lang="en-US" sz="1800" dirty="0">
                <a:solidFill>
                  <a:srgbClr val="7F0055"/>
                </a:solidFill>
              </a:rPr>
              <a:t>interface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Supplier&lt;T&gt; { T get(); }</a:t>
            </a:r>
          </a:p>
          <a:p>
            <a:pPr lvl="2"/>
            <a:r>
              <a:rPr lang="en-US" sz="1400" dirty="0"/>
              <a:t>Creates an instance of the specified type.</a:t>
            </a:r>
          </a:p>
          <a:p>
            <a:pPr lvl="1"/>
            <a:r>
              <a:rPr lang="en-US" sz="1800" dirty="0">
                <a:solidFill>
                  <a:srgbClr val="7F0055"/>
                </a:solidFill>
              </a:rPr>
              <a:t>interface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Consumer&lt;T&gt; { void accept(T); } </a:t>
            </a:r>
          </a:p>
          <a:p>
            <a:pPr lvl="2"/>
            <a:r>
              <a:rPr lang="en-US" sz="1400" dirty="0"/>
              <a:t>Performs some action and accepts a single argument of any type</a:t>
            </a:r>
          </a:p>
          <a:p>
            <a:pPr lvl="1"/>
            <a:r>
              <a:rPr lang="en-US" sz="1800" dirty="0">
                <a:solidFill>
                  <a:srgbClr val="7F0055"/>
                </a:solidFill>
              </a:rPr>
              <a:t>interface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Predicate&lt;T&gt; { </a:t>
            </a:r>
            <a:r>
              <a:rPr lang="en-US" sz="1800" dirty="0" err="1"/>
              <a:t>boolean</a:t>
            </a:r>
            <a:r>
              <a:rPr lang="en-US" sz="1800" dirty="0"/>
              <a:t> test(T t); }</a:t>
            </a:r>
          </a:p>
          <a:p>
            <a:pPr lvl="2"/>
            <a:r>
              <a:rPr lang="en-US" sz="1400" dirty="0"/>
              <a:t>Returns a </a:t>
            </a:r>
            <a:r>
              <a:rPr lang="en-US" sz="1400" dirty="0" err="1"/>
              <a:t>boolean</a:t>
            </a:r>
            <a:r>
              <a:rPr lang="en-US" sz="1400" dirty="0"/>
              <a:t> and accepts an argument of any type</a:t>
            </a:r>
          </a:p>
          <a:p>
            <a:pPr lvl="1"/>
            <a:r>
              <a:rPr lang="en-US" sz="1800" dirty="0">
                <a:solidFill>
                  <a:srgbClr val="7F0055"/>
                </a:solidFill>
              </a:rPr>
              <a:t>interface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/>
              <a:t>Function&lt;T, R&gt; { R apply(T t); }</a:t>
            </a:r>
          </a:p>
          <a:p>
            <a:pPr lvl="2"/>
            <a:r>
              <a:rPr lang="en-US" sz="1400" dirty="0"/>
              <a:t>Performs some action and accepts any single type (T) and returns any type (R)</a:t>
            </a:r>
          </a:p>
          <a:p>
            <a:pPr lvl="1"/>
            <a:r>
              <a:rPr lang="en-US" sz="1800" dirty="0">
                <a:solidFill>
                  <a:srgbClr val="7F0055"/>
                </a:solidFill>
              </a:rPr>
              <a:t>interface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/>
              <a:t>UnaryOperator</a:t>
            </a:r>
            <a:r>
              <a:rPr lang="en-US" sz="1800" dirty="0"/>
              <a:t>&lt;T&gt; { T apply(T t); }</a:t>
            </a:r>
          </a:p>
          <a:p>
            <a:pPr lvl="2"/>
            <a:r>
              <a:rPr lang="en-US" sz="1400" dirty="0"/>
              <a:t>Performs some action and accepts any type and returns an instance of a matching type</a:t>
            </a:r>
          </a:p>
          <a:p>
            <a:endParaRPr lang="en-US" sz="2400" dirty="0"/>
          </a:p>
          <a:p>
            <a:r>
              <a:rPr lang="en-US" sz="2400" dirty="0"/>
              <a:t>**NOTE: You </a:t>
            </a:r>
            <a:r>
              <a:rPr lang="en-US" sz="2400" b="1" u="sng" dirty="0"/>
              <a:t>don’t</a:t>
            </a:r>
            <a:r>
              <a:rPr lang="en-US" sz="2400" dirty="0"/>
              <a:t> need to memorize this list!**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A10C4-406D-4489-B237-D913B89C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47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2035</TotalTime>
  <Words>719</Words>
  <Application>Microsoft Office PowerPoint</Application>
  <PresentationFormat>On-screen Show (4:3)</PresentationFormat>
  <Paragraphs>86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Courier New</vt:lpstr>
      <vt:lpstr>Revature</vt:lpstr>
      <vt:lpstr>Advanced Java</vt:lpstr>
      <vt:lpstr>Outline</vt:lpstr>
      <vt:lpstr>Optional Class</vt:lpstr>
      <vt:lpstr>Optional Class</vt:lpstr>
      <vt:lpstr>Optional Class</vt:lpstr>
      <vt:lpstr>Optional Methods</vt:lpstr>
      <vt:lpstr>Java Stream API</vt:lpstr>
      <vt:lpstr>Java Streams</vt:lpstr>
      <vt:lpstr>Stream API</vt:lpstr>
      <vt:lpstr>Stream Example</vt:lpstr>
      <vt:lpstr>Functional Interfaces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Bryn Portella</dc:creator>
  <cp:lastModifiedBy>Joseph Highe</cp:lastModifiedBy>
  <cp:revision>16</cp:revision>
  <dcterms:created xsi:type="dcterms:W3CDTF">2021-05-11T18:50:44Z</dcterms:created>
  <dcterms:modified xsi:type="dcterms:W3CDTF">2026-08-07T20:12:35Z</dcterms:modified>
</cp:coreProperties>
</file>