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4"/>
  </p:notesMasterIdLst>
  <p:sldIdLst>
    <p:sldId id="256" r:id="rId2"/>
    <p:sldId id="361" r:id="rId3"/>
    <p:sldId id="315" r:id="rId4"/>
    <p:sldId id="331" r:id="rId5"/>
    <p:sldId id="318" r:id="rId6"/>
    <p:sldId id="320" r:id="rId7"/>
    <p:sldId id="321" r:id="rId8"/>
    <p:sldId id="319" r:id="rId9"/>
    <p:sldId id="322" r:id="rId10"/>
    <p:sldId id="323" r:id="rId11"/>
    <p:sldId id="332" r:id="rId12"/>
    <p:sldId id="270" r:id="rId1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92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D034C-CF51-4B22-9742-2A4F1E78825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1847B-4054-49FB-B927-CC22EB7E8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9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2" name="Google Shape;176;p11">
            <a:extLst>
              <a:ext uri="{FF2B5EF4-FFF2-40B4-BE49-F238E27FC236}">
                <a16:creationId xmlns:a16="http://schemas.microsoft.com/office/drawing/2014/main" id="{DDD2F4FA-CFD8-08FC-0F3B-F9949BA21418}"/>
              </a:ext>
            </a:extLst>
          </p:cNvPr>
          <p:cNvGrpSpPr/>
          <p:nvPr userDrawn="1"/>
        </p:nvGrpSpPr>
        <p:grpSpPr>
          <a:xfrm>
            <a:off x="6357873" y="129163"/>
            <a:ext cx="2626555" cy="824705"/>
            <a:chOff x="7264458" y="365740"/>
            <a:chExt cx="1553308" cy="487719"/>
          </a:xfrm>
        </p:grpSpPr>
        <p:sp>
          <p:nvSpPr>
            <p:cNvPr id="23" name="Google Shape;177;p11">
              <a:extLst>
                <a:ext uri="{FF2B5EF4-FFF2-40B4-BE49-F238E27FC236}">
                  <a16:creationId xmlns:a16="http://schemas.microsoft.com/office/drawing/2014/main" id="{D19B23DE-579C-0DB4-DFF6-90FBC453B676}"/>
                </a:ext>
              </a:extLst>
            </p:cNvPr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78;p11">
              <a:extLst>
                <a:ext uri="{FF2B5EF4-FFF2-40B4-BE49-F238E27FC236}">
                  <a16:creationId xmlns:a16="http://schemas.microsoft.com/office/drawing/2014/main" id="{38A5DCDE-4BD7-01CA-FFE6-77F17C7B8EEA}"/>
                </a:ext>
              </a:extLst>
            </p:cNvPr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79;p11">
              <a:extLst>
                <a:ext uri="{FF2B5EF4-FFF2-40B4-BE49-F238E27FC236}">
                  <a16:creationId xmlns:a16="http://schemas.microsoft.com/office/drawing/2014/main" id="{9C2B3828-7B92-071D-0EA9-5468A407C237}"/>
                </a:ext>
              </a:extLst>
            </p:cNvPr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80;p11">
              <a:extLst>
                <a:ext uri="{FF2B5EF4-FFF2-40B4-BE49-F238E27FC236}">
                  <a16:creationId xmlns:a16="http://schemas.microsoft.com/office/drawing/2014/main" id="{47430CB3-CEF4-C386-0445-9AF66A0086AC}"/>
                </a:ext>
              </a:extLst>
            </p:cNvPr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81;p11">
              <a:extLst>
                <a:ext uri="{FF2B5EF4-FFF2-40B4-BE49-F238E27FC236}">
                  <a16:creationId xmlns:a16="http://schemas.microsoft.com/office/drawing/2014/main" id="{92550410-487E-C218-1DE6-10132DB509CA}"/>
                </a:ext>
              </a:extLst>
            </p:cNvPr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82;p11">
              <a:extLst>
                <a:ext uri="{FF2B5EF4-FFF2-40B4-BE49-F238E27FC236}">
                  <a16:creationId xmlns:a16="http://schemas.microsoft.com/office/drawing/2014/main" id="{57E348D5-26B1-EB99-E05F-73D620AAEC0B}"/>
                </a:ext>
              </a:extLst>
            </p:cNvPr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83;p11">
              <a:extLst>
                <a:ext uri="{FF2B5EF4-FFF2-40B4-BE49-F238E27FC236}">
                  <a16:creationId xmlns:a16="http://schemas.microsoft.com/office/drawing/2014/main" id="{F9A72824-9570-9735-14A2-ADC2D9C5B56E}"/>
                </a:ext>
              </a:extLst>
            </p:cNvPr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84;p11">
              <a:extLst>
                <a:ext uri="{FF2B5EF4-FFF2-40B4-BE49-F238E27FC236}">
                  <a16:creationId xmlns:a16="http://schemas.microsoft.com/office/drawing/2014/main" id="{A6132E85-7F17-C1DD-7938-01ADC07717EC}"/>
                </a:ext>
              </a:extLst>
            </p:cNvPr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85;p11">
              <a:extLst>
                <a:ext uri="{FF2B5EF4-FFF2-40B4-BE49-F238E27FC236}">
                  <a16:creationId xmlns:a16="http://schemas.microsoft.com/office/drawing/2014/main" id="{7FD5DCDE-C565-B7BB-2730-DB096695CCC4}"/>
                </a:ext>
              </a:extLst>
            </p:cNvPr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86;p11">
              <a:extLst>
                <a:ext uri="{FF2B5EF4-FFF2-40B4-BE49-F238E27FC236}">
                  <a16:creationId xmlns:a16="http://schemas.microsoft.com/office/drawing/2014/main" id="{DEDC26B6-E6B5-B9C1-C35B-86EF52E46091}"/>
                </a:ext>
              </a:extLst>
            </p:cNvPr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87;p11">
              <a:extLst>
                <a:ext uri="{FF2B5EF4-FFF2-40B4-BE49-F238E27FC236}">
                  <a16:creationId xmlns:a16="http://schemas.microsoft.com/office/drawing/2014/main" id="{47F49BB3-6F6F-FC7D-6EA5-EE6BD142451F}"/>
                </a:ext>
              </a:extLst>
            </p:cNvPr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88;p11">
              <a:extLst>
                <a:ext uri="{FF2B5EF4-FFF2-40B4-BE49-F238E27FC236}">
                  <a16:creationId xmlns:a16="http://schemas.microsoft.com/office/drawing/2014/main" id="{48C4EC1F-3284-54BD-FCD7-203C3416EDD8}"/>
                </a:ext>
              </a:extLst>
            </p:cNvPr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89;p11">
              <a:extLst>
                <a:ext uri="{FF2B5EF4-FFF2-40B4-BE49-F238E27FC236}">
                  <a16:creationId xmlns:a16="http://schemas.microsoft.com/office/drawing/2014/main" id="{10BFB54E-B6BA-7591-8BB4-C33EA2F4676B}"/>
                </a:ext>
              </a:extLst>
            </p:cNvPr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90;p11">
              <a:extLst>
                <a:ext uri="{FF2B5EF4-FFF2-40B4-BE49-F238E27FC236}">
                  <a16:creationId xmlns:a16="http://schemas.microsoft.com/office/drawing/2014/main" id="{0EE20016-882F-8B35-DC61-1BA7E7CCF5DC}"/>
                </a:ext>
              </a:extLst>
            </p:cNvPr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91;p11">
              <a:extLst>
                <a:ext uri="{FF2B5EF4-FFF2-40B4-BE49-F238E27FC236}">
                  <a16:creationId xmlns:a16="http://schemas.microsoft.com/office/drawing/2014/main" id="{67228C62-CA2E-8594-C062-418C35D65C56}"/>
                </a:ext>
              </a:extLst>
            </p:cNvPr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92;p11">
              <a:extLst>
                <a:ext uri="{FF2B5EF4-FFF2-40B4-BE49-F238E27FC236}">
                  <a16:creationId xmlns:a16="http://schemas.microsoft.com/office/drawing/2014/main" id="{A5BD7804-6552-5620-3F18-14CE56045569}"/>
                </a:ext>
              </a:extLst>
            </p:cNvPr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193;p11">
              <a:extLst>
                <a:ext uri="{FF2B5EF4-FFF2-40B4-BE49-F238E27FC236}">
                  <a16:creationId xmlns:a16="http://schemas.microsoft.com/office/drawing/2014/main" id="{4FF134E0-F91E-CAF5-D7B7-9EE6ED19565D}"/>
                </a:ext>
              </a:extLst>
            </p:cNvPr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94;p11">
              <a:extLst>
                <a:ext uri="{FF2B5EF4-FFF2-40B4-BE49-F238E27FC236}">
                  <a16:creationId xmlns:a16="http://schemas.microsoft.com/office/drawing/2014/main" id="{8C31DAD5-1E35-B24F-6905-67B151403252}"/>
                </a:ext>
              </a:extLst>
            </p:cNvPr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339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8924-9A92-4C04-B505-EA1D30C59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388DC-622E-44CF-8E31-113F9A9DE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Reflection API</a:t>
            </a:r>
          </a:p>
        </p:txBody>
      </p:sp>
    </p:spTree>
    <p:extLst>
      <p:ext uri="{BB962C8B-B14F-4D97-AF65-F5344CB8AC3E}">
        <p14:creationId xmlns:p14="http://schemas.microsoft.com/office/powerpoint/2010/main" val="137729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8AF5-1AB2-9E25-377A-6A56D6F6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9AD5C4-7F2C-84B2-95F9-1FB88E8CC8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12E089-6E5B-6224-B7FA-0E535B4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2"/>
                </a:solidFill>
              </a:rPr>
              <a:t>Java Reflections API</a:t>
            </a:r>
          </a:p>
        </p:txBody>
      </p:sp>
    </p:spTree>
    <p:extLst>
      <p:ext uri="{BB962C8B-B14F-4D97-AF65-F5344CB8AC3E}">
        <p14:creationId xmlns:p14="http://schemas.microsoft.com/office/powerpoint/2010/main" val="2278239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Reflections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Reflections API enables Java code to discover information about the fields, methods and constructors of classes which have been loaded into memory.</a:t>
            </a:r>
          </a:p>
          <a:p>
            <a:r>
              <a:rPr lang="en-US" dirty="0"/>
              <a:t>The API will ‘reflect’ meta data about the fields, methods and constructors to unveil their underlying information within security restrictions.</a:t>
            </a:r>
          </a:p>
          <a:p>
            <a:r>
              <a:rPr lang="en-US" dirty="0"/>
              <a:t>It is called ‘reflection’ because you are reflecting/introspecting into the code.</a:t>
            </a:r>
          </a:p>
          <a:p>
            <a:r>
              <a:rPr lang="en-US" dirty="0"/>
              <a:t>This </a:t>
            </a:r>
            <a:r>
              <a:rPr lang="en-US" dirty="0" err="1"/>
              <a:t>api</a:t>
            </a:r>
            <a:r>
              <a:rPr lang="en-US" dirty="0"/>
              <a:t> also allows for the manipulation/modification of the code during runtime – to an extent.</a:t>
            </a:r>
          </a:p>
          <a:p>
            <a:r>
              <a:rPr lang="en-US" dirty="0"/>
              <a:t>Keep in mind – all of this occurs during runtime, the Reflections API has no impact on the compiled java bytecode.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9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Reflections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53506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reflections API includes (but is not limited to):</a:t>
            </a:r>
          </a:p>
          <a:p>
            <a:pPr lvl="1"/>
            <a:r>
              <a:rPr lang="en-US" b="1" dirty="0"/>
              <a:t>Class*</a:t>
            </a:r>
            <a:r>
              <a:rPr lang="en-US" dirty="0"/>
              <a:t> – provides a representation of classes and interfaces running in a java application</a:t>
            </a:r>
          </a:p>
          <a:p>
            <a:pPr lvl="2"/>
            <a:r>
              <a:rPr lang="en-US" dirty="0"/>
              <a:t>*Technically Class is part of the </a:t>
            </a:r>
            <a:r>
              <a:rPr lang="en-US" dirty="0" err="1"/>
              <a:t>java.lang</a:t>
            </a:r>
            <a:r>
              <a:rPr lang="en-US" dirty="0"/>
              <a:t> package, but is widely used in the reflections API, and reflection operations.</a:t>
            </a:r>
          </a:p>
          <a:p>
            <a:pPr lvl="1"/>
            <a:r>
              <a:rPr lang="en-US" b="1" dirty="0"/>
              <a:t>Constructor</a:t>
            </a:r>
            <a:r>
              <a:rPr lang="en-US" dirty="0"/>
              <a:t> – provides a representation of, and access to, a constructor method declared in a class.</a:t>
            </a:r>
          </a:p>
          <a:p>
            <a:pPr lvl="1"/>
            <a:r>
              <a:rPr lang="en-US" b="1" dirty="0"/>
              <a:t>Method</a:t>
            </a:r>
            <a:r>
              <a:rPr lang="en-US" dirty="0"/>
              <a:t> – provides a representation of, and access to, a single method declared in a class, including access information and parameters. Method can be instance or class methods, as well as abstract.</a:t>
            </a:r>
            <a:endParaRPr lang="en-US" b="1" dirty="0"/>
          </a:p>
          <a:p>
            <a:pPr lvl="1"/>
            <a:r>
              <a:rPr lang="en-US" b="1" dirty="0"/>
              <a:t>Field</a:t>
            </a:r>
            <a:r>
              <a:rPr lang="en-US" dirty="0"/>
              <a:t> – provides a representation of, and access to, a single field/variable declared in a class, including access information, modifiers and datatype. Field can be static or instance.</a:t>
            </a:r>
          </a:p>
          <a:p>
            <a:pPr lvl="1"/>
            <a:r>
              <a:rPr lang="en-US" b="1" dirty="0"/>
              <a:t>Modifier</a:t>
            </a:r>
            <a:r>
              <a:rPr lang="en-US" dirty="0"/>
              <a:t> – a class that provides static methods and constants used to decode modifiers on a method or field.</a:t>
            </a:r>
          </a:p>
          <a:p>
            <a:pPr lvl="2"/>
            <a:r>
              <a:rPr lang="en-US" dirty="0"/>
              <a:t>Modifiers are represented using integers with distinct bit positions.</a:t>
            </a:r>
          </a:p>
          <a:p>
            <a:pPr lvl="1"/>
            <a:r>
              <a:rPr lang="en-US" b="1" dirty="0"/>
              <a:t>Parameter</a:t>
            </a:r>
            <a:r>
              <a:rPr lang="en-US" dirty="0"/>
              <a:t> – a class which represents information about a method’s parameters, including the name, modifiers and parameter position.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‘Class’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5350611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cast </a:t>
            </a:r>
            <a:r>
              <a:rPr lang="en-US" dirty="0"/>
              <a:t>– casts the object as a representation of another.</a:t>
            </a:r>
          </a:p>
          <a:p>
            <a:r>
              <a:rPr lang="en-US" b="1" dirty="0" err="1"/>
              <a:t>getDeclaredConstructor</a:t>
            </a:r>
            <a:r>
              <a:rPr lang="en-US" dirty="0"/>
              <a:t> – returns a Constructor object that reflects the constructor specified by parameter types</a:t>
            </a:r>
          </a:p>
          <a:p>
            <a:r>
              <a:rPr lang="en-US" b="1" dirty="0" err="1"/>
              <a:t>getConstructors</a:t>
            </a:r>
            <a:r>
              <a:rPr lang="en-US" dirty="0"/>
              <a:t> – returns an array containing Constructor objects which reflect all public constructors of the class</a:t>
            </a:r>
          </a:p>
          <a:p>
            <a:r>
              <a:rPr lang="en-US" b="1" dirty="0" err="1"/>
              <a:t>getDeclaredMethods</a:t>
            </a:r>
            <a:r>
              <a:rPr lang="en-US" dirty="0"/>
              <a:t> – returns an array containing Method objects which reflect all methods declared in a class</a:t>
            </a:r>
          </a:p>
          <a:p>
            <a:r>
              <a:rPr lang="en-US" b="1" dirty="0" err="1"/>
              <a:t>getMethod</a:t>
            </a:r>
            <a:r>
              <a:rPr lang="en-US" dirty="0"/>
              <a:t> - returns a method object that matches a given name and parameter list</a:t>
            </a:r>
          </a:p>
          <a:p>
            <a:r>
              <a:rPr lang="en-US" b="1" dirty="0" err="1"/>
              <a:t>getDeclaredFields</a:t>
            </a:r>
            <a:r>
              <a:rPr lang="en-US" dirty="0"/>
              <a:t> – returns an array containing Field objects which reflect all fields declared in a class.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3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‘Constructor’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5350611"/>
          </a:xfrm>
        </p:spPr>
        <p:txBody>
          <a:bodyPr>
            <a:normAutofit/>
          </a:bodyPr>
          <a:lstStyle/>
          <a:p>
            <a:r>
              <a:rPr lang="en-US" b="1" dirty="0" err="1"/>
              <a:t>getName</a:t>
            </a:r>
            <a:r>
              <a:rPr lang="en-US" dirty="0"/>
              <a:t> – returns the name of the constructor as a String</a:t>
            </a:r>
          </a:p>
          <a:p>
            <a:r>
              <a:rPr lang="en-US" b="1" dirty="0" err="1"/>
              <a:t>getParameterCount</a:t>
            </a:r>
            <a:r>
              <a:rPr lang="en-US" dirty="0"/>
              <a:t> – returns the number of parameters declared for the constructor</a:t>
            </a:r>
          </a:p>
          <a:p>
            <a:r>
              <a:rPr lang="en-US" b="1" dirty="0" err="1"/>
              <a:t>getParameterTypes</a:t>
            </a:r>
            <a:r>
              <a:rPr lang="en-US" dirty="0"/>
              <a:t> – returns an array of class objects that represent the parameters types, in declared order.</a:t>
            </a:r>
          </a:p>
          <a:p>
            <a:r>
              <a:rPr lang="en-US" b="1" dirty="0" err="1"/>
              <a:t>getDeclaringClass</a:t>
            </a:r>
            <a:r>
              <a:rPr lang="en-US" dirty="0"/>
              <a:t> – returns the class which the constructor represents</a:t>
            </a:r>
          </a:p>
          <a:p>
            <a:r>
              <a:rPr lang="en-US" b="1" dirty="0" err="1"/>
              <a:t>getModifiers</a:t>
            </a:r>
            <a:r>
              <a:rPr lang="en-US" dirty="0"/>
              <a:t> – returns an integer representing the modifiers for the constructor.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3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‘Method’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535061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getName</a:t>
            </a:r>
            <a:r>
              <a:rPr lang="en-US" dirty="0"/>
              <a:t> – returns the name of the method as a String</a:t>
            </a:r>
          </a:p>
          <a:p>
            <a:r>
              <a:rPr lang="en-US" b="1" dirty="0" err="1"/>
              <a:t>getParameterCount</a:t>
            </a:r>
            <a:r>
              <a:rPr lang="en-US" dirty="0"/>
              <a:t> – returns the number of parameters declared for the method</a:t>
            </a:r>
          </a:p>
          <a:p>
            <a:r>
              <a:rPr lang="en-US" b="1" dirty="0" err="1"/>
              <a:t>getParameterTypes</a:t>
            </a:r>
            <a:r>
              <a:rPr lang="en-US" dirty="0"/>
              <a:t> – returns an array of class objects that represent the parameters types, in declared order.</a:t>
            </a:r>
          </a:p>
          <a:p>
            <a:r>
              <a:rPr lang="en-US" b="1" dirty="0" err="1"/>
              <a:t>getReturnType</a:t>
            </a:r>
            <a:r>
              <a:rPr lang="en-US" dirty="0"/>
              <a:t> – returns a class object that represents the return type declared for the method</a:t>
            </a:r>
          </a:p>
          <a:p>
            <a:r>
              <a:rPr lang="en-US" b="1" dirty="0" err="1"/>
              <a:t>getModifiers</a:t>
            </a:r>
            <a:r>
              <a:rPr lang="en-US" dirty="0"/>
              <a:t> – returns an integer representing the modifiers for the constructor.</a:t>
            </a:r>
          </a:p>
          <a:p>
            <a:r>
              <a:rPr lang="en-US" b="1" dirty="0"/>
              <a:t>invoke</a:t>
            </a:r>
            <a:r>
              <a:rPr lang="en-US" dirty="0"/>
              <a:t> – invokes the underlying method represented by this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3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‘Field’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53506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getModifiers</a:t>
            </a:r>
            <a:r>
              <a:rPr lang="en-US" dirty="0"/>
              <a:t> – returns an integer representing the modifiers for the constructor. </a:t>
            </a:r>
          </a:p>
          <a:p>
            <a:r>
              <a:rPr lang="en-US" b="1" dirty="0" err="1"/>
              <a:t>getType</a:t>
            </a:r>
            <a:r>
              <a:rPr lang="en-US" dirty="0"/>
              <a:t> – returns a class that identifies the declared type for the field</a:t>
            </a:r>
          </a:p>
          <a:p>
            <a:r>
              <a:rPr lang="en-US" b="1" dirty="0"/>
              <a:t>set</a:t>
            </a:r>
            <a:r>
              <a:rPr lang="en-US" dirty="0"/>
              <a:t> – method which sets the field on an object to the value specified in the argument</a:t>
            </a:r>
          </a:p>
          <a:p>
            <a:r>
              <a:rPr lang="en-US" b="1" dirty="0" err="1"/>
              <a:t>setBoolean</a:t>
            </a:r>
            <a:r>
              <a:rPr lang="en-US" dirty="0"/>
              <a:t> – sets the value of the field as a </a:t>
            </a:r>
            <a:r>
              <a:rPr lang="en-US" dirty="0" err="1"/>
              <a:t>boolean</a:t>
            </a:r>
            <a:r>
              <a:rPr lang="en-US" dirty="0"/>
              <a:t> on a specified object.</a:t>
            </a:r>
          </a:p>
          <a:p>
            <a:r>
              <a:rPr lang="en-US" b="1" dirty="0" err="1"/>
              <a:t>setByte</a:t>
            </a:r>
            <a:r>
              <a:rPr lang="en-US" dirty="0"/>
              <a:t> – sets the value of the field as a byte on a specified object</a:t>
            </a:r>
          </a:p>
          <a:p>
            <a:r>
              <a:rPr lang="en-US" b="1" dirty="0" err="1"/>
              <a:t>setDouble</a:t>
            </a:r>
            <a:r>
              <a:rPr lang="en-US" dirty="0"/>
              <a:t> – sets the value of the field as a double on the specified object</a:t>
            </a:r>
          </a:p>
          <a:p>
            <a:r>
              <a:rPr lang="en-US" b="1" dirty="0" err="1"/>
              <a:t>setInt</a:t>
            </a:r>
            <a:r>
              <a:rPr lang="en-US" dirty="0"/>
              <a:t> – sets the value of the field as an int on the specified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4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‘Modifier’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53506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Static int values which represent the modifiers:</a:t>
            </a:r>
          </a:p>
          <a:p>
            <a:pPr lvl="1"/>
            <a:r>
              <a:rPr lang="en-US" b="1" dirty="0"/>
              <a:t>PUBLIC</a:t>
            </a:r>
            <a:r>
              <a:rPr lang="en-US" dirty="0"/>
              <a:t> – the int value representing the public modifier</a:t>
            </a:r>
          </a:p>
          <a:p>
            <a:pPr lvl="1"/>
            <a:r>
              <a:rPr lang="en-US" b="1" dirty="0"/>
              <a:t>PRIVATE</a:t>
            </a:r>
            <a:r>
              <a:rPr lang="en-US" dirty="0"/>
              <a:t> – the int value representing the private modifier</a:t>
            </a:r>
          </a:p>
          <a:p>
            <a:pPr lvl="1"/>
            <a:r>
              <a:rPr lang="en-US" b="1" dirty="0"/>
              <a:t>STATIC</a:t>
            </a:r>
            <a:r>
              <a:rPr lang="en-US" dirty="0"/>
              <a:t> – the int value representing the static modifier</a:t>
            </a:r>
          </a:p>
          <a:p>
            <a:pPr lvl="1"/>
            <a:r>
              <a:rPr lang="en-US" b="1" dirty="0"/>
              <a:t>FINAL</a:t>
            </a:r>
            <a:r>
              <a:rPr lang="en-US" dirty="0"/>
              <a:t> – the int value representing the final modifier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Static methods which accept an int argument which return a </a:t>
            </a:r>
            <a:r>
              <a:rPr lang="en-US" dirty="0" err="1"/>
              <a:t>boolean</a:t>
            </a:r>
            <a:r>
              <a:rPr lang="en-US" dirty="0"/>
              <a:t> indicating whether the int represents the modifier in question:</a:t>
            </a:r>
          </a:p>
          <a:p>
            <a:pPr lvl="1"/>
            <a:r>
              <a:rPr lang="en-US" b="1" dirty="0" err="1"/>
              <a:t>isNative</a:t>
            </a:r>
            <a:r>
              <a:rPr lang="en-US" b="1" dirty="0"/>
              <a:t>()</a:t>
            </a:r>
            <a:r>
              <a:rPr lang="en-US" dirty="0"/>
              <a:t> – returns true if the integer argument includes the native modifier</a:t>
            </a:r>
          </a:p>
          <a:p>
            <a:pPr lvl="1"/>
            <a:r>
              <a:rPr lang="en-US" b="1" dirty="0" err="1"/>
              <a:t>isProtected</a:t>
            </a:r>
            <a:r>
              <a:rPr lang="en-US" b="1" dirty="0"/>
              <a:t>()</a:t>
            </a:r>
            <a:r>
              <a:rPr lang="en-US" dirty="0"/>
              <a:t> – returns true if the integer argument includes the protected modifier</a:t>
            </a:r>
          </a:p>
          <a:p>
            <a:pPr lvl="1"/>
            <a:r>
              <a:rPr lang="en-US" b="1" dirty="0" err="1"/>
              <a:t>isAbstract</a:t>
            </a:r>
            <a:r>
              <a:rPr lang="en-US" b="1" dirty="0"/>
              <a:t>()</a:t>
            </a:r>
            <a:r>
              <a:rPr lang="en-US" dirty="0"/>
              <a:t> – returns true if the integer argument includes the abstract modifier</a:t>
            </a:r>
          </a:p>
          <a:p>
            <a:pPr lvl="1"/>
            <a:r>
              <a:rPr lang="en-US" b="1" dirty="0" err="1"/>
              <a:t>isSynchronized</a:t>
            </a:r>
            <a:r>
              <a:rPr lang="en-US" b="1" dirty="0"/>
              <a:t>()</a:t>
            </a:r>
            <a:r>
              <a:rPr lang="en-US" dirty="0"/>
              <a:t> – return true of the integer argument includes the synchronized modifier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1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‘Parameter’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5350611"/>
          </a:xfrm>
        </p:spPr>
        <p:txBody>
          <a:bodyPr>
            <a:normAutofit/>
          </a:bodyPr>
          <a:lstStyle/>
          <a:p>
            <a:r>
              <a:rPr lang="en-US" b="1" dirty="0" err="1"/>
              <a:t>getName</a:t>
            </a:r>
            <a:r>
              <a:rPr lang="en-US" dirty="0"/>
              <a:t> – Returns the name of the parameter</a:t>
            </a:r>
          </a:p>
          <a:p>
            <a:r>
              <a:rPr lang="en-US" b="1" dirty="0" err="1"/>
              <a:t>getType</a:t>
            </a:r>
            <a:r>
              <a:rPr lang="en-US" dirty="0"/>
              <a:t> – returns a class object that identifies the declared type for the parameter represented by the parameter object</a:t>
            </a:r>
          </a:p>
          <a:p>
            <a:r>
              <a:rPr lang="en-US" b="1" dirty="0" err="1"/>
              <a:t>isVarArgs</a:t>
            </a:r>
            <a:r>
              <a:rPr lang="en-US" dirty="0"/>
              <a:t> – returns true if the parameter represents a variable argument list.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0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Reflections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78226"/>
            <a:ext cx="8383980" cy="49854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b="1" dirty="0"/>
              <a:t>Extensibility features</a:t>
            </a:r>
            <a:r>
              <a:rPr lang="en-US" dirty="0"/>
              <a:t> – external, user defined classes can be used by extending their functionality</a:t>
            </a:r>
          </a:p>
          <a:p>
            <a:pPr lvl="1"/>
            <a:r>
              <a:rPr lang="en-US" b="1" dirty="0"/>
              <a:t>Debugging and testing tools</a:t>
            </a:r>
            <a:r>
              <a:rPr lang="en-US" dirty="0"/>
              <a:t> – Proper use of the Reflections API can provide examination of the internal working code</a:t>
            </a:r>
          </a:p>
          <a:p>
            <a:pPr lvl="1"/>
            <a:r>
              <a:rPr lang="en-US" b="1" dirty="0"/>
              <a:t>More robust IDEs and Frameworks</a:t>
            </a:r>
            <a:r>
              <a:rPr lang="en-US" dirty="0"/>
              <a:t> – Tools and Frameworks can provide additional functionality to existing code and provide conveniences or helpful tools using reflective code</a:t>
            </a:r>
          </a:p>
          <a:p>
            <a:pPr lvl="1"/>
            <a:endParaRPr lang="en-US" dirty="0"/>
          </a:p>
          <a:p>
            <a:r>
              <a:rPr lang="en-US" dirty="0"/>
              <a:t>Drawbacks</a:t>
            </a:r>
          </a:p>
          <a:p>
            <a:pPr lvl="1"/>
            <a:r>
              <a:rPr lang="en-US" b="1" dirty="0"/>
              <a:t>Performance Overhead</a:t>
            </a:r>
            <a:r>
              <a:rPr lang="en-US" dirty="0"/>
              <a:t> – Reflective operations have slower performance and should be avoided in sections of code which are frequently called, or in performance-sensitive applications.</a:t>
            </a:r>
          </a:p>
          <a:p>
            <a:pPr lvl="1"/>
            <a:r>
              <a:rPr lang="en-US" b="1" dirty="0"/>
              <a:t>Exposure of Internals</a:t>
            </a:r>
            <a:r>
              <a:rPr lang="en-US" dirty="0"/>
              <a:t> – Reflective code inherently breaks abstractions and contradicts encapsulated structure. This can therefore change behavior and potentially break behavior.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5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1620</TotalTime>
  <Words>953</Words>
  <Application>Microsoft Office PowerPoint</Application>
  <PresentationFormat>On-screen Show (4:3)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Revature</vt:lpstr>
      <vt:lpstr>Advanced Java</vt:lpstr>
      <vt:lpstr>Java Reflections API</vt:lpstr>
      <vt:lpstr>Reflections API</vt:lpstr>
      <vt:lpstr>Reflections API</vt:lpstr>
      <vt:lpstr>‘Class’ Methods</vt:lpstr>
      <vt:lpstr>‘Constructor’ Methods</vt:lpstr>
      <vt:lpstr>‘Method’ Methods</vt:lpstr>
      <vt:lpstr>‘Field’ Methods</vt:lpstr>
      <vt:lpstr>‘Modifier’ Methods</vt:lpstr>
      <vt:lpstr>‘Parameter’ Methods</vt:lpstr>
      <vt:lpstr>Using the Reflections API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Portella</dc:creator>
  <cp:lastModifiedBy>Joseph Highe</cp:lastModifiedBy>
  <cp:revision>16</cp:revision>
  <dcterms:created xsi:type="dcterms:W3CDTF">2021-05-11T18:50:44Z</dcterms:created>
  <dcterms:modified xsi:type="dcterms:W3CDTF">2026-07-31T13:49:42Z</dcterms:modified>
</cp:coreProperties>
</file>