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16"/>
  </p:notesMasterIdLst>
  <p:sldIdLst>
    <p:sldId id="409" r:id="rId2"/>
    <p:sldId id="343" r:id="rId3"/>
    <p:sldId id="357" r:id="rId4"/>
    <p:sldId id="295" r:id="rId5"/>
    <p:sldId id="400" r:id="rId6"/>
    <p:sldId id="401" r:id="rId7"/>
    <p:sldId id="406" r:id="rId8"/>
    <p:sldId id="402" r:id="rId9"/>
    <p:sldId id="403" r:id="rId10"/>
    <p:sldId id="407" r:id="rId11"/>
    <p:sldId id="404" r:id="rId12"/>
    <p:sldId id="405" r:id="rId13"/>
    <p:sldId id="408" r:id="rId14"/>
    <p:sldId id="270" r:id="rId15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2"/>
          </p:nvPr>
        </p:nvSpPr>
        <p:spPr>
          <a:xfrm>
            <a:off x="464444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2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7408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60" r:id="rId11"/>
    <p:sldLayoutId id="214748366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2care.org/pages/java-timezone-list-utc-gmt-offse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1/docs/api/java.base/java/time/format/DateTimeFormatter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B384-6327-4A5F-1BE0-5F6BBBEB5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APIs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CD870-A6AD-9963-EB85-275906414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Java Date/Time API (</a:t>
            </a:r>
            <a:r>
              <a:rPr lang="en-US" dirty="0" err="1"/>
              <a:t>java.time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668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2">
            <a:normAutofit/>
          </a:bodyPr>
          <a:lstStyle/>
          <a:p>
            <a:r>
              <a:rPr lang="en-US" dirty="0" err="1"/>
              <a:t>java.time</a:t>
            </a:r>
            <a:endParaRPr lang="en-US" dirty="0"/>
          </a:p>
          <a:p>
            <a:r>
              <a:rPr lang="en-US" dirty="0"/>
              <a:t>Time Zones</a:t>
            </a:r>
          </a:p>
          <a:p>
            <a:r>
              <a:rPr lang="en-US" dirty="0" err="1"/>
              <a:t>DateTimeFormatter</a:t>
            </a:r>
            <a:endParaRPr lang="en-US" dirty="0"/>
          </a:p>
          <a:p>
            <a:r>
              <a:rPr lang="en-US" dirty="0"/>
              <a:t>Date/Time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 err="1">
                <a:solidFill>
                  <a:schemeClr val="dk2"/>
                </a:solidFill>
              </a:rPr>
              <a:t>j</a:t>
            </a: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ava.time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1F7E-B9A5-4C74-922B-513C237C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java.time</a:t>
            </a:r>
            <a:r>
              <a:rPr lang="en-US" dirty="0"/>
              <a:t> package | Core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8842-1B3D-406C-952C-0E1D3252B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java.time</a:t>
            </a:r>
            <a:r>
              <a:rPr lang="en-US" dirty="0"/>
              <a:t> package was introduced in Java 8 to replace the older, error-prone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Calendar</a:t>
            </a:r>
            <a:r>
              <a:rPr lang="en-US" dirty="0"/>
              <a:t> classes.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java.time</a:t>
            </a:r>
            <a:r>
              <a:rPr lang="en-US" dirty="0"/>
              <a:t> provides a cleaner, more intuitive API</a:t>
            </a:r>
          </a:p>
          <a:p>
            <a:r>
              <a:rPr lang="en-US" dirty="0"/>
              <a:t>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java.time</a:t>
            </a:r>
            <a:r>
              <a:rPr lang="en-US" dirty="0"/>
              <a:t> classes are immutable and thread-safe.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n-US" dirty="0"/>
              <a:t>: represents a date only (year, month, day) with no time-of-day or time zone component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LocalTime</a:t>
            </a:r>
            <a:r>
              <a:rPr lang="en-US" dirty="0"/>
              <a:t>: represents a time only (hour, minute, second, nanosecond) with no date or time zone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LocalDateTime</a:t>
            </a:r>
            <a:r>
              <a:rPr lang="en-US" dirty="0"/>
              <a:t>: combines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LocalTime</a:t>
            </a:r>
            <a:r>
              <a:rPr lang="en-US" dirty="0"/>
              <a:t> into a single object; however, </a:t>
            </a:r>
            <a:r>
              <a:rPr lang="en-US" b="1" dirty="0"/>
              <a:t>still has no time zone</a:t>
            </a:r>
            <a:r>
              <a:rPr lang="en-US" dirty="0"/>
              <a:t>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Instant</a:t>
            </a:r>
            <a:r>
              <a:rPr lang="en-US" dirty="0"/>
              <a:t>: represents a single, precise moment on the timeline. </a:t>
            </a:r>
          </a:p>
          <a:p>
            <a:pPr lvl="1"/>
            <a:r>
              <a:rPr lang="en-US" dirty="0"/>
              <a:t>Commonly used for timestamps and machine-to-machine communication.</a:t>
            </a:r>
          </a:p>
          <a:p>
            <a:r>
              <a:rPr lang="en-US" dirty="0"/>
              <a:t>Common methods: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.now()</a:t>
            </a:r>
            <a:r>
              <a:rPr lang="en-US" dirty="0"/>
              <a:t>: current date/time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.of(…)</a:t>
            </a:r>
            <a:r>
              <a:rPr lang="en-US" dirty="0"/>
              <a:t>: build date/time from specific values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.parse(…)</a:t>
            </a:r>
            <a:r>
              <a:rPr lang="en-US" dirty="0"/>
              <a:t>: build date/time from a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26A5B-5DCE-4B6E-8044-89DB8F19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6AEB-3A09-B759-4EF3-1362260C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ABB20A-9B8D-BB79-7082-AC842A0704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4172BEA-7032-55CC-DAA5-03B7E79D2A8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Time Zones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92D57-D3A8-A7CD-4A80-0FA9DA0C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2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7BB7-DEC7-0E1D-4876-67D79303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D24E-1E30-1365-10B4-E0DD22C6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Zones | </a:t>
            </a:r>
            <a:r>
              <a:rPr lang="en-US" dirty="0" err="1"/>
              <a:t>ZonedDateTime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22F8-EED0-1F0D-0E98-75632AC44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represents a date and time with an associated time zone</a:t>
            </a:r>
          </a:p>
          <a:p>
            <a:pPr lvl="1"/>
            <a:r>
              <a:rPr lang="en-US" dirty="0"/>
              <a:t>Best choice when your application needs to know both “when” and “where”</a:t>
            </a:r>
          </a:p>
          <a:p>
            <a:r>
              <a:rPr lang="en-US" dirty="0"/>
              <a:t>A time zone is represented by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/>
              <a:t> is identified by region-based names like: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“America/Denver”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“Europe/London”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ZoneOffset</a:t>
            </a:r>
            <a:r>
              <a:rPr lang="en-US" dirty="0"/>
              <a:t>: represents a fixed offset from UTC (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+02:00</a:t>
            </a:r>
            <a:r>
              <a:rPr lang="en-US" dirty="0"/>
              <a:t>), with no awareness of daylight saving rules.</a:t>
            </a:r>
          </a:p>
          <a:p>
            <a:pPr lvl="1"/>
            <a:r>
              <a:rPr lang="en-US" dirty="0"/>
              <a:t>This is useful, but less so than a full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BCA45-C12A-50CA-183C-2B5BAF59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6AF88-2299-D1C7-9750-D3F9C84FA5A5}"/>
              </a:ext>
            </a:extLst>
          </p:cNvPr>
          <p:cNvSpPr txBox="1"/>
          <p:nvPr/>
        </p:nvSpPr>
        <p:spPr>
          <a:xfrm>
            <a:off x="0" y="6581001"/>
            <a:ext cx="8984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  <a:cs typeface="Courier New" panose="02070309020205020404" pitchFamily="49" charset="0"/>
              </a:rPr>
              <a:t>Note: A list of Valid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ZoneIds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can be found online: </a:t>
            </a:r>
            <a:r>
              <a:rPr lang="en-US" sz="1200" dirty="0">
                <a:latin typeface="+mj-lt"/>
                <a:hlinkClick r:id="rId2"/>
              </a:rPr>
              <a:t>Java: Reference List of Time Zones and GMT/UTC Offset | Code2care</a:t>
            </a:r>
            <a:endParaRPr lang="en-US" sz="12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43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B17F-DC85-F476-005F-66A803AD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5E561-14C2-B147-9439-40057C13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Zones |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214A6-E379-A77D-E8F2-E76A095A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can convert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LocalDateTime</a:t>
            </a:r>
            <a:r>
              <a:rPr lang="en-US" dirty="0"/>
              <a:t> into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atZone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method.</a:t>
            </a:r>
          </a:p>
          <a:p>
            <a:pPr lvl="1"/>
            <a:r>
              <a:rPr lang="en-US" dirty="0"/>
              <a:t>You can get the system’s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/>
              <a:t> using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method: 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systemZone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ZoneId.systemDefault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Convert between time zones using: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withZoneSameInstance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This method keeps the actual moment in time the same, but changes how it’s displayed</a:t>
            </a:r>
          </a:p>
          <a:p>
            <a:r>
              <a:rPr lang="en-US" dirty="0"/>
              <a:t>Convert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Instant</a:t>
            </a:r>
            <a:r>
              <a:rPr lang="en-US" dirty="0"/>
              <a:t>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toInstance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method</a:t>
            </a:r>
          </a:p>
          <a:p>
            <a:r>
              <a:rPr lang="en-US" dirty="0"/>
              <a:t>Convert from Instance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atZone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method.</a:t>
            </a:r>
          </a:p>
          <a:p>
            <a:pPr lvl="1"/>
            <a:r>
              <a:rPr lang="en-US" b="1" dirty="0"/>
              <a:t>Best Practice</a:t>
            </a:r>
            <a:r>
              <a:rPr lang="en-US" dirty="0"/>
              <a:t>: store &amp; transmit date/time date as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Instant</a:t>
            </a:r>
            <a:r>
              <a:rPr lang="en-US" dirty="0"/>
              <a:t> object internally, then convert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when displaying the time to the user (based on user’s time zone)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2BDE4-A3CF-237B-4D5D-AF03B0D7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5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4A33-1CE8-0258-F2A6-C4A4CE73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E2DEB5-ABB0-88B8-EA39-6F11A03707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6E7CE3E-3A50-22B6-5285-7782E5C7C9A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 err="1">
                <a:solidFill>
                  <a:schemeClr val="dk2"/>
                </a:solidFill>
              </a:rPr>
              <a:t>DateTimeFormatter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E00BB-2B37-9056-464B-D4DC743C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2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D153-D806-885F-91E3-B95962A8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47AB-69FA-F017-9A64-4E6D60B2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DateTime</a:t>
            </a:r>
            <a:r>
              <a:rPr lang="en-US" dirty="0"/>
              <a:t> Formatter | Intro &amp;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5AA3-C87E-F676-4DA7-BEAF81C0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DateTimeFormatter</a:t>
            </a:r>
            <a:r>
              <a:rPr lang="en-US" dirty="0"/>
              <a:t> is a class responsible for converting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objects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 (formatting) and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objects (parsing)</a:t>
            </a:r>
          </a:p>
          <a:p>
            <a:pPr lvl="1"/>
            <a:r>
              <a:rPr lang="en-US" dirty="0"/>
              <a:t>Works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LocalTime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LocalDateTime</a:t>
            </a:r>
            <a:r>
              <a:rPr lang="en-US" dirty="0"/>
              <a:t>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 classes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Parsing is performed by calling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parse()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method and passing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text as well as a formatter.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LocalDate.parse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(text, formatter)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Parsing a string that doesn’t match the expected pattern throws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DateTimeParseException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7B0E2-965F-8390-A556-AD69CD08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41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62A8-25AA-CD27-E86C-281E7435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C9D2-815C-559F-3FED-4260E28B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DateTime</a:t>
            </a:r>
            <a:r>
              <a:rPr lang="en-US" dirty="0"/>
              <a:t> Formatter |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4E9E-59BF-2DFB-BC5A-A9AC18D7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Predefined formatters such as: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DateTimeFormatter.ISO_LOCAL_DATE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ISO_LOCAL_DATE_TIME</a:t>
            </a:r>
            <a:r>
              <a:rPr lang="en-US" dirty="0"/>
              <a:t> follow the international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ISO-8601</a:t>
            </a:r>
            <a:r>
              <a:rPr lang="en-US" dirty="0"/>
              <a:t> standard, and are safe defaults for machine-readable output (APIs, logs, etc…)</a:t>
            </a:r>
          </a:p>
          <a:p>
            <a:r>
              <a:rPr lang="en-US" dirty="0"/>
              <a:t>Custom formatters are built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DateTimeFormatter.ofPattern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(“…”)</a:t>
            </a:r>
            <a:endParaRPr lang="en-US" dirty="0"/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Patterns are built using letters like: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yyyy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(year), MM (month), dd (day), mm (minute), ss (second).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You can find all formatter options in the documentation: </a:t>
            </a:r>
            <a:r>
              <a:rPr lang="en-US" dirty="0" err="1">
                <a:hlinkClick r:id="rId2"/>
              </a:rPr>
              <a:t>DateTimeFormatter</a:t>
            </a:r>
            <a:r>
              <a:rPr lang="en-US" dirty="0">
                <a:hlinkClick r:id="rId2"/>
              </a:rPr>
              <a:t> (Java SE 21 &amp; JDK 21)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Formatting is performed by calling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.format(formatter)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method on a date/time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AA6E-81B9-AB74-9755-6E6A2561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1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20F5-F1E8-DBB3-294C-D7C648F8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27F31F-B76D-FE2A-2D25-40305F7383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6B459F7-59BA-E4ED-6EB8-31ACD72057F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Date/Time Arithmetic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2DD9-322E-D3E6-5527-D4930281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90AF-FCED-E956-97A6-354B3EC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5F48-5BB0-4063-609C-6B3F689E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Date/Time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C7F6-AF31-5248-8A64-7AD1D4E4B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Period</a:t>
            </a:r>
            <a:r>
              <a:rPr lang="en-US" dirty="0"/>
              <a:t> represents a date-based amount of time (years, months, days)</a:t>
            </a:r>
          </a:p>
          <a:p>
            <a:pPr lvl="1"/>
            <a:r>
              <a:rPr lang="en-US" dirty="0"/>
              <a:t>Used for human-scale differences, like “2 years, 3 months, 4 days”</a:t>
            </a:r>
          </a:p>
          <a:p>
            <a:r>
              <a:rPr lang="en-US" dirty="0"/>
              <a:t>The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Duration</a:t>
            </a:r>
            <a:r>
              <a:rPr lang="en-US" dirty="0"/>
              <a:t> represents a time-based amount of time (hours, minutes, seconds, nanoseconds)</a:t>
            </a:r>
          </a:p>
          <a:p>
            <a:pPr lvl="1"/>
            <a:r>
              <a:rPr lang="en-US" dirty="0"/>
              <a:t>Used for precise, machine-scale differences like “4 hours and 15 minutes”</a:t>
            </a:r>
          </a:p>
          <a:p>
            <a:r>
              <a:rPr lang="en-US" dirty="0"/>
              <a:t>You can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.between()</a:t>
            </a:r>
            <a:r>
              <a:rPr lang="en-US" dirty="0"/>
              <a:t> method (present on both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Period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Duration</a:t>
            </a:r>
            <a:r>
              <a:rPr lang="en-US" dirty="0"/>
              <a:t>) to calculate the difference between two date/time values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Period.between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(date1, date2) </a:t>
            </a:r>
            <a:r>
              <a:rPr lang="en-US" dirty="0"/>
              <a:t>calculates the difference between two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n-US" dirty="0"/>
              <a:t> values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Duration.between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(time1, time2) </a:t>
            </a:r>
            <a:r>
              <a:rPr lang="en-US" dirty="0"/>
              <a:t>calculates the difference between two time-based values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Instant</a:t>
            </a:r>
            <a:r>
              <a:rPr lang="en-US" dirty="0"/>
              <a:t>, etc…)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34AB-9A37-E51F-F6F9-FCFFAF0E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6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65FC-3B99-20E3-50E4-1F261378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62BD-D5CA-A2C8-2360-4EF0B4F0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Date/Time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5D25-3455-371A-038F-20728D3DD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971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Both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Period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Duration</a:t>
            </a:r>
            <a:r>
              <a:rPr lang="en-US" dirty="0"/>
              <a:t> are immutable, like the date/time classes they operate on.</a:t>
            </a:r>
          </a:p>
          <a:p>
            <a:r>
              <a:rPr lang="en-US" dirty="0"/>
              <a:t>Common manipulation methods are available 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LocalDateTime</a:t>
            </a:r>
            <a:r>
              <a:rPr lang="en-US" dirty="0"/>
              <a:t>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plusX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minusX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Methods used to add or subtract a specific amount of time</a:t>
            </a:r>
          </a:p>
          <a:p>
            <a:pPr lvl="2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plusDays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minusMonths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plusYears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/>
              <a:t>etc…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Set a specific field to a new value, leaving the rest unchanged</a:t>
            </a:r>
          </a:p>
          <a:p>
            <a:pPr lvl="2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withDayOfMonth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All of these methods return a new object (the original is immutable), so you will need to assign the returned value to a variable, or pass it to a method to use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5451B-69A4-AE10-7F62-FB48E1AE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45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15061</TotalTime>
  <Words>919</Words>
  <Application>Microsoft Office PowerPoint</Application>
  <PresentationFormat>On-screen Show (4:3)</PresentationFormat>
  <Paragraphs>83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2_Custom Design</vt:lpstr>
      <vt:lpstr>Java APIs</vt:lpstr>
      <vt:lpstr>Topics</vt:lpstr>
      <vt:lpstr>PowerPoint Presentation</vt:lpstr>
      <vt:lpstr>java.time package | Core Classes</vt:lpstr>
      <vt:lpstr>PowerPoint Presentation</vt:lpstr>
      <vt:lpstr>Time Zones | ZonedDateTime</vt:lpstr>
      <vt:lpstr>Time Zones | Conversions</vt:lpstr>
      <vt:lpstr>PowerPoint Presentation</vt:lpstr>
      <vt:lpstr>DateTime Formatter | Intro &amp; Parsing</vt:lpstr>
      <vt:lpstr>DateTime Formatter | Formatting</vt:lpstr>
      <vt:lpstr>PowerPoint Presentation</vt:lpstr>
      <vt:lpstr>Date/Time Arithmetic</vt:lpstr>
      <vt:lpstr>Date/Time Arithmetic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89</cp:revision>
  <dcterms:modified xsi:type="dcterms:W3CDTF">2026-07-31T19:08:34Z</dcterms:modified>
</cp:coreProperties>
</file>