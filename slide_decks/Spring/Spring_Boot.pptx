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57" r:id="rId4"/>
    <p:sldId id="363" r:id="rId5"/>
    <p:sldId id="302" r:id="rId6"/>
    <p:sldId id="366" r:id="rId7"/>
    <p:sldId id="368" r:id="rId8"/>
    <p:sldId id="367" r:id="rId9"/>
    <p:sldId id="364" r:id="rId10"/>
    <p:sldId id="365" r:id="rId11"/>
    <p:sldId id="359" r:id="rId12"/>
    <p:sldId id="303" r:id="rId13"/>
    <p:sldId id="304" r:id="rId14"/>
    <p:sldId id="305" r:id="rId15"/>
    <p:sldId id="306" r:id="rId16"/>
    <p:sldId id="307" r:id="rId17"/>
    <p:sldId id="358" r:id="rId18"/>
    <p:sldId id="308" r:id="rId19"/>
    <p:sldId id="369" r:id="rId20"/>
    <p:sldId id="360" r:id="rId21"/>
    <p:sldId id="361" r:id="rId22"/>
    <p:sldId id="362" r:id="rId2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0055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14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495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Spring Boot</a:t>
            </a:r>
          </a:p>
          <a:p>
            <a:r>
              <a:rPr lang="en-US" dirty="0"/>
              <a:t>Spring Modules</a:t>
            </a:r>
          </a:p>
          <a:p>
            <a:r>
              <a:rPr lang="en-US" dirty="0"/>
              <a:t>Spring </a:t>
            </a:r>
            <a:r>
              <a:rPr lang="en-US" dirty="0" err="1"/>
              <a:t>DevTools</a:t>
            </a:r>
            <a:endParaRPr lang="en-US" dirty="0"/>
          </a:p>
          <a:p>
            <a:r>
              <a:rPr lang="en-US" dirty="0"/>
              <a:t>Lombok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Boot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C1D3-2DB6-86B0-FBFA-B12E98B4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34DC-6423-BFF8-4A3D-EF382697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|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36270-9749-03CA-32E7-64855393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i="1" dirty="0"/>
              <a:t>Spring initializer</a:t>
            </a:r>
            <a:r>
              <a:rPr lang="en-US" dirty="0"/>
              <a:t>: A web app used to generate the starting structure of a Spring project.</a:t>
            </a:r>
          </a:p>
          <a:p>
            <a:pPr lvl="1"/>
            <a:r>
              <a:rPr lang="en-US" dirty="0">
                <a:hlinkClick r:id="rId2"/>
              </a:rPr>
              <a:t>https://start.spring.io/</a:t>
            </a:r>
            <a:endParaRPr lang="en-US" dirty="0"/>
          </a:p>
          <a:p>
            <a:pPr lvl="1"/>
            <a:r>
              <a:rPr lang="en-US" dirty="0"/>
              <a:t>Note: Many modern Java-based IDEs have built-in tools which leverage this tool</a:t>
            </a:r>
          </a:p>
          <a:p>
            <a:r>
              <a:rPr lang="en-US" dirty="0"/>
              <a:t>Spring Boot project Configurations are centralized within:</a:t>
            </a:r>
          </a:p>
          <a:p>
            <a:pPr lvl="1"/>
            <a:r>
              <a:rPr lang="en-US" dirty="0"/>
              <a:t>pom.xml (maven)</a:t>
            </a:r>
          </a:p>
          <a:p>
            <a:pPr lvl="1"/>
            <a:r>
              <a:rPr lang="en-US" dirty="0" err="1"/>
              <a:t>application.properties</a:t>
            </a:r>
            <a:r>
              <a:rPr lang="en-US" dirty="0"/>
              <a:t> (or </a:t>
            </a:r>
            <a:r>
              <a:rPr lang="en-US" dirty="0" err="1"/>
              <a:t>application.yaml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F7392-A4DF-E533-A17D-A63979795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6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Spring Boot is a project built on top of the Spring Framework</a:t>
            </a:r>
          </a:p>
          <a:p>
            <a:pPr lvl="1"/>
            <a:r>
              <a:rPr lang="en-US" dirty="0"/>
              <a:t>Simplifies project structure, setup &amp; configuration</a:t>
            </a:r>
          </a:p>
          <a:p>
            <a:r>
              <a:rPr lang="en-US" dirty="0"/>
              <a:t>Key Features</a:t>
            </a:r>
          </a:p>
          <a:p>
            <a:pPr lvl="1"/>
            <a:r>
              <a:rPr lang="en-US" b="1" dirty="0"/>
              <a:t>Auto-Configuration</a:t>
            </a:r>
            <a:r>
              <a:rPr lang="en-US" dirty="0"/>
              <a:t>: automatically configures common beans based on what’s present on the application’s </a:t>
            </a:r>
            <a:r>
              <a:rPr lang="en-US" dirty="0" err="1"/>
              <a:t>classpath</a:t>
            </a:r>
            <a:endParaRPr lang="en-US" dirty="0"/>
          </a:p>
          <a:p>
            <a:pPr lvl="1"/>
            <a:r>
              <a:rPr lang="en-US" b="1" dirty="0"/>
              <a:t>Starter Dependencies</a:t>
            </a:r>
            <a:r>
              <a:rPr lang="en-US" dirty="0"/>
              <a:t>: bundled dependency sets that pull in everything commonly needed for a given task </a:t>
            </a:r>
          </a:p>
          <a:p>
            <a:pPr lvl="2"/>
            <a:r>
              <a:rPr lang="en-US" dirty="0"/>
              <a:t>E.g. ‘building a web app’</a:t>
            </a:r>
          </a:p>
          <a:p>
            <a:pPr lvl="1"/>
            <a:r>
              <a:rPr lang="en-US" b="1" dirty="0"/>
              <a:t>Embedded Servers</a:t>
            </a:r>
            <a:r>
              <a:rPr lang="en-US" dirty="0"/>
              <a:t>: Spring boot apps can run as a standalone Java app with a server built-in</a:t>
            </a:r>
          </a:p>
          <a:p>
            <a:pPr lvl="1"/>
            <a:r>
              <a:rPr lang="en-US" b="1" dirty="0"/>
              <a:t>Opinionated Defaults</a:t>
            </a:r>
            <a:r>
              <a:rPr lang="en-US" dirty="0"/>
              <a:t>: Spring boot makes sensible default choices out of the box, but allows them to be overridden if needed.</a:t>
            </a:r>
          </a:p>
          <a:p>
            <a:r>
              <a:rPr lang="en-US" dirty="0"/>
              <a:t>Spring Boot is described as “</a:t>
            </a:r>
            <a:r>
              <a:rPr lang="en-US" b="1" i="1" dirty="0"/>
              <a:t>convention over configuration</a:t>
            </a:r>
            <a:r>
              <a:rPr lang="en-US" dirty="0"/>
              <a:t>”</a:t>
            </a:r>
          </a:p>
          <a:p>
            <a:r>
              <a:rPr lang="en-US" dirty="0"/>
              <a:t>Reduces Setup time significantly and minimizes boilerplate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576E-4D6A-AEBF-3CAC-960040C1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2B8D-57B3-6003-95C7-E0232E22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| Auto-Config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4AB6D-F890-2756-E869-D392F07F6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Auto-Configuration in Sprint Boot is the mechanism that automatically configures common beans based on what is present on the </a:t>
            </a:r>
            <a:r>
              <a:rPr lang="en-US" dirty="0" err="1"/>
              <a:t>classpath</a:t>
            </a:r>
            <a:r>
              <a:rPr lang="en-US" dirty="0"/>
              <a:t>.</a:t>
            </a:r>
          </a:p>
          <a:p>
            <a:r>
              <a:rPr lang="en-US" dirty="0"/>
              <a:t>Auto-Config is enabled through use of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EnableAutoConfiguration</a:t>
            </a:r>
            <a:r>
              <a:rPr lang="en-US" dirty="0"/>
              <a:t>’ annotation.</a:t>
            </a:r>
          </a:p>
          <a:p>
            <a:pPr lvl="1"/>
            <a:r>
              <a:rPr lang="en-US" dirty="0"/>
              <a:t>Note: typically you don’t call this annotation directly, it is wrapped in other annotations: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@SpringBootApplication</a:t>
            </a:r>
            <a:r>
              <a:rPr lang="en-US" dirty="0"/>
              <a:t> is a single, convenience annotation that combines </a:t>
            </a:r>
            <a:r>
              <a:rPr lang="en-US" b="1" i="1" dirty="0"/>
              <a:t>three</a:t>
            </a:r>
            <a:r>
              <a:rPr lang="en-US" dirty="0"/>
              <a:t> separate annotations into one: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@EnableAutoConfiguration</a:t>
            </a:r>
            <a:r>
              <a:rPr lang="en-US" dirty="0"/>
              <a:t>: Enables auto-config behavior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@ComponentScan</a:t>
            </a:r>
            <a:r>
              <a:rPr lang="en-US" dirty="0"/>
              <a:t>: enables component scanning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@Configuration</a:t>
            </a:r>
            <a:r>
              <a:rPr lang="en-US" dirty="0"/>
              <a:t>: marks the class itself as a source of bean definitions.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98233-9982-CDCD-1892-A66B58B0C4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8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D968-3999-F2C3-5814-C1B7C1EA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9432-C20F-D269-B80D-3881C2C2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| Auto-Config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39AB5-B481-967F-D311-5FBD2776B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The following two are functionally the same: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DC6AB-95B9-527A-5811-7C61F68C45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9E29A-C860-7488-5FC4-57F52D45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3" y="3435497"/>
            <a:ext cx="4476447" cy="1941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DA9E8F-BA8F-092F-52D1-76540924B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19" y="3118834"/>
            <a:ext cx="4404117" cy="25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6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4C48-50F3-1D37-37D5-44EECD9F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2D27C-AFDA-9EFF-4C01-5218F3BE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| Auto-Config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6F3EF-B1AB-2D3E-A808-176034995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Auto-config works by examining the </a:t>
            </a:r>
            <a:r>
              <a:rPr lang="en-US" dirty="0" err="1"/>
              <a:t>classpath</a:t>
            </a:r>
            <a:r>
              <a:rPr lang="en-US" dirty="0"/>
              <a:t> of your project (this includes chosen spring starters and libraries are present) and applying </a:t>
            </a:r>
            <a:r>
              <a:rPr lang="en-US" b="1" i="1" dirty="0"/>
              <a:t>conditional configuration</a:t>
            </a:r>
            <a:endParaRPr lang="en-US" dirty="0"/>
          </a:p>
          <a:p>
            <a:pPr lvl="1"/>
            <a:r>
              <a:rPr lang="en-US" dirty="0"/>
              <a:t>Conditional configuration will only activate if: </a:t>
            </a:r>
          </a:p>
          <a:p>
            <a:pPr lvl="2"/>
            <a:r>
              <a:rPr lang="en-US" dirty="0"/>
              <a:t>“The class is on the </a:t>
            </a:r>
            <a:r>
              <a:rPr lang="en-US" dirty="0" err="1"/>
              <a:t>classpath</a:t>
            </a:r>
            <a:r>
              <a:rPr lang="en-US" dirty="0"/>
              <a:t>”, and </a:t>
            </a:r>
          </a:p>
          <a:p>
            <a:pPr lvl="2"/>
            <a:r>
              <a:rPr lang="en-US" dirty="0"/>
              <a:t>“The developer has not already defined the beans”</a:t>
            </a:r>
          </a:p>
          <a:p>
            <a:r>
              <a:rPr lang="en-US" dirty="0"/>
              <a:t>This allows spring boot to remain a powerful tool while allowing flexibility for developers</a:t>
            </a:r>
          </a:p>
          <a:p>
            <a:r>
              <a:rPr lang="en-US" dirty="0"/>
              <a:t>E.g. Adding “spring-boot-starter-web” to the </a:t>
            </a:r>
            <a:r>
              <a:rPr lang="en-US" dirty="0" err="1"/>
              <a:t>classpath</a:t>
            </a:r>
            <a:r>
              <a:rPr lang="en-US" dirty="0"/>
              <a:t> causes auto-config to automatically set up an embedded Tomcat server, and more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F5062-2F5A-E0AA-11C7-DB83867EDD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9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1F4A-3459-FF9D-5476-0160B4D2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46ABB-DCFC-D5C8-F209-66A25C0C32F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6810CDC-24C2-38DF-1A50-2E57457A49F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Boot Starters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FF927-4E04-896F-4F81-96678F8A5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33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CC6A7-57BE-B9EE-8350-EBA3E97E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5D1AF-D91B-0C4E-2BF1-D0E68C8C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C1889-2A12-E254-60A7-EBE7059C0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starter</a:t>
            </a:r>
            <a:r>
              <a:rPr lang="en-US" dirty="0"/>
              <a:t> is a special kind of Spring boot dependency that bundles everything common needed for a specific task.</a:t>
            </a:r>
          </a:p>
          <a:p>
            <a:r>
              <a:rPr lang="en-US" dirty="0"/>
              <a:t>Every starter follows a consistent naming convention: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spring-boot-starter-[type]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spring-boot-starter-web</a:t>
            </a:r>
          </a:p>
          <a:p>
            <a:r>
              <a:rPr lang="en-US" dirty="0"/>
              <a:t>Most common starters: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spring-boot-starter-web</a:t>
            </a:r>
            <a:r>
              <a:rPr lang="en-US" dirty="0"/>
              <a:t>: everything needed to build a web app or REST API.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spring-boot-starter-data-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</a:t>
            </a:r>
            <a:r>
              <a:rPr lang="en-US" dirty="0"/>
              <a:t>: everything needed for database access to a relational database using JPA/Hibernate</a:t>
            </a:r>
          </a:p>
          <a:p>
            <a:pPr lvl="2"/>
            <a:r>
              <a:rPr lang="en-US" dirty="0"/>
              <a:t>Note: spring has a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spring-boot-starter-data-mongo</a:t>
            </a:r>
            <a:r>
              <a:rPr lang="en-US" dirty="0"/>
              <a:t>’ for mongo </a:t>
            </a:r>
            <a:r>
              <a:rPr lang="en-US" dirty="0" err="1"/>
              <a:t>NoSql</a:t>
            </a:r>
            <a:r>
              <a:rPr lang="en-US" dirty="0"/>
              <a:t> database support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spring-boot-starter-test</a:t>
            </a:r>
            <a:r>
              <a:rPr lang="en-US" dirty="0"/>
              <a:t>: testing dependencies bundled together (Junit, Mockito, etc…)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spring-boot-starter-security</a:t>
            </a:r>
            <a:r>
              <a:rPr lang="en-US" dirty="0"/>
              <a:t>: authentication &amp; authorization support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spring-boot-starter-validation</a:t>
            </a:r>
            <a:r>
              <a:rPr lang="en-US" dirty="0"/>
              <a:t>: support for validating incoming data using standard annotations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spring-boot-starter-actuator</a:t>
            </a:r>
            <a:r>
              <a:rPr lang="en-US" dirty="0"/>
              <a:t>: production-read monitoring and management endpoints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53CEF-1DAF-1913-9C83-E6228D5E6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8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A815-1BFB-8279-AD92-14693B86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75FD4A-523E-C2C5-A0B7-FC353C90C0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B433B2E-6439-2447-228D-06291A52B02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70B767-8AB1-FAA8-56E2-6F77F21E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9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74A318-1344-6168-E782-2D10C98F5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72547"/>
            <a:ext cx="6858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846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Modules - 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2657741"/>
            <a:ext cx="8383980" cy="407109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*Beans</a:t>
            </a:r>
            <a:r>
              <a:rPr lang="en-US" dirty="0"/>
              <a:t> : Provides support for configuring and managing beans in the IoC Container.</a:t>
            </a:r>
          </a:p>
          <a:p>
            <a:r>
              <a:rPr lang="en-US" b="1" dirty="0"/>
              <a:t>*Core</a:t>
            </a:r>
            <a:r>
              <a:rPr lang="en-US" dirty="0"/>
              <a:t> : Core Module providing fundamental parts of the framework, including IoC Container and Dependency Injection features</a:t>
            </a:r>
          </a:p>
          <a:p>
            <a:r>
              <a:rPr lang="en-US" b="1" dirty="0"/>
              <a:t>*Context </a:t>
            </a:r>
            <a:r>
              <a:rPr lang="en-US" dirty="0"/>
              <a:t>: Acts as the “glue” for the Spring application (application context). Provides access to application objects</a:t>
            </a:r>
          </a:p>
          <a:p>
            <a:r>
              <a:rPr lang="en-US" b="1" dirty="0"/>
              <a:t>Spring Expression Language (</a:t>
            </a:r>
            <a:r>
              <a:rPr lang="en-US" b="1" dirty="0" err="1"/>
              <a:t>SpEL</a:t>
            </a:r>
            <a:r>
              <a:rPr lang="en-US" b="1" dirty="0"/>
              <a:t>)</a:t>
            </a:r>
            <a:r>
              <a:rPr lang="en-US" dirty="0"/>
              <a:t> : Powerful expression language for querying and manipulating objects at runtime.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 descr="A green and black rectangular object with white text&#10;&#10;Description automatically generated">
            <a:extLst>
              <a:ext uri="{FF2B5EF4-FFF2-40B4-BE49-F238E27FC236}">
                <a16:creationId xmlns:a16="http://schemas.microsoft.com/office/drawing/2014/main" id="{FE81172E-87B4-36F8-7FDD-6F1776097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19" y="1477380"/>
            <a:ext cx="5904762" cy="1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5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Spring Boot Modules -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JDBC</a:t>
            </a:r>
            <a:r>
              <a:rPr lang="en-US" dirty="0"/>
              <a:t> : Offers JDBC-Abstraction layer for Spring App</a:t>
            </a:r>
          </a:p>
          <a:p>
            <a:r>
              <a:rPr lang="en-US" b="1" dirty="0"/>
              <a:t>Object Relational Mapping (ORM)</a:t>
            </a:r>
            <a:r>
              <a:rPr lang="en-US" dirty="0"/>
              <a:t> : Provides integration with popular ORM frameworks such as Hibernate, JPA and JDO.</a:t>
            </a:r>
          </a:p>
          <a:p>
            <a:r>
              <a:rPr lang="en-US" b="1" dirty="0"/>
              <a:t>Object XML Mappers (OXM)</a:t>
            </a:r>
            <a:r>
              <a:rPr lang="en-US" dirty="0"/>
              <a:t> : provides abstraction layer to support Object / XML mapping tools</a:t>
            </a:r>
          </a:p>
          <a:p>
            <a:r>
              <a:rPr lang="en-US" b="1" dirty="0"/>
              <a:t>Java Messaging Service (JMS)</a:t>
            </a:r>
            <a:r>
              <a:rPr lang="en-US" dirty="0"/>
              <a:t> : Helps in producing and consuming messages using Springs JMS Support tools.</a:t>
            </a:r>
          </a:p>
          <a:p>
            <a:r>
              <a:rPr lang="en-US" b="1" dirty="0"/>
              <a:t>Transactions </a:t>
            </a:r>
            <a:r>
              <a:rPr lang="en-US" dirty="0"/>
              <a:t>: Provides declarative transaction management capabilities.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-US"/>
          </a:p>
        </p:txBody>
      </p:sp>
      <p:pic>
        <p:nvPicPr>
          <p:cNvPr id="7" name="Picture 6" descr="A green and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877DC381-8A9F-4533-F04D-C2083F239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440" y="2514967"/>
            <a:ext cx="4009110" cy="2458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23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Spring Boot Modules - Web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WebSocket</a:t>
            </a:r>
            <a:r>
              <a:rPr lang="en-US" dirty="0"/>
              <a:t> : Offers support for WebSocket-based communication between client and servers</a:t>
            </a:r>
          </a:p>
          <a:p>
            <a:r>
              <a:rPr lang="en-US" b="1" dirty="0"/>
              <a:t>Servlet </a:t>
            </a:r>
            <a:r>
              <a:rPr lang="en-US" dirty="0"/>
              <a:t>: Provides Model-view-controller architecture and components to develop web applications</a:t>
            </a:r>
          </a:p>
          <a:p>
            <a:r>
              <a:rPr lang="en-US" b="1" dirty="0"/>
              <a:t>Web </a:t>
            </a:r>
            <a:r>
              <a:rPr lang="en-US" dirty="0"/>
              <a:t>: Contains features for developing web apps including RESTful applications</a:t>
            </a:r>
          </a:p>
          <a:p>
            <a:r>
              <a:rPr lang="en-US" b="1" dirty="0"/>
              <a:t>Portlet </a:t>
            </a:r>
            <a:r>
              <a:rPr lang="en-US" dirty="0"/>
              <a:t>: Offers support for developing portlet-based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-US"/>
          </a:p>
        </p:txBody>
      </p:sp>
      <p:pic>
        <p:nvPicPr>
          <p:cNvPr id="6" name="Picture 5" descr="A green and black rectangular box with white text&#10;&#10;Description automatically generated">
            <a:extLst>
              <a:ext uri="{FF2B5EF4-FFF2-40B4-BE49-F238E27FC236}">
                <a16:creationId xmlns:a16="http://schemas.microsoft.com/office/drawing/2014/main" id="{CC30A18E-DA50-28A8-B916-827A13A6E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440" y="2577218"/>
            <a:ext cx="4009110" cy="23344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355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Spring Boot Modules - Other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2700469"/>
            <a:ext cx="8430704" cy="402836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Aspect-Oriented Programming (AOP) </a:t>
            </a:r>
            <a:r>
              <a:rPr lang="en-US" dirty="0"/>
              <a:t>: provides support for aspect-oriented programming</a:t>
            </a:r>
          </a:p>
          <a:p>
            <a:r>
              <a:rPr lang="en-US" b="1" dirty="0"/>
              <a:t>Aspects </a:t>
            </a:r>
            <a:r>
              <a:rPr lang="en-US" dirty="0"/>
              <a:t>: Provides integration with AspectJ, which is a richer and more powerful AOP library.</a:t>
            </a:r>
          </a:p>
          <a:p>
            <a:r>
              <a:rPr lang="en-US" b="1" dirty="0"/>
              <a:t>Instrumentation </a:t>
            </a:r>
            <a:r>
              <a:rPr lang="en-US" dirty="0"/>
              <a:t>: Provides support for class instrumentation and </a:t>
            </a:r>
            <a:r>
              <a:rPr lang="en-US" dirty="0" err="1"/>
              <a:t>classloader</a:t>
            </a:r>
            <a:r>
              <a:rPr lang="en-US" dirty="0"/>
              <a:t> implementations for use in certain application servers.</a:t>
            </a:r>
          </a:p>
          <a:p>
            <a:r>
              <a:rPr lang="en-US" b="1" dirty="0"/>
              <a:t>Messaging </a:t>
            </a:r>
            <a:r>
              <a:rPr lang="en-US" dirty="0"/>
              <a:t>: Provides support for messaging between different parts of a program or between programs (uses the observer design pattern).</a:t>
            </a:r>
          </a:p>
          <a:p>
            <a:r>
              <a:rPr lang="en-US" b="1" dirty="0"/>
              <a:t>Test </a:t>
            </a:r>
            <a:r>
              <a:rPr lang="en-US" dirty="0"/>
              <a:t>: Supports testing of Spring components with JUnit or TestNG.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-US"/>
          </a:p>
        </p:txBody>
      </p:sp>
      <p:pic>
        <p:nvPicPr>
          <p:cNvPr id="7" name="Picture 6" descr="A green rectangles with white text&#10;&#10;Description automatically generated">
            <a:extLst>
              <a:ext uri="{FF2B5EF4-FFF2-40B4-BE49-F238E27FC236}">
                <a16:creationId xmlns:a16="http://schemas.microsoft.com/office/drawing/2014/main" id="{6630F13B-7824-1191-E79C-C73F0E382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19" y="1443326"/>
            <a:ext cx="5904762" cy="1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F355-048B-B931-2BAC-DCD1C24A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4A2026-CC71-2BA1-3D69-67A38D5B57E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8840D7D-BE4D-A544-C848-30233134048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</a:t>
            </a: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DevTools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E71FE-4F97-2B4C-B20A-2CA0AA01B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79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Spring Boot </a:t>
            </a:r>
            <a:r>
              <a:rPr lang="en-US" dirty="0" err="1"/>
              <a:t>DevTools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92965"/>
            <a:ext cx="8430704" cy="3429202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Spring Boot </a:t>
            </a:r>
            <a:r>
              <a:rPr lang="en-US" b="1" dirty="0" err="1"/>
              <a:t>DevTools</a:t>
            </a:r>
            <a:r>
              <a:rPr lang="en-US" b="1" dirty="0"/>
              <a:t> </a:t>
            </a:r>
            <a:r>
              <a:rPr lang="en-US" dirty="0"/>
              <a:t>(developer tools) module provides convenient features that aim to simplify the development and testing process.</a:t>
            </a:r>
          </a:p>
          <a:p>
            <a:r>
              <a:rPr lang="en-US" dirty="0"/>
              <a:t>Added as a standard dependency: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52439D-EE6C-86F6-083B-858FA4D6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279" y="3614614"/>
            <a:ext cx="4944165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1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24F0-A6EB-C203-CDC8-21B8BA53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80A7-D53B-DCA4-AA2C-06A81A1C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Spring Boot </a:t>
            </a:r>
            <a:r>
              <a:rPr lang="en-US" dirty="0" err="1"/>
              <a:t>DevTools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A72D1-B0DA-109E-B1F9-C05B4FBED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92964"/>
            <a:ext cx="8430704" cy="53358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Key Features:</a:t>
            </a:r>
          </a:p>
          <a:p>
            <a:pPr lvl="1"/>
            <a:r>
              <a:rPr lang="en-US" b="1" dirty="0"/>
              <a:t>Automatic Restart</a:t>
            </a:r>
            <a:r>
              <a:rPr lang="en-US" dirty="0"/>
              <a:t> : Reloads Java classes and configures them on the server-side on change.</a:t>
            </a:r>
          </a:p>
          <a:p>
            <a:pPr lvl="2"/>
            <a:r>
              <a:rPr lang="en-US" dirty="0"/>
              <a:t>This leads to dynamic server restarts upon modification of code.</a:t>
            </a:r>
          </a:p>
          <a:p>
            <a:pPr lvl="1"/>
            <a:r>
              <a:rPr lang="en-US" b="1" dirty="0"/>
              <a:t>Live Reload </a:t>
            </a:r>
            <a:r>
              <a:rPr lang="en-US" dirty="0"/>
              <a:t>: Spring Boot </a:t>
            </a:r>
            <a:r>
              <a:rPr lang="en-US" dirty="0" err="1"/>
              <a:t>DevTools</a:t>
            </a:r>
            <a:r>
              <a:rPr lang="en-US" dirty="0"/>
              <a:t> includes an embedded server called ‘</a:t>
            </a:r>
            <a:r>
              <a:rPr lang="en-US" dirty="0" err="1"/>
              <a:t>LiveReload</a:t>
            </a:r>
            <a:r>
              <a:rPr lang="en-US" dirty="0"/>
              <a:t>’ which allows the application to automatically trigger a browser refresh when changes are made to resources.</a:t>
            </a:r>
          </a:p>
          <a:p>
            <a:pPr lvl="1"/>
            <a:r>
              <a:rPr lang="en-US" b="1" dirty="0"/>
              <a:t>Property Defaults for Development</a:t>
            </a:r>
            <a:r>
              <a:rPr lang="en-US" dirty="0"/>
              <a:t>: </a:t>
            </a:r>
            <a:r>
              <a:rPr lang="en-US" dirty="0" err="1"/>
              <a:t>DevTools</a:t>
            </a:r>
            <a:r>
              <a:rPr lang="en-US" dirty="0"/>
              <a:t> automatically disables certain production-oriented optimizations (like template caching) which might prevent changes from being reflected immediately.</a:t>
            </a:r>
            <a:endParaRPr lang="en-US" b="1" dirty="0"/>
          </a:p>
          <a:p>
            <a:pPr lvl="1"/>
            <a:r>
              <a:rPr lang="en-US" b="1" dirty="0"/>
              <a:t>Global Configurations</a:t>
            </a:r>
            <a:r>
              <a:rPr lang="en-US" dirty="0"/>
              <a:t> : Allows for global settings for all Spring Boot applications on a machine, allowing for re-use of common configurations, such as logger settings.</a:t>
            </a:r>
          </a:p>
          <a:p>
            <a:pPr lvl="1"/>
            <a:r>
              <a:rPr lang="en-US" b="1" dirty="0"/>
              <a:t>Remote Debugging </a:t>
            </a:r>
            <a:r>
              <a:rPr lang="en-US" dirty="0"/>
              <a:t>: Supports remote debugging of an application to help with troubleshooting in different environments.</a:t>
            </a:r>
          </a:p>
          <a:p>
            <a:r>
              <a:rPr lang="en-US" dirty="0"/>
              <a:t>Note: </a:t>
            </a:r>
            <a:r>
              <a:rPr lang="en-US" dirty="0" err="1"/>
              <a:t>DevTools</a:t>
            </a:r>
            <a:r>
              <a:rPr lang="en-US" dirty="0"/>
              <a:t> is automatically disabled in a production build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7F002-211D-4456-B917-6ECD8B01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1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1BCD-CCCD-B096-DC14-9EE1C0A6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A90BB6-7325-ED20-1FE1-842023B2BB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F62E23F-0AC6-1169-F661-9F03317B683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Lombok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E3CDB-A919-666A-C749-0765DB01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24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Lombok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Lombok is a Java Library which provides functionality to reduce the amount of boilerplate Java code you have to write.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Lombok provides a number of annotations which can be used to automatically generate boilerplate java code for basic POJO and Bean 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397B53-4768-FBB7-FBEB-026C56175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60" y="2960937"/>
            <a:ext cx="4153480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Lombok Annotations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@Getter</a:t>
            </a:r>
            <a:r>
              <a:rPr lang="en-US" dirty="0"/>
              <a:t>: Generates getters for the fields of a class</a:t>
            </a:r>
          </a:p>
          <a:p>
            <a:r>
              <a:rPr lang="en-US" b="1" dirty="0"/>
              <a:t>@Setter</a:t>
            </a:r>
            <a:r>
              <a:rPr lang="en-US" dirty="0"/>
              <a:t>: Generates setters for the fields of a class</a:t>
            </a:r>
          </a:p>
          <a:p>
            <a:r>
              <a:rPr lang="en-US" b="1" dirty="0"/>
              <a:t>@ToString</a:t>
            </a:r>
            <a:r>
              <a:rPr lang="en-US" dirty="0"/>
              <a:t>: Implements the </a:t>
            </a:r>
            <a:r>
              <a:rPr lang="en-US" dirty="0" err="1"/>
              <a:t>toString</a:t>
            </a:r>
            <a:r>
              <a:rPr lang="en-US" dirty="0"/>
              <a:t> method to print the object attributes.</a:t>
            </a:r>
          </a:p>
          <a:p>
            <a:r>
              <a:rPr lang="en-US" b="1" dirty="0"/>
              <a:t>@EqualsAndHashCode</a:t>
            </a:r>
            <a:r>
              <a:rPr lang="en-US" dirty="0"/>
              <a:t>: Generates </a:t>
            </a:r>
            <a:r>
              <a:rPr lang="en-US" dirty="0" err="1"/>
              <a:t>hashCode</a:t>
            </a:r>
            <a:r>
              <a:rPr lang="en-US" dirty="0"/>
              <a:t> and equals methods.</a:t>
            </a:r>
          </a:p>
          <a:p>
            <a:r>
              <a:rPr lang="en-US" b="1" dirty="0"/>
              <a:t>@AllArgsConstructor</a:t>
            </a:r>
            <a:r>
              <a:rPr lang="en-US" dirty="0"/>
              <a:t>: Generates a constructor with arguments for all fields.</a:t>
            </a:r>
          </a:p>
          <a:p>
            <a:r>
              <a:rPr lang="en-US" b="1" dirty="0"/>
              <a:t>@NoArgsConstructor</a:t>
            </a:r>
            <a:r>
              <a:rPr lang="en-US" dirty="0"/>
              <a:t>: Generates a constructor with no arguments.</a:t>
            </a:r>
          </a:p>
          <a:p>
            <a:r>
              <a:rPr lang="en-US" b="1" dirty="0"/>
              <a:t>@RequiredArgsConstructor</a:t>
            </a:r>
            <a:r>
              <a:rPr lang="en-US" dirty="0"/>
              <a:t>: Generates a constructor for all final fields, with parameters for those fields.</a:t>
            </a:r>
          </a:p>
          <a:p>
            <a:r>
              <a:rPr lang="en-US" b="1" dirty="0"/>
              <a:t>@Data</a:t>
            </a:r>
            <a:r>
              <a:rPr lang="en-US" dirty="0"/>
              <a:t>: A shortcut annotation for @ToString, @EqualsAndHashCode, @Getter on all fields, and @Setter on all non-final fields, and @RequiredArgsConstructor.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5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5042</TotalTime>
  <Words>1173</Words>
  <Application>Microsoft Office PowerPoint</Application>
  <PresentationFormat>On-screen Show (4:3)</PresentationFormat>
  <Paragraphs>130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Revature</vt:lpstr>
      <vt:lpstr>Spring Boot</vt:lpstr>
      <vt:lpstr>Topics</vt:lpstr>
      <vt:lpstr>PowerPoint Presentation</vt:lpstr>
      <vt:lpstr>Spring Boot | Setup</vt:lpstr>
      <vt:lpstr>Spring Boot</vt:lpstr>
      <vt:lpstr>Spring Boot | Auto-Config</vt:lpstr>
      <vt:lpstr>Spring Boot | Auto-Config</vt:lpstr>
      <vt:lpstr>Spring Boot | Auto-Config</vt:lpstr>
      <vt:lpstr>PowerPoint Presentation</vt:lpstr>
      <vt:lpstr>Spring Boot</vt:lpstr>
      <vt:lpstr>PowerPoint Presentation</vt:lpstr>
      <vt:lpstr>Spring Boot</vt:lpstr>
      <vt:lpstr>Spring Boot Modules - Core</vt:lpstr>
      <vt:lpstr>Spring Boot Modules - Data</vt:lpstr>
      <vt:lpstr>Spring Boot Modules - Web</vt:lpstr>
      <vt:lpstr>Spring Boot Modules - Other</vt:lpstr>
      <vt:lpstr>PowerPoint Presentation</vt:lpstr>
      <vt:lpstr>Spring Boot DevTools</vt:lpstr>
      <vt:lpstr>Spring Boot DevTools</vt:lpstr>
      <vt:lpstr>PowerPoint Presentation</vt:lpstr>
      <vt:lpstr>Lombok</vt:lpstr>
      <vt:lpstr>Lombok Annotations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19</cp:revision>
  <dcterms:created xsi:type="dcterms:W3CDTF">2021-04-20T18:35:45Z</dcterms:created>
  <dcterms:modified xsi:type="dcterms:W3CDTF">2026-08-25T19:12:41Z</dcterms:modified>
</cp:coreProperties>
</file>