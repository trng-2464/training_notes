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sldIdLst>
    <p:sldId id="256" r:id="rId2"/>
    <p:sldId id="343" r:id="rId3"/>
    <p:sldId id="357" r:id="rId4"/>
    <p:sldId id="302" r:id="rId5"/>
    <p:sldId id="326" r:id="rId6"/>
    <p:sldId id="323" r:id="rId7"/>
    <p:sldId id="358" r:id="rId8"/>
    <p:sldId id="359" r:id="rId9"/>
    <p:sldId id="360" r:id="rId10"/>
    <p:sldId id="364" r:id="rId11"/>
    <p:sldId id="322" r:id="rId12"/>
    <p:sldId id="361" r:id="rId13"/>
    <p:sldId id="365" r:id="rId14"/>
    <p:sldId id="366" r:id="rId15"/>
    <p:sldId id="374" r:id="rId16"/>
    <p:sldId id="373" r:id="rId17"/>
    <p:sldId id="367" r:id="rId18"/>
    <p:sldId id="362" r:id="rId19"/>
    <p:sldId id="324" r:id="rId20"/>
    <p:sldId id="327" r:id="rId21"/>
    <p:sldId id="368" r:id="rId22"/>
    <p:sldId id="369" r:id="rId23"/>
    <p:sldId id="375" r:id="rId24"/>
    <p:sldId id="363" r:id="rId25"/>
    <p:sldId id="325" r:id="rId26"/>
    <p:sldId id="370" r:id="rId27"/>
    <p:sldId id="371" r:id="rId28"/>
    <p:sldId id="372" r:id="rId29"/>
    <p:sldId id="376" r:id="rId30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>
          <p15:clr>
            <a:srgbClr val="A4A3A4"/>
          </p15:clr>
        </p15:guide>
        <p15:guide id="2" pos="2282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6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>
      <p:cViewPr varScale="1">
        <p:scale>
          <a:sx n="69" d="100"/>
          <a:sy n="69" d="100"/>
        </p:scale>
        <p:origin x="1314" y="60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5956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DF8D8-6650-4C10-9E6B-652A926CA7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Spring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C37A4C1-7EF3-C9E9-1326-A704AABB9EB4}"/>
              </a:ext>
            </a:extLst>
          </p:cNvPr>
          <p:cNvSpPr txBox="1">
            <a:spLocks/>
          </p:cNvSpPr>
          <p:nvPr/>
        </p:nvSpPr>
        <p:spPr>
          <a:xfrm>
            <a:off x="496177" y="2864179"/>
            <a:ext cx="6807148" cy="171761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kern="1200" spc="100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000" dirty="0">
                <a:solidFill>
                  <a:schemeClr val="bg1"/>
                </a:solidFill>
              </a:rPr>
              <a:t>Inversion of Control &amp; Dependency Injection</a:t>
            </a:r>
          </a:p>
        </p:txBody>
      </p:sp>
    </p:spTree>
    <p:extLst>
      <p:ext uri="{BB962C8B-B14F-4D97-AF65-F5344CB8AC3E}">
        <p14:creationId xmlns:p14="http://schemas.microsoft.com/office/powerpoint/2010/main" val="1656679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47FC-ED58-14EC-766E-B345CBB2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0A314-1889-7642-D5E4-583ADD03E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5247391"/>
          </a:xfrm>
        </p:spPr>
        <p:txBody>
          <a:bodyPr numCol="1">
            <a:normAutofit/>
          </a:bodyPr>
          <a:lstStyle/>
          <a:p>
            <a:r>
              <a:rPr lang="en-US" dirty="0"/>
              <a:t>Intro to Spring</a:t>
            </a:r>
          </a:p>
          <a:p>
            <a:r>
              <a:rPr lang="en-US" dirty="0"/>
              <a:t>Inversion of Control</a:t>
            </a:r>
          </a:p>
          <a:p>
            <a:r>
              <a:rPr lang="en-US" dirty="0"/>
              <a:t>Beans &amp; Bean Factory</a:t>
            </a:r>
          </a:p>
          <a:p>
            <a:r>
              <a:rPr lang="en-US" dirty="0" err="1"/>
              <a:t>ApplicationContext</a:t>
            </a:r>
            <a:r>
              <a:rPr lang="en-US" dirty="0"/>
              <a:t> &amp; Bean Configuration</a:t>
            </a:r>
          </a:p>
          <a:p>
            <a:r>
              <a:rPr lang="en-US" dirty="0"/>
              <a:t>Dependency Injection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 to Spring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646" y="0"/>
            <a:ext cx="2107354" cy="77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Spring?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/>
          <a:lstStyle/>
          <a:p>
            <a:r>
              <a:rPr lang="en-US" dirty="0"/>
              <a:t>Powerful and popular framework used to simplify development of enterprise applications.</a:t>
            </a:r>
          </a:p>
          <a:p>
            <a:r>
              <a:rPr lang="en-US" dirty="0"/>
              <a:t>Three core building blocks of Enterprise-Level Spring Applications:</a:t>
            </a:r>
          </a:p>
          <a:p>
            <a:pPr lvl="1"/>
            <a:r>
              <a:rPr lang="en-US" b="1" dirty="0"/>
              <a:t>Web Layer </a:t>
            </a:r>
            <a:r>
              <a:rPr lang="en-US" dirty="0"/>
              <a:t>: Handles user requests &amp; responses</a:t>
            </a:r>
          </a:p>
          <a:p>
            <a:pPr lvl="1"/>
            <a:r>
              <a:rPr lang="en-US" b="1" dirty="0"/>
              <a:t>Service Layer </a:t>
            </a:r>
            <a:r>
              <a:rPr lang="en-US" dirty="0"/>
              <a:t>: Encapsulates business logic &amp; connections web and data access layers</a:t>
            </a:r>
          </a:p>
          <a:p>
            <a:pPr lvl="1"/>
            <a:r>
              <a:rPr lang="en-US" b="1" dirty="0"/>
              <a:t>Data Access Layer</a:t>
            </a:r>
            <a:r>
              <a:rPr lang="en-US" dirty="0"/>
              <a:t> : interacts with database and/or external data sources. Retrieves and Persists data.</a:t>
            </a:r>
          </a:p>
          <a:p>
            <a:r>
              <a:rPr lang="en-US" dirty="0"/>
              <a:t>Spring was created by Rod Johnson in 2003 as a response to the complexity of Java EE.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708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-4950"/>
            <a:ext cx="6473717" cy="1224150"/>
          </a:xfrm>
        </p:spPr>
        <p:txBody>
          <a:bodyPr/>
          <a:lstStyle/>
          <a:p>
            <a:r>
              <a:rPr lang="en-US" dirty="0"/>
              <a:t>The Spring Framework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Spring Framework is a comprehensive infrastructure of tools built to support the development of Java Applications</a:t>
            </a:r>
          </a:p>
          <a:p>
            <a:pPr lvl="1"/>
            <a:r>
              <a:rPr lang="en-US" dirty="0"/>
              <a:t>Enables development of loosely coupled, easily testable and scalable applications.</a:t>
            </a:r>
          </a:p>
          <a:p>
            <a:pPr lvl="1"/>
            <a:r>
              <a:rPr lang="en-US" dirty="0"/>
              <a:t>Provides capabilities such as Dependency Injection, Aspect Oriented Programing and more</a:t>
            </a:r>
          </a:p>
          <a:p>
            <a:pPr lvl="1"/>
            <a:r>
              <a:rPr lang="en-US" dirty="0"/>
              <a:t>Configuration can be a bit verbose and often requires a lot of XML configuration (although annotation-based configuration is also available).</a:t>
            </a:r>
          </a:p>
          <a:p>
            <a:r>
              <a:rPr lang="en-US" dirty="0"/>
              <a:t>Useful when you have specific needs that require detailed setup and customization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60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7DA8A2-5A61-5A51-2B74-1C5FFEFB8AD7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16856" y="1535707"/>
            <a:ext cx="6110288" cy="47172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0077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8DA9E-41D0-D31D-C471-A56DB7323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5B144-0C4B-799E-DF20-DB0D72D8A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of Spring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2078A7-6953-573D-6CC2-10D6DEC88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Inversion of Control</a:t>
            </a:r>
            <a:r>
              <a:rPr lang="en-US" dirty="0"/>
              <a:t> (IoC) – Spring manages object creation &amp; lifecycle</a:t>
            </a:r>
          </a:p>
          <a:p>
            <a:r>
              <a:rPr lang="en-US" b="1" dirty="0"/>
              <a:t>Dependency Injection</a:t>
            </a:r>
            <a:r>
              <a:rPr lang="en-US" dirty="0"/>
              <a:t> (DI) – components receive their dependencies automatically</a:t>
            </a:r>
          </a:p>
          <a:p>
            <a:r>
              <a:rPr lang="en-US" b="1" dirty="0"/>
              <a:t>Aspect-Oriented Programming </a:t>
            </a:r>
            <a:r>
              <a:rPr lang="en-US" dirty="0"/>
              <a:t>(AOP) – separates cross-cutting concerns </a:t>
            </a:r>
          </a:p>
          <a:p>
            <a:pPr lvl="1"/>
            <a:r>
              <a:rPr lang="en-US" dirty="0"/>
              <a:t>e.g. logging, security</a:t>
            </a:r>
          </a:p>
          <a:p>
            <a:r>
              <a:rPr lang="en-US" b="1" dirty="0"/>
              <a:t>Modular architecture</a:t>
            </a:r>
            <a:r>
              <a:rPr lang="en-US" dirty="0"/>
              <a:t> – use only what you need (core, MVC, Data, Security, etc…)</a:t>
            </a:r>
          </a:p>
          <a:p>
            <a:r>
              <a:rPr lang="en-US" b="1" dirty="0"/>
              <a:t>Excellent Integration</a:t>
            </a:r>
            <a:r>
              <a:rPr lang="en-US" dirty="0"/>
              <a:t> – works seamlessly with Hibernate, JPS, REST, Kafka and more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0E3F6-19AD-C490-C6F8-8C34D57C02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668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1BD3F-FB88-16AC-7A67-48940C6D2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8385B-936E-9785-3200-BB21BE62A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Spring?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6E995-A95E-DC4C-7BD5-153922003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Reduces boilerplate code dramatically</a:t>
            </a:r>
          </a:p>
          <a:p>
            <a:r>
              <a:rPr lang="en-US" dirty="0"/>
              <a:t>Promotes loose coupling and testability</a:t>
            </a:r>
          </a:p>
          <a:p>
            <a:r>
              <a:rPr lang="en-US" dirty="0"/>
              <a:t>Large, active community</a:t>
            </a:r>
          </a:p>
          <a:p>
            <a:r>
              <a:rPr lang="en-US" dirty="0"/>
              <a:t>Wide, module &amp; varied ecosystem (spring boot, spring cloud, etc…)</a:t>
            </a:r>
          </a:p>
          <a:p>
            <a:r>
              <a:rPr lang="en-US" dirty="0"/>
              <a:t>Industry Standard – widely expected knowledge for Java developers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E60B0-99D0-C217-991E-4DF9C9957F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287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24329-0733-9740-7EEE-C7BA86EB6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60382F-2A77-7172-A4F6-7CA3A09315C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6047E2BE-94C7-AD78-63F1-2E18F9C35F2E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Inversion of Control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E35416-EA0B-BC95-161A-F208078A7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646" y="0"/>
            <a:ext cx="2107354" cy="77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190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AF980-F5A3-709D-DFE7-F4D2193CF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193FC-4C73-F57B-CB7C-462DE47CB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Inversion of Control (IoC)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71C33-608D-B987-7BA4-88D6A22AE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Design principle which shifts the control of object creation and management from the application to a container or framework.</a:t>
            </a:r>
          </a:p>
          <a:p>
            <a:pPr lvl="1"/>
            <a:r>
              <a:rPr lang="en-US" dirty="0"/>
              <a:t>i.e. IoC is about outsourcing the creation and management of objects to a container instead of manually creating the objects and managing them.</a:t>
            </a:r>
          </a:p>
          <a:p>
            <a:r>
              <a:rPr lang="en-US" dirty="0"/>
              <a:t>Spring IoC container creates and manages objects for each layer of the application</a:t>
            </a:r>
          </a:p>
          <a:p>
            <a:r>
              <a:rPr lang="en-US" dirty="0"/>
              <a:t>The two main IoC Container implementations of Spring are:</a:t>
            </a:r>
          </a:p>
          <a:p>
            <a:pPr lvl="1"/>
            <a:r>
              <a:rPr lang="en-US" dirty="0" err="1"/>
              <a:t>BeanFactory</a:t>
            </a:r>
            <a:r>
              <a:rPr lang="en-US" dirty="0"/>
              <a:t>: Basic container</a:t>
            </a:r>
          </a:p>
          <a:p>
            <a:pPr lvl="1"/>
            <a:r>
              <a:rPr lang="en-US" dirty="0" err="1"/>
              <a:t>ApplicationContext</a:t>
            </a:r>
            <a:r>
              <a:rPr lang="en-US" dirty="0"/>
              <a:t>: More feature-rich container built atop </a:t>
            </a:r>
            <a:r>
              <a:rPr lang="en-US" dirty="0" err="1"/>
              <a:t>BeanFactory</a:t>
            </a:r>
            <a:r>
              <a:rPr lang="en-US" dirty="0"/>
              <a:t>.</a:t>
            </a:r>
          </a:p>
          <a:p>
            <a:r>
              <a:rPr lang="en-US" dirty="0"/>
              <a:t>IoC automatically injects dependencies into appropriate components, which enables decoupling between layers</a:t>
            </a:r>
          </a:p>
          <a:p>
            <a:pPr lvl="1"/>
            <a:r>
              <a:rPr lang="en-US" dirty="0"/>
              <a:t>Decoupling improves maintainability, scalability and testing</a:t>
            </a:r>
          </a:p>
          <a:p>
            <a:r>
              <a:rPr lang="en-US" dirty="0"/>
              <a:t>With Spring IoC, developers can focus on writing layer-specific logic without worrying about cross-layer dependency management.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9B593-4439-E5E0-2F32-1BEBE4E42F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230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22757" y="6363712"/>
            <a:ext cx="861671" cy="365125"/>
          </a:xfrm>
        </p:spPr>
        <p:txBody>
          <a:bodyPr anchor="ctr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 anchor="ctr">
            <a:normAutofit/>
          </a:bodyPr>
          <a:lstStyle/>
          <a:p>
            <a:r>
              <a:rPr lang="en-US" dirty="0"/>
              <a:t>Inversion of Control (IoC)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0B3BBE2-A071-9A6B-C2CA-B97926288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5888" y="1193149"/>
            <a:ext cx="8952223" cy="4471701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132682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EBABC-57E9-2159-8CC3-CCBA3B1EB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0D2DD9-B8FF-5DB1-A571-47E34D29103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8AC57396-9453-8DD7-21D3-759FCB78A701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Beans &amp; Bean Factory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3AA263-C505-84EC-8BD1-E2B995D61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646" y="0"/>
            <a:ext cx="2107354" cy="77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446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0321A-9281-7DCF-A3A9-EA85BCC4A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7872B-DFDA-C460-AF86-DFB7F6C8E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BeanFactory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017D3-8A71-77CA-2AA1-9AD5D1880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b="1" dirty="0" err="1"/>
              <a:t>BeanFactory</a:t>
            </a:r>
            <a:r>
              <a:rPr lang="en-US" b="1" dirty="0"/>
              <a:t> </a:t>
            </a:r>
            <a:r>
              <a:rPr lang="en-US" dirty="0"/>
              <a:t>is an interface which serves as the foundation for the IoC Container.</a:t>
            </a:r>
          </a:p>
          <a:p>
            <a:pPr lvl="1"/>
            <a:r>
              <a:rPr lang="en-US" dirty="0"/>
              <a:t>Responsible for managing and providing instances of </a:t>
            </a:r>
            <a:r>
              <a:rPr lang="en-US" i="1" u="sng" dirty="0"/>
              <a:t>beans</a:t>
            </a:r>
            <a:endParaRPr lang="en-US" dirty="0"/>
          </a:p>
          <a:p>
            <a:pPr lvl="1"/>
            <a:r>
              <a:rPr lang="en-US" dirty="0"/>
              <a:t>Beans are objects which are instantiated, configured and managed by the IoC container.</a:t>
            </a:r>
          </a:p>
          <a:p>
            <a:pPr lvl="2"/>
            <a:r>
              <a:rPr lang="en-US" dirty="0"/>
              <a:t>Beans are the core build block of Spring applications, containing business logic, configurations, connections, etc…</a:t>
            </a:r>
          </a:p>
          <a:p>
            <a:r>
              <a:rPr lang="en-US" dirty="0"/>
              <a:t>The </a:t>
            </a:r>
            <a:r>
              <a:rPr lang="en-US" dirty="0" err="1"/>
              <a:t>BeanFactory</a:t>
            </a:r>
            <a:r>
              <a:rPr lang="en-US" dirty="0"/>
              <a:t> is the central registry for bean definitions. It will create and initialize beans based on provided definitions</a:t>
            </a:r>
          </a:p>
          <a:p>
            <a:r>
              <a:rPr lang="en-US" dirty="0"/>
              <a:t>The </a:t>
            </a:r>
            <a:r>
              <a:rPr lang="en-US" dirty="0" err="1"/>
              <a:t>BeanFactory</a:t>
            </a:r>
            <a:r>
              <a:rPr lang="en-US" dirty="0"/>
              <a:t> performs lazy initialization of beans by default.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4A1B3F-C04A-EBE1-6F14-9F5D93A680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78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6E68D-5AF5-701C-DD31-8E61F4F51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C18D0-A1BD-1453-F9B5-31C12D74A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Bean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D2CD7B-CC0D-3284-FEF9-8580722D6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In Spring a </a:t>
            </a:r>
            <a:r>
              <a:rPr lang="en-US" b="1" i="1" dirty="0"/>
              <a:t>Bean</a:t>
            </a:r>
            <a:r>
              <a:rPr lang="en-US" dirty="0"/>
              <a:t> is simply a Java object whose lifecycle is managed by the Spring IoC container.</a:t>
            </a:r>
          </a:p>
          <a:p>
            <a:r>
              <a:rPr lang="en-US" dirty="0"/>
              <a:t>Beans are configured, wired together, and destroyed by Spring, rather than by the developer</a:t>
            </a:r>
          </a:p>
          <a:p>
            <a:r>
              <a:rPr lang="en-US" dirty="0"/>
              <a:t>In other words: as a developer, you define the definition of the bean (basically the object class), and Spring will manage the creation of the actual bean objects.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Bean</a:t>
            </a:r>
            <a:r>
              <a:rPr lang="en-US" dirty="0"/>
              <a:t> – any object instantiated and managed by the Spring Container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B849C-B385-FEAA-949C-4F8B4CDA55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47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EE3A4-1AE5-C233-F7E5-AE9F41F31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E12FB-08C6-9F4A-9305-AD2819E29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-4950"/>
            <a:ext cx="6473717" cy="1224150"/>
          </a:xfrm>
        </p:spPr>
        <p:txBody>
          <a:bodyPr/>
          <a:lstStyle/>
          <a:p>
            <a:r>
              <a:rPr lang="en-US" dirty="0"/>
              <a:t>Bean Lifecycle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334F4-DE1F-DBE7-1CA7-F5E9A01F6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Every bean goes through a </a:t>
            </a:r>
            <a:r>
              <a:rPr lang="en-US" b="1" i="1" dirty="0"/>
              <a:t>bean lifecycle</a:t>
            </a:r>
            <a:r>
              <a:rPr lang="en-US" dirty="0"/>
              <a:t> – a predictable sequence of stages managed by the IoC Container.</a:t>
            </a:r>
          </a:p>
          <a:p>
            <a:r>
              <a:rPr lang="en-US" dirty="0"/>
              <a:t>Several of these stages have callback methods which the container executes.</a:t>
            </a:r>
          </a:p>
          <a:p>
            <a:pPr lvl="1"/>
            <a:r>
              <a:rPr lang="en-US" dirty="0"/>
              <a:t>You can provide custom functionality for some of these methods if you want greater control over resource management of your application.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DA954-0922-2875-E536-A1D93841ED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822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-4950"/>
            <a:ext cx="6473717" cy="1224150"/>
          </a:xfrm>
        </p:spPr>
        <p:txBody>
          <a:bodyPr/>
          <a:lstStyle/>
          <a:p>
            <a:r>
              <a:rPr lang="en-US" dirty="0"/>
              <a:t>Bean Lifecycle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222075"/>
            <a:ext cx="8383980" cy="5509637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Instantiation: The container calls the bean’s constructor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Populate Properties: Dependencies are injected via setters/fields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Aware interfaces are called (if implemented): gives the bean access to container-level info about itself</a:t>
            </a:r>
          </a:p>
          <a:p>
            <a:pPr marL="914400" lvl="1" indent="-514350"/>
            <a:r>
              <a:rPr lang="en-US" dirty="0"/>
              <a:t>This includes these interfaces:</a:t>
            </a:r>
          </a:p>
          <a:p>
            <a:pPr marL="914400" lvl="1" indent="-514350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BeanNameAware</a:t>
            </a:r>
            <a:r>
              <a:rPr lang="en-US" dirty="0"/>
              <a:t> (gives a bean access to its own registered name) </a:t>
            </a:r>
          </a:p>
          <a:p>
            <a:pPr marL="914400" lvl="1" indent="-514350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ApplicationContextAware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(gives a bean a reference to the IoC Container)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BeanPostProcesser</a:t>
            </a:r>
            <a:r>
              <a:rPr lang="en-US" dirty="0"/>
              <a:t> (before initialization): registered post-processors can modify the bean before </a:t>
            </a:r>
            <a:r>
              <a:rPr lang="en-US" dirty="0" err="1"/>
              <a:t>init</a:t>
            </a:r>
            <a:r>
              <a:rPr lang="en-US" dirty="0"/>
              <a:t> callback run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Initialization Callbacks are run if present (in this order):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@PostConstruct</a:t>
            </a:r>
            <a:r>
              <a:rPr lang="en-US" dirty="0"/>
              <a:t> (recommended approach)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afterPropertierSet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(via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InitializingBean</a:t>
            </a:r>
            <a:r>
              <a:rPr lang="en-US" dirty="0"/>
              <a:t> interface)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Custom </a:t>
            </a:r>
            <a:r>
              <a:rPr lang="en-US" dirty="0" err="1"/>
              <a:t>init</a:t>
            </a:r>
            <a:r>
              <a:rPr lang="en-US" dirty="0"/>
              <a:t>-methods (configured via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@Bean(initMethod = “…”)</a:t>
            </a:r>
            <a:r>
              <a:rPr lang="en-U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BeanPostProcessor</a:t>
            </a:r>
            <a:r>
              <a:rPr lang="en-US" dirty="0"/>
              <a:t> (after initialization): registered post-processors get a second pass.</a:t>
            </a:r>
          </a:p>
          <a:p>
            <a:pPr marL="914400" lvl="1" indent="-514350"/>
            <a:r>
              <a:rPr lang="en-US" dirty="0"/>
              <a:t>This is how Spring build proxies for things like </a:t>
            </a:r>
            <a:r>
              <a:rPr lang="en-US" dirty="0" err="1"/>
              <a:t>AoP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@Transactional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Bean is ready for use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Destruction callbacks are run if present (note, this applies to singleton-scoped beans only):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@PreDestroy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destroy()</a:t>
            </a:r>
            <a:r>
              <a:rPr lang="en-US" dirty="0"/>
              <a:t> (via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DisposableBean</a:t>
            </a:r>
            <a:r>
              <a:rPr lang="en-US" dirty="0"/>
              <a:t> interface)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Custom destroy-methods (configured via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@Bean(destroyMethod = “…”)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482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65897-867F-8AF3-5537-1673F8F46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E52A2-95A7-77A3-B2A5-D0060461B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Bean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74CC31-8D4A-F3D7-8133-B38D0CEE1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When you create a bean definition, you can control the “scope” of the objects created.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37FB5-EF18-AC53-2D30-8ED7B6AA28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984DF38-AC6C-58BA-BC62-FA427472E7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39946"/>
              </p:ext>
            </p:extLst>
          </p:nvPr>
        </p:nvGraphicFramePr>
        <p:xfrm>
          <a:off x="380009" y="2508688"/>
          <a:ext cx="83839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451">
                  <a:extLst>
                    <a:ext uri="{9D8B030D-6E8A-4147-A177-3AD203B41FA5}">
                      <a16:colId xmlns:a16="http://schemas.microsoft.com/office/drawing/2014/main" val="2428047156"/>
                    </a:ext>
                  </a:extLst>
                </a:gridCol>
                <a:gridCol w="6719529">
                  <a:extLst>
                    <a:ext uri="{9D8B030D-6E8A-4147-A177-3AD203B41FA5}">
                      <a16:colId xmlns:a16="http://schemas.microsoft.com/office/drawing/2014/main" val="4042617734"/>
                    </a:ext>
                  </a:extLst>
                </a:gridCol>
              </a:tblGrid>
              <a:tr h="184819">
                <a:tc>
                  <a:txBody>
                    <a:bodyPr/>
                    <a:lstStyle/>
                    <a:p>
                      <a:r>
                        <a:rPr lang="en-US" dirty="0"/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409085"/>
                  </a:ext>
                </a:extLst>
              </a:tr>
              <a:tr h="239119">
                <a:tc>
                  <a:txBody>
                    <a:bodyPr/>
                    <a:lstStyle/>
                    <a:p>
                      <a:r>
                        <a:rPr lang="en-US" dirty="0"/>
                        <a:t>singleton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(Default) Scopes a single bean to a single object instance. Best for stateless beans.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0382747"/>
                  </a:ext>
                </a:extLst>
              </a:tr>
              <a:tr h="323433">
                <a:tc>
                  <a:txBody>
                    <a:bodyPr/>
                    <a:lstStyle/>
                    <a:p>
                      <a:r>
                        <a:rPr lang="en-US" dirty="0"/>
                        <a:t>prototype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Scopes a single bean definition to any number of object instances. Best for stateful beans.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037326"/>
                  </a:ext>
                </a:extLst>
              </a:tr>
              <a:tr h="739274">
                <a:tc>
                  <a:txBody>
                    <a:bodyPr/>
                    <a:lstStyle/>
                    <a:p>
                      <a:r>
                        <a:rPr lang="en-US" dirty="0"/>
                        <a:t>request*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Scopes a single bean definition to the lifecycle of a single HTTP request. I.e. each HTTP request has its own instance of a bean created off the back of a single bean definition.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156701"/>
                  </a:ext>
                </a:extLst>
              </a:tr>
              <a:tr h="239119">
                <a:tc>
                  <a:txBody>
                    <a:bodyPr/>
                    <a:lstStyle/>
                    <a:p>
                      <a:r>
                        <a:rPr lang="en-US" dirty="0"/>
                        <a:t>session*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Scopes a single bean definition to the lifecycle of an HTTP Session.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23765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ECD70A7-9573-5A4A-F801-D79F023A59C3}"/>
              </a:ext>
            </a:extLst>
          </p:cNvPr>
          <p:cNvSpPr txBox="1"/>
          <p:nvPr/>
        </p:nvSpPr>
        <p:spPr>
          <a:xfrm>
            <a:off x="0" y="6488668"/>
            <a:ext cx="73320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*Only valid in the context of a web-aware Spring </a:t>
            </a:r>
            <a:r>
              <a:rPr lang="en-US" sz="1400" dirty="0" err="1"/>
              <a:t>ApplicationContext</a:t>
            </a:r>
            <a:endParaRPr lang="en-US" sz="140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36D3639-1CEA-C4AB-11BB-27002C4D1669}"/>
              </a:ext>
            </a:extLst>
          </p:cNvPr>
          <p:cNvSpPr txBox="1">
            <a:spLocks/>
          </p:cNvSpPr>
          <p:nvPr/>
        </p:nvSpPr>
        <p:spPr>
          <a:xfrm>
            <a:off x="380009" y="5736565"/>
            <a:ext cx="8383980" cy="62714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 can define the scope of a bean using the ‘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@Scope</a:t>
            </a:r>
            <a:r>
              <a:rPr lang="en-US" dirty="0"/>
              <a:t>’ annotation or adding the ‘scope’ attribute in an XML configuration</a:t>
            </a:r>
          </a:p>
        </p:txBody>
      </p:sp>
    </p:spTree>
    <p:extLst>
      <p:ext uri="{BB962C8B-B14F-4D97-AF65-F5344CB8AC3E}">
        <p14:creationId xmlns:p14="http://schemas.microsoft.com/office/powerpoint/2010/main" val="482084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55D4E-4D01-6CE4-F601-DE7F931C1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D4EABC-C464-803F-2120-194B498D81D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98C4148C-898C-16E1-E1CC-E2958993B25B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ApplicationContext</a:t>
            </a: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&amp; Bean Configuration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439F2B-F6E9-4990-31D1-F71F78EE3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646" y="0"/>
            <a:ext cx="2107354" cy="77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187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ApplicationContext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92500"/>
          </a:bodyPr>
          <a:lstStyle/>
          <a:p>
            <a:r>
              <a:rPr lang="en-US" dirty="0"/>
              <a:t>The </a:t>
            </a:r>
            <a:r>
              <a:rPr lang="en-US" b="1" dirty="0" err="1"/>
              <a:t>ApplicationContext</a:t>
            </a:r>
            <a:r>
              <a:rPr lang="en-US" b="1" dirty="0"/>
              <a:t> </a:t>
            </a:r>
            <a:r>
              <a:rPr lang="en-US" dirty="0"/>
              <a:t>is an interface which extends the </a:t>
            </a:r>
            <a:r>
              <a:rPr lang="en-US" dirty="0" err="1"/>
              <a:t>BeanFactory</a:t>
            </a:r>
            <a:r>
              <a:rPr lang="en-US" dirty="0"/>
              <a:t> in spring to provide a broader range of functionalities to support an application.</a:t>
            </a:r>
          </a:p>
          <a:p>
            <a:pPr lvl="1"/>
            <a:r>
              <a:rPr lang="en-US" dirty="0"/>
              <a:t>Supports advanced dependency injection, automatically wiring and resolving dependencies between objects.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ApplicationContext</a:t>
            </a:r>
            <a:r>
              <a:rPr lang="en-US" dirty="0"/>
              <a:t> allows for flexible application configuration using:</a:t>
            </a:r>
          </a:p>
          <a:p>
            <a:pPr lvl="2"/>
            <a:r>
              <a:rPr lang="en-US" dirty="0"/>
              <a:t>XML File Configuration</a:t>
            </a:r>
          </a:p>
          <a:p>
            <a:pPr lvl="2"/>
            <a:r>
              <a:rPr lang="en-US" dirty="0"/>
              <a:t>Spring Annotation Configuration</a:t>
            </a:r>
          </a:p>
          <a:p>
            <a:pPr lvl="2"/>
            <a:r>
              <a:rPr lang="en-US" dirty="0"/>
              <a:t>Java-code Configurations</a:t>
            </a:r>
          </a:p>
          <a:p>
            <a:r>
              <a:rPr lang="en-US" dirty="0"/>
              <a:t>The </a:t>
            </a:r>
            <a:r>
              <a:rPr lang="en-US" dirty="0" err="1"/>
              <a:t>ApplicationContext</a:t>
            </a:r>
            <a:r>
              <a:rPr lang="en-US" dirty="0"/>
              <a:t> performs eager initialization of beans by default (all beans are configured upfront).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888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62EC8-828E-9E23-9B97-9343263F3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DEE57-DC3B-FE34-B88D-996848D09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 File Configuration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2C138-C1A1-FA03-30E3-25C62DA06A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2E1ABB-7FDF-0D30-7E3D-50A2B004F9F3}"/>
              </a:ext>
            </a:extLst>
          </p:cNvPr>
          <p:cNvSpPr/>
          <p:nvPr/>
        </p:nvSpPr>
        <p:spPr>
          <a:xfrm>
            <a:off x="754811" y="1340571"/>
            <a:ext cx="7634378" cy="2136476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&lt;!-- applicationContext.xml --&gt;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&lt;beans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xmlns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=“http://www.springframework.org/schema/beans”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&lt;!-- other bean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xmlns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config --&gt;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&lt;bean id=“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beanName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” class=“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package.name.ClassName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”&gt;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	&lt;!-- additional Config goes here --&gt;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&lt;/bean&gt;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&lt;/beans&gt;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C58E06-51D9-CD98-4123-717E17F9FE5F}"/>
              </a:ext>
            </a:extLst>
          </p:cNvPr>
          <p:cNvSpPr/>
          <p:nvPr/>
        </p:nvSpPr>
        <p:spPr>
          <a:xfrm>
            <a:off x="754811" y="3696001"/>
            <a:ext cx="7634378" cy="1321279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rgbClr val="00863D"/>
                </a:solidFill>
              </a:rPr>
              <a:t>// Within a Java Class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rgbClr val="7030A0"/>
                </a:solidFill>
              </a:rPr>
              <a:t>public static void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main(String[]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args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 {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ApplicationContext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ctx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</a:t>
            </a:r>
            <a:r>
              <a:rPr lang="en-US" sz="1400" dirty="0">
                <a:solidFill>
                  <a:srgbClr val="7030A0"/>
                </a:solidFill>
              </a:rPr>
              <a:t>new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ClassPathXmlApplicationContext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“applicationContext.xml”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);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ClassName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bean =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ctx.getBean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“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beanName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”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ClassName.class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);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}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75581C8-96EB-CFD4-DE1A-C4FA67819BF2}"/>
              </a:ext>
            </a:extLst>
          </p:cNvPr>
          <p:cNvSpPr txBox="1">
            <a:spLocks/>
          </p:cNvSpPr>
          <p:nvPr/>
        </p:nvSpPr>
        <p:spPr>
          <a:xfrm>
            <a:off x="380010" y="5236234"/>
            <a:ext cx="8383980" cy="1492602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Beans definitions live outside of Java code</a:t>
            </a:r>
          </a:p>
          <a:p>
            <a:r>
              <a:rPr lang="en-US" dirty="0"/>
              <a:t>“id” attribute in xml config file names the bean</a:t>
            </a:r>
          </a:p>
          <a:p>
            <a:r>
              <a:rPr lang="en-US" dirty="0"/>
              <a:t>“class” attribute specifies full-qualified class name for bean class</a:t>
            </a:r>
          </a:p>
          <a:p>
            <a:r>
              <a:rPr lang="en-US" dirty="0"/>
              <a:t>&lt;property&gt; or &lt;constructor-</a:t>
            </a:r>
            <a:r>
              <a:rPr lang="en-US" dirty="0" err="1"/>
              <a:t>arg</a:t>
            </a:r>
            <a:r>
              <a:rPr lang="en-US" dirty="0"/>
              <a:t>&gt; tags can be used to inject dependencies</a:t>
            </a:r>
          </a:p>
          <a:p>
            <a:r>
              <a:rPr lang="en-US" dirty="0"/>
              <a:t>XML config can be verbose and hard to maintain for larger projects</a:t>
            </a:r>
          </a:p>
        </p:txBody>
      </p:sp>
    </p:spTree>
    <p:extLst>
      <p:ext uri="{BB962C8B-B14F-4D97-AF65-F5344CB8AC3E}">
        <p14:creationId xmlns:p14="http://schemas.microsoft.com/office/powerpoint/2010/main" val="1050399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56181-2540-4158-09FE-E666E9C9E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C53B9-60A4-2295-263A-70818F3AA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Annotation Configuration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2E9C6-3E78-F8EC-7007-EC4352A9F2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7F8430-2E3A-6A7C-6263-118D8CD85B3C}"/>
              </a:ext>
            </a:extLst>
          </p:cNvPr>
          <p:cNvSpPr/>
          <p:nvPr/>
        </p:nvSpPr>
        <p:spPr>
          <a:xfrm>
            <a:off x="754811" y="1262507"/>
            <a:ext cx="7634378" cy="3255269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@Service</a:t>
            </a:r>
          </a:p>
          <a:p>
            <a:r>
              <a:rPr lang="en-US" sz="1400" dirty="0">
                <a:solidFill>
                  <a:srgbClr val="7030A0"/>
                </a:solidFill>
              </a:rPr>
              <a:t>public class </a:t>
            </a:r>
            <a:r>
              <a:rPr lang="en-US" sz="1400" dirty="0" err="1">
                <a:solidFill>
                  <a:schemeClr val="tx1"/>
                </a:solidFill>
              </a:rPr>
              <a:t>MyService</a:t>
            </a:r>
            <a:r>
              <a:rPr lang="en-US" sz="1400" dirty="0">
                <a:solidFill>
                  <a:schemeClr val="tx1"/>
                </a:solidFill>
              </a:rPr>
              <a:t> {</a:t>
            </a:r>
          </a:p>
          <a:p>
            <a:r>
              <a:rPr lang="en-US" sz="1400" dirty="0">
                <a:solidFill>
                  <a:schemeClr val="tx1"/>
                </a:solidFill>
              </a:rPr>
              <a:t>    public String functionality() { return “This is the Service Bean”; }</a:t>
            </a:r>
          </a:p>
          <a:p>
            <a:r>
              <a:rPr lang="en-US" sz="1400" dirty="0">
                <a:solidFill>
                  <a:schemeClr val="tx1"/>
                </a:solidFill>
              </a:rPr>
              <a:t>}</a:t>
            </a:r>
          </a:p>
          <a:p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@Configuration</a:t>
            </a:r>
          </a:p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@ComponentScan(basePackages =“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com.example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”)</a:t>
            </a:r>
          </a:p>
          <a:p>
            <a:r>
              <a:rPr lang="en-US" sz="1400" dirty="0">
                <a:solidFill>
                  <a:srgbClr val="7030A0"/>
                </a:solidFill>
              </a:rPr>
              <a:t>public class </a:t>
            </a:r>
            <a:r>
              <a:rPr lang="en-US" sz="1400" dirty="0" err="1">
                <a:solidFill>
                  <a:schemeClr val="tx1"/>
                </a:solidFill>
              </a:rPr>
              <a:t>AppConfig</a:t>
            </a:r>
            <a:r>
              <a:rPr lang="en-US" sz="1400" dirty="0">
                <a:solidFill>
                  <a:schemeClr val="tx1"/>
                </a:solidFill>
              </a:rPr>
              <a:t> {}</a:t>
            </a:r>
            <a:endParaRPr lang="en-US" sz="1400" dirty="0">
              <a:solidFill>
                <a:srgbClr val="7030A0"/>
              </a:solidFill>
            </a:endParaRPr>
          </a:p>
          <a:p>
            <a:endParaRPr lang="en-US" sz="1400" dirty="0">
              <a:solidFill>
                <a:srgbClr val="7030A0"/>
              </a:solidFill>
            </a:endParaRPr>
          </a:p>
          <a:p>
            <a:r>
              <a:rPr lang="en-US" sz="1400" dirty="0">
                <a:solidFill>
                  <a:srgbClr val="7030A0"/>
                </a:solidFill>
              </a:rPr>
              <a:t>public class </a:t>
            </a:r>
            <a:r>
              <a:rPr lang="en-US" sz="1400" dirty="0">
                <a:solidFill>
                  <a:schemeClr val="tx1"/>
                </a:solidFill>
              </a:rPr>
              <a:t>App {</a:t>
            </a:r>
          </a:p>
          <a:p>
            <a:r>
              <a:rPr lang="en-US" sz="1400" dirty="0">
                <a:solidFill>
                  <a:srgbClr val="7030A0"/>
                </a:solidFill>
              </a:rPr>
              <a:t>    public static void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main(String[]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args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 {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ApplicationContext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ctx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</a:t>
            </a:r>
            <a:r>
              <a:rPr lang="en-US" sz="1400" dirty="0">
                <a:solidFill>
                  <a:srgbClr val="7030A0"/>
                </a:solidFill>
              </a:rPr>
              <a:t>new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AnnotationConfigApplicationContext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en-US" sz="1400" dirty="0" err="1">
                <a:solidFill>
                  <a:schemeClr val="accent5">
                    <a:lumMod val="50000"/>
                  </a:schemeClr>
                </a:solidFill>
              </a:rPr>
              <a:t>AppConfig.class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);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MyService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service =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ctx.getBean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en-US" sz="1400" dirty="0" err="1">
                <a:solidFill>
                  <a:schemeClr val="accent5">
                    <a:lumMod val="50000"/>
                  </a:schemeClr>
                </a:solidFill>
              </a:rPr>
              <a:t>MyService.class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);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}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}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22CCCE3-9A5A-A361-AA6A-77ABAA56EADD}"/>
              </a:ext>
            </a:extLst>
          </p:cNvPr>
          <p:cNvSpPr txBox="1">
            <a:spLocks/>
          </p:cNvSpPr>
          <p:nvPr/>
        </p:nvSpPr>
        <p:spPr>
          <a:xfrm>
            <a:off x="380010" y="4692770"/>
            <a:ext cx="8383980" cy="2165229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Beans definitions are created using @Component annotations, and various Component stereotypes:</a:t>
            </a:r>
          </a:p>
          <a:p>
            <a:pPr lvl="1"/>
            <a:r>
              <a:rPr lang="en-US" dirty="0"/>
              <a:t>@Component (basic bean)</a:t>
            </a:r>
          </a:p>
          <a:p>
            <a:pPr lvl="1"/>
            <a:r>
              <a:rPr lang="en-US" dirty="0"/>
              <a:t>@Service (business logic)</a:t>
            </a:r>
          </a:p>
          <a:p>
            <a:pPr lvl="1"/>
            <a:r>
              <a:rPr lang="en-US" dirty="0"/>
              <a:t>@Repository (data access)</a:t>
            </a:r>
          </a:p>
          <a:p>
            <a:pPr lvl="1"/>
            <a:r>
              <a:rPr lang="en-US" dirty="0"/>
              <a:t>@Controller (web)</a:t>
            </a:r>
          </a:p>
          <a:p>
            <a:r>
              <a:rPr lang="en-US" dirty="0"/>
              <a:t>The @autowired annotation tells spring to inject dependencies</a:t>
            </a:r>
          </a:p>
          <a:p>
            <a:r>
              <a:rPr lang="en-US" dirty="0"/>
              <a:t>The @ComponentScan annotation informs spring where to locate the defined beans. Note, @ComponentScan will scan the current package and subpackages if not specified.</a:t>
            </a:r>
          </a:p>
          <a:p>
            <a:r>
              <a:rPr lang="en-US" dirty="0"/>
              <a:t>Much less code than XML since annotations live alongside the class they describe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771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19E8B-E604-7414-3BB0-DD75856D9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457DB-7AB7-6132-08A5-6D1BB06EA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Code Configuration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F9989-424C-6EC9-7400-F05F4DDF9A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DAAE84-9859-A24F-E6F6-C1A572D04019}"/>
              </a:ext>
            </a:extLst>
          </p:cNvPr>
          <p:cNvSpPr/>
          <p:nvPr/>
        </p:nvSpPr>
        <p:spPr>
          <a:xfrm>
            <a:off x="754811" y="1381663"/>
            <a:ext cx="7634378" cy="3302480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@Configuration</a:t>
            </a:r>
          </a:p>
          <a:p>
            <a:r>
              <a:rPr lang="en-US" sz="1100" dirty="0">
                <a:solidFill>
                  <a:srgbClr val="7030A0"/>
                </a:solidFill>
              </a:rPr>
              <a:t>public class </a:t>
            </a:r>
            <a:r>
              <a:rPr lang="en-US" sz="1100" dirty="0" err="1">
                <a:solidFill>
                  <a:schemeClr val="tx1"/>
                </a:solidFill>
              </a:rPr>
              <a:t>AppConfig</a:t>
            </a:r>
            <a:r>
              <a:rPr lang="en-US" sz="1100" dirty="0">
                <a:solidFill>
                  <a:schemeClr val="tx1"/>
                </a:solidFill>
              </a:rPr>
              <a:t> {</a:t>
            </a:r>
          </a:p>
          <a:p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@Bean</a:t>
            </a:r>
          </a:p>
          <a:p>
            <a:r>
              <a:rPr lang="en-US" sz="1100" dirty="0">
                <a:solidFill>
                  <a:schemeClr val="tx1"/>
                </a:solidFill>
              </a:rPr>
              <a:t>    </a:t>
            </a:r>
            <a:r>
              <a:rPr lang="en-US" sz="1100" dirty="0">
                <a:solidFill>
                  <a:srgbClr val="7030A0"/>
                </a:solidFill>
              </a:rPr>
              <a:t>public </a:t>
            </a:r>
            <a:r>
              <a:rPr lang="en-US" sz="1100" dirty="0" err="1">
                <a:solidFill>
                  <a:schemeClr val="tx1"/>
                </a:solidFill>
              </a:rPr>
              <a:t>MyRepository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myRepository</a:t>
            </a:r>
            <a:r>
              <a:rPr lang="en-US" sz="1100" dirty="0">
                <a:solidFill>
                  <a:schemeClr val="tx1"/>
                </a:solidFill>
              </a:rPr>
              <a:t>() {</a:t>
            </a:r>
          </a:p>
          <a:p>
            <a:r>
              <a:rPr lang="en-US" sz="1100" dirty="0">
                <a:solidFill>
                  <a:schemeClr val="tx1"/>
                </a:solidFill>
              </a:rPr>
              <a:t>        </a:t>
            </a:r>
            <a:r>
              <a:rPr lang="en-US" sz="1100" dirty="0">
                <a:solidFill>
                  <a:srgbClr val="7030A0"/>
                </a:solidFill>
              </a:rPr>
              <a:t>return new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MyRepository</a:t>
            </a:r>
            <a:r>
              <a:rPr lang="en-US" sz="1100" dirty="0">
                <a:solidFill>
                  <a:schemeClr val="tx1"/>
                </a:solidFill>
              </a:rPr>
              <a:t>();</a:t>
            </a:r>
          </a:p>
          <a:p>
            <a:r>
              <a:rPr lang="en-US" sz="1100" dirty="0">
                <a:solidFill>
                  <a:schemeClr val="tx1"/>
                </a:solidFill>
              </a:rPr>
              <a:t>    }</a:t>
            </a:r>
          </a:p>
          <a:p>
            <a:endParaRPr lang="en-US" sz="1100" dirty="0">
              <a:solidFill>
                <a:schemeClr val="tx1"/>
              </a:solidFill>
            </a:endParaRPr>
          </a:p>
          <a:p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@Bean</a:t>
            </a:r>
          </a:p>
          <a:p>
            <a:r>
              <a:rPr lang="en-US" sz="1100" dirty="0">
                <a:solidFill>
                  <a:schemeClr val="tx1"/>
                </a:solidFill>
              </a:rPr>
              <a:t>    </a:t>
            </a:r>
            <a:r>
              <a:rPr lang="en-US" sz="1100" dirty="0">
                <a:solidFill>
                  <a:srgbClr val="7030A0"/>
                </a:solidFill>
              </a:rPr>
              <a:t>public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MyService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myService</a:t>
            </a:r>
            <a:r>
              <a:rPr lang="en-US" sz="1100" dirty="0">
                <a:solidFill>
                  <a:schemeClr val="tx1"/>
                </a:solidFill>
              </a:rPr>
              <a:t>(</a:t>
            </a:r>
            <a:r>
              <a:rPr lang="en-US" sz="1100" dirty="0" err="1">
                <a:solidFill>
                  <a:schemeClr val="tx1"/>
                </a:solidFill>
              </a:rPr>
              <a:t>MyRepository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myRepository</a:t>
            </a:r>
            <a:r>
              <a:rPr lang="en-US" sz="1100" dirty="0">
                <a:solidFill>
                  <a:schemeClr val="tx1"/>
                </a:solidFill>
              </a:rPr>
              <a:t>) {</a:t>
            </a:r>
          </a:p>
          <a:p>
            <a:r>
              <a:rPr lang="en-US" sz="1100" dirty="0">
                <a:solidFill>
                  <a:schemeClr val="tx1"/>
                </a:solidFill>
              </a:rPr>
              <a:t>        </a:t>
            </a:r>
            <a:r>
              <a:rPr lang="en-US" sz="1100" dirty="0">
                <a:solidFill>
                  <a:srgbClr val="00863D"/>
                </a:solidFill>
              </a:rPr>
              <a:t>// Dependency passed manually via method call</a:t>
            </a:r>
          </a:p>
          <a:p>
            <a:r>
              <a:rPr lang="en-US" sz="1100" dirty="0">
                <a:solidFill>
                  <a:schemeClr val="tx1"/>
                </a:solidFill>
              </a:rPr>
              <a:t>        </a:t>
            </a:r>
            <a:r>
              <a:rPr lang="en-US" sz="1100" dirty="0">
                <a:solidFill>
                  <a:srgbClr val="7030A0"/>
                </a:solidFill>
              </a:rPr>
              <a:t>return new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MyService</a:t>
            </a:r>
            <a:r>
              <a:rPr lang="en-US" sz="1100" dirty="0">
                <a:solidFill>
                  <a:schemeClr val="tx1"/>
                </a:solidFill>
              </a:rPr>
              <a:t>(</a:t>
            </a:r>
            <a:r>
              <a:rPr lang="en-US" sz="1100" dirty="0" err="1">
                <a:solidFill>
                  <a:schemeClr val="tx1"/>
                </a:solidFill>
              </a:rPr>
              <a:t>myRepository</a:t>
            </a:r>
            <a:r>
              <a:rPr lang="en-US" sz="1100" dirty="0">
                <a:solidFill>
                  <a:schemeClr val="tx1"/>
                </a:solidFill>
              </a:rPr>
              <a:t>);</a:t>
            </a:r>
          </a:p>
          <a:p>
            <a:r>
              <a:rPr lang="en-US" sz="1100" dirty="0">
                <a:solidFill>
                  <a:schemeClr val="tx1"/>
                </a:solidFill>
              </a:rPr>
              <a:t>    }</a:t>
            </a:r>
          </a:p>
          <a:p>
            <a:r>
              <a:rPr lang="en-US" sz="1100" dirty="0">
                <a:solidFill>
                  <a:schemeClr val="tx1"/>
                </a:solidFill>
              </a:rPr>
              <a:t>}</a:t>
            </a:r>
          </a:p>
          <a:p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100" dirty="0">
                <a:solidFill>
                  <a:srgbClr val="00863D"/>
                </a:solidFill>
              </a:rPr>
              <a:t>// Within another Java Class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100" dirty="0">
                <a:solidFill>
                  <a:srgbClr val="7030A0"/>
                </a:solidFill>
              </a:rPr>
              <a:t>public static void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main(String[] </a:t>
            </a:r>
            <a:r>
              <a:rPr lang="en-US" sz="1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args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 {</a:t>
            </a:r>
          </a:p>
          <a:p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</a:t>
            </a:r>
            <a:r>
              <a:rPr lang="en-US" sz="1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ApplicationContext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ctx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</a:t>
            </a:r>
            <a:r>
              <a:rPr lang="en-US" sz="1100" dirty="0">
                <a:solidFill>
                  <a:srgbClr val="7030A0"/>
                </a:solidFill>
              </a:rPr>
              <a:t>new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AnnotationConfigApplicationContext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en-US" sz="1100" dirty="0" err="1">
                <a:solidFill>
                  <a:schemeClr val="accent5">
                    <a:lumMod val="50000"/>
                  </a:schemeClr>
                </a:solidFill>
              </a:rPr>
              <a:t>AppConfig.class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);</a:t>
            </a:r>
          </a:p>
          <a:p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</a:t>
            </a:r>
            <a:r>
              <a:rPr lang="en-US" sz="1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MyService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service = </a:t>
            </a:r>
            <a:r>
              <a:rPr lang="en-US" sz="1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ctx.getBean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en-US" sz="1100" dirty="0" err="1">
                <a:solidFill>
                  <a:schemeClr val="accent5">
                    <a:lumMod val="50000"/>
                  </a:schemeClr>
                </a:solidFill>
              </a:rPr>
              <a:t>MyService.class</a:t>
            </a: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);</a:t>
            </a:r>
          </a:p>
          <a:p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}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8488F1B-7882-0731-337D-E44A863E75B6}"/>
              </a:ext>
            </a:extLst>
          </p:cNvPr>
          <p:cNvSpPr txBox="1">
            <a:spLocks/>
          </p:cNvSpPr>
          <p:nvPr/>
        </p:nvSpPr>
        <p:spPr>
          <a:xfrm>
            <a:off x="380010" y="4770408"/>
            <a:ext cx="8383980" cy="2087592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Java-code config is similar to annotation config; however, beans are not explicitly defined in Java Code</a:t>
            </a:r>
          </a:p>
          <a:p>
            <a:r>
              <a:rPr lang="en-US" dirty="0"/>
              <a:t>The @Bean annotation on a method registers the return value as a Spring bean</a:t>
            </a:r>
          </a:p>
          <a:p>
            <a:r>
              <a:rPr lang="en-US" dirty="0"/>
              <a:t>Fully type-safe: compile-time errors instead of runtime XML parse errors</a:t>
            </a:r>
          </a:p>
          <a:p>
            <a:r>
              <a:rPr lang="en-US" dirty="0"/>
              <a:t>Preferred in Spring Boot and modern Spring projects</a:t>
            </a:r>
          </a:p>
          <a:p>
            <a:r>
              <a:rPr lang="en-US" dirty="0"/>
              <a:t>Dependencies can by passed via method calls within the @Bean annotated method</a:t>
            </a:r>
          </a:p>
        </p:txBody>
      </p:sp>
    </p:spTree>
    <p:extLst>
      <p:ext uri="{BB962C8B-B14F-4D97-AF65-F5344CB8AC3E}">
        <p14:creationId xmlns:p14="http://schemas.microsoft.com/office/powerpoint/2010/main" val="2512117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C0ABB-F0DE-CFAB-1ECF-1A698C27D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B6AD2-42FE-C8D9-2856-5E6ED4F5B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Scanning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EC516-3A5C-DFBA-DD81-6F5889013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92500"/>
          </a:bodyPr>
          <a:lstStyle/>
          <a:p>
            <a:r>
              <a:rPr lang="en-US" dirty="0"/>
              <a:t>Component scanning is the process by which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ApplicationContext</a:t>
            </a:r>
            <a:r>
              <a:rPr lang="en-US" dirty="0"/>
              <a:t> automatically detects classes annotated with stereotype annotations (like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@component</a:t>
            </a:r>
            <a:r>
              <a:rPr lang="en-US" dirty="0"/>
              <a:t>)</a:t>
            </a:r>
          </a:p>
          <a:p>
            <a:r>
              <a:rPr lang="en-US" dirty="0"/>
              <a:t>With Component scanning,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ApplicationContext</a:t>
            </a:r>
            <a:r>
              <a:rPr lang="en-US" dirty="0"/>
              <a:t> locates beans and registers them.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ApplicationContext</a:t>
            </a:r>
            <a:r>
              <a:rPr lang="en-US" dirty="0"/>
              <a:t> must be told where to look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@ComponentScan(basePackages = “…”)</a:t>
            </a:r>
          </a:p>
          <a:p>
            <a:r>
              <a:rPr lang="en-US" dirty="0"/>
              <a:t>Note: component scanning is performed automatically in Spring Boot applications via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@SpringBootApplication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7E4A19-1986-9C35-28EB-0A6B8F549D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425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83AD0-3050-9666-C35A-829DD134E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BCCFEA-C901-AAA4-FC7A-C8CA92EB01B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23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B5F085DD-A98E-3DB9-CACA-A10B2B477830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Dependency Injection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537692-3078-B6F9-9261-9581089F1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646" y="0"/>
            <a:ext cx="2107354" cy="77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2173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Injection (DI)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technique wherein an Object’s dependencies are “injected” into it by an external source (IoC Container), rather than the object itself creating them.</a:t>
            </a:r>
          </a:p>
          <a:p>
            <a:pPr lvl="1"/>
            <a:r>
              <a:rPr lang="en-US" dirty="0"/>
              <a:t>DI promotes loose coupling and improves maintainability and scalability of your code</a:t>
            </a:r>
          </a:p>
          <a:p>
            <a:r>
              <a:rPr lang="en-US" dirty="0"/>
              <a:t>In Spring DI is achieved using:</a:t>
            </a:r>
          </a:p>
          <a:p>
            <a:pPr lvl="1"/>
            <a:r>
              <a:rPr lang="en-US" b="1" dirty="0"/>
              <a:t>Constructor Injection</a:t>
            </a:r>
            <a:r>
              <a:rPr lang="en-US" dirty="0"/>
              <a:t>: Dependencies are injected through the constructor of the class</a:t>
            </a:r>
          </a:p>
          <a:p>
            <a:pPr lvl="2"/>
            <a:r>
              <a:rPr lang="en-US" dirty="0"/>
              <a:t>Requires: Parameterized constructor</a:t>
            </a:r>
          </a:p>
          <a:p>
            <a:pPr lvl="1"/>
            <a:r>
              <a:rPr lang="en-US" b="1" dirty="0"/>
              <a:t>Setter Injection</a:t>
            </a:r>
            <a:r>
              <a:rPr lang="en-US" dirty="0"/>
              <a:t>: Dependencies are injected through setter methods of the class</a:t>
            </a:r>
          </a:p>
          <a:p>
            <a:pPr lvl="2"/>
            <a:r>
              <a:rPr lang="en-US" dirty="0"/>
              <a:t>Requires: No-</a:t>
            </a:r>
            <a:r>
              <a:rPr lang="en-US" dirty="0" err="1"/>
              <a:t>arg</a:t>
            </a:r>
            <a:r>
              <a:rPr lang="en-US" dirty="0"/>
              <a:t> constructor &amp; field setter method</a:t>
            </a:r>
          </a:p>
          <a:p>
            <a:pPr lvl="1"/>
            <a:r>
              <a:rPr lang="en-US" b="1" dirty="0"/>
              <a:t>Field Injection</a:t>
            </a:r>
            <a:r>
              <a:rPr lang="en-US" dirty="0"/>
              <a:t>: Dependencies are injected directly into the fields of the class.</a:t>
            </a:r>
          </a:p>
          <a:p>
            <a:pPr lvl="2"/>
            <a:r>
              <a:rPr lang="en-US" dirty="0"/>
              <a:t>Requires: No-</a:t>
            </a:r>
            <a:r>
              <a:rPr lang="en-US" dirty="0" err="1"/>
              <a:t>arg</a:t>
            </a:r>
            <a:r>
              <a:rPr lang="en-US" dirty="0"/>
              <a:t> constructor &amp; no setter method</a:t>
            </a:r>
          </a:p>
          <a:p>
            <a:r>
              <a:rPr lang="en-US" dirty="0"/>
              <a:t>Spring’s IoC Container injects dependencies based on the configured beans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58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09149-D35A-7CBA-9333-9F5DC0B87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EDB04-0B09-2576-CF72-3B2ED82FD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 Injection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3D689-9CD8-71E3-B770-7426079979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15D5D0-3A8C-1E94-947F-5CDAB69B8F95}"/>
              </a:ext>
            </a:extLst>
          </p:cNvPr>
          <p:cNvSpPr/>
          <p:nvPr/>
        </p:nvSpPr>
        <p:spPr>
          <a:xfrm>
            <a:off x="504645" y="1372319"/>
            <a:ext cx="8134710" cy="3363584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@Component</a:t>
            </a:r>
          </a:p>
          <a:p>
            <a:r>
              <a:rPr lang="en-US" sz="1400" dirty="0">
                <a:solidFill>
                  <a:srgbClr val="7030A0"/>
                </a:solidFill>
              </a:rPr>
              <a:t>public class </a:t>
            </a:r>
            <a:r>
              <a:rPr lang="en-US" sz="1400" dirty="0" err="1">
                <a:solidFill>
                  <a:schemeClr val="tx1"/>
                </a:solidFill>
              </a:rPr>
              <a:t>OrderService</a:t>
            </a:r>
            <a:r>
              <a:rPr lang="en-US" sz="1400" dirty="0">
                <a:solidFill>
                  <a:schemeClr val="tx1"/>
                </a:solidFill>
              </a:rPr>
              <a:t> {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    </a:t>
            </a:r>
            <a:r>
              <a:rPr lang="en-US" sz="1400" dirty="0">
                <a:solidFill>
                  <a:srgbClr val="7030A0"/>
                </a:solidFill>
              </a:rPr>
              <a:t>private final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PaymentService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paymentService</a:t>
            </a:r>
            <a:r>
              <a:rPr lang="en-US" sz="1400" dirty="0">
                <a:solidFill>
                  <a:schemeClr val="tx1"/>
                </a:solidFill>
              </a:rPr>
              <a:t>;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    </a:t>
            </a:r>
            <a:r>
              <a:rPr lang="en-US" sz="1400" dirty="0">
                <a:solidFill>
                  <a:srgbClr val="00863D"/>
                </a:solidFill>
              </a:rPr>
              <a:t>// @Autowired annotation informs Spring to perform injection of the </a:t>
            </a:r>
            <a:r>
              <a:rPr lang="en-US" sz="1400" dirty="0" err="1">
                <a:solidFill>
                  <a:srgbClr val="00863D"/>
                </a:solidFill>
              </a:rPr>
              <a:t>paymentService</a:t>
            </a:r>
            <a:endParaRPr lang="en-US" sz="1400" dirty="0">
              <a:solidFill>
                <a:srgbClr val="00863D"/>
              </a:solidFill>
            </a:endParaRPr>
          </a:p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@Autowired</a:t>
            </a:r>
          </a:p>
          <a:p>
            <a:r>
              <a:rPr lang="en-US" sz="1400" dirty="0">
                <a:solidFill>
                  <a:schemeClr val="tx1"/>
                </a:solidFill>
              </a:rPr>
              <a:t>    </a:t>
            </a:r>
            <a:r>
              <a:rPr lang="en-US" sz="1400" dirty="0">
                <a:solidFill>
                  <a:srgbClr val="7030A0"/>
                </a:solidFill>
              </a:rPr>
              <a:t>public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OrderService</a:t>
            </a:r>
            <a:r>
              <a:rPr lang="en-US" sz="1400" dirty="0">
                <a:solidFill>
                  <a:schemeClr val="tx1"/>
                </a:solidFill>
              </a:rPr>
              <a:t> (</a:t>
            </a:r>
            <a:r>
              <a:rPr lang="en-US" sz="1400" dirty="0" err="1">
                <a:solidFill>
                  <a:schemeClr val="tx1"/>
                </a:solidFill>
              </a:rPr>
              <a:t>PaymentService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paymentService</a:t>
            </a:r>
            <a:r>
              <a:rPr lang="en-US" sz="1400" dirty="0">
                <a:solidFill>
                  <a:schemeClr val="tx1"/>
                </a:solidFill>
              </a:rPr>
              <a:t>) {</a:t>
            </a:r>
          </a:p>
          <a:p>
            <a:r>
              <a:rPr lang="en-US" sz="1400" dirty="0">
                <a:solidFill>
                  <a:srgbClr val="7030A0"/>
                </a:solidFill>
              </a:rPr>
              <a:t>        </a:t>
            </a:r>
            <a:r>
              <a:rPr lang="en-US" sz="1400" dirty="0" err="1">
                <a:solidFill>
                  <a:srgbClr val="7030A0"/>
                </a:solidFill>
              </a:rPr>
              <a:t>this.</a:t>
            </a:r>
            <a:r>
              <a:rPr lang="en-US" sz="1400" dirty="0" err="1">
                <a:solidFill>
                  <a:schemeClr val="tx1"/>
                </a:solidFill>
              </a:rPr>
              <a:t>paymentService</a:t>
            </a:r>
            <a:r>
              <a:rPr lang="en-US" sz="1400" dirty="0">
                <a:solidFill>
                  <a:schemeClr val="tx1"/>
                </a:solidFill>
              </a:rPr>
              <a:t> = </a:t>
            </a:r>
            <a:r>
              <a:rPr lang="en-US" sz="1400" dirty="0" err="1">
                <a:solidFill>
                  <a:schemeClr val="tx1"/>
                </a:solidFill>
              </a:rPr>
              <a:t>paymentService</a:t>
            </a:r>
            <a:r>
              <a:rPr lang="en-US" sz="1400" dirty="0">
                <a:solidFill>
                  <a:schemeClr val="tx1"/>
                </a:solidFill>
              </a:rPr>
              <a:t>;</a:t>
            </a:r>
          </a:p>
          <a:p>
            <a:r>
              <a:rPr lang="en-US" sz="1400" dirty="0">
                <a:solidFill>
                  <a:schemeClr val="tx1"/>
                </a:solidFill>
              </a:rPr>
              <a:t>    }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    </a:t>
            </a:r>
            <a:r>
              <a:rPr lang="en-US" sz="1400" dirty="0">
                <a:solidFill>
                  <a:srgbClr val="7030A0"/>
                </a:solidFill>
              </a:rPr>
              <a:t>public void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placeOrder</a:t>
            </a:r>
            <a:r>
              <a:rPr lang="en-US" sz="1400" dirty="0">
                <a:solidFill>
                  <a:schemeClr val="tx1"/>
                </a:solidFill>
              </a:rPr>
              <a:t>() {</a:t>
            </a:r>
          </a:p>
          <a:p>
            <a:r>
              <a:rPr lang="en-US" sz="1400" dirty="0">
                <a:solidFill>
                  <a:schemeClr val="tx1"/>
                </a:solidFill>
              </a:rPr>
              <a:t>        </a:t>
            </a:r>
            <a:r>
              <a:rPr lang="en-US" sz="1400" dirty="0" err="1">
                <a:solidFill>
                  <a:schemeClr val="tx1"/>
                </a:solidFill>
              </a:rPr>
              <a:t>paymentService.charge</a:t>
            </a:r>
            <a:r>
              <a:rPr lang="en-US" sz="1400" dirty="0">
                <a:solidFill>
                  <a:schemeClr val="tx1"/>
                </a:solidFill>
              </a:rPr>
              <a:t>();</a:t>
            </a:r>
          </a:p>
          <a:p>
            <a:r>
              <a:rPr lang="en-US" sz="1400" dirty="0">
                <a:solidFill>
                  <a:schemeClr val="tx1"/>
                </a:solidFill>
              </a:rPr>
              <a:t>    }</a:t>
            </a:r>
          </a:p>
          <a:p>
            <a:r>
              <a:rPr lang="en-US" sz="14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6BF521F-7A42-15C7-80AD-33D0C06221D3}"/>
              </a:ext>
            </a:extLst>
          </p:cNvPr>
          <p:cNvSpPr txBox="1">
            <a:spLocks/>
          </p:cNvSpPr>
          <p:nvPr/>
        </p:nvSpPr>
        <p:spPr>
          <a:xfrm>
            <a:off x="380010" y="4770408"/>
            <a:ext cx="8383980" cy="208759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Key Points</a:t>
            </a:r>
          </a:p>
          <a:p>
            <a:r>
              <a:rPr lang="en-US" dirty="0"/>
              <a:t>Dependencies should be declared as final (guarantee immutability for injection point)</a:t>
            </a:r>
          </a:p>
          <a:p>
            <a:r>
              <a:rPr lang="en-US" dirty="0"/>
              <a:t>Easiest to unit test – just pass mock objects to constructor)</a:t>
            </a:r>
          </a:p>
          <a:p>
            <a:r>
              <a:rPr lang="en-US" dirty="0"/>
              <a:t>Considered to be the default approach, and recommended by Spring team, and most guides</a:t>
            </a:r>
          </a:p>
        </p:txBody>
      </p:sp>
    </p:spTree>
    <p:extLst>
      <p:ext uri="{BB962C8B-B14F-4D97-AF65-F5344CB8AC3E}">
        <p14:creationId xmlns:p14="http://schemas.microsoft.com/office/powerpoint/2010/main" val="2914279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25D0F-BE47-A306-5FC4-5C4B22E9F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A23E9-E8CF-4027-2E6E-ADF3739B3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Setter Injection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EF0098-E68F-17BB-1D20-D4CC8A17E8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80DD36-049E-F246-E5E1-ACBA197E70B8}"/>
              </a:ext>
            </a:extLst>
          </p:cNvPr>
          <p:cNvSpPr/>
          <p:nvPr/>
        </p:nvSpPr>
        <p:spPr>
          <a:xfrm>
            <a:off x="504645" y="1372319"/>
            <a:ext cx="8134710" cy="3337704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@Component</a:t>
            </a:r>
          </a:p>
          <a:p>
            <a:r>
              <a:rPr lang="en-US" sz="1400" dirty="0">
                <a:solidFill>
                  <a:srgbClr val="7030A0"/>
                </a:solidFill>
              </a:rPr>
              <a:t>public class </a:t>
            </a:r>
            <a:r>
              <a:rPr lang="en-US" sz="1400" dirty="0" err="1">
                <a:solidFill>
                  <a:schemeClr val="tx1"/>
                </a:solidFill>
              </a:rPr>
              <a:t>NotificationService</a:t>
            </a:r>
            <a:r>
              <a:rPr lang="en-US" sz="1400" dirty="0">
                <a:solidFill>
                  <a:schemeClr val="tx1"/>
                </a:solidFill>
              </a:rPr>
              <a:t> {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    </a:t>
            </a:r>
            <a:r>
              <a:rPr lang="en-US" sz="1400" dirty="0">
                <a:solidFill>
                  <a:srgbClr val="7030A0"/>
                </a:solidFill>
              </a:rPr>
              <a:t>private </a:t>
            </a:r>
            <a:r>
              <a:rPr lang="en-US" sz="1400" dirty="0" err="1">
                <a:solidFill>
                  <a:schemeClr val="tx1"/>
                </a:solidFill>
              </a:rPr>
              <a:t>EmailSender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emailSender</a:t>
            </a:r>
            <a:r>
              <a:rPr lang="en-US" sz="1400" dirty="0">
                <a:solidFill>
                  <a:schemeClr val="tx1"/>
                </a:solidFill>
              </a:rPr>
              <a:t>;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    </a:t>
            </a:r>
            <a:r>
              <a:rPr lang="en-US" sz="1400" dirty="0">
                <a:solidFill>
                  <a:srgbClr val="00863D"/>
                </a:solidFill>
              </a:rPr>
              <a:t>// Spring calls this setter and injects the dependency</a:t>
            </a:r>
          </a:p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@Autowired</a:t>
            </a:r>
          </a:p>
          <a:p>
            <a:r>
              <a:rPr lang="en-US" sz="1400" dirty="0">
                <a:solidFill>
                  <a:schemeClr val="tx1"/>
                </a:solidFill>
              </a:rPr>
              <a:t>    </a:t>
            </a:r>
            <a:r>
              <a:rPr lang="en-US" sz="1400" dirty="0">
                <a:solidFill>
                  <a:srgbClr val="7030A0"/>
                </a:solidFill>
              </a:rPr>
              <a:t>public</a:t>
            </a:r>
            <a:r>
              <a:rPr lang="en-US" sz="1400" dirty="0">
                <a:solidFill>
                  <a:schemeClr val="tx1"/>
                </a:solidFill>
              </a:rPr>
              <a:t> void </a:t>
            </a:r>
            <a:r>
              <a:rPr lang="en-US" sz="1400" dirty="0" err="1">
                <a:solidFill>
                  <a:schemeClr val="tx1"/>
                </a:solidFill>
              </a:rPr>
              <a:t>setEmailSender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sz="1400" dirty="0" err="1">
                <a:solidFill>
                  <a:schemeClr val="tx1"/>
                </a:solidFill>
              </a:rPr>
              <a:t>EmailSender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emailSender</a:t>
            </a:r>
            <a:r>
              <a:rPr lang="en-US" sz="1400" dirty="0">
                <a:solidFill>
                  <a:schemeClr val="tx1"/>
                </a:solidFill>
              </a:rPr>
              <a:t>) {</a:t>
            </a:r>
          </a:p>
          <a:p>
            <a:r>
              <a:rPr lang="en-US" sz="1400" dirty="0">
                <a:solidFill>
                  <a:srgbClr val="7030A0"/>
                </a:solidFill>
              </a:rPr>
              <a:t>        </a:t>
            </a:r>
            <a:r>
              <a:rPr lang="en-US" sz="1400" dirty="0" err="1">
                <a:solidFill>
                  <a:srgbClr val="7030A0"/>
                </a:solidFill>
              </a:rPr>
              <a:t>this.</a:t>
            </a:r>
            <a:r>
              <a:rPr lang="en-US" sz="1400" dirty="0" err="1">
                <a:solidFill>
                  <a:schemeClr val="tx1"/>
                </a:solidFill>
              </a:rPr>
              <a:t>emailSender</a:t>
            </a:r>
            <a:r>
              <a:rPr lang="en-US" sz="1400" dirty="0">
                <a:solidFill>
                  <a:schemeClr val="tx1"/>
                </a:solidFill>
              </a:rPr>
              <a:t> = </a:t>
            </a:r>
            <a:r>
              <a:rPr lang="en-US" sz="1400" dirty="0" err="1">
                <a:solidFill>
                  <a:schemeClr val="tx1"/>
                </a:solidFill>
              </a:rPr>
              <a:t>emailSender</a:t>
            </a:r>
            <a:r>
              <a:rPr lang="en-US" sz="1400" dirty="0">
                <a:solidFill>
                  <a:schemeClr val="tx1"/>
                </a:solidFill>
              </a:rPr>
              <a:t>;</a:t>
            </a:r>
          </a:p>
          <a:p>
            <a:r>
              <a:rPr lang="en-US" sz="1400" dirty="0">
                <a:solidFill>
                  <a:schemeClr val="tx1"/>
                </a:solidFill>
              </a:rPr>
              <a:t>    }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    </a:t>
            </a:r>
            <a:r>
              <a:rPr lang="en-US" sz="1400" dirty="0">
                <a:solidFill>
                  <a:srgbClr val="7030A0"/>
                </a:solidFill>
              </a:rPr>
              <a:t>public void</a:t>
            </a:r>
            <a:r>
              <a:rPr lang="en-US" sz="1400" dirty="0">
                <a:solidFill>
                  <a:schemeClr val="tx1"/>
                </a:solidFill>
              </a:rPr>
              <a:t> notify(String message) {</a:t>
            </a:r>
          </a:p>
          <a:p>
            <a:r>
              <a:rPr lang="en-US" sz="1400" dirty="0">
                <a:solidFill>
                  <a:schemeClr val="tx1"/>
                </a:solidFill>
              </a:rPr>
              <a:t>        </a:t>
            </a:r>
            <a:r>
              <a:rPr lang="en-US" sz="1400" dirty="0" err="1">
                <a:solidFill>
                  <a:schemeClr val="tx1"/>
                </a:solidFill>
              </a:rPr>
              <a:t>emailSender.send</a:t>
            </a:r>
            <a:r>
              <a:rPr lang="en-US" sz="1400" dirty="0">
                <a:solidFill>
                  <a:schemeClr val="tx1"/>
                </a:solidFill>
              </a:rPr>
              <a:t>(message);</a:t>
            </a:r>
          </a:p>
          <a:p>
            <a:r>
              <a:rPr lang="en-US" sz="1400" dirty="0">
                <a:solidFill>
                  <a:schemeClr val="tx1"/>
                </a:solidFill>
              </a:rPr>
              <a:t>    }</a:t>
            </a:r>
          </a:p>
          <a:p>
            <a:r>
              <a:rPr lang="en-US" sz="14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F5D44A5-9F38-FD6C-7DD9-70A287D001C5}"/>
              </a:ext>
            </a:extLst>
          </p:cNvPr>
          <p:cNvSpPr txBox="1">
            <a:spLocks/>
          </p:cNvSpPr>
          <p:nvPr/>
        </p:nvSpPr>
        <p:spPr>
          <a:xfrm>
            <a:off x="380010" y="4770408"/>
            <a:ext cx="8383980" cy="2087592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Key Points</a:t>
            </a:r>
          </a:p>
          <a:p>
            <a:r>
              <a:rPr lang="en-US" dirty="0"/>
              <a:t>Dependencies can be changed or re-injected after construction</a:t>
            </a:r>
          </a:p>
          <a:p>
            <a:r>
              <a:rPr lang="en-US" dirty="0"/>
              <a:t>Good for optional dependencies that have a sensible default</a:t>
            </a:r>
          </a:p>
          <a:p>
            <a:r>
              <a:rPr lang="en-US" dirty="0"/>
              <a:t>Object can exist in partially initialized state (requires careful handling)</a:t>
            </a:r>
          </a:p>
          <a:p>
            <a:r>
              <a:rPr lang="en-US" dirty="0"/>
              <a:t>Less preferred than construction injection for mandatory dependencies</a:t>
            </a:r>
          </a:p>
        </p:txBody>
      </p:sp>
    </p:spTree>
    <p:extLst>
      <p:ext uri="{BB962C8B-B14F-4D97-AF65-F5344CB8AC3E}">
        <p14:creationId xmlns:p14="http://schemas.microsoft.com/office/powerpoint/2010/main" val="3581061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295EA-BD6C-D0DB-57CA-8D4453B64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420C5-FCAC-4981-BF9E-5C5C9DA5D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Field Injection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A0070-5114-7C4D-64C0-577E9404E8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34EDCC-D30C-CECC-C91B-DBD268DE6D67}"/>
              </a:ext>
            </a:extLst>
          </p:cNvPr>
          <p:cNvSpPr/>
          <p:nvPr/>
        </p:nvSpPr>
        <p:spPr>
          <a:xfrm>
            <a:off x="504645" y="1546284"/>
            <a:ext cx="8134710" cy="2897040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@Component</a:t>
            </a:r>
          </a:p>
          <a:p>
            <a:r>
              <a:rPr lang="en-US" sz="1600" dirty="0">
                <a:solidFill>
                  <a:srgbClr val="7030A0"/>
                </a:solidFill>
              </a:rPr>
              <a:t>public class </a:t>
            </a:r>
            <a:r>
              <a:rPr lang="en-US" sz="1600" dirty="0" err="1">
                <a:solidFill>
                  <a:schemeClr val="tx1"/>
                </a:solidFill>
              </a:rPr>
              <a:t>ReportService</a:t>
            </a:r>
            <a:r>
              <a:rPr lang="en-US" sz="1600" dirty="0">
                <a:solidFill>
                  <a:schemeClr val="tx1"/>
                </a:solidFill>
              </a:rPr>
              <a:t> {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    </a:t>
            </a:r>
            <a:r>
              <a:rPr lang="en-US" sz="1600" dirty="0">
                <a:solidFill>
                  <a:srgbClr val="00863D"/>
                </a:solidFill>
              </a:rPr>
              <a:t>// Spring injects this field directly via reflection</a:t>
            </a:r>
          </a:p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@Autowired</a:t>
            </a:r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    </a:t>
            </a:r>
            <a:r>
              <a:rPr lang="en-US" sz="1600" dirty="0">
                <a:solidFill>
                  <a:srgbClr val="7030A0"/>
                </a:solidFill>
              </a:rPr>
              <a:t>private </a:t>
            </a:r>
            <a:r>
              <a:rPr lang="en-US" sz="1600" dirty="0" err="1">
                <a:solidFill>
                  <a:schemeClr val="tx1"/>
                </a:solidFill>
              </a:rPr>
              <a:t>DataSource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dataSource</a:t>
            </a:r>
            <a:r>
              <a:rPr lang="en-US" sz="1600" dirty="0">
                <a:solidFill>
                  <a:schemeClr val="tx1"/>
                </a:solidFill>
              </a:rPr>
              <a:t>;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    </a:t>
            </a:r>
            <a:r>
              <a:rPr lang="en-US" sz="1600" dirty="0">
                <a:solidFill>
                  <a:srgbClr val="7030A0"/>
                </a:solidFill>
              </a:rPr>
              <a:t>public void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generateReport</a:t>
            </a:r>
            <a:r>
              <a:rPr lang="en-US" sz="1600" dirty="0">
                <a:solidFill>
                  <a:schemeClr val="tx1"/>
                </a:solidFill>
              </a:rPr>
              <a:t>() {</a:t>
            </a:r>
          </a:p>
          <a:p>
            <a:r>
              <a:rPr lang="en-US" sz="1600" dirty="0">
                <a:solidFill>
                  <a:schemeClr val="tx1"/>
                </a:solidFill>
              </a:rPr>
              <a:t>        </a:t>
            </a:r>
            <a:r>
              <a:rPr lang="en-US" sz="1600" dirty="0" err="1">
                <a:solidFill>
                  <a:schemeClr val="tx1"/>
                </a:solidFill>
              </a:rPr>
              <a:t>dataSource.generate</a:t>
            </a:r>
            <a:r>
              <a:rPr lang="en-US" sz="1600" dirty="0">
                <a:solidFill>
                  <a:schemeClr val="tx1"/>
                </a:solidFill>
              </a:rPr>
              <a:t>();</a:t>
            </a:r>
          </a:p>
          <a:p>
            <a:r>
              <a:rPr lang="en-US" sz="1600" dirty="0">
                <a:solidFill>
                  <a:schemeClr val="tx1"/>
                </a:solidFill>
              </a:rPr>
              <a:t>    }</a:t>
            </a:r>
          </a:p>
          <a:p>
            <a:r>
              <a:rPr lang="en-US" sz="1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9CCE670-3B93-8CFC-F864-A1A7947043E9}"/>
              </a:ext>
            </a:extLst>
          </p:cNvPr>
          <p:cNvSpPr txBox="1">
            <a:spLocks/>
          </p:cNvSpPr>
          <p:nvPr/>
        </p:nvSpPr>
        <p:spPr>
          <a:xfrm>
            <a:off x="380010" y="4770408"/>
            <a:ext cx="8383980" cy="208759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Key Points</a:t>
            </a:r>
          </a:p>
          <a:p>
            <a:r>
              <a:rPr lang="en-US" dirty="0"/>
              <a:t>Most concise (no constructor/setter boilerplate code required)</a:t>
            </a:r>
          </a:p>
          <a:p>
            <a:r>
              <a:rPr lang="en-US" dirty="0"/>
              <a:t>Cannot by used with final fields (fields must be mutable)</a:t>
            </a:r>
          </a:p>
          <a:p>
            <a:r>
              <a:rPr lang="en-US" dirty="0"/>
              <a:t>Hard to unit test without a Spring context (requires reflection to inject mocks)</a:t>
            </a:r>
          </a:p>
          <a:p>
            <a:r>
              <a:rPr lang="en-US" dirty="0"/>
              <a:t>Typically you should avoid this in production code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962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F00FC-C011-5D75-FDF8-6D006D922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0AF2C0-DA7E-DF1E-CBAC-9673589E4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118521"/>
      </p:ext>
    </p:extLst>
  </p:cSld>
  <p:clrMapOvr>
    <a:masterClrMapping/>
  </p:clrMapOvr>
</p:sld>
</file>

<file path=ppt/theme/theme1.xml><?xml version="1.0" encoding="utf-8"?>
<a:theme xmlns:a="http://schemas.openxmlformats.org/drawingml/2006/main" name="Revature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" id="{24F846AD-0162-44D4-93E8-2F393369D2EF}" vid="{C2372A91-FFE2-4AA5-895E-1FECFBB281D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</Template>
  <TotalTime>6959</TotalTime>
  <Words>2071</Words>
  <Application>Microsoft Office PowerPoint</Application>
  <PresentationFormat>On-screen Show (4:3)</PresentationFormat>
  <Paragraphs>281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Courier New</vt:lpstr>
      <vt:lpstr>Revature</vt:lpstr>
      <vt:lpstr>Introduction to Spring</vt:lpstr>
      <vt:lpstr>Topics</vt:lpstr>
      <vt:lpstr>PowerPoint Presentation</vt:lpstr>
      <vt:lpstr>What is Spring?</vt:lpstr>
      <vt:lpstr>The Spring Framework</vt:lpstr>
      <vt:lpstr>Spring Architecture</vt:lpstr>
      <vt:lpstr>Key Features of Spring</vt:lpstr>
      <vt:lpstr>Why Spring?</vt:lpstr>
      <vt:lpstr>PowerPoint Presentation</vt:lpstr>
      <vt:lpstr>Inversion of Control (IoC)</vt:lpstr>
      <vt:lpstr>Inversion of Control (IoC)</vt:lpstr>
      <vt:lpstr>PowerPoint Presentation</vt:lpstr>
      <vt:lpstr>BeanFactory</vt:lpstr>
      <vt:lpstr>Spring Bean</vt:lpstr>
      <vt:lpstr>Bean Lifecycle</vt:lpstr>
      <vt:lpstr>Bean Lifecycle</vt:lpstr>
      <vt:lpstr>Spring Bean Scope</vt:lpstr>
      <vt:lpstr>PowerPoint Presentation</vt:lpstr>
      <vt:lpstr>ApplicationContext</vt:lpstr>
      <vt:lpstr>XML File Configuration</vt:lpstr>
      <vt:lpstr>Spring Annotation Configuration</vt:lpstr>
      <vt:lpstr>Java Code Configuration</vt:lpstr>
      <vt:lpstr>Component Scanning</vt:lpstr>
      <vt:lpstr>PowerPoint Presentation</vt:lpstr>
      <vt:lpstr>Dependency Injection (DI)</vt:lpstr>
      <vt:lpstr>Constructor Injection</vt:lpstr>
      <vt:lpstr>Setter Injection</vt:lpstr>
      <vt:lpstr>Field Injection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Manipulation Language</dc:title>
  <dc:creator>Bryn Portella</dc:creator>
  <cp:lastModifiedBy>Joseph Highe</cp:lastModifiedBy>
  <cp:revision>15</cp:revision>
  <dcterms:created xsi:type="dcterms:W3CDTF">2021-04-20T18:35:45Z</dcterms:created>
  <dcterms:modified xsi:type="dcterms:W3CDTF">2026-08-25T19:12:48Z</dcterms:modified>
</cp:coreProperties>
</file>