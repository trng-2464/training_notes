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17" r:id="rId3"/>
    <p:sldId id="322" r:id="rId4"/>
    <p:sldId id="321" r:id="rId5"/>
    <p:sldId id="323" r:id="rId6"/>
    <p:sldId id="319" r:id="rId7"/>
    <p:sldId id="320" r:id="rId8"/>
    <p:sldId id="324" r:id="rId9"/>
    <p:sldId id="441" r:id="rId10"/>
    <p:sldId id="443" r:id="rId11"/>
    <p:sldId id="444" r:id="rId12"/>
    <p:sldId id="447" r:id="rId13"/>
    <p:sldId id="445" r:id="rId14"/>
    <p:sldId id="446" r:id="rId15"/>
    <p:sldId id="448" r:id="rId16"/>
    <p:sldId id="449" r:id="rId17"/>
    <p:sldId id="450" r:id="rId18"/>
    <p:sldId id="451" r:id="rId19"/>
    <p:sldId id="453" r:id="rId2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A3E"/>
    <a:srgbClr val="7F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boot/docs/current/reference/html/actuator.html#actuator.endpoints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boot/docs/current/reference/html/actuator.html#actuator.endpoints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Actuator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Actuator Intro</a:t>
            </a:r>
          </a:p>
          <a:p>
            <a:r>
              <a:rPr lang="en-US" dirty="0"/>
              <a:t>Endpoints</a:t>
            </a:r>
          </a:p>
          <a:p>
            <a:r>
              <a:rPr lang="en-US" dirty="0"/>
              <a:t>Customizing Health Indicators</a:t>
            </a:r>
          </a:p>
          <a:p>
            <a:r>
              <a:rPr lang="en-US" dirty="0"/>
              <a:t>Securing Actuator Endpoints</a:t>
            </a:r>
          </a:p>
          <a:p>
            <a:r>
              <a:rPr lang="en-US" dirty="0"/>
              <a:t>Custom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5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C5B239-FDA3-15B3-935E-D83D665C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00073-BA0D-41C4-26CE-D3653D0458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163" y="2915728"/>
            <a:ext cx="8826500" cy="316916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Actuator Intro</a:t>
            </a:r>
          </a:p>
        </p:txBody>
      </p:sp>
    </p:spTree>
    <p:extLst>
      <p:ext uri="{BB962C8B-B14F-4D97-AF65-F5344CB8AC3E}">
        <p14:creationId xmlns:p14="http://schemas.microsoft.com/office/powerpoint/2010/main" val="382412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E053-C195-1D42-015C-3B9FDD20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DE58-F9CF-B82B-0A16-BBE8CB0D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Actuator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18D2E-B109-ABD5-09D9-D980177FA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822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Boot Actuator is a Spring boot module that adds production-ready monitoring &amp; management features.</a:t>
            </a:r>
          </a:p>
          <a:p>
            <a:pPr lvl="1"/>
            <a:r>
              <a:rPr lang="en-US" dirty="0"/>
              <a:t>These features are exposed as a set of built-in HTTP endpoints</a:t>
            </a:r>
          </a:p>
          <a:p>
            <a:r>
              <a:rPr lang="en-US" dirty="0"/>
              <a:t>The tools provided by Actuator are used to provide a development with insights into the state, behavior and health of an application.</a:t>
            </a:r>
          </a:p>
          <a:p>
            <a:r>
              <a:rPr lang="en-US" dirty="0"/>
              <a:t>You can include Actuator into a Maven Spring Boot Project with the following dependency: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C8673-15CA-8DC3-A825-ECB6DC1AC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7338CE0-2760-A801-FFAF-29DA79A75297}"/>
              </a:ext>
            </a:extLst>
          </p:cNvPr>
          <p:cNvSpPr txBox="1">
            <a:spLocks/>
          </p:cNvSpPr>
          <p:nvPr/>
        </p:nvSpPr>
        <p:spPr>
          <a:xfrm>
            <a:off x="523467" y="5303837"/>
            <a:ext cx="8097065" cy="1242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&lt;dependency&gt;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800" dirty="0" err="1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 err="1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org.springframework.boot</a:t>
            </a: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800" dirty="0" err="1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&gt;spring-boot-starter-actuator&lt;/</a:t>
            </a:r>
            <a:r>
              <a:rPr lang="en-US" sz="1800" dirty="0" err="1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474C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18437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8A288-E97F-060C-0DE0-35E997EA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B1E89A-F9F1-F2D2-9350-9C7DC6C2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D350F-E8AA-50E3-F15F-CE8D8CCFDD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163" y="2915728"/>
            <a:ext cx="8826500" cy="316916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Actuator Endpoints</a:t>
            </a:r>
          </a:p>
        </p:txBody>
      </p:sp>
    </p:spTree>
    <p:extLst>
      <p:ext uri="{BB962C8B-B14F-4D97-AF65-F5344CB8AC3E}">
        <p14:creationId xmlns:p14="http://schemas.microsoft.com/office/powerpoint/2010/main" val="35955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 Endpoints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0623512-4973-0C63-6FDE-66E570E10EE7}"/>
              </a:ext>
            </a:extLst>
          </p:cNvPr>
          <p:cNvSpPr txBox="1">
            <a:spLocks/>
          </p:cNvSpPr>
          <p:nvPr/>
        </p:nvSpPr>
        <p:spPr>
          <a:xfrm>
            <a:off x="380009" y="1481446"/>
            <a:ext cx="8383980" cy="4882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Actuator endpoints are separate from an application’s own business-logic endpoints. </a:t>
            </a:r>
          </a:p>
          <a:p>
            <a:pPr lvl="1"/>
            <a:r>
              <a:rPr lang="en-US" dirty="0"/>
              <a:t>They live in their own base path (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  <a:r>
              <a:rPr lang="en-US" dirty="0"/>
              <a:t> ) by default.</a:t>
            </a:r>
          </a:p>
          <a:p>
            <a:r>
              <a:rPr lang="en-US" dirty="0"/>
              <a:t>A few commonly used endpoints: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/actuator/health</a:t>
            </a:r>
            <a:r>
              <a:rPr lang="en-US" dirty="0"/>
              <a:t>: reports whether the applications (and it’s key dependencies like a database) is up and functioning.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/actuator/info</a:t>
            </a:r>
            <a:r>
              <a:rPr lang="en-US" dirty="0"/>
              <a:t>: displays arbitrary, developer-defined information about the application (version, build details, etc…)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/actuator/metrics</a:t>
            </a:r>
            <a:r>
              <a:rPr lang="en-US" dirty="0"/>
              <a:t>: exposes detailed runtime metrics (memory usage, HTTP request counts, etc…)</a:t>
            </a:r>
          </a:p>
          <a:p>
            <a:pPr lvl="2"/>
            <a:r>
              <a:rPr lang="en-US" dirty="0"/>
              <a:t>Note: Navigating to /actuator/metrics provides a list of available metrics. To view details about one specifically, you must append the desired metric to the URL</a:t>
            </a:r>
          </a:p>
          <a:p>
            <a:pPr lvl="2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/actuator/metrics/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application.ready.time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66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0D6C-983C-C085-9BE1-E7EB0DF7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2410-7CCF-75EF-7DB6-084320DB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 Endpoint | Configurations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E6897-7D78-3289-C877-3019F11998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7BEFE31-ADE7-1123-01F7-1358ECDF93B3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Simply adding actuator to a project does </a:t>
            </a:r>
            <a:r>
              <a:rPr lang="en-US" b="1" i="1" dirty="0"/>
              <a:t>not</a:t>
            </a:r>
            <a:r>
              <a:rPr lang="en-US" dirty="0"/>
              <a:t> expose every available endpoint</a:t>
            </a:r>
          </a:p>
          <a:p>
            <a:pPr lvl="1"/>
            <a:r>
              <a:rPr lang="en-US" dirty="0"/>
              <a:t>Spring Boot is deliberately </a:t>
            </a:r>
            <a:r>
              <a:rPr lang="en-US" b="1" i="1" dirty="0"/>
              <a:t>conservative and security-conscious</a:t>
            </a:r>
            <a:r>
              <a:rPr lang="en-US" dirty="0"/>
              <a:t> by default.</a:t>
            </a:r>
          </a:p>
          <a:p>
            <a:r>
              <a:rPr lang="en-US" dirty="0"/>
              <a:t>Out of the box, only two endpoints are exposed over HTTP by default: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/actuator/health</a:t>
            </a:r>
            <a:r>
              <a:rPr lang="en-US" dirty="0"/>
              <a:t>: basic up/down status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/actuator/info</a:t>
            </a:r>
            <a:r>
              <a:rPr lang="en-US" dirty="0"/>
              <a:t>: arbitrary application info (empty by default until configured)</a:t>
            </a:r>
          </a:p>
          <a:p>
            <a:r>
              <a:rPr lang="en-US" dirty="0"/>
              <a:t> All other endpoints exist and are </a:t>
            </a:r>
            <a:r>
              <a:rPr lang="en-US" b="1" i="1" dirty="0"/>
              <a:t>registered internally</a:t>
            </a:r>
            <a:r>
              <a:rPr lang="en-US" dirty="0"/>
              <a:t> but are </a:t>
            </a:r>
            <a:r>
              <a:rPr lang="en-US" b="1" i="1" u="sng" dirty="0"/>
              <a:t>not exposed over HTTP</a:t>
            </a:r>
            <a:r>
              <a:rPr lang="en-US" dirty="0"/>
              <a:t> unless explicitly turned on.</a:t>
            </a:r>
          </a:p>
          <a:p>
            <a:r>
              <a:rPr lang="en-US" dirty="0"/>
              <a:t>Endpoint exposure is controlled through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management.endpoints.web.exposure.include</a:t>
            </a:r>
            <a:r>
              <a:rPr lang="en-US" dirty="0"/>
              <a:t> property in </a:t>
            </a:r>
            <a:r>
              <a:rPr lang="en-US" dirty="0" err="1"/>
              <a:t>application.properties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038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F06C-6436-D6CB-2C3D-03A6824D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4FA1-079A-3004-88B9-DA33257B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 Endpoint |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06157-F39F-6E6B-54B0-498CD1F6C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311275D-E48E-A9F4-95B6-8DB8ED4FACDC}"/>
              </a:ext>
            </a:extLst>
          </p:cNvPr>
          <p:cNvSpPr txBox="1">
            <a:spLocks/>
          </p:cNvSpPr>
          <p:nvPr/>
        </p:nvSpPr>
        <p:spPr>
          <a:xfrm>
            <a:off x="523467" y="1438427"/>
            <a:ext cx="8301356" cy="21566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# Expose Endpoints: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r>
              <a:rPr lang="en-US" sz="1600" u="sng" dirty="0" err="1">
                <a:solidFill>
                  <a:srgbClr val="0066CC"/>
                </a:solidFill>
                <a:effectLst/>
                <a:latin typeface="Consolas" panose="020B0609020204030204" pitchFamily="49" charset="0"/>
              </a:rPr>
              <a:t>management.endpoints.web.exposure.include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=&lt;list-endpoints&gt;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Ex: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None/>
            </a:pPr>
            <a:r>
              <a:rPr lang="en-US" sz="1600" u="sng" dirty="0" err="1">
                <a:solidFill>
                  <a:srgbClr val="0066CC"/>
                </a:solidFill>
                <a:latin typeface="Consolas" panose="020B0609020204030204" pitchFamily="49" charset="0"/>
              </a:rPr>
              <a:t>management.endpoints.web.exposure.include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=health, info, metrics, beans</a:t>
            </a: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None/>
            </a:pPr>
            <a:endParaRPr lang="en-US" sz="1600" dirty="0"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None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# Configure Options on a specific endpoint: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228600">
              <a:spcBef>
                <a:spcPts val="0"/>
              </a:spcBef>
              <a:buClr>
                <a:srgbClr val="F36A25"/>
              </a:buClr>
              <a:buNone/>
            </a:pPr>
            <a:r>
              <a:rPr lang="en-US" sz="1600" u="sng" dirty="0" err="1">
                <a:solidFill>
                  <a:srgbClr val="0066CC"/>
                </a:solidFill>
                <a:effectLst/>
                <a:latin typeface="Consolas" panose="020B0609020204030204" pitchFamily="49" charset="0"/>
              </a:rPr>
              <a:t>management.endpoint</a:t>
            </a:r>
            <a:r>
              <a:rPr lang="en-US" sz="1600" u="sng" dirty="0">
                <a:solidFill>
                  <a:srgbClr val="0066CC"/>
                </a:solidFill>
                <a:effectLst/>
                <a:latin typeface="Consolas" panose="020B0609020204030204" pitchFamily="49" charset="0"/>
              </a:rPr>
              <a:t>.&lt;endpoint-name&gt;.&lt;option&gt;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=&lt;option-value&gt;</a:t>
            </a:r>
            <a:endParaRPr lang="en-US" sz="1600" dirty="0">
              <a:solidFill>
                <a:srgbClr val="474C5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53F73-F640-DB03-AFE4-122E6A5066E0}"/>
              </a:ext>
            </a:extLst>
          </p:cNvPr>
          <p:cNvSpPr txBox="1">
            <a:spLocks/>
          </p:cNvSpPr>
          <p:nvPr/>
        </p:nvSpPr>
        <p:spPr>
          <a:xfrm>
            <a:off x="236552" y="3814258"/>
            <a:ext cx="8383980" cy="2690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wildcard is available to expose everything at once:</a:t>
            </a:r>
          </a:p>
          <a:p>
            <a:pPr lvl="1"/>
            <a:r>
              <a:rPr lang="en-US" u="sng" dirty="0" err="1">
                <a:solidFill>
                  <a:srgbClr val="0066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management.endpoints.web.exposure.include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=*</a:t>
            </a:r>
          </a:p>
          <a:p>
            <a:r>
              <a:rPr lang="en-US" dirty="0"/>
              <a:t>There is a separate property for explicitly excluding endpoints (this overrides wildcard exposure)</a:t>
            </a:r>
          </a:p>
          <a:p>
            <a:pPr lvl="1"/>
            <a:r>
              <a:rPr lang="en-US" u="sng" dirty="0" err="1">
                <a:solidFill>
                  <a:srgbClr val="0066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management.endpoints.web.exposure.exclude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Endpoint information can be found here: </a:t>
            </a:r>
            <a:r>
              <a:rPr lang="en-US" dirty="0">
                <a:hlinkClick r:id="rId2"/>
              </a:rPr>
              <a:t>https://docs.spring.io/spring-boot/docs/current/reference/html/actuator.html#actuator.endpoints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40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 Endpoints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702316"/>
              </p:ext>
            </p:extLst>
          </p:nvPr>
        </p:nvGraphicFramePr>
        <p:xfrm>
          <a:off x="159573" y="1318225"/>
          <a:ext cx="8824855" cy="48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985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6290870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Reports Overall application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Automatically aggregates status from relevant </a:t>
                      </a:r>
                      <a:r>
                        <a:rPr lang="en-US" sz="1400" b="1" i="1" dirty="0"/>
                        <a:t>health indicators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/>
                        <a:t>Ex: Configured </a:t>
                      </a:r>
                      <a:r>
                        <a:rPr lang="en-US" sz="1400" b="0" i="0" dirty="0" err="1"/>
                        <a:t>DataSource</a:t>
                      </a:r>
                      <a:endParaRPr lang="en-US" sz="1400" b="0" i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By default, returns a simplified response, but can be configured to provide more 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Displays arbitrary, developer-defined information about the build or application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Empty by default (i.e. must be populated through configuration)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Exposes a wide range of runtime metrics (memory usage, active HTTP requests, garbage collection stats &amp; more)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Hitting /actuator/health alone returns a </a:t>
                      </a:r>
                      <a:r>
                        <a:rPr lang="en-US" sz="1400" b="1" i="1" dirty="0"/>
                        <a:t>list of available metric names</a:t>
                      </a:r>
                      <a:r>
                        <a:rPr lang="en-US" sz="1400" b="0" i="0" dirty="0"/>
                        <a:t>; a specific metric’s data is retrieved by appending it’s name: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/>
                        <a:t>E.g. </a:t>
                      </a:r>
                      <a:r>
                        <a:rPr lang="en-US" sz="1400" b="0" i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/actuator/metrics/</a:t>
                      </a:r>
                      <a:r>
                        <a:rPr lang="en-US" sz="1400" b="0" i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jvm.memory.used</a:t>
                      </a:r>
                      <a:endParaRPr lang="en-US" sz="1400" b="0" i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Displays full resolved set of properties current active in the application (along with source of each one)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Sensitive values (anything with ‘password’ or ‘secret’ are automatically masked in the response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/actuator/beans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Lists every bean currently registered in the </a:t>
                      </a:r>
                      <a:r>
                        <a:rPr lang="en-US" sz="1400" dirty="0" err="1"/>
                        <a:t>ApplicationContext</a:t>
                      </a:r>
                      <a:r>
                        <a:rPr lang="en-US" sz="1400" dirty="0"/>
                        <a:t>, along with it’s type and dependencies.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99130"/>
            <a:ext cx="8383980" cy="55887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More information about Actuator endpoints can be found here: </a:t>
            </a:r>
            <a:r>
              <a:rPr lang="en-US" dirty="0">
                <a:hlinkClick r:id="rId2"/>
              </a:rPr>
              <a:t>https://docs.spring.io/spring-boot/docs/current/reference/html/actuator.html#actuator.endpoints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F12B-E0F0-4DB4-A640-EFDAE3BC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D8935-0E75-A221-BD2A-F64A463E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FDFC-5D0E-D73A-1E1C-447CC5B9D3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163" y="2915728"/>
            <a:ext cx="8826500" cy="316916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Customizing Health Indicators</a:t>
            </a:r>
          </a:p>
        </p:txBody>
      </p:sp>
    </p:spTree>
    <p:extLst>
      <p:ext uri="{BB962C8B-B14F-4D97-AF65-F5344CB8AC3E}">
        <p14:creationId xmlns:p14="http://schemas.microsoft.com/office/powerpoint/2010/main" val="328265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1618D-B83C-F4D2-3A91-0D67FB31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F4E4-8606-50EA-E84E-38B898E1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D793F-623A-F69A-62B9-C1D263D7B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C7E150-4C67-FB97-94CF-F9CC8DCCE484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</a:t>
            </a:r>
            <a:r>
              <a:rPr lang="en-US" b="1" i="1" dirty="0"/>
              <a:t>Health Indicator</a:t>
            </a:r>
            <a:r>
              <a:rPr lang="en-US" dirty="0"/>
              <a:t> is a single, self-contained check that contributes one piece of the overall status returned by /actuator/health</a:t>
            </a:r>
          </a:p>
          <a:p>
            <a:pPr lvl="1"/>
            <a:r>
              <a:rPr lang="en-US" dirty="0"/>
              <a:t>The overall status field is essentially an aggregate of every individual indicator’s result.</a:t>
            </a:r>
          </a:p>
          <a:p>
            <a:r>
              <a:rPr lang="en-US" dirty="0"/>
              <a:t>Spring Boot registers several Health indicators automatically based on what’s present on the </a:t>
            </a:r>
            <a:r>
              <a:rPr lang="en-US" dirty="0" err="1"/>
              <a:t>classpath</a:t>
            </a:r>
            <a:endParaRPr lang="en-US" dirty="0"/>
          </a:p>
          <a:p>
            <a:pPr lvl="1"/>
            <a:r>
              <a:rPr lang="en-US" dirty="0"/>
              <a:t>E.g. a database Health Indicator is registered automatically the moment Spring Data JPA and a working </a:t>
            </a:r>
            <a:r>
              <a:rPr lang="en-US" dirty="0" err="1"/>
              <a:t>DataSource</a:t>
            </a:r>
            <a:r>
              <a:rPr lang="en-US" dirty="0"/>
              <a:t> are present.</a:t>
            </a:r>
          </a:p>
        </p:txBody>
      </p:sp>
    </p:spTree>
    <p:extLst>
      <p:ext uri="{BB962C8B-B14F-4D97-AF65-F5344CB8AC3E}">
        <p14:creationId xmlns:p14="http://schemas.microsoft.com/office/powerpoint/2010/main" val="33665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8F89-1EDC-33DD-AC49-8D7AEA91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F8EB-5C2F-574C-CCFF-51352AD3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AF46-9C12-66C8-CF4E-A5439453B3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5BB76E-0536-4AF7-218C-C277EACE85CA}"/>
              </a:ext>
            </a:extLst>
          </p:cNvPr>
          <p:cNvSpPr txBox="1">
            <a:spLocks/>
          </p:cNvSpPr>
          <p:nvPr/>
        </p:nvSpPr>
        <p:spPr>
          <a:xfrm>
            <a:off x="380009" y="1219200"/>
            <a:ext cx="8383980" cy="5638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developer can write a </a:t>
            </a:r>
            <a:r>
              <a:rPr lang="en-US" b="1" i="1" dirty="0"/>
              <a:t>custom health indicator</a:t>
            </a:r>
            <a:r>
              <a:rPr lang="en-US" dirty="0"/>
              <a:t> to check things specific to their application</a:t>
            </a:r>
          </a:p>
          <a:p>
            <a:pPr lvl="1"/>
            <a:r>
              <a:rPr lang="en-US" dirty="0"/>
              <a:t>E.g. verifying a third-party API is reachable, checking that a scheduled job ran recently, confirming some business-specific condition is true, etc…</a:t>
            </a:r>
          </a:p>
          <a:p>
            <a:r>
              <a:rPr lang="en-US" dirty="0"/>
              <a:t>A custom health indicator is implemented by create a class which implements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HealthIndicator</a:t>
            </a:r>
            <a:r>
              <a:rPr lang="en-US" dirty="0"/>
              <a:t> interface (or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AbstractHealthIndicator</a:t>
            </a:r>
            <a:r>
              <a:rPr lang="en-US" dirty="0"/>
              <a:t>) and registering the class as a bean.</a:t>
            </a:r>
          </a:p>
          <a:p>
            <a:pPr lvl="1"/>
            <a:r>
              <a:rPr lang="en-US" dirty="0"/>
              <a:t>The custom implementation must override the health() method which returns a Health object.</a:t>
            </a:r>
          </a:p>
          <a:p>
            <a:pPr lvl="1"/>
            <a:r>
              <a:rPr lang="en-US" dirty="0"/>
              <a:t>This object is built using a Builder pattern.</a:t>
            </a:r>
          </a:p>
          <a:p>
            <a:r>
              <a:rPr lang="en-US" dirty="0"/>
              <a:t>Health methods: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Health.up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– indicates the component is health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Health.down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– indicates the component is not health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withDetail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(key, value)</a:t>
            </a:r>
            <a:r>
              <a:rPr lang="en-US" dirty="0"/>
              <a:t> – attaches additional context to the result (visible when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show-details</a:t>
            </a:r>
            <a:r>
              <a:rPr lang="en-US" dirty="0"/>
              <a:t>’ is enabled in the config in </a:t>
            </a:r>
            <a:r>
              <a:rPr lang="en-US" dirty="0" err="1"/>
              <a:t>application.properties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.build()</a:t>
            </a:r>
            <a:r>
              <a:rPr lang="en-US" dirty="0"/>
              <a:t> – called last in the builder-method chain to return the Health object.</a:t>
            </a:r>
          </a:p>
        </p:txBody>
      </p:sp>
    </p:spTree>
    <p:extLst>
      <p:ext uri="{BB962C8B-B14F-4D97-AF65-F5344CB8AC3E}">
        <p14:creationId xmlns:p14="http://schemas.microsoft.com/office/powerpoint/2010/main" val="103579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B484-B69F-EE77-9FDB-2BDE8862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46E9D-032F-A0D1-6F5E-31A41022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534F-0600-CBEE-6F81-C0B07FEAB8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163" y="2915728"/>
            <a:ext cx="8826500" cy="316916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Securing Actuator Endpoints</a:t>
            </a:r>
          </a:p>
        </p:txBody>
      </p:sp>
    </p:spTree>
    <p:extLst>
      <p:ext uri="{BB962C8B-B14F-4D97-AF65-F5344CB8AC3E}">
        <p14:creationId xmlns:p14="http://schemas.microsoft.com/office/powerpoint/2010/main" val="1623766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DA39-A1FB-D210-5D59-63F65420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73D8-DCE0-2681-5A3C-8EE54874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Actuator Endpoints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D025-FBDD-9E57-B361-B4E2D8AF0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C9D7E61-A556-6BDD-D725-F2C037CE1D5A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Actuator endpoints can expose genuinely sensitive information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/env</a:t>
            </a:r>
            <a:r>
              <a:rPr lang="en-US" dirty="0"/>
              <a:t> can reveal configuration values,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/beans </a:t>
            </a:r>
            <a:r>
              <a:rPr lang="en-US" dirty="0"/>
              <a:t>reveals internal application structure, etc…</a:t>
            </a:r>
          </a:p>
          <a:p>
            <a:r>
              <a:rPr lang="en-US" dirty="0"/>
              <a:t>An endpoint which is exposed over HTTP means it’s reachable, but it doesn’t detail </a:t>
            </a:r>
            <a:r>
              <a:rPr lang="en-US" i="1" dirty="0"/>
              <a:t>who</a:t>
            </a:r>
            <a:r>
              <a:rPr lang="en-US" dirty="0"/>
              <a:t> is allowed to reach it</a:t>
            </a:r>
          </a:p>
          <a:p>
            <a:pPr lvl="1"/>
            <a:r>
              <a:rPr lang="en-US" dirty="0"/>
              <a:t>By default, Actuator does not add its own authentication.</a:t>
            </a:r>
          </a:p>
          <a:p>
            <a:r>
              <a:rPr lang="en-US" dirty="0"/>
              <a:t>A project can provide implementation related to authentication and authorization using the spring-boot-starter-security module.</a:t>
            </a:r>
          </a:p>
          <a:p>
            <a:pPr lvl="1"/>
            <a:r>
              <a:rPr lang="en-US" dirty="0"/>
              <a:t>This module applies a sensible default: </a:t>
            </a:r>
            <a:r>
              <a:rPr lang="en-US" b="1" dirty="0"/>
              <a:t>all Actuator endpoints require authentication</a:t>
            </a:r>
            <a:r>
              <a:rPr lang="en-US" dirty="0"/>
              <a:t>, except /health</a:t>
            </a:r>
          </a:p>
          <a:p>
            <a:r>
              <a:rPr lang="en-US" dirty="0"/>
              <a:t>Spring security can allow fine-grained authorization rules for specific Actuator endpoints as well.</a:t>
            </a:r>
          </a:p>
        </p:txBody>
      </p:sp>
    </p:spTree>
    <p:extLst>
      <p:ext uri="{BB962C8B-B14F-4D97-AF65-F5344CB8AC3E}">
        <p14:creationId xmlns:p14="http://schemas.microsoft.com/office/powerpoint/2010/main" val="14489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C9FC-1D9F-4F40-18CD-BF60F46D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214C29-11C2-510A-A4D5-8E2FED20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4413-AA58-3A61-65A9-BA42AF1AA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163" y="2915728"/>
            <a:ext cx="8826500" cy="316916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Custom Metrics</a:t>
            </a:r>
          </a:p>
        </p:txBody>
      </p:sp>
    </p:spTree>
    <p:extLst>
      <p:ext uri="{BB962C8B-B14F-4D97-AF65-F5344CB8AC3E}">
        <p14:creationId xmlns:p14="http://schemas.microsoft.com/office/powerpoint/2010/main" val="3787671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0197-ABD4-A2A5-0DA5-A2096736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87E8-F5A2-E85D-1738-D689B76A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Metrics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078BE-7616-0859-BCE1-7F3357EA40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EC94FBD-8C94-944E-1E9E-FB64117BE638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Actuator supports the ability to create custom, application-specific metrics</a:t>
            </a:r>
          </a:p>
          <a:p>
            <a:pPr lvl="1"/>
            <a:r>
              <a:rPr lang="en-US" dirty="0"/>
              <a:t>e.g. “total employees” or “paychecks processed today”</a:t>
            </a:r>
          </a:p>
          <a:p>
            <a:r>
              <a:rPr lang="en-US" dirty="0"/>
              <a:t>Custom metrics are build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  <a:r>
              <a:rPr lang="en-US" dirty="0"/>
              <a:t> – the metrics library that powers Actuator’s /metrics endpoint</a:t>
            </a:r>
          </a:p>
          <a:p>
            <a:r>
              <a:rPr lang="en-US" dirty="0"/>
              <a:t>The core building block is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MeterRegistry</a:t>
            </a:r>
            <a:r>
              <a:rPr lang="en-US" dirty="0"/>
              <a:t> – a Spring-managed bean automatically available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spring-boot-starter-actuator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412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37D2-6EDE-E436-0455-3D975227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A115-7E85-BEA6-3D4E-9AFE3536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Metrics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D6A95-2051-8822-47FE-A6E949C3A4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A15201-F72F-8971-F0E9-8B080BB32154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Micrometer supports several metric types:</a:t>
            </a:r>
          </a:p>
          <a:p>
            <a:r>
              <a:rPr lang="en-US" b="1" i="1" dirty="0"/>
              <a:t>Guage</a:t>
            </a:r>
            <a:r>
              <a:rPr lang="en-US" dirty="0"/>
              <a:t>: Represents a value that can go up or down</a:t>
            </a:r>
          </a:p>
          <a:p>
            <a:pPr lvl="1"/>
            <a:r>
              <a:rPr lang="en-US" dirty="0"/>
              <a:t>Read the moment it’s requested</a:t>
            </a:r>
          </a:p>
          <a:p>
            <a:pPr lvl="1"/>
            <a:r>
              <a:rPr lang="en-US" dirty="0"/>
              <a:t>E.g. current number of employees in the database</a:t>
            </a:r>
          </a:p>
          <a:p>
            <a:r>
              <a:rPr lang="en-US" b="1" i="1" dirty="0"/>
              <a:t>Counter</a:t>
            </a:r>
            <a:r>
              <a:rPr lang="en-US" dirty="0"/>
              <a:t>: Represents a value that only increases</a:t>
            </a:r>
          </a:p>
          <a:p>
            <a:pPr lvl="1"/>
            <a:r>
              <a:rPr lang="en-US" dirty="0"/>
              <a:t>Tracks how many times something happened</a:t>
            </a:r>
          </a:p>
          <a:p>
            <a:pPr lvl="1"/>
            <a:r>
              <a:rPr lang="en-US" dirty="0"/>
              <a:t>E.g. number of employees created via the API since startup</a:t>
            </a:r>
          </a:p>
          <a:p>
            <a:r>
              <a:rPr lang="en-US" dirty="0"/>
              <a:t>Once registered, a custom metric appears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/actuator/metrics</a:t>
            </a:r>
            <a:r>
              <a:rPr lang="en-US" dirty="0"/>
              <a:t> exactly like a built-in one.</a:t>
            </a:r>
          </a:p>
          <a:p>
            <a:pPr lvl="1"/>
            <a:r>
              <a:rPr lang="en-US" dirty="0"/>
              <a:t>This means you can access your custom metric as: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/actuator/metrics/custom.metric.name</a:t>
            </a:r>
          </a:p>
        </p:txBody>
      </p:sp>
    </p:spTree>
    <p:extLst>
      <p:ext uri="{BB962C8B-B14F-4D97-AF65-F5344CB8AC3E}">
        <p14:creationId xmlns:p14="http://schemas.microsoft.com/office/powerpoint/2010/main" val="163921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DAA3-C0BF-54E7-DD58-03D02BEF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BFF1-DAC0-986C-C68A-D0323DE7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Metrics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82E94-2A49-AD1A-78FB-CC412F8BD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1E2BDA-1986-7C4E-3573-A6188909B633}"/>
              </a:ext>
            </a:extLst>
          </p:cNvPr>
          <p:cNvSpPr txBox="1">
            <a:spLocks/>
          </p:cNvSpPr>
          <p:nvPr/>
        </p:nvSpPr>
        <p:spPr>
          <a:xfrm>
            <a:off x="380009" y="1481445"/>
            <a:ext cx="8383980" cy="524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provide additional data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/info</a:t>
            </a:r>
            <a:r>
              <a:rPr lang="en-US" dirty="0"/>
              <a:t> endpoint beyond simple static info properties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InfoContributor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InfoContributor</a:t>
            </a:r>
            <a:r>
              <a:rPr lang="en-US" dirty="0"/>
              <a:t> provides a programmatic way to add dynamic information to /info at request time, rather than fixed values set once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997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6D94-9EE1-682D-DC27-295B746E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8AB5FE-A31E-8BAD-2D90-A5D78F4E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47969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1934</TotalTime>
  <Words>1305</Words>
  <Application>Microsoft Office PowerPoint</Application>
  <PresentationFormat>On-screen Show (4:3)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Courier New</vt:lpstr>
      <vt:lpstr>Revature</vt:lpstr>
      <vt:lpstr>Spring Actuator</vt:lpstr>
      <vt:lpstr>Outline</vt:lpstr>
      <vt:lpstr>PowerPoint Presentation</vt:lpstr>
      <vt:lpstr>Spring Actuator</vt:lpstr>
      <vt:lpstr>PowerPoint Presentation</vt:lpstr>
      <vt:lpstr>Actuator Endpoints</vt:lpstr>
      <vt:lpstr>Actuator Endpoint | Configurations</vt:lpstr>
      <vt:lpstr>Actuator Endpoint | Configuration</vt:lpstr>
      <vt:lpstr>Actuator Endpoints</vt:lpstr>
      <vt:lpstr>PowerPoint Presentation</vt:lpstr>
      <vt:lpstr>Health Indicators</vt:lpstr>
      <vt:lpstr>Health Indicators</vt:lpstr>
      <vt:lpstr>PowerPoint Presentation</vt:lpstr>
      <vt:lpstr>Securing Actuator Endpoints</vt:lpstr>
      <vt:lpstr>PowerPoint Presentation</vt:lpstr>
      <vt:lpstr>Custom Metrics</vt:lpstr>
      <vt:lpstr>Custom Metrics with Micrometer</vt:lpstr>
      <vt:lpstr>Custom Metrics with Micrometer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22</cp:revision>
  <dcterms:created xsi:type="dcterms:W3CDTF">2021-04-20T18:35:45Z</dcterms:created>
  <dcterms:modified xsi:type="dcterms:W3CDTF">2026-08-28T17:34:38Z</dcterms:modified>
</cp:coreProperties>
</file>