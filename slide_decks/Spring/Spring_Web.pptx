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sldIdLst>
    <p:sldId id="256" r:id="rId2"/>
    <p:sldId id="257" r:id="rId3"/>
    <p:sldId id="357" r:id="rId4"/>
    <p:sldId id="302" r:id="rId5"/>
    <p:sldId id="443" r:id="rId6"/>
    <p:sldId id="343" r:id="rId7"/>
    <p:sldId id="313" r:id="rId8"/>
    <p:sldId id="445" r:id="rId9"/>
    <p:sldId id="444" r:id="rId10"/>
    <p:sldId id="314" r:id="rId11"/>
    <p:sldId id="446" r:id="rId12"/>
    <p:sldId id="447" r:id="rId13"/>
    <p:sldId id="315" r:id="rId14"/>
    <p:sldId id="448" r:id="rId15"/>
    <p:sldId id="449" r:id="rId16"/>
    <p:sldId id="304" r:id="rId17"/>
    <p:sldId id="450" r:id="rId18"/>
    <p:sldId id="451" r:id="rId19"/>
    <p:sldId id="316" r:id="rId20"/>
    <p:sldId id="452" r:id="rId21"/>
    <p:sldId id="358" r:id="rId2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A3E"/>
    <a:srgbClr val="7F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69" d="100"/>
          <a:sy n="69" d="100"/>
        </p:scale>
        <p:origin x="1296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246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F8D8-6650-4C10-9E6B-652A926CA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Web</a:t>
            </a:r>
          </a:p>
        </p:txBody>
      </p:sp>
    </p:spTree>
    <p:extLst>
      <p:ext uri="{BB962C8B-B14F-4D97-AF65-F5344CB8AC3E}">
        <p14:creationId xmlns:p14="http://schemas.microsoft.com/office/powerpoint/2010/main" val="165667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Web Overview</a:t>
            </a:r>
          </a:p>
          <a:p>
            <a:r>
              <a:rPr lang="en-US" dirty="0"/>
              <a:t>Controllers</a:t>
            </a:r>
          </a:p>
          <a:p>
            <a:r>
              <a:rPr lang="en-US" dirty="0"/>
              <a:t>Request Mapping &amp; HTTP Method Annotations</a:t>
            </a:r>
          </a:p>
          <a:p>
            <a:r>
              <a:rPr lang="en-US" dirty="0"/>
              <a:t>Extracting Request Data</a:t>
            </a:r>
          </a:p>
          <a:p>
            <a:r>
              <a:rPr lang="en-US" dirty="0"/>
              <a:t>Building Responses</a:t>
            </a:r>
          </a:p>
          <a:p>
            <a:r>
              <a:rPr lang="en-US" dirty="0"/>
              <a:t>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Spring Web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Web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316735"/>
            <a:ext cx="8383980" cy="550963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Spring Web MVC (</a:t>
            </a:r>
            <a:r>
              <a:rPr lang="en-US" dirty="0" err="1"/>
              <a:t>a.k.a</a:t>
            </a:r>
            <a:r>
              <a:rPr lang="en-US" dirty="0"/>
              <a:t> Spring MVC) is a module within Spring that provides features to develop web applications.</a:t>
            </a:r>
          </a:p>
          <a:p>
            <a:pPr lvl="1"/>
            <a:r>
              <a:rPr lang="en-US" dirty="0"/>
              <a:t>Maven Dependency: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spring-boot-starter-web</a:t>
            </a:r>
          </a:p>
          <a:p>
            <a:r>
              <a:rPr lang="en-US" dirty="0"/>
              <a:t>Spring MVC follows a </a:t>
            </a:r>
            <a:r>
              <a:rPr lang="en-US" b="1" i="1" dirty="0"/>
              <a:t>request/response</a:t>
            </a:r>
            <a:r>
              <a:rPr lang="en-US" dirty="0"/>
              <a:t> </a:t>
            </a:r>
            <a:r>
              <a:rPr lang="en-US" b="1" i="1" dirty="0"/>
              <a:t>one-thread-per-request</a:t>
            </a:r>
            <a:r>
              <a:rPr lang="en-US" dirty="0"/>
              <a:t> model.</a:t>
            </a:r>
          </a:p>
          <a:p>
            <a:pPr lvl="1"/>
            <a:r>
              <a:rPr lang="en-US" dirty="0"/>
              <a:t>Each incoming HTTP request in handled by a dedicated thread, which blocks while waiting on anything slow (database calls) before returning a response.</a:t>
            </a:r>
          </a:p>
          <a:p>
            <a:r>
              <a:rPr lang="en-US" dirty="0"/>
              <a:t>Spring </a:t>
            </a:r>
            <a:r>
              <a:rPr lang="en-US" dirty="0" err="1"/>
              <a:t>WebFlux</a:t>
            </a:r>
            <a:r>
              <a:rPr lang="en-US" dirty="0"/>
              <a:t> is Spring’s alternative framework built around a </a:t>
            </a:r>
            <a:r>
              <a:rPr lang="en-US" b="1" i="1" dirty="0"/>
              <a:t>reactive, non-blocking</a:t>
            </a:r>
            <a:r>
              <a:rPr lang="en-US" dirty="0"/>
              <a:t> model.</a:t>
            </a:r>
          </a:p>
          <a:p>
            <a:pPr lvl="1"/>
            <a:r>
              <a:rPr lang="en-US" b="1" dirty="0"/>
              <a:t>Non-blocking model</a:t>
            </a:r>
            <a:r>
              <a:rPr lang="en-US" dirty="0"/>
              <a:t>: a thread does not need to wait for an asynchronous operation to complete to do other work.</a:t>
            </a:r>
          </a:p>
          <a:p>
            <a:pPr lvl="1"/>
            <a:r>
              <a:rPr lang="en-US" dirty="0"/>
              <a:t>Designed to be used for applications which need to handle a very large number of concurrent connections</a:t>
            </a:r>
          </a:p>
          <a:p>
            <a:pPr lvl="1"/>
            <a:r>
              <a:rPr lang="en-US" dirty="0"/>
              <a:t>Maven Dependency: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spring-boot-starter-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webflux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Most CRUD-style, REST APIs use Spring MVC as the standard</a:t>
            </a:r>
          </a:p>
          <a:p>
            <a:r>
              <a:rPr lang="en-US" dirty="0" err="1"/>
              <a:t>WebFlux</a:t>
            </a:r>
            <a:r>
              <a:rPr lang="en-US" dirty="0"/>
              <a:t> is reserved for applications that require scale or an architecture that genuinely calls for non-blocking models.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0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B3301-B8A7-409B-85DA-83B8BDCA8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FCB1EA-98FF-A2E8-38F9-AC363E04235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87728EE-D64B-DD89-F5C7-99C85439DACE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Controllers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4EEBFE-A4D8-5CC2-5E22-BC8253B8C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Controller is a Spring-managed bean.</a:t>
            </a:r>
          </a:p>
          <a:p>
            <a:r>
              <a:rPr lang="en-US" dirty="0"/>
              <a:t>Controllers are responsible for:</a:t>
            </a:r>
          </a:p>
          <a:p>
            <a:pPr lvl="1"/>
            <a:r>
              <a:rPr lang="en-US" b="1" i="1" dirty="0"/>
              <a:t>Handling incoming HTTP requests</a:t>
            </a:r>
          </a:p>
          <a:p>
            <a:pPr lvl="1"/>
            <a:r>
              <a:rPr lang="en-US" b="1" i="1" dirty="0"/>
              <a:t>Producing a response</a:t>
            </a:r>
            <a:endParaRPr lang="en-US" dirty="0"/>
          </a:p>
          <a:p>
            <a:r>
              <a:rPr lang="en-US" dirty="0"/>
              <a:t>Controllers are the entry point into an application’s web layer.</a:t>
            </a:r>
          </a:p>
          <a:p>
            <a:pPr lvl="1"/>
            <a:r>
              <a:rPr lang="en-US" dirty="0"/>
              <a:t>i.e. Controllers sit between an incoming HTTP request and the rest of the applications (services, repositories, etc…)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Controllers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Controllers | Annotations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71937F-6D3F-98CB-8595-6E2D1C4E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@Controller</a:t>
            </a:r>
            <a:r>
              <a:rPr lang="en-US" b="1" dirty="0"/>
              <a:t> </a:t>
            </a:r>
            <a:r>
              <a:rPr lang="en-US" dirty="0"/>
              <a:t>: Foundational stereotype Annotation -  built off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  <a:r>
              <a:rPr lang="en-US" dirty="0"/>
              <a:t> annotation. </a:t>
            </a:r>
          </a:p>
          <a:p>
            <a:pPr lvl="1"/>
            <a:r>
              <a:rPr lang="en-US" dirty="0"/>
              <a:t>Marks a class as a Spring Web Controller.</a:t>
            </a:r>
          </a:p>
          <a:p>
            <a:pPr lvl="1"/>
            <a:r>
              <a:rPr lang="en-US" dirty="0"/>
              <a:t>By default a method inside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@Controller</a:t>
            </a:r>
            <a:r>
              <a:rPr lang="en-US" dirty="0"/>
              <a:t>-annotated class is assumed to return the name of a view to render (like an HTML template).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@ResponseBody</a:t>
            </a:r>
            <a:r>
              <a:rPr lang="en-US" b="1" dirty="0"/>
              <a:t> </a:t>
            </a:r>
            <a:r>
              <a:rPr lang="en-US" dirty="0"/>
              <a:t>: Changes the default behavior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@Controller</a:t>
            </a:r>
            <a:r>
              <a:rPr lang="en-US" dirty="0"/>
              <a:t> methods. It tells a controller that the object returned should be serialized into JSON (default) and passed back into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HttpResponse</a:t>
            </a:r>
            <a:r>
              <a:rPr lang="en-US" dirty="0"/>
              <a:t> Object. </a:t>
            </a:r>
          </a:p>
          <a:p>
            <a:pPr lvl="1"/>
            <a:r>
              <a:rPr lang="en-US" dirty="0"/>
              <a:t>You can change the data type using by setting the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produces</a:t>
            </a:r>
            <a:r>
              <a:rPr lang="en-US" dirty="0"/>
              <a:t>’ attribute within the method annotation’s value list.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@RestController</a:t>
            </a:r>
            <a:r>
              <a:rPr lang="en-US" b="1" dirty="0"/>
              <a:t> </a:t>
            </a:r>
            <a:r>
              <a:rPr lang="en-US" dirty="0"/>
              <a:t>: A convenience annotation which Combines the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@Controller</a:t>
            </a:r>
            <a:r>
              <a:rPr lang="en-US" dirty="0"/>
              <a:t>’ and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ResponseBody</a:t>
            </a:r>
            <a:r>
              <a:rPr lang="en-US" dirty="0"/>
              <a:t>’ annotation. </a:t>
            </a:r>
          </a:p>
          <a:p>
            <a:pPr lvl="1"/>
            <a:r>
              <a:rPr lang="en-US" dirty="0"/>
              <a:t>All method responses will automatically be serialized into JSON (default).</a:t>
            </a:r>
          </a:p>
        </p:txBody>
      </p:sp>
    </p:spTree>
    <p:extLst>
      <p:ext uri="{BB962C8B-B14F-4D97-AF65-F5344CB8AC3E}">
        <p14:creationId xmlns:p14="http://schemas.microsoft.com/office/powerpoint/2010/main" val="121127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FDEA-386B-DF8A-1C80-2E66E52ED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0C39E5-D215-19FF-DC6B-2D1D0B1F1EF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F7A9FE19-DBFE-59D9-1F8B-257B8215128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Request Mapping &amp;</a:t>
            </a:r>
          </a:p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HTTP Method Annotations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B6BBF1-06A7-8158-676B-B41838E9C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220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lang="en-US" dirty="0"/>
              <a:t> is Spring’s foundational annotation for mapping an HTTP request to a specific controller method.</a:t>
            </a:r>
          </a:p>
          <a:p>
            <a:pPr lvl="1"/>
            <a:r>
              <a:rPr lang="en-US" dirty="0"/>
              <a:t>Specifies the URL path, the HTTP method, and other matching criteria (like ‘produces’ different response types)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lang="en-US" dirty="0"/>
              <a:t> can be applied at two levels:</a:t>
            </a:r>
          </a:p>
          <a:p>
            <a:pPr lvl="1"/>
            <a:r>
              <a:rPr lang="en-US" dirty="0"/>
              <a:t>Class level: Defines a shared base path for every method in the controller (e.g.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RequestMapping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(“/employees”)</a:t>
            </a:r>
            <a:r>
              <a:rPr lang="en-US" dirty="0"/>
              <a:t>’)</a:t>
            </a:r>
          </a:p>
          <a:p>
            <a:pPr lvl="1"/>
            <a:r>
              <a:rPr lang="en-US" dirty="0"/>
              <a:t>Method level: defines the remainder of the path, appended to the class-level base path.</a:t>
            </a:r>
          </a:p>
          <a:p>
            <a:r>
              <a:rPr lang="en-US" dirty="0"/>
              <a:t>When used alone @RequestMapping requires the method type to be specified.</a:t>
            </a:r>
          </a:p>
          <a:p>
            <a:pPr lvl="1"/>
            <a:r>
              <a:rPr lang="en-US" dirty="0"/>
              <a:t>E.g.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@RequestMapping(method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RequestMethod.GET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Mapping</a:t>
            </a:r>
          </a:p>
        </p:txBody>
      </p:sp>
    </p:spTree>
    <p:extLst>
      <p:ext uri="{BB962C8B-B14F-4D97-AF65-F5344CB8AC3E}">
        <p14:creationId xmlns:p14="http://schemas.microsoft.com/office/powerpoint/2010/main" val="388733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 Mapping | HTTP Method Annotations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71937F-6D3F-98CB-8595-6E2D1C4E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Spring provides HTTP method-specific shortcut annotations, each equivalent to @RequestMapping pre-configured for one specific HTTP Method: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@GetMapping</a:t>
            </a:r>
            <a:r>
              <a:rPr lang="en-US" dirty="0"/>
              <a:t> is equivalent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@RequestMapping(method=RequestMethod.GET)</a:t>
            </a:r>
          </a:p>
          <a:p>
            <a:r>
              <a:rPr lang="en-US" b="1" dirty="0"/>
              <a:t>@GetMapping</a:t>
            </a:r>
            <a:r>
              <a:rPr lang="en-US" dirty="0"/>
              <a:t> : Maps a handler method to handle a Get Request</a:t>
            </a:r>
          </a:p>
          <a:p>
            <a:r>
              <a:rPr lang="en-US" b="1" dirty="0"/>
              <a:t>@PostMapping</a:t>
            </a:r>
            <a:r>
              <a:rPr lang="en-US" dirty="0"/>
              <a:t> : Maps a handler method to handle a Post Request</a:t>
            </a:r>
          </a:p>
          <a:p>
            <a:r>
              <a:rPr lang="en-US" b="1" dirty="0"/>
              <a:t>@PutMapping</a:t>
            </a:r>
            <a:r>
              <a:rPr lang="en-US" dirty="0"/>
              <a:t> : Maps a handler method to handle a Put Request</a:t>
            </a:r>
          </a:p>
          <a:p>
            <a:r>
              <a:rPr lang="en-US" b="1" dirty="0"/>
              <a:t>@PatchMapping</a:t>
            </a:r>
            <a:r>
              <a:rPr lang="en-US" dirty="0"/>
              <a:t> : Maps a handler method to handle a Patch Request</a:t>
            </a:r>
          </a:p>
          <a:p>
            <a:r>
              <a:rPr lang="en-US" b="1" dirty="0"/>
              <a:t>@DeleteMapping</a:t>
            </a:r>
            <a:r>
              <a:rPr lang="en-US" dirty="0"/>
              <a:t> : Maps a handler method to handle a Delete Request</a:t>
            </a:r>
          </a:p>
          <a:p>
            <a:r>
              <a:rPr lang="en-US" dirty="0"/>
              <a:t>For each method, the URL endpoint can be passed as the only value to the annotation.</a:t>
            </a:r>
          </a:p>
        </p:txBody>
      </p:sp>
    </p:spTree>
    <p:extLst>
      <p:ext uri="{BB962C8B-B14F-4D97-AF65-F5344CB8AC3E}">
        <p14:creationId xmlns:p14="http://schemas.microsoft.com/office/powerpoint/2010/main" val="3196940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D951F-948E-3B99-162C-923CD7DBA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253A3C-8807-A18A-063E-BF8D870E9D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78728C74-8F15-5635-9953-8E86538B91F3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Extracting Request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1C4A15-DBCC-15F3-2E3E-09759C7EE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34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7A211-8507-2942-2B8A-8545C2D21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7C4A1-83E8-89EB-3C89-A3546CB4C8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8652C-B32C-95DA-3984-86DEF790C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Most Controller methods need </a:t>
            </a:r>
            <a:r>
              <a:rPr lang="en-US" b="1" i="1" dirty="0"/>
              <a:t>data from the incoming request</a:t>
            </a:r>
            <a:r>
              <a:rPr lang="en-US" dirty="0"/>
              <a:t> to do their job</a:t>
            </a:r>
          </a:p>
          <a:p>
            <a:r>
              <a:rPr lang="en-US" dirty="0"/>
              <a:t>There are three primary annotations in Spring that are used to extract that data.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@PathVariable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“</a:t>
            </a:r>
            <a:r>
              <a:rPr lang="en-US" b="1" i="1" dirty="0">
                <a:latin typeface="+mj-lt"/>
                <a:cs typeface="Courier New" panose="02070309020205020404" pitchFamily="49" charset="0"/>
              </a:rPr>
              <a:t>which resource?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”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@RequestParam</a:t>
            </a:r>
            <a:r>
              <a:rPr lang="en-US" dirty="0">
                <a:cs typeface="Courier New" panose="02070309020205020404" pitchFamily="49" charset="0"/>
              </a:rPr>
              <a:t>: “</a:t>
            </a:r>
            <a:r>
              <a:rPr lang="en-US" b="1" i="1" dirty="0">
                <a:cs typeface="Courier New" panose="02070309020205020404" pitchFamily="49" charset="0"/>
              </a:rPr>
              <a:t>under what conditions?</a:t>
            </a:r>
            <a:r>
              <a:rPr lang="en-US" dirty="0">
                <a:cs typeface="Courier New" panose="02070309020205020404" pitchFamily="49" charset="0"/>
              </a:rPr>
              <a:t>”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@RequestBody</a:t>
            </a:r>
            <a:r>
              <a:rPr lang="en-US" dirty="0">
                <a:cs typeface="Courier New" panose="02070309020205020404" pitchFamily="49" charset="0"/>
              </a:rPr>
              <a:t>: “</a:t>
            </a:r>
            <a:r>
              <a:rPr lang="en-US" b="1" i="1" dirty="0">
                <a:cs typeface="Courier New" panose="02070309020205020404" pitchFamily="49" charset="0"/>
              </a:rPr>
              <a:t>with what data?</a:t>
            </a:r>
            <a:r>
              <a:rPr lang="en-US" dirty="0">
                <a:cs typeface="Courier New" panose="02070309020205020404" pitchFamily="49" charset="0"/>
              </a:rPr>
              <a:t>”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Each is suited for a different part of the request and serve different purposes.</a:t>
            </a:r>
          </a:p>
          <a:p>
            <a:r>
              <a:rPr lang="en-US" dirty="0"/>
              <a:t>Note: You can also freely combine these within a single method as well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805661-7718-300E-37AA-A7ED0AFC6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Request Data</a:t>
            </a:r>
          </a:p>
        </p:txBody>
      </p:sp>
    </p:spTree>
    <p:extLst>
      <p:ext uri="{BB962C8B-B14F-4D97-AF65-F5344CB8AC3E}">
        <p14:creationId xmlns:p14="http://schemas.microsoft.com/office/powerpoint/2010/main" val="61835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755728" cy="1224150"/>
          </a:xfrm>
        </p:spPr>
        <p:txBody>
          <a:bodyPr/>
          <a:lstStyle/>
          <a:p>
            <a:r>
              <a:rPr lang="en-US" sz="2000" dirty="0"/>
              <a:t>Spring Web Annotations – Parse Request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71937F-6D3F-98CB-8595-6E2D1C4E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@PathVariable</a:t>
            </a:r>
            <a:r>
              <a:rPr lang="en-US" dirty="0"/>
              <a:t> : Parameter Annotation used to extract a value that’s embedded directly in the URL path.</a:t>
            </a:r>
          </a:p>
          <a:p>
            <a:pPr lvl="1"/>
            <a:r>
              <a:rPr lang="en-US" dirty="0"/>
              <a:t>Best suited for values that </a:t>
            </a:r>
            <a:r>
              <a:rPr lang="en-US" b="1" i="1" dirty="0"/>
              <a:t>identify a specific resource</a:t>
            </a:r>
            <a:r>
              <a:rPr lang="en-US" dirty="0"/>
              <a:t> (ID is the most common example)</a:t>
            </a:r>
          </a:p>
          <a:p>
            <a:r>
              <a:rPr lang="en-US" b="1" dirty="0"/>
              <a:t>@RequestParam</a:t>
            </a:r>
            <a:r>
              <a:rPr lang="en-US" dirty="0"/>
              <a:t> : Parameter annotation used to read a query string from a URL</a:t>
            </a:r>
          </a:p>
          <a:p>
            <a:pPr lvl="1"/>
            <a:r>
              <a:rPr lang="en-US" dirty="0"/>
              <a:t>Typically used when an HTML form has a value to be passed as an argument into a handler method.</a:t>
            </a:r>
          </a:p>
          <a:p>
            <a:pPr lvl="1"/>
            <a:r>
              <a:rPr lang="en-US" dirty="0"/>
              <a:t>Supports optional parameters with default values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‘required = false’</a:t>
            </a:r>
            <a:r>
              <a:rPr lang="en-US" dirty="0"/>
              <a:t> 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“…”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Best suited for optional filtering, searching, sorting or pagination. i.e. inputs which shape </a:t>
            </a:r>
            <a:r>
              <a:rPr lang="en-US" i="1" dirty="0"/>
              <a:t>how</a:t>
            </a:r>
            <a:r>
              <a:rPr lang="en-US" dirty="0"/>
              <a:t> a request is handled rather than identifying a single specific resource.</a:t>
            </a:r>
          </a:p>
          <a:p>
            <a:r>
              <a:rPr lang="en-US" b="1" dirty="0"/>
              <a:t>@RequestBody </a:t>
            </a:r>
            <a:r>
              <a:rPr lang="en-US" dirty="0"/>
              <a:t>: annotation used to extract and deserialize the JSON body of a request to a specified Model class using the naming conventions of the class fields.</a:t>
            </a:r>
          </a:p>
          <a:p>
            <a:pPr lvl="1"/>
            <a:r>
              <a:rPr lang="en-US" dirty="0"/>
              <a:t>Best suited when larger, structured payloads are sent with a request</a:t>
            </a:r>
          </a:p>
          <a:p>
            <a:pPr lvl="1"/>
            <a:r>
              <a:rPr lang="en-US" dirty="0"/>
              <a:t>E.g. Create or Update operations</a:t>
            </a:r>
          </a:p>
        </p:txBody>
      </p:sp>
    </p:spTree>
    <p:extLst>
      <p:ext uri="{BB962C8B-B14F-4D97-AF65-F5344CB8AC3E}">
        <p14:creationId xmlns:p14="http://schemas.microsoft.com/office/powerpoint/2010/main" val="1480121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B18FC-4CAB-8D26-EF4D-A02D5417F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974961-F1F0-04E0-FCB8-F91D6924C2D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F4455C48-C8D0-38C9-17AB-ECA435FCED7A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Building Responses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712AB9-412B-9E41-A82A-5D3EA790F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45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7706D-A8C8-2960-78CA-5919D9792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C3842-7941-E362-9C70-B88D37CA04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9885E1-2FBF-9F1F-CD9E-A4E3B837C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you return simple data (a Model object or a List&lt;Model&gt;), Spring automatically wraps it in an HTTP response with a default status code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200 OK</a:t>
            </a:r>
            <a:r>
              <a:rPr lang="en-US" dirty="0"/>
              <a:t>.</a:t>
            </a:r>
          </a:p>
          <a:p>
            <a:r>
              <a:rPr lang="en-US" dirty="0"/>
              <a:t>This default behavior works well for simple applications, but real-world APIs frequently communicate more than just data.</a:t>
            </a:r>
          </a:p>
          <a:p>
            <a:pPr lvl="1"/>
            <a:r>
              <a:rPr lang="en-US" dirty="0"/>
              <a:t>Specifically – different status codes depending on what actually happened.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4B13FD-DBA8-F8E8-805B-856A56A84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Responses</a:t>
            </a:r>
          </a:p>
        </p:txBody>
      </p:sp>
    </p:spTree>
    <p:extLst>
      <p:ext uri="{BB962C8B-B14F-4D97-AF65-F5344CB8AC3E}">
        <p14:creationId xmlns:p14="http://schemas.microsoft.com/office/powerpoint/2010/main" val="193093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20" y="-4950"/>
            <a:ext cx="6901007" cy="1224150"/>
          </a:xfrm>
        </p:spPr>
        <p:txBody>
          <a:bodyPr/>
          <a:lstStyle/>
          <a:p>
            <a:r>
              <a:rPr lang="en-US" dirty="0"/>
              <a:t>Building </a:t>
            </a:r>
            <a:r>
              <a:rPr lang="en-US" dirty="0" err="1"/>
              <a:t>Respnoses</a:t>
            </a:r>
            <a:r>
              <a:rPr lang="en-US" dirty="0"/>
              <a:t> | </a:t>
            </a:r>
            <a:r>
              <a:rPr lang="en-US" dirty="0" err="1"/>
              <a:t>ResponseEntity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71937F-6D3F-98CB-8595-6E2D1C4E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ResponseEntity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&lt;T&gt;</a:t>
            </a:r>
            <a:r>
              <a:rPr lang="en-US" dirty="0"/>
              <a:t> is Spring’s tool used to represent an Entire HTTP response.</a:t>
            </a:r>
          </a:p>
          <a:p>
            <a:pPr lvl="1"/>
            <a:r>
              <a:rPr lang="en-US" dirty="0"/>
              <a:t>Status code</a:t>
            </a:r>
          </a:p>
          <a:p>
            <a:pPr lvl="1"/>
            <a:r>
              <a:rPr lang="en-US" dirty="0"/>
              <a:t>Headers</a:t>
            </a:r>
          </a:p>
          <a:p>
            <a:pPr lvl="1"/>
            <a:r>
              <a:rPr lang="en-US" dirty="0"/>
              <a:t>Body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ResponseEntity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&lt;T&gt;</a:t>
            </a:r>
            <a:r>
              <a:rPr lang="en-US" dirty="0"/>
              <a:t> is typically built using builder-style static methods, which map directly to common status codes</a:t>
            </a:r>
          </a:p>
          <a:p>
            <a:pPr lvl="1"/>
            <a:r>
              <a:rPr lang="en-US" dirty="0"/>
              <a:t>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ResponseEntity.ok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endParaRPr lang="en-US" dirty="0"/>
          </a:p>
          <a:p>
            <a:r>
              <a:rPr lang="en-US" dirty="0"/>
              <a:t>Though not mandatory to use,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ResponseEntity</a:t>
            </a:r>
            <a:r>
              <a:rPr lang="en-US" dirty="0"/>
              <a:t> allows for additional control over HTTP responses and is considered a better practice than using plain objects.</a:t>
            </a:r>
          </a:p>
        </p:txBody>
      </p:sp>
    </p:spTree>
    <p:extLst>
      <p:ext uri="{BB962C8B-B14F-4D97-AF65-F5344CB8AC3E}">
        <p14:creationId xmlns:p14="http://schemas.microsoft.com/office/powerpoint/2010/main" val="4122752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D23E8-5951-CE47-854D-F05616363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F127B3-212B-18E3-1C5B-E2B83DE963B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D5DDC51-42C3-287F-1A76-E4A6C1593362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Exception Handling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B228D9-6615-4EE4-7C51-6044AEFCE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186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6DF67-FAD9-5D90-6EA5-F070AE00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7461C-B8B9-A396-6C6F-BFC77A2BDB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43683A-1BDA-A2CD-1EBF-C50F6EB8B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Without any explicit handling logic, an unhandled exception thrown inside a controller method results in a generic Spring-defined error (typically a 500 Internal Server Error).</a:t>
            </a:r>
          </a:p>
          <a:p>
            <a:pPr lvl="1"/>
            <a:r>
              <a:rPr lang="en-US" dirty="0"/>
              <a:t>This response typically reveals more (or less) internal detail than is required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@ExceptionHandler</a:t>
            </a:r>
            <a:r>
              <a:rPr lang="en-US" dirty="0"/>
              <a:t> is a method-level annotation used to designate a specific method as the handler for a particular exception type</a:t>
            </a:r>
          </a:p>
          <a:p>
            <a:r>
              <a:rPr lang="en-US" dirty="0"/>
              <a:t>When that exception is thrown anywhere within the applicable scope (the controller), the annotated method runs instead of allowing the exception to propagate to Spring’s default handling.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BB6CA1-DC72-14B8-5C36-36DBE331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402332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721545" cy="1224150"/>
          </a:xfrm>
        </p:spPr>
        <p:txBody>
          <a:bodyPr/>
          <a:lstStyle/>
          <a:p>
            <a:r>
              <a:rPr lang="en-US" sz="2000" dirty="0"/>
              <a:t>Exception Handling | Response Status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71937F-6D3F-98CB-8595-6E2D1C4E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@ResponseStatus</a:t>
            </a:r>
            <a:r>
              <a:rPr lang="en-US" b="1" dirty="0"/>
              <a:t> </a:t>
            </a:r>
            <a:r>
              <a:rPr lang="en-US" dirty="0"/>
              <a:t>annotation offers a simple and direct way to map a specific Custom Exception (or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@ExceptionHandler</a:t>
            </a:r>
            <a:r>
              <a:rPr lang="en-US" dirty="0"/>
              <a:t> annotated method) to a specific Http Status code.</a:t>
            </a:r>
          </a:p>
          <a:p>
            <a:r>
              <a:rPr lang="en-US" dirty="0"/>
              <a:t>You can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@ResponseStatus</a:t>
            </a:r>
            <a:r>
              <a:rPr lang="en-US" dirty="0"/>
              <a:t> on a custom exception class declaration, or on a method annotated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@ExceptionHandler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@ResponseStatus</a:t>
            </a:r>
            <a:r>
              <a:rPr lang="en-US" dirty="0"/>
              <a:t> alone: uses Spring’s default error body with no custom response formatting.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@ReponseStatus</a:t>
            </a:r>
            <a:r>
              <a:rPr lang="en-US" dirty="0"/>
              <a:t>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@ExceptionHandler</a:t>
            </a:r>
            <a:r>
              <a:rPr lang="en-US" dirty="0"/>
              <a:t>: offers the ability to provide a custom response body, or perform other tasks (logging, etc…).</a:t>
            </a:r>
          </a:p>
        </p:txBody>
      </p:sp>
    </p:spTree>
    <p:extLst>
      <p:ext uri="{BB962C8B-B14F-4D97-AF65-F5344CB8AC3E}">
        <p14:creationId xmlns:p14="http://schemas.microsoft.com/office/powerpoint/2010/main" val="83444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2A006-4B7C-E870-40DD-69EF1FB5C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DCF59-BF0F-29CA-AE62-4091CA4A9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721545" cy="1224150"/>
          </a:xfrm>
        </p:spPr>
        <p:txBody>
          <a:bodyPr/>
          <a:lstStyle/>
          <a:p>
            <a:r>
              <a:rPr lang="en-US" sz="2000" dirty="0"/>
              <a:t>Exception Handling | Global Handlers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60A60-681B-8F75-6BAF-53277BB9D1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5486D2-2067-9953-8027-E0A5A3D7C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@ExceptionHandler</a:t>
            </a:r>
            <a:r>
              <a:rPr lang="en-US" dirty="0"/>
              <a:t> used directly in a Controller only handles exceptions thrown </a:t>
            </a:r>
            <a:r>
              <a:rPr lang="en-US" b="1" i="1" dirty="0"/>
              <a:t>in that specific controller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means you may have a lot of redundancy in your code across controllers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@ControllerAdvice</a:t>
            </a:r>
            <a:r>
              <a:rPr lang="en-US" dirty="0"/>
              <a:t> annotation solves this by allowing exception handling logic to be defined once, globally in a dedicated class separate from your controllers.</a:t>
            </a:r>
          </a:p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@RestControllerAdvice</a:t>
            </a:r>
            <a:r>
              <a:rPr lang="en-US" dirty="0"/>
              <a:t> combines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@ControllerAdvice</a:t>
            </a:r>
            <a:r>
              <a:rPr lang="en-US" dirty="0"/>
              <a:t>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@ResponseBody</a:t>
            </a:r>
            <a:r>
              <a:rPr lang="en-US" dirty="0"/>
              <a:t>, so that all methods within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@ControllerAdvice</a:t>
            </a:r>
            <a:r>
              <a:rPr lang="en-US" dirty="0"/>
              <a:t> class are automatically annotated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@ResponseBody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325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1629</TotalTime>
  <Words>1312</Words>
  <Application>Microsoft Office PowerPoint</Application>
  <PresentationFormat>On-screen Show (4:3)</PresentationFormat>
  <Paragraphs>123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Revature</vt:lpstr>
      <vt:lpstr>Spring Web</vt:lpstr>
      <vt:lpstr>Outline</vt:lpstr>
      <vt:lpstr>PowerPoint Presentation</vt:lpstr>
      <vt:lpstr>Spring Web</vt:lpstr>
      <vt:lpstr>PowerPoint Presentation</vt:lpstr>
      <vt:lpstr>Controllers</vt:lpstr>
      <vt:lpstr>Controllers | Annotations</vt:lpstr>
      <vt:lpstr>PowerPoint Presentation</vt:lpstr>
      <vt:lpstr>Request Mapping</vt:lpstr>
      <vt:lpstr>Request Mapping | HTTP Method Annotations</vt:lpstr>
      <vt:lpstr>PowerPoint Presentation</vt:lpstr>
      <vt:lpstr>Extracting Request Data</vt:lpstr>
      <vt:lpstr>Spring Web Annotations – Parse Request Data</vt:lpstr>
      <vt:lpstr>PowerPoint Presentation</vt:lpstr>
      <vt:lpstr>Building Responses</vt:lpstr>
      <vt:lpstr>Building Respnoses | ResponseEntity</vt:lpstr>
      <vt:lpstr>PowerPoint Presentation</vt:lpstr>
      <vt:lpstr>Exception Handling</vt:lpstr>
      <vt:lpstr>Exception Handling | Response Status</vt:lpstr>
      <vt:lpstr>Exception Handling | Global Handlers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Manipulation Language</dc:title>
  <dc:creator>Bryn Portella</dc:creator>
  <cp:lastModifiedBy>Joseph Highe</cp:lastModifiedBy>
  <cp:revision>24</cp:revision>
  <dcterms:created xsi:type="dcterms:W3CDTF">2021-04-20T18:35:45Z</dcterms:created>
  <dcterms:modified xsi:type="dcterms:W3CDTF">2026-08-26T20:14:08Z</dcterms:modified>
</cp:coreProperties>
</file>