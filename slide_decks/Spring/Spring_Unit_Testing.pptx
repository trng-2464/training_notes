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357" r:id="rId4"/>
    <p:sldId id="343" r:id="rId5"/>
    <p:sldId id="490" r:id="rId6"/>
    <p:sldId id="463" r:id="rId7"/>
    <p:sldId id="484" r:id="rId8"/>
    <p:sldId id="480" r:id="rId9"/>
    <p:sldId id="481" r:id="rId10"/>
    <p:sldId id="464" r:id="rId11"/>
    <p:sldId id="476" r:id="rId12"/>
    <p:sldId id="478" r:id="rId13"/>
    <p:sldId id="479" r:id="rId14"/>
    <p:sldId id="482" r:id="rId15"/>
    <p:sldId id="477" r:id="rId16"/>
    <p:sldId id="485" r:id="rId17"/>
    <p:sldId id="486" r:id="rId18"/>
    <p:sldId id="467" r:id="rId19"/>
    <p:sldId id="468" r:id="rId20"/>
    <p:sldId id="488" r:id="rId21"/>
    <p:sldId id="441" r:id="rId22"/>
    <p:sldId id="465" r:id="rId23"/>
    <p:sldId id="466" r:id="rId24"/>
    <p:sldId id="487" r:id="rId25"/>
    <p:sldId id="358" r:id="rId2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89" autoAdjust="0"/>
  </p:normalViewPr>
  <p:slideViewPr>
    <p:cSldViewPr snapToGrid="0">
      <p:cViewPr varScale="1">
        <p:scale>
          <a:sx n="95" d="100"/>
          <a:sy n="95" d="100"/>
        </p:scale>
        <p:origin x="2046" y="96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9/1/2026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5" y="2924299"/>
            <a:ext cx="7178253" cy="1752600"/>
          </a:xfrm>
        </p:spPr>
        <p:txBody>
          <a:bodyPr/>
          <a:lstStyle/>
          <a:p>
            <a:r>
              <a:rPr lang="en-US" dirty="0"/>
              <a:t>Unit Testing with spring-boot-starter-test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1EBCD-4831-59E4-AF54-61F13329B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Spring Testing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Spring Test Setup</a:t>
            </a:r>
          </a:p>
          <a:p>
            <a:r>
              <a:rPr lang="en-US" dirty="0"/>
              <a:t>Unit Tests &amp; Test Slices</a:t>
            </a:r>
          </a:p>
          <a:p>
            <a:r>
              <a:rPr lang="en-US" dirty="0"/>
              <a:t>@SpringBootTest</a:t>
            </a:r>
          </a:p>
          <a:p>
            <a:r>
              <a:rPr lang="en-US" dirty="0"/>
              <a:t>Legacy: @MockBean</a:t>
            </a: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Spring Test Setup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44B04-2EA6-FCF4-5F43-ABE166F4F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46479"/>
            <a:ext cx="8383980" cy="538235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 Spring Boot 3 and earlier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spring-boot-starter-test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module bundled nearly everything you needed under a single module.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However, in Spring Boot 4 the packages were modularized into their own separate requirements.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spring-boot-starter-test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: convenience starter that bundles common testing libraries, including: JUnit Jupiter (Junit 5), Mockito, </a:t>
            </a:r>
            <a:r>
              <a:rPr lang="en-US" dirty="0" err="1">
                <a:latin typeface="+mj-lt"/>
                <a:cs typeface="Courier New" panose="02070309020205020404" pitchFamily="49" charset="0"/>
              </a:rPr>
              <a:t>AssertJ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, and more…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spring-boot-starter-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webmvc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-test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: Module that includes annotations to support testing Web Controller layer slice.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spring-boot-starter-data-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jpa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-test</a:t>
            </a:r>
            <a:r>
              <a:rPr lang="en-US" dirty="0">
                <a:cs typeface="Courier New" panose="02070309020205020404" pitchFamily="49" charset="0"/>
              </a:rPr>
              <a:t> : Module that includes annotations to support testing data </a:t>
            </a:r>
            <a:r>
              <a:rPr lang="en-US" dirty="0" err="1">
                <a:cs typeface="Courier New" panose="02070309020205020404" pitchFamily="49" charset="0"/>
              </a:rPr>
              <a:t>jpa</a:t>
            </a:r>
            <a:r>
              <a:rPr lang="en-US" dirty="0">
                <a:cs typeface="Courier New" panose="02070309020205020404" pitchFamily="49" charset="0"/>
              </a:rPr>
              <a:t> and repository layer slice</a:t>
            </a:r>
          </a:p>
          <a:p>
            <a:r>
              <a:rPr lang="en-US" dirty="0"/>
              <a:t>Note: as a best practice, your test dependencies should include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&lt;scope&gt;</a:t>
            </a:r>
            <a:r>
              <a:rPr lang="en-US" dirty="0"/>
              <a:t>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en-US" dirty="0"/>
              <a:t> indicating it as a ‘test’ lifecycle dependency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96D22E-EB01-37C9-6E05-231DE113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Test Setup</a:t>
            </a:r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B0E58-4B44-BA0C-AB5C-8EA3D8A5C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1388A-856B-8C65-2DA1-DD314513F4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B9C4A3-30FC-023E-51F9-8CD3BFF10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46479"/>
            <a:ext cx="8383980" cy="5382357"/>
          </a:xfrm>
        </p:spPr>
        <p:txBody>
          <a:bodyPr>
            <a:normAutofit fontScale="92500"/>
          </a:bodyPr>
          <a:lstStyle/>
          <a:p>
            <a:r>
              <a:rPr lang="en-US" dirty="0"/>
              <a:t>The following are additional tools commonly used to support fuller (integration) tests. </a:t>
            </a:r>
          </a:p>
          <a:p>
            <a:pPr lvl="1"/>
            <a:r>
              <a:rPr lang="en-US" dirty="0"/>
              <a:t>These are not strictly a requirement to perform Unit Testing with Spring; however, they will play a role in Integration tests.</a:t>
            </a:r>
            <a:endParaRPr lang="en-US" dirty="0">
              <a:latin typeface="+mj-lt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spring-security-test</a:t>
            </a:r>
            <a:r>
              <a:rPr lang="en-US" dirty="0">
                <a:cs typeface="Courier New" panose="02070309020205020404" pitchFamily="49" charset="0"/>
              </a:rPr>
              <a:t> : Module that is often used with </a:t>
            </a:r>
            <a:r>
              <a:rPr lang="en-US" dirty="0" err="1">
                <a:cs typeface="Courier New" panose="02070309020205020404" pitchFamily="49" charset="0"/>
              </a:rPr>
              <a:t>webmvc</a:t>
            </a:r>
            <a:r>
              <a:rPr lang="en-US" dirty="0">
                <a:cs typeface="Courier New" panose="02070309020205020404" pitchFamily="49" charset="0"/>
              </a:rPr>
              <a:t> test to verify secured endpoints.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spring-boot-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resttestclient</a:t>
            </a:r>
            <a:r>
              <a:rPr lang="en-US" dirty="0">
                <a:cs typeface="Courier New" panose="02070309020205020404" pitchFamily="49" charset="0"/>
              </a:rPr>
              <a:t> : Module that is often used with </a:t>
            </a:r>
            <a:r>
              <a:rPr lang="en-US" dirty="0" err="1">
                <a:cs typeface="Courier New" panose="02070309020205020404" pitchFamily="49" charset="0"/>
              </a:rPr>
              <a:t>webmvc</a:t>
            </a:r>
            <a:r>
              <a:rPr lang="en-US" dirty="0">
                <a:cs typeface="Courier New" panose="02070309020205020404" pitchFamily="49" charset="0"/>
              </a:rPr>
              <a:t> test to simulate web requests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jackson-databind</a:t>
            </a:r>
            <a:r>
              <a:rPr lang="en-US" dirty="0">
                <a:cs typeface="Courier New" panose="02070309020205020404" pitchFamily="49" charset="0"/>
              </a:rPr>
              <a:t>: Module that is often used to provide an object-mapper, a tool which can map entities in a JSON form to your defined class type.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320D8C3-F41D-8F56-757E-6B3ADD4FF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Test Setup</a:t>
            </a:r>
          </a:p>
        </p:txBody>
      </p:sp>
    </p:spTree>
    <p:extLst>
      <p:ext uri="{BB962C8B-B14F-4D97-AF65-F5344CB8AC3E}">
        <p14:creationId xmlns:p14="http://schemas.microsoft.com/office/powerpoint/2010/main" val="307145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F70E0-8C57-16B4-7C17-F860D4E51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4EEB29-23B1-6A58-6C26-D3EE4C54E9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F26B28FB-9355-1B59-E022-A69996270549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Unit Tests &amp; Test Slices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9C545D-CD8B-DD94-C3A9-7AF89A53C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034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4B650-DFFD-4BA3-B13B-D8EA89402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FD711-54A3-9628-FD00-FA4A2A2A17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46FE1C-8564-71B7-1B5D-652B2348D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00846"/>
            <a:ext cx="8383980" cy="550963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‘AAA’ unit test structure refers to a simple structural pattern used to organize the body of a unit test.</a:t>
            </a:r>
          </a:p>
          <a:p>
            <a:r>
              <a:rPr lang="en-US" dirty="0"/>
              <a:t>Three sequential parts:</a:t>
            </a:r>
          </a:p>
          <a:p>
            <a:pPr lvl="1"/>
            <a:r>
              <a:rPr lang="en-US" b="1" dirty="0"/>
              <a:t>Arrange</a:t>
            </a:r>
            <a:r>
              <a:rPr lang="en-US" dirty="0"/>
              <a:t>: Setup everything the test needs.</a:t>
            </a:r>
          </a:p>
          <a:p>
            <a:pPr lvl="2"/>
            <a:r>
              <a:rPr lang="en-US" dirty="0"/>
              <a:t>Create Objects, configure mocks, prepare input data, define expected values from dependencies.</a:t>
            </a:r>
          </a:p>
          <a:p>
            <a:pPr lvl="2"/>
            <a:r>
              <a:rPr lang="en-US" dirty="0"/>
              <a:t>Setup may be placed in dedicated @BeforeEach annotated setup methods (typically for objects used throughout tests)</a:t>
            </a:r>
          </a:p>
          <a:p>
            <a:pPr lvl="1"/>
            <a:r>
              <a:rPr lang="en-US" b="1" dirty="0"/>
              <a:t>Act</a:t>
            </a:r>
            <a:r>
              <a:rPr lang="en-US" dirty="0"/>
              <a:t>: Execute the actual behavior under test</a:t>
            </a:r>
          </a:p>
          <a:p>
            <a:pPr lvl="2"/>
            <a:r>
              <a:rPr lang="en-US" dirty="0"/>
              <a:t>Typically, this is a single line – just calling the method under test and storing it’s return value (if any) in a result variable.</a:t>
            </a:r>
          </a:p>
          <a:p>
            <a:pPr lvl="1"/>
            <a:r>
              <a:rPr lang="en-US" b="1" dirty="0"/>
              <a:t>Assert</a:t>
            </a:r>
            <a:r>
              <a:rPr lang="en-US" dirty="0"/>
              <a:t>: Verify the outcome of the test matches what you expected</a:t>
            </a:r>
          </a:p>
          <a:p>
            <a:pPr lvl="2"/>
            <a:r>
              <a:rPr lang="en-US" dirty="0"/>
              <a:t>Check the returned result against an expected result using an Assert method.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4211AEE-2658-509A-C70E-809C8614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Arrange, Act, Assert</a:t>
            </a:r>
          </a:p>
        </p:txBody>
      </p:sp>
    </p:spTree>
    <p:extLst>
      <p:ext uri="{BB962C8B-B14F-4D97-AF65-F5344CB8AC3E}">
        <p14:creationId xmlns:p14="http://schemas.microsoft.com/office/powerpoint/2010/main" val="1192747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7ECDF-F1D7-176F-2B52-A26A04B3C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2E8B8-71AA-ED6C-D32D-D70A77F85C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2DED3C-3522-7F3E-EFBE-95474D1D7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00846"/>
            <a:ext cx="8383980" cy="55096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Spring boot application is (typically) organized into layers</a:t>
            </a:r>
          </a:p>
          <a:p>
            <a:pPr lvl="1"/>
            <a:r>
              <a:rPr lang="en-US" b="1" i="1" dirty="0"/>
              <a:t>Controller, Service, Repository</a:t>
            </a:r>
            <a:endParaRPr lang="en-US" dirty="0"/>
          </a:p>
          <a:p>
            <a:r>
              <a:rPr lang="en-US" dirty="0"/>
              <a:t>Each layer has fundamentally different testing needs, based on what kind of code actually lives there.</a:t>
            </a:r>
          </a:p>
          <a:p>
            <a:r>
              <a:rPr lang="en-US" dirty="0"/>
              <a:t>A </a:t>
            </a:r>
            <a:r>
              <a:rPr lang="en-US" b="1" i="1" dirty="0"/>
              <a:t>test slice</a:t>
            </a:r>
            <a:r>
              <a:rPr lang="en-US" dirty="0"/>
              <a:t> is Spring Boot’s term for a test that loads only a narrow, curated portion of the application context</a:t>
            </a:r>
          </a:p>
          <a:p>
            <a:pPr lvl="1"/>
            <a:r>
              <a:rPr lang="en-US" dirty="0"/>
              <a:t>i.e. Spring will load just enough infrastructure to test one architectural layer rather than the entire application.</a:t>
            </a:r>
          </a:p>
          <a:p>
            <a:r>
              <a:rPr lang="en-US" dirty="0"/>
              <a:t>Note: a </a:t>
            </a:r>
            <a:r>
              <a:rPr lang="en-US" b="1" i="1" dirty="0"/>
              <a:t>test slice </a:t>
            </a:r>
            <a:r>
              <a:rPr lang="en-US" dirty="0"/>
              <a:t>is technically an integration test, though it is isolated to just the modules of a spring application under test.</a:t>
            </a:r>
          </a:p>
          <a:p>
            <a:r>
              <a:rPr lang="en-US" dirty="0"/>
              <a:t>A </a:t>
            </a:r>
            <a:r>
              <a:rPr lang="en-US" b="1" i="1" dirty="0"/>
              <a:t>test slice</a:t>
            </a:r>
            <a:r>
              <a:rPr lang="en-US" dirty="0"/>
              <a:t> will load one ‘layer’s’ worth of beans, whereas a full integration test will load the entire application.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712ECB5-ED4D-7D24-777F-1EEC487DB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across layers</a:t>
            </a:r>
          </a:p>
        </p:txBody>
      </p:sp>
    </p:spTree>
    <p:extLst>
      <p:ext uri="{BB962C8B-B14F-4D97-AF65-F5344CB8AC3E}">
        <p14:creationId xmlns:p14="http://schemas.microsoft.com/office/powerpoint/2010/main" val="1966605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73282-2B75-78A8-2156-DAD449FFC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87A9A-85CC-652E-E7CB-A37F05EE3D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43BD45-4A52-94A2-7BFD-88ED162B6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00846"/>
            <a:ext cx="8383980" cy="5509636"/>
          </a:xfrm>
        </p:spPr>
        <p:txBody>
          <a:bodyPr>
            <a:normAutofit/>
          </a:bodyPr>
          <a:lstStyle/>
          <a:p>
            <a:r>
              <a:rPr lang="en-US" dirty="0"/>
              <a:t>Unit Tests in Spring can be somewhat difficult to perform depending on which layer is under test.</a:t>
            </a:r>
          </a:p>
          <a:p>
            <a:r>
              <a:rPr lang="en-US" dirty="0"/>
              <a:t>Some layers have trivial code, since most of the functionality relies on Spring’s auto-configuration</a:t>
            </a:r>
          </a:p>
          <a:p>
            <a:r>
              <a:rPr lang="en-US" dirty="0"/>
              <a:t>When determining how to Unit Test your application, it is important to follow these steps:</a:t>
            </a:r>
          </a:p>
          <a:p>
            <a:pPr lvl="1"/>
            <a:r>
              <a:rPr lang="en-US" dirty="0"/>
              <a:t>First, identify exactly what plain JUnit and Mockito can verify</a:t>
            </a:r>
          </a:p>
          <a:p>
            <a:pPr lvl="1"/>
            <a:r>
              <a:rPr lang="en-US" dirty="0"/>
              <a:t>Afterwards, introduce Spring-specific tools which close the gap.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B59817-5901-450F-CC20-11C7343E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</p:spTree>
    <p:extLst>
      <p:ext uri="{BB962C8B-B14F-4D97-AF65-F5344CB8AC3E}">
        <p14:creationId xmlns:p14="http://schemas.microsoft.com/office/powerpoint/2010/main" val="1455215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DC729-A34D-AA4A-5987-E3A248072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0D303-22AC-C680-F951-477D4093B3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C184E9-F3DD-7F28-D16E-1CCB315A7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/>
          </a:bodyPr>
          <a:lstStyle/>
          <a:p>
            <a:r>
              <a:rPr lang="en-US" dirty="0"/>
              <a:t>The Service layer consists of genuine business logic.</a:t>
            </a:r>
          </a:p>
          <a:p>
            <a:pPr lvl="1"/>
            <a:r>
              <a:rPr lang="en-US" dirty="0"/>
              <a:t>Calculations, Conditionals, orchestrating calls to other beans</a:t>
            </a:r>
          </a:p>
          <a:p>
            <a:r>
              <a:rPr lang="en-US" dirty="0"/>
              <a:t>Service layer methods are exactly the type of code Mockito was built to isolate and verify.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@ExtendWith(MokitoExtension.class)</a:t>
            </a:r>
            <a:r>
              <a:rPr lang="en-US" dirty="0"/>
              <a:t> – allows a class to automatically setup mocks before each test (instead of requiring a separate @BeforeEach setup method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@Mock</a:t>
            </a:r>
            <a:r>
              <a:rPr lang="en-US" dirty="0"/>
              <a:t> – creates a fake stand-in for a class’s dependencies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@InjectMocks</a:t>
            </a:r>
            <a:r>
              <a:rPr lang="en-US" dirty="0"/>
              <a:t> – Builds the instance of the class and injects the Mock into them (typically using Constructor injection)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F4A955-198C-D4B7-25FF-D7497D3FF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| Service Layer</a:t>
            </a:r>
          </a:p>
        </p:txBody>
      </p:sp>
    </p:spTree>
    <p:extLst>
      <p:ext uri="{BB962C8B-B14F-4D97-AF65-F5344CB8AC3E}">
        <p14:creationId xmlns:p14="http://schemas.microsoft.com/office/powerpoint/2010/main" val="280809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8BF6C-A836-5708-E72F-8033FD601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A50C0-28B0-2144-6BB2-D67DAF6F5D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D8187C-9E8C-07B2-FC41-9DC70DB82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Controller layer code is thin by design</a:t>
            </a:r>
          </a:p>
          <a:p>
            <a:r>
              <a:rPr lang="en-US" dirty="0"/>
              <a:t>The value of a Controller is how Spring uses it architecturally to provide HTTP specific solutions:</a:t>
            </a:r>
          </a:p>
          <a:p>
            <a:pPr lvl="1"/>
            <a:r>
              <a:rPr lang="en-US" dirty="0"/>
              <a:t>Routing of your application</a:t>
            </a:r>
          </a:p>
          <a:p>
            <a:pPr lvl="1"/>
            <a:r>
              <a:rPr lang="en-US" dirty="0"/>
              <a:t>Path/query parameter binding</a:t>
            </a:r>
          </a:p>
          <a:p>
            <a:pPr lvl="1"/>
            <a:r>
              <a:rPr lang="en-US" dirty="0"/>
              <a:t>JSON serialization</a:t>
            </a:r>
          </a:p>
          <a:p>
            <a:pPr lvl="1"/>
            <a:r>
              <a:rPr lang="en-US" dirty="0"/>
              <a:t>Mapping exceptions to status codes</a:t>
            </a:r>
          </a:p>
          <a:p>
            <a:r>
              <a:rPr lang="en-US" dirty="0"/>
              <a:t>Many of these features require Context and bean wiring.</a:t>
            </a:r>
          </a:p>
          <a:p>
            <a:r>
              <a:rPr lang="en-US" dirty="0"/>
              <a:t>Unit tests can still provide very simple behavioral validation</a:t>
            </a:r>
          </a:p>
          <a:p>
            <a:pPr lvl="1"/>
            <a:r>
              <a:rPr lang="en-US" dirty="0"/>
              <a:t>e.g. Did you wire the correct service method calls in your controller methods?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DD357F1-CCD7-F1FF-38E4-3B90EB92F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| Controller Layer</a:t>
            </a:r>
          </a:p>
        </p:txBody>
      </p:sp>
    </p:spTree>
    <p:extLst>
      <p:ext uri="{BB962C8B-B14F-4D97-AF65-F5344CB8AC3E}">
        <p14:creationId xmlns:p14="http://schemas.microsoft.com/office/powerpoint/2010/main" val="181785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F5A5F-1BEA-9324-2C4D-C3B32F6E8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F6D5B-76ED-0843-0D45-F632776037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A978CE-3E71-486C-96B8-28B606D88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What plain Mockito can verify:</a:t>
            </a:r>
          </a:p>
          <a:p>
            <a:pPr lvl="1"/>
            <a:r>
              <a:rPr lang="en-US" dirty="0"/>
              <a:t>The controller correctly calls the right service method with the correct arguments</a:t>
            </a:r>
          </a:p>
          <a:p>
            <a:pPr lvl="1"/>
            <a:r>
              <a:rPr lang="en-US" dirty="0"/>
              <a:t>The controller wraps the result correctly (with the correct </a:t>
            </a:r>
            <a:r>
              <a:rPr lang="en-US" dirty="0" err="1"/>
              <a:t>HttpStatus</a:t>
            </a:r>
            <a:r>
              <a:rPr lang="en-US" dirty="0"/>
              <a:t> within a </a:t>
            </a:r>
            <a:r>
              <a:rPr lang="en-US" dirty="0" err="1"/>
              <a:t>ResponseEntity</a:t>
            </a:r>
            <a:r>
              <a:rPr lang="en-US" dirty="0"/>
              <a:t>.</a:t>
            </a:r>
          </a:p>
          <a:p>
            <a:r>
              <a:rPr lang="en-US" dirty="0"/>
              <a:t>What plain Mockito </a:t>
            </a:r>
            <a:r>
              <a:rPr lang="en-US" b="1" i="1" dirty="0"/>
              <a:t>cannot verify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If Spring actually routes a real HTTP request to the method correctly</a:t>
            </a:r>
          </a:p>
          <a:p>
            <a:pPr lvl="1"/>
            <a:r>
              <a:rPr lang="en-US" dirty="0"/>
              <a:t>A typo in the http-method annotation (i.e. providing a wrong path)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@PathVariable</a:t>
            </a:r>
            <a:r>
              <a:rPr lang="en-US" dirty="0"/>
              <a:t> and/or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@RequestParam</a:t>
            </a:r>
            <a:r>
              <a:rPr lang="en-US" dirty="0"/>
              <a:t> binding and type conversion</a:t>
            </a:r>
          </a:p>
          <a:p>
            <a:pPr lvl="1"/>
            <a:r>
              <a:rPr lang="en-US" dirty="0"/>
              <a:t>How exceptions thrown by the service is received by the client</a:t>
            </a:r>
          </a:p>
          <a:p>
            <a:pPr lvl="1"/>
            <a:r>
              <a:rPr lang="en-US" dirty="0"/>
              <a:t>JSON serialization of the response body</a:t>
            </a:r>
          </a:p>
          <a:p>
            <a:pPr lvl="1"/>
            <a:r>
              <a:rPr lang="en-US" dirty="0"/>
              <a:t>Spring security on endpoints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180023-EE3B-BD78-6B64-5E7B3952F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| Controller Layer</a:t>
            </a:r>
          </a:p>
        </p:txBody>
      </p:sp>
    </p:spTree>
    <p:extLst>
      <p:ext uri="{BB962C8B-B14F-4D97-AF65-F5344CB8AC3E}">
        <p14:creationId xmlns:p14="http://schemas.microsoft.com/office/powerpoint/2010/main" val="283952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CEB5C-59C6-2D29-D16C-BD0706F04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637B4-7F1A-991C-DED8-48AFF1DBC4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CBD205-2040-F21F-F9E8-041DDCE7B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Spring Boot ships a family of modules that contain slice annotations specific to it’s domain</a:t>
            </a:r>
          </a:p>
          <a:p>
            <a:r>
              <a:rPr lang="en-US" dirty="0"/>
              <a:t>Each module load only enough context as needed to test a particular layer.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@WebMvcTest</a:t>
            </a:r>
            <a:r>
              <a:rPr lang="en-US" dirty="0"/>
              <a:t>: Used to test Web Controller slice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@DataJpaTest</a:t>
            </a:r>
            <a:r>
              <a:rPr lang="en-US" dirty="0"/>
              <a:t>: Used to test Data JPA slice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9FF234-6A27-1ED5-76AC-F5788A9BB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Slices</a:t>
            </a:r>
          </a:p>
        </p:txBody>
      </p:sp>
    </p:spTree>
    <p:extLst>
      <p:ext uri="{BB962C8B-B14F-4D97-AF65-F5344CB8AC3E}">
        <p14:creationId xmlns:p14="http://schemas.microsoft.com/office/powerpoint/2010/main" val="324689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D4EB6-9FBA-B3D7-3520-4CE8BF95B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A30E7-DE0E-876A-4791-64B58C3761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CBCD1A-3FD4-E33A-9B16-1C8A1D33C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cs typeface="Courier New" panose="02070309020205020404" pitchFamily="49" charset="0"/>
              </a:rPr>
              <a:t>Dependency</a:t>
            </a:r>
            <a:r>
              <a:rPr lang="en-US" dirty="0">
                <a:cs typeface="Courier New" panose="02070309020205020404" pitchFamily="49" charset="0"/>
              </a:rPr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spring-boot-starter-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webmvc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-test</a:t>
            </a:r>
          </a:p>
          <a:p>
            <a:r>
              <a:rPr lang="en-US" b="1" dirty="0"/>
              <a:t>Slice Annotation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@WebMvcTest</a:t>
            </a:r>
            <a:endParaRPr lang="en-US" dirty="0"/>
          </a:p>
          <a:p>
            <a:r>
              <a:rPr lang="en-US" b="1" dirty="0"/>
              <a:t>Purpose</a:t>
            </a:r>
            <a:r>
              <a:rPr lang="en-US" dirty="0"/>
              <a:t>: Loads web layer, including controllers, @ControllerAdvice and more.</a:t>
            </a:r>
          </a:p>
          <a:p>
            <a:r>
              <a:rPr lang="en-US" dirty="0"/>
              <a:t>Key Annotations: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@MockitoBean</a:t>
            </a:r>
            <a:r>
              <a:rPr lang="en-US" dirty="0"/>
              <a:t>: used to mock &amp; wire service beans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@Import</a:t>
            </a:r>
            <a:r>
              <a:rPr lang="en-US" dirty="0"/>
              <a:t>*</a:t>
            </a:r>
          </a:p>
          <a:p>
            <a:pPr lvl="2"/>
            <a:r>
              <a:rPr lang="en-US" dirty="0"/>
              <a:t>*Not actually from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spring-boot-starter-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webmvc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-test</a:t>
            </a:r>
            <a:r>
              <a:rPr lang="en-US" dirty="0"/>
              <a:t>, but commonly used with security checks</a:t>
            </a:r>
          </a:p>
          <a:p>
            <a:r>
              <a:rPr lang="en-US" dirty="0" err="1"/>
              <a:t>KeyMethods</a:t>
            </a:r>
            <a:r>
              <a:rPr lang="en-US" dirty="0"/>
              <a:t>/Classes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MockMvc</a:t>
            </a:r>
            <a:r>
              <a:rPr lang="en-US" dirty="0"/>
              <a:t>: Class which simulates the web environment (requests/responses)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MockMvc.perform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used to call an HTTP request using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MockMvc</a:t>
            </a:r>
            <a:r>
              <a:rPr lang="en-US" dirty="0"/>
              <a:t> object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MockMvcRequestBuilders.get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()/post()/put()/delete()</a:t>
            </a:r>
            <a:r>
              <a:rPr lang="en-US" dirty="0"/>
              <a:t>: static methods to simulate specific HTTP methods.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MockMvcResultMatchers.status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static method used to represent an HTTP status.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MockMvcResultMatchers.jsonPath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static method used to represent the URL path.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F68942-2E31-0BB6-20B8-B4A7FA201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Slices | Controller Layer</a:t>
            </a:r>
          </a:p>
        </p:txBody>
      </p:sp>
    </p:spTree>
    <p:extLst>
      <p:ext uri="{BB962C8B-B14F-4D97-AF65-F5344CB8AC3E}">
        <p14:creationId xmlns:p14="http://schemas.microsoft.com/office/powerpoint/2010/main" val="373080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99DE1-F4F6-F162-51E2-1FA2866A5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E2938-A2A4-19E1-321B-670E5E6490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7BD8C-E03A-6F53-B2BA-59E071248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/>
          </a:bodyPr>
          <a:lstStyle/>
          <a:p>
            <a:r>
              <a:rPr lang="en-US" dirty="0"/>
              <a:t>When using a module such as Spring Data JPA, often the code leveraged isn’t your code at all.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CRUDRepository</a:t>
            </a:r>
            <a:r>
              <a:rPr lang="en-US" dirty="0"/>
              <a:t>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JpaRepository</a:t>
            </a:r>
            <a:r>
              <a:rPr lang="en-US" dirty="0"/>
              <a:t> provide implementations that your Spring application automatically leverages.</a:t>
            </a:r>
          </a:p>
          <a:p>
            <a:pPr lvl="1"/>
            <a:r>
              <a:rPr lang="en-US" dirty="0"/>
              <a:t>Derived Queries are generated by Spring automatically.</a:t>
            </a:r>
          </a:p>
          <a:p>
            <a:r>
              <a:rPr lang="en-US" dirty="0"/>
              <a:t>As such, the repository layer is typically not tested directly.</a:t>
            </a:r>
          </a:p>
          <a:p>
            <a:r>
              <a:rPr lang="en-US" dirty="0"/>
              <a:t>Repositories are commonly mocked in your service layer, or other tests</a:t>
            </a:r>
          </a:p>
          <a:p>
            <a:pPr lvl="1"/>
            <a:r>
              <a:rPr lang="en-US" dirty="0"/>
              <a:t>This is why it is key that you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verify</a:t>
            </a:r>
            <a:r>
              <a:rPr lang="en-US" dirty="0"/>
              <a:t> and other validation methods on your mocked objects to test the behavior and business logic of your service methods.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BA88416-DFF3-E96B-7C39-F70F212CF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| Repository Layer</a:t>
            </a:r>
          </a:p>
        </p:txBody>
      </p:sp>
    </p:spTree>
    <p:extLst>
      <p:ext uri="{BB962C8B-B14F-4D97-AF65-F5344CB8AC3E}">
        <p14:creationId xmlns:p14="http://schemas.microsoft.com/office/powerpoint/2010/main" val="71076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38FA6-CC49-4CB0-4BC0-007DC6121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FAD28-C590-87C6-CF94-290A69021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820ACC-E69A-1672-64A3-685962AA5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254578"/>
            <a:ext cx="8383980" cy="5603422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latin typeface="+mj-lt"/>
                <a:cs typeface="Courier New" panose="02070309020205020404" pitchFamily="49" charset="0"/>
              </a:rPr>
              <a:t>Dependency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spring-boot-starter-data-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jpa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-test</a:t>
            </a:r>
          </a:p>
          <a:p>
            <a:r>
              <a:rPr lang="en-US" b="1" dirty="0"/>
              <a:t>Slice Annotation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@DataJpaTest</a:t>
            </a:r>
            <a:endParaRPr lang="en-US" dirty="0"/>
          </a:p>
          <a:p>
            <a:r>
              <a:rPr lang="en-US" b="1" dirty="0"/>
              <a:t>Purpose</a:t>
            </a:r>
            <a:r>
              <a:rPr lang="en-US" dirty="0"/>
              <a:t>: Loads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@Entity</a:t>
            </a:r>
            <a:r>
              <a:rPr lang="en-US" dirty="0"/>
              <a:t> classes and Spring Data JPA repositories.</a:t>
            </a:r>
          </a:p>
          <a:p>
            <a:pPr lvl="1"/>
            <a:r>
              <a:rPr lang="en-US" dirty="0"/>
              <a:t>Additionally configures an embedded, in-memory database in place of your real one</a:t>
            </a:r>
          </a:p>
          <a:p>
            <a:r>
              <a:rPr lang="en-US" dirty="0"/>
              <a:t>Key Annotations: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@AutoConfigureTestDatabase</a:t>
            </a:r>
            <a:r>
              <a:rPr lang="en-US" dirty="0"/>
              <a:t>: used to configure embedded in-memory database</a:t>
            </a:r>
          </a:p>
          <a:p>
            <a:r>
              <a:rPr lang="en-US" dirty="0" err="1"/>
              <a:t>KeyMethods</a:t>
            </a:r>
            <a:r>
              <a:rPr lang="en-US" dirty="0"/>
              <a:t>/Classes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TestEntityManager</a:t>
            </a:r>
            <a:r>
              <a:rPr lang="en-US" dirty="0"/>
              <a:t>: Represents a test database used to provide test-friendly persistence operations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TestEntityManager.persist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Queues an INSERT command into the </a:t>
            </a:r>
            <a:r>
              <a:rPr lang="en-US" dirty="0" err="1"/>
              <a:t>TestEntityManager</a:t>
            </a:r>
            <a:r>
              <a:rPr lang="en-US" dirty="0"/>
              <a:t> for a given entity. Does not perform the insertion until flushed.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TestEntityManager.persistAndFlush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Persists an entity by immediately flushing an Insert command to hit the database immediately.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TestEntityManager.find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Retrieves an entity using its primary key</a:t>
            </a:r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886EF0-3F23-836E-8D38-8B4EEB452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Slices | Repository Layer</a:t>
            </a:r>
          </a:p>
        </p:txBody>
      </p:sp>
    </p:spTree>
    <p:extLst>
      <p:ext uri="{BB962C8B-B14F-4D97-AF65-F5344CB8AC3E}">
        <p14:creationId xmlns:p14="http://schemas.microsoft.com/office/powerpoint/2010/main" val="380899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5155B-CF9C-B0F5-DAEA-89200D588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09316-E7E4-0E3B-958D-7295EE9AA8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6060A6-68C6-A45C-6722-D62E4C5B4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217226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+mj-lt"/>
                <a:cs typeface="Courier New" panose="02070309020205020404" pitchFamily="49" charset="0"/>
              </a:rPr>
              <a:t>Note: If your production application has a custom schema, you will need to match that expectation for your tests.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@DataJpaTest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will pick up database config expectations 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application.properties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@Table(…schema = “…”)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annotation on Entity class.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Spring will automatically detect files in your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main/java/test/resources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’ directory.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Providing a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schema.sql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’ file will allow you to match the expected schema of your database.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5141E1-E7B7-8DA9-CAEE-6ECD31197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Slices | Repository Layer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9D1EC1-B3B7-7CC8-CD3F-EF6EA776C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362" y="5842628"/>
            <a:ext cx="5879276" cy="83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23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EC245-59AA-5B1F-671F-9A1E5B51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4200F8-F93E-3E8F-A4E4-E6288892BE7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6DF26EE7-E4DB-8B29-7768-4C0E6514D349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@SpringBootTest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849EB9-6DA2-DC64-B302-1AE456E99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645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58FE9-7E5E-0438-60E7-5CFC71BB6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A3E43-D39D-8185-0FFA-4E19B370E4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81A43F-7F6C-8ED0-9EFC-21130D14A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@SpringBootTest</a:t>
            </a:r>
            <a:r>
              <a:rPr lang="en-US" dirty="0"/>
              <a:t> is a class-level annotation which tells spring to load the full and actual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ApplicationContext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Every bean, wired together just as it would when the application actually runs</a:t>
            </a:r>
          </a:p>
          <a:p>
            <a:r>
              <a:rPr lang="en-US" dirty="0"/>
              <a:t>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@SpringBootTest</a:t>
            </a:r>
            <a:r>
              <a:rPr lang="en-US" dirty="0"/>
              <a:t>, everything is “real”, and as such, there is no need to mock beans</a:t>
            </a:r>
          </a:p>
          <a:p>
            <a:r>
              <a:rPr lang="en-US" dirty="0"/>
              <a:t>Tests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@SpringBootTest</a:t>
            </a:r>
            <a:r>
              <a:rPr lang="en-US" dirty="0"/>
              <a:t> are generally slowed to start, and touch far more of the application than a slice test.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60F763-0F2D-8960-2CCD-1B58067E1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Application Context</a:t>
            </a:r>
          </a:p>
        </p:txBody>
      </p:sp>
    </p:spTree>
    <p:extLst>
      <p:ext uri="{BB962C8B-B14F-4D97-AF65-F5344CB8AC3E}">
        <p14:creationId xmlns:p14="http://schemas.microsoft.com/office/powerpoint/2010/main" val="185852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695-F555-BB01-BAD9-0E602394D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95E0F-1273-5F34-DD23-D5B26ED018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B13397-A847-C223-6624-127DD8FC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/>
          </a:bodyPr>
          <a:lstStyle/>
          <a:p>
            <a:r>
              <a:rPr lang="en-US" dirty="0"/>
              <a:t>Slice tests intentionally stop short of loading everything</a:t>
            </a:r>
          </a:p>
          <a:p>
            <a:r>
              <a:rPr lang="en-US" dirty="0"/>
              <a:t>This means that we are mocking functionality for many tests, instead of checking how the entire application works together.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@SpringBootTest</a:t>
            </a:r>
            <a:r>
              <a:rPr lang="en-US" dirty="0"/>
              <a:t> allows you to perform genuine integration tests.</a:t>
            </a:r>
          </a:p>
          <a:p>
            <a:r>
              <a:rPr lang="en-US" dirty="0"/>
              <a:t>As a rule of thumb: reach for a slice test by default, and only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@SpringBootTest</a:t>
            </a:r>
            <a:r>
              <a:rPr lang="en-US" dirty="0"/>
              <a:t> when a slice structurally cannot prove what you need it to prove.</a:t>
            </a:r>
          </a:p>
          <a:p>
            <a:pPr lvl="1"/>
            <a:r>
              <a:rPr lang="en-US" dirty="0"/>
              <a:t>E.g. Testing actual endpoint security (instead of mocking an authenticated user)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B0FEF9B-0556-EF3A-0C47-D1C0043BB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Context vs Slice</a:t>
            </a:r>
          </a:p>
        </p:txBody>
      </p:sp>
    </p:spTree>
    <p:extLst>
      <p:ext uri="{BB962C8B-B14F-4D97-AF65-F5344CB8AC3E}">
        <p14:creationId xmlns:p14="http://schemas.microsoft.com/office/powerpoint/2010/main" val="3527618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928C1-B13B-84ED-00FE-6DEEE7517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CD466-78D9-20F5-3DD4-98A0666CD4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73F74E-2E29-9AFE-763E-38BA77034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Application Testing Levels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FB0F31-F016-7BCA-357E-380EFD164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856675"/>
              </p:ext>
            </p:extLst>
          </p:nvPr>
        </p:nvGraphicFramePr>
        <p:xfrm>
          <a:off x="159573" y="1681608"/>
          <a:ext cx="8824854" cy="405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455">
                  <a:extLst>
                    <a:ext uri="{9D8B030D-6E8A-4147-A177-3AD203B41FA5}">
                      <a16:colId xmlns:a16="http://schemas.microsoft.com/office/drawing/2014/main" val="4202507141"/>
                    </a:ext>
                  </a:extLst>
                </a:gridCol>
                <a:gridCol w="3418951">
                  <a:extLst>
                    <a:ext uri="{9D8B030D-6E8A-4147-A177-3AD203B41FA5}">
                      <a16:colId xmlns:a16="http://schemas.microsoft.com/office/drawing/2014/main" val="2653014772"/>
                    </a:ext>
                  </a:extLst>
                </a:gridCol>
                <a:gridCol w="3377448">
                  <a:extLst>
                    <a:ext uri="{9D8B030D-6E8A-4147-A177-3AD203B41FA5}">
                      <a16:colId xmlns:a16="http://schemas.microsoft.com/office/drawing/2014/main" val="3231311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Annotations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65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Unit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Verify one class’s logic in isolation – no spring context is required. 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Typically, only service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@Test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@Mock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@InjectMocks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@ExtendWith(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MockitoExtension.class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510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Slice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Light form of integration testing for a Spring application – wires beans narrowly for a specific layer under test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Default level for testing Spring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@WebMvcTest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@DataJpaTest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8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Integration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Full integration testing using the full </a:t>
                      </a:r>
                      <a:r>
                        <a:rPr lang="en-US" sz="1400" dirty="0" err="1"/>
                        <a:t>ApplicationContext</a:t>
                      </a:r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Level used to check full application flow and actual functionality together.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@SpringBootTest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08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1217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0A1D3-9601-9AA6-7994-8B4189D28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A97E48-18C5-404D-4902-47813F8DF8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291CD2C4-4C96-05E2-2EF1-AE1C4ADCF79A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Legacy: @MockBean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747DA2-E672-876A-7402-DC577AB87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20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D70D7-FC47-D7A2-54AC-9AC55059C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BD773-FAF4-56DC-0DCF-0070031ABF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98F985-07E1-6043-2DFC-25F0CC68F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@MockBean is a deprecated annotation, originally used in Spring Boot’s test suite.</a:t>
            </a:r>
          </a:p>
          <a:p>
            <a:r>
              <a:rPr lang="en-US" dirty="0"/>
              <a:t>Replaces beans in a test’s </a:t>
            </a:r>
            <a:r>
              <a:rPr lang="en-US" dirty="0" err="1"/>
              <a:t>ApplicationContext</a:t>
            </a:r>
            <a:r>
              <a:rPr lang="en-US" dirty="0"/>
              <a:t> with a Mockito mock.</a:t>
            </a:r>
          </a:p>
          <a:p>
            <a:pPr lvl="1"/>
            <a:r>
              <a:rPr lang="en-US" dirty="0"/>
              <a:t>Used inside @WebMvcTest classes, @SpringBootTest classes, and other slice tests</a:t>
            </a:r>
          </a:p>
          <a:p>
            <a:r>
              <a:rPr lang="en-US" dirty="0"/>
              <a:t>The capability to mock beans in the IoC container was generalized into Spring Framework itself.</a:t>
            </a:r>
          </a:p>
          <a:p>
            <a:pPr lvl="1"/>
            <a:r>
              <a:rPr lang="en-US" dirty="0"/>
              <a:t>As of Spring Framework 6.2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5A7B6E-0B12-4FB7-18AC-A5B6D1F9D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@MockBean?</a:t>
            </a:r>
          </a:p>
        </p:txBody>
      </p:sp>
    </p:spTree>
    <p:extLst>
      <p:ext uri="{BB962C8B-B14F-4D97-AF65-F5344CB8AC3E}">
        <p14:creationId xmlns:p14="http://schemas.microsoft.com/office/powerpoint/2010/main" val="2081695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0FFD6-1A79-3F2E-BF35-B70BF34C8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FA5A2-CFB3-8027-990B-56F87A3427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DAF236-3819-68FC-E9DC-F0C452999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@MockBean</a:t>
            </a:r>
            <a:r>
              <a:rPr lang="en-US" dirty="0"/>
              <a:t> existed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org.springframework.boot.test.mock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mockito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@MockitoBean</a:t>
            </a:r>
            <a:r>
              <a:rPr lang="en-US" dirty="0"/>
              <a:t> lives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org.springframework.test.context.bean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override.mockito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@MockBean</a:t>
            </a:r>
            <a:r>
              <a:rPr lang="en-US" dirty="0"/>
              <a:t> relied on Spring Boot’s own test context machinery whereas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@MockitoBean</a:t>
            </a:r>
            <a:r>
              <a:rPr lang="en-US" dirty="0"/>
              <a:t> is built on Spring Framework’s general-purpose bean override API</a:t>
            </a:r>
          </a:p>
          <a:p>
            <a:pPr lvl="1"/>
            <a:r>
              <a:rPr lang="en-US" dirty="0"/>
              <a:t>Provides more functionality</a:t>
            </a:r>
          </a:p>
          <a:p>
            <a:r>
              <a:rPr lang="en-US" dirty="0"/>
              <a:t>The two are nearly identical to use, so you should just be aware of how the framework has evolved to use this new tool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3086770-D103-ADA7-B3E5-CFA9D192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MockBean</a:t>
            </a:r>
            <a:r>
              <a:rPr lang="en-US" dirty="0"/>
              <a:t> vs @MockitoBean</a:t>
            </a:r>
          </a:p>
        </p:txBody>
      </p:sp>
    </p:spTree>
    <p:extLst>
      <p:ext uri="{BB962C8B-B14F-4D97-AF65-F5344CB8AC3E}">
        <p14:creationId xmlns:p14="http://schemas.microsoft.com/office/powerpoint/2010/main" val="2064038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9EDF-382F-EE1C-A7CA-CC9FC3F7B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088C61-DF83-CB44-918B-A450204E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401793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12630</TotalTime>
  <Words>1803</Words>
  <Application>Microsoft Office PowerPoint</Application>
  <PresentationFormat>On-screen Show (4:3)</PresentationFormat>
  <Paragraphs>190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2_Custom Design</vt:lpstr>
      <vt:lpstr>Spring Testing</vt:lpstr>
      <vt:lpstr>Outline</vt:lpstr>
      <vt:lpstr>PowerPoint Presentation</vt:lpstr>
      <vt:lpstr>Spring Test Setup</vt:lpstr>
      <vt:lpstr>Spring Test Setup</vt:lpstr>
      <vt:lpstr>PowerPoint Presentation</vt:lpstr>
      <vt:lpstr>Arrange, Act, Assert</vt:lpstr>
      <vt:lpstr>Testing across layers</vt:lpstr>
      <vt:lpstr>Unit Testing</vt:lpstr>
      <vt:lpstr>Unit Testing | Service Layer</vt:lpstr>
      <vt:lpstr>Unit Testing | Controller Layer</vt:lpstr>
      <vt:lpstr>Unit Testing | Controller Layer</vt:lpstr>
      <vt:lpstr>Test Slices</vt:lpstr>
      <vt:lpstr>Test Slices | Controller Layer</vt:lpstr>
      <vt:lpstr>Unit Testing | Repository Layer</vt:lpstr>
      <vt:lpstr>Test Slices | Repository Layer</vt:lpstr>
      <vt:lpstr>Test Slices | Repository Layer</vt:lpstr>
      <vt:lpstr>PowerPoint Presentation</vt:lpstr>
      <vt:lpstr>Full Application Context</vt:lpstr>
      <vt:lpstr>Full Context vs Slice</vt:lpstr>
      <vt:lpstr>Spring Application Testing Levels</vt:lpstr>
      <vt:lpstr>PowerPoint Presentation</vt:lpstr>
      <vt:lpstr>What is @MockBean?</vt:lpstr>
      <vt:lpstr>MockBean vs @MockitoBean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17</cp:revision>
  <cp:lastPrinted>2016-06-20T20:58:50Z</cp:lastPrinted>
  <dcterms:created xsi:type="dcterms:W3CDTF">2016-11-09T18:19:08Z</dcterms:created>
  <dcterms:modified xsi:type="dcterms:W3CDTF">2026-09-01T20:17:49Z</dcterms:modified>
</cp:coreProperties>
</file>