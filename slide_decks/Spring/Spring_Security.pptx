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357" r:id="rId4"/>
    <p:sldId id="343" r:id="rId5"/>
    <p:sldId id="457" r:id="rId6"/>
    <p:sldId id="443" r:id="rId7"/>
    <p:sldId id="444" r:id="rId8"/>
    <p:sldId id="458" r:id="rId9"/>
    <p:sldId id="445" r:id="rId10"/>
    <p:sldId id="446" r:id="rId11"/>
    <p:sldId id="459" r:id="rId12"/>
    <p:sldId id="460" r:id="rId13"/>
    <p:sldId id="447" r:id="rId14"/>
    <p:sldId id="448" r:id="rId15"/>
    <p:sldId id="461" r:id="rId16"/>
    <p:sldId id="462" r:id="rId17"/>
    <p:sldId id="449" r:id="rId18"/>
    <p:sldId id="450" r:id="rId19"/>
    <p:sldId id="463" r:id="rId20"/>
    <p:sldId id="451" r:id="rId21"/>
    <p:sldId id="452" r:id="rId22"/>
    <p:sldId id="465" r:id="rId23"/>
    <p:sldId id="467" r:id="rId24"/>
    <p:sldId id="466" r:id="rId25"/>
    <p:sldId id="471" r:id="rId26"/>
    <p:sldId id="468" r:id="rId27"/>
    <p:sldId id="469" r:id="rId28"/>
    <p:sldId id="472" r:id="rId29"/>
    <p:sldId id="473" r:id="rId30"/>
    <p:sldId id="455" r:id="rId31"/>
    <p:sldId id="456" r:id="rId32"/>
    <p:sldId id="474" r:id="rId33"/>
    <p:sldId id="475" r:id="rId34"/>
    <p:sldId id="476" r:id="rId35"/>
    <p:sldId id="477" r:id="rId36"/>
    <p:sldId id="478" r:id="rId37"/>
    <p:sldId id="479" r:id="rId38"/>
    <p:sldId id="464" r:id="rId39"/>
    <p:sldId id="480" r:id="rId4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Security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Security Basics</a:t>
            </a:r>
          </a:p>
          <a:p>
            <a:r>
              <a:rPr lang="en-US" dirty="0"/>
              <a:t>Authentication vs Authorization</a:t>
            </a:r>
          </a:p>
          <a:p>
            <a:r>
              <a:rPr lang="en-US" dirty="0"/>
              <a:t>Security Filter Chain</a:t>
            </a:r>
          </a:p>
          <a:p>
            <a:r>
              <a:rPr lang="en-US" dirty="0"/>
              <a:t>Authentication Providers</a:t>
            </a:r>
          </a:p>
          <a:p>
            <a:r>
              <a:rPr lang="en-US" dirty="0"/>
              <a:t>Password Encoding</a:t>
            </a:r>
          </a:p>
          <a:p>
            <a:r>
              <a:rPr lang="en-US" dirty="0"/>
              <a:t>Authorization</a:t>
            </a:r>
          </a:p>
          <a:p>
            <a:r>
              <a:rPr lang="en-US" dirty="0"/>
              <a:t>Cookies &amp; Session Management</a:t>
            </a:r>
          </a:p>
          <a:p>
            <a:r>
              <a:rPr lang="en-US" dirty="0"/>
              <a:t>CSRF &amp; CORS Basics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Security Basics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Security is Spring’s dedicated framework for handling </a:t>
            </a:r>
            <a:r>
              <a:rPr lang="en-US" b="1" i="1" dirty="0"/>
              <a:t>authentication and authorization</a:t>
            </a:r>
            <a:endParaRPr lang="en-US" i="1" dirty="0"/>
          </a:p>
          <a:p>
            <a:pPr lvl="1"/>
            <a:r>
              <a:rPr lang="en-US" dirty="0"/>
              <a:t>Protect web app endpoints</a:t>
            </a:r>
          </a:p>
          <a:p>
            <a:pPr lvl="1"/>
            <a:r>
              <a:rPr lang="en-US" dirty="0"/>
              <a:t>Authentication: verify who a user is</a:t>
            </a:r>
          </a:p>
          <a:p>
            <a:pPr lvl="1"/>
            <a:r>
              <a:rPr lang="en-US" dirty="0"/>
              <a:t>Authorization: control what a user is allowed to do</a:t>
            </a:r>
          </a:p>
          <a:p>
            <a:r>
              <a:rPr lang="en-US" dirty="0"/>
              <a:t>Starter Dependency: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ED981-9224-D1D1-573C-41590135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90" y="4456532"/>
            <a:ext cx="568721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9D2A-1541-CADB-8D75-C57845A0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C33C8-1825-4C49-7564-397626F153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CBBE2-2420-AFE7-9EEF-0402FB67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44621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Once added to a Spring Boot Project, Spring Security’s auto-configuration kicks in immediately.</a:t>
            </a:r>
          </a:p>
          <a:p>
            <a:pPr lvl="1"/>
            <a:r>
              <a:rPr lang="en-US" dirty="0"/>
              <a:t>Secure-by-default</a:t>
            </a:r>
          </a:p>
          <a:p>
            <a:pPr lvl="1"/>
            <a:r>
              <a:rPr lang="en-US" dirty="0"/>
              <a:t>Every single endpoint in the application requires authentication if no configuration is written by hand</a:t>
            </a:r>
          </a:p>
          <a:p>
            <a:r>
              <a:rPr lang="en-US" dirty="0"/>
              <a:t>Without custom configuration, Spring Boot’s auto-configuration will provide a default, temporary user to login with:</a:t>
            </a:r>
          </a:p>
          <a:p>
            <a:pPr lvl="1"/>
            <a:r>
              <a:rPr lang="en-US" dirty="0"/>
              <a:t>The default username is: ‘user’</a:t>
            </a:r>
          </a:p>
          <a:p>
            <a:pPr lvl="1"/>
            <a:r>
              <a:rPr lang="en-US" dirty="0"/>
              <a:t>The default password will be generated and printed to the console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EB7F5D-2076-8C20-A5C0-2A3D1AA9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C1D9F-A14A-A49E-93E6-BC8959AF2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3" y="5986400"/>
            <a:ext cx="7049484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5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CA47-D0D0-F596-FE69-A7043C0E2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CD810-03F8-EE2E-FCEE-56E3A9DD3E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04D074C-F036-F00F-3B11-8F814427B7B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Authentication vs Authorization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4A6CD4-82F0-C07E-00A2-B57F01E11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4780-0DDA-C291-D578-A651225E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CF307-BAA1-F272-635E-9A86484019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BDDD26-EC63-F611-21CB-338DB23E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b="1" i="1" dirty="0"/>
              <a:t>Authentication </a:t>
            </a:r>
            <a:r>
              <a:rPr lang="en-US" dirty="0"/>
              <a:t>and </a:t>
            </a:r>
            <a:r>
              <a:rPr lang="en-US" b="1" i="1" dirty="0"/>
              <a:t>Authorization</a:t>
            </a:r>
            <a:r>
              <a:rPr lang="en-US" dirty="0"/>
              <a:t> are two distinct concerns which are foundational to the security of any application.</a:t>
            </a:r>
          </a:p>
          <a:p>
            <a:r>
              <a:rPr lang="en-US" b="1" i="1" dirty="0"/>
              <a:t>Authentication </a:t>
            </a:r>
            <a:r>
              <a:rPr lang="en-US" dirty="0"/>
              <a:t>answers the question: “Who are you?</a:t>
            </a:r>
          </a:p>
          <a:p>
            <a:pPr lvl="1"/>
            <a:r>
              <a:rPr lang="en-US" dirty="0"/>
              <a:t>Typically this is checked by submitting a username and password (or some other known credential) against known and trusted data</a:t>
            </a:r>
          </a:p>
          <a:p>
            <a:r>
              <a:rPr lang="en-US" b="1" i="1" dirty="0"/>
              <a:t>Authorization</a:t>
            </a:r>
            <a:r>
              <a:rPr lang="en-US" dirty="0"/>
              <a:t> answers the question: “What are you allowed to do?”</a:t>
            </a:r>
          </a:p>
          <a:p>
            <a:pPr lvl="1"/>
            <a:r>
              <a:rPr lang="en-US" dirty="0"/>
              <a:t>Authorization is asked </a:t>
            </a:r>
            <a:r>
              <a:rPr lang="en-US" i="1" dirty="0"/>
              <a:t>after</a:t>
            </a:r>
            <a:r>
              <a:rPr lang="en-US" dirty="0"/>
              <a:t> authentication has succeeded</a:t>
            </a:r>
          </a:p>
          <a:p>
            <a:pPr lvl="1"/>
            <a:r>
              <a:rPr lang="en-US" dirty="0"/>
              <a:t>Authorization is detailed for already-known users based on permissions that user have been provided.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DAEFB1-9C20-1998-1A13-67DCB609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412676" cy="1224150"/>
          </a:xfrm>
        </p:spPr>
        <p:txBody>
          <a:bodyPr/>
          <a:lstStyle/>
          <a:p>
            <a:r>
              <a:rPr lang="en-US" dirty="0"/>
              <a:t>Authentication &amp; Authorization [Recap]</a:t>
            </a:r>
          </a:p>
        </p:txBody>
      </p:sp>
    </p:spTree>
    <p:extLst>
      <p:ext uri="{BB962C8B-B14F-4D97-AF65-F5344CB8AC3E}">
        <p14:creationId xmlns:p14="http://schemas.microsoft.com/office/powerpoint/2010/main" val="176203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944C-1E28-A6FC-CA77-FCFF4521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6A8A1-EC04-80BE-3E99-8B2F4BD6BE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A0F13-98FE-8D17-A468-3477DAD48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two concerns are </a:t>
            </a:r>
            <a:r>
              <a:rPr lang="en-US" b="1" i="1" dirty="0"/>
              <a:t>sequential and dependent</a:t>
            </a:r>
            <a:endParaRPr lang="en-US" dirty="0"/>
          </a:p>
          <a:p>
            <a:pPr lvl="1"/>
            <a:r>
              <a:rPr lang="en-US" dirty="0"/>
              <a:t>Authorization decisions are only meaningful once authentication has been established</a:t>
            </a:r>
          </a:p>
          <a:p>
            <a:pPr lvl="1"/>
            <a:r>
              <a:rPr lang="en-US" dirty="0"/>
              <a:t>E.g. A ‘Role’ on a user’s login details can determine what actions they have access to perform.</a:t>
            </a:r>
          </a:p>
          <a:p>
            <a:r>
              <a:rPr lang="en-US" dirty="0"/>
              <a:t>In HTTP, the failure of Authentication vs Authorization are represented by two different status codes: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401 Unauthorized</a:t>
            </a:r>
            <a:r>
              <a:rPr lang="en-US" dirty="0"/>
              <a:t>: An authentication failure </a:t>
            </a:r>
          </a:p>
          <a:p>
            <a:pPr lvl="2"/>
            <a:r>
              <a:rPr lang="en-US" dirty="0"/>
              <a:t>Despite the name, this is a failure to prove who you are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403 Forbidden</a:t>
            </a:r>
            <a:r>
              <a:rPr lang="en-US" dirty="0"/>
              <a:t>: An authorization failure.</a:t>
            </a:r>
          </a:p>
          <a:p>
            <a:pPr lvl="2"/>
            <a:r>
              <a:rPr lang="en-US" dirty="0"/>
              <a:t>An authenticated user is not permitted to some endpoint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FFC666B-7A6C-4C9B-304C-FEA3741C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412676" cy="1224150"/>
          </a:xfrm>
        </p:spPr>
        <p:txBody>
          <a:bodyPr/>
          <a:lstStyle/>
          <a:p>
            <a:r>
              <a:rPr lang="en-US" dirty="0"/>
              <a:t>Authentication &amp; Authorization [Recap]</a:t>
            </a:r>
          </a:p>
        </p:txBody>
      </p:sp>
    </p:spTree>
    <p:extLst>
      <p:ext uri="{BB962C8B-B14F-4D97-AF65-F5344CB8AC3E}">
        <p14:creationId xmlns:p14="http://schemas.microsoft.com/office/powerpoint/2010/main" val="353284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EBD2-CC4B-4E77-10CD-73C20505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21A2A4-8509-2D9A-A573-FB9AC6EDA7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F8302EA-AFA9-4B47-CA1A-AB4469B060C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Security Filter Chain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4193B-2AFB-4354-7AF0-EBEB8D7A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9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DC16-DE7A-8B3F-9856-183BF78B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E0281-B50D-579C-FEAA-F9918FB282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4E6CF-1119-8257-F0A0-E28B12883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Security Filter Chain is the actual mechanism Spring Security uses to intercept every incoming HTTP request to perform authentication</a:t>
            </a:r>
          </a:p>
          <a:p>
            <a:pPr lvl="1"/>
            <a:r>
              <a:rPr lang="en-US" dirty="0"/>
              <a:t>Built on Servlet Filters – a component that can inspect, modify or reject a request </a:t>
            </a:r>
            <a:r>
              <a:rPr lang="en-US" b="1" i="1" dirty="0"/>
              <a:t>before</a:t>
            </a:r>
            <a:r>
              <a:rPr lang="en-US" dirty="0"/>
              <a:t> it reached it’s intended destination</a:t>
            </a:r>
          </a:p>
          <a:p>
            <a:r>
              <a:rPr lang="en-US" dirty="0"/>
              <a:t>Spring Security registers many individual filters which are chained together.</a:t>
            </a:r>
          </a:p>
          <a:p>
            <a:r>
              <a:rPr lang="en-US" dirty="0"/>
              <a:t>Each filter is responsible for one specific piece of security-related processing.</a:t>
            </a:r>
          </a:p>
          <a:p>
            <a:r>
              <a:rPr lang="en-US" dirty="0"/>
              <a:t>A request passes through each filter in sequence, and any filter in the chain can stop the request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661E65-D629-E5A3-1AD2-C6D00E60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Filter Chain</a:t>
            </a:r>
          </a:p>
        </p:txBody>
      </p:sp>
    </p:spTree>
    <p:extLst>
      <p:ext uri="{BB962C8B-B14F-4D97-AF65-F5344CB8AC3E}">
        <p14:creationId xmlns:p14="http://schemas.microsoft.com/office/powerpoint/2010/main" val="19959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AEEE-4FE9-C5B7-E39E-DCE2F59B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572E8-7D9E-BE46-9CC4-4740AEF174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D0EC7B-AF6C-8C0E-0B2D-DF406876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Filter Chain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914F3A-B42A-9388-1BCC-B0AAC95E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7" y="2051973"/>
            <a:ext cx="8903451" cy="375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2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72F0-8269-1085-CC19-39A38CEA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ABA9E-6915-A6A1-9348-248D3C27DA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20317-2BB4-B7DA-4A4B-77D1462B5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Security Filter chain causes Spring Security to perform its work </a:t>
            </a:r>
            <a:r>
              <a:rPr lang="en-US" b="1" i="1" dirty="0"/>
              <a:t>entirely separately from</a:t>
            </a:r>
            <a:r>
              <a:rPr lang="en-US" dirty="0"/>
              <a:t>, and </a:t>
            </a:r>
            <a:r>
              <a:rPr lang="en-US" b="1" i="1" dirty="0"/>
              <a:t>before</a:t>
            </a:r>
            <a:r>
              <a:rPr lang="en-US" dirty="0"/>
              <a:t> Spring Web MVC handles any request</a:t>
            </a:r>
          </a:p>
          <a:p>
            <a:r>
              <a:rPr lang="en-US" dirty="0"/>
              <a:t>Some important filters in a typical chain include:</a:t>
            </a:r>
          </a:p>
          <a:p>
            <a:pPr lvl="1"/>
            <a:r>
              <a:rPr lang="en-US" dirty="0"/>
              <a:t>A filter responsible for extracting credentials from the request</a:t>
            </a:r>
          </a:p>
          <a:p>
            <a:pPr lvl="1"/>
            <a:r>
              <a:rPr lang="en-US" dirty="0"/>
              <a:t>A filter responsible for performing authentication</a:t>
            </a:r>
          </a:p>
          <a:p>
            <a:pPr lvl="1"/>
            <a:r>
              <a:rPr lang="en-US" dirty="0"/>
              <a:t>A filter responsible for enforcing authorization rules</a:t>
            </a:r>
          </a:p>
          <a:p>
            <a:r>
              <a:rPr lang="en-US" dirty="0"/>
              <a:t>The filter chain is configured through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</a:t>
            </a:r>
            <a:r>
              <a:rPr lang="en-US" dirty="0"/>
              <a:t> bean – defined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@Configuration</a:t>
            </a:r>
            <a:r>
              <a:rPr lang="en-US" dirty="0"/>
              <a:t> class</a:t>
            </a:r>
          </a:p>
          <a:p>
            <a:pPr lvl="1"/>
            <a:r>
              <a:rPr lang="en-US" dirty="0"/>
              <a:t>This is typically where configuration takes place, rather than configuring through </a:t>
            </a:r>
            <a:r>
              <a:rPr lang="en-US" dirty="0" err="1"/>
              <a:t>application.properties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C9DB1D-1F55-1A49-BCC8-999FCE82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Filter Chain</a:t>
            </a:r>
          </a:p>
        </p:txBody>
      </p:sp>
    </p:spTree>
    <p:extLst>
      <p:ext uri="{BB962C8B-B14F-4D97-AF65-F5344CB8AC3E}">
        <p14:creationId xmlns:p14="http://schemas.microsoft.com/office/powerpoint/2010/main" val="91471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EDD8-611A-D912-FDC9-03CFDA05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96559-98DC-0106-81B8-38A9B9BCFC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D53FB36-EF25-555F-07D7-E444A7B09EF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Authentication Providers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F36D3-ABEF-DBDA-98C2-4E6B8279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4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6502-EAF4-770C-B1B8-C51D0AD6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12AF-0613-2DD8-A781-5DA7C2BB6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8ED75-32D4-7917-38A2-B1E2E2D6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a typical Filter Chain, a filter is used to perform authentication against a user’s credentials.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AuthenticationProvider</a:t>
            </a:r>
            <a:r>
              <a:rPr lang="en-US" dirty="0"/>
              <a:t> is an interface responsible for the actual logic to verify submitted credentials.</a:t>
            </a:r>
          </a:p>
          <a:p>
            <a:r>
              <a:rPr lang="en-US" dirty="0"/>
              <a:t>Spring Security ships with a default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AuthenticationProvider</a:t>
            </a:r>
            <a:r>
              <a:rPr lang="en-US" dirty="0"/>
              <a:t> implementation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DaoAuthenticationProvider</a:t>
            </a:r>
            <a:r>
              <a:rPr lang="en-US" dirty="0"/>
              <a:t>) which handles the comparison logic itself.</a:t>
            </a:r>
          </a:p>
          <a:p>
            <a:r>
              <a:rPr lang="en-US" dirty="0"/>
              <a:t>Alone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DaoAuthenticationProvider</a:t>
            </a:r>
            <a:r>
              <a:rPr lang="en-US" dirty="0"/>
              <a:t> doesn’t know where the real user data actually lives.</a:t>
            </a:r>
          </a:p>
          <a:p>
            <a:r>
              <a:rPr lang="en-US" dirty="0"/>
              <a:t>Locating the data is a responsibility that should be handed off to a service which is responsible for returning user data –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UserDetailsService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C2F9E6-E285-AB75-BAAC-CC430974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Providers</a:t>
            </a:r>
          </a:p>
        </p:txBody>
      </p:sp>
    </p:spTree>
    <p:extLst>
      <p:ext uri="{BB962C8B-B14F-4D97-AF65-F5344CB8AC3E}">
        <p14:creationId xmlns:p14="http://schemas.microsoft.com/office/powerpoint/2010/main" val="218534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4F4-1FC4-6621-A5B5-87DF96FD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2E024-B565-36DF-ED0B-DF8F7FA911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E2523-A09D-B43A-7CFF-4163A0BB2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UserDetailsService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</a:t>
            </a:r>
            <a:r>
              <a:rPr lang="en-US" dirty="0"/>
              <a:t> are Spring Security’s own representation of “a user”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</a:t>
            </a:r>
            <a:r>
              <a:rPr lang="en-US" dirty="0"/>
              <a:t> includes the username, the (hashed) password, and the user’s granted authorities (roles/permissions)</a:t>
            </a:r>
          </a:p>
          <a:p>
            <a:r>
              <a:rPr lang="en-US" dirty="0"/>
              <a:t>A common pattern is to create a separate Adapter class to separate your Database entities from your Security beans</a:t>
            </a:r>
          </a:p>
          <a:p>
            <a:pPr lvl="1"/>
            <a:r>
              <a:rPr lang="en-US" dirty="0"/>
              <a:t>NOTE: You </a:t>
            </a:r>
            <a:r>
              <a:rPr lang="en-US" i="1" dirty="0"/>
              <a:t>can</a:t>
            </a:r>
            <a:r>
              <a:rPr lang="en-US" dirty="0"/>
              <a:t> just implement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</a:t>
            </a:r>
            <a:r>
              <a:rPr lang="en-US" dirty="0"/>
              <a:t> on your entity class directly; however, this is typically seen as poor design (changes to your database representation should not impact how authentication is viewed)</a:t>
            </a:r>
            <a:endParaRPr lang="en-US" i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5E5672-25D3-17D1-F025-F5AF9EF6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UserDetailsService</a:t>
            </a:r>
            <a:r>
              <a:rPr lang="en-US" dirty="0"/>
              <a:t> &amp; </a:t>
            </a:r>
            <a:r>
              <a:rPr lang="en-US" dirty="0" err="1"/>
              <a:t>UserDetails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4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8B21-D418-00C3-5875-C64107EC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F3D92-3D69-53AB-6CC2-D47B6FEE95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E02AF-2BB6-8179-95E7-10BF11A4E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The Adapter design pattern is a structural pattern used to allow objects with incompatible interfaces to collaborate.</a:t>
            </a:r>
          </a:p>
          <a:p>
            <a:r>
              <a:rPr lang="en-US" dirty="0"/>
              <a:t>The Adapter pattern is achieved by creating a special object that wraps one entity, and performs the conversion logic. </a:t>
            </a:r>
          </a:p>
          <a:p>
            <a:r>
              <a:rPr lang="en-US" dirty="0"/>
              <a:t>This pattern hides the complexity of the conversion behind the wrapper, allowing you to focus only on the data needed for the conversion.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77C345-FACB-DC9A-C8C5-9BFBC123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Pattern</a:t>
            </a:r>
          </a:p>
        </p:txBody>
      </p:sp>
    </p:spTree>
    <p:extLst>
      <p:ext uri="{BB962C8B-B14F-4D97-AF65-F5344CB8AC3E}">
        <p14:creationId xmlns:p14="http://schemas.microsoft.com/office/powerpoint/2010/main" val="132374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B60E-3B2C-CD34-CAA1-434B5C7B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5B59D-6192-9F1A-7878-FAE52BA212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5D61D0D-99CE-9F85-4D6F-739247422BB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Password Encoding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5EE92D-6FA9-8D25-8BE4-734AABBCB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14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6A4A4-CDD4-1F09-582B-A629027C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98F78-853E-479B-AD2A-EA2DC572C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0E3A3-654A-26BD-44CF-B1ABCD22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Storing plain text passwords is a serious, well-known security risk.</a:t>
            </a:r>
          </a:p>
          <a:p>
            <a:pPr lvl="1"/>
            <a:r>
              <a:rPr lang="en-US" dirty="0"/>
              <a:t>If a database is ever compromised, ever user’s actual password can become immediately exposed.</a:t>
            </a:r>
          </a:p>
          <a:p>
            <a:r>
              <a:rPr lang="en-US" dirty="0"/>
              <a:t>The standard solution to this is </a:t>
            </a:r>
            <a:r>
              <a:rPr lang="en-US" b="1" dirty="0"/>
              <a:t>password hashing</a:t>
            </a:r>
            <a:endParaRPr lang="en-US" dirty="0"/>
          </a:p>
          <a:p>
            <a:r>
              <a:rPr lang="en-US" b="1" dirty="0"/>
              <a:t>Hashing</a:t>
            </a:r>
            <a:r>
              <a:rPr lang="en-US" dirty="0"/>
              <a:t>: passing a value through a one-way mathematical function that transforms it into a fixed-length, seemingly random string from which the original cannot practically be recovered.</a:t>
            </a:r>
          </a:p>
          <a:p>
            <a:r>
              <a:rPr lang="en-US" dirty="0"/>
              <a:t>Note: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DaoAuthenticationProvider</a:t>
            </a:r>
            <a:r>
              <a:rPr lang="en-US" dirty="0"/>
              <a:t> requires passwords to be encoded – so you </a:t>
            </a:r>
            <a:r>
              <a:rPr lang="en-US" b="1" i="1" dirty="0"/>
              <a:t>must</a:t>
            </a:r>
            <a:r>
              <a:rPr lang="en-US" dirty="0"/>
              <a:t> register a password encoder when creating your own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596950-C432-77EA-8674-897949C0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Encoding</a:t>
            </a:r>
          </a:p>
        </p:txBody>
      </p:sp>
    </p:spTree>
    <p:extLst>
      <p:ext uri="{BB962C8B-B14F-4D97-AF65-F5344CB8AC3E}">
        <p14:creationId xmlns:p14="http://schemas.microsoft.com/office/powerpoint/2010/main" val="289194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9DBD5-A43F-FA62-656D-EBE0974B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FD797-BA23-CCDB-A04B-4462C25256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C27DC-6520-39C6-74E7-00C6BB746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Security expresses hashing through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PasswordEncoder</a:t>
            </a:r>
            <a:r>
              <a:rPr lang="en-US" dirty="0"/>
              <a:t> interface.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PasswordEncoder</a:t>
            </a:r>
            <a:r>
              <a:rPr lang="en-US" dirty="0"/>
              <a:t> is a single abstraction that covers both </a:t>
            </a:r>
            <a:r>
              <a:rPr lang="en-US" b="1" i="1" dirty="0"/>
              <a:t>encoding</a:t>
            </a:r>
            <a:r>
              <a:rPr lang="en-US" dirty="0"/>
              <a:t> (hashing a raw password for storage) and </a:t>
            </a:r>
            <a:r>
              <a:rPr lang="en-US" b="1" i="1" dirty="0"/>
              <a:t>matching</a:t>
            </a:r>
            <a:r>
              <a:rPr lang="en-US" dirty="0"/>
              <a:t> (checking whether a raw, submitted password corresponds to a previously hashed one)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BCryptPasswordEncoder</a:t>
            </a:r>
            <a:r>
              <a:rPr lang="en-US" dirty="0"/>
              <a:t> is Spring Security’s standard, recommended implementation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AF252E-5F01-7782-54B9-295E7ED5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Encoding</a:t>
            </a:r>
          </a:p>
        </p:txBody>
      </p:sp>
    </p:spTree>
    <p:extLst>
      <p:ext uri="{BB962C8B-B14F-4D97-AF65-F5344CB8AC3E}">
        <p14:creationId xmlns:p14="http://schemas.microsoft.com/office/powerpoint/2010/main" val="105126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BDC8-AC04-80DD-E2CB-CBAA5819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8EC47E-16CA-90A7-5BB3-73C3CA6F5B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CD1A98F-D9E7-BB82-7A6B-2A1C0F1EEE6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012B9C-6C1C-EF3F-29D8-38FE9FC6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83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5727A-08BD-4956-5F6C-CC253BB5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1D0E5-64D5-6921-FFEB-372454A8B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EB6F1-3E43-7C74-B3EE-83748E049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51294"/>
            <a:ext cx="8383980" cy="53775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Authorization is Spring Security can be enforced at </a:t>
            </a:r>
            <a:r>
              <a:rPr lang="en-US" b="1" i="1" dirty="0"/>
              <a:t>two different levels</a:t>
            </a:r>
            <a:endParaRPr lang="en-US" dirty="0"/>
          </a:p>
          <a:p>
            <a:pPr lvl="1"/>
            <a:r>
              <a:rPr lang="en-US" dirty="0"/>
              <a:t>URL-based authorization:</a:t>
            </a:r>
          </a:p>
          <a:p>
            <a:pPr lvl="2"/>
            <a:r>
              <a:rPr lang="en-US" dirty="0"/>
              <a:t>Configured directly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</a:t>
            </a:r>
            <a:r>
              <a:rPr lang="en-US" dirty="0"/>
              <a:t> bean</a:t>
            </a:r>
          </a:p>
          <a:p>
            <a:pPr lvl="2"/>
            <a:r>
              <a:rPr lang="en-US" dirty="0"/>
              <a:t>Restricts access based on the request path itself (i.e. “only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ROLE_ADMIN</a:t>
            </a:r>
            <a:r>
              <a:rPr lang="en-US" dirty="0"/>
              <a:t> may access anything under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/logins</a:t>
            </a:r>
            <a:r>
              <a:rPr lang="en-US" dirty="0"/>
              <a:t> endpoint”)</a:t>
            </a:r>
          </a:p>
          <a:p>
            <a:pPr lvl="1"/>
            <a:r>
              <a:rPr lang="en-US" dirty="0"/>
              <a:t>Method-level authorization</a:t>
            </a:r>
          </a:p>
          <a:p>
            <a:pPr lvl="2"/>
            <a:r>
              <a:rPr lang="en-US" dirty="0"/>
              <a:t>Configured directly on individual service or controller methods</a:t>
            </a:r>
          </a:p>
          <a:p>
            <a:pPr lvl="2"/>
            <a:r>
              <a:rPr lang="en-US" dirty="0"/>
              <a:t>Restricts access based on what that </a:t>
            </a:r>
            <a:r>
              <a:rPr lang="en-US" i="1" dirty="0"/>
              <a:t>specific method</a:t>
            </a:r>
            <a:r>
              <a:rPr lang="en-US" dirty="0"/>
              <a:t> does, regardless of which URL happens to route to it</a:t>
            </a:r>
          </a:p>
          <a:p>
            <a:r>
              <a:rPr lang="en-US" dirty="0"/>
              <a:t>The decision of which to use comes down to your goals with your endpoints:</a:t>
            </a:r>
          </a:p>
          <a:p>
            <a:pPr lvl="1"/>
            <a:r>
              <a:rPr lang="en-US" dirty="0"/>
              <a:t>Use URL-based authorization if you have general rules to apply to a top-level endpoint</a:t>
            </a:r>
          </a:p>
          <a:p>
            <a:pPr lvl="1"/>
            <a:r>
              <a:rPr lang="en-US" dirty="0"/>
              <a:t>Use Method-level Authorization when you need finer-grained control.</a:t>
            </a:r>
          </a:p>
          <a:p>
            <a:pPr lvl="1"/>
            <a:r>
              <a:rPr lang="en-US" dirty="0"/>
              <a:t>Note that URL based authorization is evaluated first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163E1-DFD1-F4B6-A65D-6711CBAA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</a:t>
            </a:r>
          </a:p>
        </p:txBody>
      </p:sp>
    </p:spTree>
    <p:extLst>
      <p:ext uri="{BB962C8B-B14F-4D97-AF65-F5344CB8AC3E}">
        <p14:creationId xmlns:p14="http://schemas.microsoft.com/office/powerpoint/2010/main" val="400031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DDC6-1ECE-8FFA-9C65-6C0842BF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3F50D-0E9B-BE9B-9259-6AFE33647A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ACB743-30A7-FE8B-2DE0-9C6850256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URL-based authorization uses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hasRole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  (and related matchers) inside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authorizeHttpRequests</a:t>
            </a:r>
            <a:r>
              <a:rPr lang="en-US" dirty="0"/>
              <a:t> block of your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Passing a string into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hasRole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checks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GrantedAuthority</a:t>
            </a:r>
            <a:r>
              <a:rPr lang="en-US" dirty="0"/>
              <a:t> on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</a:t>
            </a:r>
            <a:r>
              <a:rPr lang="en-US" dirty="0"/>
              <a:t> object.</a:t>
            </a:r>
          </a:p>
          <a:p>
            <a:pPr lvl="1"/>
            <a:r>
              <a:rPr lang="en-US" dirty="0"/>
              <a:t>Note: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ROLE_</a:t>
            </a:r>
            <a:r>
              <a:rPr lang="en-US" dirty="0"/>
              <a:t>” is prefixed in this check, so: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hasRole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(“ADMIN”)</a:t>
            </a:r>
            <a:r>
              <a:rPr lang="en-US" dirty="0"/>
              <a:t> actually checks the string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“ROLE_ADMIN”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A2F71E-1648-EC29-1F9B-2F5E322D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| URL Authorization</a:t>
            </a:r>
          </a:p>
        </p:txBody>
      </p:sp>
    </p:spTree>
    <p:extLst>
      <p:ext uri="{BB962C8B-B14F-4D97-AF65-F5344CB8AC3E}">
        <p14:creationId xmlns:p14="http://schemas.microsoft.com/office/powerpoint/2010/main" val="242983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C274-29D7-C997-B1A3-312EC8BE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7DD8-D835-63E5-D602-9CD7D9A96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17BE8-FCAD-BC72-40FF-306190D6A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If different endpoints for your application require different role or permissions, then it is typical to create multiple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You may only have a single “</a:t>
            </a:r>
            <a:r>
              <a:rPr lang="en-US" dirty="0" err="1"/>
              <a:t>fall-back</a:t>
            </a:r>
            <a:r>
              <a:rPr lang="en-US" dirty="0"/>
              <a:t>” chain </a:t>
            </a:r>
          </a:p>
          <a:p>
            <a:pPr lvl="1"/>
            <a:r>
              <a:rPr lang="en-US" dirty="0"/>
              <a:t>i.e. You can only have a single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</a:t>
            </a:r>
            <a:r>
              <a:rPr lang="en-US" dirty="0"/>
              <a:t> that does not specify an endpoint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securityMatcher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</a:p>
          <a:p>
            <a:r>
              <a:rPr lang="en-US" dirty="0"/>
              <a:t>If you define multiple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SecurityFilterChains</a:t>
            </a:r>
            <a:r>
              <a:rPr lang="en-US" dirty="0"/>
              <a:t>, you must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@Order</a:t>
            </a:r>
            <a:r>
              <a:rPr lang="en-US" dirty="0"/>
              <a:t> annotation</a:t>
            </a:r>
          </a:p>
          <a:p>
            <a:pPr lvl="1"/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SecurityFilterChains</a:t>
            </a:r>
            <a:r>
              <a:rPr lang="en-US" dirty="0"/>
              <a:t> are evaluated in the order specified, so the first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securityMatcher</a:t>
            </a:r>
            <a:r>
              <a:rPr lang="en-US" dirty="0"/>
              <a:t> that matches the request is used.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DC48EA-5E09-6ACD-C4FB-ED0509C1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| URL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85310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FEC2C-54EA-39E7-3C36-00E61BB4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B9224-B6BA-E3AA-D63E-D4414976C0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06C7CB-D561-74A6-64E7-4B894D2AD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 order to enable Method-level authorization, a Configuration class is needed, which is annotated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@EnableMethodSecurity</a:t>
            </a:r>
            <a:r>
              <a:rPr lang="en-US" dirty="0"/>
              <a:t>.</a:t>
            </a:r>
          </a:p>
          <a:p>
            <a:r>
              <a:rPr lang="en-US" dirty="0"/>
              <a:t>Method-level authorization uses annotations (most commonly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@PreAuthorize</a:t>
            </a:r>
            <a:r>
              <a:rPr lang="en-US" dirty="0"/>
              <a:t>), placed directly on a method.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@PreAuthorize</a:t>
            </a:r>
            <a:r>
              <a:rPr lang="en-US" dirty="0"/>
              <a:t> accepts a Spring Expression Language (</a:t>
            </a:r>
            <a:r>
              <a:rPr lang="en-US" dirty="0" err="1"/>
              <a:t>SpEL</a:t>
            </a:r>
            <a:r>
              <a:rPr lang="en-US" dirty="0"/>
              <a:t>) string, which is evaluated at the moment the method is called</a:t>
            </a:r>
          </a:p>
          <a:p>
            <a:r>
              <a:rPr lang="en-US" dirty="0"/>
              <a:t>These annotations are checked </a:t>
            </a:r>
            <a:r>
              <a:rPr lang="en-US" b="1" i="1" dirty="0"/>
              <a:t>before</a:t>
            </a:r>
            <a:r>
              <a:rPr lang="en-US" dirty="0"/>
              <a:t> that method is allowed to execute at all.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0853A9-D8CC-D1C4-6639-1BECAF87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| Method-based Authorization</a:t>
            </a:r>
          </a:p>
        </p:txBody>
      </p:sp>
    </p:spTree>
    <p:extLst>
      <p:ext uri="{BB962C8B-B14F-4D97-AF65-F5344CB8AC3E}">
        <p14:creationId xmlns:p14="http://schemas.microsoft.com/office/powerpoint/2010/main" val="83162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E224-9BCB-6F12-5770-B14899D3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0ADD5-FE0F-0F46-B7C3-7DAD789064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734C8-37C6-0D13-2692-B794128D3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3167744"/>
            <a:ext cx="8383980" cy="356109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Spring Security builds a Root context object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MethodSecurityExpressionRoot</a:t>
            </a:r>
            <a:r>
              <a:rPr lang="en-US" dirty="0"/>
              <a:t>) when evaluating an expression.</a:t>
            </a:r>
          </a:p>
          <a:p>
            <a:r>
              <a:rPr lang="en-US" dirty="0"/>
              <a:t>This root context object is given an authentication property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Authentication</a:t>
            </a:r>
            <a:r>
              <a:rPr lang="en-US" dirty="0"/>
              <a:t> object before the expression is evaluated.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hasRole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(‘Admin’)</a:t>
            </a:r>
            <a:r>
              <a:rPr lang="en-US" dirty="0"/>
              <a:t> – calls the </a:t>
            </a:r>
            <a:r>
              <a:rPr lang="en-US" dirty="0" err="1"/>
              <a:t>hasRole</a:t>
            </a:r>
            <a:r>
              <a:rPr lang="en-US" dirty="0"/>
              <a:t> method on the context object – checking the role of the authenticated user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@employeeLoginService</a:t>
            </a:r>
            <a:r>
              <a:rPr lang="en-US" dirty="0"/>
              <a:t> – reference to a registered bean. </a:t>
            </a:r>
          </a:p>
          <a:p>
            <a:pPr lvl="1"/>
            <a:r>
              <a:rPr lang="en-US" dirty="0"/>
              <a:t>Note the ‘@’ in Spring is used to reference registered beans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#empId</a:t>
            </a:r>
            <a:r>
              <a:rPr lang="en-US" dirty="0"/>
              <a:t> – reference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en-US" dirty="0"/>
              <a:t>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getPaychecksByEmployee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method.</a:t>
            </a:r>
          </a:p>
          <a:p>
            <a:pPr lvl="1"/>
            <a:r>
              <a:rPr lang="en-US" dirty="0"/>
              <a:t>Note: Spring security binds the method parameters to the context using under their own name (using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setVariables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). This uses the reflections </a:t>
            </a:r>
            <a:r>
              <a:rPr lang="en-US" dirty="0" err="1"/>
              <a:t>api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4F4E09-3D09-8570-4B2C-0DDA862D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 </a:t>
            </a:r>
            <a:r>
              <a:rPr lang="en-US" dirty="0" err="1"/>
              <a:t>SpEL</a:t>
            </a:r>
            <a:r>
              <a:rPr lang="en-US" dirty="0"/>
              <a:t> Context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425ECD-636A-E6D8-DFFF-60671EB0C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79" y="1481584"/>
            <a:ext cx="746864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C78C-8B4D-DD83-B2D3-22F7D483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0C9A39-D44E-21D4-6DBE-A5A15817B8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2F4B467-B2AE-9399-F69F-7FC9FC77E07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Cookies &amp; Session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08E26-11AC-10CE-424E-BBF5D15C5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10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A89F-74DD-B447-D222-80693F6F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EA7E8-D5E9-B01B-CC5C-9C5C640614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2FF6E-59FA-B558-430E-6D0CBBFBB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HTTP itself is fundamentally stateless. Without some additional mechanism, a user would need to re-authenticate on every single request.</a:t>
            </a:r>
          </a:p>
          <a:p>
            <a:r>
              <a:rPr lang="en-US" dirty="0"/>
              <a:t>Spring Security’s default solution to this issue is to create an </a:t>
            </a:r>
            <a:r>
              <a:rPr lang="en-US" dirty="0" err="1"/>
              <a:t>HttpSession</a:t>
            </a:r>
            <a:r>
              <a:rPr lang="en-US" dirty="0"/>
              <a:t> and store the authenticated user’s identity in it.</a:t>
            </a:r>
          </a:p>
          <a:p>
            <a:pPr lvl="1"/>
            <a:r>
              <a:rPr lang="en-US" dirty="0"/>
              <a:t>This gives the browser a </a:t>
            </a:r>
            <a:r>
              <a:rPr lang="en-US" b="1" i="1" dirty="0"/>
              <a:t>cookie</a:t>
            </a:r>
            <a:r>
              <a:rPr lang="en-US" dirty="0"/>
              <a:t> (by default named </a:t>
            </a:r>
            <a:r>
              <a:rPr lang="en-US" b="1" dirty="0"/>
              <a:t>JSESSIONID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cookie references the user’s session</a:t>
            </a:r>
          </a:p>
          <a:p>
            <a:r>
              <a:rPr lang="en-US" dirty="0"/>
              <a:t>On subsequent requests, the browser automatically includes that cookie, allowing the server recognize the user.</a:t>
            </a:r>
          </a:p>
          <a:p>
            <a:pPr lvl="1"/>
            <a:r>
              <a:rPr lang="en-US" dirty="0"/>
              <a:t>Note: Since this is default behavior of your browser, a frontend created with Angular or React will automatically leverage this behavior so long as you include the correct header information.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428928-A2CC-1B12-BBC5-FF62BF86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 Sessions</a:t>
            </a:r>
          </a:p>
        </p:txBody>
      </p:sp>
    </p:spTree>
    <p:extLst>
      <p:ext uri="{BB962C8B-B14F-4D97-AF65-F5344CB8AC3E}">
        <p14:creationId xmlns:p14="http://schemas.microsoft.com/office/powerpoint/2010/main" val="5363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9CCC-9DC2-68B7-9292-294B31C5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87822-E0AB-12E3-98F6-7954AB316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1D21C-F50D-D621-6F20-F3FEA4DE2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After a session is created, the authenticated user’s identity is available </a:t>
            </a:r>
            <a:r>
              <a:rPr lang="en-US" b="1" i="1" dirty="0"/>
              <a:t>throughout</a:t>
            </a:r>
            <a:r>
              <a:rPr lang="en-US" dirty="0"/>
              <a:t> the application via a </a:t>
            </a:r>
            <a:r>
              <a:rPr lang="en-US" b="1" i="1" dirty="0" err="1"/>
              <a:t>SecurityContextHolder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can access details about the currently authenticated user from the Context of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SecurityContextHolder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474650-470F-A53E-7728-6AD33410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 Sessions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3DF690-682C-231A-2CCE-CF3F840E7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4" y="4191708"/>
            <a:ext cx="8507012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1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51F1-23DC-AD1A-930F-45F71E74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6F2AA-24C2-0C98-3D8A-C2DC656032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264390-C12A-72D9-54C3-FC7468A9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93093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To log out of your application, you simply need to invalidate the current session in Spring.</a:t>
            </a:r>
          </a:p>
          <a:p>
            <a:pPr lvl="1"/>
            <a:r>
              <a:rPr lang="en-US" dirty="0"/>
              <a:t>Spring Security automatically provides an endpoint with a simple button that can perform this operation.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http://localhost:8080/logout</a:t>
            </a:r>
          </a:p>
          <a:p>
            <a:r>
              <a:rPr lang="en-US" dirty="0"/>
              <a:t>Typically, this is controlled via a post request in your frontend application to the default endpoint.</a:t>
            </a:r>
          </a:p>
          <a:p>
            <a:r>
              <a:rPr lang="en-US" dirty="0"/>
              <a:t>Alternatively, you can create a custom endpoint in your application to handle this logic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E270DA-87BD-791B-A59B-F94F7894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 Sessions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5CE9F-96B7-7BC5-0696-3C0E7122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85" y="4412376"/>
            <a:ext cx="6487430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9173-CF08-7D32-264F-711C5840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6DB2BA-EA71-6AD5-5BDD-661ED58B44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12AF847-DA6A-78D3-8600-28162D1A8CA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CSRF &amp; CORS Basics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2C5C0-9388-B43B-C9EB-76A86092F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15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A5C8A-EB4B-4CF8-D3D9-56FB62D3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A1CA1-EF29-0239-B5FE-3492FE5784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55344-8371-267E-D7B8-7F22F5A3A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With a basic Security Chain (including Spring Security’s defaults) – you might notice that your frontend application, including forms cause many 401 errors.</a:t>
            </a:r>
          </a:p>
          <a:p>
            <a:pPr lvl="1"/>
            <a:r>
              <a:rPr lang="en-US" dirty="0"/>
              <a:t>This is due to standard, browser-built security implementations for CORS and CSRF.</a:t>
            </a:r>
          </a:p>
          <a:p>
            <a:r>
              <a:rPr lang="en-US" b="1" dirty="0"/>
              <a:t>Cross-Origin Resource Sharing (CORS)</a:t>
            </a:r>
            <a:r>
              <a:rPr lang="en-US" dirty="0"/>
              <a:t>: Determines which origins (client endpoints) are allowed to read a response from your API</a:t>
            </a:r>
          </a:p>
          <a:p>
            <a:r>
              <a:rPr lang="en-US" b="1" dirty="0"/>
              <a:t>Cross-Site Request Forgery (CSRF)</a:t>
            </a:r>
            <a:r>
              <a:rPr lang="en-US" dirty="0"/>
              <a:t>: Prevents a malicious site from tricking a logged-in user’s browser into submitting an unwanted request.</a:t>
            </a:r>
          </a:p>
          <a:p>
            <a:pPr lvl="1"/>
            <a:r>
              <a:rPr lang="en-US" dirty="0"/>
              <a:t>i.e. It protects users’ authenticated sessions.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E96BD7-CFFC-20E2-2EEF-C9C9A3B8E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CSRF &amp; CORS Basics</a:t>
            </a:r>
          </a:p>
        </p:txBody>
      </p:sp>
    </p:spTree>
    <p:extLst>
      <p:ext uri="{BB962C8B-B14F-4D97-AF65-F5344CB8AC3E}">
        <p14:creationId xmlns:p14="http://schemas.microsoft.com/office/powerpoint/2010/main" val="244499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26AB-1358-4320-594B-185FC78C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4A79B-02FF-A5BD-FB28-CF2E8456D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2F9E16-5928-9DF1-2A15-3E8209738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CORS is enforced entirely by the browser.</a:t>
            </a:r>
          </a:p>
          <a:p>
            <a:pPr lvl="1"/>
            <a:r>
              <a:rPr lang="en-US" dirty="0"/>
              <a:t>A server can technically respond to any cross-origin request it receives. </a:t>
            </a:r>
          </a:p>
          <a:p>
            <a:pPr lvl="1"/>
            <a:r>
              <a:rPr lang="en-US" dirty="0"/>
              <a:t>The browser will block the frontend JavaScript code from reading that response unless the server’s response includes specific healers permitting it.</a:t>
            </a:r>
          </a:p>
          <a:p>
            <a:r>
              <a:rPr lang="en-US" dirty="0"/>
              <a:t>CORS is primarily important once you have a frontend running on it’s own origin </a:t>
            </a:r>
          </a:p>
          <a:p>
            <a:pPr lvl="1"/>
            <a:r>
              <a:rPr lang="en-US" dirty="0"/>
              <a:t>i.e. localhost:4200 or localhost:3000</a:t>
            </a:r>
          </a:p>
          <a:p>
            <a:r>
              <a:rPr lang="en-US" dirty="0"/>
              <a:t>Within Spring Security, you will need to create a security configuration for CORS which permits your Frontend application to make credentialed, cross-origin requests.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A80447-17ED-FAF1-243F-B261EAD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</a:t>
            </a:r>
          </a:p>
        </p:txBody>
      </p:sp>
    </p:spTree>
    <p:extLst>
      <p:ext uri="{BB962C8B-B14F-4D97-AF65-F5344CB8AC3E}">
        <p14:creationId xmlns:p14="http://schemas.microsoft.com/office/powerpoint/2010/main" val="22405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8EA6-1D2A-8286-AD06-4CB84A2A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A6214-F24E-BECB-9DC5-143289C833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710AF-EDBF-5B32-DB77-12404C5D6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22" y="1647685"/>
            <a:ext cx="8512155" cy="4719376"/>
          </a:xfrm>
        </p:spPr>
        <p:txBody>
          <a:bodyPr>
            <a:noAutofit/>
          </a:bodyPr>
          <a:lstStyle/>
          <a:p>
            <a:r>
              <a:rPr lang="en-US" sz="2000" dirty="0"/>
              <a:t>Create a Configuration Class (or update your existing one)</a:t>
            </a:r>
          </a:p>
          <a:p>
            <a:r>
              <a:rPr lang="en-US" sz="2000" dirty="0"/>
              <a:t>Create a Bean to manage the CORS configuration.</a:t>
            </a:r>
          </a:p>
          <a:p>
            <a:pPr lvl="1"/>
            <a:r>
              <a:rPr lang="en-US" sz="1800" dirty="0"/>
              <a:t>Your bean method should return a ‘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CorsConfigurationSource</a:t>
            </a:r>
            <a:r>
              <a:rPr lang="en-US" sz="1800" dirty="0"/>
              <a:t>’ object – imported from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springframework.web.cors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/>
              <a:t>Within the bean method - Create a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CorsConfiguration</a:t>
            </a:r>
            <a:r>
              <a:rPr lang="en-US" sz="2000" dirty="0"/>
              <a:t> object</a:t>
            </a:r>
          </a:p>
          <a:p>
            <a:pPr lvl="1"/>
            <a:r>
              <a:rPr lang="en-US" sz="1800" dirty="0"/>
              <a:t>Also from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springframework.web.cors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/>
              <a:t>Use the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setAllowedOrigins</a:t>
            </a:r>
            <a:r>
              <a:rPr lang="en-US" sz="2000" dirty="0"/>
              <a:t>’,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setAllowedMethods</a:t>
            </a:r>
            <a:r>
              <a:rPr lang="en-US" sz="2000" dirty="0"/>
              <a:t>’,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setAllowedHeaders</a:t>
            </a:r>
            <a:r>
              <a:rPr lang="en-US" sz="2000" dirty="0"/>
              <a:t>’, and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setAllowCredentials</a:t>
            </a:r>
            <a:r>
              <a:rPr lang="en-US" sz="2000" dirty="0"/>
              <a:t>’ methods to configure the CORS configuration.</a:t>
            </a:r>
          </a:p>
          <a:p>
            <a:r>
              <a:rPr lang="en-US" sz="2000" dirty="0"/>
              <a:t>Register the configuration to a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UrlBasedCorsConfigurationSource</a:t>
            </a:r>
            <a:r>
              <a:rPr lang="en-US" sz="2000" dirty="0"/>
              <a:t>’ object.</a:t>
            </a:r>
          </a:p>
          <a:p>
            <a:pPr lvl="1"/>
            <a:r>
              <a:rPr lang="en-US" sz="1800" dirty="0"/>
              <a:t>Note: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UrlBasedCorsConfigurationSource</a:t>
            </a:r>
            <a:r>
              <a:rPr lang="en-US" sz="1800" dirty="0"/>
              <a:t> allows you to configure which endpoints of your application to apply these CORs rules to.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C25D15-87DC-940C-24DB-2F5F95E7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 | Server Config</a:t>
            </a:r>
          </a:p>
        </p:txBody>
      </p:sp>
    </p:spTree>
    <p:extLst>
      <p:ext uri="{BB962C8B-B14F-4D97-AF65-F5344CB8AC3E}">
        <p14:creationId xmlns:p14="http://schemas.microsoft.com/office/powerpoint/2010/main" val="86407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A0C5-3AB7-9588-38FF-0E2EF4F2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AD9A9-B94F-51ED-0BA8-909D0E324B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1D137-35D9-C69C-A6DD-3A6622CC8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CSRF exploits a specific combination of two things:</a:t>
            </a:r>
          </a:p>
          <a:p>
            <a:pPr lvl="1"/>
            <a:r>
              <a:rPr lang="en-US" dirty="0"/>
              <a:t>Browsers automatically attach cookies to requests</a:t>
            </a:r>
          </a:p>
          <a:p>
            <a:pPr lvl="1"/>
            <a:r>
              <a:rPr lang="en-US" dirty="0"/>
              <a:t>A malicious website’s ability to trigger a request to another side (e.g. using an ‘auto-submitting’, hidden form)</a:t>
            </a:r>
          </a:p>
          <a:p>
            <a:r>
              <a:rPr lang="en-US" dirty="0"/>
              <a:t>Spring Security enables CSRF protection by default</a:t>
            </a:r>
          </a:p>
          <a:p>
            <a:pPr lvl="1"/>
            <a:r>
              <a:rPr lang="en-US" dirty="0"/>
              <a:t>CSRF protection works be requiring a CSRF token (a value the server generates and expects to see resubmitted alongside any state-changing request)</a:t>
            </a:r>
          </a:p>
          <a:p>
            <a:pPr lvl="1"/>
            <a:r>
              <a:rPr lang="en-US" dirty="0"/>
              <a:t>A malicious, external site has no way to obtain this token, since it cannot be read from the victim’s session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844B19-5E76-8FBE-3BA1-22DD932D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CSRF</a:t>
            </a:r>
          </a:p>
        </p:txBody>
      </p:sp>
    </p:spTree>
    <p:extLst>
      <p:ext uri="{BB962C8B-B14F-4D97-AF65-F5344CB8AC3E}">
        <p14:creationId xmlns:p14="http://schemas.microsoft.com/office/powerpoint/2010/main" val="66253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ADCE4-63BA-CB65-50D9-6FD3666A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9E4A1-A88E-A1E2-BACC-2745498409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DF38E-4464-E0FA-DBD4-1A1419E4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CSRF exploits a specific combination of two things:</a:t>
            </a:r>
          </a:p>
          <a:p>
            <a:pPr lvl="1"/>
            <a:r>
              <a:rPr lang="en-US" dirty="0"/>
              <a:t>Browsers automatically attach cookies to requests</a:t>
            </a:r>
          </a:p>
          <a:p>
            <a:pPr lvl="1"/>
            <a:r>
              <a:rPr lang="en-US" dirty="0"/>
              <a:t>A malicious website’s ability to trigger a request to another side (e.g. using an ‘auto-submitting’, hidden form)</a:t>
            </a:r>
          </a:p>
          <a:p>
            <a:r>
              <a:rPr lang="en-US" dirty="0"/>
              <a:t>Spring Security enables CSRF protection by default</a:t>
            </a:r>
          </a:p>
          <a:p>
            <a:r>
              <a:rPr lang="en-US" dirty="0"/>
              <a:t>CSRF protection works be requiring a CSRF token </a:t>
            </a:r>
          </a:p>
          <a:p>
            <a:pPr lvl="1"/>
            <a:r>
              <a:rPr lang="en-US" dirty="0"/>
              <a:t>The CSRF token is a value the server generates and expects to see resubmitted alongside any state-changing request</a:t>
            </a:r>
          </a:p>
          <a:p>
            <a:r>
              <a:rPr lang="en-US" dirty="0"/>
              <a:t>A malicious, external site has no way to obtain this token, since it cannot be read from the victim’s session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6A1BB5-C6E9-B96C-E513-F46ACAAD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CSRF</a:t>
            </a:r>
          </a:p>
        </p:txBody>
      </p:sp>
    </p:spTree>
    <p:extLst>
      <p:ext uri="{BB962C8B-B14F-4D97-AF65-F5344CB8AC3E}">
        <p14:creationId xmlns:p14="http://schemas.microsoft.com/office/powerpoint/2010/main" val="42287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4CBC7-3597-6A91-555C-88324522B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9EF3B-CA6C-DF3B-6EA5-8DC201B146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56542-1A10-520C-474F-13E010431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15046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Your CSRF token must be included for any POST/PUT/DELETE requests</a:t>
            </a:r>
          </a:p>
          <a:p>
            <a:r>
              <a:rPr lang="en-US" dirty="0"/>
              <a:t>In a Frontend application, you would need to include the token by reading it from a readable cookie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E5A9AF-0D99-56E8-64DE-8049E2E2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CSRF | Considerations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7A33A-6F80-AC4D-115D-93F2B9D90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88" y="3086990"/>
            <a:ext cx="6907223" cy="2728871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5BC435A-C26E-1648-5216-A7E97AFBDFA3}"/>
              </a:ext>
            </a:extLst>
          </p:cNvPr>
          <p:cNvSpPr txBox="1">
            <a:spLocks/>
          </p:cNvSpPr>
          <p:nvPr/>
        </p:nvSpPr>
        <p:spPr>
          <a:xfrm>
            <a:off x="380010" y="5916723"/>
            <a:ext cx="8383980" cy="8121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Since our application is very simple, we will just disable this protection as a simple work-around.</a:t>
            </a:r>
          </a:p>
        </p:txBody>
      </p:sp>
    </p:spTree>
    <p:extLst>
      <p:ext uri="{BB962C8B-B14F-4D97-AF65-F5344CB8AC3E}">
        <p14:creationId xmlns:p14="http://schemas.microsoft.com/office/powerpoint/2010/main" val="5181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1D6B-C729-3D80-B406-E930D7AE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0A6C5-332E-B3FC-31EF-8264F67E82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E8C71D5-A54F-AB93-AE25-4008CBB1B51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Bonus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3BD8A-E21D-809B-169F-1213957E8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38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DB129-F6CB-014A-0F9C-31103690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EA6B6-F2F7-381D-04A3-B8F08D9E5D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DD5CE-9C38-49FB-730B-C9CE2638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5247390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SecurityFilterChain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Create Authentication Layer</a:t>
            </a:r>
          </a:p>
          <a:p>
            <a:pPr lvl="1"/>
            <a:r>
              <a:rPr lang="en-US" dirty="0"/>
              <a:t>Implement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UserDetailsService</a:t>
            </a:r>
            <a:r>
              <a:rPr lang="en-US" dirty="0"/>
              <a:t> &amp;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UserDetails</a:t>
            </a:r>
            <a:r>
              <a:rPr lang="en-US" dirty="0"/>
              <a:t> object (typically using an adapter pattern)</a:t>
            </a:r>
          </a:p>
          <a:p>
            <a:pPr lvl="1"/>
            <a:r>
              <a:rPr lang="en-US" dirty="0"/>
              <a:t>Register a Password Encoder</a:t>
            </a:r>
          </a:p>
          <a:p>
            <a:r>
              <a:rPr lang="en-US" dirty="0"/>
              <a:t>Control Authorization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securityMatchers</a:t>
            </a:r>
            <a:r>
              <a:rPr lang="en-US" dirty="0"/>
              <a:t> to set URL-level security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@PreAuthorize</a:t>
            </a:r>
            <a:r>
              <a:rPr lang="en-US" dirty="0"/>
              <a:t> Annotation to set Method-level security</a:t>
            </a:r>
          </a:p>
          <a:p>
            <a:pPr lvl="2"/>
            <a:r>
              <a:rPr lang="en-US" dirty="0"/>
              <a:t>Remember that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@PreAuthorize</a:t>
            </a:r>
            <a:r>
              <a:rPr lang="en-US" dirty="0"/>
              <a:t> requires a config class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@EnableMethodSecurity</a:t>
            </a:r>
          </a:p>
          <a:p>
            <a:r>
              <a:rPr lang="en-US" dirty="0"/>
              <a:t>Configure CORS &amp; CSRF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22C50F-2A3A-7433-72EC-7307C4F5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 | 1000 foot view</a:t>
            </a:r>
          </a:p>
        </p:txBody>
      </p:sp>
    </p:spTree>
    <p:extLst>
      <p:ext uri="{BB962C8B-B14F-4D97-AF65-F5344CB8AC3E}">
        <p14:creationId xmlns:p14="http://schemas.microsoft.com/office/powerpoint/2010/main" val="175755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A747-E5AF-6C1C-C37C-7968DA54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12FEB5-9ABA-8B36-BFA7-7054B00F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793235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9637</TotalTime>
  <Words>2250</Words>
  <Application>Microsoft Office PowerPoint</Application>
  <PresentationFormat>On-screen Show (4:3)</PresentationFormat>
  <Paragraphs>235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2_Custom Design</vt:lpstr>
      <vt:lpstr>Spring Security</vt:lpstr>
      <vt:lpstr>Outline</vt:lpstr>
      <vt:lpstr>PowerPoint Presentation</vt:lpstr>
      <vt:lpstr>Spring Security</vt:lpstr>
      <vt:lpstr>Spring Security</vt:lpstr>
      <vt:lpstr>PowerPoint Presentation</vt:lpstr>
      <vt:lpstr>Authentication &amp; Authorization [Recap]</vt:lpstr>
      <vt:lpstr>Authentication &amp; Authorization [Recap]</vt:lpstr>
      <vt:lpstr>PowerPoint Presentation</vt:lpstr>
      <vt:lpstr>Security Filter Chain</vt:lpstr>
      <vt:lpstr>Security Filter Chain</vt:lpstr>
      <vt:lpstr>Security Filter Chain</vt:lpstr>
      <vt:lpstr>PowerPoint Presentation</vt:lpstr>
      <vt:lpstr>Authentication Providers</vt:lpstr>
      <vt:lpstr>UserDetailsService &amp; UserDetails</vt:lpstr>
      <vt:lpstr>Adapter Pattern</vt:lpstr>
      <vt:lpstr>PowerPoint Presentation</vt:lpstr>
      <vt:lpstr>Password Encoding</vt:lpstr>
      <vt:lpstr>Password Encoding</vt:lpstr>
      <vt:lpstr>PowerPoint Presentation</vt:lpstr>
      <vt:lpstr>Authorization</vt:lpstr>
      <vt:lpstr>Authorization | URL Authorization</vt:lpstr>
      <vt:lpstr>Authorization | URL Authorization</vt:lpstr>
      <vt:lpstr>Authorization | Method-based Authorization</vt:lpstr>
      <vt:lpstr>Spring Security SpEL Context</vt:lpstr>
      <vt:lpstr>PowerPoint Presentation</vt:lpstr>
      <vt:lpstr>Spring Security Sessions</vt:lpstr>
      <vt:lpstr>Spring Security Sessions</vt:lpstr>
      <vt:lpstr>Spring Security Sessions</vt:lpstr>
      <vt:lpstr>PowerPoint Presentation</vt:lpstr>
      <vt:lpstr>CSRF &amp; CORS Basics</vt:lpstr>
      <vt:lpstr>CORS</vt:lpstr>
      <vt:lpstr>CORS | Server Config</vt:lpstr>
      <vt:lpstr>CSRF</vt:lpstr>
      <vt:lpstr>CSRF</vt:lpstr>
      <vt:lpstr>CSRF | Considerations</vt:lpstr>
      <vt:lpstr>PowerPoint Presentation</vt:lpstr>
      <vt:lpstr>Spring Security | 1000 foot view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18</cp:revision>
  <cp:lastPrinted>2016-06-20T20:58:50Z</cp:lastPrinted>
  <dcterms:created xsi:type="dcterms:W3CDTF">2016-11-09T18:19:08Z</dcterms:created>
  <dcterms:modified xsi:type="dcterms:W3CDTF">2026-08-31T20:46:25Z</dcterms:modified>
</cp:coreProperties>
</file>