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2"/>
  </p:notesMasterIdLst>
  <p:handoutMasterIdLst>
    <p:handoutMasterId r:id="rId13"/>
  </p:handoutMasterIdLst>
  <p:sldIdLst>
    <p:sldId id="256" r:id="rId2"/>
    <p:sldId id="454" r:id="rId3"/>
    <p:sldId id="453" r:id="rId4"/>
    <p:sldId id="474" r:id="rId5"/>
    <p:sldId id="472" r:id="rId6"/>
    <p:sldId id="473" r:id="rId7"/>
    <p:sldId id="475" r:id="rId8"/>
    <p:sldId id="470" r:id="rId9"/>
    <p:sldId id="476" r:id="rId10"/>
    <p:sldId id="358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framework/reference/core/expressions.html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Expression Language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6081-8FF1-1451-88FF-02DFB736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A186-C5DB-0A8E-4D74-4B8A32BD85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4CD5F-5AA3-13ED-8694-37765227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Spring Expression Language</a:t>
            </a:r>
          </a:p>
          <a:p>
            <a:r>
              <a:rPr lang="en-US" dirty="0" err="1"/>
              <a:t>SpEL</a:t>
            </a:r>
            <a:r>
              <a:rPr lang="en-US" dirty="0"/>
              <a:t> Context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3465AD-6AB2-D8A3-2838-FB220D75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70205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A2EB-865A-4CB9-3175-D5FF0221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A55D1-21AA-7354-501D-ABDEC601A9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3D3AD4B-ACD9-2F29-E4A9-DDFAF764176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Expression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A7C5E-F762-A3B9-F47A-9B6BA2D1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0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7C92-3D4E-0E80-2E7F-7F1EAB61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75C6-D0D2-75FA-C41C-E16EFC892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5670C-E3A0-D998-1B21-9D72A8200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Spring Expression Language (</a:t>
            </a:r>
            <a:r>
              <a:rPr lang="en-US" dirty="0" err="1"/>
              <a:t>SpEL</a:t>
            </a:r>
            <a:r>
              <a:rPr lang="en-US" dirty="0"/>
              <a:t>) is a general purpose, and powerful expression language built into the core Spring Framework.</a:t>
            </a:r>
          </a:p>
          <a:p>
            <a:pPr lvl="1"/>
            <a:r>
              <a:rPr lang="en-US" dirty="0"/>
              <a:t>Allows a developer to write small, dynamic expression that get evaluated at runtime</a:t>
            </a:r>
          </a:p>
          <a:p>
            <a:r>
              <a:rPr lang="en-US" b="1" i="1" dirty="0" err="1"/>
              <a:t>SpEL</a:t>
            </a:r>
            <a:r>
              <a:rPr lang="en-US" b="1" i="1" dirty="0"/>
              <a:t> expressions are strings</a:t>
            </a:r>
            <a:r>
              <a:rPr lang="en-US" dirty="0"/>
              <a:t>, which are evaluated by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ExpressionParser</a:t>
            </a:r>
            <a:r>
              <a:rPr lang="en-US" dirty="0"/>
              <a:t> object.</a:t>
            </a:r>
          </a:p>
          <a:p>
            <a:pPr lvl="1"/>
            <a:r>
              <a:rPr lang="en-US" dirty="0" err="1"/>
              <a:t>ExpressionParser</a:t>
            </a:r>
            <a:r>
              <a:rPr lang="en-US" dirty="0"/>
              <a:t> is an interface which acts as the entry point for parsing </a:t>
            </a:r>
            <a:r>
              <a:rPr lang="en-US" dirty="0" err="1"/>
              <a:t>SpEL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Your Spring project configurations will automatically create an appropriate parser to read </a:t>
            </a:r>
            <a:r>
              <a:rPr lang="en-US" dirty="0" err="1"/>
              <a:t>SpEL</a:t>
            </a:r>
            <a:r>
              <a:rPr lang="en-US" dirty="0"/>
              <a:t> where it is most likely used: within annotations, or some other context.</a:t>
            </a:r>
          </a:p>
          <a:p>
            <a:r>
              <a:rPr lang="en-US" dirty="0" err="1"/>
              <a:t>SpEL</a:t>
            </a:r>
            <a:r>
              <a:rPr lang="en-US" dirty="0"/>
              <a:t> expressions are wrapped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pPr lvl="1"/>
            <a:r>
              <a:rPr lang="en-US" dirty="0"/>
              <a:t>This syntax tells Spring “evaluate what’s inside as an expression, not just a literal String”.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C5C5B2-B2F1-D352-A798-FF3DFD28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r>
              <a:rPr lang="en-US" dirty="0"/>
              <a:t> | Basics</a:t>
            </a:r>
          </a:p>
        </p:txBody>
      </p:sp>
    </p:spTree>
    <p:extLst>
      <p:ext uri="{BB962C8B-B14F-4D97-AF65-F5344CB8AC3E}">
        <p14:creationId xmlns:p14="http://schemas.microsoft.com/office/powerpoint/2010/main" val="38533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EBD2-4E61-1516-283E-56735A3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8BF3F-2EF5-D591-A3D3-24CEEDB36F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293AA-AED5-9029-4B65-EDE27FAC5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The Simplest expressions are </a:t>
            </a:r>
            <a:r>
              <a:rPr lang="en-US" b="1" i="1" dirty="0"/>
              <a:t>literals</a:t>
            </a:r>
            <a:endParaRPr lang="en-US" dirty="0"/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{5}</a:t>
            </a:r>
            <a:r>
              <a:rPr lang="en-US" dirty="0"/>
              <a:t>,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{‘hello’}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{true}</a:t>
            </a:r>
          </a:p>
          <a:p>
            <a:r>
              <a:rPr lang="en-US" dirty="0" err="1">
                <a:latin typeface="+mj-lt"/>
                <a:cs typeface="Courier New" panose="02070309020205020404" pitchFamily="49" charset="0"/>
              </a:rPr>
              <a:t>SpEL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can also be used to perform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property access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reading a field or getting off an object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{@someBean.someProperty}</a:t>
            </a:r>
          </a:p>
          <a:p>
            <a:r>
              <a:rPr lang="en-US" dirty="0" err="1">
                <a:latin typeface="+mj-lt"/>
                <a:cs typeface="Courier New" panose="02070309020205020404" pitchFamily="49" charset="0"/>
              </a:rPr>
              <a:t>SpEL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used in a variety of places in Spring, so it is important to understand it at a basic level.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If you want more detailed information about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SpEL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review the documentation: </a:t>
            </a:r>
            <a:r>
              <a:rPr lang="en-US" dirty="0">
                <a:hlinkClick r:id="rId2"/>
              </a:rPr>
              <a:t>Spring Expression Language (</a:t>
            </a:r>
            <a:r>
              <a:rPr lang="en-US" dirty="0" err="1">
                <a:hlinkClick r:id="rId2"/>
              </a:rPr>
              <a:t>SpEL</a:t>
            </a:r>
            <a:r>
              <a:rPr lang="en-US" dirty="0">
                <a:hlinkClick r:id="rId2"/>
              </a:rPr>
              <a:t>) :: Spring Framework</a:t>
            </a:r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A7F374-30CE-C997-DA4D-055A0B87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r>
              <a:rPr lang="en-US" dirty="0"/>
              <a:t> | Basics</a:t>
            </a:r>
          </a:p>
        </p:txBody>
      </p:sp>
    </p:spTree>
    <p:extLst>
      <p:ext uri="{BB962C8B-B14F-4D97-AF65-F5344CB8AC3E}">
        <p14:creationId xmlns:p14="http://schemas.microsoft.com/office/powerpoint/2010/main" val="118490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9FC4-0D50-362F-319A-6512BB80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8273D-DADC-442E-D1DB-AD8759710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DFF56-E624-5965-C4D7-EC430AEC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05" y="1376623"/>
            <a:ext cx="8763990" cy="5481377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SpEL</a:t>
            </a:r>
            <a:r>
              <a:rPr lang="en-US" dirty="0"/>
              <a:t> expressions are built from a small set of reusable pieces. Once you know these, you will understand </a:t>
            </a:r>
            <a:r>
              <a:rPr lang="en-US" dirty="0" err="1"/>
              <a:t>SpEL</a:t>
            </a:r>
            <a:r>
              <a:rPr lang="en-US" dirty="0"/>
              <a:t> anywhere it is used.</a:t>
            </a:r>
          </a:p>
          <a:p>
            <a:r>
              <a:rPr lang="en-US" b="1" dirty="0"/>
              <a:t>Literals</a:t>
            </a:r>
            <a:r>
              <a:rPr lang="en-US" dirty="0"/>
              <a:t>: Plain values like strings or numbers</a:t>
            </a:r>
          </a:p>
          <a:p>
            <a:pPr lvl="1"/>
            <a:r>
              <a:rPr lang="en-US" dirty="0"/>
              <a:t>note: </a:t>
            </a:r>
            <a:r>
              <a:rPr lang="en-US" dirty="0" err="1"/>
              <a:t>SpEL</a:t>
            </a:r>
            <a:r>
              <a:rPr lang="en-US" dirty="0"/>
              <a:t> strings use single-quotes</a:t>
            </a:r>
          </a:p>
          <a:p>
            <a:r>
              <a:rPr lang="en-US" b="1" dirty="0"/>
              <a:t>Relational Operators</a:t>
            </a:r>
            <a:r>
              <a:rPr lang="en-US" dirty="0"/>
              <a:t>: standard comparisons that return Booleans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==, &lt;, &gt;</a:t>
            </a:r>
          </a:p>
          <a:p>
            <a:r>
              <a:rPr lang="en-US" dirty="0"/>
              <a:t>Logical Operators: used to combine Boolean expressions.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‘and’, ‘or’, ‘not’</a:t>
            </a:r>
            <a:endParaRPr lang="en-US" dirty="0"/>
          </a:p>
          <a:p>
            <a:pPr lvl="1"/>
            <a:r>
              <a:rPr lang="en-US" dirty="0" err="1"/>
              <a:t>SpEL</a:t>
            </a:r>
            <a:r>
              <a:rPr lang="en-US" dirty="0"/>
              <a:t> supports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‘&amp;&amp;’, ‘||’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‘!’</a:t>
            </a:r>
            <a:r>
              <a:rPr lang="en-US" dirty="0"/>
              <a:t> as well as the words</a:t>
            </a:r>
          </a:p>
          <a:p>
            <a:r>
              <a:rPr lang="en-US" b="1" dirty="0"/>
              <a:t>Property/method access</a:t>
            </a:r>
            <a:r>
              <a:rPr lang="en-US" dirty="0"/>
              <a:t>: Navigating an objects properties or methods using dot notation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someObject.propertyName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someObject.method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/>
              <a:t>Ternary operator (?)</a:t>
            </a:r>
            <a:r>
              <a:rPr lang="en-US" dirty="0"/>
              <a:t>: Simple conditional logic, inline.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?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valueIfTrue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valueIfFalse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Same ternary we have used before</a:t>
            </a:r>
          </a:p>
          <a:p>
            <a:r>
              <a:rPr lang="en-US" b="1" dirty="0"/>
              <a:t>The Elvis operator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?:</a:t>
            </a:r>
            <a:r>
              <a:rPr lang="en-US" b="1" dirty="0"/>
              <a:t>)</a:t>
            </a:r>
            <a:r>
              <a:rPr lang="en-US" dirty="0"/>
              <a:t> : A shorthand for providing a default value when an expression would otherwise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r>
              <a:rPr lang="en-US" b="1" dirty="0"/>
              <a:t>The safe navigation operator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?.</a:t>
            </a:r>
            <a:r>
              <a:rPr lang="en-US" b="1" dirty="0"/>
              <a:t>)</a:t>
            </a:r>
            <a:r>
              <a:rPr lang="en-US" dirty="0"/>
              <a:t>: accesses a property only if the object isn’t null. This avoids a potential </a:t>
            </a:r>
            <a:r>
              <a:rPr lang="en-US" dirty="0" err="1"/>
              <a:t>NullPointerException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03180B-B7C4-9704-C628-2203F4D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r>
              <a:rPr lang="en-US" dirty="0"/>
              <a:t> |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82035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2AC5-A44D-5FD1-CD55-3CD52FB8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05AF5-0A1B-A822-AA83-523D821F26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0205145-E057-931E-8272-763924F879A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SpEL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70014-9ABC-223A-E785-814A275EB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5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EB72-F0D0-D990-E08E-4B241188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A785C-CF0E-8289-8D1A-3C965C2786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C7F65-D807-F79F-4ACC-E928E1287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518557"/>
            <a:ext cx="8383980" cy="52102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</a:t>
            </a:r>
            <a:r>
              <a:rPr lang="en-US" dirty="0" err="1"/>
              <a:t>SpEL</a:t>
            </a:r>
            <a:r>
              <a:rPr lang="en-US" dirty="0"/>
              <a:t> evaluates against a literal or plain operation, nothing else is required.</a:t>
            </a:r>
          </a:p>
          <a:p>
            <a:r>
              <a:rPr lang="en-US" dirty="0"/>
              <a:t>However, when calling a method, or reading a property, </a:t>
            </a:r>
            <a:r>
              <a:rPr lang="en-US" dirty="0" err="1"/>
              <a:t>SpEL</a:t>
            </a:r>
            <a:r>
              <a:rPr lang="en-US" dirty="0"/>
              <a:t> needs to know </a:t>
            </a:r>
            <a:r>
              <a:rPr lang="en-US" b="1" i="1" dirty="0"/>
              <a:t>what object it’s operating against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i="1" dirty="0"/>
              <a:t>Context</a:t>
            </a:r>
            <a:r>
              <a:rPr lang="en-US" dirty="0"/>
              <a:t> determines what data and variables are actually available to reference inside a </a:t>
            </a:r>
            <a:r>
              <a:rPr lang="en-US" dirty="0" err="1"/>
              <a:t>SpEL</a:t>
            </a:r>
            <a:r>
              <a:rPr lang="en-US" dirty="0"/>
              <a:t> expression.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EvaluationContext</a:t>
            </a:r>
            <a:r>
              <a:rPr lang="en-US" dirty="0"/>
              <a:t> is an interface which defines how context can be provided to a parser.</a:t>
            </a:r>
          </a:p>
          <a:p>
            <a:pPr lvl="1"/>
            <a:r>
              <a:rPr lang="en-US" dirty="0"/>
              <a:t>NOTE: Spring Modules, such as Spring Security provide an implementation that defines this context.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CF5F33-33E6-7B0E-A10F-99EE146B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r>
              <a:rPr lang="en-US" dirty="0"/>
              <a:t> Context</a:t>
            </a:r>
          </a:p>
        </p:txBody>
      </p:sp>
    </p:spTree>
    <p:extLst>
      <p:ext uri="{BB962C8B-B14F-4D97-AF65-F5344CB8AC3E}">
        <p14:creationId xmlns:p14="http://schemas.microsoft.com/office/powerpoint/2010/main" val="206108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C087-156C-8B67-4B13-248D127B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AB4E9-9A15-72C2-E222-A611A146C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72A50-7556-EF90-1F03-9F974369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With a context provided, </a:t>
            </a:r>
            <a:r>
              <a:rPr lang="en-US" dirty="0" err="1"/>
              <a:t>SpEL</a:t>
            </a:r>
            <a:r>
              <a:rPr lang="en-US" dirty="0"/>
              <a:t> can invoke methods directly</a:t>
            </a:r>
          </a:p>
          <a:p>
            <a:pPr lvl="1"/>
            <a:r>
              <a:rPr lang="en-US" dirty="0"/>
              <a:t>Including void methods, or those that return a value.</a:t>
            </a:r>
          </a:p>
          <a:p>
            <a:r>
              <a:rPr lang="en-US" dirty="0"/>
              <a:t>When Context is bound (i.e. an implementation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EvaluationContext</a:t>
            </a:r>
            <a:r>
              <a:rPr lang="en-US" dirty="0"/>
              <a:t> is provided), a </a:t>
            </a:r>
            <a:r>
              <a:rPr lang="en-US" b="1" i="1" dirty="0"/>
              <a:t>root object</a:t>
            </a:r>
            <a:r>
              <a:rPr lang="en-US" dirty="0"/>
              <a:t> is defined as the default target for method invocation.</a:t>
            </a:r>
          </a:p>
          <a:p>
            <a:pPr lvl="1"/>
            <a:r>
              <a:rPr lang="en-US" dirty="0"/>
              <a:t>This allows the </a:t>
            </a:r>
            <a:r>
              <a:rPr lang="en-US" dirty="0" err="1"/>
              <a:t>SpEL</a:t>
            </a:r>
            <a:r>
              <a:rPr lang="en-US" dirty="0"/>
              <a:t> Expression to invoke methods directly, without referencing the object itself.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F0ECA8-0BFA-E09F-7367-E927B760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</a:t>
            </a:r>
            <a:r>
              <a:rPr lang="en-US" dirty="0"/>
              <a:t> Context</a:t>
            </a:r>
          </a:p>
        </p:txBody>
      </p:sp>
    </p:spTree>
    <p:extLst>
      <p:ext uri="{BB962C8B-B14F-4D97-AF65-F5344CB8AC3E}">
        <p14:creationId xmlns:p14="http://schemas.microsoft.com/office/powerpoint/2010/main" val="254683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9509</TotalTime>
  <Words>561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2_Custom Design</vt:lpstr>
      <vt:lpstr>SpEL</vt:lpstr>
      <vt:lpstr>Outline</vt:lpstr>
      <vt:lpstr>PowerPoint Presentation</vt:lpstr>
      <vt:lpstr>SpEL | Basics</vt:lpstr>
      <vt:lpstr>SpEL | Basics</vt:lpstr>
      <vt:lpstr>SpEL | Building Blocks</vt:lpstr>
      <vt:lpstr>PowerPoint Presentation</vt:lpstr>
      <vt:lpstr>SpEL Context</vt:lpstr>
      <vt:lpstr>SpEL Context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18</cp:revision>
  <cp:lastPrinted>2016-06-20T20:58:50Z</cp:lastPrinted>
  <dcterms:created xsi:type="dcterms:W3CDTF">2016-11-09T18:19:08Z</dcterms:created>
  <dcterms:modified xsi:type="dcterms:W3CDTF">2026-08-28T17:34:32Z</dcterms:modified>
</cp:coreProperties>
</file>