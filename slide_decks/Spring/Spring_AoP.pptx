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357" r:id="rId4"/>
    <p:sldId id="343" r:id="rId5"/>
    <p:sldId id="453" r:id="rId6"/>
    <p:sldId id="443" r:id="rId7"/>
    <p:sldId id="444" r:id="rId8"/>
    <p:sldId id="454" r:id="rId9"/>
    <p:sldId id="445" r:id="rId10"/>
    <p:sldId id="446" r:id="rId11"/>
    <p:sldId id="455" r:id="rId12"/>
    <p:sldId id="447" r:id="rId13"/>
    <p:sldId id="448" r:id="rId14"/>
    <p:sldId id="456" r:id="rId15"/>
    <p:sldId id="457" r:id="rId16"/>
    <p:sldId id="449" r:id="rId17"/>
    <p:sldId id="450" r:id="rId18"/>
    <p:sldId id="458" r:id="rId19"/>
    <p:sldId id="451" r:id="rId20"/>
    <p:sldId id="452" r:id="rId21"/>
    <p:sldId id="459" r:id="rId22"/>
    <p:sldId id="460" r:id="rId23"/>
    <p:sldId id="358" r:id="rId2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framework/reference/core/aop/ataspectj/pointcuts.html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AOP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Aspect Oriented Programming</a:t>
            </a:r>
          </a:p>
          <a:p>
            <a:r>
              <a:rPr lang="en-US" dirty="0"/>
              <a:t>AspectJ &amp; Spring AOP</a:t>
            </a:r>
          </a:p>
          <a:p>
            <a:r>
              <a:rPr lang="en-US" dirty="0"/>
              <a:t>Advice</a:t>
            </a:r>
          </a:p>
          <a:p>
            <a:r>
              <a:rPr lang="en-US" dirty="0"/>
              <a:t>Pointcut &amp; Join Points</a:t>
            </a:r>
          </a:p>
          <a:p>
            <a:r>
              <a:rPr lang="en-US" dirty="0"/>
              <a:t>Proxies</a:t>
            </a:r>
          </a:p>
          <a:p>
            <a:r>
              <a:rPr lang="en-US" dirty="0"/>
              <a:t>Logging with AOP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Aspect Oriented Programming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77109"/>
            <a:ext cx="8383980" cy="49971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Aspect-Oriented Programming (AOP) is a programming paradigm that lets you modularize behavior that “cuts across” multiple classes &amp; methods.</a:t>
            </a:r>
          </a:p>
          <a:p>
            <a:r>
              <a:rPr lang="en-US" dirty="0"/>
              <a:t>A </a:t>
            </a:r>
            <a:r>
              <a:rPr lang="en-US" b="1" dirty="0"/>
              <a:t>cross-cutting concern</a:t>
            </a:r>
            <a:r>
              <a:rPr lang="en-US" dirty="0"/>
              <a:t> is functionality needed in many unrelated places.</a:t>
            </a:r>
          </a:p>
          <a:p>
            <a:pPr lvl="1"/>
            <a:r>
              <a:rPr lang="en-US" dirty="0"/>
              <a:t>Logging, security checks, transaction management, caching, error handling</a:t>
            </a:r>
          </a:p>
          <a:p>
            <a:pPr lvl="1"/>
            <a:r>
              <a:rPr lang="en-US" dirty="0"/>
              <a:t>These are considered “cross-cutting” because these are responsibilities that relate to functionality of many classes, but isn’t the core responsibility of each class in and of itself.</a:t>
            </a:r>
          </a:p>
          <a:p>
            <a:r>
              <a:rPr lang="en-US" dirty="0"/>
              <a:t>Without AOP, cross-cutting logic tends to get </a:t>
            </a:r>
            <a:r>
              <a:rPr lang="en-US" b="1" i="1" dirty="0"/>
              <a:t>duplicated and tangled</a:t>
            </a:r>
            <a:r>
              <a:rPr lang="en-US" dirty="0"/>
              <a:t> within business logic as it is scattered across many classes that otherwise have nothing to do with </a:t>
            </a:r>
            <a:r>
              <a:rPr lang="en-US" dirty="0" err="1"/>
              <a:t>eachother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 Oriented Programming (AOP)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423D-09AE-DD8C-E242-E8496256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D5C30-18A2-F898-B348-A14449EF0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03EA7-ED3F-ED40-8368-1EEEA6D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6576"/>
            <a:ext cx="8383980" cy="53622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AOP, logic can be written once in a dedicated unit and applied automatically wherever it is needed.</a:t>
            </a:r>
          </a:p>
          <a:p>
            <a:pPr lvl="1"/>
            <a:r>
              <a:rPr lang="en-US" dirty="0"/>
              <a:t>This dedicate unit is called An </a:t>
            </a:r>
            <a:r>
              <a:rPr lang="en-US" b="1" i="1" dirty="0"/>
              <a:t>aspect</a:t>
            </a:r>
          </a:p>
          <a:p>
            <a:r>
              <a:rPr lang="en-US" dirty="0"/>
              <a:t>Key vocabulary:</a:t>
            </a:r>
          </a:p>
          <a:p>
            <a:pPr lvl="1"/>
            <a:r>
              <a:rPr lang="en-US" b="1" dirty="0"/>
              <a:t>Cross-Cutting Concern</a:t>
            </a:r>
            <a:r>
              <a:rPr lang="en-US" dirty="0"/>
              <a:t>: Functionality needed across many unrelated parts of an application, and which doesn’t belong to any single class’s core responsibility.</a:t>
            </a:r>
            <a:endParaRPr lang="en-US" b="1" dirty="0"/>
          </a:p>
          <a:p>
            <a:pPr lvl="1"/>
            <a:r>
              <a:rPr lang="en-US" b="1" dirty="0"/>
              <a:t>Aspect</a:t>
            </a:r>
            <a:r>
              <a:rPr lang="en-US" dirty="0"/>
              <a:t>: An entity dedicated to apply logic to address Cross-cutting concerns</a:t>
            </a:r>
          </a:p>
          <a:p>
            <a:pPr lvl="1"/>
            <a:r>
              <a:rPr lang="en-US" b="1" dirty="0"/>
              <a:t>Advice</a:t>
            </a:r>
            <a:r>
              <a:rPr lang="en-US" dirty="0"/>
              <a:t>: The actual action an aspect takes at a matched point in execution.</a:t>
            </a:r>
          </a:p>
          <a:p>
            <a:pPr lvl="1"/>
            <a:r>
              <a:rPr lang="en-US" b="1" dirty="0"/>
              <a:t>Pointcut</a:t>
            </a:r>
            <a:r>
              <a:rPr lang="en-US" dirty="0"/>
              <a:t>: An expression that defines which join points a piece of advice should apply to.</a:t>
            </a:r>
          </a:p>
          <a:p>
            <a:pPr lvl="1"/>
            <a:r>
              <a:rPr lang="en-US" b="1" dirty="0"/>
              <a:t>Join Point</a:t>
            </a:r>
            <a:r>
              <a:rPr lang="en-US" dirty="0"/>
              <a:t>: A specific point during program execution where advice can be applied.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D15E9E-728F-7ADB-9125-C9FADE3F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 Oriented Programming (AOP)</a:t>
            </a:r>
          </a:p>
        </p:txBody>
      </p:sp>
    </p:spTree>
    <p:extLst>
      <p:ext uri="{BB962C8B-B14F-4D97-AF65-F5344CB8AC3E}">
        <p14:creationId xmlns:p14="http://schemas.microsoft.com/office/powerpoint/2010/main" val="180397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2F4E-0A0A-47A9-4483-5FDF5F31F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928387-A2B9-36B3-EF58-F9728F1E5B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A4FB393-171D-54E9-DC9E-ECA568003C1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AspectJ and Spring AOP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88BD6-8EC6-AE0E-78C0-D87B41FF3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2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4F0F-AED3-6500-6A8C-887A2EFD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A5288-CC5A-2FCB-17E4-2F72DB835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2D829-E827-61B0-B584-37C36714A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AspectJ is a mature, standalone AOP implementation for Java (existing well before Spring AOP)</a:t>
            </a:r>
          </a:p>
          <a:p>
            <a:r>
              <a:rPr lang="en-US" dirty="0"/>
              <a:t>Full use of AspectJ can weave aspect behavior into almost any join point</a:t>
            </a:r>
          </a:p>
          <a:p>
            <a:pPr lvl="1"/>
            <a:r>
              <a:rPr lang="en-US" dirty="0"/>
              <a:t>Potential Join Points: Method calls, field access, constructor calls, static initializers.</a:t>
            </a:r>
          </a:p>
          <a:p>
            <a:r>
              <a:rPr lang="en-US" dirty="0"/>
              <a:t>AspectJ typically requires compile-time weaving (a special compiler) or load-time weaving (a Java agent) to inject aspect code.</a:t>
            </a:r>
          </a:p>
          <a:p>
            <a:pPr lvl="1"/>
            <a:r>
              <a:rPr lang="en-US" dirty="0"/>
              <a:t>Weaving is the process of merging an aspect’s advice code into the actual bytecode of the class it applies to.</a:t>
            </a:r>
          </a:p>
          <a:p>
            <a:pPr lvl="1"/>
            <a:r>
              <a:rPr lang="en-US" dirty="0"/>
              <a:t>This means that AspectJ’s compiler will compile code together, to produce wholly new bytecode from the standard </a:t>
            </a:r>
            <a:r>
              <a:rPr lang="en-US" dirty="0" err="1"/>
              <a:t>javac</a:t>
            </a:r>
            <a:r>
              <a:rPr lang="en-US" dirty="0"/>
              <a:t> compiler.</a:t>
            </a:r>
          </a:p>
          <a:p>
            <a:pPr lvl="1"/>
            <a:r>
              <a:rPr lang="en-US" dirty="0"/>
              <a:t>OR a load-time weaver is used to modify bytecode at the moment a class is loaded by the JVM’s </a:t>
            </a:r>
            <a:r>
              <a:rPr lang="en-US" dirty="0" err="1"/>
              <a:t>classloader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E05901-727B-27ED-FC22-26BBB368C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AspectJ</a:t>
            </a:r>
          </a:p>
        </p:txBody>
      </p:sp>
    </p:spTree>
    <p:extLst>
      <p:ext uri="{BB962C8B-B14F-4D97-AF65-F5344CB8AC3E}">
        <p14:creationId xmlns:p14="http://schemas.microsoft.com/office/powerpoint/2010/main" val="369557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64A1-886F-F2CE-DAD5-6CFA3BF7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26273-1884-46CF-C34D-C80DE85521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54786-98A8-0B96-8A42-9B1F80791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557495"/>
            <a:ext cx="8383980" cy="51713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Spring AOP is Spring’s built-in implementation of the AOP paradigm. </a:t>
            </a:r>
          </a:p>
          <a:p>
            <a:pPr lvl="1"/>
            <a:r>
              <a:rPr lang="en-US" dirty="0"/>
              <a:t>It is the mechanism quietly powering several tools</a:t>
            </a:r>
          </a:p>
          <a:p>
            <a:pPr lvl="1"/>
            <a:r>
              <a:rPr lang="en-US" dirty="0"/>
              <a:t>Although some tools include leverage Spring AOP, you will need to include an import for it to create custom Advice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@Advice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Spring AOP overrides the Annotation syntax from AspectJ with its own implementation</a:t>
            </a:r>
          </a:p>
          <a:p>
            <a:pPr lvl="1"/>
            <a:r>
              <a:rPr lang="en-US" dirty="0"/>
              <a:t>Ex. Annotations: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@Aspect, @Pointcut, @Before</a:t>
            </a:r>
          </a:p>
          <a:p>
            <a:pPr lvl="1"/>
            <a:r>
              <a:rPr lang="en-US" dirty="0"/>
              <a:t>Don’t be confused! If researching AOP information online, make sure you reference Spring AOP, not AspectJ</a:t>
            </a:r>
          </a:p>
          <a:p>
            <a:r>
              <a:rPr lang="en-US" dirty="0"/>
              <a:t>Instead of “weaving”, Spring AOP uses </a:t>
            </a:r>
            <a:r>
              <a:rPr lang="en-US" b="1" i="1" dirty="0"/>
              <a:t>proxies</a:t>
            </a:r>
            <a:r>
              <a:rPr lang="en-US" dirty="0"/>
              <a:t> which intercept method execution on Spring managed beans.</a:t>
            </a:r>
          </a:p>
          <a:p>
            <a:pPr lvl="1"/>
            <a:r>
              <a:rPr lang="en-US" dirty="0"/>
              <a:t>i.e. This means that Spring AOP doesn’t require any additional tools and is built-into some spring modules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3F72D8-AF6D-FFA9-8CDC-3D0F588B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AOP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1AFD03-FC2F-74A8-D2AC-BE9D1A82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798" y="2715505"/>
            <a:ext cx="3896404" cy="123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80C1-AF22-26C9-1AD4-E87F719D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E3D93-0363-A91E-FA96-D6E20C2608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46340BD-EA34-8F13-C2AA-368919CF174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A6CD4-3F11-61ED-BF26-E026AB55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9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6D20-CC4D-C5E2-B756-33AF4BDC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A62B0-335A-1397-67B0-6A85E550FE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99F23-9F83-E3E3-B72C-BB549E15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19200"/>
            <a:ext cx="838398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Advice</a:t>
            </a:r>
            <a:r>
              <a:rPr lang="en-US" dirty="0"/>
              <a:t> is the actual code an </a:t>
            </a:r>
            <a:r>
              <a:rPr lang="en-US" b="1" i="1" dirty="0"/>
              <a:t>aspect</a:t>
            </a:r>
            <a:r>
              <a:rPr lang="en-US" dirty="0"/>
              <a:t> runs at a matches join point.</a:t>
            </a:r>
          </a:p>
          <a:p>
            <a:pPr lvl="1"/>
            <a:r>
              <a:rPr lang="en-US" dirty="0"/>
              <a:t>Advice defines the “what happens” part of an aspect</a:t>
            </a:r>
          </a:p>
          <a:p>
            <a:r>
              <a:rPr lang="en-US" dirty="0"/>
              <a:t>Advice is applied using variable annotations that determine </a:t>
            </a:r>
            <a:r>
              <a:rPr lang="en-US" b="1" i="1" dirty="0"/>
              <a:t>when</a:t>
            </a:r>
            <a:r>
              <a:rPr lang="en-US" dirty="0"/>
              <a:t> the code should execute: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@Before</a:t>
            </a:r>
            <a:r>
              <a:rPr lang="en-US" dirty="0"/>
              <a:t>: runs before the target method executes.</a:t>
            </a:r>
          </a:p>
          <a:p>
            <a:pPr lvl="1"/>
            <a:r>
              <a:rPr lang="en-US" dirty="0"/>
              <a:t>Note: this cannot prevent the method from running or change it’s result.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@AfterReturning</a:t>
            </a:r>
            <a:r>
              <a:rPr lang="en-US" dirty="0"/>
              <a:t>: runs only if the target method completes successfully (no exceptions are thrown).</a:t>
            </a:r>
          </a:p>
          <a:p>
            <a:pPr lvl="1"/>
            <a:r>
              <a:rPr lang="en-US" dirty="0"/>
              <a:t>Note: This can access the value returned from the target method via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returning</a:t>
            </a:r>
            <a:r>
              <a:rPr lang="en-US" dirty="0"/>
              <a:t> attribute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@AfterThrowing</a:t>
            </a:r>
            <a:r>
              <a:rPr lang="en-US" dirty="0"/>
              <a:t>: runs only after the target method throws an exception.</a:t>
            </a:r>
          </a:p>
          <a:p>
            <a:pPr lvl="1"/>
            <a:r>
              <a:rPr lang="en-US" dirty="0"/>
              <a:t>Note: This can access the thrown exception via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throwing</a:t>
            </a:r>
            <a:r>
              <a:rPr lang="en-US" dirty="0"/>
              <a:t> attribute.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@After</a:t>
            </a:r>
            <a:r>
              <a:rPr lang="en-US" dirty="0"/>
              <a:t>: runs after the target method finishes, regardless of whether it succeeded or threw – similar to a ‘finally’ block.</a:t>
            </a:r>
          </a:p>
          <a:p>
            <a:pPr lvl="1"/>
            <a:r>
              <a:rPr lang="en-US" dirty="0"/>
              <a:t>Typically used for cleanup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D64AE5-4776-FDD3-F6BB-47DDABCF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</a:t>
            </a:r>
          </a:p>
        </p:txBody>
      </p:sp>
    </p:spTree>
    <p:extLst>
      <p:ext uri="{BB962C8B-B14F-4D97-AF65-F5344CB8AC3E}">
        <p14:creationId xmlns:p14="http://schemas.microsoft.com/office/powerpoint/2010/main" val="364685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27B5-DE97-D2B0-F086-DDEEE5924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372E5-70E9-F032-118D-FE87A263E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680B3-02C2-69BD-2C6C-55BD67271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@Around</a:t>
            </a:r>
            <a:r>
              <a:rPr lang="en-US" dirty="0"/>
              <a:t>: Wraps around the entire method call, which lets you:</a:t>
            </a:r>
          </a:p>
          <a:p>
            <a:pPr lvl="1"/>
            <a:r>
              <a:rPr lang="en-US" dirty="0"/>
              <a:t>Run code before and after the target method runs</a:t>
            </a:r>
          </a:p>
          <a:p>
            <a:pPr lvl="1"/>
            <a:r>
              <a:rPr lang="en-US" dirty="0"/>
              <a:t>Inspect or modify arguments</a:t>
            </a:r>
          </a:p>
          <a:p>
            <a:pPr lvl="1"/>
            <a:r>
              <a:rPr lang="en-US" dirty="0"/>
              <a:t>Change the return value</a:t>
            </a:r>
          </a:p>
          <a:p>
            <a:pPr lvl="1"/>
            <a:r>
              <a:rPr lang="en-US" dirty="0"/>
              <a:t>Skip the method entirely</a:t>
            </a:r>
          </a:p>
          <a:p>
            <a:pPr lvl="1"/>
            <a:r>
              <a:rPr lang="en-US" dirty="0"/>
              <a:t>Requires the use of calling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proceed()</a:t>
            </a:r>
            <a:r>
              <a:rPr lang="en-US" dirty="0"/>
              <a:t> on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ProceedingJoinPoint</a:t>
            </a:r>
            <a:r>
              <a:rPr lang="en-US" dirty="0"/>
              <a:t> object.</a:t>
            </a:r>
          </a:p>
          <a:p>
            <a:pPr lvl="1"/>
            <a:r>
              <a:rPr lang="en-US" dirty="0"/>
              <a:t>Most powerful Advice type</a:t>
            </a:r>
          </a:p>
          <a:p>
            <a:r>
              <a:rPr lang="en-US" dirty="0"/>
              <a:t>Although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@Around</a:t>
            </a:r>
            <a:r>
              <a:rPr lang="en-US" dirty="0"/>
              <a:t> is a powerful tool, you should default to using a specific Advice annotation unless some feature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@Around</a:t>
            </a:r>
            <a:r>
              <a:rPr lang="en-US" dirty="0"/>
              <a:t> is required.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90A116-43FC-2D8B-5F31-EB24F729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</a:t>
            </a:r>
          </a:p>
        </p:txBody>
      </p:sp>
    </p:spTree>
    <p:extLst>
      <p:ext uri="{BB962C8B-B14F-4D97-AF65-F5344CB8AC3E}">
        <p14:creationId xmlns:p14="http://schemas.microsoft.com/office/powerpoint/2010/main" val="310429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AE2C-2B61-1399-90C9-7CCD6DD6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F959A8-ACA2-56E1-5A8D-2702E7E582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338B15D-AA2E-E399-D18E-28A53060990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Pointcut and Join Points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79F97-91E1-D901-617F-2FB692BC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9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EDA2-7000-8FB7-BC9C-6CBA23C5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FDE7D-350A-1FAC-3E3E-2C6AFE184D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D9D93-D617-32AB-6D8B-C619293B1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b="1" i="1" dirty="0"/>
              <a:t>Join Point</a:t>
            </a:r>
            <a:r>
              <a:rPr lang="en-US" dirty="0"/>
              <a:t> is a specific point during programing execution where advice </a:t>
            </a:r>
            <a:r>
              <a:rPr lang="en-US" i="1" dirty="0"/>
              <a:t>could</a:t>
            </a:r>
            <a:r>
              <a:rPr lang="en-US" dirty="0"/>
              <a:t> be applied.</a:t>
            </a:r>
          </a:p>
          <a:p>
            <a:pPr lvl="1"/>
            <a:r>
              <a:rPr lang="en-US" dirty="0"/>
              <a:t>In Spring AOP, the </a:t>
            </a:r>
            <a:r>
              <a:rPr lang="en-US" b="1" i="1" dirty="0"/>
              <a:t>only supported join point type is </a:t>
            </a:r>
            <a:r>
              <a:rPr lang="en-US" b="1" i="1" u="sng" dirty="0"/>
              <a:t>method execution</a:t>
            </a:r>
            <a:r>
              <a:rPr lang="en-US" dirty="0"/>
              <a:t> (unlike full AspectJ which supports many more)</a:t>
            </a:r>
          </a:p>
          <a:p>
            <a:r>
              <a:rPr lang="en-US" dirty="0"/>
              <a:t>A </a:t>
            </a:r>
            <a:r>
              <a:rPr lang="en-US" b="1" i="1" dirty="0"/>
              <a:t>pointcut </a:t>
            </a:r>
            <a:r>
              <a:rPr lang="en-US" dirty="0"/>
              <a:t>is an expression that selects </a:t>
            </a:r>
            <a:r>
              <a:rPr lang="en-US" i="1" dirty="0"/>
              <a:t>which</a:t>
            </a:r>
            <a:r>
              <a:rPr lang="en-US" dirty="0"/>
              <a:t> join points a particular piece of advice should actually match, out of all possible ones in your application.</a:t>
            </a:r>
          </a:p>
          <a:p>
            <a:r>
              <a:rPr lang="en-US" dirty="0"/>
              <a:t>Pointcut expressions are written using AspectJ’s expression language.</a:t>
            </a:r>
          </a:p>
          <a:p>
            <a:r>
              <a:rPr lang="en-US" dirty="0"/>
              <a:t>A named pointcut can be created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@Pointcut</a:t>
            </a:r>
            <a:r>
              <a:rPr lang="en-US" dirty="0"/>
              <a:t> annotation.</a:t>
            </a:r>
          </a:p>
          <a:p>
            <a:pPr lvl="1"/>
            <a:r>
              <a:rPr lang="en-US" dirty="0"/>
              <a:t>Named pointcuts allow for better reuse of its expression within an Aspect.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134164-0658-11A8-14D6-655A3B0B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Pointcut &amp; Join Points</a:t>
            </a:r>
          </a:p>
        </p:txBody>
      </p:sp>
    </p:spTree>
    <p:extLst>
      <p:ext uri="{BB962C8B-B14F-4D97-AF65-F5344CB8AC3E}">
        <p14:creationId xmlns:p14="http://schemas.microsoft.com/office/powerpoint/2010/main" val="15031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811C-8797-FECA-5776-21711AE7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93CF6-F617-EFC5-8D72-3B801CEA5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648BC-05CF-EAA5-E117-D71CF11E5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i="1" dirty="0"/>
              <a:t>pointcut designator</a:t>
            </a:r>
            <a:r>
              <a:rPr lang="en-US" b="1" dirty="0"/>
              <a:t> </a:t>
            </a:r>
            <a:r>
              <a:rPr lang="en-US" dirty="0"/>
              <a:t>is a keyword used at the start of a pointcut expression that uses </a:t>
            </a:r>
            <a:r>
              <a:rPr lang="en-US" dirty="0" err="1"/>
              <a:t>SpEL</a:t>
            </a:r>
            <a:r>
              <a:rPr lang="en-US" dirty="0"/>
              <a:t> to inform AspectJ </a:t>
            </a:r>
            <a:r>
              <a:rPr lang="en-US" i="1" dirty="0"/>
              <a:t>what kind of thing you’re matching against.</a:t>
            </a:r>
          </a:p>
          <a:p>
            <a:pPr lvl="1"/>
            <a:r>
              <a:rPr lang="en-US" i="1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@Pointcut(execution(…) )</a:t>
            </a:r>
          </a:p>
          <a:p>
            <a:r>
              <a:rPr lang="en-US" dirty="0"/>
              <a:t>There are various types of designators: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execution</a:t>
            </a:r>
            <a:r>
              <a:rPr lang="en-US" dirty="0"/>
              <a:t>: matched based on the method’s full signature</a:t>
            </a:r>
          </a:p>
          <a:p>
            <a:pPr lvl="2"/>
            <a:r>
              <a:rPr lang="en-US" dirty="0"/>
              <a:t>Most common type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within</a:t>
            </a:r>
            <a:r>
              <a:rPr lang="en-US" dirty="0"/>
              <a:t>: matches based on </a:t>
            </a:r>
            <a:r>
              <a:rPr lang="en-US" i="1" dirty="0"/>
              <a:t>where the executing code lives</a:t>
            </a:r>
            <a:r>
              <a:rPr lang="en-US" dirty="0"/>
              <a:t> (i.e. it’s package)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@annotation</a:t>
            </a:r>
            <a:r>
              <a:rPr lang="en-US" dirty="0"/>
              <a:t>: matches based on whether the method carries a specific annotation, regardless of its name, package or signature.</a:t>
            </a:r>
          </a:p>
          <a:p>
            <a:r>
              <a:rPr lang="en-US" dirty="0"/>
              <a:t>A full list of designators can be found here: </a:t>
            </a:r>
            <a:r>
              <a:rPr lang="en-US" dirty="0">
                <a:hlinkClick r:id="rId2"/>
              </a:rPr>
              <a:t>Declaring a Pointcut :: Spring Framework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AEBC59-228B-0382-B7C4-968D9B20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Pointcut Designators</a:t>
            </a:r>
          </a:p>
        </p:txBody>
      </p:sp>
    </p:spTree>
    <p:extLst>
      <p:ext uri="{BB962C8B-B14F-4D97-AF65-F5344CB8AC3E}">
        <p14:creationId xmlns:p14="http://schemas.microsoft.com/office/powerpoint/2010/main" val="149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05ECE-5025-B92B-CF55-AABAA01B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48E69-FB1A-954A-DCE0-BD7377BD2E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C5A29-CE5A-FBD2-2820-313426F57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execution()</a:t>
            </a:r>
            <a:r>
              <a:rPr lang="en-US" dirty="0"/>
              <a:t> matches the method execution based on:</a:t>
            </a:r>
          </a:p>
          <a:p>
            <a:pPr lvl="1"/>
            <a:r>
              <a:rPr lang="en-US" dirty="0"/>
              <a:t>modifiers</a:t>
            </a:r>
          </a:p>
          <a:p>
            <a:pPr lvl="1"/>
            <a:r>
              <a:rPr lang="en-US" dirty="0"/>
              <a:t>return type</a:t>
            </a:r>
          </a:p>
          <a:p>
            <a:pPr lvl="1"/>
            <a:r>
              <a:rPr lang="en-US" dirty="0"/>
              <a:t>declaring type</a:t>
            </a:r>
          </a:p>
          <a:p>
            <a:pPr lvl="1"/>
            <a:r>
              <a:rPr lang="en-US" dirty="0"/>
              <a:t>method name</a:t>
            </a:r>
          </a:p>
          <a:p>
            <a:pPr lvl="1"/>
            <a:r>
              <a:rPr lang="en-US" dirty="0"/>
              <a:t>Parameters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execution(modifiers-pattern? ret-type-pattern declaring-type-pattern? name-pattern(param-pattern) throws-pattern?)</a:t>
            </a:r>
          </a:p>
          <a:p>
            <a:pPr lvl="1"/>
            <a:r>
              <a:rPr lang="en-US" dirty="0"/>
              <a:t>Each pattern followed by a ‘?’ is optional.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447D6B-4BFF-396E-D3D7-B0C0C087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Pointcut Designators | execution</a:t>
            </a:r>
          </a:p>
        </p:txBody>
      </p:sp>
    </p:spTree>
    <p:extLst>
      <p:ext uri="{BB962C8B-B14F-4D97-AF65-F5344CB8AC3E}">
        <p14:creationId xmlns:p14="http://schemas.microsoft.com/office/powerpoint/2010/main" val="83881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ABA4C-6703-B8DD-8A74-043586F4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43B58-38D8-FA5D-827D-1A110190BA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33265FE-B6D0-5D52-EC0F-21C0709F1A5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Proxies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5019B-E001-A00B-3A64-7AC6A7579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62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A2A9-5AF1-A65D-C93F-289CB3F9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9F729-A4A6-CD03-E79D-8826133A67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096BA4-F681-1CD2-01E7-610A5A9F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Spring AOP intercepts method calls by creating a </a:t>
            </a:r>
            <a:r>
              <a:rPr lang="en-US" b="1" i="1" dirty="0"/>
              <a:t>proxy object</a:t>
            </a:r>
            <a:r>
              <a:rPr lang="en-US" dirty="0"/>
              <a:t> at runtime.</a:t>
            </a:r>
          </a:p>
          <a:p>
            <a:r>
              <a:rPr lang="en-US" dirty="0"/>
              <a:t>This proxy wraps around the real bean</a:t>
            </a:r>
          </a:p>
          <a:p>
            <a:pPr lvl="1"/>
            <a:r>
              <a:rPr lang="en-US" dirty="0"/>
              <a:t>This is how Spring AOP get around AspectJ’s ‘weaving’</a:t>
            </a:r>
          </a:p>
          <a:p>
            <a:r>
              <a:rPr lang="en-US" dirty="0"/>
              <a:t>There are two proxy strategies:</a:t>
            </a:r>
          </a:p>
          <a:p>
            <a:pPr lvl="1"/>
            <a:r>
              <a:rPr lang="en-US" dirty="0"/>
              <a:t>JDK dynamic proxies: built into java. </a:t>
            </a:r>
          </a:p>
          <a:p>
            <a:pPr lvl="2"/>
            <a:r>
              <a:rPr lang="en-US" dirty="0"/>
              <a:t>Works by having the proxy implement the same interface on the target class. JDK proxy then reflectively examining the code</a:t>
            </a:r>
          </a:p>
          <a:p>
            <a:pPr lvl="1"/>
            <a:r>
              <a:rPr lang="en-US" dirty="0"/>
              <a:t>CGLIB proxies: A runtime generated subclass of the target</a:t>
            </a:r>
          </a:p>
          <a:p>
            <a:pPr lvl="2"/>
            <a:r>
              <a:rPr lang="en-US" dirty="0"/>
              <a:t>Spring Boot AOP uses a CGLIB proxy by default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A281F8-78F4-426F-F575-AE2A5814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</p:txBody>
      </p:sp>
    </p:spTree>
    <p:extLst>
      <p:ext uri="{BB962C8B-B14F-4D97-AF65-F5344CB8AC3E}">
        <p14:creationId xmlns:p14="http://schemas.microsoft.com/office/powerpoint/2010/main" val="400908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4108-B361-B228-A736-AFA36389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9C11F-C722-A7F2-43C7-2C64DEA8EF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E3E64-677C-008A-41C0-2E25D8F62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71600"/>
            <a:ext cx="8383980" cy="53572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spring </a:t>
            </a:r>
            <a:r>
              <a:rPr lang="en-US" dirty="0" err="1"/>
              <a:t>autowires</a:t>
            </a:r>
            <a:r>
              <a:rPr lang="en-US" dirty="0"/>
              <a:t> beans (using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  <a:r>
              <a:rPr lang="en-US" dirty="0"/>
              <a:t> annotation, or automatically) the </a:t>
            </a:r>
            <a:r>
              <a:rPr lang="en-US" dirty="0" err="1"/>
              <a:t>autowired</a:t>
            </a:r>
            <a:r>
              <a:rPr lang="en-US" dirty="0"/>
              <a:t> entity is a proxy</a:t>
            </a:r>
          </a:p>
          <a:p>
            <a:r>
              <a:rPr lang="en-US" dirty="0"/>
              <a:t>Callers always go through the proxy first, which runs matched advice, then delegates to the real method.</a:t>
            </a:r>
          </a:p>
          <a:p>
            <a:pPr lvl="1"/>
            <a:r>
              <a:rPr lang="en-US" dirty="0"/>
              <a:t>Note: This means you can actually design code to go around the proxy – if your class invokes it’s own methods, it will invoke them on the raw object, bypassing the proxy.</a:t>
            </a:r>
          </a:p>
          <a:p>
            <a:pPr lvl="1"/>
            <a:r>
              <a:rPr lang="en-US" dirty="0"/>
              <a:t>To get around this – never invoke another method directly on the class, or create a ‘circular reference’ for the bean, i.e. </a:t>
            </a:r>
            <a:r>
              <a:rPr lang="en-US" dirty="0" err="1"/>
              <a:t>Autowire</a:t>
            </a:r>
            <a:r>
              <a:rPr lang="en-US" dirty="0"/>
              <a:t> a reference to the same bean within itself.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B8161F-A957-116B-9BCC-5DC9AF49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&amp; </a:t>
            </a:r>
            <a:r>
              <a:rPr lang="en-US" dirty="0" err="1"/>
              <a:t>Autowiring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8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9944-4C55-9ABF-3DD6-266CB9D8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DEE6BF-E4FE-42BB-3E11-C11C05786B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220108E-02FE-AE49-EC11-A0DE16063DD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Logging with AOP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4B337A-D2AC-5298-C893-D858A65C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73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9F82-1675-D300-F1F9-3AF5F1C3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62BB9-4AE6-C9D9-F1AE-BF1A9D8BA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5D37B-75FA-5D2A-3645-9C4D8BC54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55271"/>
            <a:ext cx="8383980" cy="53735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Spring Boot starter modules include Logback as a dependency.</a:t>
            </a:r>
          </a:p>
          <a:p>
            <a:r>
              <a:rPr lang="en-US" dirty="0"/>
              <a:t>By default, Spring Boot only logs to the console.</a:t>
            </a:r>
          </a:p>
          <a:p>
            <a:r>
              <a:rPr lang="en-US" dirty="0"/>
              <a:t>You can configure logging for your spring application in one of two locations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/>
              <a:t>: common and simple approach</a:t>
            </a:r>
          </a:p>
          <a:p>
            <a:pPr lvl="1"/>
            <a:r>
              <a:rPr lang="en-US" dirty="0"/>
              <a:t>Useful when you don’t have specific requirements for your applications logging (i.e. you just need a simple logging config)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logback-spring.xml</a:t>
            </a:r>
            <a:r>
              <a:rPr lang="en-US" dirty="0"/>
              <a:t>: a separate file you can create if you have specific, customizations required for your logs</a:t>
            </a:r>
          </a:p>
          <a:p>
            <a:pPr lvl="1"/>
            <a:r>
              <a:rPr lang="en-US" dirty="0"/>
              <a:t>Allows you more control over logging, including the creation of separate Loggers and </a:t>
            </a:r>
            <a:r>
              <a:rPr lang="en-US" dirty="0" err="1"/>
              <a:t>Appenders</a:t>
            </a:r>
            <a:endParaRPr lang="en-US" dirty="0"/>
          </a:p>
          <a:p>
            <a:pPr lvl="2"/>
            <a:r>
              <a:rPr lang="en-US" dirty="0"/>
              <a:t>E.g. Separate log files for Controllers vs Services vs Repositories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AAC06-4D6C-DFB0-74D7-2008970A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Config with Spring</a:t>
            </a:r>
          </a:p>
        </p:txBody>
      </p:sp>
    </p:spTree>
    <p:extLst>
      <p:ext uri="{BB962C8B-B14F-4D97-AF65-F5344CB8AC3E}">
        <p14:creationId xmlns:p14="http://schemas.microsoft.com/office/powerpoint/2010/main" val="14766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CCC9-8123-66F7-8F65-126424EF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B9247-4DB7-EC98-2FBA-B66BA3564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F5675-DAEF-0C3A-FA4C-D05D897E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5899"/>
            <a:ext cx="8383980" cy="52429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logging aspect is one of the most common real-world uses of Spring AOP</a:t>
            </a:r>
          </a:p>
          <a:p>
            <a:pPr lvl="1"/>
            <a:r>
              <a:rPr lang="en-US" dirty="0"/>
              <a:t>It provides consistent entry/exit/timing/error logging to methods without touching their code.</a:t>
            </a:r>
          </a:p>
          <a:p>
            <a:pPr lvl="1"/>
            <a:r>
              <a:rPr lang="en-US" dirty="0"/>
              <a:t>Note: Within your Logging Aspect, you must remember to create a Logger via the SLF4J </a:t>
            </a:r>
            <a:r>
              <a:rPr lang="en-US" dirty="0" err="1"/>
              <a:t>LoggerFactory</a:t>
            </a:r>
            <a:r>
              <a:rPr lang="en-US" dirty="0"/>
              <a:t>.</a:t>
            </a:r>
          </a:p>
          <a:p>
            <a:r>
              <a:rPr lang="en-US" dirty="0"/>
              <a:t>The best practice to drive logging is through the creation of a custom, marker annotation (e.g.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LogExecution</a:t>
            </a:r>
            <a:r>
              <a:rPr lang="en-US" dirty="0"/>
              <a:t>’)</a:t>
            </a:r>
          </a:p>
          <a:p>
            <a:r>
              <a:rPr lang="en-US" dirty="0"/>
              <a:t>This marker annotation can be matched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@annotation</a:t>
            </a:r>
            <a:r>
              <a:rPr lang="en-US" dirty="0"/>
              <a:t> pointcut designator.</a:t>
            </a:r>
          </a:p>
          <a:p>
            <a:r>
              <a:rPr lang="en-US" dirty="0"/>
              <a:t>This allows you to easily and deliberately opt-in to logging, method-by-method.</a:t>
            </a:r>
          </a:p>
          <a:p>
            <a:pPr lvl="1"/>
            <a:r>
              <a:rPr lang="en-US" dirty="0"/>
              <a:t>i.e. Add the marker annotation to any method you want to record Logs for.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25F9E0-EAE9-306B-AB7D-73B7FF1D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with AOP</a:t>
            </a:r>
          </a:p>
        </p:txBody>
      </p:sp>
    </p:spTree>
    <p:extLst>
      <p:ext uri="{BB962C8B-B14F-4D97-AF65-F5344CB8AC3E}">
        <p14:creationId xmlns:p14="http://schemas.microsoft.com/office/powerpoint/2010/main" val="287532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2C8F-E943-5487-D797-6F0BCBED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CEF76-B581-D445-EB6B-72EBD37749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E9FC3-2C01-ADE8-56AC-E8E413752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5899"/>
            <a:ext cx="8383980" cy="5242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custom annotation can be created using the following syntax: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@interface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AnnotationName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When creating a custom Annotation for the purpose of AOP, it is important to use two other annotations in its definition: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@Retention</a:t>
            </a:r>
            <a:r>
              <a:rPr lang="en-US" dirty="0"/>
              <a:t>: determines how long the annotation survives after compilation. Some annotations are only compile-time checks (@FunctionalInterface), whereas others should be available throughout the lifetime of a class/application’s runtime.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@Target</a:t>
            </a:r>
            <a:r>
              <a:rPr lang="en-US" dirty="0"/>
              <a:t>: defines where the annotation can be applied. This is not a requirement, but is commonly used to denote the annotation only applied to Methods. Method execution is the only Join Point in Spring AOP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8ED9F-AE68-EFF2-32E9-C7A2EB4A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Marker Annotation</a:t>
            </a:r>
          </a:p>
        </p:txBody>
      </p:sp>
    </p:spTree>
    <p:extLst>
      <p:ext uri="{BB962C8B-B14F-4D97-AF65-F5344CB8AC3E}">
        <p14:creationId xmlns:p14="http://schemas.microsoft.com/office/powerpoint/2010/main" val="396137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9475</TotalTime>
  <Words>1604</Words>
  <Application>Microsoft Office PowerPoint</Application>
  <PresentationFormat>On-screen Show (4:3)</PresentationFormat>
  <Paragraphs>157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2_Custom Design</vt:lpstr>
      <vt:lpstr>Spring AOP</vt:lpstr>
      <vt:lpstr>Outline</vt:lpstr>
      <vt:lpstr>PowerPoint Presentation</vt:lpstr>
      <vt:lpstr>Aspect Oriented Programming (AOP)</vt:lpstr>
      <vt:lpstr>Aspect Oriented Programming (AOP)</vt:lpstr>
      <vt:lpstr>PowerPoint Presentation</vt:lpstr>
      <vt:lpstr>AspectJ</vt:lpstr>
      <vt:lpstr>Spring AOP</vt:lpstr>
      <vt:lpstr>PowerPoint Presentation</vt:lpstr>
      <vt:lpstr>Advice</vt:lpstr>
      <vt:lpstr>Advice</vt:lpstr>
      <vt:lpstr>PowerPoint Presentation</vt:lpstr>
      <vt:lpstr>Pointcut &amp; Join Points</vt:lpstr>
      <vt:lpstr>Pointcut Designators</vt:lpstr>
      <vt:lpstr>Pointcut Designators | execution</vt:lpstr>
      <vt:lpstr>PowerPoint Presentation</vt:lpstr>
      <vt:lpstr>Proxies</vt:lpstr>
      <vt:lpstr>Proxies &amp; Autowiring</vt:lpstr>
      <vt:lpstr>PowerPoint Presentation</vt:lpstr>
      <vt:lpstr>Logging Config with Spring</vt:lpstr>
      <vt:lpstr>Logging with AOP</vt:lpstr>
      <vt:lpstr>Custom Marker Annotation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16</cp:revision>
  <cp:lastPrinted>2016-06-20T20:58:50Z</cp:lastPrinted>
  <dcterms:created xsi:type="dcterms:W3CDTF">2016-11-09T18:19:08Z</dcterms:created>
  <dcterms:modified xsi:type="dcterms:W3CDTF">2026-09-01T19:59:42Z</dcterms:modified>
</cp:coreProperties>
</file>