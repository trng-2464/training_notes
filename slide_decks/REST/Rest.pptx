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33"/>
  </p:notesMasterIdLst>
  <p:sldIdLst>
    <p:sldId id="256" r:id="rId2"/>
    <p:sldId id="343" r:id="rId3"/>
    <p:sldId id="364" r:id="rId4"/>
    <p:sldId id="335" r:id="rId5"/>
    <p:sldId id="361" r:id="rId6"/>
    <p:sldId id="368" r:id="rId7"/>
    <p:sldId id="369" r:id="rId8"/>
    <p:sldId id="370" r:id="rId9"/>
    <p:sldId id="371" r:id="rId10"/>
    <p:sldId id="372" r:id="rId11"/>
    <p:sldId id="373" r:id="rId12"/>
    <p:sldId id="363" r:id="rId13"/>
    <p:sldId id="384" r:id="rId14"/>
    <p:sldId id="374" r:id="rId15"/>
    <p:sldId id="375" r:id="rId16"/>
    <p:sldId id="376" r:id="rId17"/>
    <p:sldId id="377" r:id="rId18"/>
    <p:sldId id="378" r:id="rId19"/>
    <p:sldId id="379" r:id="rId20"/>
    <p:sldId id="334" r:id="rId21"/>
    <p:sldId id="365" r:id="rId22"/>
    <p:sldId id="380" r:id="rId23"/>
    <p:sldId id="382" r:id="rId24"/>
    <p:sldId id="360" r:id="rId25"/>
    <p:sldId id="383" r:id="rId26"/>
    <p:sldId id="385" r:id="rId27"/>
    <p:sldId id="366" r:id="rId28"/>
    <p:sldId id="386" r:id="rId29"/>
    <p:sldId id="367" r:id="rId30"/>
    <p:sldId id="387" r:id="rId31"/>
    <p:sldId id="270" r:id="rId32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98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/>
              <a:t>Intro to REST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Introduction to REST</a:t>
            </a:r>
          </a:p>
          <a:p>
            <a:r>
              <a:rPr lang="en-US" dirty="0"/>
              <a:t>REST Resources &amp; URLs</a:t>
            </a:r>
          </a:p>
          <a:p>
            <a:r>
              <a:rPr lang="en-US" dirty="0"/>
              <a:t>REST Architectural Constraints</a:t>
            </a:r>
          </a:p>
          <a:p>
            <a:r>
              <a:rPr lang="en-US" dirty="0"/>
              <a:t>Exposing &amp; Consuming RESTful API Endpoints</a:t>
            </a:r>
          </a:p>
          <a:p>
            <a:r>
              <a:rPr lang="en-US" dirty="0"/>
              <a:t>Authorization vs Authentication</a:t>
            </a:r>
          </a:p>
          <a:p>
            <a:r>
              <a:rPr lang="en-US" dirty="0"/>
              <a:t>Session Management</a:t>
            </a:r>
          </a:p>
          <a:p>
            <a:r>
              <a:rPr lang="en-US" dirty="0"/>
              <a:t>HTTP Cookies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0486-AFE4-BB8D-F32F-F337EFDC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88CB9-E132-17F6-8F68-938B729F0E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02FC166-A7FB-D83F-5559-89794ABD96B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REST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D31BD8-423C-4AB6-DBE1-FABE5B06A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482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Representational State Transfer (REST)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REST, or </a:t>
            </a:r>
            <a:r>
              <a:rPr lang="en-US" sz="2000" b="1" u="sng" dirty="0" err="1"/>
              <a:t>RE</a:t>
            </a:r>
            <a:r>
              <a:rPr lang="en-US" sz="2000" dirty="0" err="1"/>
              <a:t>presentational</a:t>
            </a:r>
            <a:r>
              <a:rPr lang="en-US" sz="2000" dirty="0"/>
              <a:t> </a:t>
            </a:r>
            <a:r>
              <a:rPr lang="en-US" sz="2000" b="1" u="sng" dirty="0"/>
              <a:t>S</a:t>
            </a:r>
            <a:r>
              <a:rPr lang="en-US" sz="2000" dirty="0"/>
              <a:t>tate </a:t>
            </a:r>
            <a:r>
              <a:rPr lang="en-US" sz="2000" b="1" u="sng" dirty="0"/>
              <a:t>T</a:t>
            </a:r>
            <a:r>
              <a:rPr lang="en-US" sz="2000" dirty="0"/>
              <a:t>ransfer, is an architectural style which provides standards between computer systems and the web.</a:t>
            </a:r>
          </a:p>
          <a:p>
            <a:r>
              <a:rPr lang="en-US" sz="2000" dirty="0"/>
              <a:t>Defined by Roy Fielding in early 2000.</a:t>
            </a:r>
          </a:p>
          <a:p>
            <a:r>
              <a:rPr lang="en-US" sz="2000" dirty="0"/>
              <a:t>REST is used to create web service applications, making it easier for systems to communicate with </a:t>
            </a:r>
            <a:r>
              <a:rPr lang="en-US" sz="2000" dirty="0" err="1"/>
              <a:t>eachother</a:t>
            </a:r>
            <a:r>
              <a:rPr lang="en-US" sz="2000" dirty="0"/>
              <a:t>. </a:t>
            </a:r>
          </a:p>
          <a:p>
            <a:r>
              <a:rPr lang="en-US" sz="2000" dirty="0"/>
              <a:t>REST focuses on the exposure and consumption of Data from a server. </a:t>
            </a:r>
          </a:p>
          <a:p>
            <a:pPr lvl="1"/>
            <a:r>
              <a:rPr lang="en-US" sz="1600" dirty="0"/>
              <a:t>Unlike SOAP and RPC, REST is not a Protocol, but rather a set of guiding principles used to design a web application that is simple to interact with and scalable.</a:t>
            </a:r>
          </a:p>
          <a:p>
            <a:r>
              <a:rPr lang="en-US" sz="2000" dirty="0"/>
              <a:t>A RESTful server should not retain information about the state of the client.</a:t>
            </a:r>
          </a:p>
          <a:p>
            <a:r>
              <a:rPr lang="en-US" sz="2000" dirty="0"/>
              <a:t>Clients communicate with the server through an interface that is standard, in that follows a set of constraints:</a:t>
            </a:r>
          </a:p>
          <a:p>
            <a:pPr lvl="1"/>
            <a:r>
              <a:rPr lang="en-US" sz="1600" dirty="0"/>
              <a:t>“Identification of resources; manipulation through representations; self-descriptive messages; and hypermedia as the engine of application state” – Roy Fielding</a:t>
            </a:r>
          </a:p>
          <a:p>
            <a:r>
              <a:rPr lang="en-US" sz="2000" dirty="0"/>
              <a:t>In a ‘RESTful’ system, the server creates an object or resource and returns the state of that object (the values contained within the object) when requested by the client.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7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43DD2-0ADE-D11B-CEB8-C410AC5B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9AC01D-5805-ADD6-892B-387F5B2A23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B6B63B7-B64F-D990-9DFA-DFA47EF50EB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REST Resources &amp; URLs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5CFBA-3D96-ABF4-9156-2B10763A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1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9626-2AD9-3F70-7F01-39AED601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A1BD9-4354-45DB-6EE5-AEDDA427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188C0-E903-D620-27F5-5FC688692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Resources in REST is information that can be named.</a:t>
            </a:r>
          </a:p>
          <a:p>
            <a:r>
              <a:rPr lang="en-US" sz="2000" dirty="0"/>
              <a:t>A service, document, image etc, might all be considered a resource</a:t>
            </a:r>
          </a:p>
          <a:p>
            <a:r>
              <a:rPr lang="en-US" sz="2000" dirty="0"/>
              <a:t>It’s important to note that the state associated with a resource might change over time, but those changes do not indicate new resources.</a:t>
            </a:r>
          </a:p>
          <a:p>
            <a:endParaRPr lang="en-US" sz="2000" dirty="0"/>
          </a:p>
          <a:p>
            <a:r>
              <a:rPr lang="en-US" sz="2000" dirty="0"/>
              <a:t>For example: You might consider a resource to be “The weather in Reston, VA.”</a:t>
            </a:r>
          </a:p>
          <a:p>
            <a:pPr lvl="1"/>
            <a:r>
              <a:rPr lang="en-US" sz="1600" dirty="0"/>
              <a:t>Today the weather is sunny and 85 degrees F. Tomorrow, it might be cloudy and 70 degrees F.</a:t>
            </a:r>
          </a:p>
          <a:p>
            <a:pPr lvl="1"/>
            <a:r>
              <a:rPr lang="en-US" sz="1600" dirty="0"/>
              <a:t>It’s important to note that the weather today, and the weather tomorrow do not (based on this setup), indicate different resources – they represent different states of the same resource.</a:t>
            </a:r>
          </a:p>
          <a:p>
            <a:r>
              <a:rPr lang="en-US" sz="2000" dirty="0"/>
              <a:t>A ‘resource representation’ is the particular state of the resource which is returned to the client of a restful service. In the example above “sunny and 85 degrees F” was the resource representation.</a:t>
            </a:r>
          </a:p>
          <a:p>
            <a:r>
              <a:rPr lang="en-US" sz="2000" dirty="0"/>
              <a:t>Resource Representations will adhere to some standard – like JSON or XML.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7C648-0D6F-98B4-67DC-91FE3A545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3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CD15-CBB4-AC22-4926-E85D3976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8971-6D30-B0A4-F35E-8EF38F15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Resources &amp; URLs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B8229-2B67-9C53-9C84-5D6B55DC8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Autofit/>
          </a:bodyPr>
          <a:lstStyle/>
          <a:p>
            <a:r>
              <a:rPr lang="en-US" sz="2400" dirty="0"/>
              <a:t>In order for resources to be useful to be distributed parts of a RESTful application; resources must be </a:t>
            </a:r>
            <a:r>
              <a:rPr lang="en-US" sz="2400" b="1" u="sng" dirty="0"/>
              <a:t>exposed</a:t>
            </a:r>
            <a:r>
              <a:rPr lang="en-US" sz="2400" dirty="0"/>
              <a:t> in some way</a:t>
            </a:r>
          </a:p>
          <a:p>
            <a:r>
              <a:rPr lang="en-US" sz="2400" dirty="0"/>
              <a:t>Resource Identifies serve this purpose.</a:t>
            </a:r>
          </a:p>
          <a:p>
            <a:r>
              <a:rPr lang="en-US" sz="2400" dirty="0"/>
              <a:t>Resource Identifies make resources useful across the network and allow the client to request a resource’s representation</a:t>
            </a:r>
          </a:p>
          <a:p>
            <a:r>
              <a:rPr lang="en-US" sz="2400" dirty="0"/>
              <a:t>A particular resource identifier will be associated with a resource, and will drive the manner in which relationships between this and other resources are established.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E1CA3-E0C7-E173-BDD5-A7F045EB48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6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E0B4-A46F-E200-5BEF-2CB9EF88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5BE8-4D27-258E-17DC-3D95BA534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8BB37-305C-2DA0-B190-89BEBD710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A URL (</a:t>
            </a:r>
            <a:r>
              <a:rPr lang="en-US" sz="2400" b="1" u="sng" dirty="0"/>
              <a:t>U</a:t>
            </a:r>
            <a:r>
              <a:rPr lang="en-US" sz="2400" dirty="0"/>
              <a:t>niversal </a:t>
            </a:r>
            <a:r>
              <a:rPr lang="en-US" sz="2400" b="1" u="sng" dirty="0"/>
              <a:t>R</a:t>
            </a:r>
            <a:r>
              <a:rPr lang="en-US" sz="2400" dirty="0"/>
              <a:t>esource </a:t>
            </a:r>
            <a:r>
              <a:rPr lang="en-US" sz="2400" b="1" u="sng" dirty="0"/>
              <a:t>L</a:t>
            </a:r>
            <a:r>
              <a:rPr lang="en-US" sz="2400" dirty="0"/>
              <a:t>ocator) is a very frequently used form of resource identifier in a RESTful service.</a:t>
            </a:r>
          </a:p>
          <a:p>
            <a:r>
              <a:rPr lang="en-US" sz="2400" dirty="0"/>
              <a:t>URLs for an address on the web, and follow a particular format:</a:t>
            </a:r>
          </a:p>
          <a:p>
            <a:pPr lvl="1"/>
            <a:r>
              <a:rPr lang="en-US" sz="1800" dirty="0"/>
              <a:t>[Protocol] [domain name] [port] [path](path parameters – if any) (query parameters – if any) [anchor]</a:t>
            </a:r>
          </a:p>
          <a:p>
            <a:pPr lvl="1"/>
            <a:r>
              <a:rPr lang="en-US" sz="1800" dirty="0"/>
              <a:t>Example:</a:t>
            </a:r>
          </a:p>
          <a:p>
            <a:pPr lvl="1"/>
            <a:r>
              <a:rPr lang="en-US" sz="1800" b="1" dirty="0">
                <a:highlight>
                  <a:srgbClr val="FFFF00"/>
                </a:highlight>
              </a:rPr>
              <a:t>https://www.youtube.com/watch?v=w5j2KwzzB-0</a:t>
            </a:r>
          </a:p>
          <a:p>
            <a:pPr lvl="2"/>
            <a:r>
              <a:rPr lang="en-US" sz="1800" dirty="0"/>
              <a:t>protocol: https</a:t>
            </a:r>
          </a:p>
          <a:p>
            <a:pPr lvl="2"/>
            <a:r>
              <a:rPr lang="en-US" sz="1800" dirty="0"/>
              <a:t>domain name: www.youtube.com</a:t>
            </a:r>
          </a:p>
          <a:p>
            <a:pPr lvl="2"/>
            <a:r>
              <a:rPr lang="en-US" sz="1800" dirty="0"/>
              <a:t>path: watch</a:t>
            </a:r>
          </a:p>
          <a:p>
            <a:pPr lvl="2"/>
            <a:r>
              <a:rPr lang="en-US" sz="1800" dirty="0"/>
              <a:t>parameter: v</a:t>
            </a:r>
          </a:p>
          <a:p>
            <a:pPr lvl="2"/>
            <a:r>
              <a:rPr lang="en-US" sz="1800" dirty="0"/>
              <a:t>value of the parameter: w5j2KwzzB-0</a:t>
            </a:r>
            <a:endParaRPr lang="en-US" sz="1400" dirty="0"/>
          </a:p>
          <a:p>
            <a:r>
              <a:rPr lang="en-US" sz="2400" dirty="0"/>
              <a:t>Ideally, resource identifiers should change as little as possible over time (even as the state of the resource they identify changes).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5AC2D-E952-FE79-FDB5-3CDDD61DB0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5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4001D-11B3-0D2E-9AB0-4E154670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3771-C1CA-EF8E-E835-E31277D9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URL 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7D45-45CA-0D7C-B3EC-9FC63D344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/>
          </a:bodyPr>
          <a:lstStyle/>
          <a:p>
            <a:r>
              <a:rPr lang="en-US" dirty="0"/>
              <a:t>Whenever possible use nouns to name resources:</a:t>
            </a:r>
          </a:p>
          <a:p>
            <a:pPr lvl="1"/>
            <a:r>
              <a:rPr lang="en-US" sz="2000" dirty="0"/>
              <a:t>“users” and a “user”</a:t>
            </a:r>
          </a:p>
          <a:p>
            <a:pPr lvl="1"/>
            <a:r>
              <a:rPr lang="en-US" sz="2000" dirty="0"/>
              <a:t>“accounts” and an “account”</a:t>
            </a:r>
          </a:p>
          <a:p>
            <a:pPr lvl="1"/>
            <a:r>
              <a:rPr lang="en-US" sz="2000" dirty="0"/>
              <a:t>etc…</a:t>
            </a:r>
          </a:p>
          <a:p>
            <a:r>
              <a:rPr lang="en-US" dirty="0"/>
              <a:t>Typically, begin with the plural collection for a particular resource (assuming your resource can be grouped into a collection):</a:t>
            </a:r>
          </a:p>
          <a:p>
            <a:pPr lvl="1"/>
            <a:r>
              <a:rPr lang="en-US" sz="2000" dirty="0"/>
              <a:t>Collections of resources are typically managed by the server:</a:t>
            </a:r>
          </a:p>
          <a:p>
            <a:pPr lvl="2"/>
            <a:r>
              <a:rPr lang="en-US" sz="1600" dirty="0"/>
              <a:t>/users</a:t>
            </a:r>
          </a:p>
          <a:p>
            <a:pPr lvl="2"/>
            <a:r>
              <a:rPr lang="en-US" sz="1600" dirty="0"/>
              <a:t>/accounts</a:t>
            </a:r>
          </a:p>
          <a:p>
            <a:pPr lvl="2"/>
            <a:r>
              <a:rPr lang="en-US" sz="1600" dirty="0"/>
              <a:t>/students</a:t>
            </a:r>
          </a:p>
          <a:p>
            <a:pPr lvl="2"/>
            <a:r>
              <a:rPr lang="en-US" sz="1600" dirty="0"/>
              <a:t>/batches</a:t>
            </a:r>
          </a:p>
          <a:p>
            <a:pPr lvl="2"/>
            <a:r>
              <a:rPr lang="en-US" sz="1600" dirty="0"/>
              <a:t>/associates</a:t>
            </a:r>
          </a:p>
          <a:p>
            <a:pPr lvl="2"/>
            <a:r>
              <a:rPr lang="en-US" sz="1600" dirty="0"/>
              <a:t>etc…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D3E7C-726C-FFD4-E821-366F4F9D6D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0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5C360-4C63-D182-BEFC-DB6B23AA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E61A-AFA3-CADF-B709-AC25F9F4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URL 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7C893-A7E4-6891-A706-B5FC46BDA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Use path parameters to identify a “singleton” resource in a specific document/record within a particular collection.</a:t>
            </a:r>
          </a:p>
          <a:p>
            <a:pPr lvl="1"/>
            <a:r>
              <a:rPr lang="en-US" sz="1800" dirty="0"/>
              <a:t>/users/{id}</a:t>
            </a:r>
          </a:p>
          <a:p>
            <a:pPr lvl="1"/>
            <a:r>
              <a:rPr lang="en-US" sz="1800" dirty="0"/>
              <a:t>/accounts/{id}</a:t>
            </a:r>
          </a:p>
          <a:p>
            <a:pPr lvl="1"/>
            <a:r>
              <a:rPr lang="en-US" sz="1800" dirty="0"/>
              <a:t>etc…</a:t>
            </a:r>
          </a:p>
          <a:p>
            <a:r>
              <a:rPr lang="en-US" sz="2400" dirty="0"/>
              <a:t>Capitalize on path structure to represent a hierarchy</a:t>
            </a:r>
          </a:p>
          <a:p>
            <a:r>
              <a:rPr lang="en-US" sz="2400" dirty="0"/>
              <a:t>Identify stores of resources that are managed by the client</a:t>
            </a:r>
          </a:p>
          <a:p>
            <a:pPr lvl="1"/>
            <a:r>
              <a:rPr lang="en-US" sz="1800" dirty="0"/>
              <a:t>There will typically be a kind of sub-collection, i.e.</a:t>
            </a:r>
          </a:p>
          <a:p>
            <a:pPr lvl="2"/>
            <a:r>
              <a:rPr lang="en-US" sz="1400" dirty="0"/>
              <a:t>/associates/{id}/projects</a:t>
            </a:r>
          </a:p>
          <a:p>
            <a:pPr lvl="1"/>
            <a:r>
              <a:rPr lang="en-US" sz="1800" dirty="0"/>
              <a:t>Try not to go too many levels deep</a:t>
            </a:r>
          </a:p>
          <a:p>
            <a:r>
              <a:rPr lang="en-US" sz="2400" dirty="0"/>
              <a:t>Finally, use query parameters to filter resources of a particular type:</a:t>
            </a:r>
          </a:p>
          <a:p>
            <a:pPr lvl="1"/>
            <a:r>
              <a:rPr lang="en-US" sz="1800" dirty="0"/>
              <a:t>/associates/{id}/</a:t>
            </a:r>
            <a:r>
              <a:rPr lang="en-US" sz="1800" dirty="0" err="1"/>
              <a:t>projects?subject</a:t>
            </a:r>
            <a:r>
              <a:rPr lang="en-US" sz="1800" dirty="0"/>
              <a:t>=java</a:t>
            </a:r>
          </a:p>
          <a:p>
            <a:pPr lvl="1"/>
            <a:r>
              <a:rPr lang="en-US" sz="1800" dirty="0"/>
              <a:t>/associates/{id}/</a:t>
            </a:r>
            <a:r>
              <a:rPr lang="en-US" sz="1800" dirty="0" err="1"/>
              <a:t>projects?week</a:t>
            </a:r>
            <a:r>
              <a:rPr lang="en-US" sz="1800" dirty="0"/>
              <a:t>=3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258EF-3566-ED1B-88C1-8FA21710AB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4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C211-6AE0-5F18-5A1A-061E5F74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FE59-2E5D-EA24-07AC-2EE049EE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URL 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7B64F-7E4E-4C39-7571-CB3B78D6D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746413"/>
          </a:xfrm>
        </p:spPr>
        <p:txBody>
          <a:bodyPr>
            <a:normAutofit/>
          </a:bodyPr>
          <a:lstStyle/>
          <a:p>
            <a:r>
              <a:rPr lang="en-US" sz="2000" dirty="0"/>
              <a:t>Style considerations to keep in mind: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9187B-9FD0-58CA-2A60-0A92A3C18C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F2F4F8-2C59-5A83-A09F-A9506B04A3FD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537056511"/>
              </p:ext>
            </p:extLst>
          </p:nvPr>
        </p:nvGraphicFramePr>
        <p:xfrm>
          <a:off x="269791" y="2031328"/>
          <a:ext cx="8604417" cy="35776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29348">
                  <a:extLst>
                    <a:ext uri="{9D8B030D-6E8A-4147-A177-3AD203B41FA5}">
                      <a16:colId xmlns:a16="http://schemas.microsoft.com/office/drawing/2014/main" val="116054198"/>
                    </a:ext>
                  </a:extLst>
                </a:gridCol>
                <a:gridCol w="2682816">
                  <a:extLst>
                    <a:ext uri="{9D8B030D-6E8A-4147-A177-3AD203B41FA5}">
                      <a16:colId xmlns:a16="http://schemas.microsoft.com/office/drawing/2014/main" val="3323270757"/>
                    </a:ext>
                  </a:extLst>
                </a:gridCol>
                <a:gridCol w="2592253">
                  <a:extLst>
                    <a:ext uri="{9D8B030D-6E8A-4147-A177-3AD203B41FA5}">
                      <a16:colId xmlns:a16="http://schemas.microsoft.com/office/drawing/2014/main" val="3110064687"/>
                    </a:ext>
                  </a:extLst>
                </a:gridCol>
              </a:tblGrid>
              <a:tr h="4687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Good Example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Poor Example (avoid)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456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Tend toward lowercase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</a:t>
                      </a:r>
                    </a:p>
                    <a:p>
                      <a:r>
                        <a:rPr lang="en-US" dirty="0"/>
                        <a:t>/orders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AllUsers</a:t>
                      </a:r>
                      <a:endParaRPr lang="en-US" dirty="0"/>
                    </a:p>
                    <a:p>
                      <a:r>
                        <a:rPr lang="en-US" dirty="0"/>
                        <a:t>/Orders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55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 hyphens instead of underscores for multi-word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/order-items</a:t>
                      </a:r>
                    </a:p>
                    <a:p>
                      <a:r>
                        <a:rPr lang="en-US" dirty="0"/>
                        <a:t>/user-profiles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order_items</a:t>
                      </a:r>
                      <a:endParaRPr lang="en-US" dirty="0"/>
                    </a:p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userProfiles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76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 nouns, not Verbs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/students</a:t>
                      </a:r>
                    </a:p>
                    <a:p>
                      <a:r>
                        <a:rPr lang="en-US" dirty="0"/>
                        <a:t>/products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/see-users</a:t>
                      </a:r>
                    </a:p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deleteProducts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83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Shy away from adding file extensions to your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/users/123.json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0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Don’t use CRUD names in the </a:t>
                      </a:r>
                      <a:r>
                        <a:rPr lang="en-US" dirty="0" err="1"/>
                        <a:t>url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/get-users</a:t>
                      </a:r>
                    </a:p>
                    <a:p>
                      <a:r>
                        <a:rPr lang="en-US" dirty="0"/>
                        <a:t>/delete-users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754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Tend toward plural nouns for collections, and </a:t>
                      </a:r>
                      <a:r>
                        <a:rPr lang="en-US" b="1" dirty="0"/>
                        <a:t>be consistent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</a:t>
                      </a:r>
                    </a:p>
                    <a:p>
                      <a:r>
                        <a:rPr lang="en-US" dirty="0"/>
                        <a:t>/accounts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</a:t>
                      </a:r>
                    </a:p>
                    <a:p>
                      <a:r>
                        <a:rPr lang="en-US" dirty="0"/>
                        <a:t>/account</a:t>
                      </a:r>
                      <a:r>
                        <a:rPr lang="en-US" u="none" dirty="0">
                          <a:solidFill>
                            <a:srgbClr val="C00000"/>
                          </a:solidFill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77045"/>
                  </a:ext>
                </a:extLst>
              </a:tr>
            </a:tbl>
          </a:graphicData>
        </a:graphic>
      </p:graphicFrame>
      <p:pic>
        <p:nvPicPr>
          <p:cNvPr id="7" name="Graphic 6" descr="Checkbox Checked with solid fill">
            <a:extLst>
              <a:ext uri="{FF2B5EF4-FFF2-40B4-BE49-F238E27FC236}">
                <a16:creationId xmlns:a16="http://schemas.microsoft.com/office/drawing/2014/main" id="{029904A5-6B02-56AC-0ADE-0EA6FD9CAD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4695" y="1955773"/>
            <a:ext cx="590909" cy="590909"/>
          </a:xfrm>
          <a:prstGeom prst="rect">
            <a:avLst/>
          </a:prstGeom>
        </p:spPr>
      </p:pic>
      <p:pic>
        <p:nvPicPr>
          <p:cNvPr id="9" name="Graphic 8" descr="Badge Cross with solid fill">
            <a:extLst>
              <a:ext uri="{FF2B5EF4-FFF2-40B4-BE49-F238E27FC236}">
                <a16:creationId xmlns:a16="http://schemas.microsoft.com/office/drawing/2014/main" id="{94E4AE82-0BBC-B197-0386-18FA0ABF07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9926" y="2031327"/>
            <a:ext cx="439800" cy="4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0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3B5D-5351-EE0E-7039-54446AD7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C6BA1E-A298-982F-B086-55D4019CA5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C7A5C80-C0FA-718B-B977-801A91A14A1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REST Architectural Constraints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CF30B7-D3C5-9C5A-1EAC-B6FA2091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08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AF7E5-DA1E-539B-E082-9F6ACEDE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BC5F-0552-D3B4-7270-FBEB09D64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Architectural Constraints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3D6F1-51C0-FB34-BD58-302D5589C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38330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REST, or </a:t>
            </a:r>
            <a:r>
              <a:rPr lang="en-US" sz="2000" dirty="0" err="1"/>
              <a:t>REpresentational</a:t>
            </a:r>
            <a:r>
              <a:rPr lang="en-US" sz="2000" dirty="0"/>
              <a:t> State Transfer, is an </a:t>
            </a:r>
            <a:r>
              <a:rPr lang="en-US" sz="2000" b="1" u="sng" dirty="0"/>
              <a:t>architectural style</a:t>
            </a:r>
            <a:r>
              <a:rPr lang="en-US" sz="2000" dirty="0"/>
              <a:t> which provides standards between computer systems and the web.</a:t>
            </a:r>
          </a:p>
          <a:p>
            <a:r>
              <a:rPr lang="en-US" sz="2000" dirty="0"/>
              <a:t>REST does not enforce any rule regarding how it should be implemented at a lower level (i.e. you won’t get a ‘</a:t>
            </a:r>
            <a:r>
              <a:rPr lang="en-US" sz="2000" dirty="0" err="1"/>
              <a:t>InvalidRestUrlError</a:t>
            </a:r>
            <a:r>
              <a:rPr lang="en-US" sz="2000" dirty="0"/>
              <a:t>’ in Java). Rather, as a developer there are high-level design guidelines you should consider and implement based on your own specifications/requirements.</a:t>
            </a:r>
          </a:p>
          <a:p>
            <a:r>
              <a:rPr lang="en-US" sz="2000" dirty="0"/>
              <a:t>For a web service to be considered ‘RESTful’, it must adhere to a set of guidelines, or constraints</a:t>
            </a:r>
          </a:p>
          <a:p>
            <a:r>
              <a:rPr lang="en-US" sz="2000" dirty="0"/>
              <a:t>REST defines 6 architectural constraints which make any web service a true RESTful API:</a:t>
            </a:r>
          </a:p>
          <a:p>
            <a:pPr lvl="1"/>
            <a:r>
              <a:rPr lang="en-US" sz="1600" b="1" dirty="0"/>
              <a:t>Uniform Interface</a:t>
            </a:r>
            <a:r>
              <a:rPr lang="en-US" sz="1600" dirty="0"/>
              <a:t> </a:t>
            </a:r>
          </a:p>
          <a:p>
            <a:pPr lvl="1"/>
            <a:r>
              <a:rPr lang="en-US" sz="1600" b="1" dirty="0"/>
              <a:t>Stateless</a:t>
            </a:r>
            <a:r>
              <a:rPr lang="en-US" sz="1600" dirty="0"/>
              <a:t> </a:t>
            </a:r>
          </a:p>
          <a:p>
            <a:pPr lvl="1"/>
            <a:r>
              <a:rPr lang="en-US" sz="1600" b="1" dirty="0"/>
              <a:t>Client-Server</a:t>
            </a:r>
            <a:endParaRPr lang="en-US" sz="1600" dirty="0"/>
          </a:p>
          <a:p>
            <a:pPr lvl="1"/>
            <a:r>
              <a:rPr lang="en-US" sz="1600" b="1" dirty="0"/>
              <a:t>Cacheable</a:t>
            </a:r>
            <a:endParaRPr lang="en-US" sz="1600" dirty="0"/>
          </a:p>
          <a:p>
            <a:pPr lvl="1"/>
            <a:r>
              <a:rPr lang="en-US" sz="1600" b="1" dirty="0"/>
              <a:t>Layered System</a:t>
            </a:r>
          </a:p>
          <a:p>
            <a:pPr lvl="1"/>
            <a:r>
              <a:rPr lang="en-US" sz="1600" dirty="0"/>
              <a:t>Code On Demand (optional)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31D03-1088-8469-ECC7-B9B753198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9B5B-4F51-BB4C-E38A-1CAED6E2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2D00D-47B4-CA02-A0BE-ABD03FBB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Interface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686B6-F3ED-3EB9-54F0-8744DA80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*Uniform Interface</a:t>
            </a:r>
            <a:r>
              <a:rPr lang="en-US" sz="2400" dirty="0"/>
              <a:t> – REST APIs should offer consistent interactions through its architecture. </a:t>
            </a:r>
          </a:p>
          <a:p>
            <a:r>
              <a:rPr lang="en-US" sz="2400" dirty="0"/>
              <a:t>This includes resource manipulation with representation (model objects), resource-based identification (unique identifiers) and including self-descriptive messages (requests and responses carry all the information needed as part of each request).</a:t>
            </a:r>
          </a:p>
          <a:p>
            <a:r>
              <a:rPr lang="en-US" sz="2400" dirty="0"/>
              <a:t>A resource in the system should have only one logical URL, and that should provide a way to fetch related, or additional data.</a:t>
            </a:r>
          </a:p>
          <a:p>
            <a:r>
              <a:rPr lang="en-US" sz="2400" dirty="0"/>
              <a:t>It’s always better to </a:t>
            </a:r>
            <a:r>
              <a:rPr lang="en-US" sz="2400" b="1" dirty="0"/>
              <a:t>synonymize a resource with a webpage</a:t>
            </a:r>
            <a:r>
              <a:rPr lang="en-US" sz="2400" dirty="0"/>
              <a:t>.</a:t>
            </a:r>
          </a:p>
          <a:p>
            <a:r>
              <a:rPr lang="en-US" sz="2400" dirty="0"/>
              <a:t>All resources should be accessible through a common approach, such as HTTP GET and similarly modified using a consistent approach.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980D9-CB33-F1E1-6250-58E6EA367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4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Stateless</a:t>
            </a:r>
            <a:r>
              <a:rPr lang="en-US" sz="2400" dirty="0"/>
              <a:t> – REST APIs are stateless, meaning that calls can be made independently of one another, and each call contains all the necessary data to complete the task successfully</a:t>
            </a:r>
          </a:p>
          <a:p>
            <a:r>
              <a:rPr lang="en-US" sz="2400" dirty="0"/>
              <a:t>All client-server interactions should be stateless</a:t>
            </a:r>
          </a:p>
          <a:p>
            <a:r>
              <a:rPr lang="en-US" sz="2400" dirty="0"/>
              <a:t>The server will not store anything about the latest HTTP request the client made.</a:t>
            </a:r>
          </a:p>
          <a:p>
            <a:r>
              <a:rPr lang="en-US" sz="2400" dirty="0"/>
              <a:t>It will treat every request as new. No session*, no history.</a:t>
            </a:r>
          </a:p>
          <a:p>
            <a:r>
              <a:rPr lang="en-US" sz="2400" dirty="0"/>
              <a:t>If the client application needs to be a stateful application for the end-user, where user logs in once and do other authorized operations afterwards, then each request from the client should contain all the information necessary to service the request – including authentication &amp; authorization details.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1DCA1-D271-3B7F-F061-42EE9B3B8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71D6-A780-476A-1F87-7842FB69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36E51-962F-F34C-5903-396E854F8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400" b="1" dirty="0"/>
              <a:t>Client-Server</a:t>
            </a:r>
            <a:r>
              <a:rPr lang="en-US" sz="2400" dirty="0"/>
              <a:t> – REST APIs should decouple user interface concerns from data storage concerns to improve portability and scalability.</a:t>
            </a:r>
          </a:p>
          <a:p>
            <a:r>
              <a:rPr lang="en-US" sz="2400" dirty="0"/>
              <a:t>This constraint essentially means that client application and server application MUST be able to evolve separately without any dependency on each other.</a:t>
            </a:r>
          </a:p>
          <a:p>
            <a:r>
              <a:rPr lang="en-US" sz="2400" dirty="0"/>
              <a:t>A client should know only resource locators, that’s all</a:t>
            </a:r>
          </a:p>
          <a:p>
            <a:r>
              <a:rPr lang="en-US" sz="2400" dirty="0"/>
              <a:t>Today, this is a standard practice in web development, so nothing fancy is required from your side</a:t>
            </a:r>
          </a:p>
          <a:p>
            <a:r>
              <a:rPr lang="en-US" sz="2400" dirty="0"/>
              <a:t>Keep in simple.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08DD5-6C12-5C03-089D-9BFF0F825D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7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85F4-8E06-AB86-EE59-5884EA69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DC56-9182-9FF1-4863-46E971686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CDFD9-9C96-1C9E-11B5-DE11E88B0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400" b="1" dirty="0"/>
              <a:t>Cacheable </a:t>
            </a:r>
            <a:r>
              <a:rPr lang="en-US" sz="2400" dirty="0"/>
              <a:t>– REST APIs should be designed to encourage the storage of cacheable data.</a:t>
            </a:r>
          </a:p>
          <a:p>
            <a:r>
              <a:rPr lang="en-US" sz="2400" dirty="0"/>
              <a:t>Cashing brings performance improvement for the client-side and better scope for scalability for a server because the load has reduced.</a:t>
            </a:r>
          </a:p>
          <a:p>
            <a:r>
              <a:rPr lang="en-US" sz="2400" dirty="0"/>
              <a:t>In REST, cashing shall be applied to resources when applicable, and then these resources MUST declare themselves cacheable.</a:t>
            </a:r>
          </a:p>
          <a:p>
            <a:r>
              <a:rPr lang="en-US" sz="2400" dirty="0"/>
              <a:t>Caching can be implemented on the server or client-side.</a:t>
            </a:r>
          </a:p>
          <a:p>
            <a:pPr lvl="1"/>
            <a:r>
              <a:rPr lang="en-US" sz="1800" dirty="0"/>
              <a:t>NOTE: Server-side caching may be done using an intermediary server or temporarily caching get requests for data to optimize data retrieval.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38C70-249F-2CA6-9C06-0B45013E51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3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51B9-2303-0F26-A3DD-ACD749A2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D9E0-CF9C-CAC1-AA86-8965998B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A8D84-8F1C-2D79-4E78-77EA06381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400" b="1" dirty="0"/>
              <a:t>Layered System </a:t>
            </a:r>
            <a:r>
              <a:rPr lang="en-US" sz="2400" dirty="0"/>
              <a:t>– REST APIs are build using multiple layers, to provide more modularity (this may include security/firewall layers, discovery servers, load balancers, etc…)</a:t>
            </a:r>
          </a:p>
          <a:p>
            <a:r>
              <a:rPr lang="en-US" sz="2400" dirty="0"/>
              <a:t>REST allows you to use a layered system architecture where you, for instance:</a:t>
            </a:r>
          </a:p>
          <a:p>
            <a:pPr lvl="1"/>
            <a:r>
              <a:rPr lang="en-US" sz="1800" dirty="0"/>
              <a:t>Deploy the APIs on Server A;</a:t>
            </a:r>
          </a:p>
          <a:p>
            <a:pPr lvl="1"/>
            <a:r>
              <a:rPr lang="en-US" sz="1800" dirty="0"/>
              <a:t>Store data on Server B; and </a:t>
            </a:r>
          </a:p>
          <a:p>
            <a:pPr lvl="1"/>
            <a:r>
              <a:rPr lang="en-US" sz="1800" dirty="0"/>
              <a:t>Authenticate requests in Server C</a:t>
            </a:r>
          </a:p>
          <a:p>
            <a:r>
              <a:rPr lang="en-US" sz="2400" dirty="0"/>
              <a:t>In this example, A client cannot ordinarily tell whether it is connected directly to the end server, or an intermediary along the 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D204F-966C-F305-EC60-51E6E4E242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1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B8BE-BAD7-D19D-70AD-4DA81233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55DE-FBC6-3CDF-5756-E4F1C202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1A8DE-8464-3EAD-4AD5-82CED2B65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400" dirty="0"/>
              <a:t>Code On Demand – RESTful API servers can send executable code to the client.</a:t>
            </a:r>
          </a:p>
          <a:p>
            <a:r>
              <a:rPr lang="en-US" sz="2400" dirty="0"/>
              <a:t>This constraint is optional, and is oftentimes not implemented</a:t>
            </a:r>
          </a:p>
          <a:p>
            <a:r>
              <a:rPr lang="en-US" sz="2400" dirty="0"/>
              <a:t>Most modern APIs are data-only, meaning the APIs will send static representations of resources in the form of XML or JSON.</a:t>
            </a:r>
          </a:p>
          <a:p>
            <a:r>
              <a:rPr lang="en-US" sz="2400" dirty="0"/>
              <a:t>When you need to, you are free to return executable code to support a part of your application; e.g. clients may call your API to get a UI widget rendering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5F9F8-0D46-B2A5-1282-7A76CA3DD5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6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Architectural Constraints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443924"/>
          </a:xfrm>
        </p:spPr>
        <p:txBody>
          <a:bodyPr>
            <a:normAutofit/>
          </a:bodyPr>
          <a:lstStyle/>
          <a:p>
            <a:r>
              <a:rPr lang="en-US" sz="2400" dirty="0"/>
              <a:t>All of the constraints discussed help you build a truly RESTful API, and you should do your best to follow all of them.</a:t>
            </a:r>
          </a:p>
          <a:p>
            <a:r>
              <a:rPr lang="en-US" sz="2400" dirty="0"/>
              <a:t>However, at times, you may find yourself violating one or two constraints. Do not worry; you are still making a RESTful API – just not a “truly RESTful” one.</a:t>
            </a:r>
          </a:p>
          <a:p>
            <a:r>
              <a:rPr lang="en-US" sz="2400" dirty="0"/>
              <a:t>Keep in mind the goal of RESTful APIs “make it easier for systems to communicate with </a:t>
            </a:r>
            <a:r>
              <a:rPr lang="en-US" sz="2400" dirty="0" err="1"/>
              <a:t>eachother</a:t>
            </a:r>
            <a:r>
              <a:rPr lang="en-US" sz="2400" dirty="0"/>
              <a:t>”.</a:t>
            </a:r>
          </a:p>
          <a:p>
            <a:r>
              <a:rPr lang="en-US" sz="2400" dirty="0"/>
              <a:t>Ultimately, the construction of you API depends on the feature expectations of the system.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2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6C4C1-CD2C-489B-805A-42CC0272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4C729B-BB61-27CE-82CE-9BEA1F7817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1B25B0C-4DCE-AA03-5720-1FC65165EBC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Exposing &amp; Consuming RESTful API Endpoints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8AEDD8-EEFC-A6F1-D97F-2B2C50CD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17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C7EC-1759-76BE-5874-C2E27FA3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ED7F-572F-C939-1E2E-A6A1C996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Exposing RESTful API Endpoints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695AB-1447-4050-78A0-318C17435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2479963"/>
            <a:ext cx="3929386" cy="4248873"/>
          </a:xfrm>
        </p:spPr>
        <p:txBody>
          <a:bodyPr>
            <a:normAutofit/>
          </a:bodyPr>
          <a:lstStyle/>
          <a:p>
            <a:r>
              <a:rPr lang="en-US" sz="2000" dirty="0"/>
              <a:t>“Exposing” a RESTful API means creating an API endpoint and making it available for clients to call.</a:t>
            </a:r>
          </a:p>
          <a:p>
            <a:r>
              <a:rPr lang="en-US" sz="2000" dirty="0"/>
              <a:t>This example showcases what this might look like using Spring Boot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7643E-B10F-9A05-964B-57F19C3525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4A96D-EDDB-7DCE-6D88-7CDA3239CBC6}"/>
              </a:ext>
            </a:extLst>
          </p:cNvPr>
          <p:cNvSpPr txBox="1"/>
          <p:nvPr/>
        </p:nvSpPr>
        <p:spPr>
          <a:xfrm>
            <a:off x="4309396" y="1284913"/>
            <a:ext cx="4244196" cy="5443924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91000">
                <a:schemeClr val="bg1">
                  <a:lumMod val="85000"/>
                </a:schemeClr>
              </a:gs>
            </a:gsLst>
            <a:lin ang="5400000" scaled="1"/>
          </a:gradFill>
        </p:spPr>
        <p:txBody>
          <a:bodyPr wrap="square">
            <a:normAutofit fontScale="77500" lnSpcReduction="20000"/>
          </a:bodyPr>
          <a:lstStyle/>
          <a:p>
            <a:r>
              <a:rPr lang="en-US" dirty="0"/>
              <a:t>@RestController</a:t>
            </a:r>
          </a:p>
          <a:p>
            <a:r>
              <a:rPr lang="en-US" dirty="0"/>
              <a:t>@RequestMapping("/api/users")</a:t>
            </a:r>
          </a:p>
          <a:p>
            <a:r>
              <a:rPr lang="en-US" b="1" dirty="0">
                <a:solidFill>
                  <a:srgbClr val="7030A0"/>
                </a:solidFill>
              </a:rPr>
              <a:t>public class</a:t>
            </a:r>
            <a:r>
              <a:rPr lang="en-US" dirty="0"/>
              <a:t> </a:t>
            </a:r>
            <a:r>
              <a:rPr lang="en-US" dirty="0" err="1"/>
              <a:t>UserController</a:t>
            </a:r>
            <a:r>
              <a:rPr lang="en-US" dirty="0"/>
              <a:t> {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@Autowired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private</a:t>
            </a:r>
            <a:r>
              <a:rPr lang="en-US" dirty="0"/>
              <a:t> </a:t>
            </a:r>
            <a:r>
              <a:rPr lang="en-US" dirty="0" err="1"/>
              <a:t>UserService</a:t>
            </a:r>
            <a:r>
              <a:rPr lang="en-US" dirty="0"/>
              <a:t> </a:t>
            </a:r>
            <a:r>
              <a:rPr lang="en-US" dirty="0" err="1"/>
              <a:t>userService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GET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 - Get all users</a:t>
            </a:r>
          </a:p>
          <a:p>
            <a:r>
              <a:rPr lang="en-US" dirty="0"/>
              <a:t>    @GetMapping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/>
              <a:t> List&lt;User&gt; </a:t>
            </a:r>
            <a:r>
              <a:rPr lang="en-US" dirty="0" err="1"/>
              <a:t>getAllUsers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userService.findAll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GET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/users/123 - Get specific user</a:t>
            </a:r>
          </a:p>
          <a:p>
            <a:r>
              <a:rPr lang="en-US" dirty="0"/>
              <a:t>    @GetMapping("/{id}")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/>
              <a:t> User </a:t>
            </a:r>
            <a:r>
              <a:rPr lang="en-US" dirty="0" err="1"/>
              <a:t>getUserById</a:t>
            </a:r>
            <a:r>
              <a:rPr lang="en-US" dirty="0"/>
              <a:t>(@PathVariable Long id) {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userService.findById</a:t>
            </a:r>
            <a:r>
              <a:rPr lang="en-US" dirty="0"/>
              <a:t>(id);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POST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 - Create new user</a:t>
            </a:r>
          </a:p>
          <a:p>
            <a:r>
              <a:rPr lang="en-US" dirty="0"/>
              <a:t>    @PostMapping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/>
              <a:t> User </a:t>
            </a:r>
            <a:r>
              <a:rPr lang="en-US" dirty="0" err="1"/>
              <a:t>createUser</a:t>
            </a:r>
            <a:r>
              <a:rPr lang="en-US" dirty="0"/>
              <a:t>(@RequestBody User user) {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userService.save</a:t>
            </a:r>
            <a:r>
              <a:rPr lang="en-US" dirty="0"/>
              <a:t>(user);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PUT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/users/123 - Update user</a:t>
            </a:r>
          </a:p>
          <a:p>
            <a:r>
              <a:rPr lang="en-US" dirty="0"/>
              <a:t>    @PutMapping("/{id}")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/>
              <a:t> User </a:t>
            </a:r>
            <a:r>
              <a:rPr lang="en-US" dirty="0" err="1"/>
              <a:t>updateUser</a:t>
            </a:r>
            <a:r>
              <a:rPr lang="en-US" dirty="0"/>
              <a:t>(@PathVariable Long id, @RequestBody User user) {</a:t>
            </a:r>
          </a:p>
          <a:p>
            <a:r>
              <a:rPr lang="en-US" dirty="0"/>
              <a:t>        </a:t>
            </a:r>
            <a:r>
              <a:rPr lang="en-US" dirty="0" err="1"/>
              <a:t>user.setId</a:t>
            </a:r>
            <a:r>
              <a:rPr lang="en-US" dirty="0"/>
              <a:t>(id);</a:t>
            </a:r>
          </a:p>
          <a:p>
            <a:r>
              <a:rPr lang="en-US" dirty="0"/>
              <a:t>        return </a:t>
            </a:r>
            <a:r>
              <a:rPr lang="en-US" dirty="0" err="1"/>
              <a:t>userService.update</a:t>
            </a:r>
            <a:r>
              <a:rPr lang="en-US" dirty="0"/>
              <a:t>(user);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DELETE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/users/123 - Delete user</a:t>
            </a:r>
          </a:p>
          <a:p>
            <a:r>
              <a:rPr lang="en-US" dirty="0"/>
              <a:t>    @DeleteMapping("/{id}")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void</a:t>
            </a:r>
            <a:r>
              <a:rPr lang="en-US" dirty="0"/>
              <a:t> </a:t>
            </a:r>
            <a:r>
              <a:rPr lang="en-US" dirty="0" err="1"/>
              <a:t>deleteUser</a:t>
            </a:r>
            <a:r>
              <a:rPr lang="en-US" dirty="0"/>
              <a:t>(@PathVariable Long id) {</a:t>
            </a:r>
          </a:p>
          <a:p>
            <a:r>
              <a:rPr lang="en-US" dirty="0"/>
              <a:t>        </a:t>
            </a:r>
            <a:r>
              <a:rPr lang="en-US" dirty="0" err="1"/>
              <a:t>userService.delete</a:t>
            </a:r>
            <a:r>
              <a:rPr lang="en-US" dirty="0"/>
              <a:t>(id);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4532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C068-EADE-A515-CBCD-EF8191067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7D9A-8F6B-7824-3F99-5BF4E68B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Consuming RESTful API Endpoints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7FBFD-139F-4DB2-9F1A-EC9BB0E82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970923"/>
            <a:ext cx="3929386" cy="4071901"/>
          </a:xfrm>
        </p:spPr>
        <p:txBody>
          <a:bodyPr>
            <a:normAutofit/>
          </a:bodyPr>
          <a:lstStyle/>
          <a:p>
            <a:r>
              <a:rPr lang="en-US" sz="2000" dirty="0"/>
              <a:t>“Consuming” an API means making an HTTP request to some other API endpoint and processing the data provided in the response.</a:t>
            </a:r>
          </a:p>
          <a:p>
            <a:r>
              <a:rPr lang="en-US" sz="2000" dirty="0"/>
              <a:t>This example showcases what this might look like in a front-end using JavaScript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ECA27-C497-447C-AAF8-224B257A3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35645-5A60-B9BD-1821-7242364ED2B9}"/>
              </a:ext>
            </a:extLst>
          </p:cNvPr>
          <p:cNvSpPr txBox="1"/>
          <p:nvPr/>
        </p:nvSpPr>
        <p:spPr>
          <a:xfrm>
            <a:off x="4480583" y="1970924"/>
            <a:ext cx="4244196" cy="4071901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91000">
                <a:schemeClr val="bg1">
                  <a:lumMod val="85000"/>
                </a:schemeClr>
              </a:gs>
            </a:gsLst>
            <a:lin ang="5400000" scaled="1"/>
          </a:gradFill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 Get all users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fetch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'https://api.example.com/users'</a:t>
            </a:r>
            <a:r>
              <a:rPr lang="en-US" dirty="0"/>
              <a:t>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then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response</a:t>
            </a:r>
            <a:r>
              <a:rPr lang="en-US" dirty="0"/>
              <a:t> =&gt; </a:t>
            </a:r>
            <a:r>
              <a:rPr lang="en-US" dirty="0" err="1"/>
              <a:t>response.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json</a:t>
            </a:r>
            <a:r>
              <a:rPr lang="en-US" dirty="0"/>
              <a:t>())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then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users</a:t>
            </a:r>
            <a:r>
              <a:rPr lang="en-US" dirty="0"/>
              <a:t> =&gt;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console</a:t>
            </a:r>
            <a:r>
              <a:rPr lang="en-US" dirty="0"/>
              <a:t>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log</a:t>
            </a:r>
            <a:r>
              <a:rPr lang="en-US" dirty="0"/>
              <a:t>(users))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rgbClr val="7030A0"/>
                </a:solidFill>
              </a:rPr>
              <a:t>catch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error</a:t>
            </a:r>
            <a:r>
              <a:rPr lang="en-US" dirty="0"/>
              <a:t> =&gt;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console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error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'Error:'</a:t>
            </a:r>
            <a:r>
              <a:rPr lang="en-US" dirty="0"/>
              <a:t>, error));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 Get specific user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fetch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'https://api.example.com/users/123'</a:t>
            </a:r>
            <a:r>
              <a:rPr lang="en-US" dirty="0"/>
              <a:t>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then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response</a:t>
            </a:r>
            <a:r>
              <a:rPr lang="en-US" dirty="0"/>
              <a:t> =&gt; {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if</a:t>
            </a:r>
            <a:r>
              <a:rPr lang="en-US" dirty="0"/>
              <a:t> (!</a:t>
            </a:r>
            <a:r>
              <a:rPr lang="en-US" dirty="0" err="1"/>
              <a:t>response.ok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b="1" dirty="0">
                <a:solidFill>
                  <a:srgbClr val="7030A0"/>
                </a:solidFill>
              </a:rPr>
              <a:t>throw new</a:t>
            </a:r>
            <a:r>
              <a:rPr lang="en-US" b="1" dirty="0"/>
              <a:t> </a:t>
            </a:r>
            <a:r>
              <a:rPr lang="en-US" dirty="0"/>
              <a:t>Error(</a:t>
            </a:r>
            <a:r>
              <a:rPr lang="en-US" dirty="0">
                <a:solidFill>
                  <a:srgbClr val="00B050"/>
                </a:solidFill>
              </a:rPr>
              <a:t>'User not found'</a:t>
            </a:r>
            <a:r>
              <a:rPr lang="en-US" dirty="0"/>
              <a:t>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return</a:t>
            </a:r>
            <a:r>
              <a:rPr lang="en-US" b="1" dirty="0"/>
              <a:t> </a:t>
            </a:r>
            <a:r>
              <a:rPr lang="en-US" dirty="0" err="1"/>
              <a:t>response.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json</a:t>
            </a:r>
            <a:r>
              <a:rPr lang="en-US" dirty="0"/>
              <a:t>();</a:t>
            </a:r>
          </a:p>
          <a:p>
            <a:r>
              <a:rPr lang="en-US" dirty="0"/>
              <a:t>    })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then</a:t>
            </a:r>
            <a:r>
              <a:rPr lang="en-US" dirty="0"/>
              <a:t>(user =&gt; console.log(user));</a:t>
            </a:r>
          </a:p>
        </p:txBody>
      </p:sp>
    </p:spTree>
    <p:extLst>
      <p:ext uri="{BB962C8B-B14F-4D97-AF65-F5344CB8AC3E}">
        <p14:creationId xmlns:p14="http://schemas.microsoft.com/office/powerpoint/2010/main" val="4090613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91D5A-0093-EDE8-F77A-513D3E6A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52CDFF-8FA0-BBE6-E276-D01F571499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D2D52BE-D079-C50A-1A72-460E4E003B8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Authorization vs Authentication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F9FBE2-0518-3FBA-21C9-7F57B994A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23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278B-E21F-920F-9E68-439D581F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1B0C-4583-2A3B-6987-99915AE7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vs 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CC813-E2AA-9FC4-703B-56849B31D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Authentication</a:t>
            </a:r>
          </a:p>
          <a:p>
            <a:pPr lvl="1"/>
            <a:r>
              <a:rPr lang="en-US" sz="1600" dirty="0"/>
              <a:t>The process of verifying the identity of a client/user attempting to access a system (in this case, your API).</a:t>
            </a:r>
          </a:p>
          <a:p>
            <a:pPr lvl="1"/>
            <a:r>
              <a:rPr lang="en-US" sz="1600" dirty="0"/>
              <a:t>i.e. Determine </a:t>
            </a:r>
            <a:r>
              <a:rPr lang="en-US" sz="1600" b="1" i="1" dirty="0"/>
              <a:t>WHO</a:t>
            </a:r>
            <a:r>
              <a:rPr lang="en-US" sz="1600" dirty="0"/>
              <a:t> you are</a:t>
            </a:r>
          </a:p>
          <a:p>
            <a:pPr lvl="1"/>
            <a:r>
              <a:rPr lang="en-US" sz="1600" dirty="0"/>
              <a:t>Typically, Authentication requires a client/user to provide the following data:</a:t>
            </a:r>
          </a:p>
          <a:p>
            <a:pPr lvl="2"/>
            <a:r>
              <a:rPr lang="en-US" sz="1200" dirty="0"/>
              <a:t>Correct Credentials (Username + password)</a:t>
            </a:r>
          </a:p>
          <a:p>
            <a:pPr lvl="2"/>
            <a:r>
              <a:rPr lang="en-US" sz="1200" dirty="0"/>
              <a:t>Authentication Token (usually an API key)</a:t>
            </a:r>
          </a:p>
          <a:p>
            <a:pPr lvl="1"/>
            <a:r>
              <a:rPr lang="en-US" sz="1600" dirty="0"/>
              <a:t>The API server verifies this data to allow a user to then access a platform and/or perform operations.</a:t>
            </a:r>
          </a:p>
          <a:p>
            <a:r>
              <a:rPr lang="en-US" sz="2000" dirty="0"/>
              <a:t>Authorization</a:t>
            </a:r>
          </a:p>
          <a:p>
            <a:pPr lvl="1"/>
            <a:r>
              <a:rPr lang="en-US" sz="1600" dirty="0"/>
              <a:t>The process of verifying the permissions allowed for an authenticated client/user</a:t>
            </a:r>
          </a:p>
          <a:p>
            <a:pPr lvl="1"/>
            <a:r>
              <a:rPr lang="en-US" sz="1600" dirty="0"/>
              <a:t>i.e. Determine </a:t>
            </a:r>
            <a:r>
              <a:rPr lang="en-US" sz="1600" b="1" i="1" dirty="0"/>
              <a:t>WHAT</a:t>
            </a:r>
            <a:r>
              <a:rPr lang="en-US" sz="1600" dirty="0"/>
              <a:t> you can do</a:t>
            </a:r>
          </a:p>
          <a:p>
            <a:pPr lvl="1"/>
            <a:r>
              <a:rPr lang="en-US" sz="1600" dirty="0"/>
              <a:t>Each time a user/client makes a request authorization should </a:t>
            </a:r>
            <a:r>
              <a:rPr lang="en-US" sz="1600" b="1" u="sng" dirty="0"/>
              <a:t>not</a:t>
            </a:r>
            <a:r>
              <a:rPr lang="en-US" sz="1600" dirty="0"/>
              <a:t> be given to a user until </a:t>
            </a:r>
            <a:r>
              <a:rPr lang="en-US" sz="1600" b="1" i="1" u="sng" dirty="0"/>
              <a:t>after authentication has been verified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Some common user roles include:</a:t>
            </a:r>
          </a:p>
          <a:p>
            <a:pPr lvl="2"/>
            <a:r>
              <a:rPr lang="en-US" sz="1200" dirty="0"/>
              <a:t>Admin</a:t>
            </a:r>
          </a:p>
          <a:p>
            <a:pPr lvl="2"/>
            <a:r>
              <a:rPr lang="en-US" sz="1200" dirty="0"/>
              <a:t>User</a:t>
            </a:r>
          </a:p>
          <a:p>
            <a:pPr lvl="2"/>
            <a:r>
              <a:rPr lang="en-US" sz="1200" dirty="0"/>
              <a:t>Guest (very basic permissions)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2794F-859A-EEEF-4A7A-F7EEB2AB6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9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1163-EB69-66AF-5171-C6A1AC73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8E2D-35C5-3DC1-DDAC-818EF561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vs Authentication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4122E-4EF0-2864-2160-735648C602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4A0E00-D17C-E7EB-E476-E6B46CC0D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649873"/>
              </p:ext>
            </p:extLst>
          </p:nvPr>
        </p:nvGraphicFramePr>
        <p:xfrm>
          <a:off x="319401" y="1995482"/>
          <a:ext cx="8505198" cy="2867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357">
                  <a:extLst>
                    <a:ext uri="{9D8B030D-6E8A-4147-A177-3AD203B41FA5}">
                      <a16:colId xmlns:a16="http://schemas.microsoft.com/office/drawing/2014/main" val="2919692692"/>
                    </a:ext>
                  </a:extLst>
                </a:gridCol>
                <a:gridCol w="3295291">
                  <a:extLst>
                    <a:ext uri="{9D8B030D-6E8A-4147-A177-3AD203B41FA5}">
                      <a16:colId xmlns:a16="http://schemas.microsoft.com/office/drawing/2014/main" val="1694242138"/>
                    </a:ext>
                  </a:extLst>
                </a:gridCol>
                <a:gridCol w="3191550">
                  <a:extLst>
                    <a:ext uri="{9D8B030D-6E8A-4147-A177-3AD203B41FA5}">
                      <a16:colId xmlns:a16="http://schemas.microsoft.com/office/drawing/2014/main" val="3627372193"/>
                    </a:ext>
                  </a:extLst>
                </a:gridCol>
              </a:tblGrid>
              <a:tr h="2161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484235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Verifying </a:t>
                      </a:r>
                      <a:r>
                        <a:rPr lang="en-US" b="1" i="1" u="sng" dirty="0"/>
                        <a:t>Who</a:t>
                      </a:r>
                      <a:r>
                        <a:rPr lang="en-US" dirty="0"/>
                        <a:t> </a:t>
                      </a:r>
                      <a:r>
                        <a:rPr lang="en-US" b="0" i="0" u="none" dirty="0"/>
                        <a:t>is accessing a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Verifying </a:t>
                      </a:r>
                      <a:r>
                        <a:rPr lang="en-US" b="1" i="1" u="sng" dirty="0"/>
                        <a:t>What</a:t>
                      </a:r>
                      <a:r>
                        <a:rPr lang="en-US" dirty="0"/>
                        <a:t> permissions, a user has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509025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When it occurs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During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830629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Typical HTTP Failure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401 – Unauthorized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403 – Forbidden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210526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with username &amp;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 can delete users</a:t>
                      </a:r>
                    </a:p>
                    <a:p>
                      <a:r>
                        <a:rPr lang="en-US" dirty="0"/>
                        <a:t>Guest cannot delete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582060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Showing your ID at the Airport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Boarding pass for a specific flight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50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568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D4A1-F709-816B-7182-36E4C17B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A7929A-6A80-95C8-824C-C2239643F62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064DAAB-94D5-E558-0E5F-ECFAED1D6EC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Session Management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B1B0D2-0FD0-AEED-6531-C6750A0F1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13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7CD2-251D-B079-60D2-C9C03B5A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6044E-F3B4-C584-8E76-7F82EB98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90BE2-DB19-11B0-E22C-890803486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443924"/>
          </a:xfrm>
        </p:spPr>
        <p:txBody>
          <a:bodyPr>
            <a:normAutofit/>
          </a:bodyPr>
          <a:lstStyle/>
          <a:p>
            <a:r>
              <a:rPr lang="en-US" sz="2000" dirty="0"/>
              <a:t>Session: A way to maintain user state across multiple requests</a:t>
            </a:r>
          </a:p>
          <a:p>
            <a:r>
              <a:rPr lang="en-US" sz="2000" dirty="0"/>
              <a:t>Keep in mind REST is stateless, but applications often need to “remember” users. Session management bridges this gap.</a:t>
            </a:r>
          </a:p>
          <a:p>
            <a:r>
              <a:rPr lang="en-US" sz="2000" dirty="0"/>
              <a:t>A typical session-based workflow looks like this:</a:t>
            </a:r>
          </a:p>
          <a:p>
            <a:pPr lvl="1"/>
            <a:r>
              <a:rPr lang="en-US" sz="1600" dirty="0"/>
              <a:t>User Logs in with credentials</a:t>
            </a:r>
          </a:p>
          <a:p>
            <a:pPr lvl="1"/>
            <a:r>
              <a:rPr lang="en-US" sz="1600" dirty="0"/>
              <a:t>Sever creates session, stores in memory/</a:t>
            </a:r>
            <a:r>
              <a:rPr lang="en-US" sz="1600" dirty="0" err="1"/>
              <a:t>db</a:t>
            </a:r>
            <a:endParaRPr lang="en-US" sz="1600" dirty="0"/>
          </a:p>
          <a:p>
            <a:pPr lvl="1"/>
            <a:r>
              <a:rPr lang="en-US" sz="1600" dirty="0"/>
              <a:t>Server sends session ID to client (usually in a cookie)</a:t>
            </a:r>
          </a:p>
          <a:p>
            <a:pPr lvl="1"/>
            <a:r>
              <a:rPr lang="en-US" sz="1600" dirty="0"/>
              <a:t>Client sends session ID with every request</a:t>
            </a:r>
          </a:p>
          <a:p>
            <a:pPr lvl="1"/>
            <a:r>
              <a:rPr lang="en-US" sz="1600" dirty="0"/>
              <a:t>Sever looks up session to identify user</a:t>
            </a:r>
          </a:p>
          <a:p>
            <a:r>
              <a:rPr lang="en-US" sz="2000" dirty="0"/>
              <a:t>A RESTful approach using Tokens:</a:t>
            </a:r>
          </a:p>
          <a:p>
            <a:pPr lvl="1"/>
            <a:r>
              <a:rPr lang="en-US" sz="1600" dirty="0"/>
              <a:t>User logs in with credentials</a:t>
            </a:r>
          </a:p>
          <a:p>
            <a:pPr lvl="1"/>
            <a:r>
              <a:rPr lang="en-US" sz="1600" dirty="0"/>
              <a:t>Sever generates token and returns to client</a:t>
            </a:r>
          </a:p>
          <a:p>
            <a:pPr lvl="1"/>
            <a:r>
              <a:rPr lang="en-US" sz="1600" dirty="0"/>
              <a:t>Client stores token in local storage</a:t>
            </a:r>
          </a:p>
          <a:p>
            <a:pPr lvl="1"/>
            <a:r>
              <a:rPr lang="en-US" sz="1600" dirty="0"/>
              <a:t>Client includes token in Authorization header with every request</a:t>
            </a:r>
          </a:p>
          <a:p>
            <a:pPr lvl="1"/>
            <a:r>
              <a:rPr lang="en-US" sz="1600" dirty="0"/>
              <a:t>Server validates token &amp; extracts user info from token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D45E8-53D8-1CFB-FB76-8B52E44155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5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AC36B-7B84-D779-BB42-F5910A06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1F670D-5DC4-8671-9BA3-B853A21900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17D08CA-4189-8A88-4585-C61F850F221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HTTP Cookies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F1477E-CE15-E1C0-77B2-3B11793D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83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822B-7964-74EE-3228-074AC7A55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6452-3B83-6471-5434-2A60AACB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Cookies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22F0-20A0-9A4F-1464-9B213F166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000" dirty="0"/>
              <a:t>HTTP Cookie: Small piece of data sent from a server, stored by a browser, and sent back to the server with future requests</a:t>
            </a:r>
          </a:p>
          <a:p>
            <a:r>
              <a:rPr lang="en-US" sz="2000" dirty="0"/>
              <a:t>Cookies are used to store information about the user between requests</a:t>
            </a:r>
          </a:p>
          <a:p>
            <a:r>
              <a:rPr lang="en-US" sz="2000" dirty="0"/>
              <a:t>Cookies are typically used for:</a:t>
            </a:r>
          </a:p>
          <a:p>
            <a:pPr lvl="1"/>
            <a:r>
              <a:rPr lang="en-US" sz="1600" b="1" dirty="0"/>
              <a:t>Session management</a:t>
            </a:r>
            <a:r>
              <a:rPr lang="en-US" sz="1600" dirty="0"/>
              <a:t>: Cookies can be used to store session IDs or Authorization Tokens.</a:t>
            </a:r>
          </a:p>
          <a:p>
            <a:pPr lvl="1"/>
            <a:r>
              <a:rPr lang="en-US" sz="1600" b="1" dirty="0"/>
              <a:t>Personalization</a:t>
            </a:r>
            <a:r>
              <a:rPr lang="en-US" sz="1600" dirty="0"/>
              <a:t>: Cookies can store user preferences, display language, themes, etc…</a:t>
            </a:r>
          </a:p>
          <a:p>
            <a:pPr lvl="1"/>
            <a:r>
              <a:rPr lang="en-US" sz="1600" b="1" dirty="0"/>
              <a:t>Tracking for analytics</a:t>
            </a:r>
            <a:r>
              <a:rPr lang="en-US" sz="1600" dirty="0"/>
              <a:t>: Cookies can record and analyze user behavior, such as tracking which pages a user visits, for how long, etc..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D8972-C22A-A29B-AFDF-289E66A3F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9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21027</TotalTime>
  <Words>2604</Words>
  <Application>Microsoft Office PowerPoint</Application>
  <PresentationFormat>On-screen Show (4:3)</PresentationFormat>
  <Paragraphs>310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2_Custom Design</vt:lpstr>
      <vt:lpstr>Intro to REST</vt:lpstr>
      <vt:lpstr>Outline</vt:lpstr>
      <vt:lpstr>PowerPoint Presentation</vt:lpstr>
      <vt:lpstr>Representational State Transfer (REST)</vt:lpstr>
      <vt:lpstr>PowerPoint Presentation</vt:lpstr>
      <vt:lpstr>REST Resources</vt:lpstr>
      <vt:lpstr>REST Resources &amp; URLs</vt:lpstr>
      <vt:lpstr>URLs</vt:lpstr>
      <vt:lpstr>RESTful URL Construction</vt:lpstr>
      <vt:lpstr>RESTful URL Construction</vt:lpstr>
      <vt:lpstr>RESTful URL Construction</vt:lpstr>
      <vt:lpstr>PowerPoint Presentation</vt:lpstr>
      <vt:lpstr>REST Architectural Constraints</vt:lpstr>
      <vt:lpstr>Uniform Interface</vt:lpstr>
      <vt:lpstr>REST Principles</vt:lpstr>
      <vt:lpstr>REST Principles</vt:lpstr>
      <vt:lpstr>REST Principles</vt:lpstr>
      <vt:lpstr>REST Principles</vt:lpstr>
      <vt:lpstr>REST Principles</vt:lpstr>
      <vt:lpstr>REST Architectural Constraints</vt:lpstr>
      <vt:lpstr>PowerPoint Presentation</vt:lpstr>
      <vt:lpstr>Exposing RESTful API Endpoints</vt:lpstr>
      <vt:lpstr>Consuming RESTful API Endpoints</vt:lpstr>
      <vt:lpstr>PowerPoint Presentation</vt:lpstr>
      <vt:lpstr>Authorization vs Authentication</vt:lpstr>
      <vt:lpstr>Authorization vs Authentication</vt:lpstr>
      <vt:lpstr>PowerPoint Presentation</vt:lpstr>
      <vt:lpstr>Session Management</vt:lpstr>
      <vt:lpstr>PowerPoint Presentation</vt:lpstr>
      <vt:lpstr>HTTP Cookies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263</cp:revision>
  <dcterms:modified xsi:type="dcterms:W3CDTF">2026-08-26T20:13:58Z</dcterms:modified>
</cp:coreProperties>
</file>